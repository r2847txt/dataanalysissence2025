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Nunito Extra Bold" panose="020B0604020202020204" charset="0"/>
      <p:regular r:id="rId27"/>
    </p:embeddedFont>
    <p:embeddedFont>
      <p:font typeface="Nunito Light" pitchFamily="2" charset="0"/>
      <p:regular r:id="rId28"/>
    </p:embeddedFont>
    <p:embeddedFont>
      <p:font typeface="Source Sans Pro" panose="020B0503030403020204" pitchFamily="34" charset="0"/>
      <p:regular r:id="rId29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25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59487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Bosquejos Visuales, Diseño y Narrativa Efectiva de la Información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71737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Clase 3 – Módulo 7 (Sección Vespertina). Una exploración profunda de cómo transformar datos en historias visuales que comunican, persuaden y generan acción a través del diseño consciente y la narrativa estratégica.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5045"/>
            <a:ext cx="820805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Perfil del Participante y Modalidad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281958"/>
            <a:ext cx="4215289" cy="2141815"/>
          </a:xfrm>
          <a:prstGeom prst="roundRect">
            <a:avLst>
              <a:gd name="adj" fmla="val 3892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15008" y="3503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Duración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932396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 horas en modalidad vespertina, combinando teoría aplicada con práctica intensiva en diseño visual y narrativa de datos.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281958"/>
            <a:ext cx="4215408" cy="2141815"/>
          </a:xfrm>
          <a:prstGeom prst="roundRect">
            <a:avLst>
              <a:gd name="adj" fmla="val 3892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428655" y="3503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Modalidad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3932396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Híbrida y asincrónica, permitiendo flexibilidad en el aprendizaje mientras se mantiene la interacción colaborativa.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281958"/>
            <a:ext cx="4215289" cy="2141815"/>
          </a:xfrm>
          <a:prstGeom prst="roundRect">
            <a:avLst>
              <a:gd name="adj" fmla="val 3892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842421" y="3503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Participantes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3932396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Profesionales en formación continua con experiencia en visualización básica, interesados en aplicar criterios de diseño visual y narrativa persuasiva.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64701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prerrequisitos incluyen conocimientos básicos de pandas, matplotlib o Power BI, así como manejo de herramientas de diseño o plantillas de presentación.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0314"/>
            <a:ext cx="5707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Activación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247804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6354604" y="251525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925032" y="2546271"/>
            <a:ext cx="30956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Comprensión vs. Ejecución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925032" y="2975491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diferencia hay entre un gráfico bien hecho y un gráfico que se entiende solo? La diferencia radica en la aplicación consciente de principios de percepción visual.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280190" y="400740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6354604" y="404461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925032" y="40756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Credibilidad Visual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925032" y="4504849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influye el diseño (color, tipografía, layout) en la credibilidad de una historia con datos? El diseño comunica profesionalismo antes que el contenido.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80190" y="553676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354604" y="557397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925032" y="56049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Memorabilidad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925032" y="6034207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hace que una presentación visual sea recordable más allá de sus cifras? La combinación de narrativa estructurada y elementos visuales coherentes.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6637"/>
            <a:ext cx="51657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Dinámica de Apertura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82729"/>
            <a:ext cx="30433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Metodología Comparativa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291245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Mostrar tres dashboards distintos: uno recargado, uno minimalista y uno bien jerarquizado. Los estudiantes votan cuál comunica mejor y explican sus razones, conectando las respuestas con conceptos de percepción visual y Gestalt.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73999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 dinámica establece la base empírica para comprender cómo el diseño influye en la comprensión antes que el análisis racional.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74" y="2807613"/>
            <a:ext cx="6279356" cy="35321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82103"/>
            <a:ext cx="51762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Introducción Temática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499836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 clase une dos pilares fundamentales: </a:t>
            </a: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diseño visual con base perceptual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</a:t>
            </a:r>
            <a:r>
              <a:rPr lang="en-US" sz="1550" b="1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narrativa efectiva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El primero busca que las visualizaciones sean legibles, accesibles y jerárquicas; el segundo, que esas visuales comuniquen un mensaje con dirección y propósito.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3675698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partir de los principios de percepción (Gestalt), el uso consciente del color y la jerarquía tipográfica, el estudiante generará bosquejos visuales que luego integrará en historias de datos aplicando técnicas narrativas como inicio–nudo–cierre, SCQA y repetición intencional.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5169098"/>
            <a:ext cx="7556421" cy="1478280"/>
          </a:xfrm>
          <a:prstGeom prst="roundRect">
            <a:avLst>
              <a:gd name="adj" fmla="val 5639"/>
            </a:avLst>
          </a:prstGeom>
          <a:solidFill>
            <a:srgbClr val="CAE1E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48" y="5471993"/>
            <a:ext cx="248007" cy="1983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4913" y="5416987"/>
            <a:ext cx="671333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 general:</a:t>
            </a: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Generar bosquejos visuales aplicando principios de diseño, percepción y narrativa efectiva para construir visualizaciones comunicativas y coherentes con los objetivos de análisis.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4753"/>
            <a:ext cx="51945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Resultados Esperados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516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165991"/>
            <a:ext cx="6422231" cy="228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93790" y="33108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Percepción Visual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74011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Aplicar principios de percepción visual y Gestalt en el diseño de dashboards o informes, optimizando la comprensión inmediata.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28516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165991"/>
            <a:ext cx="6422231" cy="22860"/>
          </a:xfrm>
          <a:prstGeom prst="rect">
            <a:avLst/>
          </a:prstGeom>
          <a:solidFill>
            <a:srgbClr val="CADCD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414379" y="3310890"/>
            <a:ext cx="259889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Layouts Jerarquizados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14379" y="374011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Diseñar layouts jerarquizados que orienten la mirada y reduzcan la carga cognitiva del usuario final.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036701"/>
            <a:ext cx="6422231" cy="22860"/>
          </a:xfrm>
          <a:prstGeom prst="rect">
            <a:avLst/>
          </a:prstGeom>
          <a:solidFill>
            <a:srgbClr val="B9AA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93790" y="51816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Elementos de Diseño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61082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Elegir tipografía, paletas e iconografía adecuadas según tipo de variable y público objetivo específico.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5036701"/>
            <a:ext cx="6422231" cy="22860"/>
          </a:xfrm>
          <a:prstGeom prst="rect">
            <a:avLst/>
          </a:prstGeom>
          <a:solidFill>
            <a:srgbClr val="B2D5A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414379" y="51816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Narrativa Coherente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414379" y="561082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Redactar narrativas visuales coherentes con estructura clara y repetición intencional de mensajes clave.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16962"/>
            <a:ext cx="88382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Bloque A: Percepción Visual Aplicada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234696"/>
            <a:ext cx="704230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Fundamentos de la Percepción Visual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502848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ojo no "ve datos", </a:t>
            </a: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detecta diferencias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contraste, forma, posición, color y tamaño. Los atributos preatentivos se perciben en menos de 200 milisegundos y deben guiar la mirada hacia la información más relevante.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5886807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015008" y="61080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Regla Práctica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653724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Reserva los canales más precisos (posición y longitud) para la variable más importante de tu análisis.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4379" y="5886807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635597" y="61080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Jerarquía Perceptual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635597" y="653724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Posición &gt; Longitud &gt; Orientación &gt; Tamaño &gt; Color &gt; Textura en términos de precisión perceptual.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0557"/>
            <a:ext cx="88103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Principios de Gestalt en Visualización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617470"/>
            <a:ext cx="13042821" cy="4011573"/>
          </a:xfrm>
          <a:prstGeom prst="roundRect">
            <a:avLst>
              <a:gd name="adj" fmla="val 20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01410" y="262509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99887" y="2751773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Principio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911923" y="2751773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Aplicación Práctica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01410" y="3195995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999887" y="3322677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Proximidad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11923" y="3322677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Agrupa KPIs y gráficos relacionados para crear bloques coherentes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410" y="376689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99887" y="3893582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Semejanza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911923" y="3893582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color y forma coherente para categorías similares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33780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99887" y="4464487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Continuidad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11923" y="4464487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Alinea títulos y ejes para un flujo visual lógico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490870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99887" y="5035391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Figura–fondo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11923" y="5035391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Contraste fuerte entre fondo y datos clave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5479613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999887" y="5606296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Destino común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911923" y="5606296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Elementos animados deben moverse juntos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1410" y="605051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999887" y="6177201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Conexión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911923" y="6177201"/>
            <a:ext cx="87187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cajas o tarjetas para bloques coherentes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6308"/>
            <a:ext cx="944796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Diseño del Layout: Jerarquía y Equilibrio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53220"/>
            <a:ext cx="6422231" cy="2300407"/>
          </a:xfrm>
          <a:prstGeom prst="roundRect">
            <a:avLst>
              <a:gd name="adj" fmla="val 3624"/>
            </a:avLst>
          </a:prstGeom>
          <a:solidFill>
            <a:srgbClr val="028090"/>
          </a:solidFill>
          <a:ln w="228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015008" y="217443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19" y="2304574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008" y="29681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Rejilla 12 Columnas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008" y="3397329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Trabaja con rejilla de 12 columnas y márgenes consistentes para mantener alineación visual profesional.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1953220"/>
            <a:ext cx="6422231" cy="2300407"/>
          </a:xfrm>
          <a:prstGeom prst="roundRect">
            <a:avLst>
              <a:gd name="adj" fmla="val 3624"/>
            </a:avLst>
          </a:prstGeom>
          <a:solidFill>
            <a:srgbClr val="028090"/>
          </a:solidFill>
          <a:ln w="22860">
            <a:solidFill>
              <a:srgbClr val="CADC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7635597" y="217443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CADCD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308" y="2304574"/>
            <a:ext cx="267891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597" y="29681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División Espacial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35597" y="3397329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Cabecera (título-respuesta + subtítulo), cuerpo (2–3 vistas), soporte (glosario, fuente).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451985"/>
            <a:ext cx="6422231" cy="2300407"/>
          </a:xfrm>
          <a:prstGeom prst="roundRect">
            <a:avLst>
              <a:gd name="adj" fmla="val 3624"/>
            </a:avLst>
          </a:prstGeom>
          <a:solidFill>
            <a:srgbClr val="028090"/>
          </a:solidFill>
          <a:ln w="22860">
            <a:solidFill>
              <a:srgbClr val="B9AA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1015008" y="46732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B9AAD4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719" y="4803338"/>
            <a:ext cx="267891" cy="3349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5008" y="54668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Patrones de Lectura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015008" y="589609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Lectura en Z para dashboards amplios o patrón F para reportes verticales.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451985"/>
            <a:ext cx="6422231" cy="2300407"/>
          </a:xfrm>
          <a:prstGeom prst="roundRect">
            <a:avLst>
              <a:gd name="adj" fmla="val 3624"/>
            </a:avLst>
          </a:prstGeom>
          <a:solidFill>
            <a:srgbClr val="028090"/>
          </a:solidFill>
          <a:ln w="22860">
            <a:solidFill>
              <a:srgbClr val="B2D5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4"/>
          <p:cNvSpPr/>
          <p:nvPr/>
        </p:nvSpPr>
        <p:spPr>
          <a:xfrm>
            <a:off x="7635597" y="46732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B2D5AD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308" y="4803338"/>
            <a:ext cx="267891" cy="3349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597" y="54668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Espacios en Blanco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35597" y="589609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Mantén espacios en blanco generosos: reducen carga cognitiva y mejoran comprensión.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93790" y="697563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jerarquía visual debe guiar la lectura: </a:t>
            </a: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 → foco → detalle → soporte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0048"/>
            <a:ext cx="84189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Tipografía e Iconografía Estratégica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56140"/>
            <a:ext cx="25205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Selección Tipográfica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6465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Sans-serif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pantalla digital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35160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Serif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reportes impresos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73856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Sistema jerárquico: H1 (título), H2 (subtítulo), H3 (bloques)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12551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Tipografía tabular monoespaciada para cifras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641413"/>
            <a:ext cx="28954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Principios de Iconografía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514992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Solo semántica, nunca decorativa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553688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Consistencia de estilo (línea o relleno)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592383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Tamaño proporcional al contenido</a:t>
            </a:r>
            <a:endParaRPr lang="en-US" sz="15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74" y="2481024"/>
            <a:ext cx="6279356" cy="41851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856"/>
            <a:ext cx="80285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Paletas de Colores y Accesibilidad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254091" y="28753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Cualitativas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304580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categorías nominales sin orden específico. Máximo 7-8 colores distintos.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766" y="3307854"/>
            <a:ext cx="296942" cy="3711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95284" y="28753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Secuenciales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895284" y="3304580"/>
            <a:ext cx="3941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magnitudes crecientes o decrecientes. Del claro al oscuro.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335" y="3307854"/>
            <a:ext cx="296942" cy="3711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95284" y="53067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Divergentes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895284" y="5735955"/>
            <a:ext cx="3941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desviaciones positivas y negativas desde un punto central.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335" y="5567422"/>
            <a:ext cx="296942" cy="37111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54091" y="53067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Accesibilidad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793790" y="5735955"/>
            <a:ext cx="3941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 contraste y daltonismo. Evita paletas arcoíris. Máximo 1-2 colores acento por vista.</a:t>
            </a:r>
            <a:endParaRPr lang="en-US" sz="15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340769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6766" y="5567422"/>
            <a:ext cx="296942" cy="3711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1071"/>
            <a:ext cx="837235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Marcadores Según Tipo de Variable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17984"/>
            <a:ext cx="13042821" cy="2869763"/>
          </a:xfrm>
          <a:prstGeom prst="roundRect">
            <a:avLst>
              <a:gd name="adj" fmla="val 29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01410" y="292560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00006" y="305228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Variable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60652" y="305228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 Sugerido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17487" y="305228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Canal Principal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774323" y="305228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Canal Secundario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49650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00006" y="3623191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Nominal–Razón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60652" y="3623191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17487" y="3623191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Longitud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74323" y="3623191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Color acento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06741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000006" y="419409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Razón–Razón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260652" y="419409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Dispersión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17487" y="419409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Posición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774323" y="419409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Tamaño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463831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000006" y="476500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Tiempo–Razón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260652" y="476500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17487" y="476500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Posición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774323" y="476500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Grosor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20922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1000006" y="533590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Jerarquía–Razón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260652" y="533590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Treemap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17487" y="533590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Área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774323" y="533590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Color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93790" y="601098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selección del gráfico debe optimizar la precisión perceptual del canal principal mientras el secundario añade contexto sin interferir.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730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325" y="2651046"/>
            <a:ext cx="6317575" cy="5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Bloque B: Estructura Narrativa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95325" y="3454956"/>
            <a:ext cx="5453420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Narrativa Aplicada a Dashboards</a:t>
            </a:r>
            <a:endParaRPr lang="en-US" sz="2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4150281"/>
            <a:ext cx="869156" cy="10429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8312" y="4324112"/>
            <a:ext cx="217301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Inicio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738312" y="4699992"/>
            <a:ext cx="12196763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Contexto, pregunta y gancho que captura la atención del usuario desde el primer momento.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5193268"/>
            <a:ext cx="869156" cy="10429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8312" y="5367099"/>
            <a:ext cx="217301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Desarrollo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738312" y="5742980"/>
            <a:ext cx="12196763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Evidencia estructurada (2–4 vistas) que responden progresivamente a la pregunta planteada.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6236256"/>
            <a:ext cx="869156" cy="10429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38312" y="6410087"/>
            <a:ext cx="2173010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Cierre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738312" y="6785967"/>
            <a:ext cx="12196763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Recomendación clara o decisión específica basada en la evidencia presentada.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95325" y="7474744"/>
            <a:ext cx="13239750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Utilizar modelo de </a:t>
            </a:r>
            <a:r>
              <a:rPr lang="en-US" sz="13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Tres actos</a:t>
            </a: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o </a:t>
            </a:r>
            <a:r>
              <a:rPr lang="en-US" sz="1350" b="1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SCQA (Situation–Complication–Question–Answer)</a:t>
            </a: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estructurar la información.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1659"/>
            <a:ext cx="70094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Técnicas Narrativas Aplicadas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858572"/>
            <a:ext cx="4215289" cy="182427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70930" y="2858572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83588" y="30797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Big Idea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509010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Frase única que sintetiza toda la historia y puede recordarse fácilmente. Debe aparecer al inicio y al final.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858572"/>
            <a:ext cx="4215408" cy="182427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184577" y="2858572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CADCD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97235" y="30797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Regla de Tres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3509010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Tres evidencias principales que sostienen el argumento. Número óptimo para retención cognitiva.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2858572"/>
            <a:ext cx="4215289" cy="182427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9598343" y="2858572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B9AA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911001" y="30797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Callbacks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3509010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Retomar una cifra o visual clave al final para reforzar el mensaje principal.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4881205"/>
            <a:ext cx="4215289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B2D5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70930" y="4881205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B2D5A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083588" y="5102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Foreshadowing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83588" y="5531644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Anticipar conclusiones para mantener la atención y crear expectativa.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207437" y="4881205"/>
            <a:ext cx="4215408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6060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184577" y="4881205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60606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497235" y="5102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Economía Visual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497235" y="5531644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Menos gráficos, más señal. Cada elemento debe tener propósito narrativo específico.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0048"/>
            <a:ext cx="57447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Repetición con Intención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561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Leitmotivs Visuales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6465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Repetir colores, íconos o términos clave refuerza la memoria y crea coherencia visual. Los elementos repetidos funcionan como hilos conductores que unifican la narrativa.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09586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Usar la </a:t>
            </a: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Big Idea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al inicio y al final crea una apertura/cierre circular que refuerza el mensaje principal.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9293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Evitar Redundancia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543782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repetición debe tener propósito estratégico, no ser resultado de falta de planificación. Cada repetición debe añadir valor o reforzar comprensión.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74" y="2481024"/>
            <a:ext cx="6279356" cy="41851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6573"/>
            <a:ext cx="51851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Flujo Narrativo Visual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303770" y="2173486"/>
            <a:ext cx="22860" cy="4899422"/>
          </a:xfrm>
          <a:prstGeom prst="roundRect">
            <a:avLst>
              <a:gd name="adj" fmla="val 364651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6519505" y="2385298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1B99A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091958" y="217348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166372" y="221069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842028" y="22417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Macro a Micro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2670929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Comenzar con panorama general, luego profundizar en detalles específicos que explican el fenómeno.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5582" y="3575923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B0C2B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091958" y="336411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166372" y="340131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07467" y="34323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Todo a Parte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07467" y="3861554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Mostrar composición completa antes de analizar componentes individuales para mantener contexto.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19505" y="4602242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9F90B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091958" y="439043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7166372" y="442763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842028" y="44586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Causa a Efecto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887873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Establecer relaciones causales claras que conduzcan lógicamente hacia la decisión requerida.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5582" y="5628680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98BB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7091958" y="541686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2D5AD"/>
          </a:solidFill>
          <a:ln w="22860">
            <a:solidFill>
              <a:srgbClr val="98BB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166372" y="545407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307467" y="54850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Priorización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307467" y="5914311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Mostrar primero lo que cambia la decisión, luego información de soporte y contexto adicional.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228"/>
            <a:ext cx="609254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Del Bosquejo al Prototipo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7514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89465"/>
            <a:ext cx="6422231" cy="228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93790" y="25343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Define Big Idea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96358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Establece el mensaje central y las decisiones que debe facilitar el dashboard.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207514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2389465"/>
            <a:ext cx="6422231" cy="22860"/>
          </a:xfrm>
          <a:prstGeom prst="rect">
            <a:avLst/>
          </a:prstGeom>
          <a:solidFill>
            <a:srgbClr val="CADCD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414379" y="25343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Esboza Estructura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14379" y="296358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Cabecera + 2–3 bloques principales + soporte. Mantén proporciones visuales equilibradas.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260175"/>
            <a:ext cx="6422231" cy="22860"/>
          </a:xfrm>
          <a:prstGeom prst="rect">
            <a:avLst/>
          </a:prstGeom>
          <a:solidFill>
            <a:srgbClr val="B9AA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93790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Aplica Gestalt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483429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Implementa principios de percepción visual y jerarquía para guiar la atención.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4260175"/>
            <a:ext cx="6422231" cy="22860"/>
          </a:xfrm>
          <a:prstGeom prst="rect">
            <a:avLst/>
          </a:prstGeom>
          <a:solidFill>
            <a:srgbClr val="B2D5A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414379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Asigna Elementos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414379" y="483429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Formas, colores y tipografía adecuados según tipo de variable y mensaje.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5499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5813346"/>
            <a:ext cx="6422231" cy="22860"/>
          </a:xfrm>
          <a:prstGeom prst="rect">
            <a:avLst/>
          </a:prstGeom>
          <a:solidFill>
            <a:srgbClr val="60606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93790" y="5958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Prototipa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93790" y="6387465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Construye en Power BI o Python con datos de prueba para validar funcionalidad.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14379" y="5499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14379" y="5813346"/>
            <a:ext cx="6422231" cy="228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7414379" y="5958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Valida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414379" y="638746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 legibilidad y narrativa con otro usuario antes de implementación final.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58133"/>
            <a:ext cx="94697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Actividad Práctica: Dashboard Narrativo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075867"/>
            <a:ext cx="901815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Ejercicio: "Del bosquejo al dashboard narrativo"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486965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Contexto: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El área de operaciones necesita presentar a dirección un dashboard que explique por qué aumentaron los tiempos de entrega y qué acciones proponer.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5727978"/>
            <a:ext cx="4215289" cy="1824276"/>
          </a:xfrm>
          <a:prstGeom prst="roundRect">
            <a:avLst>
              <a:gd name="adj" fmla="val 4569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015008" y="59491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Big Idea Definida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6378416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"Las demoras se concentran en la Región Sur por falta de flota y backlog elevado."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5727978"/>
            <a:ext cx="4215408" cy="1824276"/>
          </a:xfrm>
          <a:prstGeom prst="roundRect">
            <a:avLst>
              <a:gd name="adj" fmla="val 4569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428655" y="59491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Requerimientos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428655" y="6378416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Python 3.9+ o Power BI; pandas, matplotlib, seaborn para prototipado rápido.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621203" y="5727978"/>
            <a:ext cx="4215289" cy="1824276"/>
          </a:xfrm>
          <a:prstGeom prst="roundRect">
            <a:avLst>
              <a:gd name="adj" fmla="val 4569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9842421" y="59491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Entregables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842421" y="6378416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Bosquejo (foto o PDF), dashboard prototipado y breve narración (inicio–desarrollo–cierre).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726"/>
            <a:ext cx="72336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Código Base y Implementación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869638"/>
            <a:ext cx="13042821" cy="4108133"/>
          </a:xfrm>
          <a:prstGeom prst="roundRect">
            <a:avLst>
              <a:gd name="adj" fmla="val 202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83908" y="1869638"/>
            <a:ext cx="13062585" cy="4108133"/>
          </a:xfrm>
          <a:prstGeom prst="roundRect">
            <a:avLst>
              <a:gd name="adj" fmla="val 72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82266" y="2018467"/>
            <a:ext cx="12665869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import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pandas as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pd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numpy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as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matplotlib.pyplot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as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seaborn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as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sns</a:t>
            </a:r>
            <a:endParaRPr lang="es-CL" dirty="0">
              <a:highlight>
                <a:srgbClr val="F2F2F2"/>
              </a:highlight>
              <a:latin typeface="Consolas" panose="020B0609020204030204" pitchFamily="49" charset="0"/>
            </a:endParaRP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np.random.seed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(1)</a:t>
            </a: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df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=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pd.DataFrame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({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'fecha':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pd.date_range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('2025-01-01',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periods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=12,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freq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='M'),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region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np.random.choice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(['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Norte','Centro','Sur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'], 12),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sla_promedio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np.random.uniform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(24,72,12),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nps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np.random.uniform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(40,80,12)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})</a:t>
            </a: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sns.lineplot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(data=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df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, x='fecha', y='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sla_promedio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hue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='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region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marker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='o')</a:t>
            </a: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plt.title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('Tiempo promedio de entrega por región – 2025')</a:t>
            </a: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plt.xlabel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('Mes');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plt.ylabel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('SLA promedio (h)');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plt.show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" name="Text 4"/>
          <p:cNvSpPr/>
          <p:nvPr/>
        </p:nvSpPr>
        <p:spPr>
          <a:xfrm>
            <a:off x="793790" y="620101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estudiantes deben bosquejar el layout (cabecera con título + KPI, cuerpo con línea + barras + dispersión, soporte con glosario), aplicar Gestalt agrupando métricas y usando color acento en outliers, y construir tres vistas base: línea temporal, barras por región, y dispersión SLA vs NPS.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705933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Evaluación: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claridad visual, aplicación de Gestalt, estructura narrativa y consistencia de diseño.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654" y="456248"/>
            <a:ext cx="4148018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Síntesis y Proyección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3654" y="1223605"/>
            <a:ext cx="3318391" cy="41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5 Puntos Clave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63654" y="1887141"/>
            <a:ext cx="373261" cy="373261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25805" y="1918216"/>
            <a:ext cx="248841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02769" y="1944172"/>
            <a:ext cx="2781895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Percepción Antes que Razón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2769" y="2302907"/>
            <a:ext cx="1276397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percepción y el diseño guían la atención antes que el análisis racional.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3654" y="2900243"/>
            <a:ext cx="373261" cy="373261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25805" y="2931319"/>
            <a:ext cx="248841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02769" y="2957274"/>
            <a:ext cx="212764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Gestalt Reduce Carga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2769" y="3316010"/>
            <a:ext cx="1276397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principios de Gestalt y jerarquía visual reducen significativamente la carga cognitiva.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3654" y="3913346"/>
            <a:ext cx="373261" cy="373261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25805" y="3944422"/>
            <a:ext cx="248841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02769" y="3970377"/>
            <a:ext cx="2172891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Elementos Comunican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2769" y="4329113"/>
            <a:ext cx="1276397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Paleta, tipografía e iconografía comunican tono y claridad antes del contenido.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3654" y="4926449"/>
            <a:ext cx="373261" cy="373261"/>
          </a:xfrm>
          <a:prstGeom prst="roundRect">
            <a:avLst>
              <a:gd name="adj" fmla="val 18670"/>
            </a:avLst>
          </a:prstGeom>
          <a:solidFill>
            <a:srgbClr val="B2D5AD"/>
          </a:solidFill>
          <a:ln w="15240">
            <a:solidFill>
              <a:srgbClr val="98BB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25805" y="4957524"/>
            <a:ext cx="248841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02769" y="4983480"/>
            <a:ext cx="224575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Narrativa Estructurada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2769" y="5342215"/>
            <a:ext cx="1276397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narrativa efectiva combina estructura clara y ritmo (inicio–nudo–cierre).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654" y="5939552"/>
            <a:ext cx="373261" cy="373261"/>
          </a:xfrm>
          <a:prstGeom prst="roundRect">
            <a:avLst>
              <a:gd name="adj" fmla="val 18670"/>
            </a:avLst>
          </a:prstGeom>
          <a:solidFill>
            <a:srgbClr val="606060"/>
          </a:solidFill>
          <a:ln w="15240">
            <a:solidFill>
              <a:srgbClr val="79797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25805" y="5970627"/>
            <a:ext cx="248841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02769" y="5996583"/>
            <a:ext cx="2073950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Bosquejar Acelera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2769" y="6355318"/>
            <a:ext cx="1276397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Bosquejar antes de prototipar acelera el proceso y mejora la comunicación visual final.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3654" y="6807398"/>
            <a:ext cx="13303091" cy="970478"/>
          </a:xfrm>
          <a:prstGeom prst="roundRect">
            <a:avLst>
              <a:gd name="adj" fmla="val 7181"/>
            </a:avLst>
          </a:prstGeom>
          <a:solidFill>
            <a:srgbClr val="CAE1E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08" y="7052429"/>
            <a:ext cx="207288" cy="16585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02650" y="7014686"/>
            <a:ext cx="12598241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Conexión curricular:</a:t>
            </a:r>
            <a:r>
              <a:rPr lang="en-US" sz="13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Esta clase desarrolla los Aprendizajes Esperados AE4 y AE5 del Módulo 7, integrando diseño visual con narrativa efectiva para la comunicación profesional de datos.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1783</Words>
  <Application>Microsoft Office PowerPoint</Application>
  <PresentationFormat>Personalizado</PresentationFormat>
  <Paragraphs>233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Nunito Extra Bold</vt:lpstr>
      <vt:lpstr>Source Sans Pro</vt:lpstr>
      <vt:lpstr>Consolas</vt:lpstr>
      <vt:lpstr>Nunito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Lucas Orellana Cuello</cp:lastModifiedBy>
  <cp:revision>2</cp:revision>
  <dcterms:created xsi:type="dcterms:W3CDTF">2025-10-05T22:01:32Z</dcterms:created>
  <dcterms:modified xsi:type="dcterms:W3CDTF">2025-10-05T22:02:37Z</dcterms:modified>
</cp:coreProperties>
</file>