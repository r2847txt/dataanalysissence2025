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4630400" cy="8229600"/>
  <p:notesSz cx="8229600" cy="14630400"/>
  <p:embeddedFontLst>
    <p:embeddedFont>
      <p:font typeface="Consolas" panose="020B0609020204030204" pitchFamily="49" charset="0"/>
      <p:regular r:id="rId23"/>
      <p:bold r:id="rId24"/>
      <p:italic r:id="rId25"/>
      <p:boldItalic r:id="rId26"/>
    </p:embeddedFont>
    <p:embeddedFont>
      <p:font typeface="Nunito Extra Bold" panose="020B0604020202020204" charset="0"/>
      <p:regular r:id="rId27"/>
    </p:embeddedFont>
    <p:embeddedFont>
      <p:font typeface="Nunito Light" pitchFamily="2" charset="0"/>
      <p:regular r:id="rId28"/>
    </p:embeddedFont>
    <p:embeddedFont>
      <p:font typeface="Source Sans Pro" panose="020B0503030403020204" pitchFamily="34" charset="0"/>
      <p:regular r:id="rId29"/>
    </p:embeddedFont>
  </p:embeddedFontLst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44115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710815"/>
            <a:ext cx="75564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Data Storytelling y Selección de Gráficos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280190" y="4248626"/>
            <a:ext cx="7556421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Clase 2 - Módulo 7 (Sección Vespertina). Una exploración profunda de cómo transformar datos en narrativas convincentes que impulsen decisiones estratégicas. Dirigido a profesionales y egresados técnicos con experiencia en análisis de datos y visualización básica.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83988"/>
            <a:ext cx="5707142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Preguntas de Activación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3400901"/>
            <a:ext cx="4215289" cy="2444591"/>
          </a:xfrm>
          <a:prstGeom prst="roundRect">
            <a:avLst>
              <a:gd name="adj" fmla="val 3410"/>
            </a:avLst>
          </a:prstGeom>
          <a:solidFill>
            <a:srgbClr val="028090"/>
          </a:solidFill>
          <a:ln w="22860">
            <a:solidFill>
              <a:srgbClr val="1B99A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1015008" y="3622119"/>
            <a:ext cx="3772853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¿Cuándo un gráfico bien hecho puede "matar" una historia?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015008" y="4361498"/>
            <a:ext cx="377285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Reflexiona sobre cómo la perfección técnica puede ocultar el mensaje principal si no está alineada con la narrativa.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207437" y="3400901"/>
            <a:ext cx="4215408" cy="2444591"/>
          </a:xfrm>
          <a:prstGeom prst="roundRect">
            <a:avLst>
              <a:gd name="adj" fmla="val 3410"/>
            </a:avLst>
          </a:prstGeom>
          <a:solidFill>
            <a:srgbClr val="CADCD8"/>
          </a:solidFill>
          <a:ln w="22860">
            <a:solidFill>
              <a:srgbClr val="B0C2B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5428655" y="3622119"/>
            <a:ext cx="3772972" cy="9304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¿Qué diferencia una visualización informativa de una que transforma decisiones?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5428655" y="4671655"/>
            <a:ext cx="3772972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Considera el poder de la visualización como herramienta de persuasión y acción, no solo de información.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9621203" y="3400901"/>
            <a:ext cx="4215289" cy="2444591"/>
          </a:xfrm>
          <a:prstGeom prst="roundRect">
            <a:avLst>
              <a:gd name="adj" fmla="val 3410"/>
            </a:avLst>
          </a:prstGeom>
          <a:solidFill>
            <a:srgbClr val="B9AAD4"/>
          </a:solidFill>
          <a:ln w="22860">
            <a:solidFill>
              <a:srgbClr val="9F90B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9842421" y="3622119"/>
            <a:ext cx="3772853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Si tu audiencia recordara solo una frase, ¿cuál debería ser?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842421" y="4361498"/>
            <a:ext cx="377285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Piensa en la esencia de tu mensaje y cómo condensarlo en una "Big Idea" memorable y accionable.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7829" y="788194"/>
            <a:ext cx="5400556" cy="5686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Objetivos de Aprendizaje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727829" y="1629728"/>
            <a:ext cx="181928" cy="227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C1D22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727829" y="1916073"/>
            <a:ext cx="7688342" cy="228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Text 3"/>
          <p:cNvSpPr/>
          <p:nvPr/>
        </p:nvSpPr>
        <p:spPr>
          <a:xfrm>
            <a:off x="727829" y="2052757"/>
            <a:ext cx="3806666" cy="284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Fundamentos del Data Storytelling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27829" y="2446020"/>
            <a:ext cx="7688342" cy="581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Explicar los elementos y ventajas de un buen data storytelling para la comunicación efectiva de análisis.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27829" y="3346371"/>
            <a:ext cx="181928" cy="227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C1D22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27829" y="3632716"/>
            <a:ext cx="7688342" cy="22860"/>
          </a:xfrm>
          <a:prstGeom prst="rect">
            <a:avLst/>
          </a:prstGeom>
          <a:solidFill>
            <a:srgbClr val="CADCD8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0" name="Text 7"/>
          <p:cNvSpPr/>
          <p:nvPr/>
        </p:nvSpPr>
        <p:spPr>
          <a:xfrm>
            <a:off x="727829" y="3769400"/>
            <a:ext cx="2330887" cy="284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Criterios de Selección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727829" y="4162663"/>
            <a:ext cx="7688342" cy="290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Aplicar criterios técnicos para seleccionar gráficos según estructura de datos y tipo de variable.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27829" y="4772025"/>
            <a:ext cx="181928" cy="227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C1D22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27829" y="5058370"/>
            <a:ext cx="7688342" cy="22860"/>
          </a:xfrm>
          <a:prstGeom prst="rect">
            <a:avLst/>
          </a:prstGeom>
          <a:solidFill>
            <a:srgbClr val="B9AAD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4" name="Text 11"/>
          <p:cNvSpPr/>
          <p:nvPr/>
        </p:nvSpPr>
        <p:spPr>
          <a:xfrm>
            <a:off x="727829" y="5195054"/>
            <a:ext cx="2274451" cy="284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Narrativa Visual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727829" y="5588318"/>
            <a:ext cx="7688342" cy="290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Diseñar historias de datos con estructura narrativa coherente y soporte visual estratégico.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27829" y="6197679"/>
            <a:ext cx="181928" cy="227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C1D22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04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727829" y="6484025"/>
            <a:ext cx="7688342" cy="22860"/>
          </a:xfrm>
          <a:prstGeom prst="rect">
            <a:avLst/>
          </a:prstGeom>
          <a:solidFill>
            <a:srgbClr val="B2D5A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8" name="Text 15"/>
          <p:cNvSpPr/>
          <p:nvPr/>
        </p:nvSpPr>
        <p:spPr>
          <a:xfrm>
            <a:off x="727829" y="6620708"/>
            <a:ext cx="2274451" cy="284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Evaluación Crítica</a:t>
            </a:r>
            <a:endParaRPr lang="en-US" sz="1750" dirty="0"/>
          </a:p>
        </p:txBody>
      </p:sp>
      <p:sp>
        <p:nvSpPr>
          <p:cNvPr id="19" name="Text 16"/>
          <p:cNvSpPr/>
          <p:nvPr/>
        </p:nvSpPr>
        <p:spPr>
          <a:xfrm>
            <a:off x="727829" y="7013972"/>
            <a:ext cx="7688342" cy="290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Evaluar la efectividad narrativa y honestidad visual de informes y dashboards profesionales.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40048"/>
            <a:ext cx="6872049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¿Qué es el Data Storytelling?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436376"/>
            <a:ext cx="6279356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Data Storytelling es el uso intencionado de </a:t>
            </a:r>
            <a:r>
              <a:rPr lang="en-US" sz="1550" b="1" dirty="0">
                <a:solidFill>
                  <a:srgbClr val="1F3E47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narrativa, visualización y datos</a:t>
            </a: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para comunicar hallazgos analíticos de forma comprensible, memorable y accionable. No se trata de "contar cualquier historia", sino de </a:t>
            </a:r>
            <a:r>
              <a:rPr lang="en-US" sz="1550" b="1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conectar datos con decisiones</a:t>
            </a: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1446" y="3929777"/>
            <a:ext cx="5981700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i="1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Los datos son la evidencia, la visualización es el lenguaje, la narrativa es el sentido.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93790" y="3929777"/>
            <a:ext cx="22860" cy="635079"/>
          </a:xfrm>
          <a:prstGeom prst="rect">
            <a:avLst/>
          </a:prstGeom>
          <a:solidFill>
            <a:srgbClr val="1F3E47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4874" y="2481024"/>
            <a:ext cx="6279356" cy="418516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53465"/>
            <a:ext cx="8829794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Los Tres Pilares del Data Storytelling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2154912" y="350317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Narrativa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793790" y="3932396"/>
            <a:ext cx="3842028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Protagonista (audiencia), conflicto (pregunta o problema), resolución (recomendación). Estructura que da sentido y contexto a los datos.</a:t>
            </a:r>
            <a:endParaRPr lang="en-US" sz="1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2070378"/>
            <a:ext cx="4564975" cy="4564975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8851" y="4167247"/>
            <a:ext cx="296942" cy="37111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895284" y="244625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Visualización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9895284" y="2875478"/>
            <a:ext cx="394132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Forma que reduce carga cognitiva y resalta lo esencial. El lenguaje visual que hace comprensibles los insights complejos.</a:t>
            </a:r>
            <a:endParaRPr lang="en-US" sz="15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2653" y="2070378"/>
            <a:ext cx="4564975" cy="4564975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5460" y="2783622"/>
            <a:ext cx="296942" cy="37111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895284" y="487751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Datos</a:t>
            </a:r>
            <a:endParaRPr lang="en-US" sz="1950" dirty="0"/>
          </a:p>
        </p:txBody>
      </p:sp>
      <p:sp>
        <p:nvSpPr>
          <p:cNvPr id="12" name="Text 6"/>
          <p:cNvSpPr/>
          <p:nvPr/>
        </p:nvSpPr>
        <p:spPr>
          <a:xfrm>
            <a:off x="9895284" y="5306735"/>
            <a:ext cx="394132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Evidencia trazable, de calidad y relevante. La base sólida que sustenta toda la historia y le otorga credibilidad.</a:t>
            </a:r>
            <a:endParaRPr lang="en-US" sz="15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2653" y="2070378"/>
            <a:ext cx="4564975" cy="4564975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65460" y="5550872"/>
            <a:ext cx="296942" cy="371118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793790" y="6858595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Los tres funcionan como sistema integrado. Si falla uno, la historia pierde credibilidad o claridad, comprometiendo el impacto final del mensaje.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3507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6642" y="520184"/>
            <a:ext cx="5906810" cy="591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Ventajas Organizacionales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756642" y="1395055"/>
            <a:ext cx="7630716" cy="1438156"/>
          </a:xfrm>
          <a:prstGeom prst="roundRect">
            <a:avLst>
              <a:gd name="adj" fmla="val 5525"/>
            </a:avLst>
          </a:prstGeom>
          <a:solidFill>
            <a:srgbClr val="FFFFFF"/>
          </a:solidFill>
          <a:ln w="2286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2"/>
          <p:cNvSpPr/>
          <p:nvPr/>
        </p:nvSpPr>
        <p:spPr>
          <a:xfrm>
            <a:off x="968573" y="1606987"/>
            <a:ext cx="2473166" cy="295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Alineación de Equipos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968573" y="2015966"/>
            <a:ext cx="7206853" cy="605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Unifica equipos en torno a un mensaje claro y compartido, eliminando interpretaciones ambiguas de los datos.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756642" y="3022283"/>
            <a:ext cx="7630716" cy="1438156"/>
          </a:xfrm>
          <a:prstGeom prst="roundRect">
            <a:avLst>
              <a:gd name="adj" fmla="val 5525"/>
            </a:avLst>
          </a:prstGeom>
          <a:solidFill>
            <a:srgbClr val="FFFFFF"/>
          </a:solidFill>
          <a:ln w="22860">
            <a:solidFill>
              <a:srgbClr val="CADCD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5"/>
          <p:cNvSpPr/>
          <p:nvPr/>
        </p:nvSpPr>
        <p:spPr>
          <a:xfrm>
            <a:off x="968573" y="3234214"/>
            <a:ext cx="2365058" cy="295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Mejora en Decisiones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968573" y="3643193"/>
            <a:ext cx="7206853" cy="605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Facilita la toma de decisiones al reducir ambigüedad y presentar información de manera estructurada y accionable.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756642" y="4649510"/>
            <a:ext cx="7630716" cy="1438156"/>
          </a:xfrm>
          <a:prstGeom prst="roundRect">
            <a:avLst>
              <a:gd name="adj" fmla="val 5525"/>
            </a:avLst>
          </a:prstGeom>
          <a:solidFill>
            <a:srgbClr val="FFFFFF"/>
          </a:solidFill>
          <a:ln w="22860">
            <a:solidFill>
              <a:srgbClr val="B9AAD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8"/>
          <p:cNvSpPr/>
          <p:nvPr/>
        </p:nvSpPr>
        <p:spPr>
          <a:xfrm>
            <a:off x="968573" y="4861441"/>
            <a:ext cx="2740223" cy="295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Memorización y Difusión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968573" y="5270421"/>
            <a:ext cx="7206853" cy="605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Facilita la memorización y difusión de hallazgos clave a través de narrativas memorables y visualizaciones impactantes.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756642" y="6276737"/>
            <a:ext cx="7630716" cy="1438156"/>
          </a:xfrm>
          <a:prstGeom prst="roundRect">
            <a:avLst>
              <a:gd name="adj" fmla="val 5525"/>
            </a:avLst>
          </a:prstGeom>
          <a:solidFill>
            <a:srgbClr val="FFFFFF"/>
          </a:solidFill>
          <a:ln w="22860">
            <a:solidFill>
              <a:srgbClr val="B2D5A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1"/>
          <p:cNvSpPr/>
          <p:nvPr/>
        </p:nvSpPr>
        <p:spPr>
          <a:xfrm>
            <a:off x="968573" y="6488668"/>
            <a:ext cx="2925723" cy="295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Confianza y Transparencia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968573" y="6897648"/>
            <a:ext cx="7206853" cy="605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Promueve confianza mediante trazabilidad y transparencia en el proceso analítico y las conclusiones presentadas.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43100"/>
            <a:ext cx="8121253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Estructura Narrativa de Tres Actos</a:t>
            </a:r>
            <a:endParaRPr lang="en-US" sz="3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960013"/>
            <a:ext cx="4347567" cy="7937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92148" y="3952161"/>
            <a:ext cx="254829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Acto I: Planteamiento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992148" y="4381381"/>
            <a:ext cx="395085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Contexto, objetivo, métrica clave e impacto esperado. Establece el escenario y la importancia del análisis.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992148" y="5453063"/>
            <a:ext cx="395085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i="1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Ejemplo: "El NPS cayó 5 puntos en Q2"</a:t>
            </a:r>
            <a:endParaRPr lang="en-US" sz="15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1357" y="2960013"/>
            <a:ext cx="4347567" cy="79379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339715" y="395216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Acto II: Nudo</a:t>
            </a:r>
            <a:endParaRPr lang="en-US" sz="1950" dirty="0"/>
          </a:p>
        </p:txBody>
      </p:sp>
      <p:sp>
        <p:nvSpPr>
          <p:cNvPr id="9" name="Text 5"/>
          <p:cNvSpPr/>
          <p:nvPr/>
        </p:nvSpPr>
        <p:spPr>
          <a:xfrm>
            <a:off x="5339715" y="4381381"/>
            <a:ext cx="395085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Evidencia principal, comparaciones relevantes y análisis de causas. Desarrolla la investigación y los hallazgos.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5339715" y="5453063"/>
            <a:ext cx="395085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i="1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Ejemplo: "Las demoras logísticas &gt;48h explican el 60% de las quejas"</a:t>
            </a:r>
            <a:endParaRPr lang="en-US" sz="15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8924" y="2960013"/>
            <a:ext cx="4347567" cy="79379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87282" y="395216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Acto III: Desenlace</a:t>
            </a:r>
            <a:endParaRPr lang="en-US" sz="1950" dirty="0"/>
          </a:p>
        </p:txBody>
      </p:sp>
      <p:sp>
        <p:nvSpPr>
          <p:cNvPr id="13" name="Text 8"/>
          <p:cNvSpPr/>
          <p:nvPr/>
        </p:nvSpPr>
        <p:spPr>
          <a:xfrm>
            <a:off x="9687282" y="4381381"/>
            <a:ext cx="395085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Recomendación específica, evaluación de riesgos y plan de acción concreto. Cierra con decisiones claras.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9687282" y="5453063"/>
            <a:ext cx="395085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Ejemplo: "Priorizar backlog Sur y nuevo SLA &lt;36h para recuperar +4 NPS"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67044"/>
            <a:ext cx="7009448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Técnicas Narrativas Aplicadas</a:t>
            </a:r>
            <a:endParaRPr lang="en-US" sz="3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083957"/>
            <a:ext cx="496133" cy="4961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37930" y="320171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Big Idea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1537930" y="3630930"/>
            <a:ext cx="5653207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Una frase central que responde la pregunta decisiva del análisis. Debe ser clara, específica y orientada a la acción que se espera de la audiencia.</a:t>
            </a:r>
            <a:endParaRPr lang="en-US" sz="15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9144" y="3083957"/>
            <a:ext cx="496133" cy="49613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183285" y="320171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Storyboarding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8183285" y="3630930"/>
            <a:ext cx="565332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Bosquejar la secuencia de vistas en 6-12 cuadros. Planifica el flujo visual y narrativo antes de crear las visualizaciones finales.</a:t>
            </a:r>
            <a:endParaRPr lang="en-US" sz="15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4980384"/>
            <a:ext cx="496133" cy="49613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537930" y="509813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Progresión de Señal</a:t>
            </a:r>
            <a:endParaRPr lang="en-US" sz="1950" dirty="0"/>
          </a:p>
        </p:txBody>
      </p:sp>
      <p:sp>
        <p:nvSpPr>
          <p:cNvPr id="11" name="Text 6"/>
          <p:cNvSpPr/>
          <p:nvPr/>
        </p:nvSpPr>
        <p:spPr>
          <a:xfrm>
            <a:off x="1537930" y="5527357"/>
            <a:ext cx="5653207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Título que responde, subtítulo que enmarca, anotaciones que explican. Jerarquía informativa que guía la comprensión.</a:t>
            </a:r>
            <a:endParaRPr lang="en-US" sz="15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39144" y="4980384"/>
            <a:ext cx="496133" cy="49613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183285" y="509813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Economía Visual</a:t>
            </a:r>
            <a:endParaRPr lang="en-US" sz="1950" dirty="0"/>
          </a:p>
        </p:txBody>
      </p:sp>
      <p:sp>
        <p:nvSpPr>
          <p:cNvPr id="14" name="Text 8"/>
          <p:cNvSpPr/>
          <p:nvPr/>
        </p:nvSpPr>
        <p:spPr>
          <a:xfrm>
            <a:off x="8183285" y="5527357"/>
            <a:ext cx="565332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Eliminar ruido visual y priorizar el mensaje principal. Cada elemento debe servir al propósito comunicativo central.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438275"/>
            <a:ext cx="75564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Persuasión Ética y Vinculación Emocional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280190" y="3174444"/>
            <a:ext cx="340244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Combinación Razón-Emoción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280190" y="3682960"/>
            <a:ext cx="3536156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Integra datos objetivos (razón) con contexto e impacto humano (emoción) para crear conexiones más profundas con la audiencia.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6280190" y="5151477"/>
            <a:ext cx="3173016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Anticipación de Objeciones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6280190" y="5659993"/>
            <a:ext cx="353615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Considera posibles sesgos, problemas de causalidad y representatividad. Aborda las dudas antes de que surjan.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0308074" y="3174444"/>
            <a:ext cx="292477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Diseño para la Audiencia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10308074" y="3682960"/>
            <a:ext cx="353615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Adapta formato, tiempo de presentación y tono según las características específicas de quienes recibirán el mensaje.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10308074" y="4833937"/>
            <a:ext cx="330898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Transparencia Metodológica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10308074" y="5342453"/>
            <a:ext cx="353615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Documenta fuentes, limitaciones y supuestos para mantener la integridad analítica y la confianza del público.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29978"/>
            <a:ext cx="8158043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Principios de Selección de Gráficos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746891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Elegir el gráfico adecuado no es cuestión estética, sino </a:t>
            </a:r>
            <a:r>
              <a:rPr lang="en-US" sz="1550" b="1" dirty="0">
                <a:solidFill>
                  <a:srgbClr val="1F3E47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cognitiva y lógica</a:t>
            </a: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. La selección debe basarse en criterios técnicos y perceptuales sólidos.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3287673"/>
            <a:ext cx="6422231" cy="1506736"/>
          </a:xfrm>
          <a:prstGeom prst="roundRect">
            <a:avLst>
              <a:gd name="adj" fmla="val 5532"/>
            </a:avLst>
          </a:prstGeom>
          <a:solidFill>
            <a:srgbClr val="028090"/>
          </a:solidFill>
          <a:ln w="22860">
            <a:solidFill>
              <a:srgbClr val="1B99A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1015008" y="350889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Estructura de Datos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015008" y="3938111"/>
            <a:ext cx="597979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1D, 2D, 3D o ND. La dimensionalidad determina las opciones visuales disponibles y efectivas.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414379" y="3287673"/>
            <a:ext cx="6422231" cy="1506736"/>
          </a:xfrm>
          <a:prstGeom prst="roundRect">
            <a:avLst>
              <a:gd name="adj" fmla="val 5532"/>
            </a:avLst>
          </a:prstGeom>
          <a:solidFill>
            <a:srgbClr val="CADCD8"/>
          </a:solidFill>
          <a:ln w="22860">
            <a:solidFill>
              <a:srgbClr val="B0C2B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7635597" y="350889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Tipo de Variable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7635597" y="3938111"/>
            <a:ext cx="597979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Nominal, ordinal, intervalar o de razón. Cada tipo requiere enfoques visuales específicos para representación precisa.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93790" y="4992767"/>
            <a:ext cx="6422231" cy="1506736"/>
          </a:xfrm>
          <a:prstGeom prst="roundRect">
            <a:avLst>
              <a:gd name="adj" fmla="val 5532"/>
            </a:avLst>
          </a:prstGeom>
          <a:solidFill>
            <a:srgbClr val="B9AAD4"/>
          </a:solidFill>
          <a:ln w="22860">
            <a:solidFill>
              <a:srgbClr val="9F90B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1015008" y="521398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Tarea Analítica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015008" y="5643205"/>
            <a:ext cx="597979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Comparar, distribuir, relacionar, evolucionar, jerarquizar, localizar. El objetivo define la forma visual óptima.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7414379" y="4992767"/>
            <a:ext cx="6422231" cy="1506736"/>
          </a:xfrm>
          <a:prstGeom prst="roundRect">
            <a:avLst>
              <a:gd name="adj" fmla="val 5532"/>
            </a:avLst>
          </a:prstGeom>
          <a:solidFill>
            <a:srgbClr val="B2D5AD"/>
          </a:solidFill>
          <a:ln w="22860">
            <a:solidFill>
              <a:srgbClr val="98BB9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7635597" y="521398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Precisión Perceptual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7635597" y="5643205"/>
            <a:ext cx="597979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Posición/longitud &gt; color/área &gt; forma. Jerarquía de canales visuales según precisión de interpretación humana.</a:t>
            </a:r>
            <a:endParaRPr lang="en-US" sz="1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15045"/>
            <a:ext cx="8876348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Guía Práctica por Estructura de Datos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2331958"/>
            <a:ext cx="13042821" cy="4582478"/>
          </a:xfrm>
          <a:prstGeom prst="roundRect">
            <a:avLst>
              <a:gd name="adj" fmla="val 1819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801410" y="2339578"/>
            <a:ext cx="1302758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1000006" y="2466261"/>
            <a:ext cx="220491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Estructura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3609261" y="2466261"/>
            <a:ext cx="285249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Tipo Variable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6866096" y="2466261"/>
            <a:ext cx="350389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Gráficos Sugeridos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0774323" y="2466261"/>
            <a:ext cx="285630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Objetivo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801410" y="2910483"/>
            <a:ext cx="13027581" cy="5709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1000006" y="3037165"/>
            <a:ext cx="220491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1D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3609261" y="3037165"/>
            <a:ext cx="285249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Cualitativa nominal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866096" y="3037165"/>
            <a:ext cx="350389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Barras ordenadas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0774323" y="3037165"/>
            <a:ext cx="285630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Comparar frecuencias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801410" y="3481388"/>
            <a:ext cx="1302758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/>
          <p:nvPr/>
        </p:nvSpPr>
        <p:spPr>
          <a:xfrm>
            <a:off x="1000006" y="3608070"/>
            <a:ext cx="220491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1D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3609261" y="3608070"/>
            <a:ext cx="285249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Cuantitativa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866096" y="3608070"/>
            <a:ext cx="350389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Histograma, boxplot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0774323" y="3608070"/>
            <a:ext cx="285630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Ver dispersión/outliers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801410" y="4052292"/>
            <a:ext cx="13027581" cy="5709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/>
          <p:nvPr/>
        </p:nvSpPr>
        <p:spPr>
          <a:xfrm>
            <a:off x="1000006" y="4178975"/>
            <a:ext cx="220491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2D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3609261" y="4178975"/>
            <a:ext cx="285249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Cuant–Cuant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6866096" y="4178975"/>
            <a:ext cx="350389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Dispersión, heatmap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10774323" y="4178975"/>
            <a:ext cx="285630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Relación entre variables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801410" y="4623197"/>
            <a:ext cx="1302758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5" name="Text 23"/>
          <p:cNvSpPr/>
          <p:nvPr/>
        </p:nvSpPr>
        <p:spPr>
          <a:xfrm>
            <a:off x="1000006" y="4749879"/>
            <a:ext cx="220491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2D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3609261" y="4749879"/>
            <a:ext cx="285249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Cual–Cuant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6866096" y="4749879"/>
            <a:ext cx="350389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Barras, dot plots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10774323" y="4749879"/>
            <a:ext cx="285630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Comparar grupos</a:t>
            </a:r>
            <a:endParaRPr lang="en-US" sz="1550" dirty="0"/>
          </a:p>
        </p:txBody>
      </p:sp>
      <p:sp>
        <p:nvSpPr>
          <p:cNvPr id="29" name="Shape 27"/>
          <p:cNvSpPr/>
          <p:nvPr/>
        </p:nvSpPr>
        <p:spPr>
          <a:xfrm>
            <a:off x="801410" y="5194102"/>
            <a:ext cx="13027581" cy="5709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0" name="Text 28"/>
          <p:cNvSpPr/>
          <p:nvPr/>
        </p:nvSpPr>
        <p:spPr>
          <a:xfrm>
            <a:off x="1000006" y="5320784"/>
            <a:ext cx="220491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3D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3609261" y="5320784"/>
            <a:ext cx="285249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Jerarquía</a:t>
            </a:r>
            <a:endParaRPr lang="en-US" sz="1550" dirty="0"/>
          </a:p>
        </p:txBody>
      </p:sp>
      <p:sp>
        <p:nvSpPr>
          <p:cNvPr id="32" name="Text 30"/>
          <p:cNvSpPr/>
          <p:nvPr/>
        </p:nvSpPr>
        <p:spPr>
          <a:xfrm>
            <a:off x="6866096" y="5320784"/>
            <a:ext cx="350389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Treemap, sunburst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10774323" y="5320784"/>
            <a:ext cx="285630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Parte–todo</a:t>
            </a:r>
            <a:endParaRPr lang="en-US" sz="1550" dirty="0"/>
          </a:p>
        </p:txBody>
      </p:sp>
      <p:sp>
        <p:nvSpPr>
          <p:cNvPr id="34" name="Shape 32"/>
          <p:cNvSpPr/>
          <p:nvPr/>
        </p:nvSpPr>
        <p:spPr>
          <a:xfrm>
            <a:off x="801410" y="5765006"/>
            <a:ext cx="1302758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5" name="Text 33"/>
          <p:cNvSpPr/>
          <p:nvPr/>
        </p:nvSpPr>
        <p:spPr>
          <a:xfrm>
            <a:off x="1000006" y="5891689"/>
            <a:ext cx="220491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3D</a:t>
            </a:r>
            <a:endParaRPr lang="en-US" sz="1550" dirty="0"/>
          </a:p>
        </p:txBody>
      </p:sp>
      <p:sp>
        <p:nvSpPr>
          <p:cNvPr id="36" name="Text 34"/>
          <p:cNvSpPr/>
          <p:nvPr/>
        </p:nvSpPr>
        <p:spPr>
          <a:xfrm>
            <a:off x="3609261" y="5891689"/>
            <a:ext cx="285249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Temporal</a:t>
            </a:r>
            <a:endParaRPr lang="en-US" sz="1550" dirty="0"/>
          </a:p>
        </p:txBody>
      </p:sp>
      <p:sp>
        <p:nvSpPr>
          <p:cNvPr id="37" name="Text 35"/>
          <p:cNvSpPr/>
          <p:nvPr/>
        </p:nvSpPr>
        <p:spPr>
          <a:xfrm>
            <a:off x="6866096" y="5891689"/>
            <a:ext cx="350389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Líneas, small multiples</a:t>
            </a:r>
            <a:endParaRPr lang="en-US" sz="1550" dirty="0"/>
          </a:p>
        </p:txBody>
      </p:sp>
      <p:sp>
        <p:nvSpPr>
          <p:cNvPr id="38" name="Text 36"/>
          <p:cNvSpPr/>
          <p:nvPr/>
        </p:nvSpPr>
        <p:spPr>
          <a:xfrm>
            <a:off x="10774323" y="5891689"/>
            <a:ext cx="285630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Evolución</a:t>
            </a:r>
            <a:endParaRPr lang="en-US" sz="1550" dirty="0"/>
          </a:p>
        </p:txBody>
      </p:sp>
      <p:sp>
        <p:nvSpPr>
          <p:cNvPr id="39" name="Shape 37"/>
          <p:cNvSpPr/>
          <p:nvPr/>
        </p:nvSpPr>
        <p:spPr>
          <a:xfrm>
            <a:off x="801410" y="6335911"/>
            <a:ext cx="13027581" cy="5709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0" name="Text 38"/>
          <p:cNvSpPr/>
          <p:nvPr/>
        </p:nvSpPr>
        <p:spPr>
          <a:xfrm>
            <a:off x="1000006" y="6462593"/>
            <a:ext cx="220491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N-D</a:t>
            </a:r>
            <a:endParaRPr lang="en-US" sz="1550" dirty="0"/>
          </a:p>
        </p:txBody>
      </p:sp>
      <p:sp>
        <p:nvSpPr>
          <p:cNvPr id="41" name="Text 39"/>
          <p:cNvSpPr/>
          <p:nvPr/>
        </p:nvSpPr>
        <p:spPr>
          <a:xfrm>
            <a:off x="3609261" y="6462593"/>
            <a:ext cx="285249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Multivariado</a:t>
            </a:r>
            <a:endParaRPr lang="en-US" sz="1550" dirty="0"/>
          </a:p>
        </p:txBody>
      </p:sp>
      <p:sp>
        <p:nvSpPr>
          <p:cNvPr id="42" name="Text 40"/>
          <p:cNvSpPr/>
          <p:nvPr/>
        </p:nvSpPr>
        <p:spPr>
          <a:xfrm>
            <a:off x="6866096" y="6462593"/>
            <a:ext cx="350389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Parallel coordinates, facetas</a:t>
            </a:r>
            <a:endParaRPr lang="en-US" sz="1550" dirty="0"/>
          </a:p>
        </p:txBody>
      </p:sp>
      <p:sp>
        <p:nvSpPr>
          <p:cNvPr id="43" name="Text 41"/>
          <p:cNvSpPr/>
          <p:nvPr/>
        </p:nvSpPr>
        <p:spPr>
          <a:xfrm>
            <a:off x="10774323" y="6462593"/>
            <a:ext cx="285630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Patrones complejos</a:t>
            </a:r>
            <a:endParaRPr lang="en-US" sz="15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370171"/>
            <a:ext cx="75564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Marcas Visuales y Canales Perceptuales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280190" y="310634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Marcas Visuales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280190" y="3614857"/>
            <a:ext cx="35361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Punto: para datos individuales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6280190" y="4001810"/>
            <a:ext cx="35361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Línea: para conexiones y tendencias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6280190" y="4388763"/>
            <a:ext cx="35361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Barra: para comparaciones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6280190" y="4775716"/>
            <a:ext cx="35361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Área: para magnitudes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6280190" y="5162669"/>
            <a:ext cx="35361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Celda: para matrices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6280190" y="5549622"/>
            <a:ext cx="35361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Nodo: para redes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10308074" y="3106341"/>
            <a:ext cx="251805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Canales Perceptuales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10308074" y="3614857"/>
            <a:ext cx="35361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Posición: más preciso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10308074" y="4001810"/>
            <a:ext cx="35361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Longitud: muy preciso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10308074" y="4388763"/>
            <a:ext cx="35361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Tamaño: moderadamente preciso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10308074" y="4775716"/>
            <a:ext cx="35361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Color: para categorías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10308074" y="5162669"/>
            <a:ext cx="35361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Orientación: para direcciones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10308074" y="5549622"/>
            <a:ext cx="35361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Forma: menos preciso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10308074" y="6045756"/>
            <a:ext cx="35361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F3E47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Regla clave:</a:t>
            </a: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Usa los canales más precisos para la variable más importante.</a:t>
            </a:r>
            <a:endParaRPr lang="en-US" sz="15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7829" y="933688"/>
            <a:ext cx="6220182" cy="5686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Ejemplo de Decisión Práctica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727829" y="1775222"/>
            <a:ext cx="181928" cy="227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C1D22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727829" y="2061567"/>
            <a:ext cx="7688342" cy="228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Text 3"/>
          <p:cNvSpPr/>
          <p:nvPr/>
        </p:nvSpPr>
        <p:spPr>
          <a:xfrm>
            <a:off x="727829" y="2198251"/>
            <a:ext cx="2274451" cy="284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Pregunta de Negocio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27829" y="2591514"/>
            <a:ext cx="7688342" cy="290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"¿Cómo se comporta el ticket promedio por región y mes?"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27829" y="3200876"/>
            <a:ext cx="181928" cy="227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C1D22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27829" y="3487222"/>
            <a:ext cx="7688342" cy="22860"/>
          </a:xfrm>
          <a:prstGeom prst="rect">
            <a:avLst/>
          </a:prstGeom>
          <a:solidFill>
            <a:srgbClr val="CADCD8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0" name="Text 7"/>
          <p:cNvSpPr/>
          <p:nvPr/>
        </p:nvSpPr>
        <p:spPr>
          <a:xfrm>
            <a:off x="727829" y="3623905"/>
            <a:ext cx="2365891" cy="284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Análisis de Estructura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727829" y="4017169"/>
            <a:ext cx="7688342" cy="290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Estructura: 2D (tiempo + región). Dos dimensiones que requieren representación simultánea.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27829" y="4626531"/>
            <a:ext cx="181928" cy="227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C1D22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27829" y="4912876"/>
            <a:ext cx="7688342" cy="22860"/>
          </a:xfrm>
          <a:prstGeom prst="rect">
            <a:avLst/>
          </a:prstGeom>
          <a:solidFill>
            <a:srgbClr val="B9AAD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4" name="Text 11"/>
          <p:cNvSpPr/>
          <p:nvPr/>
        </p:nvSpPr>
        <p:spPr>
          <a:xfrm>
            <a:off x="727829" y="5049560"/>
            <a:ext cx="2274451" cy="284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Tipo de Variable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727829" y="5442823"/>
            <a:ext cx="7688342" cy="290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Variable cuantitativa de razón (ticket promedio). Permite operaciones matemáticas completas.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27829" y="6052185"/>
            <a:ext cx="181928" cy="227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C1D22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04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727829" y="6338530"/>
            <a:ext cx="7688342" cy="22860"/>
          </a:xfrm>
          <a:prstGeom prst="rect">
            <a:avLst/>
          </a:prstGeom>
          <a:solidFill>
            <a:srgbClr val="B2D5A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8" name="Text 15"/>
          <p:cNvSpPr/>
          <p:nvPr/>
        </p:nvSpPr>
        <p:spPr>
          <a:xfrm>
            <a:off x="727829" y="6475214"/>
            <a:ext cx="2274451" cy="284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Solución Visual</a:t>
            </a:r>
            <a:endParaRPr lang="en-US" sz="1750" dirty="0"/>
          </a:p>
        </p:txBody>
      </p:sp>
      <p:sp>
        <p:nvSpPr>
          <p:cNvPr id="19" name="Text 16"/>
          <p:cNvSpPr/>
          <p:nvPr/>
        </p:nvSpPr>
        <p:spPr>
          <a:xfrm>
            <a:off x="727829" y="6868478"/>
            <a:ext cx="7688342" cy="290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Forma sugerida: </a:t>
            </a:r>
            <a:r>
              <a:rPr lang="en-US" sz="1400" b="1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línea con facetas</a:t>
            </a:r>
            <a:r>
              <a:rPr lang="en-US" sz="140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por región. Propósito: rastrear evolución temporal comparativa.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27810"/>
            <a:ext cx="7538323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Anti-patrones Comunes a Evitar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2544723"/>
            <a:ext cx="4215289" cy="2134433"/>
          </a:xfrm>
          <a:prstGeom prst="roundRect">
            <a:avLst>
              <a:gd name="adj" fmla="val 5141"/>
            </a:avLst>
          </a:prstGeom>
          <a:solidFill>
            <a:srgbClr val="FFFFFF"/>
          </a:solidFill>
          <a:ln w="2286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770930" y="2544723"/>
            <a:ext cx="91440" cy="2134433"/>
          </a:xfrm>
          <a:prstGeom prst="roundRect">
            <a:avLst>
              <a:gd name="adj" fmla="val 91163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1083588" y="2765941"/>
            <a:ext cx="290298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Gráficos 3D Innecesarios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083588" y="3195161"/>
            <a:ext cx="370427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Añaden complejidad visual sin valor informativo. Dificultan la lectura precisa de valores y comparaciones.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207437" y="2544723"/>
            <a:ext cx="4215408" cy="2134433"/>
          </a:xfrm>
          <a:prstGeom prst="roundRect">
            <a:avLst>
              <a:gd name="adj" fmla="val 5141"/>
            </a:avLst>
          </a:prstGeom>
          <a:solidFill>
            <a:srgbClr val="FFFFFF"/>
          </a:solidFill>
          <a:ln w="22860">
            <a:solidFill>
              <a:srgbClr val="CADCD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Shape 6"/>
          <p:cNvSpPr/>
          <p:nvPr/>
        </p:nvSpPr>
        <p:spPr>
          <a:xfrm>
            <a:off x="5184577" y="2544723"/>
            <a:ext cx="91440" cy="2134433"/>
          </a:xfrm>
          <a:prstGeom prst="roundRect">
            <a:avLst>
              <a:gd name="adj" fmla="val 91163"/>
            </a:avLst>
          </a:prstGeom>
          <a:solidFill>
            <a:srgbClr val="CADCD8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5497235" y="2765941"/>
            <a:ext cx="287500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Ejes Truncados sin Aviso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5497235" y="3195161"/>
            <a:ext cx="3704392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Pueden exagerar diferencias y crear interpretaciones erróneas. Siempre documentar cuando se modifique la escala.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9621203" y="2544723"/>
            <a:ext cx="4215289" cy="2134433"/>
          </a:xfrm>
          <a:prstGeom prst="roundRect">
            <a:avLst>
              <a:gd name="adj" fmla="val 5141"/>
            </a:avLst>
          </a:prstGeom>
          <a:solidFill>
            <a:srgbClr val="FFFFFF"/>
          </a:solidFill>
          <a:ln w="22860">
            <a:solidFill>
              <a:srgbClr val="B9AAD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Shape 10"/>
          <p:cNvSpPr/>
          <p:nvPr/>
        </p:nvSpPr>
        <p:spPr>
          <a:xfrm>
            <a:off x="9598343" y="2544723"/>
            <a:ext cx="91440" cy="2134433"/>
          </a:xfrm>
          <a:prstGeom prst="roundRect">
            <a:avLst>
              <a:gd name="adj" fmla="val 91163"/>
            </a:avLst>
          </a:prstGeom>
          <a:solidFill>
            <a:srgbClr val="B9AAD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9911001" y="2765941"/>
            <a:ext cx="3704273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Pasteles con Demasiadas Categorías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9911001" y="3505319"/>
            <a:ext cx="370427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Más de 5-7 categorías hacen imposible la comparación precisa. Considerar barras ordenadas como alternativa.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793790" y="4877514"/>
            <a:ext cx="4215289" cy="1824276"/>
          </a:xfrm>
          <a:prstGeom prst="roundRect">
            <a:avLst>
              <a:gd name="adj" fmla="val 6015"/>
            </a:avLst>
          </a:prstGeom>
          <a:solidFill>
            <a:srgbClr val="FFFFFF"/>
          </a:solidFill>
          <a:ln w="22860">
            <a:solidFill>
              <a:srgbClr val="B2D5A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Shape 14"/>
          <p:cNvSpPr/>
          <p:nvPr/>
        </p:nvSpPr>
        <p:spPr>
          <a:xfrm>
            <a:off x="770930" y="4877514"/>
            <a:ext cx="91440" cy="1824276"/>
          </a:xfrm>
          <a:prstGeom prst="roundRect">
            <a:avLst>
              <a:gd name="adj" fmla="val 91163"/>
            </a:avLst>
          </a:prstGeom>
          <a:solidFill>
            <a:srgbClr val="B2D5A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1083588" y="509873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Paletas Arcoíris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083588" y="5527953"/>
            <a:ext cx="370427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No son perceptualmente uniformes y pueden crear sesgos de interpretación. Usar paletas científicamente validadas.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5207437" y="4877514"/>
            <a:ext cx="4215408" cy="1824276"/>
          </a:xfrm>
          <a:prstGeom prst="roundRect">
            <a:avLst>
              <a:gd name="adj" fmla="val 6015"/>
            </a:avLst>
          </a:prstGeom>
          <a:solidFill>
            <a:srgbClr val="FFFFFF"/>
          </a:solidFill>
          <a:ln w="22860">
            <a:solidFill>
              <a:srgbClr val="60606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Shape 18"/>
          <p:cNvSpPr/>
          <p:nvPr/>
        </p:nvSpPr>
        <p:spPr>
          <a:xfrm>
            <a:off x="5184577" y="4877514"/>
            <a:ext cx="91440" cy="1824276"/>
          </a:xfrm>
          <a:prstGeom prst="roundRect">
            <a:avLst>
              <a:gd name="adj" fmla="val 91163"/>
            </a:avLst>
          </a:prstGeom>
          <a:solidFill>
            <a:srgbClr val="60606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/>
          <p:nvPr/>
        </p:nvSpPr>
        <p:spPr>
          <a:xfrm>
            <a:off x="5497235" y="5098733"/>
            <a:ext cx="330767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Doble Eje sin Relación Clara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5497235" y="5527953"/>
            <a:ext cx="3704392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Puede crear correlaciones espurias. Solo usar cuando existe relación conceptual sólida entre variables.</a:t>
            </a:r>
            <a:endParaRPr lang="en-US" sz="15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7830" y="507206"/>
            <a:ext cx="7140178" cy="576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Mapa de Decisión para Selección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830" y="1452443"/>
            <a:ext cx="553403" cy="1143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75661" y="1636871"/>
            <a:ext cx="2305764" cy="288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¿Qué tarea?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475661" y="2035731"/>
            <a:ext cx="12416909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Comparar / distribuir / relacionar / evolucionar / parte-todo / jerarquizar / red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532" y="2743676"/>
            <a:ext cx="553403" cy="1143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752362" y="2928104"/>
            <a:ext cx="2420541" cy="288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¿Qué tipo de variable?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1752362" y="3326963"/>
            <a:ext cx="12140208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Nominal / ordinal / intervalar / razón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1233" y="4034909"/>
            <a:ext cx="553403" cy="11430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029063" y="4219337"/>
            <a:ext cx="2516981" cy="288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¿Cuántas dimensiones?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2029063" y="4618196"/>
            <a:ext cx="11863507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1D / 2D / 3D / ND simultáneas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67934" y="5326142"/>
            <a:ext cx="553403" cy="11430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305764" y="5510570"/>
            <a:ext cx="2654975" cy="288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¿Qué precisión necesito?</a:t>
            </a:r>
            <a:endParaRPr lang="en-US" sz="1800" dirty="0"/>
          </a:p>
        </p:txBody>
      </p:sp>
      <p:sp>
        <p:nvSpPr>
          <p:cNvPr id="14" name="Text 8"/>
          <p:cNvSpPr/>
          <p:nvPr/>
        </p:nvSpPr>
        <p:spPr>
          <a:xfrm>
            <a:off x="2305764" y="5909429"/>
            <a:ext cx="11586805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Alta precisión vs. impresión general</a:t>
            </a:r>
            <a:endParaRPr lang="en-US" sz="14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1233" y="6617375"/>
            <a:ext cx="553403" cy="11430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2029063" y="6801803"/>
            <a:ext cx="2305764" cy="288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¿Qué audiencia?</a:t>
            </a:r>
            <a:endParaRPr lang="en-US" sz="1800" dirty="0"/>
          </a:p>
        </p:txBody>
      </p:sp>
      <p:sp>
        <p:nvSpPr>
          <p:cNvPr id="17" name="Text 10"/>
          <p:cNvSpPr/>
          <p:nvPr/>
        </p:nvSpPr>
        <p:spPr>
          <a:xfrm>
            <a:off x="2029063" y="7200662"/>
            <a:ext cx="11863507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Técnica vs. ejecutiva vs. general</a:t>
            </a:r>
            <a:endParaRPr lang="en-US" sz="14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630561"/>
            <a:ext cx="75564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Ejercicio Práctico: "Del Análisis al Relato Visual"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793790" y="3168372"/>
            <a:ext cx="75564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F3E47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Contexto:</a:t>
            </a: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Dataset de ventas regionales con columnas fecha, region, ventas, ticket_promedio y reclamos. La gerencia solicita: </a:t>
            </a:r>
            <a:r>
              <a:rPr lang="en-US" sz="1550" i="1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"¿Qué regiones están mejorando su desempeño en 2025 y por qué?"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793790" y="4542592"/>
            <a:ext cx="290464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Requerimientos Técnicos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793790" y="5051108"/>
            <a:ext cx="35361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Python 3.9+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793790" y="5438061"/>
            <a:ext cx="35361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pandas, matplotlib, seaborn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793790" y="5825014"/>
            <a:ext cx="35361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Jupyter Notebook o Colab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793790" y="6211967"/>
            <a:ext cx="35361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Exportación a PDF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4821674" y="4542592"/>
            <a:ext cx="265818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Estructura del Dataset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4821674" y="5051108"/>
            <a:ext cx="35361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Temporal + categórica = 2D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4821674" y="5547241"/>
            <a:ext cx="35361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Variables cuantitativas y cualitativas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4821674" y="6043374"/>
            <a:ext cx="35361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Múltiples métricas de desempeño</a:t>
            </a:r>
            <a:endParaRPr lang="en-US" sz="15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75216"/>
            <a:ext cx="6045398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Instrucciones del Ejercicio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1792129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028090"/>
          </a:solidFill>
          <a:ln w="22860">
            <a:solidFill>
              <a:srgbClr val="1B99A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868204" y="1829336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1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438632" y="1860352"/>
            <a:ext cx="249150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Identificar Estructura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438632" y="2289572"/>
            <a:ext cx="1239797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Analizar la estructura del dataset (temporal + categórica = 2D) y determinar las relaciones entre variables.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93790" y="3003947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CADCD8"/>
          </a:solidFill>
          <a:ln w="22860">
            <a:solidFill>
              <a:srgbClr val="B0C2B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868204" y="3041154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2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1438632" y="3072170"/>
            <a:ext cx="272093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Seleccionar Tres Vistas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438632" y="3501390"/>
            <a:ext cx="1239797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Línea temporal: evolución de ventas por región. Barras horizontales: variación YoY por región. Dispersión: ticket_promedio vs reclamos.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793790" y="4215765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B9AAD4"/>
          </a:solidFill>
          <a:ln w="22860">
            <a:solidFill>
              <a:srgbClr val="9F90B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868204" y="4252972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3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1438632" y="428398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Redactar Big Idea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438632" y="4713208"/>
            <a:ext cx="1239797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Formular el título-respuesta que sintetice el hallazgo principal y la recomendación estratégica.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793790" y="5427583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B2D5AD"/>
          </a:solidFill>
          <a:ln w="22860">
            <a:solidFill>
              <a:srgbClr val="98BB9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/>
          <p:nvPr/>
        </p:nvSpPr>
        <p:spPr>
          <a:xfrm>
            <a:off x="868204" y="5464790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4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1438632" y="5495806"/>
            <a:ext cx="2499717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Estructurar Narrativa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438632" y="5925026"/>
            <a:ext cx="1239797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Organizar en 3 actos: contexto → evidencia → acción, asegurando flujo lógico y persuasivo.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793790" y="6639401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606060"/>
          </a:solidFill>
          <a:ln w="22860">
            <a:solidFill>
              <a:srgbClr val="79797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/>
          <p:nvPr/>
        </p:nvSpPr>
        <p:spPr>
          <a:xfrm>
            <a:off x="868204" y="6676608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5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1438632" y="670762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Publicar y Exportar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438632" y="7136844"/>
            <a:ext cx="1239797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Subir a Colab y exportar PDF con portada profesional y documentación completa.</a:t>
            </a:r>
            <a:endParaRPr lang="en-US" sz="15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05577"/>
            <a:ext cx="5182195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Código Base Sugerido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1822490"/>
            <a:ext cx="13042821" cy="5060752"/>
          </a:xfrm>
          <a:prstGeom prst="roundRect">
            <a:avLst>
              <a:gd name="adj" fmla="val 1647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783908" y="1822490"/>
            <a:ext cx="13062585" cy="5060752"/>
          </a:xfrm>
          <a:prstGeom prst="roundRect">
            <a:avLst>
              <a:gd name="adj" fmla="val 588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982266" y="1971318"/>
            <a:ext cx="12665869" cy="4763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CL" dirty="0" err="1">
                <a:highlight>
                  <a:srgbClr val="F2F2F2"/>
                </a:highlight>
                <a:latin typeface="Consolas" panose="020B0609020204030204" pitchFamily="49" charset="0"/>
              </a:rPr>
              <a:t>import</a:t>
            </a:r>
            <a:r>
              <a:rPr lang="es-CL" dirty="0">
                <a:highlight>
                  <a:srgbClr val="F2F2F2"/>
                </a:highlight>
                <a:latin typeface="Consolas" panose="020B0609020204030204" pitchFamily="49" charset="0"/>
              </a:rPr>
              <a:t> pandas as </a:t>
            </a:r>
            <a:r>
              <a:rPr lang="es-CL" dirty="0" err="1">
                <a:highlight>
                  <a:srgbClr val="F2F2F2"/>
                </a:highlight>
                <a:latin typeface="Consolas" panose="020B0609020204030204" pitchFamily="49" charset="0"/>
              </a:rPr>
              <a:t>pd</a:t>
            </a:r>
            <a:r>
              <a:rPr lang="es-CL" dirty="0">
                <a:highlight>
                  <a:srgbClr val="F2F2F2"/>
                </a:highlight>
                <a:latin typeface="Consolas" panose="020B0609020204030204" pitchFamily="49" charset="0"/>
              </a:rPr>
              <a:t>, </a:t>
            </a:r>
            <a:r>
              <a:rPr lang="es-CL" dirty="0" err="1">
                <a:highlight>
                  <a:srgbClr val="F2F2F2"/>
                </a:highlight>
                <a:latin typeface="Consolas" panose="020B0609020204030204" pitchFamily="49" charset="0"/>
              </a:rPr>
              <a:t>numpy</a:t>
            </a:r>
            <a:r>
              <a:rPr lang="es-CL" dirty="0">
                <a:highlight>
                  <a:srgbClr val="F2F2F2"/>
                </a:highlight>
                <a:latin typeface="Consolas" panose="020B0609020204030204" pitchFamily="49" charset="0"/>
              </a:rPr>
              <a:t> as </a:t>
            </a:r>
            <a:r>
              <a:rPr lang="es-CL" dirty="0" err="1">
                <a:highlight>
                  <a:srgbClr val="F2F2F2"/>
                </a:highlight>
                <a:latin typeface="Consolas" panose="020B0609020204030204" pitchFamily="49" charset="0"/>
              </a:rPr>
              <a:t>np</a:t>
            </a:r>
            <a:r>
              <a:rPr lang="es-CL" dirty="0">
                <a:highlight>
                  <a:srgbClr val="F2F2F2"/>
                </a:highlight>
                <a:latin typeface="Consolas" panose="020B0609020204030204" pitchFamily="49" charset="0"/>
              </a:rPr>
              <a:t>, </a:t>
            </a:r>
            <a:r>
              <a:rPr lang="es-CL" dirty="0" err="1">
                <a:highlight>
                  <a:srgbClr val="F2F2F2"/>
                </a:highlight>
                <a:latin typeface="Consolas" panose="020B0609020204030204" pitchFamily="49" charset="0"/>
              </a:rPr>
              <a:t>matplotlib.pyplot</a:t>
            </a:r>
            <a:r>
              <a:rPr lang="es-CL" dirty="0">
                <a:highlight>
                  <a:srgbClr val="F2F2F2"/>
                </a:highlight>
                <a:latin typeface="Consolas" panose="020B0609020204030204" pitchFamily="49" charset="0"/>
              </a:rPr>
              <a:t> as </a:t>
            </a:r>
            <a:r>
              <a:rPr lang="es-CL" dirty="0" err="1">
                <a:highlight>
                  <a:srgbClr val="F2F2F2"/>
                </a:highlight>
                <a:latin typeface="Consolas" panose="020B0609020204030204" pitchFamily="49" charset="0"/>
              </a:rPr>
              <a:t>plt</a:t>
            </a:r>
            <a:r>
              <a:rPr lang="es-CL" dirty="0">
                <a:highlight>
                  <a:srgbClr val="F2F2F2"/>
                </a:highlight>
                <a:latin typeface="Consolas" panose="020B0609020204030204" pitchFamily="49" charset="0"/>
              </a:rPr>
              <a:t>, </a:t>
            </a:r>
            <a:r>
              <a:rPr lang="es-CL" dirty="0" err="1">
                <a:highlight>
                  <a:srgbClr val="F2F2F2"/>
                </a:highlight>
                <a:latin typeface="Consolas" panose="020B0609020204030204" pitchFamily="49" charset="0"/>
              </a:rPr>
              <a:t>seaborn</a:t>
            </a:r>
            <a:r>
              <a:rPr lang="es-CL" dirty="0">
                <a:highlight>
                  <a:srgbClr val="F2F2F2"/>
                </a:highlight>
                <a:latin typeface="Consolas" panose="020B0609020204030204" pitchFamily="49" charset="0"/>
              </a:rPr>
              <a:t> as </a:t>
            </a:r>
            <a:r>
              <a:rPr lang="es-CL" dirty="0" err="1">
                <a:highlight>
                  <a:srgbClr val="F2F2F2"/>
                </a:highlight>
                <a:latin typeface="Consolas" panose="020B0609020204030204" pitchFamily="49" charset="0"/>
              </a:rPr>
              <a:t>sns</a:t>
            </a:r>
            <a:endParaRPr lang="es-CL" dirty="0">
              <a:highlight>
                <a:srgbClr val="F2F2F2"/>
              </a:highlight>
              <a:latin typeface="Consolas" panose="020B0609020204030204" pitchFamily="49" charset="0"/>
            </a:endParaRPr>
          </a:p>
          <a:p>
            <a:r>
              <a:rPr lang="es-CL" dirty="0" err="1">
                <a:highlight>
                  <a:srgbClr val="F2F2F2"/>
                </a:highlight>
                <a:latin typeface="Consolas" panose="020B0609020204030204" pitchFamily="49" charset="0"/>
              </a:rPr>
              <a:t>np.random.seed</a:t>
            </a:r>
            <a:r>
              <a:rPr lang="es-CL" dirty="0">
                <a:highlight>
                  <a:srgbClr val="F2F2F2"/>
                </a:highlight>
                <a:latin typeface="Consolas" panose="020B0609020204030204" pitchFamily="49" charset="0"/>
              </a:rPr>
              <a:t>(10)</a:t>
            </a:r>
          </a:p>
          <a:p>
            <a:r>
              <a:rPr lang="es-CL" dirty="0" err="1">
                <a:highlight>
                  <a:srgbClr val="F2F2F2"/>
                </a:highlight>
                <a:latin typeface="Consolas" panose="020B0609020204030204" pitchFamily="49" charset="0"/>
              </a:rPr>
              <a:t>df</a:t>
            </a:r>
            <a:r>
              <a:rPr lang="es-CL" dirty="0">
                <a:highlight>
                  <a:srgbClr val="F2F2F2"/>
                </a:highlight>
                <a:latin typeface="Consolas" panose="020B0609020204030204" pitchFamily="49" charset="0"/>
              </a:rPr>
              <a:t> = </a:t>
            </a:r>
            <a:r>
              <a:rPr lang="es-CL" dirty="0" err="1">
                <a:highlight>
                  <a:srgbClr val="F2F2F2"/>
                </a:highlight>
                <a:latin typeface="Consolas" panose="020B0609020204030204" pitchFamily="49" charset="0"/>
              </a:rPr>
              <a:t>pd.DataFrame</a:t>
            </a:r>
            <a:r>
              <a:rPr lang="es-CL" dirty="0">
                <a:highlight>
                  <a:srgbClr val="F2F2F2"/>
                </a:highlight>
                <a:latin typeface="Consolas" panose="020B0609020204030204" pitchFamily="49" charset="0"/>
              </a:rPr>
              <a:t>({</a:t>
            </a:r>
          </a:p>
          <a:p>
            <a:r>
              <a:rPr lang="es-CL" dirty="0">
                <a:highlight>
                  <a:srgbClr val="F2F2F2"/>
                </a:highlight>
                <a:latin typeface="Consolas" panose="020B0609020204030204" pitchFamily="49" charset="0"/>
              </a:rPr>
              <a:t>    'fecha': </a:t>
            </a:r>
            <a:r>
              <a:rPr lang="es-CL" dirty="0" err="1">
                <a:highlight>
                  <a:srgbClr val="F2F2F2"/>
                </a:highlight>
                <a:latin typeface="Consolas" panose="020B0609020204030204" pitchFamily="49" charset="0"/>
              </a:rPr>
              <a:t>pd.date_range</a:t>
            </a:r>
            <a:r>
              <a:rPr lang="es-CL" dirty="0">
                <a:highlight>
                  <a:srgbClr val="F2F2F2"/>
                </a:highlight>
                <a:latin typeface="Consolas" panose="020B0609020204030204" pitchFamily="49" charset="0"/>
              </a:rPr>
              <a:t>('2025-01-01', </a:t>
            </a:r>
            <a:r>
              <a:rPr lang="es-CL" dirty="0" err="1">
                <a:highlight>
                  <a:srgbClr val="F2F2F2"/>
                </a:highlight>
                <a:latin typeface="Consolas" panose="020B0609020204030204" pitchFamily="49" charset="0"/>
              </a:rPr>
              <a:t>periods</a:t>
            </a:r>
            <a:r>
              <a:rPr lang="es-CL" dirty="0">
                <a:highlight>
                  <a:srgbClr val="F2F2F2"/>
                </a:highlight>
                <a:latin typeface="Consolas" panose="020B0609020204030204" pitchFamily="49" charset="0"/>
              </a:rPr>
              <a:t>=12, </a:t>
            </a:r>
            <a:r>
              <a:rPr lang="es-CL" dirty="0" err="1">
                <a:highlight>
                  <a:srgbClr val="F2F2F2"/>
                </a:highlight>
                <a:latin typeface="Consolas" panose="020B0609020204030204" pitchFamily="49" charset="0"/>
              </a:rPr>
              <a:t>freq</a:t>
            </a:r>
            <a:r>
              <a:rPr lang="es-CL" dirty="0">
                <a:highlight>
                  <a:srgbClr val="F2F2F2"/>
                </a:highlight>
                <a:latin typeface="Consolas" panose="020B0609020204030204" pitchFamily="49" charset="0"/>
              </a:rPr>
              <a:t>='M'),</a:t>
            </a:r>
          </a:p>
          <a:p>
            <a:r>
              <a:rPr lang="es-CL" dirty="0">
                <a:highlight>
                  <a:srgbClr val="F2F2F2"/>
                </a:highlight>
                <a:latin typeface="Consolas" panose="020B0609020204030204" pitchFamily="49" charset="0"/>
              </a:rPr>
              <a:t>    '</a:t>
            </a:r>
            <a:r>
              <a:rPr lang="es-CL" dirty="0" err="1">
                <a:highlight>
                  <a:srgbClr val="F2F2F2"/>
                </a:highlight>
                <a:latin typeface="Consolas" panose="020B0609020204030204" pitchFamily="49" charset="0"/>
              </a:rPr>
              <a:t>region</a:t>
            </a:r>
            <a:r>
              <a:rPr lang="es-CL" dirty="0">
                <a:highlight>
                  <a:srgbClr val="F2F2F2"/>
                </a:highlight>
                <a:latin typeface="Consolas" panose="020B0609020204030204" pitchFamily="49" charset="0"/>
              </a:rPr>
              <a:t>': </a:t>
            </a:r>
            <a:r>
              <a:rPr lang="es-CL" dirty="0" err="1">
                <a:highlight>
                  <a:srgbClr val="F2F2F2"/>
                </a:highlight>
                <a:latin typeface="Consolas" panose="020B0609020204030204" pitchFamily="49" charset="0"/>
              </a:rPr>
              <a:t>np.random.choice</a:t>
            </a:r>
            <a:r>
              <a:rPr lang="es-CL" dirty="0">
                <a:highlight>
                  <a:srgbClr val="F2F2F2"/>
                </a:highlight>
                <a:latin typeface="Consolas" panose="020B0609020204030204" pitchFamily="49" charset="0"/>
              </a:rPr>
              <a:t>(['</a:t>
            </a:r>
            <a:r>
              <a:rPr lang="es-CL" dirty="0" err="1">
                <a:highlight>
                  <a:srgbClr val="F2F2F2"/>
                </a:highlight>
                <a:latin typeface="Consolas" panose="020B0609020204030204" pitchFamily="49" charset="0"/>
              </a:rPr>
              <a:t>Norte','Centro','Sur</a:t>
            </a:r>
            <a:r>
              <a:rPr lang="es-CL" dirty="0">
                <a:highlight>
                  <a:srgbClr val="F2F2F2"/>
                </a:highlight>
                <a:latin typeface="Consolas" panose="020B0609020204030204" pitchFamily="49" charset="0"/>
              </a:rPr>
              <a:t>'], 12),</a:t>
            </a:r>
          </a:p>
          <a:p>
            <a:r>
              <a:rPr lang="es-CL" dirty="0">
                <a:highlight>
                  <a:srgbClr val="F2F2F2"/>
                </a:highlight>
                <a:latin typeface="Consolas" panose="020B0609020204030204" pitchFamily="49" charset="0"/>
              </a:rPr>
              <a:t>    'ventas': </a:t>
            </a:r>
            <a:r>
              <a:rPr lang="es-CL" dirty="0" err="1">
                <a:highlight>
                  <a:srgbClr val="F2F2F2"/>
                </a:highlight>
                <a:latin typeface="Consolas" panose="020B0609020204030204" pitchFamily="49" charset="0"/>
              </a:rPr>
              <a:t>np.random.randint</a:t>
            </a:r>
            <a:r>
              <a:rPr lang="es-CL" dirty="0">
                <a:highlight>
                  <a:srgbClr val="F2F2F2"/>
                </a:highlight>
                <a:latin typeface="Consolas" panose="020B0609020204030204" pitchFamily="49" charset="0"/>
              </a:rPr>
              <a:t>(2000,5000,12),</a:t>
            </a:r>
          </a:p>
          <a:p>
            <a:r>
              <a:rPr lang="es-CL" dirty="0">
                <a:highlight>
                  <a:srgbClr val="F2F2F2"/>
                </a:highlight>
                <a:latin typeface="Consolas" panose="020B0609020204030204" pitchFamily="49" charset="0"/>
              </a:rPr>
              <a:t>    '</a:t>
            </a:r>
            <a:r>
              <a:rPr lang="es-CL" dirty="0" err="1">
                <a:highlight>
                  <a:srgbClr val="F2F2F2"/>
                </a:highlight>
                <a:latin typeface="Consolas" panose="020B0609020204030204" pitchFamily="49" charset="0"/>
              </a:rPr>
              <a:t>ticket_promedio</a:t>
            </a:r>
            <a:r>
              <a:rPr lang="es-CL" dirty="0">
                <a:highlight>
                  <a:srgbClr val="F2F2F2"/>
                </a:highlight>
                <a:latin typeface="Consolas" panose="020B0609020204030204" pitchFamily="49" charset="0"/>
              </a:rPr>
              <a:t>': </a:t>
            </a:r>
            <a:r>
              <a:rPr lang="es-CL" dirty="0" err="1">
                <a:highlight>
                  <a:srgbClr val="F2F2F2"/>
                </a:highlight>
                <a:latin typeface="Consolas" panose="020B0609020204030204" pitchFamily="49" charset="0"/>
              </a:rPr>
              <a:t>np.random.uniform</a:t>
            </a:r>
            <a:r>
              <a:rPr lang="es-CL" dirty="0">
                <a:highlight>
                  <a:srgbClr val="F2F2F2"/>
                </a:highlight>
                <a:latin typeface="Consolas" panose="020B0609020204030204" pitchFamily="49" charset="0"/>
              </a:rPr>
              <a:t>(15,40,12),</a:t>
            </a:r>
          </a:p>
          <a:p>
            <a:r>
              <a:rPr lang="es-CL" dirty="0">
                <a:highlight>
                  <a:srgbClr val="F2F2F2"/>
                </a:highlight>
                <a:latin typeface="Consolas" panose="020B0609020204030204" pitchFamily="49" charset="0"/>
              </a:rPr>
              <a:t>    'reclamos': </a:t>
            </a:r>
            <a:r>
              <a:rPr lang="es-CL" dirty="0" err="1">
                <a:highlight>
                  <a:srgbClr val="F2F2F2"/>
                </a:highlight>
                <a:latin typeface="Consolas" panose="020B0609020204030204" pitchFamily="49" charset="0"/>
              </a:rPr>
              <a:t>np.random.randint</a:t>
            </a:r>
            <a:r>
              <a:rPr lang="es-CL" dirty="0">
                <a:highlight>
                  <a:srgbClr val="F2F2F2"/>
                </a:highlight>
                <a:latin typeface="Consolas" panose="020B0609020204030204" pitchFamily="49" charset="0"/>
              </a:rPr>
              <a:t>(20,150,12)</a:t>
            </a:r>
          </a:p>
          <a:p>
            <a:r>
              <a:rPr lang="es-CL" dirty="0">
                <a:highlight>
                  <a:srgbClr val="F2F2F2"/>
                </a:highlight>
                <a:latin typeface="Consolas" panose="020B0609020204030204" pitchFamily="49" charset="0"/>
              </a:rPr>
              <a:t>})</a:t>
            </a:r>
          </a:p>
          <a:p>
            <a:endParaRPr lang="es-CL" dirty="0">
              <a:highlight>
                <a:srgbClr val="F2F2F2"/>
              </a:highlight>
              <a:latin typeface="Consolas" panose="020B0609020204030204" pitchFamily="49" charset="0"/>
            </a:endParaRPr>
          </a:p>
          <a:p>
            <a:r>
              <a:rPr lang="es-CL" dirty="0">
                <a:highlight>
                  <a:srgbClr val="F2F2F2"/>
                </a:highlight>
                <a:latin typeface="Consolas" panose="020B0609020204030204" pitchFamily="49" charset="0"/>
              </a:rPr>
              <a:t># Línea temporal</a:t>
            </a:r>
          </a:p>
          <a:p>
            <a:r>
              <a:rPr lang="es-CL" dirty="0" err="1">
                <a:highlight>
                  <a:srgbClr val="F2F2F2"/>
                </a:highlight>
                <a:latin typeface="Consolas" panose="020B0609020204030204" pitchFamily="49" charset="0"/>
              </a:rPr>
              <a:t>sns.lineplot</a:t>
            </a:r>
            <a:r>
              <a:rPr lang="es-CL" dirty="0">
                <a:highlight>
                  <a:srgbClr val="F2F2F2"/>
                </a:highlight>
                <a:latin typeface="Consolas" panose="020B0609020204030204" pitchFamily="49" charset="0"/>
              </a:rPr>
              <a:t>(data=</a:t>
            </a:r>
            <a:r>
              <a:rPr lang="es-CL" dirty="0" err="1">
                <a:highlight>
                  <a:srgbClr val="F2F2F2"/>
                </a:highlight>
                <a:latin typeface="Consolas" panose="020B0609020204030204" pitchFamily="49" charset="0"/>
              </a:rPr>
              <a:t>df</a:t>
            </a:r>
            <a:r>
              <a:rPr lang="es-CL" dirty="0">
                <a:highlight>
                  <a:srgbClr val="F2F2F2"/>
                </a:highlight>
                <a:latin typeface="Consolas" panose="020B0609020204030204" pitchFamily="49" charset="0"/>
              </a:rPr>
              <a:t>, x='fecha', y='ventas', </a:t>
            </a:r>
            <a:r>
              <a:rPr lang="es-CL" dirty="0" err="1">
                <a:highlight>
                  <a:srgbClr val="F2F2F2"/>
                </a:highlight>
                <a:latin typeface="Consolas" panose="020B0609020204030204" pitchFamily="49" charset="0"/>
              </a:rPr>
              <a:t>hue</a:t>
            </a:r>
            <a:r>
              <a:rPr lang="es-CL" dirty="0">
                <a:highlight>
                  <a:srgbClr val="F2F2F2"/>
                </a:highlight>
                <a:latin typeface="Consolas" panose="020B0609020204030204" pitchFamily="49" charset="0"/>
              </a:rPr>
              <a:t>='</a:t>
            </a:r>
            <a:r>
              <a:rPr lang="es-CL" dirty="0" err="1">
                <a:highlight>
                  <a:srgbClr val="F2F2F2"/>
                </a:highlight>
                <a:latin typeface="Consolas" panose="020B0609020204030204" pitchFamily="49" charset="0"/>
              </a:rPr>
              <a:t>region</a:t>
            </a:r>
            <a:r>
              <a:rPr lang="es-CL" dirty="0">
                <a:highlight>
                  <a:srgbClr val="F2F2F2"/>
                </a:highlight>
                <a:latin typeface="Consolas" panose="020B0609020204030204" pitchFamily="49" charset="0"/>
              </a:rPr>
              <a:t>', </a:t>
            </a:r>
            <a:r>
              <a:rPr lang="es-CL" dirty="0" err="1">
                <a:highlight>
                  <a:srgbClr val="F2F2F2"/>
                </a:highlight>
                <a:latin typeface="Consolas" panose="020B0609020204030204" pitchFamily="49" charset="0"/>
              </a:rPr>
              <a:t>marker</a:t>
            </a:r>
            <a:r>
              <a:rPr lang="es-CL" dirty="0">
                <a:highlight>
                  <a:srgbClr val="F2F2F2"/>
                </a:highlight>
                <a:latin typeface="Consolas" panose="020B0609020204030204" pitchFamily="49" charset="0"/>
              </a:rPr>
              <a:t>='o')</a:t>
            </a:r>
          </a:p>
          <a:p>
            <a:r>
              <a:rPr lang="es-CL" dirty="0" err="1">
                <a:highlight>
                  <a:srgbClr val="F2F2F2"/>
                </a:highlight>
                <a:latin typeface="Consolas" panose="020B0609020204030204" pitchFamily="49" charset="0"/>
              </a:rPr>
              <a:t>plt.title</a:t>
            </a:r>
            <a:r>
              <a:rPr lang="es-CL" dirty="0">
                <a:highlight>
                  <a:srgbClr val="F2F2F2"/>
                </a:highlight>
                <a:latin typeface="Consolas" panose="020B0609020204030204" pitchFamily="49" charset="0"/>
              </a:rPr>
              <a:t>('Evolución mensual de ventas por región – 2025')</a:t>
            </a:r>
          </a:p>
          <a:p>
            <a:r>
              <a:rPr lang="es-CL" dirty="0" err="1">
                <a:highlight>
                  <a:srgbClr val="F2F2F2"/>
                </a:highlight>
                <a:latin typeface="Consolas" panose="020B0609020204030204" pitchFamily="49" charset="0"/>
              </a:rPr>
              <a:t>plt.xlabel</a:t>
            </a:r>
            <a:r>
              <a:rPr lang="es-CL" dirty="0">
                <a:highlight>
                  <a:srgbClr val="F2F2F2"/>
                </a:highlight>
                <a:latin typeface="Consolas" panose="020B0609020204030204" pitchFamily="49" charset="0"/>
              </a:rPr>
              <a:t>('Mes'); </a:t>
            </a:r>
            <a:r>
              <a:rPr lang="es-CL" dirty="0" err="1">
                <a:highlight>
                  <a:srgbClr val="F2F2F2"/>
                </a:highlight>
                <a:latin typeface="Consolas" panose="020B0609020204030204" pitchFamily="49" charset="0"/>
              </a:rPr>
              <a:t>plt.ylabel</a:t>
            </a:r>
            <a:r>
              <a:rPr lang="es-CL" dirty="0">
                <a:highlight>
                  <a:srgbClr val="F2F2F2"/>
                </a:highlight>
                <a:latin typeface="Consolas" panose="020B0609020204030204" pitchFamily="49" charset="0"/>
              </a:rPr>
              <a:t>('Ventas'); </a:t>
            </a:r>
            <a:r>
              <a:rPr lang="es-CL" dirty="0" err="1">
                <a:highlight>
                  <a:srgbClr val="F2F2F2"/>
                </a:highlight>
                <a:latin typeface="Consolas" panose="020B0609020204030204" pitchFamily="49" charset="0"/>
              </a:rPr>
              <a:t>plt.show</a:t>
            </a:r>
            <a:r>
              <a:rPr lang="es-CL" dirty="0">
                <a:highlight>
                  <a:srgbClr val="F2F2F2"/>
                </a:highlight>
                <a:latin typeface="Consolas" panose="020B0609020204030204" pitchFamily="49" charset="0"/>
              </a:rPr>
              <a:t>()</a:t>
            </a:r>
          </a:p>
        </p:txBody>
      </p:sp>
      <p:sp>
        <p:nvSpPr>
          <p:cNvPr id="6" name="Text 4"/>
          <p:cNvSpPr/>
          <p:nvPr/>
        </p:nvSpPr>
        <p:spPr>
          <a:xfrm>
            <a:off x="793790" y="7106483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Entregable:</a:t>
            </a: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Dashboard o notebook con tres vistas + mini narración textual (3 párrafos) que integre hallazgos y recomendaciones.</a:t>
            </a:r>
            <a:endParaRPr lang="en-US" sz="15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414349"/>
            <a:ext cx="5397460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Criterios de Evaluación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3530441"/>
            <a:ext cx="3074670" cy="654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150"/>
              </a:lnSpc>
              <a:buNone/>
            </a:pPr>
            <a:r>
              <a:rPr lang="en-US" sz="51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25%</a:t>
            </a:r>
            <a:endParaRPr lang="en-US" sz="5150" dirty="0"/>
          </a:p>
        </p:txBody>
      </p:sp>
      <p:sp>
        <p:nvSpPr>
          <p:cNvPr id="4" name="Text 2"/>
          <p:cNvSpPr/>
          <p:nvPr/>
        </p:nvSpPr>
        <p:spPr>
          <a:xfrm>
            <a:off x="1090613" y="443341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Adecuación Técnica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793790" y="4862632"/>
            <a:ext cx="3074670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Correspondencia del gráfico con la estructura de datos y tipo de variable analizada.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4116467" y="3530441"/>
            <a:ext cx="3074670" cy="654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150"/>
              </a:lnSpc>
              <a:buNone/>
            </a:pPr>
            <a:r>
              <a:rPr lang="en-US" sz="51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25%</a:t>
            </a:r>
            <a:endParaRPr lang="en-US" sz="5150" dirty="0"/>
          </a:p>
        </p:txBody>
      </p:sp>
      <p:sp>
        <p:nvSpPr>
          <p:cNvPr id="7" name="Text 5"/>
          <p:cNvSpPr/>
          <p:nvPr/>
        </p:nvSpPr>
        <p:spPr>
          <a:xfrm>
            <a:off x="4413290" y="443341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Claridad Narrativa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4116467" y="4862632"/>
            <a:ext cx="3074670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Estructura coherente inicio-nudo-desenlace con flujo lógico y persuasivo.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439144" y="3530441"/>
            <a:ext cx="3074670" cy="654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150"/>
              </a:lnSpc>
              <a:buNone/>
            </a:pPr>
            <a:r>
              <a:rPr lang="en-US" sz="51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25%</a:t>
            </a:r>
            <a:endParaRPr lang="en-US" sz="5150" dirty="0"/>
          </a:p>
        </p:txBody>
      </p:sp>
      <p:sp>
        <p:nvSpPr>
          <p:cNvPr id="10" name="Text 8"/>
          <p:cNvSpPr/>
          <p:nvPr/>
        </p:nvSpPr>
        <p:spPr>
          <a:xfrm>
            <a:off x="7735967" y="443341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Honestidad Visual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7439144" y="4862632"/>
            <a:ext cx="3074670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Trazabilidad de datos, transparencia metodológica y representación ética de información.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0761821" y="3530441"/>
            <a:ext cx="3074789" cy="654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150"/>
              </a:lnSpc>
              <a:buNone/>
            </a:pPr>
            <a:r>
              <a:rPr lang="en-US" sz="51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25%</a:t>
            </a:r>
            <a:endParaRPr lang="en-US" sz="5150" dirty="0"/>
          </a:p>
        </p:txBody>
      </p:sp>
      <p:sp>
        <p:nvSpPr>
          <p:cNvPr id="13" name="Text 11"/>
          <p:cNvSpPr/>
          <p:nvPr/>
        </p:nvSpPr>
        <p:spPr>
          <a:xfrm>
            <a:off x="11058763" y="443341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C1D22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Consistencia Visual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761821" y="4862632"/>
            <a:ext cx="3074789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Coherencia en paleta de colores, etiquetas, jerarquía tipográfica y elementos gráficos.</a:t>
            </a:r>
            <a:endParaRPr lang="en-US" sz="15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43201"/>
            <a:ext cx="7347823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Puntos Clave y Próximos Pasos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1860113"/>
            <a:ext cx="4215289" cy="1824276"/>
          </a:xfrm>
          <a:prstGeom prst="roundRect">
            <a:avLst>
              <a:gd name="adj" fmla="val 4569"/>
            </a:avLst>
          </a:prstGeom>
          <a:solidFill>
            <a:srgbClr val="028090"/>
          </a:solidFill>
          <a:ln w="22860">
            <a:solidFill>
              <a:srgbClr val="1B99A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1015008" y="2081332"/>
            <a:ext cx="326731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Data Storytelling Integrado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015008" y="2510552"/>
            <a:ext cx="377285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Une narrativa, visualización y datos en un sistema comunicativo coherente y persuasivo.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207437" y="1860113"/>
            <a:ext cx="4215408" cy="1824276"/>
          </a:xfrm>
          <a:prstGeom prst="roundRect">
            <a:avLst>
              <a:gd name="adj" fmla="val 4569"/>
            </a:avLst>
          </a:prstGeom>
          <a:solidFill>
            <a:srgbClr val="CADCD8"/>
          </a:solidFill>
          <a:ln w="22860">
            <a:solidFill>
              <a:srgbClr val="B0C2B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5428655" y="208133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Decisión Cognitiva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5428655" y="2510552"/>
            <a:ext cx="3772972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Elegir el gráfico correcto es una decisión cognitiva basada en principios perceptuales, no estética.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9621203" y="1860113"/>
            <a:ext cx="4215289" cy="1824276"/>
          </a:xfrm>
          <a:prstGeom prst="roundRect">
            <a:avLst>
              <a:gd name="adj" fmla="val 4569"/>
            </a:avLst>
          </a:prstGeom>
          <a:solidFill>
            <a:srgbClr val="B9AAD4"/>
          </a:solidFill>
          <a:ln w="22860">
            <a:solidFill>
              <a:srgbClr val="9F90B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9842421" y="2081332"/>
            <a:ext cx="2885837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Estructura de Tres Actos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842421" y="2510552"/>
            <a:ext cx="377285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Mejora comprensión y retención mediante planteamiento, desarrollo y resolución clara.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793790" y="3882747"/>
            <a:ext cx="6422112" cy="1506736"/>
          </a:xfrm>
          <a:prstGeom prst="roundRect">
            <a:avLst>
              <a:gd name="adj" fmla="val 5532"/>
            </a:avLst>
          </a:prstGeom>
          <a:solidFill>
            <a:srgbClr val="B2D5AD"/>
          </a:solidFill>
          <a:ln w="22860">
            <a:solidFill>
              <a:srgbClr val="98BB9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1015008" y="410396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Big Idea Explícita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15008" y="4533186"/>
            <a:ext cx="597967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Cada gráfico debe tener una idea central trazable que responda preguntas específicas de negocio.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7414260" y="3882747"/>
            <a:ext cx="6422231" cy="1506736"/>
          </a:xfrm>
          <a:prstGeom prst="roundRect">
            <a:avLst>
              <a:gd name="adj" fmla="val 5532"/>
            </a:avLst>
          </a:prstGeom>
          <a:solidFill>
            <a:srgbClr val="606060"/>
          </a:solidFill>
          <a:ln w="22860">
            <a:solidFill>
              <a:srgbClr val="79797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/>
          <p:nvPr/>
        </p:nvSpPr>
        <p:spPr>
          <a:xfrm>
            <a:off x="7635478" y="410396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Persuasión Ética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7635478" y="4533186"/>
            <a:ext cx="597979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La claridad y honestidad visual fortalecen la credibilidad y el impacto de la comunicación.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793790" y="5687139"/>
            <a:ext cx="384810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9414B"/>
                </a:solidFill>
                <a:latin typeface="Nunito Extra Bold" pitchFamily="34" charset="0"/>
                <a:ea typeface="Nunito Extra Bold" pitchFamily="34" charset="-122"/>
                <a:cs typeface="Nunito Extra Bold" pitchFamily="34" charset="-120"/>
              </a:rPr>
              <a:t>Preguntas para la Próxima Clase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793790" y="6294953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¿Qué principios aplicarías para construir un bosquejo visual previo a tu dashboard?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793790" y="6681907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¿Cuándo usarías una paleta divergente en lugar de secuencial?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793790" y="7068860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C1D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¿Qué tipo de relación requiere más atención para evitar sesgos visuales?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1871</Words>
  <Application>Microsoft Office PowerPoint</Application>
  <PresentationFormat>Personalizado</PresentationFormat>
  <Paragraphs>255</Paragraphs>
  <Slides>20</Slides>
  <Notes>20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6" baseType="lpstr">
      <vt:lpstr>Arial</vt:lpstr>
      <vt:lpstr>Source Sans Pro</vt:lpstr>
      <vt:lpstr>Nunito Light</vt:lpstr>
      <vt:lpstr>Nunito Extra Bold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Lucas Orellana Cuello</cp:lastModifiedBy>
  <cp:revision>2</cp:revision>
  <dcterms:created xsi:type="dcterms:W3CDTF">2025-10-05T21:55:26Z</dcterms:created>
  <dcterms:modified xsi:type="dcterms:W3CDTF">2025-10-05T21:59:44Z</dcterms:modified>
</cp:coreProperties>
</file>