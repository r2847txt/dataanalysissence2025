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  <p:embeddedFontLst>
    <p:embeddedFont>
      <p:font typeface="Nunito Extra Bold"/>
      <p:regular r:id="rId27"/>
    </p:embeddedFont>
    <p:embeddedFont>
      <p:font typeface="Nunito Extra Bold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8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20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5796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Interpretación y Visualización de Datos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29577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 la exploración al registro visual - Módulo 7, Clase 1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483655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jornada de 4 horas diseñada para profesionales técnicos que buscan transformar datos en información comprensible y accionable, no simplemente "hacerlos bonitos".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32478"/>
            <a:ext cx="52600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Perfil de Participantes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2650212"/>
            <a:ext cx="3679031" cy="2141815"/>
          </a:xfrm>
          <a:prstGeom prst="roundRect">
            <a:avLst>
              <a:gd name="adj" fmla="val 3892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5008" y="28714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Experiencia Técnica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15008" y="3300651"/>
            <a:ext cx="323659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Egresados técnicos y profesionales con experiencia básica en análisis de datos y herramientas como Power BI, Tableau, Python o Excel avanzado.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671179" y="2650212"/>
            <a:ext cx="3679031" cy="2141815"/>
          </a:xfrm>
          <a:prstGeom prst="roundRect">
            <a:avLst>
              <a:gd name="adj" fmla="val 3892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397" y="28714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Prerrequisitos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892397" y="3300651"/>
            <a:ext cx="323659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Manejo intermedio de pandas y matplotlib, conexión a bases SQL o archivos CSV, conocimientos de estadística descriptiva.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93790" y="4990386"/>
            <a:ext cx="7556421" cy="1506736"/>
          </a:xfrm>
          <a:prstGeom prst="roundRect">
            <a:avLst>
              <a:gd name="adj" fmla="val 5532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5008" y="52116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Modalidad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15008" y="5640824"/>
            <a:ext cx="711398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Híbrida y asincrónica, adaptada a profesionales de jornada laboral que buscan especialización práctica.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0764"/>
            <a:ext cx="57071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Preguntas de Activación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31767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Comenzamos con tres preguntas fundamentales que desafían nuestras percepciones sobre la visualización de datos: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85845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204" y="389566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438632" y="3926681"/>
            <a:ext cx="3537347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¿Cuándo una visualización deja de informar y comienza a "decorar"?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38632" y="4976217"/>
            <a:ext cx="353734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línea entre información útil y decoración visual es crucial para el análisis efectivo.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23986" y="385845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98400" y="389566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868829" y="3926681"/>
            <a:ext cx="3537466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¿Qué riesgos tiene tomar decisiones con gráficos mal diseñados?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868829" y="4976217"/>
            <a:ext cx="353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consecuencias empresariales de visualizaciones engañosas pueden ser devastadoras.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54302" y="385845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28716" y="389566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299144" y="3926681"/>
            <a:ext cx="3537466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¿Qué cambia cuando un gráfico sirve para explorar vs comunicar?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299144" y="4976217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diferencia entre exploración interna y comunicación externa define el diseño.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0048"/>
            <a:ext cx="550366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Actividad Grupal Inicial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561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Metodología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964656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 pequeños grupos de 3-4 personas, los participantes discuten ejemplos de visualizaciones confusas o manipuladoras encontradas en redes sociales o reportes corporativos.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095869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objetivo es elegir una visualización problemática y explicar por qué no cumple su finalidad informativa, desarrollando el pensamiento crítico desde el inicio.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4874" y="2481024"/>
            <a:ext cx="6279356" cy="41851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4193"/>
            <a:ext cx="1065502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La Visualización como Herramienta Cognitiva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3110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visualización de datos trasciende la simple representación gráfica para convertirse en una herramienta multidimensional: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671888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4160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Cognitiva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4845248"/>
            <a:ext cx="41821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Facilita el procesamiento mental de patrones complejos, permitiendo que el cerebro humano identifique tendencias y anomalías de manera intuitiva.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986" y="3671888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3986" y="44160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Comunicacional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23986" y="4845248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Traduce datos técnicos en narrativas comprensibles para diferentes audiencias, desde analistas hasta ejecutivos.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302" y="3671888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4302" y="44160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Analítica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54302" y="4845248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Apoya el proceso de descubrimiento, permitiendo explorar hipótesis y validar supuestos de manera visual e interactiva.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2410"/>
            <a:ext cx="67802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Objetivo General del Módulo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1446" y="2422565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Explicar la finalidad de generar representaciones visuales de datos alineadas a los objetivos planteados, integrando los conceptos de trazabilidad, exploración y comunicación visual ética.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199323"/>
            <a:ext cx="22860" cy="1081564"/>
          </a:xfrm>
          <a:prstGeom prst="rect">
            <a:avLst/>
          </a:prstGeom>
          <a:solidFill>
            <a:srgbClr val="1F3E4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50412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818453"/>
            <a:ext cx="6422231" cy="228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963353"/>
            <a:ext cx="306514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Diferenciación Conceptual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4392573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Distinguir entre visualización clásica (expositiva) y contemporánea (exploratoria + expositiva).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14379" y="350412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14379" y="3818453"/>
            <a:ext cx="6422231" cy="22860"/>
          </a:xfrm>
          <a:prstGeom prst="rect">
            <a:avLst/>
          </a:prstGeom>
          <a:solidFill>
            <a:srgbClr val="CADCD8"/>
          </a:solidFill>
          <a:ln/>
        </p:spPr>
      </p:sp>
      <p:sp>
        <p:nvSpPr>
          <p:cNvPr id="11" name="Text 9"/>
          <p:cNvSpPr/>
          <p:nvPr/>
        </p:nvSpPr>
        <p:spPr>
          <a:xfrm>
            <a:off x="7414379" y="39633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Funciones Cognitivas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414379" y="4392573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Identificar el rol analítico de las visualizaciones dentro del proceso completo de análisis.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537483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3790" y="5689163"/>
            <a:ext cx="6422231" cy="22860"/>
          </a:xfrm>
          <a:prstGeom prst="rect">
            <a:avLst/>
          </a:prstGeom>
          <a:solidFill>
            <a:srgbClr val="B9AAD4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58340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Principios Éticos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93790" y="6263283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Aplicar registro, trazabilidad y diseño ético en todas las representaciones visuales.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414379" y="537483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4379" y="5689163"/>
            <a:ext cx="6422231" cy="22860"/>
          </a:xfrm>
          <a:prstGeom prst="rect">
            <a:avLst/>
          </a:prstGeom>
          <a:solidFill>
            <a:srgbClr val="B2D5AD"/>
          </a:solidFill>
          <a:ln/>
        </p:spPr>
      </p:sp>
      <p:sp>
        <p:nvSpPr>
          <p:cNvPr id="19" name="Text 17"/>
          <p:cNvSpPr/>
          <p:nvPr/>
        </p:nvSpPr>
        <p:spPr>
          <a:xfrm>
            <a:off x="7414379" y="5834063"/>
            <a:ext cx="29017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Implementación Práctica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414379" y="6263283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Construir gráficos mínimos viables que documenten linaje, fuente y supuestos.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0747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Evolución: De lo Clásico a lo Contemporáneo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4436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Visualización Clásica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3952161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Resumir datos voluminosos en gráficos fijos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656653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Barras, líneas, mapas estáticos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5043607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Finalidad puramente expositiva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5430560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Enfoque en claridad y síntesis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80190" y="5817513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Ejemplo: gráfico de barras de ventas por trimestre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308074" y="3443645"/>
            <a:ext cx="348757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Visualización Contemporánea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308074" y="3952161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Integra exploración + exposición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308074" y="4339114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Parte del análisis exploratorio (EDA)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308074" y="4726067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Interactiva y colaborativa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0308074" y="5113020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Del "mostrar" al "descubrir y decidir"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0308074" y="5499973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Ejemplo: dashboard interactivo con filtros por región, categoría y trimestre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6849"/>
            <a:ext cx="572000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Visualizar con Propósito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7376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Cada visualización debe alinearse con objetivos concretos y traducirse en tareas cognitivas específicas. El éxito se mide por la calidad del insight, no por la estética.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32083"/>
            <a:ext cx="13042821" cy="3440668"/>
          </a:xfrm>
          <a:prstGeom prst="roundRect">
            <a:avLst>
              <a:gd name="adj" fmla="val 242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33970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9887" y="3466386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Tarea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260533" y="3466386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820150" y="3466386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Forma Sugerida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391060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9887" y="403729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Explorar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260533" y="4037290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Identificar picos en demanda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820150" y="4037290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Series temporales, boxplots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448151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99887" y="4608195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Comparar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260533" y="4608195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Ranking de canales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820150" y="4608195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Barras ordenadas, dot plots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5052417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9887" y="517910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Rastrear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260533" y="5179100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Evolución mensual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820150" y="5179100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Línea con bandas de referencia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5623322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99887" y="5750004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Componer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260533" y="5750004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Parte de un todo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820150" y="5750004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Waterfall, treemap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01410" y="6194227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99887" y="6320909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Localizar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260533" y="6320909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Mapas de densidad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820150" y="6320909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Coroplético, hexbin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4405"/>
            <a:ext cx="796647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Trazabilidad: El ADN de los Datos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7131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Generar registros auditables es fundamental para la credibilidad y reproducibilidad del análisis: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2100"/>
            <a:ext cx="992267" cy="1190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84415" y="27104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Linaje de Datos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984415" y="3139678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Documentar fuente, transformaciones aplicadas y fecha de corte específica para garantizar reproducibilidad.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702844"/>
            <a:ext cx="992267" cy="1190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84415" y="3901202"/>
            <a:ext cx="29937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Artefactos Reproducibles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984415" y="4330422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Dashboards versionados, notebooks ejecutables y vistas SQL documentadas que permitan auditoría.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893588"/>
            <a:ext cx="992267" cy="1190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84415" y="50919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Notas Editoriales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984415" y="5521166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Títulos informativos, subtítulos con contexto, definiciones claras y anotaciones metodológicas visibles.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084332"/>
            <a:ext cx="992267" cy="1190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984415" y="62826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Registro Auditable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1984415" y="6711910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Convertir cada gráfico en un documento verificable, no en una imagen estática sin contexto.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2817" y="437078"/>
            <a:ext cx="6936700" cy="49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El Ciclo Completo del Análisis Visual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32817" y="1247775"/>
            <a:ext cx="1336476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visualización forma parte integral del proceso analítico, no es un paso final decorativo: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03770" y="1678781"/>
            <a:ext cx="22860" cy="4723805"/>
          </a:xfrm>
          <a:prstGeom prst="roundRect">
            <a:avLst>
              <a:gd name="adj" fmla="val 290694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85538" y="1845231"/>
            <a:ext cx="474583" cy="22860"/>
          </a:xfrm>
          <a:prstGeom prst="roundRect">
            <a:avLst>
              <a:gd name="adj" fmla="val 290694"/>
            </a:avLst>
          </a:prstGeom>
          <a:solidFill>
            <a:srgbClr val="1B99A9"/>
          </a:solidFill>
          <a:ln/>
        </p:spPr>
      </p:sp>
      <p:sp>
        <p:nvSpPr>
          <p:cNvPr id="6" name="Shape 4"/>
          <p:cNvSpPr/>
          <p:nvPr/>
        </p:nvSpPr>
        <p:spPr>
          <a:xfrm>
            <a:off x="7137261" y="1678781"/>
            <a:ext cx="355878" cy="355878"/>
          </a:xfrm>
          <a:prstGeom prst="roundRect">
            <a:avLst>
              <a:gd name="adj" fmla="val 18673"/>
            </a:avLst>
          </a:prstGeom>
          <a:solidFill>
            <a:srgbClr val="028090"/>
          </a:solidFill>
          <a:ln w="15240">
            <a:solidFill>
              <a:srgbClr val="1B99A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96495" y="1708368"/>
            <a:ext cx="23729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6402" y="1733074"/>
            <a:ext cx="197774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Objetivo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2817" y="2075140"/>
            <a:ext cx="5891332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Definición clara del problema de negocio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70279" y="2794397"/>
            <a:ext cx="474583" cy="22860"/>
          </a:xfrm>
          <a:prstGeom prst="roundRect">
            <a:avLst>
              <a:gd name="adj" fmla="val 290694"/>
            </a:avLst>
          </a:prstGeom>
          <a:solidFill>
            <a:srgbClr val="B0C2BE"/>
          </a:solidFill>
          <a:ln/>
        </p:spPr>
      </p:sp>
      <p:sp>
        <p:nvSpPr>
          <p:cNvPr id="11" name="Shape 9"/>
          <p:cNvSpPr/>
          <p:nvPr/>
        </p:nvSpPr>
        <p:spPr>
          <a:xfrm>
            <a:off x="7137261" y="2627948"/>
            <a:ext cx="355878" cy="355878"/>
          </a:xfrm>
          <a:prstGeom prst="roundRect">
            <a:avLst>
              <a:gd name="adj" fmla="val 18673"/>
            </a:avLst>
          </a:prstGeom>
          <a:solidFill>
            <a:srgbClr val="CADCD8"/>
          </a:solidFill>
          <a:ln w="15240">
            <a:solidFill>
              <a:srgbClr val="B0C2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96495" y="2657535"/>
            <a:ext cx="23729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106251" y="2682240"/>
            <a:ext cx="197774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Extracción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106251" y="3024307"/>
            <a:ext cx="5891332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Obtención y preparación de datos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85538" y="3612594"/>
            <a:ext cx="474583" cy="22860"/>
          </a:xfrm>
          <a:prstGeom prst="roundRect">
            <a:avLst>
              <a:gd name="adj" fmla="val 290694"/>
            </a:avLst>
          </a:prstGeom>
          <a:solidFill>
            <a:srgbClr val="9F90BA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7261" y="3446145"/>
            <a:ext cx="355878" cy="355878"/>
          </a:xfrm>
          <a:prstGeom prst="roundRect">
            <a:avLst>
              <a:gd name="adj" fmla="val 18673"/>
            </a:avLst>
          </a:prstGeom>
          <a:solidFill>
            <a:srgbClr val="B9AAD4"/>
          </a:solidFill>
          <a:ln w="15240">
            <a:solidFill>
              <a:srgbClr val="9F90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96495" y="3475732"/>
            <a:ext cx="23729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4546402" y="3500438"/>
            <a:ext cx="197774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Exploración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2817" y="3842504"/>
            <a:ext cx="5891332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Análisis exploratorio visual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70279" y="4430792"/>
            <a:ext cx="474583" cy="22860"/>
          </a:xfrm>
          <a:prstGeom prst="roundRect">
            <a:avLst>
              <a:gd name="adj" fmla="val 290694"/>
            </a:avLst>
          </a:prstGeom>
          <a:solidFill>
            <a:srgbClr val="98BB93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7261" y="4264342"/>
            <a:ext cx="355878" cy="355878"/>
          </a:xfrm>
          <a:prstGeom prst="roundRect">
            <a:avLst>
              <a:gd name="adj" fmla="val 18673"/>
            </a:avLst>
          </a:prstGeom>
          <a:solidFill>
            <a:srgbClr val="B2D5AD"/>
          </a:solidFill>
          <a:ln w="15240">
            <a:solidFill>
              <a:srgbClr val="98BB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96495" y="4293930"/>
            <a:ext cx="23729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4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8106251" y="4318635"/>
            <a:ext cx="197774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Modelado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106251" y="4660702"/>
            <a:ext cx="5891332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Aplicación de técnicas analíticas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85538" y="5248989"/>
            <a:ext cx="474583" cy="22860"/>
          </a:xfrm>
          <a:prstGeom prst="roundRect">
            <a:avLst>
              <a:gd name="adj" fmla="val 290694"/>
            </a:avLst>
          </a:prstGeom>
          <a:solidFill>
            <a:srgbClr val="797979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7261" y="5082540"/>
            <a:ext cx="355878" cy="355878"/>
          </a:xfrm>
          <a:prstGeom prst="roundRect">
            <a:avLst>
              <a:gd name="adj" fmla="val 18673"/>
            </a:avLst>
          </a:prstGeom>
          <a:solidFill>
            <a:srgbClr val="606060"/>
          </a:solidFill>
          <a:ln w="15240">
            <a:solidFill>
              <a:srgbClr val="7979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96495" y="5112127"/>
            <a:ext cx="23729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5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4546402" y="5136833"/>
            <a:ext cx="197774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Comunicación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32817" y="5478899"/>
            <a:ext cx="5891332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Presentación de resultados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2817" y="6738580"/>
            <a:ext cx="197774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Vista Exploratoria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32817" y="7143869"/>
            <a:ext cx="6489383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Libre y flexible, diseñada para el analista. Permite experimentación, pruebas rápidas y descubrimiento de patrones inesperados.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15820" y="6738580"/>
            <a:ext cx="197774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Vista Curada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515820" y="7143869"/>
            <a:ext cx="6489383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Pública, reproducible y completamente documentada. Diseñada para comunicar hallazgos a stakeholders externos.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7597"/>
            <a:ext cx="64666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Diseño Ético y Responsable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9451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entrega de información a terceros requiere consideraciones especiales de diseño y ética profesional: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335292"/>
            <a:ext cx="4215289" cy="2617946"/>
          </a:xfrm>
          <a:prstGeom prst="roundRect">
            <a:avLst>
              <a:gd name="adj" fmla="val 3184"/>
            </a:avLst>
          </a:prstGeom>
          <a:solidFill>
            <a:srgbClr val="028090"/>
          </a:solidFill>
          <a:ln w="2286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5008" y="255651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719" y="2686645"/>
            <a:ext cx="267891" cy="3349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008" y="33501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Contextualización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15008" y="3779401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Identificar quién usa la vista y qué decisiones necesita tomar para adaptar el diseño apropiadamente.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2335292"/>
            <a:ext cx="4215408" cy="2617946"/>
          </a:xfrm>
          <a:prstGeom prst="roundRect">
            <a:avLst>
              <a:gd name="adj" fmla="val 3184"/>
            </a:avLst>
          </a:prstGeom>
          <a:solidFill>
            <a:srgbClr val="028090"/>
          </a:solidFill>
          <a:ln w="22860">
            <a:solidFill>
              <a:srgbClr val="CADC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28655" y="255651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CADC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366" y="2686645"/>
            <a:ext cx="267891" cy="3349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8655" y="33501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Señal Visual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428655" y="3779401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Establecer jerarquía clara: título → subtítulo → foco → detalle, guiando la atención del usuario.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621203" y="2335292"/>
            <a:ext cx="4215289" cy="2617946"/>
          </a:xfrm>
          <a:prstGeom prst="roundRect">
            <a:avLst>
              <a:gd name="adj" fmla="val 3184"/>
            </a:avLst>
          </a:prstGeom>
          <a:solidFill>
            <a:srgbClr val="028090"/>
          </a:solidFill>
          <a:ln w="22860">
            <a:solidFill>
              <a:srgbClr val="B9AA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42421" y="255651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B9AAD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132" y="2686645"/>
            <a:ext cx="267891" cy="3349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42421" y="33501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Honestidad Visual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842421" y="3779401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Ejes proporcionales, no truncar sin aviso, evitar efectos 3D que distorsionen la percepción.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93790" y="5151596"/>
            <a:ext cx="6422112" cy="2300407"/>
          </a:xfrm>
          <a:prstGeom prst="roundRect">
            <a:avLst>
              <a:gd name="adj" fmla="val 3624"/>
            </a:avLst>
          </a:prstGeom>
          <a:solidFill>
            <a:srgbClr val="028090"/>
          </a:solidFill>
          <a:ln w="22860">
            <a:solidFill>
              <a:srgbClr val="B2D5A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15008" y="537281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B2D5A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719" y="5502950"/>
            <a:ext cx="267891" cy="33492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15008" y="61664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Accesibilidad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1015008" y="6595705"/>
            <a:ext cx="597967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Tipografía legible, contraste adecuado, paletas inclusivas para personas con daltonismo.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7414260" y="5151596"/>
            <a:ext cx="6422231" cy="2300407"/>
          </a:xfrm>
          <a:prstGeom prst="roundRect">
            <a:avLst>
              <a:gd name="adj" fmla="val 3624"/>
            </a:avLst>
          </a:prstGeom>
          <a:solidFill>
            <a:srgbClr val="028090"/>
          </a:solidFill>
          <a:ln w="22860">
            <a:solidFill>
              <a:srgbClr val="60606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635478" y="537281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60606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189" y="5502950"/>
            <a:ext cx="267891" cy="33492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35478" y="6166485"/>
            <a:ext cx="29144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Publicación Responsable</a:t>
            </a:r>
            <a:endParaRPr lang="en-US" sz="1950" dirty="0"/>
          </a:p>
        </p:txBody>
      </p:sp>
      <p:sp>
        <p:nvSpPr>
          <p:cNvPr id="28" name="Text 21"/>
          <p:cNvSpPr/>
          <p:nvPr/>
        </p:nvSpPr>
        <p:spPr>
          <a:xfrm>
            <a:off x="7635478" y="6595705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Verificar permisos, aplicar anonimización cuando necesario, incluir metadatos visibles.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4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0177" y="476964"/>
            <a:ext cx="7593330" cy="541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Caso Práctico: Gráfico Mínimo Viable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180177" y="1279088"/>
            <a:ext cx="7756446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Situación: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Caída interanual de ventas del 8% en Q3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180177" y="1751648"/>
            <a:ext cx="7756446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Objetivo: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Determinar si la caída fue general o concentrada en categorías específicas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180177" y="2224207"/>
            <a:ext cx="7756446" cy="5533192"/>
          </a:xfrm>
          <a:prstGeom prst="roundRect">
            <a:avLst>
              <a:gd name="adj" fmla="val 1317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6171605" y="2224207"/>
            <a:ext cx="7773591" cy="5533192"/>
          </a:xfrm>
          <a:prstGeom prst="roundRect">
            <a:avLst>
              <a:gd name="adj" fmla="val 470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344960" y="2354223"/>
            <a:ext cx="7426881" cy="527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numpy as np, matplotlib.pyplot as pltnp.random.seed(42)df = pd.DataFrame({ 'region': np.random.choice(['Norte','Centro','Sur'], 12), 'categoria': np.random.choice(['Electrónica','Hogar','Moda'], 12), 'ventas': np.random.randint(1000,5000,12)})# Simular YoYdf['ventas_t_12'] = df['ventas'] * np.random.uniform(0.8,1.2,12)df['yoy'] = (df['ventas'] - df['ventas_t_12'])/df['ventas_t_12']# Gráfico ordenadoplt.figure(figsize=(6,3))df = df.groupby('categoria', as_index=False)['yoy'].mean().sort_values('yoy')plt.barh(df['categoria'], df['yoy'], color='steelblue')plt.axvline(0, color='gray', lw=1)plt.title('Δ% YoY promedio por categoría – Q3')plt.xlabel('Variación interanual')plt.tight_layout(); plt.show()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580"/>
            <a:ext cx="916757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Taller Aplicado: Del Objetivo a la Vista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4049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Contexto: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E-commerce nacional con ventas en caída YoY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58127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Requerimientos técnicos: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Python 3.9+, pandas, matplotlib o Power BI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12205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436382"/>
            <a:ext cx="6422231" cy="228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581281"/>
            <a:ext cx="25173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Formular la Pregunta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4010501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¿Dónde se concentra la caída YoY en Q3? Definir el alcance y las dimensiones de análisis.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14379" y="312205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14379" y="3436382"/>
            <a:ext cx="6422231" cy="22860"/>
          </a:xfrm>
          <a:prstGeom prst="rect">
            <a:avLst/>
          </a:prstGeom>
          <a:solidFill>
            <a:srgbClr val="CADCD8"/>
          </a:solidFill>
          <a:ln/>
        </p:spPr>
      </p:sp>
      <p:sp>
        <p:nvSpPr>
          <p:cNvPr id="11" name="Text 9"/>
          <p:cNvSpPr/>
          <p:nvPr/>
        </p:nvSpPr>
        <p:spPr>
          <a:xfrm>
            <a:off x="7414379" y="3581281"/>
            <a:ext cx="34026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Construir Vista Reproducible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414379" y="4010501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Desarrollar análisis de ventas por región y categoría con código documentado y versionado.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499276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3790" y="5307092"/>
            <a:ext cx="6422231" cy="22860"/>
          </a:xfrm>
          <a:prstGeom prst="rect">
            <a:avLst/>
          </a:prstGeom>
          <a:solidFill>
            <a:srgbClr val="B9AAD4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5451991"/>
            <a:ext cx="25223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Diseñar Visualización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93790" y="5881211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Barras horizontales ordenadas + línea temporal complementaria para contexto histórico.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414379" y="499276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4379" y="5307092"/>
            <a:ext cx="6422231" cy="22860"/>
          </a:xfrm>
          <a:prstGeom prst="rect">
            <a:avLst/>
          </a:prstGeom>
          <a:solidFill>
            <a:srgbClr val="B2D5AD"/>
          </a:solidFill>
          <a:ln/>
        </p:spPr>
      </p:sp>
      <p:sp>
        <p:nvSpPr>
          <p:cNvPr id="19" name="Text 17"/>
          <p:cNvSpPr/>
          <p:nvPr/>
        </p:nvSpPr>
        <p:spPr>
          <a:xfrm>
            <a:off x="7414379" y="5451991"/>
            <a:ext cx="33900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Documentar Completamente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414379" y="5881211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Añadir título-respuesta, subtítulo (fuente, periodo), y pie con definiciones técnicas.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93790" y="688836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Notebook o dashboard con fuente reproducible y anotaciones metodológicas completas.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0369"/>
            <a:ext cx="539746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Criterios de Evaluación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17282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2286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3238500"/>
            <a:ext cx="31564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Alineación Forma-Objetivo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667720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¿La visualización responde efectivamente la pregunta planteada? ¿El diseño facilita la comprensión del mensaje principal?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3017282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22860">
            <a:solidFill>
              <a:srgbClr val="CA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597" y="32385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Honestidad Visual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35597" y="3667720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Verificar escalas apropiadas, ejes proporcionales, etiquetas claras y ausencia de distorsiones visuales.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4722376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22860">
            <a:solidFill>
              <a:srgbClr val="B9A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5008" y="49435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Claridad Narrativa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15008" y="5372814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Evaluar la efectividad del título, subtítulo, elementos de foco y jerarquía visual establecida.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4722376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22860">
            <a:solidFill>
              <a:srgbClr val="B2D5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597" y="4943594"/>
            <a:ext cx="270164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Registro y Trazabilidad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35597" y="5372814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Confirmar que fuente, fecha de corte y glosario de términos sean visibles y verificables.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86439"/>
            <a:ext cx="686157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Ejemplo de Entrega Ejecutiva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1091446" y="3127415"/>
            <a:ext cx="72587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Título-respuesta: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"La caída se concentró en Electrónica y Hogar en la Región Sur (−12% y −9%)."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091446" y="3985736"/>
            <a:ext cx="72587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Subtítulo: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"Ventas, Q3‑2025 vs Q3‑2024; fuente: vista vw_ventas_yoy; corte: 2025‑09‑30."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91446" y="4844058"/>
            <a:ext cx="72587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Pie: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"Δ% YoY = (t−t−12)/t−12; incluye ventas netas sin devoluciones."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2904173"/>
            <a:ext cx="22860" cy="2480667"/>
          </a:xfrm>
          <a:prstGeom prst="rect">
            <a:avLst/>
          </a:prstGeom>
          <a:solidFill>
            <a:srgbClr val="1F3E47"/>
          </a:solidFill>
          <a:ln/>
        </p:spPr>
      </p:sp>
      <p:sp>
        <p:nvSpPr>
          <p:cNvPr id="8" name="Text 5"/>
          <p:cNvSpPr/>
          <p:nvPr/>
        </p:nvSpPr>
        <p:spPr>
          <a:xfrm>
            <a:off x="793790" y="5608082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 estructura garantiza que cualquier stakeholder pueda comprender el hallazgo, verificar la fuente y replicar el análisis si es necesario.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526" y="537567"/>
            <a:ext cx="7580948" cy="122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Ejercicio Práctico: Tiempos de Despacho y Satisfacción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781526" y="2051685"/>
            <a:ext cx="7580948" cy="937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Objetivo: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Construir una visualización exploratoria reproducible que documente fuente, fecha y definiciones, comunicando un hallazgo claro sobre la relación entre retrasos y satisfacción por región.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81526" y="3209092"/>
            <a:ext cx="758094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Contexto: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Dataset de tiempos de despacho y satisfacción (NPS) de clientes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1526" y="3741420"/>
            <a:ext cx="758094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Tarea: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Mostrar cómo los retrasos afectan la satisfacción por región geográfica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81526" y="4273748"/>
            <a:ext cx="7580948" cy="3418284"/>
          </a:xfrm>
          <a:prstGeom prst="roundRect">
            <a:avLst>
              <a:gd name="adj" fmla="val 2401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771763" y="4273748"/>
            <a:ext cx="7600474" cy="3418284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967145" y="4420195"/>
            <a:ext cx="7209711" cy="312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sns# Crear DataFrame con columnas region, nps, tiempo_despacho# Gráfico: dispersión (x=tiempo, y=NPS, color=región)sns.lmplot(data=df, x='tiempo_despacho', y='nps', hue='region', height=4)plt.title('A mayor tiempo de despacho, menor satisfacción – patrón consistente en Sur')plt.xlabel('Tiempo despacho (h)')plt.ylabel('NPS promedio')plt.show()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97944"/>
            <a:ext cx="680406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Preguntas de Reflexión Final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614857"/>
            <a:ext cx="4215289" cy="201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3813215"/>
            <a:ext cx="25386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Criterios de Auditoría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92148" y="4242435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criterios garantizan que una visualización sea un registro auditable y no una "foto" estática sin contexto?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437" y="3614857"/>
            <a:ext cx="4215408" cy="2016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05795" y="3813215"/>
            <a:ext cx="252924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Impacto del Contexto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405795" y="4242435"/>
            <a:ext cx="38186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¿Cómo cambia la interpretación de los datos cuando agregas contexto y definiciones visibles en la visualización?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203" y="3614857"/>
            <a:ext cx="4215289" cy="2016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19561" y="381321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Honestidad Visual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819561" y="4242435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indicadores específicos usarías para evaluar la "honestidad visual" de tus gráficos y dashboards?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5216"/>
            <a:ext cx="797837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Cinco Puntos Clave para Recordar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792129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204" y="182933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1860352"/>
            <a:ext cx="260532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Evidencia para Decidir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2289572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Visualizar datos significa generar evidencia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 pensar y decidir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no para decorar presentaciones.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300394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204" y="304115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438632" y="3072170"/>
            <a:ext cx="29041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Alineación con Objetivos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38632" y="3501390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finalidad de toda visualización es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alinearse a un objetivo específico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no simplemente hacer los datos "bonitos".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215765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204" y="425297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438632" y="4283988"/>
            <a:ext cx="28491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Trazabilidad Obligatoria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38632" y="4713208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Trazabilidad y linaje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todo gráfico debe documentar claramente su fuente y fecha de corte.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42758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2D5AD"/>
          </a:solidFill>
          <a:ln w="22860">
            <a:solidFill>
              <a:srgbClr val="98BB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204" y="546479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438632" y="5495806"/>
            <a:ext cx="29254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Exploración + Exposición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38632" y="5925026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Exploración y exposición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son fases complementarias, no excluyentes, del análisis visual.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3790" y="6639401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606060"/>
          </a:solidFill>
          <a:ln w="22860">
            <a:solidFill>
              <a:srgbClr val="7979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204" y="667660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5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438632" y="67076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Principios Éticos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38632" y="7136844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honestidad y claridad visual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son principios éticos fundamentales del diseño de datos.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70340"/>
            <a:ext cx="809898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Preparación para la Próxima Clase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58807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Reflexiona sobre estas preguntas de activación que exploraremos en la siguiente sesión: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5128855"/>
            <a:ext cx="4215289" cy="1911191"/>
          </a:xfrm>
          <a:prstGeom prst="roundRect">
            <a:avLst>
              <a:gd name="adj" fmla="val 4362"/>
            </a:avLst>
          </a:prstGeom>
          <a:solidFill>
            <a:srgbClr val="FFFFFF"/>
          </a:solidFill>
          <a:ln w="22860">
            <a:solidFill>
              <a:srgbClr val="02809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87" y="5032653"/>
            <a:ext cx="238125" cy="23812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56" y="6898124"/>
            <a:ext cx="238125" cy="2381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14306" y="5449372"/>
            <a:ext cx="35742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diferencia hay entre "ver" y "leer" un gráfico? ¿Cómo influye esta distinción en el diseño de visualizaciones efectivas?</a:t>
            </a:r>
            <a:endParaRPr lang="en-US" sz="1550" dirty="0"/>
          </a:p>
        </p:txBody>
      </p:sp>
      <p:sp>
        <p:nvSpPr>
          <p:cNvPr id="9" name="Shape 4"/>
          <p:cNvSpPr/>
          <p:nvPr/>
        </p:nvSpPr>
        <p:spPr>
          <a:xfrm>
            <a:off x="5207437" y="5128855"/>
            <a:ext cx="4215408" cy="1911191"/>
          </a:xfrm>
          <a:prstGeom prst="roundRect">
            <a:avLst>
              <a:gd name="adj" fmla="val 4362"/>
            </a:avLst>
          </a:prstGeom>
          <a:solidFill>
            <a:srgbClr val="FFFFFF"/>
          </a:solidFill>
          <a:ln w="22860">
            <a:solidFill>
              <a:srgbClr val="CADCD8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234" y="5032653"/>
            <a:ext cx="238125" cy="23812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0922" y="6898124"/>
            <a:ext cx="238125" cy="2381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527953" y="5449372"/>
            <a:ext cx="357437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elementos específicos definen un "buen diseño visual" en dashboards empresariales? ¿Cómo medimos la efectividad?</a:t>
            </a:r>
            <a:endParaRPr lang="en-US" sz="1550" dirty="0"/>
          </a:p>
        </p:txBody>
      </p:sp>
      <p:sp>
        <p:nvSpPr>
          <p:cNvPr id="13" name="Shape 6"/>
          <p:cNvSpPr/>
          <p:nvPr/>
        </p:nvSpPr>
        <p:spPr>
          <a:xfrm>
            <a:off x="9621203" y="5128855"/>
            <a:ext cx="4215289" cy="1911191"/>
          </a:xfrm>
          <a:prstGeom prst="roundRect">
            <a:avLst>
              <a:gd name="adj" fmla="val 4362"/>
            </a:avLst>
          </a:prstGeom>
          <a:solidFill>
            <a:srgbClr val="FFFFFF"/>
          </a:solidFill>
          <a:ln w="22860">
            <a:solidFill>
              <a:srgbClr val="B9AAD4"/>
            </a:solidFill>
            <a:prstDash val="solid"/>
          </a:ln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5032653"/>
            <a:ext cx="238125" cy="238125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94569" y="6898124"/>
            <a:ext cx="238125" cy="23812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941719" y="5449372"/>
            <a:ext cx="35742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¿Cómo podríamos planificar un bosquejo conceptual antes de construir una visualización final? ¿Qué metodología seguir?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3647"/>
            <a:ext cx="823388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Recursos y Herramientas de Apoyo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69738"/>
            <a:ext cx="255531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Guía de Google Colab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178254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Abrir colab.research.google.com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565208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Crear nuevo cuaderno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952161"/>
            <a:ext cx="39796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Ejecutar !pip install pandas matplotlib seaborn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656653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Cargar dataset CSV o simulado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043607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5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Documentar fuente, objetivo y fecha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430560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6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Exportar PDF con código ejecutado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265182" y="2669738"/>
            <a:ext cx="324052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Plantilla de Registro Visual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265182" y="3178254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Título-respuesta: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síntesis de hallazgo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265182" y="3565208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Subtítulo: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periodo, universo, fuente, corte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265182" y="3952161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Definiciones: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métricas y unidades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265182" y="4339114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Anotaciones: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eventos, outliers, cambios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265182" y="4726067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Pie: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glosario y responsable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736574" y="26697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Checklist de Calidad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736574" y="3178254"/>
            <a:ext cx="41150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✓ Responde pregunta concreta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736574" y="3565208"/>
            <a:ext cx="41150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✓ Escala honesta y legible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736574" y="3952161"/>
            <a:ext cx="41150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✓ Contexto completo visible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736574" y="4339114"/>
            <a:ext cx="41150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✓ Sin ruido visual ni truncamientos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736574" y="4726067"/>
            <a:ext cx="41150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✓ Linaje documentado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93790" y="604075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Conexión curricular: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Esta clase desarrolla el Aprendizaje Esperado AE1 del Módulo 7, vinculado con los contenidos "Qué entendemos por visualización", "Finalidad de las representaciones", "Generar registros" y "Apoyar el proceso analítico".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2025-10-05T21:50:05Z</dcterms:created>
  <dcterms:modified xsi:type="dcterms:W3CDTF">2025-10-05T21:50:05Z</dcterms:modified>
</cp:coreProperties>
</file>