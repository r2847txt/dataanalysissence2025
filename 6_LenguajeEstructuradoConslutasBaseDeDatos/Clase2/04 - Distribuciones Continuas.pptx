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0" r:id="rId2"/>
  </p:sldMasterIdLst>
  <p:notesMasterIdLst>
    <p:notesMasterId r:id="rId2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0" roundtripDataSignature="AMtx7miDBzazDnzpJDaFGQAn36JLYxmv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220063-D7D7-7E34-B61E-61E97459F426}" v="8" dt="2025-09-26T11:49:14.9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36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customschemas.google.com/relationships/presentationmetadata" Target="metadata"/><Relationship Id="rId35" Type="http://schemas.microsoft.com/office/2016/11/relationships/changesInfo" Target="changesInfos/changesInfo1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raya Salazar" userId="S::soraya.salazar@kibernumacademy.com::fdf00a5c-f577-43dc-8064-9968cad83607" providerId="AD" clId="Web-{77220063-D7D7-7E34-B61E-61E97459F426}"/>
    <pc:docChg chg="modSld">
      <pc:chgData name="Soraya Salazar" userId="S::soraya.salazar@kibernumacademy.com::fdf00a5c-f577-43dc-8064-9968cad83607" providerId="AD" clId="Web-{77220063-D7D7-7E34-B61E-61E97459F426}" dt="2025-09-26T11:49:14.686" v="5" actId="20577"/>
      <pc:docMkLst>
        <pc:docMk/>
      </pc:docMkLst>
      <pc:sldChg chg="delSp modSp">
        <pc:chgData name="Soraya Salazar" userId="S::soraya.salazar@kibernumacademy.com::fdf00a5c-f577-43dc-8064-9968cad83607" providerId="AD" clId="Web-{77220063-D7D7-7E34-B61E-61E97459F426}" dt="2025-09-26T11:49:14.686" v="5" actId="20577"/>
        <pc:sldMkLst>
          <pc:docMk/>
          <pc:sldMk cId="0" sldId="256"/>
        </pc:sldMkLst>
        <pc:spChg chg="del">
          <ac:chgData name="Soraya Salazar" userId="S::soraya.salazar@kibernumacademy.com::fdf00a5c-f577-43dc-8064-9968cad83607" providerId="AD" clId="Web-{77220063-D7D7-7E34-B61E-61E97459F426}" dt="2025-09-26T11:49:09.076" v="0"/>
          <ac:spMkLst>
            <pc:docMk/>
            <pc:sldMk cId="0" sldId="256"/>
            <ac:spMk id="166" creationId="{00000000-0000-0000-0000-000000000000}"/>
          </ac:spMkLst>
        </pc:spChg>
        <pc:spChg chg="mod">
          <ac:chgData name="Soraya Salazar" userId="S::soraya.salazar@kibernumacademy.com::fdf00a5c-f577-43dc-8064-9968cad83607" providerId="AD" clId="Web-{77220063-D7D7-7E34-B61E-61E97459F426}" dt="2025-09-26T11:49:14.686" v="5" actId="20577"/>
          <ac:spMkLst>
            <pc:docMk/>
            <pc:sldMk cId="0" sldId="256"/>
            <ac:spMk id="16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3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3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3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9" name="Google Shape;99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4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4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4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4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p4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4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p4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4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6" name="Google Shape;136;p4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7" name="Google Shape;137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4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4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4" name="Google Shape;144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4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4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4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4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" descr="Patrón de fondo&#10;&#10;Descripción generada automáticamente con confianza baj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037762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"/>
          <p:cNvSpPr/>
          <p:nvPr/>
        </p:nvSpPr>
        <p:spPr>
          <a:xfrm>
            <a:off x="4063854" y="2990553"/>
            <a:ext cx="7308567" cy="1963554"/>
          </a:xfrm>
          <a:prstGeom prst="roundRect">
            <a:avLst>
              <a:gd name="adj" fmla="val 7874"/>
            </a:avLst>
          </a:prstGeom>
          <a:solidFill>
            <a:schemeClr val="dk1">
              <a:alpha val="75686"/>
            </a:schemeClr>
          </a:solidFill>
          <a:ln>
            <a:noFill/>
          </a:ln>
        </p:spPr>
        <p:txBody>
          <a:bodyPr spcFirstLastPara="1" wrap="square" lIns="91425" tIns="45700" rIns="5400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"/>
          <p:cNvSpPr txBox="1">
            <a:spLocks noGrp="1"/>
          </p:cNvSpPr>
          <p:nvPr>
            <p:ph type="ctrTitle"/>
          </p:nvPr>
        </p:nvSpPr>
        <p:spPr>
          <a:xfrm>
            <a:off x="4185656" y="3257269"/>
            <a:ext cx="7087804" cy="1403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s-ES" sz="4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ES" sz="5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Distribución de Probabilidad Continua</a:t>
            </a:r>
            <a:endParaRPr sz="50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"/>
          <p:cNvSpPr txBox="1"/>
          <p:nvPr/>
        </p:nvSpPr>
        <p:spPr>
          <a:xfrm>
            <a:off x="4250681" y="2523808"/>
            <a:ext cx="7022779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FFFFFF"/>
              </a:buClr>
              <a:buSzPts val="2000"/>
            </a:pPr>
            <a:r>
              <a:rPr lang="es-ES" sz="2000" b="1" dirty="0">
                <a:solidFill>
                  <a:srgbClr val="FFFFFF"/>
                </a:solidFill>
              </a:rPr>
              <a:t> </a:t>
            </a:r>
            <a:r>
              <a:rPr lang="es-ES" sz="2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Inferencia Estadística</a:t>
            </a:r>
            <a:endParaRPr lang="es-ES"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"/>
          <p:cNvSpPr/>
          <p:nvPr/>
        </p:nvSpPr>
        <p:spPr>
          <a:xfrm>
            <a:off x="6068291" y="-551793"/>
            <a:ext cx="4557668" cy="5750810"/>
          </a:xfrm>
          <a:prstGeom prst="roundRect">
            <a:avLst>
              <a:gd name="adj" fmla="val 2778"/>
            </a:avLst>
          </a:prstGeom>
          <a:gradFill>
            <a:gsLst>
              <a:gs pos="0">
                <a:srgbClr val="5B1744"/>
              </a:gs>
              <a:gs pos="50000">
                <a:srgbClr val="852262"/>
              </a:gs>
              <a:gs pos="100000">
                <a:srgbClr val="9F2A77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"/>
          <p:cNvSpPr txBox="1"/>
          <p:nvPr/>
        </p:nvSpPr>
        <p:spPr>
          <a:xfrm>
            <a:off x="600892" y="469681"/>
            <a:ext cx="5056130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Objetivos de Aprendizaje</a:t>
            </a:r>
            <a:endParaRPr sz="32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"/>
          <p:cNvSpPr txBox="1"/>
          <p:nvPr/>
        </p:nvSpPr>
        <p:spPr>
          <a:xfrm>
            <a:off x="6130552" y="2170855"/>
            <a:ext cx="3970414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30200" algn="just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Char char="⮚"/>
            </a:pPr>
            <a:r>
              <a:rPr lang="es-E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Calcular probabilidades a partir de la distribución normal.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15900" algn="just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Noto Sans Symbols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30200" algn="just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Char char="⮚"/>
            </a:pPr>
            <a:r>
              <a:rPr lang="es-E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Resolver problemas utilizando la distribución normal.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5" name="Google Shape;175;p2"/>
          <p:cNvGrpSpPr/>
          <p:nvPr/>
        </p:nvGrpSpPr>
        <p:grpSpPr>
          <a:xfrm>
            <a:off x="1399220" y="1674518"/>
            <a:ext cx="3524500" cy="3705738"/>
            <a:chOff x="1163161" y="15234"/>
            <a:chExt cx="3524500" cy="3705738"/>
          </a:xfrm>
        </p:grpSpPr>
        <p:sp>
          <p:nvSpPr>
            <p:cNvPr id="176" name="Google Shape;176;p2"/>
            <p:cNvSpPr/>
            <p:nvPr/>
          </p:nvSpPr>
          <p:spPr>
            <a:xfrm>
              <a:off x="1163161" y="15234"/>
              <a:ext cx="3524500" cy="3524500"/>
            </a:xfrm>
            <a:prstGeom prst="ellipse">
              <a:avLst/>
            </a:prstGeom>
            <a:blipFill rotWithShape="1">
              <a:blip r:embed="rId3">
                <a:alphaModFix/>
              </a:blip>
              <a:stretch>
                <a:fillRect l="-24998" r="-24998"/>
              </a:stretch>
            </a:blip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"/>
            <p:cNvSpPr/>
            <p:nvPr/>
          </p:nvSpPr>
          <p:spPr>
            <a:xfrm flipH="1">
              <a:off x="3413435" y="3516041"/>
              <a:ext cx="97637" cy="204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"/>
            <p:cNvSpPr txBox="1"/>
            <p:nvPr/>
          </p:nvSpPr>
          <p:spPr>
            <a:xfrm>
              <a:off x="3413435" y="3516041"/>
              <a:ext cx="97637" cy="204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"/>
          <p:cNvSpPr txBox="1"/>
          <p:nvPr/>
        </p:nvSpPr>
        <p:spPr>
          <a:xfrm>
            <a:off x="1031421" y="1395816"/>
            <a:ext cx="10782300" cy="670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Contenido</a:t>
            </a:r>
            <a:endParaRPr/>
          </a:p>
        </p:txBody>
      </p:sp>
      <p:sp>
        <p:nvSpPr>
          <p:cNvPr id="184" name="Google Shape;184;p3"/>
          <p:cNvSpPr/>
          <p:nvPr/>
        </p:nvSpPr>
        <p:spPr>
          <a:xfrm>
            <a:off x="-391886" y="2507592"/>
            <a:ext cx="6945086" cy="1512616"/>
          </a:xfrm>
          <a:prstGeom prst="roundRect">
            <a:avLst>
              <a:gd name="adj" fmla="val 4466"/>
            </a:avLst>
          </a:prstGeom>
          <a:gradFill>
            <a:gsLst>
              <a:gs pos="0">
                <a:srgbClr val="5B1744"/>
              </a:gs>
              <a:gs pos="50000">
                <a:srgbClr val="852262"/>
              </a:gs>
              <a:gs pos="100000">
                <a:srgbClr val="9F2A77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3"/>
          <p:cNvSpPr txBox="1"/>
          <p:nvPr/>
        </p:nvSpPr>
        <p:spPr>
          <a:xfrm>
            <a:off x="945723" y="2802235"/>
            <a:ext cx="763945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AutoNum type="arabicPeriod"/>
            </a:pPr>
            <a:r>
              <a:rPr lang="es-ES" sz="18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Distribuciones de probabilidad continuas.</a:t>
            </a:r>
            <a:endParaRPr dirty="0"/>
          </a:p>
          <a:p>
            <a:pPr marL="342900" marR="0" lvl="0" indent="-228600" algn="just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just">
              <a:buClr>
                <a:srgbClr val="FFFFFF"/>
              </a:buClr>
              <a:buSzPts val="1800"/>
            </a:pPr>
            <a:r>
              <a:rPr lang="es-ES" sz="18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   Distribución normal.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6" name="Google Shape;186;p3"/>
          <p:cNvSpPr/>
          <p:nvPr/>
        </p:nvSpPr>
        <p:spPr>
          <a:xfrm>
            <a:off x="7933422" y="1395816"/>
            <a:ext cx="3524500" cy="3524500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 l="-24998" r="-24998"/>
            </a:stretch>
          </a:blip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"/>
          <p:cNvSpPr/>
          <p:nvPr/>
        </p:nvSpPr>
        <p:spPr>
          <a:xfrm>
            <a:off x="457200" y="861887"/>
            <a:ext cx="11277600" cy="5449651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B1744"/>
              </a:gs>
              <a:gs pos="50000">
                <a:srgbClr val="852262"/>
              </a:gs>
              <a:gs pos="100000">
                <a:srgbClr val="9F2A77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/>
          <p:nvPr/>
        </p:nvSpPr>
        <p:spPr>
          <a:xfrm>
            <a:off x="704850" y="1846907"/>
            <a:ext cx="10782300" cy="2633825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"/>
          <p:cNvSpPr txBox="1"/>
          <p:nvPr/>
        </p:nvSpPr>
        <p:spPr>
          <a:xfrm>
            <a:off x="704850" y="437929"/>
            <a:ext cx="10782300" cy="401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Distribuciones de Probabilidad Continuas</a:t>
            </a:r>
            <a:endParaRPr sz="32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4"/>
          <p:cNvSpPr txBox="1"/>
          <p:nvPr/>
        </p:nvSpPr>
        <p:spPr>
          <a:xfrm>
            <a:off x="704850" y="1038779"/>
            <a:ext cx="107823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Una función de densidad de probabilidad es una expresión matemática que define la distribución de los valores para una variable aleatoria continua. </a:t>
            </a:r>
            <a:endParaRPr/>
          </a:p>
        </p:txBody>
      </p:sp>
      <p:pic>
        <p:nvPicPr>
          <p:cNvPr id="195" name="Google Shape;195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97654" y="2265255"/>
            <a:ext cx="2937806" cy="1614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76728" y="2166353"/>
            <a:ext cx="2254194" cy="1870722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4"/>
          <p:cNvSpPr txBox="1"/>
          <p:nvPr/>
        </p:nvSpPr>
        <p:spPr>
          <a:xfrm>
            <a:off x="3626821" y="3974636"/>
            <a:ext cx="16494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Distribución Normal</a:t>
            </a:r>
            <a:endParaRPr/>
          </a:p>
        </p:txBody>
      </p:sp>
      <p:sp>
        <p:nvSpPr>
          <p:cNvPr id="198" name="Google Shape;198;p4"/>
          <p:cNvSpPr txBox="1"/>
          <p:nvPr/>
        </p:nvSpPr>
        <p:spPr>
          <a:xfrm>
            <a:off x="6760914" y="3983035"/>
            <a:ext cx="198605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Distribución Exponencial</a:t>
            </a:r>
            <a:endParaRPr/>
          </a:p>
        </p:txBody>
      </p:sp>
      <p:sp>
        <p:nvSpPr>
          <p:cNvPr id="199" name="Google Shape;199;p4"/>
          <p:cNvSpPr txBox="1"/>
          <p:nvPr/>
        </p:nvSpPr>
        <p:spPr>
          <a:xfrm>
            <a:off x="1828256" y="4528866"/>
            <a:ext cx="9353549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Ejemplos de distribuciones de probabilidad continuas son: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Distribución uniforme continua.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Distribución normal.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Distribución chi-cuadrado.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Distribución t de Student.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4"/>
          <p:cNvSpPr txBox="1"/>
          <p:nvPr/>
        </p:nvSpPr>
        <p:spPr>
          <a:xfrm>
            <a:off x="6576728" y="5097085"/>
            <a:ext cx="3722736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Distribución exponencial.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Distribución beta.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Distribución gamma.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Distribución de Pareto.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"/>
          <p:cNvSpPr txBox="1"/>
          <p:nvPr/>
        </p:nvSpPr>
        <p:spPr>
          <a:xfrm>
            <a:off x="1296520" y="3552498"/>
            <a:ext cx="5946962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Distribución Normal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"/>
          <p:cNvSpPr/>
          <p:nvPr/>
        </p:nvSpPr>
        <p:spPr>
          <a:xfrm>
            <a:off x="2243959" y="3492687"/>
            <a:ext cx="7704082" cy="2735317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8327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457200" y="1075117"/>
            <a:ext cx="11277600" cy="2110307"/>
          </a:xfrm>
          <a:prstGeom prst="roundRect">
            <a:avLst>
              <a:gd name="adj" fmla="val 2971"/>
            </a:avLst>
          </a:prstGeom>
          <a:solidFill>
            <a:srgbClr val="9832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 txBox="1"/>
          <p:nvPr/>
        </p:nvSpPr>
        <p:spPr>
          <a:xfrm>
            <a:off x="704851" y="170248"/>
            <a:ext cx="10782300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Distribución Normal</a:t>
            </a:r>
            <a:endParaRPr sz="32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6"/>
          <p:cNvSpPr txBox="1"/>
          <p:nvPr/>
        </p:nvSpPr>
        <p:spPr>
          <a:xfrm>
            <a:off x="704851" y="1304704"/>
            <a:ext cx="107823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⮚"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distribución normal, también conocida como distribución gaussiana, es una distribución de probabilidad continua que se utiliza comúnmente en estadística para modelar muchos fenómenos naturales y sociales.</a:t>
            </a:r>
            <a:endParaRPr/>
          </a:p>
          <a:p>
            <a:pPr marL="2857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⮚"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distribución normal tiene una forma de campana simétrica y está completamente determinada por dos parámetros: la </a:t>
            </a:r>
            <a:r>
              <a:rPr lang="es-E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media (μ)</a:t>
            </a: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y la </a:t>
            </a:r>
            <a:r>
              <a:rPr lang="es-E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desviación estándar (σ). </a:t>
            </a: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media define el centro de la distribución y la desviación estándar indica qué tan extendida está la distribución alrededor de la media.</a:t>
            </a:r>
            <a:endParaRPr/>
          </a:p>
        </p:txBody>
      </p:sp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01BA3E6A-C145-A5E9-93BB-AD627B108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3918" y="3586163"/>
            <a:ext cx="6180365" cy="26248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"/>
          <p:cNvSpPr/>
          <p:nvPr/>
        </p:nvSpPr>
        <p:spPr>
          <a:xfrm>
            <a:off x="6182287" y="1688269"/>
            <a:ext cx="5657848" cy="3532134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8327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-316585" y="1434353"/>
            <a:ext cx="12338255" cy="4016187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B1744"/>
              </a:gs>
              <a:gs pos="50000">
                <a:srgbClr val="852262"/>
              </a:gs>
              <a:gs pos="100000">
                <a:srgbClr val="9F2A77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 txBox="1"/>
          <p:nvPr/>
        </p:nvSpPr>
        <p:spPr>
          <a:xfrm>
            <a:off x="833718" y="455733"/>
            <a:ext cx="10594041" cy="536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Fenómenos que pueden seguir una Distribución Normal</a:t>
            </a:r>
            <a:endParaRPr sz="32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7"/>
          <p:cNvSpPr txBox="1"/>
          <p:nvPr/>
        </p:nvSpPr>
        <p:spPr>
          <a:xfrm>
            <a:off x="833718" y="1872784"/>
            <a:ext cx="4781549" cy="3139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altura de la población:</a:t>
            </a: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 tomamos una muestra aleatoria de personas de una población, es probable que la altura de la mayoría de ellas siga una distribución normal.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Los puntajes en un examen estandarizado:</a:t>
            </a: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 los puntajes en un examen siguen una distribución normal, podemos utilizar la media y la desviación estándar para interpretar los resultados y comparar el rendimiento de los estudiantes.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6427694" y="1846907"/>
            <a:ext cx="4688541" cy="3165198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8327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7" descr="Distribución normal: qué es y propiedades y característica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24358" y="2051093"/>
            <a:ext cx="4307539" cy="275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"/>
          <p:cNvSpPr/>
          <p:nvPr/>
        </p:nvSpPr>
        <p:spPr>
          <a:xfrm>
            <a:off x="-111507" y="1195415"/>
            <a:ext cx="12415014" cy="4481486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B1744"/>
              </a:gs>
              <a:gs pos="50000">
                <a:srgbClr val="852262"/>
              </a:gs>
              <a:gs pos="100000">
                <a:srgbClr val="9F2A77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7566215" y="1691358"/>
            <a:ext cx="4000500" cy="3532134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8327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 txBox="1"/>
          <p:nvPr/>
        </p:nvSpPr>
        <p:spPr>
          <a:xfrm>
            <a:off x="704850" y="187352"/>
            <a:ext cx="10782300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Fenómenos que pueden seguir una Distribución Normal</a:t>
            </a:r>
            <a:endParaRPr sz="32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8"/>
          <p:cNvSpPr txBox="1"/>
          <p:nvPr/>
        </p:nvSpPr>
        <p:spPr>
          <a:xfrm>
            <a:off x="704850" y="1831684"/>
            <a:ext cx="6124575" cy="3139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 tiempo que tarda en atenderse a los clientes en una tienda.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 medimos el tiempo que tarda en atenderse a los clientes en una tienda, es posible que los datos sigan una distribución normal, lo que podría ayudar a los gerentes a planificar y mejorar el servicio al cliente.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Los errores de medición en un instrumento de medición.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 medimos una cantidad utilizando un instrumento de medición, es probable que los errores de medición sigan una distribución normal. Esto puede ser importante para evaluar la precisión del instrumento y la incertidumbre de las mediciones.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8"/>
          <p:cNvPicPr preferRelativeResize="0"/>
          <p:nvPr/>
        </p:nvPicPr>
        <p:blipFill rotWithShape="1">
          <a:blip r:embed="rId3">
            <a:alphaModFix/>
          </a:blip>
          <a:srcRect t="6998"/>
          <a:stretch/>
        </p:blipFill>
        <p:spPr>
          <a:xfrm>
            <a:off x="8046624" y="2055462"/>
            <a:ext cx="3134930" cy="2915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"/>
          <p:cNvSpPr/>
          <p:nvPr/>
        </p:nvSpPr>
        <p:spPr>
          <a:xfrm>
            <a:off x="457200" y="2017711"/>
            <a:ext cx="11277600" cy="2982533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B1744"/>
              </a:gs>
              <a:gs pos="50000">
                <a:srgbClr val="852262"/>
              </a:gs>
              <a:gs pos="100000">
                <a:srgbClr val="9F2A77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 txBox="1"/>
          <p:nvPr/>
        </p:nvSpPr>
        <p:spPr>
          <a:xfrm>
            <a:off x="704850" y="1009649"/>
            <a:ext cx="10782300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Importancia de la Distribución Normal</a:t>
            </a:r>
            <a:endParaRPr sz="32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9"/>
          <p:cNvSpPr txBox="1"/>
          <p:nvPr/>
        </p:nvSpPr>
        <p:spPr>
          <a:xfrm>
            <a:off x="704851" y="2247298"/>
            <a:ext cx="10782299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distribución normal es muy importante para la  estadística debido a las siguientes razones:</a:t>
            </a:r>
            <a:endParaRPr/>
          </a:p>
          <a:p>
            <a:pPr marL="2857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⮚"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Diversas variables continuas que son comunes en la administración tienen distribuciones que se parecen a la distribución normal.</a:t>
            </a:r>
            <a:endParaRPr/>
          </a:p>
          <a:p>
            <a:pPr marL="2857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⮚"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distribución normal se puede utilizar para aproximar varias distribuciones de probabilidad discretas.</a:t>
            </a:r>
            <a:endParaRPr/>
          </a:p>
          <a:p>
            <a:pPr marL="2857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⮚"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distribución normal conforma las bases para la inferencia estadística clásica debido a su relación con el teorema del límite central.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"/>
          <p:cNvSpPr/>
          <p:nvPr/>
        </p:nvSpPr>
        <p:spPr>
          <a:xfrm>
            <a:off x="-494211" y="1285214"/>
            <a:ext cx="12933900" cy="4453200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B1744"/>
              </a:gs>
              <a:gs pos="50000">
                <a:srgbClr val="852262"/>
              </a:gs>
              <a:gs pos="100000">
                <a:srgbClr val="9F2A77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 txBox="1"/>
          <p:nvPr/>
        </p:nvSpPr>
        <p:spPr>
          <a:xfrm>
            <a:off x="1164865" y="1536916"/>
            <a:ext cx="10148711" cy="3970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Principales características de la distribución normal: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⮚"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 simétrica, por lo que su media y su mediana son iguales.</a:t>
            </a:r>
            <a:endParaRPr/>
          </a:p>
          <a:p>
            <a:pPr marL="2857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⮚"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la distribución normal le corresponde un media cero y una desviación típica o estándar de 1. La desviación típica o estándar indica la separación que existe entre un valor cualquiera de la muestra y la media.</a:t>
            </a:r>
            <a:endParaRPr/>
          </a:p>
          <a:p>
            <a:pPr marL="2857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⮚"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Tiene la apariencia de una campana.</a:t>
            </a:r>
            <a:endParaRPr/>
          </a:p>
          <a:p>
            <a:pPr marL="2857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⮚"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 una distribución normal, se puede determinar con exactitud qué porcentaje de los valores estará dentro de cualquier rango específico.</a:t>
            </a:r>
            <a:endParaRPr/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⮚"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Tiene un rango infinito, es decir, −∞ &lt; 𝑋 &lt; ∞.</a:t>
            </a:r>
            <a:endParaRPr/>
          </a:p>
        </p:txBody>
      </p:sp>
      <p:sp>
        <p:nvSpPr>
          <p:cNvPr id="247" name="Google Shape;247;p10"/>
          <p:cNvSpPr txBox="1"/>
          <p:nvPr/>
        </p:nvSpPr>
        <p:spPr>
          <a:xfrm>
            <a:off x="1164865" y="603063"/>
            <a:ext cx="10246085" cy="67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Características de la Distribución Normal</a:t>
            </a:r>
            <a:endParaRPr sz="32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"/>
          <p:cNvSpPr/>
          <p:nvPr/>
        </p:nvSpPr>
        <p:spPr>
          <a:xfrm>
            <a:off x="315900" y="1407719"/>
            <a:ext cx="11412900" cy="4164558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B1744"/>
              </a:gs>
              <a:gs pos="50000">
                <a:srgbClr val="852262"/>
              </a:gs>
              <a:gs pos="100000">
                <a:srgbClr val="9F2A77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6320307" y="1579750"/>
            <a:ext cx="5257800" cy="3785652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 txBox="1"/>
          <p:nvPr/>
        </p:nvSpPr>
        <p:spPr>
          <a:xfrm>
            <a:off x="595112" y="606532"/>
            <a:ext cx="10782300" cy="474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Función de Densidad de Probabilidad</a:t>
            </a:r>
            <a:endParaRPr sz="32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1"/>
          <p:cNvSpPr txBox="1"/>
          <p:nvPr/>
        </p:nvSpPr>
        <p:spPr>
          <a:xfrm>
            <a:off x="595111" y="1579750"/>
            <a:ext cx="5418874" cy="3293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</a:pPr>
            <a:r>
              <a:rPr lang="es-E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Una función de densidad de probabilidad es una función matemática que se utiliza para describir la distribución de probabilidad de una variable aleatoria continua. En otras palabras, </a:t>
            </a:r>
            <a:r>
              <a:rPr lang="es-ES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indica la probabilidad relativa de que una variable aleatoria tome un valor en un intervalo determinado</a:t>
            </a:r>
            <a:r>
              <a:rPr lang="es-E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ES"/>
          </a:p>
          <a:p>
            <a:pPr marL="285750" marR="0" lvl="0" indent="-1841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</a:pPr>
            <a:r>
              <a:rPr lang="es-E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función de densidad de probabilidad está definida para cada valor posible de la variable aleatoria y se integra sobre todo el rango de </a:t>
            </a:r>
            <a:r>
              <a:rPr lang="es-ES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valores para dar una probabilidad total de 1</a:t>
            </a:r>
            <a:r>
              <a:rPr lang="es-E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 Es importante tener en cuenta que la </a:t>
            </a:r>
            <a:r>
              <a:rPr lang="es-ES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Función de Densidad de Probabilidad </a:t>
            </a:r>
            <a:r>
              <a:rPr lang="es-E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da la probabilidad de un valor específico de la variable aleatoria, sino la probabilidad relativa de que la variable aleatoria tome un valor en un intervalo dado.</a:t>
            </a:r>
            <a:endParaRPr/>
          </a:p>
        </p:txBody>
      </p:sp>
      <p:pic>
        <p:nvPicPr>
          <p:cNvPr id="256" name="Google Shape;256;p11" descr="PPT - Random Variables PowerPoint Presentation, free download - ID:7233"/>
          <p:cNvPicPr preferRelativeResize="0"/>
          <p:nvPr/>
        </p:nvPicPr>
        <p:blipFill rotWithShape="1">
          <a:blip r:embed="rId3">
            <a:alphaModFix/>
          </a:blip>
          <a:srcRect t="5060" b="13370"/>
          <a:stretch/>
        </p:blipFill>
        <p:spPr>
          <a:xfrm>
            <a:off x="6445639" y="1953468"/>
            <a:ext cx="5007107" cy="306317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255738A5-2DA1-64A7-2EC5-3D6387D74071}"/>
              </a:ext>
            </a:extLst>
          </p:cNvPr>
          <p:cNvSpPr txBox="1"/>
          <p:nvPr/>
        </p:nvSpPr>
        <p:spPr>
          <a:xfrm>
            <a:off x="6648275" y="1922478"/>
            <a:ext cx="3152862" cy="307777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dirty="0"/>
              <a:t>Función de Densidad de Probabilidad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2"/>
          <p:cNvSpPr/>
          <p:nvPr/>
        </p:nvSpPr>
        <p:spPr>
          <a:xfrm>
            <a:off x="1416504" y="2442558"/>
            <a:ext cx="9591350" cy="3831789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8327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621600" y="1266825"/>
            <a:ext cx="10985100" cy="838200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B1744"/>
              </a:gs>
              <a:gs pos="50000">
                <a:srgbClr val="852262"/>
              </a:gs>
              <a:gs pos="100000">
                <a:srgbClr val="9F2A77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 txBox="1"/>
          <p:nvPr/>
        </p:nvSpPr>
        <p:spPr>
          <a:xfrm>
            <a:off x="1419225" y="545328"/>
            <a:ext cx="9944100" cy="582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Función de Densidad de Probabilidad Normal</a:t>
            </a:r>
            <a:endParaRPr sz="32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2"/>
          <p:cNvSpPr txBox="1"/>
          <p:nvPr/>
        </p:nvSpPr>
        <p:spPr>
          <a:xfrm>
            <a:off x="1419225" y="1347632"/>
            <a:ext cx="95821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 símbolo 𝑓(𝑋) se utiliza para representar una función de densidad de probabilidad</a:t>
            </a:r>
            <a:r>
              <a:rPr lang="es-E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 La función de densidad de probabilidad para la distribución normal está dada por</a:t>
            </a: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/>
          </a:p>
        </p:txBody>
      </p:sp>
      <p:sp>
        <p:nvSpPr>
          <p:cNvPr id="265" name="Google Shape;265;p12"/>
          <p:cNvSpPr txBox="1"/>
          <p:nvPr/>
        </p:nvSpPr>
        <p:spPr>
          <a:xfrm>
            <a:off x="4673873" y="2703238"/>
            <a:ext cx="3276295" cy="81458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266" name="Google Shape;266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58514" y="3788772"/>
            <a:ext cx="5657849" cy="2220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3"/>
          <p:cNvSpPr/>
          <p:nvPr/>
        </p:nvSpPr>
        <p:spPr>
          <a:xfrm>
            <a:off x="352425" y="1457324"/>
            <a:ext cx="11553825" cy="4152901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B1744"/>
              </a:gs>
              <a:gs pos="50000">
                <a:srgbClr val="852262"/>
              </a:gs>
              <a:gs pos="100000">
                <a:srgbClr val="9F2A77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 txBox="1"/>
          <p:nvPr/>
        </p:nvSpPr>
        <p:spPr>
          <a:xfrm>
            <a:off x="723900" y="808340"/>
            <a:ext cx="10782300" cy="499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Cálculo de Probabilidades con la Distribución Normal</a:t>
            </a:r>
            <a:endParaRPr sz="32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3"/>
          <p:cNvSpPr txBox="1"/>
          <p:nvPr/>
        </p:nvSpPr>
        <p:spPr>
          <a:xfrm>
            <a:off x="723900" y="1701242"/>
            <a:ext cx="107823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Para calcular probabilidades con la distribución normal, primero se convierte la variable aleatoria distribuida normalmente, 𝑋, en una </a:t>
            </a:r>
            <a:r>
              <a:rPr lang="es-E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variable aleatoria normal estándar</a:t>
            </a: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𝑍, utilizando la siguiente fórmula de transformación: </a:t>
            </a:r>
            <a:endParaRPr/>
          </a:p>
        </p:txBody>
      </p:sp>
      <p:sp>
        <p:nvSpPr>
          <p:cNvPr id="274" name="Google Shape;274;p13"/>
          <p:cNvSpPr txBox="1"/>
          <p:nvPr/>
        </p:nvSpPr>
        <p:spPr>
          <a:xfrm>
            <a:off x="723900" y="4680102"/>
            <a:ext cx="1089660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aplicación de esta fórmula permite la búsqueda de valores en una tabla de probabilidades de la normal para evitar los cálculos tediosos y complejos que exige la definición de la normal.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2528900" y="2802300"/>
            <a:ext cx="7362900" cy="1324800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 txBox="1"/>
          <p:nvPr/>
        </p:nvSpPr>
        <p:spPr>
          <a:xfrm>
            <a:off x="4845423" y="3126987"/>
            <a:ext cx="2729754" cy="69140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4"/>
          <p:cNvSpPr/>
          <p:nvPr/>
        </p:nvSpPr>
        <p:spPr>
          <a:xfrm>
            <a:off x="1247775" y="1333500"/>
            <a:ext cx="9791700" cy="5010150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4"/>
          <p:cNvSpPr txBox="1"/>
          <p:nvPr/>
        </p:nvSpPr>
        <p:spPr>
          <a:xfrm>
            <a:off x="1152525" y="203948"/>
            <a:ext cx="9886950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Cálculo de Probabilidades con la Distribución Normal</a:t>
            </a:r>
            <a:endParaRPr sz="3200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3" name="Google Shape;283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40172" y="1576480"/>
            <a:ext cx="8111656" cy="45706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5"/>
          <p:cNvSpPr/>
          <p:nvPr/>
        </p:nvSpPr>
        <p:spPr>
          <a:xfrm>
            <a:off x="2105156" y="2628522"/>
            <a:ext cx="7981686" cy="3543677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8327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5"/>
          <p:cNvSpPr/>
          <p:nvPr/>
        </p:nvSpPr>
        <p:spPr>
          <a:xfrm>
            <a:off x="457200" y="1229827"/>
            <a:ext cx="11277600" cy="1140189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B1744"/>
              </a:gs>
              <a:gs pos="50000">
                <a:srgbClr val="852262"/>
              </a:gs>
              <a:gs pos="100000">
                <a:srgbClr val="9F2A77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5"/>
          <p:cNvSpPr txBox="1"/>
          <p:nvPr/>
        </p:nvSpPr>
        <p:spPr>
          <a:xfrm>
            <a:off x="1276350" y="518089"/>
            <a:ext cx="10210800" cy="606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Ejemplo 1 </a:t>
            </a:r>
            <a:endParaRPr sz="32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5"/>
          <p:cNvSpPr txBox="1"/>
          <p:nvPr/>
        </p:nvSpPr>
        <p:spPr>
          <a:xfrm>
            <a:off x="1276350" y="1341858"/>
            <a:ext cx="97917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Supongamos que la puntuación en un examen de matemáticas sigue una distribución normal con una </a:t>
            </a:r>
            <a:r>
              <a:rPr lang="es-E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media de 75</a:t>
            </a: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y una </a:t>
            </a:r>
            <a:r>
              <a:rPr lang="es-E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desviación estándar de 10</a:t>
            </a: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 Queremos calcular la probabilidad de obtener una </a:t>
            </a:r>
            <a:r>
              <a:rPr lang="es-E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puntuación mayor o igual a 85</a:t>
            </a: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en el examen (considere que las notas van de 0 a 100).</a:t>
            </a:r>
            <a:endParaRPr/>
          </a:p>
        </p:txBody>
      </p:sp>
      <p:pic>
        <p:nvPicPr>
          <p:cNvPr id="292" name="Google Shape;292;p15" descr="¿Cuáles son los pasos a seguir para calcular la nota de la EvAU ..."/>
          <p:cNvPicPr preferRelativeResize="0"/>
          <p:nvPr/>
        </p:nvPicPr>
        <p:blipFill rotWithShape="1">
          <a:blip r:embed="rId3">
            <a:alphaModFix/>
          </a:blip>
          <a:srcRect t="24820" b="5697"/>
          <a:stretch/>
        </p:blipFill>
        <p:spPr>
          <a:xfrm>
            <a:off x="2279176" y="2798559"/>
            <a:ext cx="7633647" cy="3182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"/>
          <p:cNvSpPr/>
          <p:nvPr/>
        </p:nvSpPr>
        <p:spPr>
          <a:xfrm>
            <a:off x="799564" y="1125053"/>
            <a:ext cx="10687586" cy="5196730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8327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6"/>
          <p:cNvSpPr txBox="1"/>
          <p:nvPr/>
        </p:nvSpPr>
        <p:spPr>
          <a:xfrm>
            <a:off x="799564" y="221765"/>
            <a:ext cx="10687586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Ejemplo 1 </a:t>
            </a:r>
            <a:endParaRPr sz="32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6"/>
          <p:cNvSpPr txBox="1"/>
          <p:nvPr/>
        </p:nvSpPr>
        <p:spPr>
          <a:xfrm>
            <a:off x="1083973" y="1346818"/>
            <a:ext cx="1025877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Para hacer esto, primero estandarizamos la variable aleatoria utilizando la fórmula de estandarización para la distribución normal:</a:t>
            </a:r>
            <a:endParaRPr sz="18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6"/>
          <p:cNvSpPr txBox="1"/>
          <p:nvPr/>
        </p:nvSpPr>
        <p:spPr>
          <a:xfrm>
            <a:off x="4659272" y="2256118"/>
            <a:ext cx="2729754" cy="69140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01" name="Google Shape;301;p16"/>
          <p:cNvSpPr txBox="1"/>
          <p:nvPr/>
        </p:nvSpPr>
        <p:spPr>
          <a:xfrm>
            <a:off x="1164949" y="3268834"/>
            <a:ext cx="8997245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Donde: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s-ES" sz="1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= la puntuación en el examen que queremos evaluar (en este caso, 85)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μ</a:t>
            </a:r>
            <a:r>
              <a:rPr lang="es-ES" sz="1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= la media de la distribución normal (75)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σ</a:t>
            </a:r>
            <a:r>
              <a:rPr lang="es-ES" sz="1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= la desviación estándar de la distribución normal (10)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Entonces, sustituimos los valores conocidos:</a:t>
            </a:r>
            <a:endParaRPr sz="18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6"/>
          <p:cNvSpPr txBox="1"/>
          <p:nvPr/>
        </p:nvSpPr>
        <p:spPr>
          <a:xfrm>
            <a:off x="4848485" y="5176799"/>
            <a:ext cx="2729754" cy="58451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7"/>
          <p:cNvSpPr/>
          <p:nvPr/>
        </p:nvSpPr>
        <p:spPr>
          <a:xfrm>
            <a:off x="486575" y="2007475"/>
            <a:ext cx="11178900" cy="3006300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B1744"/>
              </a:gs>
              <a:gs pos="50000">
                <a:srgbClr val="852262"/>
              </a:gs>
              <a:gs pos="100000">
                <a:srgbClr val="9F2A77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7"/>
          <p:cNvSpPr txBox="1"/>
          <p:nvPr/>
        </p:nvSpPr>
        <p:spPr>
          <a:xfrm>
            <a:off x="1026026" y="1298565"/>
            <a:ext cx="107823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Ejemplo 1 </a:t>
            </a:r>
            <a:endParaRPr sz="32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7"/>
          <p:cNvSpPr txBox="1"/>
          <p:nvPr/>
        </p:nvSpPr>
        <p:spPr>
          <a:xfrm>
            <a:off x="1066801" y="2380132"/>
            <a:ext cx="10001250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Una vez que hemos estandarizado la variable aleatoria, podemos buscar la probabilidad correspondiente en la tabla de distribución normal estándar o utilizar una calculadora que nos proporcione esta información (o bien consultar una librería estadística en Python).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probabilidad de que Z sea mayor o igual a 1 es de aproximadamente 0.1587.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Por lo tanto, la </a:t>
            </a:r>
            <a:r>
              <a:rPr lang="es-E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probabilidad de obtener una puntuación mayor o igual a 85 en el examen es de aproximadamente 0.1587 o 15.87%.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8"/>
          <p:cNvSpPr/>
          <p:nvPr/>
        </p:nvSpPr>
        <p:spPr>
          <a:xfrm>
            <a:off x="1543048" y="1877932"/>
            <a:ext cx="9105902" cy="4246643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8327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-153692" y="1119241"/>
            <a:ext cx="12534900" cy="461665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B1744"/>
              </a:gs>
              <a:gs pos="50000">
                <a:srgbClr val="852262"/>
              </a:gs>
              <a:gs pos="100000">
                <a:srgbClr val="9F2A77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8"/>
          <p:cNvSpPr txBox="1"/>
          <p:nvPr/>
        </p:nvSpPr>
        <p:spPr>
          <a:xfrm>
            <a:off x="1543048" y="302337"/>
            <a:ext cx="10648952" cy="597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Ejemplo 1 </a:t>
            </a:r>
            <a:endParaRPr sz="32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8"/>
          <p:cNvSpPr txBox="1"/>
          <p:nvPr/>
        </p:nvSpPr>
        <p:spPr>
          <a:xfrm>
            <a:off x="1409699" y="1119241"/>
            <a:ext cx="923925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Implementación en Python</a:t>
            </a:r>
            <a:endParaRPr/>
          </a:p>
        </p:txBody>
      </p:sp>
      <p:pic>
        <p:nvPicPr>
          <p:cNvPr id="318" name="Google Shape;31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52018" y="3561629"/>
            <a:ext cx="8487960" cy="2389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52018" y="2046943"/>
            <a:ext cx="8487960" cy="1514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9"/>
          <p:cNvSpPr/>
          <p:nvPr/>
        </p:nvSpPr>
        <p:spPr>
          <a:xfrm>
            <a:off x="516618" y="895093"/>
            <a:ext cx="11205028" cy="5466018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8327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9"/>
          <p:cNvSpPr txBox="1"/>
          <p:nvPr/>
        </p:nvSpPr>
        <p:spPr>
          <a:xfrm>
            <a:off x="704850" y="221765"/>
            <a:ext cx="10782300" cy="579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Ejemplo 1 </a:t>
            </a:r>
            <a:endParaRPr sz="32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9"/>
          <p:cNvSpPr txBox="1"/>
          <p:nvPr/>
        </p:nvSpPr>
        <p:spPr>
          <a:xfrm>
            <a:off x="904875" y="987589"/>
            <a:ext cx="4810125" cy="369332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Visualización</a:t>
            </a:r>
            <a:endParaRPr/>
          </a:p>
        </p:txBody>
      </p:sp>
      <p:pic>
        <p:nvPicPr>
          <p:cNvPr id="327" name="Google Shape;327;p19"/>
          <p:cNvPicPr preferRelativeResize="0"/>
          <p:nvPr/>
        </p:nvPicPr>
        <p:blipFill rotWithShape="1">
          <a:blip r:embed="rId3">
            <a:alphaModFix/>
          </a:blip>
          <a:srcRect r="44344"/>
          <a:stretch/>
        </p:blipFill>
        <p:spPr>
          <a:xfrm>
            <a:off x="858398" y="1449416"/>
            <a:ext cx="4856602" cy="447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31112" y="1611966"/>
            <a:ext cx="5572125" cy="4314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9" name="Google Shape;329;p19"/>
          <p:cNvCxnSpPr/>
          <p:nvPr/>
        </p:nvCxnSpPr>
        <p:spPr>
          <a:xfrm rot="10800000" flipH="1">
            <a:off x="8096249" y="4744811"/>
            <a:ext cx="1584000" cy="110353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30" name="Google Shape;330;p19"/>
          <p:cNvSpPr txBox="1"/>
          <p:nvPr/>
        </p:nvSpPr>
        <p:spPr>
          <a:xfrm>
            <a:off x="6572709" y="5984266"/>
            <a:ext cx="3477679" cy="307777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área representa la probabilidad de 15.87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0"/>
          <p:cNvSpPr/>
          <p:nvPr/>
        </p:nvSpPr>
        <p:spPr>
          <a:xfrm>
            <a:off x="2571750" y="2628900"/>
            <a:ext cx="7324725" cy="3698984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8327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0"/>
          <p:cNvSpPr/>
          <p:nvPr/>
        </p:nvSpPr>
        <p:spPr>
          <a:xfrm>
            <a:off x="457200" y="1229827"/>
            <a:ext cx="11277600" cy="1140189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B1744"/>
              </a:gs>
              <a:gs pos="50000">
                <a:srgbClr val="852262"/>
              </a:gs>
              <a:gs pos="100000">
                <a:srgbClr val="9F2A77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0"/>
          <p:cNvSpPr txBox="1"/>
          <p:nvPr/>
        </p:nvSpPr>
        <p:spPr>
          <a:xfrm>
            <a:off x="704850" y="221765"/>
            <a:ext cx="10782300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Ejemplo 2 </a:t>
            </a:r>
            <a:endParaRPr sz="32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0"/>
          <p:cNvSpPr txBox="1"/>
          <p:nvPr/>
        </p:nvSpPr>
        <p:spPr>
          <a:xfrm>
            <a:off x="704851" y="1360908"/>
            <a:ext cx="107823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Supongamos que la altura de una población de hombres adultos sigue una distribución normal con una media de 175 cm y una desviación estándar de 7 cm. Queremos calcular la probabilidad de que un hombre adulto seleccionado al azar tenga una altura entre 170 cm y 180 cm.</a:t>
            </a:r>
            <a:endParaRPr/>
          </a:p>
        </p:txBody>
      </p:sp>
      <p:pic>
        <p:nvPicPr>
          <p:cNvPr id="339" name="Google Shape;339;p20" descr="La altura importa: Por qué las personas de baja estatura están en mayor ..."/>
          <p:cNvPicPr preferRelativeResize="0"/>
          <p:nvPr/>
        </p:nvPicPr>
        <p:blipFill rotWithShape="1">
          <a:blip r:embed="rId3">
            <a:alphaModFix/>
          </a:blip>
          <a:srcRect r="1792"/>
          <a:stretch/>
        </p:blipFill>
        <p:spPr>
          <a:xfrm>
            <a:off x="3685978" y="2740586"/>
            <a:ext cx="5030575" cy="3418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1"/>
          <p:cNvSpPr/>
          <p:nvPr/>
        </p:nvSpPr>
        <p:spPr>
          <a:xfrm>
            <a:off x="493485" y="1229827"/>
            <a:ext cx="11263085" cy="5155207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8327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1"/>
          <p:cNvSpPr txBox="1"/>
          <p:nvPr/>
        </p:nvSpPr>
        <p:spPr>
          <a:xfrm>
            <a:off x="493485" y="469179"/>
            <a:ext cx="10993665" cy="602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Ejemplo 2 </a:t>
            </a:r>
            <a:endParaRPr sz="32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1"/>
          <p:cNvSpPr txBox="1"/>
          <p:nvPr/>
        </p:nvSpPr>
        <p:spPr>
          <a:xfrm>
            <a:off x="966611" y="1451593"/>
            <a:ext cx="1025877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Para hacer esto, primero estandarizamos las dos puntuaciones de altura utilizando la fórmula de estandarización para la distribución normal:</a:t>
            </a:r>
            <a:endParaRPr/>
          </a:p>
        </p:txBody>
      </p:sp>
      <p:sp>
        <p:nvSpPr>
          <p:cNvPr id="347" name="Google Shape;347;p21"/>
          <p:cNvSpPr txBox="1"/>
          <p:nvPr/>
        </p:nvSpPr>
        <p:spPr>
          <a:xfrm>
            <a:off x="2418421" y="2557121"/>
            <a:ext cx="3378313" cy="58336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48" name="Google Shape;348;p21"/>
          <p:cNvSpPr txBox="1"/>
          <p:nvPr/>
        </p:nvSpPr>
        <p:spPr>
          <a:xfrm>
            <a:off x="6224411" y="2557120"/>
            <a:ext cx="3378313" cy="58336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49" name="Google Shape;349;p21"/>
          <p:cNvSpPr txBox="1"/>
          <p:nvPr/>
        </p:nvSpPr>
        <p:spPr>
          <a:xfrm>
            <a:off x="997614" y="3730312"/>
            <a:ext cx="10258778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Una vez que hemos estandarizado ambas variables aleatorias, podemos buscar las probabilidades correspondientes en la tabla de distribución normal estándar o programar unas líneas de código en Python.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En este caso, queremos encontrar la probabilidad de que Z1 sea mayor o igual a -0.71 y Z2 sea menor o igual a 0.71, lo que representa el área debajo de la curva de la distribución normal entre estas dos puntuaciones.</a:t>
            </a:r>
            <a:endParaRPr/>
          </a:p>
        </p:txBody>
      </p:sp>
      <p:sp>
        <p:nvSpPr>
          <p:cNvPr id="350" name="Google Shape;350;p21"/>
          <p:cNvSpPr txBox="1"/>
          <p:nvPr/>
        </p:nvSpPr>
        <p:spPr>
          <a:xfrm>
            <a:off x="3227774" y="5612800"/>
            <a:ext cx="5794506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333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2"/>
          <p:cNvSpPr/>
          <p:nvPr/>
        </p:nvSpPr>
        <p:spPr>
          <a:xfrm>
            <a:off x="6572250" y="1997506"/>
            <a:ext cx="5372099" cy="3205520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B1744"/>
              </a:gs>
              <a:gs pos="50000">
                <a:srgbClr val="852262"/>
              </a:gs>
              <a:gs pos="100000">
                <a:srgbClr val="9F2A77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2"/>
          <p:cNvSpPr/>
          <p:nvPr/>
        </p:nvSpPr>
        <p:spPr>
          <a:xfrm>
            <a:off x="310452" y="1341530"/>
            <a:ext cx="5976049" cy="4630646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8327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2"/>
          <p:cNvSpPr txBox="1"/>
          <p:nvPr/>
        </p:nvSpPr>
        <p:spPr>
          <a:xfrm>
            <a:off x="487616" y="694156"/>
            <a:ext cx="10605135" cy="511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Ejemplo 2 </a:t>
            </a:r>
            <a:endParaRPr sz="32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2"/>
          <p:cNvSpPr txBox="1"/>
          <p:nvPr/>
        </p:nvSpPr>
        <p:spPr>
          <a:xfrm>
            <a:off x="6877051" y="2178187"/>
            <a:ext cx="4781549" cy="34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Podemos encontrar estas probabilidades en la tabla de distribución normal estándar o utilizar una calculadora de probabilidad. En este caso, la probabilidad es aproximadamente 0.5328 o 53.28%.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Por lo tanto, la probabilidad de que un hombre adulto seleccionado al azar tenga una altura entre 170 cm y 180 cm es de aproximadamente 0.5328 o 53.28%.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9" name="Google Shape;359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7617" y="1480953"/>
            <a:ext cx="5486400" cy="431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3"/>
          <p:cNvSpPr/>
          <p:nvPr/>
        </p:nvSpPr>
        <p:spPr>
          <a:xfrm>
            <a:off x="-749030" y="3132234"/>
            <a:ext cx="7964307" cy="894946"/>
          </a:xfrm>
          <a:prstGeom prst="roundRect">
            <a:avLst>
              <a:gd name="adj" fmla="val 2778"/>
            </a:avLst>
          </a:prstGeom>
          <a:gradFill>
            <a:gsLst>
              <a:gs pos="0">
                <a:srgbClr val="451539"/>
              </a:gs>
              <a:gs pos="50000">
                <a:srgbClr val="641F53"/>
              </a:gs>
              <a:gs pos="100000">
                <a:srgbClr val="782663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3"/>
          <p:cNvSpPr txBox="1"/>
          <p:nvPr/>
        </p:nvSpPr>
        <p:spPr>
          <a:xfrm>
            <a:off x="2768633" y="2835053"/>
            <a:ext cx="4446644" cy="1489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s-ES" sz="3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Dudas y consultas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4"/>
          <p:cNvSpPr txBox="1"/>
          <p:nvPr/>
        </p:nvSpPr>
        <p:spPr>
          <a:xfrm>
            <a:off x="462603" y="2924969"/>
            <a:ext cx="10782300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600"/>
              <a:buFont typeface="Arial"/>
              <a:buNone/>
            </a:pPr>
            <a:r>
              <a:rPr lang="es-ES" sz="3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Fin presentación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1248</Words>
  <Application>Microsoft Office PowerPoint</Application>
  <PresentationFormat>Panorámica</PresentationFormat>
  <Paragraphs>115</Paragraphs>
  <Slides>24</Slides>
  <Notes>24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diapositiva</vt:lpstr>
      </vt:variant>
      <vt:variant>
        <vt:i4>24</vt:i4>
      </vt:variant>
    </vt:vector>
  </HeadingPairs>
  <TitlesOfParts>
    <vt:vector size="26" baseType="lpstr">
      <vt:lpstr>Tema de Office</vt:lpstr>
      <vt:lpstr>1_Tema de Office</vt:lpstr>
      <vt:lpstr> Distribución de Probabilidad Continua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Distribución de Probabilidad Continua</dc:title>
  <dc:creator>Kibernum</dc:creator>
  <cp:lastModifiedBy>kibernum</cp:lastModifiedBy>
  <cp:revision>30</cp:revision>
  <dcterms:created xsi:type="dcterms:W3CDTF">2023-01-03T12:28:26Z</dcterms:created>
  <dcterms:modified xsi:type="dcterms:W3CDTF">2025-09-26T11:49:16Z</dcterms:modified>
</cp:coreProperties>
</file>