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ostgresql.org/docs/" TargetMode="External"/><Relationship Id="rId2" Type="http://schemas.openxmlformats.org/officeDocument/2006/relationships/hyperlink" Target="https://www.pgadmin.org/docs/" TargetMode="External"/><Relationship Id="rId3" Type="http://schemas.openxmlformats.org/officeDocument/2006/relationships/slideLayout" Target="../slideLayouts/slideLayout16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8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9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2319" y="2637830"/>
            <a:ext cx="7772162" cy="126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Lenguaje Estructurado de Consultas a Bases de Datos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172319" y="4155877"/>
            <a:ext cx="77721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Módulo: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Lenguaje Estructurado de Consultas a Bases de Datos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172319" y="4520208"/>
            <a:ext cx="77721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Aprendizaje N°2: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Manipular la información de una tabla utilizando el lenguaje SQL para dar solución a un requerimiento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72319" y="5055989"/>
            <a:ext cx="77721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Duración estimada: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4 horas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172319" y="5420320"/>
            <a:ext cx="77721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Modalidad: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E-learning asincrónico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2139315"/>
            <a:ext cx="5043964" cy="6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INICIO DE CLASE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685919" y="3026926"/>
            <a:ext cx="8176617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Preguntas de activación (tipo provocación):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85919" y="3788450"/>
            <a:ext cx="385763" cy="385763"/>
          </a:xfrm>
          <a:prstGeom prst="roundRect">
            <a:avLst>
              <a:gd name="adj" fmla="val 2370"/>
            </a:avLst>
          </a:prstGeom>
          <a:solidFill>
            <a:srgbClr val="01424C">
              <a:alpha val="50000"/>
            </a:srgbClr>
          </a:solidFill>
          <a:ln w="15240">
            <a:solidFill>
              <a:srgbClr val="1A5B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7531" y="3792200"/>
            <a:ext cx="302538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1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1243132" y="3820597"/>
            <a:ext cx="3719393" cy="189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¿Qué riesgos existen al modificar o eliminar datos directamente en una base de datos sin precauciones?</a:t>
            </a:r>
            <a:endParaRPr lang="en-US" sz="2350" dirty="0"/>
          </a:p>
        </p:txBody>
      </p:sp>
      <p:sp>
        <p:nvSpPr>
          <p:cNvPr id="7" name="Shape 5"/>
          <p:cNvSpPr/>
          <p:nvPr/>
        </p:nvSpPr>
        <p:spPr>
          <a:xfrm>
            <a:off x="5176838" y="3788450"/>
            <a:ext cx="385763" cy="385763"/>
          </a:xfrm>
          <a:prstGeom prst="roundRect">
            <a:avLst>
              <a:gd name="adj" fmla="val 2370"/>
            </a:avLst>
          </a:prstGeom>
          <a:solidFill>
            <a:srgbClr val="282828">
              <a:alpha val="50000"/>
            </a:srgbClr>
          </a:solidFill>
          <a:ln w="15240">
            <a:solidFill>
              <a:srgbClr val="4141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8450" y="3792200"/>
            <a:ext cx="302538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2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734050" y="3820597"/>
            <a:ext cx="3719393" cy="189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¿Por qué crees que una tabla puede tener una columna que indique si un registro está activo o no, en lugar de eliminarlo?</a:t>
            </a:r>
            <a:endParaRPr lang="en-US" sz="2350" dirty="0"/>
          </a:p>
        </p:txBody>
      </p:sp>
      <p:sp>
        <p:nvSpPr>
          <p:cNvPr id="10" name="Shape 8"/>
          <p:cNvSpPr/>
          <p:nvPr/>
        </p:nvSpPr>
        <p:spPr>
          <a:xfrm>
            <a:off x="9667756" y="3788450"/>
            <a:ext cx="385763" cy="385763"/>
          </a:xfrm>
          <a:prstGeom prst="roundRect">
            <a:avLst>
              <a:gd name="adj" fmla="val 2370"/>
            </a:avLst>
          </a:prstGeom>
          <a:solidFill>
            <a:srgbClr val="CADCD8">
              <a:alpha val="50000"/>
            </a:srgbClr>
          </a:solidFill>
          <a:ln w="15240">
            <a:solidFill>
              <a:srgbClr val="B0C2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09368" y="3792200"/>
            <a:ext cx="302538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3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10224968" y="3820597"/>
            <a:ext cx="3719512" cy="2269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¿Has trabajado alguna vez con archivos CSV? ¿Sabías que puedes cargarlos directamente en una base de datos sin escribir código?</a:t>
            </a:r>
            <a:endParaRPr lang="en-US" sz="2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2357914"/>
            <a:ext cx="4148018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Introducción temática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85919" y="3205163"/>
            <a:ext cx="132585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 esta clase aprenderemos a realizar manipulación directa de los registros de una base de datos en PostgreSQL usando SQL. Este aprendizaje es esencial para cualquier rol que implique la administración, depuración o actualización de datos, desde analistas hasta desarrolladores.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919" y="3740944"/>
            <a:ext cx="132585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Manipular registros implica insertar nuevos datos, actualizarlos cuando cambian, y eliminarlos cuando ya no son relevantes. Sin embargo, estas operaciones deben realizarse con conocimiento de las consecuencias, especialmente en ambientes de producción donde se trabaja con datos reales y críticos.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919" y="4276725"/>
            <a:ext cx="132585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clase tendrá un enfoque práctico: usarás pgAdmin como entorno de trabajo y aprenderás a manipular datos mediante comandos SQL. Veremos también cómo importar registros desde un archivo CSV, una operación común en flujos de trabajo con grandes volúmenes de datos.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919" y="4812506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Esta competencia se conecta directamente con disciplinas como la ingeniería de datos, la auditoría de sistemas y la gestión de la información en entornos empresariales.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919" y="5241131"/>
            <a:ext cx="7125533" cy="6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DESARROLLO DEL CONTENIDO</a:t>
            </a:r>
            <a:endParaRPr lang="en-US" sz="3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1047155"/>
            <a:ext cx="8817173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1. PostgreSQL y pgAdmin: el entorno de trabajo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85919" y="1898690"/>
            <a:ext cx="77877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PostgreSQL es un sistema gestor de bases de datos robusto, mientras que pgAdmin es una interfaz visual que permite trabajar con él de forma más intuitiva.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919" y="2434471"/>
            <a:ext cx="7787759" cy="797243"/>
          </a:xfrm>
          <a:prstGeom prst="roundRect">
            <a:avLst>
              <a:gd name="adj" fmla="val 1147"/>
            </a:avLst>
          </a:prstGeom>
          <a:solidFill>
            <a:srgbClr val="B3F4F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369" y="2648783"/>
            <a:ext cx="214313" cy="171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3132" y="2648783"/>
            <a:ext cx="70590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 práctico: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Una empresa de logística usa pgAdmin para visualizar y modificar rápidamente la base de datos de sus repartidores sin necesidad de acceder vía comandos.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684" y="1937266"/>
            <a:ext cx="5052298" cy="50522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2768798"/>
            <a:ext cx="6542484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2. Conectarse a una base de datos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85919" y="3616047"/>
            <a:ext cx="6543556" cy="1025962"/>
          </a:xfrm>
          <a:prstGeom prst="roundRect">
            <a:avLst>
              <a:gd name="adj" fmla="val 891"/>
            </a:avLst>
          </a:prstGeom>
          <a:solidFill>
            <a:srgbClr val="01424C">
              <a:alpha val="50000"/>
            </a:srgbClr>
          </a:solidFill>
          <a:ln w="15240">
            <a:solidFill>
              <a:srgbClr val="1A5B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2609" y="3802737"/>
            <a:ext cx="3026331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Desde consola psql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872609" y="4283869"/>
            <a:ext cx="617017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Conexión directa mediante línea de comandos para usuarios avanzados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00925" y="3616047"/>
            <a:ext cx="6543556" cy="1025962"/>
          </a:xfrm>
          <a:prstGeom prst="roundRect">
            <a:avLst>
              <a:gd name="adj" fmla="val 891"/>
            </a:avLst>
          </a:prstGeom>
          <a:solidFill>
            <a:srgbClr val="282828">
              <a:alpha val="50000"/>
            </a:srgbClr>
          </a:solidFill>
          <a:ln w="15240">
            <a:solidFill>
              <a:srgbClr val="4141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7615" y="3802737"/>
            <a:ext cx="3026331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Desde pgAdmin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7587615" y="4283869"/>
            <a:ext cx="617017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Interfaz gráfica intuitiva para gestión visual de bases de datos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919" y="4834890"/>
            <a:ext cx="13258562" cy="625793"/>
          </a:xfrm>
          <a:prstGeom prst="roundRect">
            <a:avLst>
              <a:gd name="adj" fmla="val 1461"/>
            </a:avLst>
          </a:prstGeom>
          <a:solidFill>
            <a:srgbClr val="B3F4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369" y="5049203"/>
            <a:ext cx="214313" cy="1714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43132" y="5049203"/>
            <a:ext cx="125298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 práctico: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Un analista de datos se conecta desde pgAdmin a una base PostgreSQL para ejecutar consultas sobre ventas y preparar reportes semanales.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919" y="2828211"/>
            <a:ext cx="7772162" cy="100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3. Crear una base de datos y gestionar permisos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85919" y="4008358"/>
            <a:ext cx="77721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1350" b="1" dirty="0">
                <a:solidFill>
                  <a:srgbClr val="01424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CREATE DATABASE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y </a:t>
            </a:r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1424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CREATE ROLE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85919" y="4239816"/>
            <a:ext cx="77721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1350" b="1" dirty="0">
                <a:solidFill>
                  <a:srgbClr val="01424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GRANT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para asignar permisos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85919" y="4604147"/>
            <a:ext cx="7772162" cy="797243"/>
          </a:xfrm>
          <a:prstGeom prst="roundRect">
            <a:avLst>
              <a:gd name="adj" fmla="val 1147"/>
            </a:avLst>
          </a:prstGeom>
          <a:solidFill>
            <a:srgbClr val="B3F4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69" y="4818459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3132" y="4818459"/>
            <a:ext cx="70434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 práctico: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En una institución educativa, el administrador crea una base de datos para registrar notas y permisos diferenciados para profesores y alumnos.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2707005"/>
            <a:ext cx="9237107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4. Creación de tablas: definiciones y restricciones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85919" y="3554254"/>
            <a:ext cx="4305181" cy="1149548"/>
          </a:xfrm>
          <a:prstGeom prst="roundRect">
            <a:avLst>
              <a:gd name="adj" fmla="val 795"/>
            </a:avLst>
          </a:prstGeom>
          <a:solidFill>
            <a:srgbClr val="FFFFFF"/>
          </a:solidFill>
          <a:ln w="22860">
            <a:solidFill>
              <a:srgbClr val="0142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0229" y="3748564"/>
            <a:ext cx="2637353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Sintaxis CREATE TABLE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80229" y="4166592"/>
            <a:ext cx="39165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Estructura básica para definir nuevas tablas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162550" y="3554254"/>
            <a:ext cx="4305181" cy="1149548"/>
          </a:xfrm>
          <a:prstGeom prst="roundRect">
            <a:avLst>
              <a:gd name="adj" fmla="val 795"/>
            </a:avLst>
          </a:prstGeom>
          <a:solidFill>
            <a:srgbClr val="FFFFFF"/>
          </a:solidFill>
          <a:ln w="22860">
            <a:solidFill>
              <a:srgbClr val="28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56860" y="3748564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Tipos de datos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356860" y="4166592"/>
            <a:ext cx="39165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VARCHAR, NUMERIC, DATE, BOOLEAN, etc.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39181" y="3554254"/>
            <a:ext cx="4305300" cy="1149548"/>
          </a:xfrm>
          <a:prstGeom prst="roundRect">
            <a:avLst>
              <a:gd name="adj" fmla="val 795"/>
            </a:avLst>
          </a:prstGeom>
          <a:solidFill>
            <a:srgbClr val="FFFFFF"/>
          </a:solidFill>
          <a:ln w="22860">
            <a:solidFill>
              <a:srgbClr val="CADC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33491" y="3748564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Restricciones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33491" y="4166592"/>
            <a:ext cx="3916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Claves primarias, foráneas, NOT NULL, UNIQUE, CHECK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919" y="4896683"/>
            <a:ext cx="13258562" cy="625793"/>
          </a:xfrm>
          <a:prstGeom prst="roundRect">
            <a:avLst>
              <a:gd name="adj" fmla="val 1461"/>
            </a:avLst>
          </a:prstGeom>
          <a:solidFill>
            <a:srgbClr val="B3F4FE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369" y="5110996"/>
            <a:ext cx="214313" cy="1714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43132" y="5110996"/>
            <a:ext cx="125298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 práctico: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En una base de datos de clientes, se asegura que el correo electrónico sea único y que el monto de compra sea mayor a cero.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8536" y="459581"/>
            <a:ext cx="5923359" cy="49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5. Insertar registros en una tabla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8536" y="1306116"/>
            <a:ext cx="3096697" cy="368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Comando INSERT INTO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68536" y="1841897"/>
            <a:ext cx="6442829" cy="167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30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Inserciones múltiples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8536" y="2067520"/>
            <a:ext cx="6442829" cy="167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•"/>
            </a:pPr>
            <a:r>
              <a:rPr lang="en-US" sz="130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Buenas prácticas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8536" y="2422684"/>
            <a:ext cx="6442829" cy="776883"/>
          </a:xfrm>
          <a:prstGeom prst="roundRect">
            <a:avLst>
              <a:gd name="adj" fmla="val 1177"/>
            </a:avLst>
          </a:prstGeom>
          <a:solidFill>
            <a:srgbClr val="B3F4F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81" y="2631400"/>
            <a:ext cx="208836" cy="1670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1461" y="2631400"/>
            <a:ext cx="5732859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 práctico:</a:t>
            </a:r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Un operador ingresa nuevos productos al sistema mediante un formulario, lo que internamente ejecuta sentencias INSERT INTO.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655" y="1327071"/>
            <a:ext cx="6442829" cy="64428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2722721"/>
            <a:ext cx="5498544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6. Carga de datos desde CSV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85919" y="3569970"/>
            <a:ext cx="171450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Gilroy-ExtraBoldItalic Light" pitchFamily="34" charset="0"/>
                <a:ea typeface="Gilroy-ExtraBoldItalic Light" pitchFamily="34" charset="-122"/>
                <a:cs typeface="Gilroy-ExtraBoldItalic Light" pitchFamily="34" charset="-120"/>
              </a:rPr>
              <a:t>01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919" y="3838575"/>
            <a:ext cx="4305181" cy="22860"/>
          </a:xfrm>
          <a:prstGeom prst="rect">
            <a:avLst/>
          </a:prstGeom>
          <a:solidFill>
            <a:srgbClr val="01424C"/>
          </a:solidFill>
          <a:ln/>
        </p:spPr>
      </p:sp>
      <p:sp>
        <p:nvSpPr>
          <p:cNvPr id="5" name="Text 3"/>
          <p:cNvSpPr/>
          <p:nvPr/>
        </p:nvSpPr>
        <p:spPr>
          <a:xfrm>
            <a:off x="685919" y="3970020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Comando COPY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85919" y="4388048"/>
            <a:ext cx="4305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Importación masiva de datos desde archivos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62550" y="3569970"/>
            <a:ext cx="171450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Gilroy-ExtraBoldItalic Light" pitchFamily="34" charset="0"/>
                <a:ea typeface="Gilroy-ExtraBoldItalic Light" pitchFamily="34" charset="-122"/>
                <a:cs typeface="Gilroy-ExtraBoldItalic Light" pitchFamily="34" charset="-120"/>
              </a:rPr>
              <a:t>02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162550" y="3838575"/>
            <a:ext cx="4305181" cy="22860"/>
          </a:xfrm>
          <a:prstGeom prst="rect">
            <a:avLst/>
          </a:prstGeom>
          <a:solidFill>
            <a:srgbClr val="282828"/>
          </a:solidFill>
          <a:ln/>
        </p:spPr>
      </p:sp>
      <p:sp>
        <p:nvSpPr>
          <p:cNvPr id="9" name="Text 7"/>
          <p:cNvSpPr/>
          <p:nvPr/>
        </p:nvSpPr>
        <p:spPr>
          <a:xfrm>
            <a:off x="5162550" y="3970020"/>
            <a:ext cx="264437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Carga desde pgAdmin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162550" y="4388048"/>
            <a:ext cx="43051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Interfaz gráfica para importar archivos CSV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39181" y="3569970"/>
            <a:ext cx="171450" cy="214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Gilroy-ExtraBoldItalic Light" pitchFamily="34" charset="0"/>
                <a:ea typeface="Gilroy-ExtraBoldItalic Light" pitchFamily="34" charset="-122"/>
                <a:cs typeface="Gilroy-ExtraBoldItalic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39181" y="3838575"/>
            <a:ext cx="4305300" cy="22860"/>
          </a:xfrm>
          <a:prstGeom prst="rect">
            <a:avLst/>
          </a:prstGeom>
          <a:solidFill>
            <a:srgbClr val="CADCD8"/>
          </a:solidFill>
          <a:ln/>
        </p:spPr>
      </p:sp>
      <p:sp>
        <p:nvSpPr>
          <p:cNvPr id="13" name="Text 11"/>
          <p:cNvSpPr/>
          <p:nvPr/>
        </p:nvSpPr>
        <p:spPr>
          <a:xfrm>
            <a:off x="9639181" y="3970020"/>
            <a:ext cx="3348157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Validación de tipos de datos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39181" y="4388048"/>
            <a:ext cx="4305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Verificación de compatibilidad durante la importación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919" y="4880967"/>
            <a:ext cx="13258562" cy="625793"/>
          </a:xfrm>
          <a:prstGeom prst="roundRect">
            <a:avLst>
              <a:gd name="adj" fmla="val 1461"/>
            </a:avLst>
          </a:prstGeom>
          <a:solidFill>
            <a:srgbClr val="B3F4FE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369" y="5095280"/>
            <a:ext cx="214313" cy="1714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43132" y="5095280"/>
            <a:ext cx="125298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 práctico: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Un supermercado carga su inventario semanal desde un archivo CSV que contiene la actualización de precios y stock.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43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919" y="4237911"/>
            <a:ext cx="5183505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7. Actualización de registros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85919" y="4913709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1350" b="1" dirty="0">
                <a:solidFill>
                  <a:srgbClr val="01424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Comando UPDATE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85919" y="5145167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1350" b="1" dirty="0">
                <a:solidFill>
                  <a:srgbClr val="B9AAD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Uso del WHERE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para evitar errores masivos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85919" y="5509498"/>
            <a:ext cx="13258562" cy="625793"/>
          </a:xfrm>
          <a:prstGeom prst="roundRect">
            <a:avLst>
              <a:gd name="adj" fmla="val 1461"/>
            </a:avLst>
          </a:prstGeom>
          <a:solidFill>
            <a:srgbClr val="B3F4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69" y="5723811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3132" y="5723811"/>
            <a:ext cx="125298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 práctico: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Al final del día, un sistema automatizado actualiza el stock de los productos vendidos usando UPDATE con condiciones específicas.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2081451"/>
            <a:ext cx="4867632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8. Eliminación de registros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7303770" y="2928699"/>
            <a:ext cx="22860" cy="2400776"/>
          </a:xfrm>
          <a:prstGeom prst="roundRect">
            <a:avLst>
              <a:gd name="adj" fmla="val 40000"/>
            </a:avLst>
          </a:prstGeom>
          <a:solidFill>
            <a:srgbClr val="1A5B65"/>
          </a:solidFill>
          <a:ln/>
        </p:spPr>
      </p:sp>
      <p:sp>
        <p:nvSpPr>
          <p:cNvPr id="4" name="Shape 2"/>
          <p:cNvSpPr/>
          <p:nvPr/>
        </p:nvSpPr>
        <p:spPr>
          <a:xfrm>
            <a:off x="663059" y="2928699"/>
            <a:ext cx="6629281" cy="1028938"/>
          </a:xfrm>
          <a:prstGeom prst="roundRect">
            <a:avLst>
              <a:gd name="adj" fmla="val 889"/>
            </a:avLst>
          </a:prstGeom>
          <a:solidFill>
            <a:srgbClr val="80A1A6"/>
          </a:solidFill>
          <a:ln w="15240">
            <a:solidFill>
              <a:srgbClr val="0142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98908" y="3115389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Comando DELETE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49749" y="3533418"/>
            <a:ext cx="62711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Eliminación permanente de registros de la base de datos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38060" y="4300538"/>
            <a:ext cx="6629281" cy="1028938"/>
          </a:xfrm>
          <a:prstGeom prst="rect">
            <a:avLst/>
          </a:prstGeom>
          <a:solidFill>
            <a:srgbClr val="80A1A6"/>
          </a:solidFill>
          <a:ln w="15240">
            <a:solidFill>
              <a:srgbClr val="28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09510" y="4487228"/>
            <a:ext cx="4389834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B9AAD4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Riesgos y alternativas: el "soft delete"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09510" y="4905256"/>
            <a:ext cx="62711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Marcado lógico de registros como inactivos en lugar de eliminación física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919" y="5522357"/>
            <a:ext cx="13258562" cy="625793"/>
          </a:xfrm>
          <a:prstGeom prst="roundRect">
            <a:avLst>
              <a:gd name="adj" fmla="val 1461"/>
            </a:avLst>
          </a:prstGeom>
          <a:solidFill>
            <a:srgbClr val="B3F4F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369" y="5736669"/>
            <a:ext cx="214313" cy="1714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43132" y="5736669"/>
            <a:ext cx="125298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 práctico: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En lugar de eliminar registros de usuarios inactivos, una red social utiliza un campo booleano llamado activo para mantenerlos en la base.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709493"/>
            <a:ext cx="4863227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9. Flujo práctico integrado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919" y="1556742"/>
            <a:ext cx="857369" cy="10289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14738" y="1728192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Crear DB y tablas</a:t>
            </a:r>
            <a:endParaRPr lang="en-US" sz="1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19" y="2585680"/>
            <a:ext cx="857369" cy="10289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14738" y="2757130"/>
            <a:ext cx="470642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Insertar registros manuales y desde CSV</a:t>
            </a:r>
            <a:endParaRPr lang="en-US" sz="1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19" y="3614618"/>
            <a:ext cx="857369" cy="10289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14738" y="3786068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Actualizar valores</a:t>
            </a:r>
            <a:endParaRPr lang="en-US" sz="1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19" y="4643557"/>
            <a:ext cx="857369" cy="102893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714738" y="4815007"/>
            <a:ext cx="3378398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Eliminar con y sin precaución</a:t>
            </a:r>
            <a:endParaRPr lang="en-US" sz="19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919" y="5672495"/>
            <a:ext cx="857369" cy="102893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714738" y="5843945"/>
            <a:ext cx="2916317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Consulta integrada JOIN</a:t>
            </a:r>
            <a:endParaRPr lang="en-US" sz="1950" dirty="0"/>
          </a:p>
        </p:txBody>
      </p:sp>
      <p:sp>
        <p:nvSpPr>
          <p:cNvPr id="13" name="Shape 6"/>
          <p:cNvSpPr/>
          <p:nvPr/>
        </p:nvSpPr>
        <p:spPr>
          <a:xfrm>
            <a:off x="685919" y="6894314"/>
            <a:ext cx="13258562" cy="625793"/>
          </a:xfrm>
          <a:prstGeom prst="roundRect">
            <a:avLst>
              <a:gd name="adj" fmla="val 1461"/>
            </a:avLst>
          </a:prstGeom>
          <a:solidFill>
            <a:srgbClr val="B3F4FE"/>
          </a:solidFill>
          <a:ln/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69" y="7108627"/>
            <a:ext cx="214313" cy="1714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243132" y="7108627"/>
            <a:ext cx="125298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 práctico: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Un sistema de punto de venta crea nuevas tablas de productos y ventas, actualiza stock en cada venta y realiza reportes diarios mediante JOIN.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43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919" y="4094083"/>
            <a:ext cx="5120759" cy="6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ACTIVIDAD PRÁCTICA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85919" y="4981694"/>
            <a:ext cx="4035147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Ejercicio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85919" y="5743218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Objetivo: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Insertar, modificar y eliminar registros en una base de datos PostgreSQL para resolver un requerimiento de negocio.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85919" y="6107549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Contexto: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Una tienda necesita gestionar sus productos y ventas. El analista debe cargar datos, corregir errores y eliminar registros inactivos.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2442091"/>
            <a:ext cx="3026331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Requerimientos: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85919" y="3163253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PostgreSQL y pgAdmin instalados.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919" y="3394710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Archivo CSV de productos (se proporciona).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919" y="3823335"/>
            <a:ext cx="3026331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Instrucciones: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685919" y="4458772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Crear la base de datos tienda y las tablas productos y ventas.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919" y="4690229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Insertar registros manuales.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919" y="4921687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Cargar el archivo productos.csv.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919" y="5153144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Actualizar el stock de productos.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919" y="5384602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Eliminar un producto inactivo.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919" y="5616059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Font typeface="+mj-lt"/>
              <a:buAutoNum type="arabicPeriod" startAt="6"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Ejecutar una consulta JOIN para visualizar ventas.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919" y="2710101"/>
            <a:ext cx="4305181" cy="1149548"/>
          </a:xfrm>
          <a:prstGeom prst="roundRect">
            <a:avLst>
              <a:gd name="adj" fmla="val 9545"/>
            </a:avLst>
          </a:prstGeom>
          <a:solidFill>
            <a:srgbClr val="FFFFFF"/>
          </a:solidFill>
          <a:ln w="22860">
            <a:solidFill>
              <a:srgbClr val="0142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3059" y="2710101"/>
            <a:ext cx="91440" cy="1149548"/>
          </a:xfrm>
          <a:prstGeom prst="roundRect">
            <a:avLst>
              <a:gd name="adj" fmla="val 10000"/>
            </a:avLst>
          </a:prstGeom>
          <a:solidFill>
            <a:srgbClr val="01424C"/>
          </a:solidFill>
          <a:ln/>
        </p:spPr>
      </p:sp>
      <p:sp>
        <p:nvSpPr>
          <p:cNvPr id="4" name="Text 2"/>
          <p:cNvSpPr/>
          <p:nvPr/>
        </p:nvSpPr>
        <p:spPr>
          <a:xfrm>
            <a:off x="948809" y="2904411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Modalidad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48809" y="3322439"/>
            <a:ext cx="38479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Individual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162550" y="2710101"/>
            <a:ext cx="4305181" cy="1149548"/>
          </a:xfrm>
          <a:prstGeom prst="roundRect">
            <a:avLst>
              <a:gd name="adj" fmla="val 9545"/>
            </a:avLst>
          </a:prstGeom>
          <a:solidFill>
            <a:srgbClr val="FFFFFF"/>
          </a:solidFill>
          <a:ln w="22860">
            <a:solidFill>
              <a:srgbClr val="2828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39690" y="2710101"/>
            <a:ext cx="91440" cy="1149548"/>
          </a:xfrm>
          <a:prstGeom prst="roundRect">
            <a:avLst>
              <a:gd name="adj" fmla="val 10000"/>
            </a:avLst>
          </a:prstGeom>
          <a:solidFill>
            <a:srgbClr val="282828"/>
          </a:solidFill>
          <a:ln/>
        </p:spPr>
      </p:sp>
      <p:sp>
        <p:nvSpPr>
          <p:cNvPr id="8" name="Text 6"/>
          <p:cNvSpPr/>
          <p:nvPr/>
        </p:nvSpPr>
        <p:spPr>
          <a:xfrm>
            <a:off x="5425440" y="2904411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Tiempo estimado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25440" y="3322439"/>
            <a:ext cx="38479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 hora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39181" y="2710101"/>
            <a:ext cx="4305300" cy="1149548"/>
          </a:xfrm>
          <a:prstGeom prst="roundRect">
            <a:avLst>
              <a:gd name="adj" fmla="val 9545"/>
            </a:avLst>
          </a:prstGeom>
          <a:solidFill>
            <a:srgbClr val="FFFFFF"/>
          </a:solidFill>
          <a:ln w="22860">
            <a:solidFill>
              <a:srgbClr val="CADC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16321" y="2710101"/>
            <a:ext cx="91440" cy="1149548"/>
          </a:xfrm>
          <a:prstGeom prst="roundRect">
            <a:avLst>
              <a:gd name="adj" fmla="val 10000"/>
            </a:avLst>
          </a:prstGeom>
          <a:solidFill>
            <a:srgbClr val="CADCD8"/>
          </a:solidFill>
          <a:ln/>
        </p:spPr>
      </p:sp>
      <p:sp>
        <p:nvSpPr>
          <p:cNvPr id="12" name="Text 10"/>
          <p:cNvSpPr/>
          <p:nvPr/>
        </p:nvSpPr>
        <p:spPr>
          <a:xfrm>
            <a:off x="9902071" y="2904411"/>
            <a:ext cx="2521982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Entregable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902071" y="3322439"/>
            <a:ext cx="3848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Captura de pantalla de pgAdmin mostrando cada paso realizado correctamente.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919" y="4116824"/>
            <a:ext cx="3026331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Referencias: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685919" y="4752261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Documentación oficial PostgreSQL: </a:t>
            </a:r>
            <a:pPr algn="l" indent="0" marL="0">
              <a:lnSpc>
                <a:spcPts val="1350"/>
              </a:lnSpc>
              <a:buNone/>
            </a:pPr>
            <a:r>
              <a:rPr lang="en-US" sz="1350" u="sng" dirty="0">
                <a:solidFill>
                  <a:srgbClr val="01424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https://www.postgresql.org/docs/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919" y="4983718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Manual pgAdmin: </a:t>
            </a:r>
            <a:pPr algn="l" indent="0" marL="0">
              <a:lnSpc>
                <a:spcPts val="1350"/>
              </a:lnSpc>
              <a:buNone/>
            </a:pPr>
            <a:r>
              <a:rPr lang="en-US" sz="1350" u="sng" dirty="0">
                <a:solidFill>
                  <a:srgbClr val="01424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https://www.pgadmin.org/docs/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919" y="5348049"/>
            <a:ext cx="13258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Solución esperada:</a:t>
            </a:r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28282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(incluye los comandos SQL correctos paso a paso y explicaciones)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2328505"/>
            <a:ext cx="5043964" cy="630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CIERRE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685919" y="3216116"/>
            <a:ext cx="4196477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Preguntas de reflexión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85919" y="3977640"/>
            <a:ext cx="385763" cy="385763"/>
          </a:xfrm>
          <a:prstGeom prst="roundRect">
            <a:avLst>
              <a:gd name="adj" fmla="val 2370"/>
            </a:avLst>
          </a:prstGeom>
          <a:solidFill>
            <a:srgbClr val="01424C">
              <a:alpha val="50000"/>
            </a:srgbClr>
          </a:solidFill>
          <a:ln w="15240">
            <a:solidFill>
              <a:srgbClr val="1A5B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7531" y="3981390"/>
            <a:ext cx="302538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1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1243132" y="4009787"/>
            <a:ext cx="3719393" cy="189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¿Qué tipo de errores podrías evitar utilizando buenas prácticas al actualizar o eliminar registros?</a:t>
            </a:r>
            <a:endParaRPr lang="en-US" sz="2350" dirty="0"/>
          </a:p>
        </p:txBody>
      </p:sp>
      <p:sp>
        <p:nvSpPr>
          <p:cNvPr id="7" name="Shape 5"/>
          <p:cNvSpPr/>
          <p:nvPr/>
        </p:nvSpPr>
        <p:spPr>
          <a:xfrm>
            <a:off x="5176838" y="3977640"/>
            <a:ext cx="385763" cy="385763"/>
          </a:xfrm>
          <a:prstGeom prst="roundRect">
            <a:avLst>
              <a:gd name="adj" fmla="val 2370"/>
            </a:avLst>
          </a:prstGeom>
          <a:solidFill>
            <a:srgbClr val="282828">
              <a:alpha val="50000"/>
            </a:srgbClr>
          </a:solidFill>
          <a:ln w="15240">
            <a:solidFill>
              <a:srgbClr val="4141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8450" y="3981390"/>
            <a:ext cx="302538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2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734050" y="4009787"/>
            <a:ext cx="3719393" cy="151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¿Cómo influye el diseño de las restricciones en la calidad de los datos almacenados?</a:t>
            </a:r>
            <a:endParaRPr lang="en-US" sz="2350" dirty="0"/>
          </a:p>
        </p:txBody>
      </p:sp>
      <p:sp>
        <p:nvSpPr>
          <p:cNvPr id="10" name="Shape 8"/>
          <p:cNvSpPr/>
          <p:nvPr/>
        </p:nvSpPr>
        <p:spPr>
          <a:xfrm>
            <a:off x="9667756" y="3977640"/>
            <a:ext cx="385763" cy="385763"/>
          </a:xfrm>
          <a:prstGeom prst="roundRect">
            <a:avLst>
              <a:gd name="adj" fmla="val 2370"/>
            </a:avLst>
          </a:prstGeom>
          <a:solidFill>
            <a:srgbClr val="CADCD8">
              <a:alpha val="50000"/>
            </a:srgbClr>
          </a:solidFill>
          <a:ln w="15240">
            <a:solidFill>
              <a:srgbClr val="B0C2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09368" y="3981390"/>
            <a:ext cx="302538" cy="37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3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10224968" y="4009787"/>
            <a:ext cx="3719512" cy="151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82828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¿Qué ventajas encuentras al usar pgAdmin frente a una terminal de comandos?</a:t>
            </a:r>
            <a:endParaRPr lang="en-US" sz="2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1758196"/>
            <a:ext cx="4774049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Resumen de lo aprendido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85919" y="2605445"/>
            <a:ext cx="4305181" cy="2004774"/>
          </a:xfrm>
          <a:prstGeom prst="roundRect">
            <a:avLst>
              <a:gd name="adj" fmla="val 456"/>
            </a:avLst>
          </a:prstGeom>
          <a:solidFill>
            <a:srgbClr val="80A1A6"/>
          </a:solidFill>
          <a:ln w="15240">
            <a:solidFill>
              <a:srgbClr val="0142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2609" y="2792135"/>
            <a:ext cx="514469" cy="514469"/>
          </a:xfrm>
          <a:prstGeom prst="roundRect">
            <a:avLst>
              <a:gd name="adj" fmla="val 17771888"/>
            </a:avLst>
          </a:prstGeom>
          <a:solidFill>
            <a:srgbClr val="0142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55" y="2904649"/>
            <a:ext cx="231458" cy="289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2609" y="3478054"/>
            <a:ext cx="3931801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PostgreSQL permite administrar datos de forma robusta y segura.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5162550" y="2605445"/>
            <a:ext cx="4305181" cy="2004774"/>
          </a:xfrm>
          <a:prstGeom prst="roundRect">
            <a:avLst>
              <a:gd name="adj" fmla="val 456"/>
            </a:avLst>
          </a:prstGeom>
          <a:solidFill>
            <a:srgbClr val="80A1A6"/>
          </a:solidFill>
          <a:ln w="15240">
            <a:solidFill>
              <a:srgbClr val="28282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49240" y="2792135"/>
            <a:ext cx="514469" cy="514469"/>
          </a:xfrm>
          <a:prstGeom prst="roundRect">
            <a:avLst>
              <a:gd name="adj" fmla="val 17771888"/>
            </a:avLst>
          </a:prstGeom>
          <a:solidFill>
            <a:srgbClr val="28282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686" y="2904649"/>
            <a:ext cx="231458" cy="2893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3478054"/>
            <a:ext cx="3931801" cy="945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pgAdmin facilita la visualización y manipulación de bases de datos.</a:t>
            </a:r>
            <a:endParaRPr lang="en-US" sz="1950" dirty="0"/>
          </a:p>
        </p:txBody>
      </p:sp>
      <p:sp>
        <p:nvSpPr>
          <p:cNvPr id="11" name="Shape 7"/>
          <p:cNvSpPr/>
          <p:nvPr/>
        </p:nvSpPr>
        <p:spPr>
          <a:xfrm>
            <a:off x="9639181" y="2605445"/>
            <a:ext cx="4305300" cy="2004774"/>
          </a:xfrm>
          <a:prstGeom prst="roundRect">
            <a:avLst>
              <a:gd name="adj" fmla="val 456"/>
            </a:avLst>
          </a:prstGeom>
          <a:solidFill>
            <a:srgbClr val="80A1A6"/>
          </a:solidFill>
          <a:ln w="15240">
            <a:solidFill>
              <a:srgbClr val="CADC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825871" y="2792135"/>
            <a:ext cx="514469" cy="514469"/>
          </a:xfrm>
          <a:prstGeom prst="roundRect">
            <a:avLst>
              <a:gd name="adj" fmla="val 17771888"/>
            </a:avLst>
          </a:prstGeom>
          <a:solidFill>
            <a:srgbClr val="CADCD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7317" y="2904649"/>
            <a:ext cx="231458" cy="2893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25871" y="3478054"/>
            <a:ext cx="3931920" cy="945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Los comandos SQL INSERT, UPDATE, DELETE y COPY son fundamentales.</a:t>
            </a:r>
            <a:endParaRPr lang="en-US" sz="1950" dirty="0"/>
          </a:p>
        </p:txBody>
      </p:sp>
      <p:sp>
        <p:nvSpPr>
          <p:cNvPr id="15" name="Shape 10"/>
          <p:cNvSpPr/>
          <p:nvPr/>
        </p:nvSpPr>
        <p:spPr>
          <a:xfrm>
            <a:off x="685919" y="4781669"/>
            <a:ext cx="6543556" cy="1689616"/>
          </a:xfrm>
          <a:prstGeom prst="roundRect">
            <a:avLst>
              <a:gd name="adj" fmla="val 541"/>
            </a:avLst>
          </a:prstGeom>
          <a:solidFill>
            <a:srgbClr val="80A1A6"/>
          </a:solidFill>
          <a:ln w="15240">
            <a:solidFill>
              <a:srgbClr val="B9AAD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72609" y="4968359"/>
            <a:ext cx="514469" cy="514469"/>
          </a:xfrm>
          <a:prstGeom prst="roundRect">
            <a:avLst>
              <a:gd name="adj" fmla="val 17771888"/>
            </a:avLst>
          </a:prstGeom>
          <a:solidFill>
            <a:srgbClr val="B9AAD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55" y="5080873"/>
            <a:ext cx="231458" cy="2893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2609" y="5654278"/>
            <a:ext cx="6170176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Es crucial usar WHERE en operaciones que modifican registros.</a:t>
            </a:r>
            <a:endParaRPr lang="en-US" sz="1950" dirty="0"/>
          </a:p>
        </p:txBody>
      </p:sp>
      <p:sp>
        <p:nvSpPr>
          <p:cNvPr id="19" name="Shape 13"/>
          <p:cNvSpPr/>
          <p:nvPr/>
        </p:nvSpPr>
        <p:spPr>
          <a:xfrm>
            <a:off x="7400925" y="4781669"/>
            <a:ext cx="6543556" cy="1689616"/>
          </a:xfrm>
          <a:prstGeom prst="roundRect">
            <a:avLst>
              <a:gd name="adj" fmla="val 541"/>
            </a:avLst>
          </a:prstGeom>
          <a:solidFill>
            <a:srgbClr val="80A1A6"/>
          </a:solidFill>
          <a:ln w="15240">
            <a:solidFill>
              <a:srgbClr val="B2D5AD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587615" y="4968359"/>
            <a:ext cx="514469" cy="514469"/>
          </a:xfrm>
          <a:prstGeom prst="roundRect">
            <a:avLst>
              <a:gd name="adj" fmla="val 17771888"/>
            </a:avLst>
          </a:prstGeom>
          <a:solidFill>
            <a:srgbClr val="B2D5AD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061" y="5080873"/>
            <a:ext cx="231458" cy="28932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587615" y="5654278"/>
            <a:ext cx="6170176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Las restricciones aseguran integridad de los datos y previenen errores lógicos.</a:t>
            </a:r>
            <a:endParaRPr lang="en-US" sz="1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919" y="2944058"/>
            <a:ext cx="6129099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Activación para la próxima clase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919" y="3791307"/>
            <a:ext cx="4305181" cy="14941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7369" y="3962757"/>
            <a:ext cx="3962281" cy="63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¿Sabes cómo seleccionar sólo ciertos registros de una tabla?</a:t>
            </a:r>
            <a:endParaRPr lang="en-US" sz="1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50" y="3791307"/>
            <a:ext cx="4305181" cy="14941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34000" y="3962757"/>
            <a:ext cx="3962281" cy="945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¿Qué son las funciones de agregación en SQL y para qué sirven?</a:t>
            </a:r>
            <a:endParaRPr lang="en-US" sz="1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181" y="3791307"/>
            <a:ext cx="4305300" cy="14941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810631" y="3962757"/>
            <a:ext cx="3962400" cy="945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¿Cómo agruparías datos por categorías o fechas en una consulta?</a:t>
            </a:r>
            <a:endParaRPr lang="en-US" sz="1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43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919" y="4556046"/>
            <a:ext cx="10087928" cy="126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0"/>
              </a:lnSpc>
              <a:buNone/>
            </a:pPr>
            <a:r>
              <a:rPr lang="en-US" sz="7900" b="1" dirty="0">
                <a:solidFill>
                  <a:srgbClr val="01424C"/>
                </a:solidFill>
                <a:latin typeface="Gilroy-ExtraBoldItalic Bold" pitchFamily="34" charset="0"/>
                <a:ea typeface="Gilroy-ExtraBoldItalic Bold" pitchFamily="34" charset="-122"/>
                <a:cs typeface="Gilroy-ExtraBoldItalic Bold" pitchFamily="34" charset="-120"/>
              </a:rPr>
              <a:t>Fin de clase</a:t>
            </a:r>
            <a:endParaRPr lang="en-US" sz="7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2025-10-03T14:25:21Z</dcterms:created>
  <dcterms:modified xsi:type="dcterms:W3CDTF">2025-10-03T14:25:21Z</dcterms:modified>
</cp:coreProperties>
</file>