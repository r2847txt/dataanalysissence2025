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4630400" cy="8229600"/>
  <p:notesSz cx="8229600" cy="14630400"/>
  <p:embeddedFontLst>
    <p:embeddedFont>
      <p:font typeface="Nunito Extra Bold"/>
      <p:regular r:id="rId32"/>
    </p:embeddedFont>
    <p:embeddedFont>
      <p:font typeface="Nunito Extra Bold"/>
      <p:regular r:id="rId3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font" Target="fonts/font1.fntdata"/><Relationship Id="rId33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6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8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710815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Funciones Definidas por el Usuario (UDF) en PostgreSQL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4248626"/>
            <a:ext cx="755642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Al finalizar, el/la estudiante será capaz de diseñar, crear, versionar y utilizar funciones definidas por el usuario (UDF) en PostgreSQL (lenguaje SQL), aplicándolas en consultas de negocio y tablas de ejemplo, con criterios de volatilidad, seguridad y retornos escalares y tabulares.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53258"/>
            <a:ext cx="570714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Preguntas de Activación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3270171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028090"/>
          </a:solidFill>
          <a:ln w="22860">
            <a:solidFill>
              <a:srgbClr val="1B99A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204" y="3307378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1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438632" y="3307318"/>
            <a:ext cx="3537347" cy="1488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¿Qué problema concreto resuelves al encapsular una fórmula repetida en una función SQL?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438632" y="4914662"/>
            <a:ext cx="353734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Piensa en mantenimiento, duplicación y errores.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223986" y="3270171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CADCD8"/>
          </a:solidFill>
          <a:ln w="22860">
            <a:solidFill>
              <a:srgbClr val="B0C2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98400" y="3307378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2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868829" y="3307318"/>
            <a:ext cx="3537466" cy="2232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Si una consulta depende de la fecha/hora actual, ¿esperarías que una UDF devuelva siempre lo mismo con los mismos parámetros?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5868829" y="5658803"/>
            <a:ext cx="353746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¿Por qué? (conduce a volatilidad).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9654302" y="3270171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B9AAD4"/>
          </a:solidFill>
          <a:ln w="22860">
            <a:solidFill>
              <a:srgbClr val="9F90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28716" y="3307378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3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0299144" y="3307318"/>
            <a:ext cx="3537466" cy="186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¿En qué casos una aplicación externa debería llamar una UDF en lugar de ejecutar queries "crudas"?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0299144" y="5286732"/>
            <a:ext cx="353746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Seguridad, ocultar modelo e interfaces estables.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4809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787616"/>
            <a:ext cx="517624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Introducción Temática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4903708"/>
            <a:ext cx="3303270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1F3E47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Importancia y Contexto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793790" y="5474137"/>
            <a:ext cx="627935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Las UDFs permiten centralizar lógica, optimizar rendimiento (ejecución en servidor) y mejorar seguridad ocultando tablas y reglas de negocio tras una interfaz declarativa. Conectan con buenas prácticas de ingeniería de datos y aplicaciones que consumen funciones, no tablas, para desacoplar.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564874" y="4903708"/>
            <a:ext cx="351222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1424C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Conexión Interdisciplinar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7564874" y="5474137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Desde análisis de datos (KPIs, cálculos recurrentes) a aplicaciones (validaciones, formateos, reglas) y BI (funciones tabulares reutilizables). Alineado con el estándar del Plan Formativo en SQL y modelado.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23755"/>
            <a:ext cx="910709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Conceptos y Componentes de una UDF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440668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Definición: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Una UDF encapsula lógica SQL en un objeto con nombre, parámetros, tipo de retorno, cuerpo, lenguaje, volatilidad y opciones de seguridad.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981450"/>
            <a:ext cx="4215289" cy="1824276"/>
          </a:xfrm>
          <a:prstGeom prst="roundRect">
            <a:avLst>
              <a:gd name="adj" fmla="val 4569"/>
            </a:avLst>
          </a:prstGeom>
          <a:solidFill>
            <a:srgbClr val="028090"/>
          </a:solidFill>
          <a:ln w="22860">
            <a:solidFill>
              <a:srgbClr val="1B99A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5008" y="420266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Nombre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15008" y="4631888"/>
            <a:ext cx="377285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El "endpoint" SQL de tu función (p.ej., calcular_impuesto).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207437" y="3981450"/>
            <a:ext cx="4215408" cy="1824276"/>
          </a:xfrm>
          <a:prstGeom prst="roundRect">
            <a:avLst>
              <a:gd name="adj" fmla="val 4569"/>
            </a:avLst>
          </a:prstGeom>
          <a:solidFill>
            <a:srgbClr val="CADCD8"/>
          </a:solidFill>
          <a:ln w="22860">
            <a:solidFill>
              <a:srgbClr val="B0C2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28655" y="420266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Parámetros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5428655" y="4631888"/>
            <a:ext cx="377297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Inputs tipados como en columnas.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9621203" y="3981450"/>
            <a:ext cx="4215289" cy="1824276"/>
          </a:xfrm>
          <a:prstGeom prst="roundRect">
            <a:avLst>
              <a:gd name="adj" fmla="val 4569"/>
            </a:avLst>
          </a:prstGeom>
          <a:solidFill>
            <a:srgbClr val="B9AAD4"/>
          </a:solidFill>
          <a:ln w="22860">
            <a:solidFill>
              <a:srgbClr val="9F90B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42421" y="420266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Tipo de retorno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842421" y="4631888"/>
            <a:ext cx="377285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Escalar (RETURNS NUMERIC), tabla (RETURNS TABLE(...)) o conjunto (RETURNS SETOF tipo).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25918"/>
            <a:ext cx="608564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Componentes Adicionales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642830"/>
            <a:ext cx="6422231" cy="1189196"/>
          </a:xfrm>
          <a:prstGeom prst="roundRect">
            <a:avLst>
              <a:gd name="adj" fmla="val 7010"/>
            </a:avLst>
          </a:prstGeom>
          <a:solidFill>
            <a:srgbClr val="FFFFFF"/>
          </a:solidFill>
          <a:ln w="2286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5008" y="286404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Cuerpo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15008" y="3293269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Consulta(s) que implementan la lógica.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414379" y="2642830"/>
            <a:ext cx="6422231" cy="1189196"/>
          </a:xfrm>
          <a:prstGeom prst="roundRect">
            <a:avLst>
              <a:gd name="adj" fmla="val 7010"/>
            </a:avLst>
          </a:prstGeom>
          <a:solidFill>
            <a:srgbClr val="FFFFFF"/>
          </a:solidFill>
          <a:ln w="22860">
            <a:solidFill>
              <a:srgbClr val="CADC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35597" y="286404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Lenguaje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635597" y="3293269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Aquí LANGUAGE SQL (no PL/pgSQL en esta clase).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93790" y="4030385"/>
            <a:ext cx="6422231" cy="1189196"/>
          </a:xfrm>
          <a:prstGeom prst="roundRect">
            <a:avLst>
              <a:gd name="adj" fmla="val 7010"/>
            </a:avLst>
          </a:prstGeom>
          <a:solidFill>
            <a:srgbClr val="FFFFFF"/>
          </a:solidFill>
          <a:ln w="22860">
            <a:solidFill>
              <a:srgbClr val="B9AA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5008" y="425160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Volatilidad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015008" y="4680823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IMMUTABLE | STABLE | VOLATILE (guía de optimización).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414379" y="4030385"/>
            <a:ext cx="6422231" cy="1189196"/>
          </a:xfrm>
          <a:prstGeom prst="roundRect">
            <a:avLst>
              <a:gd name="adj" fmla="val 7010"/>
            </a:avLst>
          </a:prstGeom>
          <a:solidFill>
            <a:srgbClr val="FFFFFF"/>
          </a:solidFill>
          <a:ln w="22860">
            <a:solidFill>
              <a:srgbClr val="B2D5A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35597" y="425160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Seguridad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635597" y="4680823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SECURITY INVOKER (por defecto) o SECURITY DEFINER.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93790" y="5442823"/>
            <a:ext cx="13042821" cy="1160740"/>
          </a:xfrm>
          <a:prstGeom prst="roundRect">
            <a:avLst>
              <a:gd name="adj" fmla="val 7182"/>
            </a:avLst>
          </a:prstGeom>
          <a:solidFill>
            <a:srgbClr val="CAE1E8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48" y="5745718"/>
            <a:ext cx="248007" cy="19835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438513" y="5690711"/>
            <a:ext cx="1219973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Analogía: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una UDF es como una función de utilidades en Python que empaquetas en un módulo para que todo el equipo la use igual, con firma estable y tests.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093119"/>
            <a:ext cx="661499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Función Escalar Paso a Paso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3010853"/>
            <a:ext cx="6327219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Caso Guiado 1: calcular_impuesto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793790" y="3804642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Contexto: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Área de ventas necesita precio final con impuesto. Evitamos repetir la fórmula en cada query.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93790" y="4662964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Paso 0.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Crear esquema de práctica (opcional):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793790" y="5203746"/>
            <a:ext cx="7556421" cy="932736"/>
          </a:xfrm>
          <a:prstGeom prst="roundRect">
            <a:avLst>
              <a:gd name="adj" fmla="val 8937"/>
            </a:avLst>
          </a:prstGeom>
          <a:solidFill>
            <a:srgbClr val="F2F2F2"/>
          </a:solidFill>
          <a:ln/>
        </p:spPr>
      </p:sp>
      <p:sp>
        <p:nvSpPr>
          <p:cNvPr id="8" name="Shape 5"/>
          <p:cNvSpPr/>
          <p:nvPr/>
        </p:nvSpPr>
        <p:spPr>
          <a:xfrm>
            <a:off x="783908" y="5203746"/>
            <a:ext cx="7576185" cy="932736"/>
          </a:xfrm>
          <a:prstGeom prst="roundRect">
            <a:avLst>
              <a:gd name="adj" fmla="val 3192"/>
            </a:avLst>
          </a:prstGeom>
          <a:solidFill>
            <a:srgbClr val="F2F2F2"/>
          </a:solidFill>
          <a:ln/>
        </p:spPr>
      </p:sp>
      <p:sp>
        <p:nvSpPr>
          <p:cNvPr id="9" name="Text 6"/>
          <p:cNvSpPr/>
          <p:nvPr/>
        </p:nvSpPr>
        <p:spPr>
          <a:xfrm>
            <a:off x="982266" y="5352574"/>
            <a:ext cx="717946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CREATE SCHEMA IF NOT EXISTS clase6 AUTHORIZATION CURRENT_USER;SET search_path TO clase6, public;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01284"/>
            <a:ext cx="529875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Creación de la Función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718197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Paso 1.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Crear la función (versión documentada):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258979"/>
            <a:ext cx="13042821" cy="2202894"/>
          </a:xfrm>
          <a:prstGeom prst="roundRect">
            <a:avLst>
              <a:gd name="adj" fmla="val 3784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783908" y="3258979"/>
            <a:ext cx="13062585" cy="2202894"/>
          </a:xfrm>
          <a:prstGeom prst="roundRect">
            <a:avLst>
              <a:gd name="adj" fmla="val 1351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982266" y="3407807"/>
            <a:ext cx="12665869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CREATE OR REPLACE FUNCTION calcular_impuesto(    precio NUMERIC,    impuesto NUMERIC) RETURNS NUMERIC AS $$    SELECT precio + (precio * impuesto);$$ LANGUAGE SQL IMMUTABLE;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93790" y="5685115"/>
            <a:ext cx="13042821" cy="843201"/>
          </a:xfrm>
          <a:prstGeom prst="roundRect">
            <a:avLst>
              <a:gd name="adj" fmla="val 9886"/>
            </a:avLst>
          </a:prstGeom>
          <a:solidFill>
            <a:srgbClr val="CAE1E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48" y="5988010"/>
            <a:ext cx="248007" cy="19835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38513" y="5933003"/>
            <a:ext cx="121997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¿Por qué IMMUTABLE?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Con iguales parámetros, mismo resultado → el planificador puede optimizar.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45970"/>
            <a:ext cx="651176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Pruebas y Tabla de Ejemplo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162062"/>
            <a:ext cx="49814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Paso 2. Probar con valores simples: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93790" y="3757374"/>
            <a:ext cx="6279356" cy="615196"/>
          </a:xfrm>
          <a:prstGeom prst="roundRect">
            <a:avLst>
              <a:gd name="adj" fmla="val 13550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783908" y="3757374"/>
            <a:ext cx="6299121" cy="615196"/>
          </a:xfrm>
          <a:prstGeom prst="roundRect">
            <a:avLst>
              <a:gd name="adj" fmla="val 4839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982266" y="3906203"/>
            <a:ext cx="590240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calcular_impuesto(100, 0.19); -- 119.00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4595813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Verifica que el tipo NUMERIC mantiene precisión de decimales financieros.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564874" y="3162062"/>
            <a:ext cx="4405670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Paso 3. Crear tabla de ejemplo: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7564874" y="3757374"/>
            <a:ext cx="6279356" cy="2202894"/>
          </a:xfrm>
          <a:prstGeom prst="roundRect">
            <a:avLst>
              <a:gd name="adj" fmla="val 3784"/>
            </a:avLst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7554992" y="3757374"/>
            <a:ext cx="6299121" cy="2202894"/>
          </a:xfrm>
          <a:prstGeom prst="roundRect">
            <a:avLst>
              <a:gd name="adj" fmla="val 1351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7753350" y="3906203"/>
            <a:ext cx="5902404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ventas ( id SERIAL PRIMARY KEY, producto TEXT, precio NUMERIC, impuesto NUMERIC);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5930"/>
            <a:ext cx="664678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Poblado y Uso de la Función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792843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Insertar datos de prueba: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2333625"/>
            <a:ext cx="13042821" cy="1567815"/>
          </a:xfrm>
          <a:prstGeom prst="roundRect">
            <a:avLst>
              <a:gd name="adj" fmla="val 5317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783908" y="2333625"/>
            <a:ext cx="13062585" cy="1567815"/>
          </a:xfrm>
          <a:prstGeom prst="roundRect">
            <a:avLst>
              <a:gd name="adj" fmla="val 1899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982266" y="2482453"/>
            <a:ext cx="12665869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ventas (producto, precio, impuesto) VALUES('Laptop', 1200, 0.19),('Teléfono', 800, 0.19),('Tablet', 500, 0.10);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4124682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Paso 4.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Usar la función en una consulta: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93790" y="4665464"/>
            <a:ext cx="13042821" cy="932736"/>
          </a:xfrm>
          <a:prstGeom prst="roundRect">
            <a:avLst>
              <a:gd name="adj" fmla="val 8937"/>
            </a:avLst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783908" y="4665464"/>
            <a:ext cx="13062585" cy="932736"/>
          </a:xfrm>
          <a:prstGeom prst="roundRect">
            <a:avLst>
              <a:gd name="adj" fmla="val 3192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982266" y="4814292"/>
            <a:ext cx="1266586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producto, precio, calcular_impuesto(precio, impuesto) AS precio_finalFROM ventas ORDER BY id;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93790" y="5821442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Resultado esperado (valores orientativos):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93790" y="6362224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Laptop → 1428.00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93790" y="6749177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Teléfono → 952.00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93790" y="7136130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Tablet → 550.00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38958"/>
            <a:ext cx="724019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Errores Comunes y Depuración</a:t>
            </a:r>
            <a:endParaRPr lang="en-US" sz="39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204" y="3025616"/>
            <a:ext cx="297656" cy="37207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38632" y="3056692"/>
            <a:ext cx="431363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Usar INTEGER en lugar de NUMERIC</a:t>
            </a:r>
            <a:endParaRPr lang="en-US" sz="1950" dirty="0"/>
          </a:p>
        </p:txBody>
      </p:sp>
      <p:sp>
        <p:nvSpPr>
          <p:cNvPr id="6" name="Text 2"/>
          <p:cNvSpPr/>
          <p:nvPr/>
        </p:nvSpPr>
        <p:spPr>
          <a:xfrm>
            <a:off x="1438632" y="3485912"/>
            <a:ext cx="69115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Pérdida de decimales.</a:t>
            </a:r>
            <a:endParaRPr lang="en-US" sz="15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204" y="4169212"/>
            <a:ext cx="297656" cy="37207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438632" y="4200287"/>
            <a:ext cx="662082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Marcar IMMUTABLE funciones que dependen del tiempo</a:t>
            </a:r>
            <a:endParaRPr lang="en-US" sz="1950" dirty="0"/>
          </a:p>
        </p:txBody>
      </p:sp>
      <p:sp>
        <p:nvSpPr>
          <p:cNvPr id="9" name="Text 4"/>
          <p:cNvSpPr/>
          <p:nvPr/>
        </p:nvSpPr>
        <p:spPr>
          <a:xfrm>
            <a:off x="1438632" y="4629507"/>
            <a:ext cx="69115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Como now(), rompe supuestos del optimizador.</a:t>
            </a:r>
            <a:endParaRPr lang="en-US" sz="15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204" y="5312807"/>
            <a:ext cx="297656" cy="37207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438632" y="5343882"/>
            <a:ext cx="430149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Olvidar OR REPLACE en evoluciones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1438632" y="5773103"/>
            <a:ext cx="69115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Facilita versionado sin DROP.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1751"/>
            <a:ext cx="813613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Caso Guiado 2: calcular_descuento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688663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Objetivo: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función escalar de descuento reutilizable.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2229445"/>
            <a:ext cx="13042821" cy="2202894"/>
          </a:xfrm>
          <a:prstGeom prst="roundRect">
            <a:avLst>
              <a:gd name="adj" fmla="val 3784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783908" y="2229445"/>
            <a:ext cx="13062585" cy="2202894"/>
          </a:xfrm>
          <a:prstGeom prst="roundRect">
            <a:avLst>
              <a:gd name="adj" fmla="val 1351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982266" y="2378273"/>
            <a:ext cx="12665869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CREATE OR REPLACE FUNCTION calcular_descuento(    precio NUMERIC,    porcentaje NUMERIC) RETURNS NUMERIC AS $$    SELECT precio - (precio * porcentaje);$$ LANGUAGE SQL IMMUTABLE;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485394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Pruebas: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793790" y="5449252"/>
            <a:ext cx="6279356" cy="1885355"/>
          </a:xfrm>
          <a:prstGeom prst="roundRect">
            <a:avLst>
              <a:gd name="adj" fmla="val 4421"/>
            </a:avLst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783908" y="5449252"/>
            <a:ext cx="6299121" cy="1885355"/>
          </a:xfrm>
          <a:prstGeom prst="roundRect">
            <a:avLst>
              <a:gd name="adj" fmla="val 1579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982266" y="5598081"/>
            <a:ext cx="5902404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calcular_descuento(200, 0.15); -- 170SELECT producto, calcular_descuento(precio, 0.10) AS precio_con_descFROM ventas;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564874" y="485394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1F3E47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Buen Patrón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7564874" y="5424368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Validar límites (p.ej., porcentaje entre 0 y 1). En SQL Functions puras, puedes validar con CASE WHEN y lanzar RAISE solo en PL/pgSQL; aquí preferimos documentar precondiciones y validar aguas arriba.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306711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Funciones Tabulares (RETURNS TABLE y SETOF)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2844522"/>
            <a:ext cx="7421999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Caso Guiado 3: UDF que devuelve tabla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6280190" y="3638312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Motivación: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encapsular una consulta de empleados por departamento sin crear vista fija.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280190" y="4179094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Tabla demo rápida (si no existe):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280190" y="4719876"/>
            <a:ext cx="7556421" cy="2202894"/>
          </a:xfrm>
          <a:prstGeom prst="roundRect">
            <a:avLst>
              <a:gd name="adj" fmla="val 3784"/>
            </a:avLst>
          </a:prstGeom>
          <a:solidFill>
            <a:srgbClr val="F2F2F2"/>
          </a:solidFill>
          <a:ln/>
        </p:spPr>
      </p:sp>
      <p:sp>
        <p:nvSpPr>
          <p:cNvPr id="8" name="Shape 5"/>
          <p:cNvSpPr/>
          <p:nvPr/>
        </p:nvSpPr>
        <p:spPr>
          <a:xfrm>
            <a:off x="6270307" y="4719876"/>
            <a:ext cx="7576185" cy="2202894"/>
          </a:xfrm>
          <a:prstGeom prst="roundRect">
            <a:avLst>
              <a:gd name="adj" fmla="val 1351"/>
            </a:avLst>
          </a:prstGeom>
          <a:solidFill>
            <a:srgbClr val="F2F2F2"/>
          </a:solidFill>
          <a:ln/>
        </p:spPr>
      </p:sp>
      <p:sp>
        <p:nvSpPr>
          <p:cNvPr id="9" name="Text 6"/>
          <p:cNvSpPr/>
          <p:nvPr/>
        </p:nvSpPr>
        <p:spPr>
          <a:xfrm>
            <a:off x="6468666" y="4868704"/>
            <a:ext cx="7179469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empleados ( id SERIAL PRIMARY KEY, nombre TEXT, salario NUMERIC, departamento_id INT);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714" y="524351"/>
            <a:ext cx="8043267" cy="595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Implementación de Función Tabular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62714" y="1501616"/>
            <a:ext cx="13104971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Insertar datos de prueba: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62714" y="2021205"/>
            <a:ext cx="13104971" cy="1811774"/>
          </a:xfrm>
          <a:prstGeom prst="roundRect">
            <a:avLst>
              <a:gd name="adj" fmla="val 4421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753189" y="2021205"/>
            <a:ext cx="13124021" cy="1811774"/>
          </a:xfrm>
          <a:prstGeom prst="roundRect">
            <a:avLst>
              <a:gd name="adj" fmla="val 1579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943808" y="2164199"/>
            <a:ext cx="12742783" cy="1525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C1D22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empleados (nombre, salario, departamento_id) VALUES('Ana', 1500, 1),('Benjamín', 1800, 2),('Carla', 1700, 2),('Diego', 2100, 1);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2714" y="4047411"/>
            <a:ext cx="13104971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Función RETURNS TABLE: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62714" y="4566999"/>
            <a:ext cx="13104971" cy="2116931"/>
          </a:xfrm>
          <a:prstGeom prst="roundRect">
            <a:avLst>
              <a:gd name="adj" fmla="val 3784"/>
            </a:avLst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753189" y="4566999"/>
            <a:ext cx="13124021" cy="2116931"/>
          </a:xfrm>
          <a:prstGeom prst="roundRect">
            <a:avLst>
              <a:gd name="adj" fmla="val 1351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943808" y="4709993"/>
            <a:ext cx="12742783" cy="1830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C1D22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CREATE OR REPLACE FUNCTION empleados_departamento(dep_id INT)RETURNS TABLE(nombre TEXT, salario NUMERIC) AS $$    SELECT e.nombre, e.salario    FROM empleados e    WHERE e.departamento_id = dep_id;$$ LANGUAGE SQL STABLE;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62714" y="6898362"/>
            <a:ext cx="13104971" cy="810220"/>
          </a:xfrm>
          <a:prstGeom prst="roundRect">
            <a:avLst>
              <a:gd name="adj" fmla="val 9886"/>
            </a:avLst>
          </a:prstGeom>
          <a:solidFill>
            <a:srgbClr val="CAE1E8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333" y="7190780"/>
            <a:ext cx="238363" cy="190619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82316" y="7136606"/>
            <a:ext cx="12294751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¿Por qué STABLE?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No cambia durante una misma consulta, pero podría cambiar entre transacciones por inserciones/updates.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11975"/>
            <a:ext cx="550866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Uso de Función Tabular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528888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Uso: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069669"/>
            <a:ext cx="13042821" cy="615196"/>
          </a:xfrm>
          <a:prstGeom prst="roundRect">
            <a:avLst>
              <a:gd name="adj" fmla="val 13550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783908" y="3069669"/>
            <a:ext cx="13062585" cy="615196"/>
          </a:xfrm>
          <a:prstGeom prst="roundRect">
            <a:avLst>
              <a:gd name="adj" fmla="val 4839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982266" y="3218498"/>
            <a:ext cx="1266586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empleados_departamento(2);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3908108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Resultado esperado: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93790" y="4448889"/>
            <a:ext cx="13042821" cy="1727954"/>
          </a:xfrm>
          <a:prstGeom prst="roundRect">
            <a:avLst>
              <a:gd name="adj" fmla="val 482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1410" y="4456509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99768" y="4583192"/>
            <a:ext cx="61132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nombre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517368" y="4583192"/>
            <a:ext cx="61132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salario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01410" y="5027414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99768" y="5154097"/>
            <a:ext cx="61132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Benjamín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517368" y="5154097"/>
            <a:ext cx="61132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1800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01410" y="5598319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99768" y="5725001"/>
            <a:ext cx="61132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Carla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517368" y="5725001"/>
            <a:ext cx="61132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1700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93790" y="6400086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1424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Alternativa: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RETURNS SETOF record con OUT params; RETURNS TABLE es más legible para contratos estables.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50889"/>
            <a:ext cx="584406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Casos de Uso Frecuentes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367802"/>
            <a:ext cx="198358" cy="24800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3790" y="3682127"/>
            <a:ext cx="4215289" cy="228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2"/>
          <p:cNvSpPr/>
          <p:nvPr/>
        </p:nvSpPr>
        <p:spPr>
          <a:xfrm>
            <a:off x="793790" y="382702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Cálculos recurrentes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793790" y="4256246"/>
            <a:ext cx="421528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IVA, comisiones: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793790" y="4797028"/>
            <a:ext cx="4215289" cy="932736"/>
          </a:xfrm>
          <a:prstGeom prst="roundRect">
            <a:avLst>
              <a:gd name="adj" fmla="val 8937"/>
            </a:avLst>
          </a:prstGeom>
          <a:solidFill>
            <a:srgbClr val="F2F2F2"/>
          </a:solidFill>
          <a:ln/>
        </p:spPr>
      </p:sp>
      <p:sp>
        <p:nvSpPr>
          <p:cNvPr id="8" name="Shape 5"/>
          <p:cNvSpPr/>
          <p:nvPr/>
        </p:nvSpPr>
        <p:spPr>
          <a:xfrm>
            <a:off x="783908" y="4797028"/>
            <a:ext cx="4235053" cy="932736"/>
          </a:xfrm>
          <a:prstGeom prst="roundRect">
            <a:avLst>
              <a:gd name="adj" fmla="val 3192"/>
            </a:avLst>
          </a:prstGeom>
          <a:solidFill>
            <a:srgbClr val="F2F2F2"/>
          </a:solidFill>
          <a:ln/>
        </p:spPr>
      </p:sp>
      <p:sp>
        <p:nvSpPr>
          <p:cNvPr id="9" name="Text 6"/>
          <p:cNvSpPr/>
          <p:nvPr/>
        </p:nvSpPr>
        <p:spPr>
          <a:xfrm>
            <a:off x="982266" y="4945856"/>
            <a:ext cx="383833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calcular_impuesto(1000, 0.19), calcular_descuento(1000, 0.05);</a:t>
            </a:r>
            <a:endParaRPr lang="en-US" sz="15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7437" y="3367802"/>
            <a:ext cx="198358" cy="248007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207437" y="3682127"/>
            <a:ext cx="4215408" cy="22860"/>
          </a:xfrm>
          <a:prstGeom prst="rect">
            <a:avLst/>
          </a:prstGeom>
          <a:solidFill>
            <a:srgbClr val="CADCD8"/>
          </a:solidFill>
          <a:ln/>
        </p:spPr>
      </p:sp>
      <p:sp>
        <p:nvSpPr>
          <p:cNvPr id="12" name="Text 8"/>
          <p:cNvSpPr/>
          <p:nvPr/>
        </p:nvSpPr>
        <p:spPr>
          <a:xfrm>
            <a:off x="5207437" y="3827026"/>
            <a:ext cx="316361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Transformaciones de datos</a:t>
            </a:r>
            <a:endParaRPr lang="en-US" sz="1950" dirty="0"/>
          </a:p>
        </p:txBody>
      </p:sp>
      <p:sp>
        <p:nvSpPr>
          <p:cNvPr id="13" name="Text 9"/>
          <p:cNvSpPr/>
          <p:nvPr/>
        </p:nvSpPr>
        <p:spPr>
          <a:xfrm>
            <a:off x="5207437" y="4256246"/>
            <a:ext cx="42154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Formateos/normalizaciones: ideal como "helpers" para UPPER/TRIM/REGEXP_REPLACE.</a:t>
            </a:r>
            <a:endParaRPr lang="en-US" sz="15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1203" y="3367802"/>
            <a:ext cx="198358" cy="248007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9621203" y="3682127"/>
            <a:ext cx="4215289" cy="22860"/>
          </a:xfrm>
          <a:prstGeom prst="rect">
            <a:avLst/>
          </a:prstGeom>
          <a:solidFill>
            <a:srgbClr val="B9AAD4"/>
          </a:solidFill>
          <a:ln/>
        </p:spPr>
      </p:sp>
      <p:sp>
        <p:nvSpPr>
          <p:cNvPr id="16" name="Text 11"/>
          <p:cNvSpPr/>
          <p:nvPr/>
        </p:nvSpPr>
        <p:spPr>
          <a:xfrm>
            <a:off x="9621203" y="3827026"/>
            <a:ext cx="385381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Reglas de negocio y validaciones</a:t>
            </a:r>
            <a:endParaRPr lang="en-US" sz="1950" dirty="0"/>
          </a:p>
        </p:txBody>
      </p:sp>
      <p:sp>
        <p:nvSpPr>
          <p:cNvPr id="17" name="Text 12"/>
          <p:cNvSpPr/>
          <p:nvPr/>
        </p:nvSpPr>
        <p:spPr>
          <a:xfrm>
            <a:off x="9621203" y="4256246"/>
            <a:ext cx="421528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Encapsular criterios de elegibilidad o scoring y exponer solo funciones a aplicaciones.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852976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Más Casos de Uso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3869888"/>
            <a:ext cx="6422231" cy="1506736"/>
          </a:xfrm>
          <a:prstGeom prst="roundRect">
            <a:avLst>
              <a:gd name="adj" fmla="val 7282"/>
            </a:avLst>
          </a:prstGeom>
          <a:solidFill>
            <a:srgbClr val="FFFFFF"/>
          </a:solidFill>
          <a:ln w="2286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0930" y="3869888"/>
            <a:ext cx="91440" cy="1506736"/>
          </a:xfrm>
          <a:prstGeom prst="roundRect">
            <a:avLst>
              <a:gd name="adj" fmla="val 91163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1083588" y="4091107"/>
            <a:ext cx="392846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Consultas complejas reutilizables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83588" y="4520327"/>
            <a:ext cx="59112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Joins y agregaciones dentro de UDF tabulares con parámetros (p.ej., rangos de fecha).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14379" y="3869888"/>
            <a:ext cx="6422231" cy="1506736"/>
          </a:xfrm>
          <a:prstGeom prst="roundRect">
            <a:avLst>
              <a:gd name="adj" fmla="val 7282"/>
            </a:avLst>
          </a:prstGeom>
          <a:solidFill>
            <a:srgbClr val="FFFFFF"/>
          </a:solidFill>
          <a:ln w="22860">
            <a:solidFill>
              <a:srgbClr val="CADC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1519" y="3869888"/>
            <a:ext cx="91440" cy="1506736"/>
          </a:xfrm>
          <a:prstGeom prst="roundRect">
            <a:avLst>
              <a:gd name="adj" fmla="val 91163"/>
            </a:avLst>
          </a:prstGeom>
          <a:solidFill>
            <a:srgbClr val="CADCD8"/>
          </a:solidFill>
          <a:ln/>
        </p:spPr>
      </p:sp>
      <p:sp>
        <p:nvSpPr>
          <p:cNvPr id="9" name="Text 7"/>
          <p:cNvSpPr/>
          <p:nvPr/>
        </p:nvSpPr>
        <p:spPr>
          <a:xfrm>
            <a:off x="7704177" y="409110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Interoperabilidad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704177" y="4520327"/>
            <a:ext cx="59112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Aplicaciones llaman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ventas_rango($1,$2);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en vez de concatenar SQL.</a:t>
            </a:r>
            <a:endParaRPr lang="en-US" sz="15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60252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Prácticas Recomendadas: Volatilidad y Seguridad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2598063"/>
            <a:ext cx="7556421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1F3E47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Volatilidad correcta = planes óptimos y resultados esperados: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793790" y="3639860"/>
            <a:ext cx="3679031" cy="1824276"/>
          </a:xfrm>
          <a:prstGeom prst="roundRect">
            <a:avLst>
              <a:gd name="adj" fmla="val 4569"/>
            </a:avLst>
          </a:prstGeom>
          <a:solidFill>
            <a:srgbClr val="028090"/>
          </a:solidFill>
          <a:ln w="22860">
            <a:solidFill>
              <a:srgbClr val="1B99A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15008" y="386107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IMMUTABLE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015008" y="4290298"/>
            <a:ext cx="32365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Pura, depende solo de parámetros (ej.: calcular_impuesto).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4671179" y="3639860"/>
            <a:ext cx="3679031" cy="1824276"/>
          </a:xfrm>
          <a:prstGeom prst="roundRect">
            <a:avLst>
              <a:gd name="adj" fmla="val 4569"/>
            </a:avLst>
          </a:prstGeom>
          <a:solidFill>
            <a:srgbClr val="CADCD8"/>
          </a:solidFill>
          <a:ln w="22860">
            <a:solidFill>
              <a:srgbClr val="B0C2B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92397" y="386107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STABLE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4892397" y="4290298"/>
            <a:ext cx="323659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Depende de datos, no cambia dentro de la misma consulta (ej.: empleados_departamento).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793790" y="5662493"/>
            <a:ext cx="7556421" cy="1506736"/>
          </a:xfrm>
          <a:prstGeom prst="roundRect">
            <a:avLst>
              <a:gd name="adj" fmla="val 5532"/>
            </a:avLst>
          </a:prstGeom>
          <a:solidFill>
            <a:srgbClr val="B9AAD4"/>
          </a:solidFill>
          <a:ln w="22860">
            <a:solidFill>
              <a:srgbClr val="9F90B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15008" y="588371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VOLATILE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1015008" y="6312932"/>
            <a:ext cx="711398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Cambia en cada llamada (ej.: now(), aleatorios). Antipatrón: marcar IMMUTABLE algo que use CURRENT_DATE.</a:t>
            </a:r>
            <a:endParaRPr lang="en-US" sz="1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34389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Seguridad en UDFs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751302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Seguridad: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por defecto SECURITY INVOKER. Si usas SECURITY DEFINER, la función corre con privilegios del creador: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449044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2809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Útil para: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93790" y="4998958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"Portales seguros" (exponer datos derivados sin exponer tablas).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564874" y="449044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6E7073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Requiere cuidado: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564874" y="4998958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 el search_path y la propiedad del objeto para evitar escaladas.</a:t>
            </a:r>
            <a:endParaRPr lang="en-US" sz="15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5344"/>
            <a:ext cx="858964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Actividad 1: Total de Venta (Escalar)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862257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Objetivo: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diseñar una función total_venta(cantidad, precio) que retorne cantidad * precio y usarla en SELECT. Contexto: tabla ventas_detalle con cantidad y precio_unitario. Requisitos técnicos: PostgreSQL operativo.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2720578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Tiempo estimado: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25 min (individual)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3335774"/>
            <a:ext cx="390608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Instrucciones (paso a paso):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93790" y="4005501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1.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Crear tabla: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93790" y="4546283"/>
            <a:ext cx="13042821" cy="2837974"/>
          </a:xfrm>
          <a:prstGeom prst="roundRect">
            <a:avLst>
              <a:gd name="adj" fmla="val 2937"/>
            </a:avLst>
          </a:prstGeom>
          <a:solidFill>
            <a:srgbClr val="F2F2F2"/>
          </a:solidFill>
          <a:ln/>
        </p:spPr>
      </p:sp>
      <p:sp>
        <p:nvSpPr>
          <p:cNvPr id="8" name="Shape 6"/>
          <p:cNvSpPr/>
          <p:nvPr/>
        </p:nvSpPr>
        <p:spPr>
          <a:xfrm>
            <a:off x="783908" y="4546283"/>
            <a:ext cx="13062585" cy="2837974"/>
          </a:xfrm>
          <a:prstGeom prst="roundRect">
            <a:avLst>
              <a:gd name="adj" fmla="val 1049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982266" y="4695111"/>
            <a:ext cx="12665869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IF NOT EXISTS ventas_detalle ( id SERIAL PRIMARY KEY, cliente TEXT, producto TEXT, cantidad INT, precio_unitario NUMERIC, fecha DATE);</a:t>
            </a:r>
            <a:endParaRPr lang="en-US" sz="15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2102"/>
            <a:ext cx="587680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Continuación Actividad 1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639014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2.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Insertar 3–5 filas de prueba.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2179796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3.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Crear UDF: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93790" y="2720578"/>
            <a:ext cx="13042821" cy="1567815"/>
          </a:xfrm>
          <a:prstGeom prst="roundRect">
            <a:avLst>
              <a:gd name="adj" fmla="val 5317"/>
            </a:avLst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783908" y="2720578"/>
            <a:ext cx="13062585" cy="1567815"/>
          </a:xfrm>
          <a:prstGeom prst="roundRect">
            <a:avLst>
              <a:gd name="adj" fmla="val 1899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982266" y="2869406"/>
            <a:ext cx="12665869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CREATE OR REPLACE FUNCTION total_venta(cantidad INT, precio NUMERIC)RETURNS NUMERIC AS $$    SELECT cantidad * precio;$$ LANGUAGE SQL IMMUTABLE;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93790" y="4511635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4.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Consultar: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93790" y="5052417"/>
            <a:ext cx="13042821" cy="932736"/>
          </a:xfrm>
          <a:prstGeom prst="roundRect">
            <a:avLst>
              <a:gd name="adj" fmla="val 8937"/>
            </a:avLst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783908" y="5052417"/>
            <a:ext cx="13062585" cy="932736"/>
          </a:xfrm>
          <a:prstGeom prst="roundRect">
            <a:avLst>
              <a:gd name="adj" fmla="val 3192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982266" y="5201245"/>
            <a:ext cx="1266586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cliente, producto, total_venta(cantidad, precio_unitario) AS totalFROM ventas_detalle;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93790" y="6208395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Entregable: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script .sql con creación + pruebas, y captura/resultado.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93790" y="6749177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Pauta mínima de corrección: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función compila, tipos correctos, consulta produce totales.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93790" y="7289959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Solución esperada: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Igual a los pasos anteriores, verificando totales correctos (p.ej., 5 × 120 → 600).</a:t>
            </a:r>
            <a:endParaRPr lang="en-US" sz="15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954" y="536138"/>
            <a:ext cx="12124611" cy="607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Actividad 2: Ingresos por Cliente (Agregado Escalar)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77954" y="1532930"/>
            <a:ext cx="13074491" cy="311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Objetivo: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implementar ingresos_cliente(nombre_cliente TEXT) que suma cantidad * precio_unitario en ventas_detalle.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954" y="2062877"/>
            <a:ext cx="13074491" cy="311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Tiempo: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20 min (individual)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954" y="2592824"/>
            <a:ext cx="13074491" cy="311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Instrucciones: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954" y="3122771"/>
            <a:ext cx="13074491" cy="2159079"/>
          </a:xfrm>
          <a:prstGeom prst="roundRect">
            <a:avLst>
              <a:gd name="adj" fmla="val 3784"/>
            </a:avLst>
          </a:prstGeom>
          <a:solidFill>
            <a:srgbClr val="F2F2F2"/>
          </a:solidFill>
          <a:ln/>
        </p:spPr>
      </p:sp>
      <p:sp>
        <p:nvSpPr>
          <p:cNvPr id="7" name="Shape 5"/>
          <p:cNvSpPr/>
          <p:nvPr/>
        </p:nvSpPr>
        <p:spPr>
          <a:xfrm>
            <a:off x="768310" y="3122771"/>
            <a:ext cx="13093779" cy="2159079"/>
          </a:xfrm>
          <a:prstGeom prst="roundRect">
            <a:avLst>
              <a:gd name="adj" fmla="val 1351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962739" y="3268623"/>
            <a:ext cx="12704921" cy="1867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1C1D22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CREATE OR REPLACE FUNCTION ingresos_cliente(nombre_cliente TEXT)RETURNS NUMERIC AS $$    SELECT COALESCE(SUM(cantidad * precio_unitario),0)    FROM ventas_detalle    WHERE cliente = nombre_cliente;$$ LANGUAGE SQL STABLE;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954" y="5500568"/>
            <a:ext cx="13074491" cy="311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Pruebas: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77954" y="6030516"/>
            <a:ext cx="13074491" cy="602933"/>
          </a:xfrm>
          <a:prstGeom prst="roundRect">
            <a:avLst>
              <a:gd name="adj" fmla="val 13550"/>
            </a:avLst>
          </a:prstGeom>
          <a:solidFill>
            <a:srgbClr val="F2F2F2"/>
          </a:solidFill>
          <a:ln/>
        </p:spPr>
      </p:sp>
      <p:sp>
        <p:nvSpPr>
          <p:cNvPr id="11" name="Shape 9"/>
          <p:cNvSpPr/>
          <p:nvPr/>
        </p:nvSpPr>
        <p:spPr>
          <a:xfrm>
            <a:off x="768310" y="6030516"/>
            <a:ext cx="13093779" cy="602933"/>
          </a:xfrm>
          <a:prstGeom prst="roundRect">
            <a:avLst>
              <a:gd name="adj" fmla="val 4839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962739" y="6176367"/>
            <a:ext cx="12704921" cy="311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1C1D22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ingresos_cliente('Juan Pérez') AS total_juan;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954" y="6852166"/>
            <a:ext cx="13074491" cy="311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Entregable: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query + salida.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954" y="7382113"/>
            <a:ext cx="13074491" cy="311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Solución esperada: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suma numérica correcta (usa COALESCE para clientes sin ventas).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543" y="498038"/>
            <a:ext cx="10696218" cy="565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Actividad 3: Ventas por Rango (RETURNS TABLE)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23543" y="1424940"/>
            <a:ext cx="13183314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Objetivo:</a:t>
            </a:r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crear ventas_rango(fecha_inicio, fecha_fin) que devuelve por cliente el total en rango.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23543" y="1917740"/>
            <a:ext cx="13183314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Tiempo:</a:t>
            </a:r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20 min (individual)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23543" y="2410539"/>
            <a:ext cx="13183314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Instrucciones: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23543" y="2903339"/>
            <a:ext cx="13183314" cy="2585799"/>
          </a:xfrm>
          <a:prstGeom prst="roundRect">
            <a:avLst>
              <a:gd name="adj" fmla="val 2938"/>
            </a:avLst>
          </a:prstGeom>
          <a:solidFill>
            <a:srgbClr val="F2F2F2"/>
          </a:solidFill>
          <a:ln/>
        </p:spPr>
      </p:sp>
      <p:sp>
        <p:nvSpPr>
          <p:cNvPr id="7" name="Shape 5"/>
          <p:cNvSpPr/>
          <p:nvPr/>
        </p:nvSpPr>
        <p:spPr>
          <a:xfrm>
            <a:off x="714613" y="2903339"/>
            <a:ext cx="13201174" cy="2585799"/>
          </a:xfrm>
          <a:prstGeom prst="roundRect">
            <a:avLst>
              <a:gd name="adj" fmla="val 1049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895469" y="3038951"/>
            <a:ext cx="12839462" cy="231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1C1D22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CREATE OR REPLACE FUNCTION ventas_rango(fecha_inicio DATE, fecha_fin DATE)RETURNS TABLE(cliente TEXT, total NUMERIC) AS $$    SELECT cliente, SUM(cantidad * precio_unitario) AS total    FROM ventas_detalle    WHERE fecha BETWEEN fecha_inicio AND fecha_fin    GROUP BY cliente    ORDER BY total DESC;$$ LANGUAGE SQL STABLE;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23543" y="5692616"/>
            <a:ext cx="13183314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Pruebas: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23543" y="6185416"/>
            <a:ext cx="13183314" cy="560546"/>
          </a:xfrm>
          <a:prstGeom prst="roundRect">
            <a:avLst>
              <a:gd name="adj" fmla="val 13553"/>
            </a:avLst>
          </a:prstGeom>
          <a:solidFill>
            <a:srgbClr val="F2F2F2"/>
          </a:solidFill>
          <a:ln/>
        </p:spPr>
      </p:sp>
      <p:sp>
        <p:nvSpPr>
          <p:cNvPr id="11" name="Shape 9"/>
          <p:cNvSpPr/>
          <p:nvPr/>
        </p:nvSpPr>
        <p:spPr>
          <a:xfrm>
            <a:off x="714613" y="6185416"/>
            <a:ext cx="13201174" cy="560546"/>
          </a:xfrm>
          <a:prstGeom prst="roundRect">
            <a:avLst>
              <a:gd name="adj" fmla="val 4840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895469" y="6321028"/>
            <a:ext cx="12839462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1C1D22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ventas_rango('2024-01-01','2024-12-31');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3543" y="6949440"/>
            <a:ext cx="13183314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Entregable:</a:t>
            </a:r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función + captura con resultados.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23543" y="7442240"/>
            <a:ext cx="13183314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Solución esperada:</a:t>
            </a:r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tabla con clientes y totales ordenados.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36439"/>
            <a:ext cx="513802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Actividad Integradora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053352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Desafío: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construir una UDF que retorne el producto más vendido (por unidades) en un rango de fechas y el ingreso total asociado. Debe aceptar fecha_inicio y fecha_fin y retornar una tabla con columnas: producto, unidades, ingreso_total. Si hay empates, devolver todos.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298608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Requisitos técnicos: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93790" y="3655814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Usa ventas_detalle (si no existe, crear y poblar con al menos 8–10 filas variadas).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4042767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 usar subconsultas correlacionadas innecesarias; puedes usar CTEs.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4657963"/>
            <a:ext cx="5303044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Plantilla/Guía paso a paso (sugerida):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93790" y="5327690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Font typeface="+mj-lt"/>
              <a:buAutoNum type="arabicPeriod" startAt="1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CTE para filtrar por rango.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93790" y="5714643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Font typeface="+mj-lt"/>
              <a:buAutoNum type="arabicPeriod" startAt="2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CTE para agrupar por producto sumando unidades e ingreso_total.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93790" y="6101596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Font typeface="+mj-lt"/>
              <a:buAutoNum type="arabicPeriod" startAt="3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CTE para obtener max_unidades.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93790" y="6488549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Font typeface="+mj-lt"/>
              <a:buAutoNum type="arabicPeriod" startAt="4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Seleccionar solo los productos con unidades = max_unidades.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93790" y="6875502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Font typeface="+mj-lt"/>
              <a:buAutoNum type="arabicPeriod" startAt="5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Exponer como UDF RETURNS TABLE.</a:t>
            </a:r>
            <a:endParaRPr lang="en-US" sz="15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2691" y="394335"/>
            <a:ext cx="3864293" cy="447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Solución de Referencia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72691" y="1128117"/>
            <a:ext cx="13485019" cy="5712381"/>
          </a:xfrm>
          <a:prstGeom prst="roundRect">
            <a:avLst>
              <a:gd name="adj" fmla="val 1053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565547" y="1128117"/>
            <a:ext cx="13499306" cy="5712381"/>
          </a:xfrm>
          <a:prstGeom prst="roundRect">
            <a:avLst>
              <a:gd name="adj" fmla="val 376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708660" y="1235393"/>
            <a:ext cx="13213080" cy="549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C1D22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CREATE OR REPLACE FUNCTION top_producto_por_rango(    fecha_inicio DATE,    fecha_fin DATE) RETURNS TABLE(producto TEXT, unidades BIGINT, ingreso_total NUMERIC) AS $$WITH ventas_filtradas AS (    SELECT producto, cantidad, precio_unitario    FROM ventas_detalle    WHERE fecha BETWEEN fecha_inicio AND fecha_fin),agregados AS (    SELECT producto,           SUM(cantidad)::BIGINT AS unidades,           SUM(cantidad * precio_unitario)::NUMERIC AS ingreso_total    FROM ventas_filtradas    GROUP BY producto),maximo AS (    SELECT MAX(unidades) AS max_unidades FROM agregados)SELECT a.producto, a.unidades, a.ingreso_totalFROM agregados aJOIN maximo m ON a.unidades = m.max_unidadesORDER BY a.ingreso_total DESC;$$ LANGUAGE SQL STABLE;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72691" y="7001470"/>
            <a:ext cx="13485019" cy="229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Pruebas: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72691" y="7391519"/>
            <a:ext cx="13485019" cy="443627"/>
          </a:xfrm>
          <a:prstGeom prst="roundRect">
            <a:avLst>
              <a:gd name="adj" fmla="val 13556"/>
            </a:avLst>
          </a:prstGeom>
          <a:solidFill>
            <a:srgbClr val="F2F2F2"/>
          </a:solidFill>
          <a:ln/>
        </p:spPr>
      </p:sp>
      <p:sp>
        <p:nvSpPr>
          <p:cNvPr id="8" name="Shape 6"/>
          <p:cNvSpPr/>
          <p:nvPr/>
        </p:nvSpPr>
        <p:spPr>
          <a:xfrm>
            <a:off x="565547" y="7391519"/>
            <a:ext cx="13499306" cy="443627"/>
          </a:xfrm>
          <a:prstGeom prst="roundRect">
            <a:avLst>
              <a:gd name="adj" fmla="val 4841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708660" y="7498794"/>
            <a:ext cx="13213080" cy="229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C1D22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top_producto_por_rango('2024-01-01','2024-12-31');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493" y="484346"/>
            <a:ext cx="4403527" cy="550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Cierre y Reflexión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704493" y="1298972"/>
            <a:ext cx="5559266" cy="440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3 preguntas abiertas de reflexión</a:t>
            </a:r>
            <a:endParaRPr lang="en-US" sz="2750" dirty="0"/>
          </a:p>
        </p:txBody>
      </p:sp>
      <p:sp>
        <p:nvSpPr>
          <p:cNvPr id="4" name="Shape 2"/>
          <p:cNvSpPr/>
          <p:nvPr/>
        </p:nvSpPr>
        <p:spPr>
          <a:xfrm>
            <a:off x="704493" y="2003465"/>
            <a:ext cx="396240" cy="396240"/>
          </a:xfrm>
          <a:prstGeom prst="roundRect">
            <a:avLst>
              <a:gd name="adj" fmla="val 18671"/>
            </a:avLst>
          </a:prstGeom>
          <a:solidFill>
            <a:srgbClr val="028090"/>
          </a:solidFill>
          <a:ln w="15240">
            <a:solidFill>
              <a:srgbClr val="1B99A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0513" y="2036505"/>
            <a:ext cx="264200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205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1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1276826" y="2060615"/>
            <a:ext cx="3687961" cy="845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¿Qué criterios usarás para decidir si tu función debe ser IMMUTABLE, STABLE o VOLATILE? Da un ejemplo propio.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184934" y="2003465"/>
            <a:ext cx="396240" cy="396240"/>
          </a:xfrm>
          <a:prstGeom prst="roundRect">
            <a:avLst>
              <a:gd name="adj" fmla="val 18671"/>
            </a:avLst>
          </a:prstGeom>
          <a:solidFill>
            <a:srgbClr val="CADCD8"/>
          </a:solidFill>
          <a:ln w="15240">
            <a:solidFill>
              <a:srgbClr val="B0C2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50954" y="2036505"/>
            <a:ext cx="264200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2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5757267" y="2060615"/>
            <a:ext cx="3688080" cy="1126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¿Cómo cambiaría tu diseño de funciones si necesitas exponer datos a un equipo externo con mínimos privilegios? (piensa en SECURITY DEFINER y search_path).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665494" y="2003465"/>
            <a:ext cx="396240" cy="396240"/>
          </a:xfrm>
          <a:prstGeom prst="roundRect">
            <a:avLst>
              <a:gd name="adj" fmla="val 18671"/>
            </a:avLst>
          </a:prstGeom>
          <a:solidFill>
            <a:srgbClr val="B9AAD4"/>
          </a:solidFill>
          <a:ln w="15240">
            <a:solidFill>
              <a:srgbClr val="9F90B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31514" y="2036505"/>
            <a:ext cx="264200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3</a:t>
            </a:r>
            <a:endParaRPr lang="en-US" sz="2050" dirty="0"/>
          </a:p>
        </p:txBody>
      </p:sp>
      <p:sp>
        <p:nvSpPr>
          <p:cNvPr id="12" name="Text 10"/>
          <p:cNvSpPr/>
          <p:nvPr/>
        </p:nvSpPr>
        <p:spPr>
          <a:xfrm>
            <a:off x="10237827" y="2060615"/>
            <a:ext cx="3687961" cy="563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¿Qué test mínimos harías para validar una UDF escalar y una tabular en tu contexto de trabajo?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04493" y="3451622"/>
            <a:ext cx="4497824" cy="440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1F3E47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Resumen — 5 puntos clave</a:t>
            </a:r>
            <a:endParaRPr lang="en-US" sz="2750" dirty="0"/>
          </a:p>
        </p:txBody>
      </p:sp>
      <p:sp>
        <p:nvSpPr>
          <p:cNvPr id="14" name="Text 12"/>
          <p:cNvSpPr/>
          <p:nvPr/>
        </p:nvSpPr>
        <p:spPr>
          <a:xfrm>
            <a:off x="704493" y="4156115"/>
            <a:ext cx="13221414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Una UDF es una unidad de reuso y encapsulamiento de lógica SQL.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4493" y="4499372"/>
            <a:ext cx="13221414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Font typeface="+mj-lt"/>
              <a:buAutoNum type="arabicPeriod" startAt="2"/>
            </a:pPr>
            <a:r>
              <a:rPr lang="en-US" sz="13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Distingue los tipos de retorno: escalar vs RETURNS TABLE / SETOF.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04493" y="4842629"/>
            <a:ext cx="13221414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Font typeface="+mj-lt"/>
              <a:buAutoNum type="arabicPeriod" startAt="3"/>
            </a:pPr>
            <a:r>
              <a:rPr lang="en-US" sz="13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 volatilidad correcta guía al optimizador y evita sorpresas.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04493" y="5185886"/>
            <a:ext cx="13221414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Font typeface="+mj-lt"/>
              <a:buAutoNum type="arabicPeriod" startAt="4"/>
            </a:pPr>
            <a:r>
              <a:rPr lang="en-US" sz="13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Usa UDFs para cálculos recurrentes, consultas parametrizadas y para interoperar con aplicaciones de forma segura.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4493" y="5529143"/>
            <a:ext cx="13221414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Font typeface="+mj-lt"/>
              <a:buAutoNum type="arabicPeriod" startAt="5"/>
            </a:pPr>
            <a:r>
              <a:rPr lang="en-US" sz="13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Este contenido se articula con el Módulo 6 del plan: consultas, modelado y funciones de usuario.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04493" y="6075045"/>
            <a:ext cx="8106728" cy="440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3 preguntas de activación para la clase siguiente</a:t>
            </a:r>
            <a:endParaRPr lang="en-US" sz="2750" dirty="0"/>
          </a:p>
        </p:txBody>
      </p:sp>
      <p:sp>
        <p:nvSpPr>
          <p:cNvPr id="20" name="Text 18"/>
          <p:cNvSpPr/>
          <p:nvPr/>
        </p:nvSpPr>
        <p:spPr>
          <a:xfrm>
            <a:off x="704493" y="6779538"/>
            <a:ext cx="13221414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¿Cuándo conviene una vista y cuándo una UDF tabular?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04493" y="7122795"/>
            <a:ext cx="13221414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Font typeface="+mj-lt"/>
              <a:buAutoNum type="arabicPeriod" startAt="2"/>
            </a:pPr>
            <a:r>
              <a:rPr lang="en-US" sz="13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¿Cómo versionarías y depreciarías funciones sin romper clientes?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04493" y="7466052"/>
            <a:ext cx="13221414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Font typeface="+mj-lt"/>
              <a:buAutoNum type="arabicPeriod" startAt="3"/>
            </a:pPr>
            <a:r>
              <a:rPr lang="en-US" sz="13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¿Qué patrones aplicarías para probar y documentar UDFs en tu repositorio?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2025-10-03T15:19:11Z</dcterms:created>
  <dcterms:modified xsi:type="dcterms:W3CDTF">2025-10-03T15:19:11Z</dcterms:modified>
</cp:coreProperties>
</file>