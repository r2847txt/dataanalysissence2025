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Nunito Extra Bold"/>
      <p:regular r:id="rId27"/>
    </p:embeddedFont>
    <p:embeddedFont>
      <p:font typeface="Nunito Extra Bold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5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20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21.xml"/><Relationship Id="rId1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952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Tableau: Agregaciones, Cálculos y Parámetros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0733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 la métrica al insight accionable: dominando agregaciones, lógica de negocio y controles interactivos para crear reportes dinámicos y configurables que transformen datos en decisiones estratégicas.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32478"/>
            <a:ext cx="57071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Preguntas de Activación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2650212"/>
            <a:ext cx="3679031" cy="2141815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1408" y="28714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Nivel de Detalle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501408" y="3300651"/>
            <a:ext cx="32365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Cuando agregas Región a una vista que ya muestra el promedio de ventas, el valor cambia. ¿Qué está ocurriendo realmente con el nivel de detalle?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0157579" y="2650212"/>
            <a:ext cx="3679031" cy="2141815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78797" y="2871430"/>
            <a:ext cx="28357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Rendimiento COUNTD()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378797" y="3300651"/>
            <a:ext cx="32365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¿Por qué COUNTD() puede ser "caro" computacionalmente y en qué casos te conviene pre-agregar o usar extractos?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80190" y="4990386"/>
            <a:ext cx="7556421" cy="1506736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22860">
            <a:solidFill>
              <a:srgbClr val="B9AA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1408" y="52116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Parámetros Visibles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501408" y="5640824"/>
            <a:ext cx="71139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¿Un parámetro filtra datos por sí mismo? ¿Cómo lo harías visible para que el usuario perciba su efecto?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3755"/>
            <a:ext cx="759690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El Triángulo Práctico de Tableau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440668"/>
            <a:ext cx="4215289" cy="1824276"/>
          </a:xfrm>
          <a:prstGeom prst="roundRect">
            <a:avLst>
              <a:gd name="adj" fmla="val 4569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3661886"/>
            <a:ext cx="32204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1. Funciones de Agregación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4091107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resumir correctamente según el nivel de detalle y obtener métricas precisas que reflejen la realidad del negocio.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440668"/>
            <a:ext cx="4215408" cy="1824276"/>
          </a:xfrm>
          <a:prstGeom prst="roundRect">
            <a:avLst>
              <a:gd name="adj" fmla="val 4569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8655" y="36618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2. Cálculos en Celda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4091107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codificar la lógica de negocio sin tocar la fuente de datos, manteniendo flexibilidad y control total.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440668"/>
            <a:ext cx="4215289" cy="1824276"/>
          </a:xfrm>
          <a:prstGeom prst="roundRect">
            <a:avLst>
              <a:gd name="adj" fmla="val 4569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42421" y="3661886"/>
            <a:ext cx="29533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3. Parámetros y Acciones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4091107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abrir la experiencia a la decisión del usuario, creando dashboards interactivos y configurables.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48818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Cerraremos con un dashboard que integra ranking, participación, variación temporal y umbrales dinámicos, listo para reutilizar como plantilla profesional.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94974"/>
            <a:ext cx="660654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Son las Agregaciones?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811066"/>
            <a:ext cx="27967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Definición Fundamental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3319582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agregación resume múltiples filas en un solo valor (suma, promedio, conteo). Cada vista en Tableau implica una agregación determinada por las dimensiones presentes en la visual.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5085874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Punto clave: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Cambiar dimensiones cambia el contexto y, por ende, los resultados. La agregación se evalúa después de fijado el nivel de detalle.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308074" y="2811066"/>
            <a:ext cx="25899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Impacto en el Análisis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308074" y="3319582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nivel de detalle determina cómo se agrupan los datos antes del cálculo. Agregar una dimensión como "Región" puede cambiar completamente los promedios y totales mostrados.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08074" y="5085874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COUNTD() puede ser costoso en grandes volúmenes debido a que debe evaluar la cardinalidad completa del conjunto de datos.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8334"/>
            <a:ext cx="86065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Agregaciones Frecuentes en Tableau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25247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30429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SUM() y AVG()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3472220"/>
            <a:ext cx="343804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SUM() suma total de una medida. AVG() calcula el promedio. Fundamentales para métricas financieras y de rendimiento.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86" y="2925247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68127" y="3042999"/>
            <a:ext cx="26391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COUNT() y COUNTD()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968127" y="3472220"/>
            <a:ext cx="34381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COUNT() cuenta filas no nulas. COUNTD() cuenta valores distintos (cardinalidad). Esencial para análisis de clientes únicos.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2" y="2925247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98443" y="30429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MIN() y MAX()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0398443" y="3472220"/>
            <a:ext cx="34381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Identifican valores extremos. Útiles para rangos de precios, fechas límite y análisis de variabilidad.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821674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37930" y="4939427"/>
            <a:ext cx="251007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MEDIAN() y STDEV()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537930" y="5368647"/>
            <a:ext cx="343804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MEDIAN() para valores centrales. STDEV() y VAR() para medir dispersión y variabilidad en los datos.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986" y="4821674"/>
            <a:ext cx="496133" cy="4961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68127" y="49394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ATTR() y TOTAL()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5968127" y="5368647"/>
            <a:ext cx="34381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ATTR() devuelve "valor si único en el contexto, si no, *". TOTAL() y familia WINDOW_*() para cálculos de tabla.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8210"/>
            <a:ext cx="895731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Ejemplos Sectoriales de Agregaciones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885123"/>
            <a:ext cx="4215289" cy="2935486"/>
          </a:xfrm>
          <a:prstGeom prst="roundRect">
            <a:avLst>
              <a:gd name="adj" fmla="val 2840"/>
            </a:avLst>
          </a:prstGeom>
          <a:solidFill>
            <a:srgbClr val="028090"/>
          </a:solidFill>
          <a:ln w="22860">
            <a:solidFill>
              <a:srgbClr val="606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008" y="310634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6060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719" y="3236476"/>
            <a:ext cx="267891" cy="334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5008" y="39000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Retail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15008" y="4329232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SUM([Ventas]) por Producto×Mes para análisis de rendimiento temporal. COUNTD([Cliente]) por campaña para medir alcance y efectividad de marketing.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2885123"/>
            <a:ext cx="4215408" cy="2935486"/>
          </a:xfrm>
          <a:prstGeom prst="roundRect">
            <a:avLst>
              <a:gd name="adj" fmla="val 2840"/>
            </a:avLst>
          </a:prstGeom>
          <a:solidFill>
            <a:srgbClr val="028090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8655" y="310634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CADCD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366" y="3236476"/>
            <a:ext cx="267891" cy="3349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8655" y="39000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Banca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28655" y="4329232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AVG([Saldo]) por cliente para segmentación. MAX([Monto Transacción]) como proxy de riesgo y detección de anomalías.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2885123"/>
            <a:ext cx="4215289" cy="2935486"/>
          </a:xfrm>
          <a:prstGeom prst="roundRect">
            <a:avLst>
              <a:gd name="adj" fmla="val 2840"/>
            </a:avLst>
          </a:prstGeom>
          <a:solidFill>
            <a:srgbClr val="028090"/>
          </a:solidFill>
          <a:ln w="22860">
            <a:solidFill>
              <a:srgbClr val="B9AA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42421" y="310634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B9AAD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132" y="3236476"/>
            <a:ext cx="267891" cy="3349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42421" y="39000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Salud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42421" y="4329232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COUNTD([Paciente]) por especialidad para planificación de recursos. AVG([Estancia Días]) por diagnóstico para optimización operativa.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93790" y="604385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Cada sector requiere agregaciones específicas que reflejen sus métricas clave de negocio y permitan tomar decisiones informadas basadas en datos precisos.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76576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Cálculos en Celda: Lógica de Negocio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9127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Son?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3421261"/>
            <a:ext cx="3536156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cálculo en celda crea un campo calculado aplicado a dimensiones/medidas con operadores aritméticos, lógicos, de texto y fecha. Permite enriquecer datos sin alterar la fuente original.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505093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Aritmética: + - * /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5892046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Agregadas: SUM, AVG, combinadas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6278999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Lógicas: IF, CASE, IIF, AND/OR/NOT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6665952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Texto/Fecha: LEFT/RIGHT/LEN/UPPER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821674" y="2912745"/>
            <a:ext cx="27060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Fila a Fila vs Agregado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821674" y="3421261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Fila a fila: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se evalúa por registro ([Precio]*[Cantidad]).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821674" y="4234934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Agregado: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evalúa tras agrupar por dimensiones (SUM([Precio]*[Cantidad]) o SUM([Ingresos]) / COUNTD([Cliente])).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821674" y="5366147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Regla: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no mezclar agregadas y no agregadas sin encapsular (usa ATTR o agrega explícitamente).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958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616" y="2946678"/>
            <a:ext cx="8236863" cy="57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Cálculos de Tabla y TOTAL/WINDOW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4616" y="3796189"/>
            <a:ext cx="13161169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cálculos de tabla operan sobre el resultado en la vista (post-agregación). Requieren configurar dirección (addressing) y partición (partitioning) para que "caminen" por filas/columnas o panes como esperas.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4616" y="4590455"/>
            <a:ext cx="183594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4616" y="4879658"/>
            <a:ext cx="6488787" cy="228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734616" y="5017175"/>
            <a:ext cx="3531751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WINDOW_SUM(SUM([Ventas]))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4616" y="5414248"/>
            <a:ext cx="6488787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Suma en ventana específica, controlando exactamente qué celdas incluir en el cálculo.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06997" y="4590455"/>
            <a:ext cx="183594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06997" y="4879658"/>
            <a:ext cx="6488787" cy="22860"/>
          </a:xfrm>
          <a:prstGeom prst="rect">
            <a:avLst/>
          </a:prstGeom>
          <a:solidFill>
            <a:srgbClr val="CADCD8"/>
          </a:solidFill>
          <a:ln/>
        </p:spPr>
      </p:sp>
      <p:sp>
        <p:nvSpPr>
          <p:cNvPr id="11" name="Text 8"/>
          <p:cNvSpPr/>
          <p:nvPr/>
        </p:nvSpPr>
        <p:spPr>
          <a:xfrm>
            <a:off x="7406997" y="5017175"/>
            <a:ext cx="352091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RUNNING_SUM(SUM([Ventas]))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406997" y="5414248"/>
            <a:ext cx="6488787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Acumulado secuencial (YTD), perfecto para análisis de crecimiento temporal.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4616" y="6323290"/>
            <a:ext cx="183594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4616" y="6612493"/>
            <a:ext cx="6488787" cy="22860"/>
          </a:xfrm>
          <a:prstGeom prst="rect">
            <a:avLst/>
          </a:prstGeom>
          <a:solidFill>
            <a:srgbClr val="B9AAD4"/>
          </a:solidFill>
          <a:ln/>
        </p:spPr>
      </p:sp>
      <p:sp>
        <p:nvSpPr>
          <p:cNvPr id="15" name="Text 12"/>
          <p:cNvSpPr/>
          <p:nvPr/>
        </p:nvSpPr>
        <p:spPr>
          <a:xfrm>
            <a:off x="734616" y="6750010"/>
            <a:ext cx="3554849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WINDOW_AVG(AVG([Tiempo]))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4616" y="7147084"/>
            <a:ext cx="6488787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 móvil para suavizar tendencias y identificar patrones subyacentes.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06997" y="6323290"/>
            <a:ext cx="183594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406997" y="6612493"/>
            <a:ext cx="6488787" cy="22860"/>
          </a:xfrm>
          <a:prstGeom prst="rect">
            <a:avLst/>
          </a:prstGeom>
          <a:solidFill>
            <a:srgbClr val="B2D5AD"/>
          </a:solidFill>
          <a:ln/>
        </p:spPr>
      </p:sp>
      <p:sp>
        <p:nvSpPr>
          <p:cNvPr id="19" name="Text 16"/>
          <p:cNvSpPr/>
          <p:nvPr/>
        </p:nvSpPr>
        <p:spPr>
          <a:xfrm>
            <a:off x="7406997" y="6750010"/>
            <a:ext cx="245792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RANK(SUM([Ventas]))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06997" y="7147084"/>
            <a:ext cx="6488787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Ranking por partición, esencial para análisis Top-N y comparaciones competitivas.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0209"/>
            <a:ext cx="860595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Variación Intermensual con LOOKUP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86301"/>
            <a:ext cx="27930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Fórmula de Variación %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3319701"/>
            <a:ext cx="7632025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319701"/>
            <a:ext cx="7651790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468529"/>
            <a:ext cx="72550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(SUM([Ventas]) - LOOKUP(SUM([Ventas]), -1))/ ABS(LOOKUP(SUM([Ventas]), -1))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475678"/>
            <a:ext cx="763202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 fórmula calcula el cambio porcentual mes a mes, comparando el valor actual con el período anterior usando LOOKUP(-1).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289352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TOTAL() vs WINDOW_*():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785485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TOTAL() calcula respecto del total de la partición definida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6172438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WINDOW_* te obliga a pensar explícitamente en la ventana (más control)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917543" y="27863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Correlación en Vista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917543" y="3294817"/>
            <a:ext cx="49265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WINDOW_CORR(SUM([X]), SUM([Y])) permite analizar relaciones entre variables directamente en la visualización.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17543" y="4108490"/>
            <a:ext cx="49265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Si cambias filas/columnas y el % del total "se rompe", revisa Edit Table Calculation (dirección/partición).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9507"/>
            <a:ext cx="706850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Operaciones por Tipo de Dato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1737241"/>
            <a:ext cx="3679031" cy="2895957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0930" y="1737241"/>
            <a:ext cx="91440" cy="2895957"/>
          </a:xfrm>
          <a:prstGeom prst="roundRect">
            <a:avLst>
              <a:gd name="adj" fmla="val 91163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1083588" y="19584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Texto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83588" y="2387679"/>
            <a:ext cx="31680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LEFT([Campo], n), RIGHT, LEN, UPPER/LOWER, TRIM, CONTAINS para manipulación de cadenas.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83588" y="3459361"/>
            <a:ext cx="31680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Concatenación segura: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[Ciudad] + IIF(ISNULL([Region]) OR [Region] = "", "", ", " + [Region])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671179" y="1737241"/>
            <a:ext cx="3679031" cy="2895957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8319" y="1737241"/>
            <a:ext cx="91440" cy="2895957"/>
          </a:xfrm>
          <a:prstGeom prst="roundRect">
            <a:avLst>
              <a:gd name="adj" fmla="val 91163"/>
            </a:avLst>
          </a:prstGeom>
          <a:solidFill>
            <a:srgbClr val="CADCD8"/>
          </a:solidFill>
          <a:ln/>
        </p:spPr>
      </p:sp>
      <p:sp>
        <p:nvSpPr>
          <p:cNvPr id="11" name="Text 8"/>
          <p:cNvSpPr/>
          <p:nvPr/>
        </p:nvSpPr>
        <p:spPr>
          <a:xfrm>
            <a:off x="4960977" y="19584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Fecha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960977" y="2387679"/>
            <a:ext cx="31680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YEAR, MONTH, DAY, DATEADD, DATEDIFF, DATENAME, DATEPART, MAKEDATE para análisis temporal.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960977" y="3459361"/>
            <a:ext cx="31680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Define Date Part (discreto) vs Date Value (continuo) según el tipo de gráfico requerido.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93790" y="4831556"/>
            <a:ext cx="3679031" cy="2578418"/>
          </a:xfrm>
          <a:prstGeom prst="roundRect">
            <a:avLst>
              <a:gd name="adj" fmla="val 4256"/>
            </a:avLst>
          </a:prstGeom>
          <a:solidFill>
            <a:srgbClr val="FFFFFF"/>
          </a:solidFill>
          <a:ln w="22860">
            <a:solidFill>
              <a:srgbClr val="B9AA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0930" y="4831556"/>
            <a:ext cx="91440" cy="2578418"/>
          </a:xfrm>
          <a:prstGeom prst="roundRect">
            <a:avLst>
              <a:gd name="adj" fmla="val 91163"/>
            </a:avLst>
          </a:prstGeom>
          <a:solidFill>
            <a:srgbClr val="B9AAD4"/>
          </a:solidFill>
          <a:ln/>
        </p:spPr>
      </p:sp>
      <p:sp>
        <p:nvSpPr>
          <p:cNvPr id="16" name="Text 13"/>
          <p:cNvSpPr/>
          <p:nvPr/>
        </p:nvSpPr>
        <p:spPr>
          <a:xfrm>
            <a:off x="1083588" y="50527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Nulos y Divisiones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083588" y="5481995"/>
            <a:ext cx="31680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ZN(x) convierte NULL→0 y NULLIFZERO(x) devuelve NULL si x=0 (evita errores de división).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083588" y="6553676"/>
            <a:ext cx="31680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ZN([Margen]) / NULLIFZERO([Unidades])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2073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Parámetros: Controles Dinámicos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8569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Son?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3365421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parámetro es un valor dinámico (Integer/Float/String/Date/Boolean) definido por el usuario.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filtra por sí solo: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debe utilizarse en un cálculo, referencia o acción.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515147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Creación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280190" y="5659993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Panel de datos → clic derecho Create Parameter → define tipo, valores (lista/rango), valor por defecto y formato → Show Parameter para el control.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308074" y="28569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Patrones Aplicados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308074" y="3365421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Umbral dinámico global: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IF SUM([Ventas]) &gt;= [Meta Global] THEN "Sobre meta" ELSE "Bajo meta" END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308074" y="4496633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 móvil 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WINDOW_AVG(SUM([Ventas]), -[n Periodos]+1, 0)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4192"/>
            <a:ext cx="698313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Selector de Métrica con CASE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71105"/>
            <a:ext cx="13042821" cy="1885355"/>
          </a:xfrm>
          <a:prstGeom prst="roundRect">
            <a:avLst>
              <a:gd name="adj" fmla="val 4421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2171105"/>
            <a:ext cx="13062585" cy="18853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2319933"/>
            <a:ext cx="1266586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CASE [Selector]WHEN "Ventas" THEN SUM([Ventas])WHEN "Beneficio" THEN SUM([Beneficio])WHEN "Unidades" THEN SUM([Unidades])END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279702"/>
            <a:ext cx="4347567" cy="7937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148" y="52718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Parámetro Lista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2148" y="5701070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 un parámetro tipo lista con las opciones de métricas disponibles.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4279702"/>
            <a:ext cx="4347567" cy="793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9715" y="52718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Cálculo CASE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339715" y="5701070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 CASE para alternar entre diferentes medidas según la selección del usuario.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4279702"/>
            <a:ext cx="4347567" cy="7937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87282" y="52718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Vista Dinámica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687282" y="5701070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Reemplaza la medida fija por el cálculo dinámico en tu visualización.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93790" y="675774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Este patrón permite que los usuarios exploren diferentes métricas en la misma vista, revelando insights que podrían no ser evidentes con una sola medida.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0247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Parameter Actions en Dashboard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4386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Configuración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3947160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Dashboard → Actions → Change Parameter: selecciona la vista origen, el campo que alimenta el parámetro y el evento (Hover/Select/Menu).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395913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clic en Categoría actualiza [Categoría Seleccionada] y colorea "Seleccionados vs Resto" con un cálculo.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821674" y="34386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Buenas Prácticas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821674" y="3947160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Nombres claros y listas cerradas cuando sea posible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821674" y="4651653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Efecto visible (título dinámico, color, filtro indirecto)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821674" y="5356146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Documenta propósito y alcance en la descripción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325" y="478036"/>
            <a:ext cx="6729770" cy="5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Taller 1: Top-N con Participación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9156" y="1629608"/>
            <a:ext cx="173831" cy="782122"/>
          </a:xfrm>
          <a:prstGeom prst="roundRect">
            <a:avLst>
              <a:gd name="adj" fmla="val 42004"/>
            </a:avLst>
          </a:prstGeom>
          <a:solidFill>
            <a:srgbClr val="028090"/>
          </a:solidFill>
          <a:ln w="15240">
            <a:solidFill>
              <a:srgbClr val="1B99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325" y="1515428"/>
            <a:ext cx="521494" cy="521494"/>
          </a:xfrm>
          <a:prstGeom prst="roundRect">
            <a:avLst>
              <a:gd name="adj" fmla="val 87671"/>
            </a:avLst>
          </a:prstGeom>
          <a:solidFill>
            <a:srgbClr val="028090"/>
          </a:solidFill>
          <a:ln w="15240">
            <a:solidFill>
              <a:srgbClr val="1B99A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698" y="1613297"/>
            <a:ext cx="260747" cy="3258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90650" y="1542693"/>
            <a:ext cx="217301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Crear Parámetro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90650" y="1918573"/>
            <a:ext cx="1254442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 parámetro [Top N] (Integer, 5–20) para controlar cuántos elementos mostrar.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129903" y="2846427"/>
            <a:ext cx="173831" cy="782122"/>
          </a:xfrm>
          <a:prstGeom prst="roundRect">
            <a:avLst>
              <a:gd name="adj" fmla="val 42004"/>
            </a:avLst>
          </a:prstGeom>
          <a:solidFill>
            <a:srgbClr val="CADCD8"/>
          </a:solidFill>
          <a:ln w="15240">
            <a:solidFill>
              <a:srgbClr val="B0C2B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6072" y="2732246"/>
            <a:ext cx="521494" cy="521494"/>
          </a:xfrm>
          <a:prstGeom prst="roundRect">
            <a:avLst>
              <a:gd name="adj" fmla="val 87671"/>
            </a:avLst>
          </a:prstGeom>
          <a:solidFill>
            <a:srgbClr val="CADCD8"/>
          </a:solidFill>
          <a:ln w="15240">
            <a:solidFill>
              <a:srgbClr val="B0C2B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45" y="2830116"/>
            <a:ext cx="260747" cy="3258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51397" y="2759512"/>
            <a:ext cx="217301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Cálculo Ranking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51397" y="3135392"/>
            <a:ext cx="12283678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[Es Top N] = RANK(SUM([Ventas])) ≤ [Top N] para identificar los elementos principales.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390650" y="4063246"/>
            <a:ext cx="173831" cy="782122"/>
          </a:xfrm>
          <a:prstGeom prst="roundRect">
            <a:avLst>
              <a:gd name="adj" fmla="val 42004"/>
            </a:avLst>
          </a:prstGeom>
          <a:solidFill>
            <a:srgbClr val="B9AAD4"/>
          </a:solidFill>
          <a:ln w="15240">
            <a:solidFill>
              <a:srgbClr val="9F90B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16819" y="3949065"/>
            <a:ext cx="521494" cy="521494"/>
          </a:xfrm>
          <a:prstGeom prst="roundRect">
            <a:avLst>
              <a:gd name="adj" fmla="val 87671"/>
            </a:avLst>
          </a:prstGeom>
          <a:solidFill>
            <a:srgbClr val="B9AAD4"/>
          </a:solidFill>
          <a:ln w="15240">
            <a:solidFill>
              <a:srgbClr val="9F90B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192" y="4046934"/>
            <a:ext cx="260747" cy="3258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12144" y="3976330"/>
            <a:ext cx="217301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Vista Barras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912144" y="4352211"/>
            <a:ext cx="1202293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Producto → Rows, SUM(Ventas) → Columns, filtra por [Es Top N], ordena descendente.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1651397" y="5280065"/>
            <a:ext cx="173831" cy="782122"/>
          </a:xfrm>
          <a:prstGeom prst="roundRect">
            <a:avLst>
              <a:gd name="adj" fmla="val 42004"/>
            </a:avLst>
          </a:prstGeom>
          <a:solidFill>
            <a:srgbClr val="B2D5AD"/>
          </a:solidFill>
          <a:ln w="15240">
            <a:solidFill>
              <a:srgbClr val="98BB9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477566" y="5165884"/>
            <a:ext cx="521494" cy="521494"/>
          </a:xfrm>
          <a:prstGeom prst="roundRect">
            <a:avLst>
              <a:gd name="adj" fmla="val 87671"/>
            </a:avLst>
          </a:prstGeom>
          <a:solidFill>
            <a:srgbClr val="B2D5AD"/>
          </a:solidFill>
          <a:ln w="15240">
            <a:solidFill>
              <a:srgbClr val="98BB9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939" y="5263753"/>
            <a:ext cx="260747" cy="32587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72891" y="5193149"/>
            <a:ext cx="217301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% del Total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2172891" y="5569029"/>
            <a:ext cx="11762184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SUM([Ventas]) / WINDOW_SUM(SUM([Ventas])) en Tooltip para mostrar participación.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1390650" y="6496883"/>
            <a:ext cx="173831" cy="782122"/>
          </a:xfrm>
          <a:prstGeom prst="roundRect">
            <a:avLst>
              <a:gd name="adj" fmla="val 42004"/>
            </a:avLst>
          </a:prstGeom>
          <a:solidFill>
            <a:srgbClr val="606060"/>
          </a:solidFill>
          <a:ln w="15240">
            <a:solidFill>
              <a:srgbClr val="79797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216819" y="6382702"/>
            <a:ext cx="521494" cy="521494"/>
          </a:xfrm>
          <a:prstGeom prst="roundRect">
            <a:avLst>
              <a:gd name="adj" fmla="val 87671"/>
            </a:avLst>
          </a:prstGeom>
          <a:solidFill>
            <a:srgbClr val="606060"/>
          </a:solidFill>
          <a:ln w="15240">
            <a:solidFill>
              <a:srgbClr val="797979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7192" y="6480572"/>
            <a:ext cx="260747" cy="32587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912144" y="6409968"/>
            <a:ext cx="217301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Título Dinámico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1912144" y="6785848"/>
            <a:ext cx="1202293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"Top-&lt;[Top N]&gt; productos por ventas (% sobre la vista)" que refleje el parámetro activo.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95325" y="7474625"/>
            <a:ext cx="13239750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Entregables: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captura y memo con 3 hallazgos (picos, cola, participación acumulada).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95055"/>
            <a:ext cx="99157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Taller 2: Serie con Variación y Media Móvil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421278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204" y="424999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438632" y="42810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Serie Base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438632" y="4710232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Fecha (Mes, continua) → Columns y SUM(Ventas) → Rows para crear la línea temporal base.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39144" y="421278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13558" y="424999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083987" y="42810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Variación %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8083987" y="4710232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Cálculo %Δ con LOOKUP en Tooltip para mostrar cambios mes a mes de forma clara.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93790" y="574214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204" y="577935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438632" y="58103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Media Móvil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438632" y="6239589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Parámetro [n Periodos] + WINDOW_AVG para línea suave que revele tendencias subyacentes.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439144" y="574214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2D5AD"/>
          </a:solidFill>
          <a:ln w="22860">
            <a:solidFill>
              <a:srgbClr val="98BB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13558" y="577935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4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083987" y="58103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Referencias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8083987" y="6239589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Línea de referencia (promedio) y anotación de picos/valleys para contexto adicional.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93790" y="709791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captura y reflexión sobre ruido vs señal al cambiar n.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53666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Taller 3: Umbral y Color Semáforo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4898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2998351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Colorear entidades como Sobre/Bajo meta según [Meta Global], creando un sistema visual intuitivo para evaluación de rendimiento.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4668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Pasos Clave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280190" y="497538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 parámetro [Meta Global] (Float)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5362337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Cálculo [Estado Meta]: IF SUM([Ventas]) &gt;= [Meta Global] THEN "Sobre" ELSE "Bajo" END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80190" y="6384369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 el resultado en Color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80190" y="6771323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Añade contadores (cuántos sobre/bajo)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308074" y="24898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Refinamiento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308074" y="2998351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Ajusta leyenda con colores semáforo intuitivos (verde/rojo) y redacta un tooltip con la "regla" explícita para que los usuarios entiendan el criterio.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308074" y="4447103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captura y breve memo con implicancias para la toma de decisiones.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7450"/>
            <a:ext cx="741676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Taller 4: Etiquetas Enriquecidas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2436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Crear etiquetas que mezclen texto y números formateados, evitando separadores repetidos para máxima legibilidad.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62801"/>
            <a:ext cx="4215289" cy="2818567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339941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2603778" y="306514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782372" y="321397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15008" y="38589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Etiqueta de Venta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15008" y="4392335"/>
            <a:ext cx="3772853" cy="1567815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126" y="4392335"/>
            <a:ext cx="3792617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1203484" y="4541163"/>
            <a:ext cx="339590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"Venta: " + STR(INT(SUM([Ventas]))) +" | Margen: " + STR(ROUND(SUM([Margen])*100,1)) + "%"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207437" y="3362801"/>
            <a:ext cx="4215408" cy="2818567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207437" y="3339941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CADCD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17425" y="306514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CADCD8"/>
          </a:solidFill>
          <a:ln/>
        </p:spPr>
      </p:sp>
      <p:sp>
        <p:nvSpPr>
          <p:cNvPr id="15" name="Text 13"/>
          <p:cNvSpPr/>
          <p:nvPr/>
        </p:nvSpPr>
        <p:spPr>
          <a:xfrm>
            <a:off x="7196018" y="321397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5428655" y="38589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Ubicación Robusta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5428655" y="4392335"/>
            <a:ext cx="3772972" cy="1250275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18773" y="4392335"/>
            <a:ext cx="3792736" cy="1250275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5617131" y="4541163"/>
            <a:ext cx="339602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[Ciudad] + IIF(ISNULL([Region]) OR [Region] = "", "", ", " + [Region])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621203" y="3362801"/>
            <a:ext cx="4215289" cy="2818567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621203" y="3339941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B9AAD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1191" y="306514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B9AAD4"/>
          </a:solidFill>
          <a:ln/>
        </p:spPr>
      </p:sp>
      <p:sp>
        <p:nvSpPr>
          <p:cNvPr id="23" name="Text 21"/>
          <p:cNvSpPr/>
          <p:nvPr/>
        </p:nvSpPr>
        <p:spPr>
          <a:xfrm>
            <a:off x="11609784" y="321397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9842421" y="38589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Formato Compacto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842421" y="4288155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Colócalos en Label con formato compacto que mantenga legibilidad sin sobrecargar la vista.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93790" y="640461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captura y explicación de cómo mejora la legibilidad y comprensión de los datos.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55971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Dashboard Integrador: Arquitectura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2097524"/>
            <a:ext cx="7556421" cy="5572244"/>
          </a:xfrm>
          <a:prstGeom prst="roundRect">
            <a:avLst>
              <a:gd name="adj" fmla="val 1496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03050" y="2120384"/>
            <a:ext cx="7510701" cy="1461016"/>
          </a:xfrm>
          <a:prstGeom prst="roundRect">
            <a:avLst>
              <a:gd name="adj" fmla="val 5706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6501408" y="23187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Hojas Base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501408" y="2747963"/>
            <a:ext cx="71139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Barras Top-N, Serie mensual con %Δ, Vista con [Valor Métrico], Vista coloreada por [Estado Meta]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303050" y="3581400"/>
            <a:ext cx="7510701" cy="1461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Shape 6"/>
          <p:cNvSpPr/>
          <p:nvPr/>
        </p:nvSpPr>
        <p:spPr>
          <a:xfrm>
            <a:off x="6303050" y="3581400"/>
            <a:ext cx="7510701" cy="22860"/>
          </a:xfrm>
          <a:prstGeom prst="roundRect">
            <a:avLst>
              <a:gd name="adj" fmla="val 364651"/>
            </a:avLst>
          </a:prstGeom>
          <a:solidFill>
            <a:srgbClr val="B0C2BE"/>
          </a:solidFill>
          <a:ln/>
        </p:spPr>
      </p:sp>
      <p:sp>
        <p:nvSpPr>
          <p:cNvPr id="10" name="Text 7"/>
          <p:cNvSpPr/>
          <p:nvPr/>
        </p:nvSpPr>
        <p:spPr>
          <a:xfrm>
            <a:off x="6501408" y="37797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Controles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501408" y="4208978"/>
            <a:ext cx="71139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Muestra [Top N], [n Periodos], [Selector], [Meta Global] de forma organizada y accesible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303050" y="5042416"/>
            <a:ext cx="7510701" cy="11434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6303050" y="5042416"/>
            <a:ext cx="7510701" cy="22860"/>
          </a:xfrm>
          <a:prstGeom prst="roundRect">
            <a:avLst>
              <a:gd name="adj" fmla="val 364651"/>
            </a:avLst>
          </a:prstGeom>
          <a:solidFill>
            <a:srgbClr val="9F90BA"/>
          </a:solidFill>
          <a:ln/>
        </p:spPr>
      </p:sp>
      <p:sp>
        <p:nvSpPr>
          <p:cNvPr id="14" name="Text 11"/>
          <p:cNvSpPr/>
          <p:nvPr/>
        </p:nvSpPr>
        <p:spPr>
          <a:xfrm>
            <a:off x="6501408" y="52407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Acciones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501408" y="5669994"/>
            <a:ext cx="71139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Parameter Action para alternar [Selector], Filter Action: clic en barras filtra la serie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303050" y="6185892"/>
            <a:ext cx="7510701" cy="1461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Shape 14"/>
          <p:cNvSpPr/>
          <p:nvPr/>
        </p:nvSpPr>
        <p:spPr>
          <a:xfrm>
            <a:off x="6303050" y="6185892"/>
            <a:ext cx="7510701" cy="22860"/>
          </a:xfrm>
          <a:prstGeom prst="roundRect">
            <a:avLst>
              <a:gd name="adj" fmla="val 364651"/>
            </a:avLst>
          </a:prstGeom>
          <a:solidFill>
            <a:srgbClr val="98BB93"/>
          </a:solidFill>
          <a:ln/>
        </p:spPr>
      </p:sp>
      <p:sp>
        <p:nvSpPr>
          <p:cNvPr id="18" name="Text 15"/>
          <p:cNvSpPr/>
          <p:nvPr/>
        </p:nvSpPr>
        <p:spPr>
          <a:xfrm>
            <a:off x="6501408" y="63842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Layout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6501408" y="6813471"/>
            <a:ext cx="71139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Cabecera con título y fecha, zona central con barras/línea, panel lateral de filtros, pie con fuente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97887"/>
            <a:ext cx="661201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Errores Típicos y Soluciones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015621"/>
            <a:ext cx="6422231" cy="16992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92148" y="4213979"/>
            <a:ext cx="25088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Mezcla de Agregadas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992148" y="4643199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Tableau avisa cuando mezclas agregadas y no agregadas. Solución: encapsula con SUM/ATTR para mantener consistencia.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79" y="4015621"/>
            <a:ext cx="6422231" cy="16992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2737" y="4213979"/>
            <a:ext cx="260318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% del Total Incorrecto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7612737" y="4643199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Mal calculado por partición incorrecta. Usar WINDOW_SUM y ajustar Edit Table Calculation para corregir dirección.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913239"/>
            <a:ext cx="6422231" cy="16992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2148" y="6111597"/>
            <a:ext cx="261425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Parámetros Sin Efecto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992148" y="6540818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Deben participar en un cálculo o acción. Valida con títulos dinámicos que reflejen el valor actual del parámetro.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4379" y="5913239"/>
            <a:ext cx="6422231" cy="16992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12737" y="6111597"/>
            <a:ext cx="31668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Fecha Discreta vs Continua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7612737" y="6540818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Mal elegida rompe la línea temporal. Revisa si necesitas Date Part (discreto) o Date Value (continuo).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6768"/>
            <a:ext cx="580179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Ideas Clave para el Éxito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551748" y="22434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Nivel de Detalle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672715"/>
            <a:ext cx="423886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agregación correcta depende del nivel de detalle de la vista; cambiar dimensiones cambia el contexto completamente.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528" y="3328571"/>
            <a:ext cx="279083" cy="3488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18236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Lógica de Negocio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597628" y="2252901"/>
            <a:ext cx="423898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cálculos en celda capturan reglas de negocio sin tocar la fuente; evita mezclar agregadas/no agregadas.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740" y="2901494"/>
            <a:ext cx="279083" cy="3488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94463" y="35031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Cálculos de Tabla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9994463" y="3932396"/>
            <a:ext cx="384214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WINDOW_*, LOOKUP, RANK operan sobre la vista y requieren partición/dirección correctas para funcionar.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984" y="4019490"/>
            <a:ext cx="279083" cy="34885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597628" y="5182672"/>
            <a:ext cx="31874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Experiencias Configurables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9597628" y="5611892"/>
            <a:ext cx="423898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parámetros habilitan experiencias configurables; su valor se evidencia con títulos dinámicos, colores o acciones.</a:t>
            </a:r>
            <a:endParaRPr lang="en-US" sz="15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8740" y="5137487"/>
            <a:ext cx="279083" cy="34885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551748" y="47627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Integración Total</a:t>
            </a:r>
            <a:endParaRPr lang="en-US" sz="1950" dirty="0"/>
          </a:p>
        </p:txBody>
      </p:sp>
      <p:sp>
        <p:nvSpPr>
          <p:cNvPr id="20" name="Text 10"/>
          <p:cNvSpPr/>
          <p:nvPr/>
        </p:nvSpPr>
        <p:spPr>
          <a:xfrm>
            <a:off x="793790" y="5191958"/>
            <a:ext cx="423886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Unifica todo en un dashboard claro, con controles ordenados, tooltips narrativos y rendimiento suficiente para su audiencia.</a:t>
            </a:r>
            <a:endParaRPr lang="en-US" sz="15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4528" y="4710410"/>
            <a:ext cx="279083" cy="348853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93790" y="678775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Dominar estos elementos te permitirá crear visualizaciones que no solo muestran datos, sino que cuentan historias convincentes y facilitan decisiones estratégicas informadas.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2025-10-05T02:02:59Z</dcterms:created>
  <dcterms:modified xsi:type="dcterms:W3CDTF">2025-10-05T02:02:59Z</dcterms:modified>
</cp:coreProperties>
</file>