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Nunito Extra Bold"/>
      <p:regular r:id="rId27"/>
    </p:embeddedFont>
    <p:embeddedFont>
      <p:font typeface="Nunito Extra Bold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8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Tableau: Del Dato Crudo a Visualizaciones Confiables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Bienvenidos al primer módulo de Elementos de Visualización Interactiva con Tableau. En esta clase transformaremos datos crudos en visualizaciones confiables que impulsen la toma de decisiones estratégicas.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6607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93519"/>
            <a:ext cx="4215289" cy="2459355"/>
          </a:xfrm>
          <a:prstGeom prst="roundRect">
            <a:avLst>
              <a:gd name="adj" fmla="val 338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3614738"/>
            <a:ext cx="29444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Errores de Interpretación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4043958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errores has visto al usar tablas "en columnas" (Ene, Feb, Mar) para series temporales? Estos formatos anchos generan visualizaciones rígidas y dificultan el análisis temporal.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393519"/>
            <a:ext cx="4215408" cy="2459355"/>
          </a:xfrm>
          <a:prstGeom prst="roundRect">
            <a:avLst>
              <a:gd name="adj" fmla="val 338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3614738"/>
            <a:ext cx="26787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Escalabilidad de Datos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4043958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tu base de ventas crece de 10 mil a 10 millones de filas, ¿qué cambiarías primero: la herramienta, el modelo o la preparación de datos? La respuesta define tu éxito analítico.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393519"/>
            <a:ext cx="4215289" cy="2459355"/>
          </a:xfrm>
          <a:prstGeom prst="roundRect">
            <a:avLst>
              <a:gd name="adj" fmla="val 3389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3614738"/>
            <a:ext cx="30964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Conceptos Fundamentales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4043958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explicarías la diferencia entre dimensión y medida en una frase? Esta distinción es clave para dominar Tableau desde el primer día.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7929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 de la Clase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7970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clase inaugura la sección Vespertino con un objetivo concreto: que puedas entrar a Tableau, preparar datos en formato largo, modelarlos con relaciones/joins básicos y construir una primera visual confiable.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65535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Trabajaremos la traducción de preguntas de negocio a decisiones de modelado y codificación visual. Al final, tendrás un mini-dashboard base y un protocolo de validación que reduce errores comunes en etapas tempranas.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651367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Público objetivo: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Profesionales y egresados técnico-científicos con base en Python/analítica que inician en Tableau.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315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Formato Ancho vs Formato Largo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199328"/>
            <a:ext cx="353615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Formato Ancho (Problemático)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018002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Columnas como Ventas_Ene, Ventas_Feb, Ventas_Mar...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83167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Cómodo en Excel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21862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Problemático para filtros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60558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Multiplica campos innecesariamente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599253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Genera gráficos rígidos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93790" y="637948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Dificulta series temporales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21674" y="3199328"/>
            <a:ext cx="353615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Formato Largo (Tidy - Recomendado)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4821674" y="401800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ID_Cliente | Mes | Ventas (clave-valor)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451413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series temporales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821674" y="490108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Filtros unificados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821674" y="528804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Fórmulas reutilizables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821674" y="5674995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Dashboards compactos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821674" y="606194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Mayor flexibilidad analítica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2568"/>
            <a:ext cx="63009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Cuándo Pivotear tus Datos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694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783806"/>
            <a:ext cx="4215289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928705"/>
            <a:ext cx="29270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Dimensiones Expandidas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357926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una dimensión (Mes, Semana, KPI, Canal) está expandida en múltiples columnas, es momento de pivotear para consolidar la información.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34694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783806"/>
            <a:ext cx="4215408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9287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Filtros Unificados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4357926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necesitas un filtro único (como Mes) que gobierne varias hojas del dashboard de manera consistente.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346948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783806"/>
            <a:ext cx="4215289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9287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Cálculos Universales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4357926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Cuando quieres mantener cálculos universales (variación intermensual) sin replicarlos 12 veces para cada mes.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507206"/>
            <a:ext cx="6155650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Proceso de Pivot en Tableau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30" y="1452443"/>
            <a:ext cx="553403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5661" y="163687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Conectar Datos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75661" y="2035731"/>
            <a:ext cx="1241690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Conecta Ventas_2023.xlsx → Start Page → Microsoft Excel para iniciar el proceso de transformación.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32" y="2743676"/>
            <a:ext cx="55340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2362" y="2928104"/>
            <a:ext cx="2398871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Seleccionar Columnas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52362" y="3326963"/>
            <a:ext cx="121402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la Data Source Page, selecciona columnas Ventas_Ene…Ventas_Dic que necesitas pivotear.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233" y="4034909"/>
            <a:ext cx="55340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9063" y="4219337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Aplicar Pivot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029063" y="4618196"/>
            <a:ext cx="118635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Clic derecho → Pivot para transformar las columnas seleccionadas en formato largo.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934" y="5326142"/>
            <a:ext cx="55340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05764" y="551057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Renombrar Campos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305764" y="5909429"/>
            <a:ext cx="11586805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Renombra: Pivot Field Names → Mes; Pivot Field Values → Ventas para mayor claridad.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233" y="6617375"/>
            <a:ext cx="553403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9063" y="680180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Ajustar Tipos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2029063" y="7200662"/>
            <a:ext cx="118635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 tipos: Ventas como número; Mes como texto o fecha; normaliza valores (Ene→01, etc.).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2155"/>
            <a:ext cx="73051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Validación de Datos Post-Pivot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9068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019068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2402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Totales Coincidentes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669506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Verifica que los totales antes y después del pivot coincidan exactamente. Esta es tu primera línea de defensa contra errores de transformación.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019068"/>
            <a:ext cx="4215408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3019068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32402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Conteo de Filas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669506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Confirma el conteo de filas esperado (N clientes × N meses). Un conteo incorrecto indica problemas en la transformación.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019068"/>
            <a:ext cx="4215289" cy="2141815"/>
          </a:xfrm>
          <a:prstGeom prst="roundRect">
            <a:avLst>
              <a:gd name="adj" fmla="val 5123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3019068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32402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Valores Nulos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669506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Revisa que no haya nulos inesperados en Ventas ni Mes. Los nulos pueden distorsionar tus análisis posteriores.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384125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AE1E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687020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63201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 siempre: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"Pivot de columnas mensuales a pares Mes-Ventas" para mantener trazabilidad de transformaciones.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57086"/>
            <a:ext cx="7197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Entorno de Trabajo de Tableau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274820"/>
            <a:ext cx="496133" cy="496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37930" y="4392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Start Page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537930" y="4821793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Conexiones a archivos (Excel/CSV/JSON), bases de datos (PostgreSQL/SQL Server/Oracle/MySQL) y plataformas cloud (BigQuery/Redshift/Snowflake).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144" y="4274820"/>
            <a:ext cx="496133" cy="4961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83285" y="4392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Data Source Page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8183285" y="4821793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Lienzo de modelo con relaciones/joins, filtros de extracto, Union y Wildcard Union. Vista de datos para perfilado rápido y transformaciones.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171248"/>
            <a:ext cx="496133" cy="4961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7930" y="62890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Worksheet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537930" y="6718221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Pane con dimensiones y medidas, Shelves (Columns, Rows, Filters, Pages, Marks) y Canvas para crear visualizaciones.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144" y="6171248"/>
            <a:ext cx="496133" cy="49613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83285" y="62890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Dashboard/Story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8183285" y="6718221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Combinan hojas múltiples, definen layout responsivo, configuran acciones interactivas y construyen narrativa analítica.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82435"/>
            <a:ext cx="5793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Primer Recorrido Guiado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4985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Pasos Básicos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00704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Arrastra Región a Columns y SUM(Ventas) a Rows → gráfico de barras automático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029075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Marks, coloca Categoría en Color y Segmento en Detail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733568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Activa Label con formato compacto para mayor legibilidad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438061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Cambia a línea arrastrando campo de Fecha (continuo) a Columns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6142553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Font typeface="+mj-lt"/>
              <a:buAutoNum type="arabicPeriod" startAt="5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 %Δ en tooltip usando LOOKUP + ZN para análisis temporal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24985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Resultado Esperado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21674" y="3007043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visualización básica pero funcional que muestre la distribución de ventas por región, con codificación de color por categoría y capacidad de análisis temporal.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4773335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primer ejercicio establece los fundamentos para visualizaciones más complejas.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9159"/>
            <a:ext cx="87900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Conectores y Modelamiento de Datos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06072"/>
            <a:ext cx="6422231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6E70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008" y="212729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6E707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19" y="2257425"/>
            <a:ext cx="267891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Conectores Comunes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Archivos (Excel/CSV), bases relacionales (PostgreSQL/SQL Server), plataformas cloud (BigQuery, Snowflake, Redshift) y conectores ODBC/JDBC personalizados.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1906072"/>
            <a:ext cx="6422231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597" y="2127290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CADC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308" y="2257425"/>
            <a:ext cx="267891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597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Relaciones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35597" y="3350181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Mantiene tablas separadas; Tableau "resuelve" en tiempo de consulta según el nivel de detalle (LOD) de la vista. Ideal para mezclar granularidades diferentes.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B9AA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15008" y="494359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9AAD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19" y="5073729"/>
            <a:ext cx="267891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5008" y="57372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Joins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1015008" y="6166485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 tabla virtual combinando filas por condición (Inner/Left/Right/Full). Útil para enriquecer hechos con dimensiones, pero puede duplicar datos.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2617946"/>
          </a:xfrm>
          <a:prstGeom prst="roundRect">
            <a:avLst>
              <a:gd name="adj" fmla="val 3184"/>
            </a:avLst>
          </a:prstGeom>
          <a:solidFill>
            <a:srgbClr val="028090"/>
          </a:solidFill>
          <a:ln w="22860">
            <a:solidFill>
              <a:srgbClr val="B2D5A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35597" y="494359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B2D5A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308" y="5073729"/>
            <a:ext cx="267891" cy="3349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597" y="57372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Unions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35597" y="616648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Apila filas con mismo esquema (ventas_2023_Q1.csv + ventas_2023_Q2.csv). Perfecto para particiones por periodo o geografía.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72383"/>
            <a:ext cx="514552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Higiene de Metadatos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189011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38632" y="19583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Nomenclatura Clara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2387560"/>
            <a:ext cx="691157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Renombra campos con sentido de negocio. En lugar de "Field1" usa "Ingresos_Mensuales". Ajusta agregación por defecto (SUM/AVG) según la naturaleza del dato.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373701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38632" y="38052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Roles Específicos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38632" y="4234458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Define roles geográficos para mapas automáticos y roles de fecha (Date Part vs Date Value) para análisis temporal correcto.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526637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8632" y="53345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Organización Visual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38632" y="5763816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Oculta columnas irrelevantes del Data Pane y crea carpetas temáticas para mantener orden. Un Data Pane organizado acelera el análisis.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662213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Recomendación SQL: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Consolida transacciones mensuales por cliente en origen para alinear granularidad y mejorar rendimiento significativamente.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675"/>
            <a:ext cx="57532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Dimensiones vs Medidas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377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Dimensiones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6462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Segmentan los datos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14241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Producto, Región, Cliente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5293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Categorías cualitativas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9163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Crean grupos y filtros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30327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Van típicamente en filas/columnas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48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Jerarquías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93790" y="532769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Región→País→Ciudad permiten drill-down ordenado y controlado para análisis multinivel.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21377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Medidas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64874" y="264628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agregan numéricamente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64874" y="314241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Ventas, Unidades, Margen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35293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Valores cuantitativos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64874" y="39163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suman, promedian, cuentan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64874" y="430327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Van típicamente en marcas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64874" y="48191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Importancia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564874" y="532769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mala clasificación produce agregaciones confusas o explosiones de cardinalidad que rompen el análisis.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364605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CAE1E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667500"/>
            <a:ext cx="248007" cy="19835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38513" y="661249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Buena práctica: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Evita calcular ratios mezclando agregadas y no agregadas sin encapsular correctamente (SUM, AVG, ATTR).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258"/>
            <a:ext cx="94315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Marks Card: Codificación Visual Efectiva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2482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40196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82372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15008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Color Estratégico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335018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color para categorías (matiz) o magnitudes (secuencial/divergente). Evita paletas que induzcan sesgo o confusión en la interpretación.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2424827"/>
            <a:ext cx="4215408" cy="241673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07437" y="2401967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</p:sp>
      <p:sp>
        <p:nvSpPr>
          <p:cNvPr id="11" name="Shape 9"/>
          <p:cNvSpPr/>
          <p:nvPr/>
        </p:nvSpPr>
        <p:spPr>
          <a:xfrm>
            <a:off x="7017425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CADCD8"/>
          </a:solidFill>
          <a:ln/>
        </p:spPr>
      </p:sp>
      <p:sp>
        <p:nvSpPr>
          <p:cNvPr id="12" name="Text 10"/>
          <p:cNvSpPr/>
          <p:nvPr/>
        </p:nvSpPr>
        <p:spPr>
          <a:xfrm>
            <a:off x="7196018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428655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Tamaño Significativo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28655" y="3350181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Size solo cuando el área agregue significado real. Evita engañar con áreas no lineales que distorsionen la percepción de magnitudes.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2424827"/>
            <a:ext cx="4215289" cy="2416731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21203" y="2401967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1191" y="2127171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B9AAD4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9784" y="227599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842421" y="292096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Etiquetas Esenciales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42421" y="335018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Label con formato compacto mostrando solo lo esencial. Demasiadas etiquetas saturan y confunden la lectura visual.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5337572"/>
            <a:ext cx="6422112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314712"/>
            <a:ext cx="6422112" cy="91440"/>
          </a:xfrm>
          <a:prstGeom prst="roundRect">
            <a:avLst>
              <a:gd name="adj" fmla="val 91163"/>
            </a:avLst>
          </a:prstGeom>
          <a:solidFill>
            <a:srgbClr val="B2D5AD"/>
          </a:solidFill>
          <a:ln/>
        </p:spPr>
      </p:sp>
      <p:sp>
        <p:nvSpPr>
          <p:cNvPr id="23" name="Shape 21"/>
          <p:cNvSpPr/>
          <p:nvPr/>
        </p:nvSpPr>
        <p:spPr>
          <a:xfrm>
            <a:off x="3707130" y="503991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B2D5AD"/>
          </a:solidFill>
          <a:ln/>
        </p:spPr>
      </p:sp>
      <p:sp>
        <p:nvSpPr>
          <p:cNvPr id="24" name="Text 22"/>
          <p:cNvSpPr/>
          <p:nvPr/>
        </p:nvSpPr>
        <p:spPr>
          <a:xfrm>
            <a:off x="3885724" y="518874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1015008" y="58337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Tooltip Narrativo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15008" y="6262926"/>
            <a:ext cx="597967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Tooltip como glosa informativa: define narrativa corta con métrica principal, variación y contexto relevante para la toma de decisiones.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414260" y="5337572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4260" y="5314712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60606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27719" y="503991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606060"/>
          </a:solidFill>
          <a:ln/>
        </p:spPr>
      </p:sp>
      <p:sp>
        <p:nvSpPr>
          <p:cNvPr id="30" name="Text 28"/>
          <p:cNvSpPr/>
          <p:nvPr/>
        </p:nvSpPr>
        <p:spPr>
          <a:xfrm>
            <a:off x="10506313" y="5188744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7635478" y="58337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Detail Granular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7635478" y="626292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Detail para subgranularidades que no deben ir en ejes pero sí influir en los cálculos y agregaciones.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6294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Cálculo Clave: Variación Intermensual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200751"/>
            <a:ext cx="7556421" cy="1250275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5" name="Shape 2"/>
          <p:cNvSpPr/>
          <p:nvPr/>
        </p:nvSpPr>
        <p:spPr>
          <a:xfrm>
            <a:off x="6270307" y="2200751"/>
            <a:ext cx="7576185" cy="1250275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468666" y="2349579"/>
            <a:ext cx="717946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(ZN(SUM([Ventas])) - LOOKUP(ZN(SUM([Ventas])), -1))/ ABS(LOOKUP(ZN(SUM([Ventas])), -1))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367426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Este cálculo de tabla te permite mostrar la variación porcentual mes a mes de manera automática. Úsalo en tooltip para explicar cambios sin saturar la vista principal.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80190" y="463802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6577727" y="4532590"/>
            <a:ext cx="30914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ZN() maneja valores nulos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577727" y="4961811"/>
            <a:ext cx="7258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Convierte nulos en ceros para evitar errores en cálculos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80190" y="578161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CADCD8"/>
          </a:solidFill>
          <a:ln/>
        </p:spPr>
      </p:sp>
      <p:sp>
        <p:nvSpPr>
          <p:cNvPr id="12" name="Text 9"/>
          <p:cNvSpPr/>
          <p:nvPr/>
        </p:nvSpPr>
        <p:spPr>
          <a:xfrm>
            <a:off x="6577727" y="5676186"/>
            <a:ext cx="41212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LOOKUP(-1) obtiene valor anterior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577727" y="6105406"/>
            <a:ext cx="7258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Accede al valor del mes anterior para la comparación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80190" y="6925211"/>
            <a:ext cx="99179" cy="99179"/>
          </a:xfrm>
          <a:prstGeom prst="roundRect">
            <a:avLst>
              <a:gd name="adj" fmla="val 460985"/>
            </a:avLst>
          </a:prstGeom>
          <a:solidFill>
            <a:srgbClr val="B9AAD4"/>
          </a:solidFill>
          <a:ln/>
        </p:spPr>
      </p:sp>
      <p:sp>
        <p:nvSpPr>
          <p:cNvPr id="15" name="Text 12"/>
          <p:cNvSpPr/>
          <p:nvPr/>
        </p:nvSpPr>
        <p:spPr>
          <a:xfrm>
            <a:off x="6577727" y="6819781"/>
            <a:ext cx="42642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ABS() evita divisiones por negativos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577727" y="7249001"/>
            <a:ext cx="7258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Asegura cálculos correctos cuando hay valores negativos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16185"/>
            <a:ext cx="101435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Primera Visual Confiable: Patrones Básicos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0314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Gráficos de Barras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460677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Ideales para comparar categorías. Ordena por valor descendente y agrega Reference Line con promedio o meta para contexto adicional.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223986" y="40314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Gráficos de Líneas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223986" y="4460677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Perfectos para mostrar evolución temporal. Mantén granularidad estable y considera media móvil si hay ruido en los datos.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54302" y="40314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Mapas Geográficos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54302" y="4460677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Asigna rol geográfico correctamente. Usa color para magnitud y evita paletas que induzcan sesgo en la interpretación regional.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6043"/>
            <a:ext cx="91130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Mini-Dashboard: Layout Recomendado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92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07281"/>
            <a:ext cx="4215289" cy="228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52180"/>
            <a:ext cx="25093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Cabecera Informativa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581400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claro del dashboard y fecha de última actualización para establecer contexto temporal y credibilidad.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692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007281"/>
            <a:ext cx="4215408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1521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KPIs Principales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581400"/>
            <a:ext cx="42154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 KPIs clave mostrando valor actual, delta de cambio y sparkline de tendencia para vista ejecutiva rápida.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69295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007281"/>
            <a:ext cx="4215289" cy="22860"/>
          </a:xfrm>
          <a:prstGeom prst="rect">
            <a:avLst/>
          </a:prstGeom>
          <a:solidFill>
            <a:srgbClr val="B9AAD4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1521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Zona Principal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58140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 de barras por Región y línea de evolución mensual como elementos centrales del análisis.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195530"/>
            <a:ext cx="6422112" cy="22860"/>
          </a:xfrm>
          <a:prstGeom prst="rect">
            <a:avLst/>
          </a:prstGeom>
          <a:solidFill>
            <a:srgbClr val="B2D5AD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Panel de Filtros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769650"/>
            <a:ext cx="642211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Filtros laterales por Año/Región/Categoría para interactividad sin saturar el espacio visual principal.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88120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195530"/>
            <a:ext cx="6422231" cy="22860"/>
          </a:xfrm>
          <a:prstGeom prst="rect">
            <a:avLst/>
          </a:prstGeom>
          <a:solidFill>
            <a:srgbClr val="606060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3404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Pie Informativo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76965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Fuente de datos y notas metodológicas para transparencia y contexto adicional.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0171"/>
            <a:ext cx="82423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Acciones Esenciales del Dashboard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37084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Filter Action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75845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Clic en Región del mapa filtra automáticamente barras y línea temporal para análisis focalizado y coherente.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337084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Highlight Action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475845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Pasar cursor sobre categoría resalta elementos relacionados en la línea temporal para identificación visual rápida.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337084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Go to Sheet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475845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Botón hacia tabla de detalle transaccional cuando se requiere drill-down profundo para análisis granular.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898" y="484346"/>
            <a:ext cx="9282827" cy="54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Ejercicio Principal: Transformación Completa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3898" y="1298138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03898" y="1837134"/>
            <a:ext cx="13222605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Transformar dataset ancho a largo, validar tipos y construir serie mensual con %Δ intermensual en tooltip.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3898" y="2382560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Datos Requeridos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3898" y="2921556"/>
            <a:ext cx="13222605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Ventas_2023.xlsx con ID_Cliente, Región, Ventas_Ene…Ventas_Dic; Clientes.xlsx con atributos complementarios.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03770" y="3400901"/>
            <a:ext cx="22860" cy="4344353"/>
          </a:xfrm>
          <a:prstGeom prst="roundRect">
            <a:avLst>
              <a:gd name="adj" fmla="val 323336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2195" y="3587353"/>
            <a:ext cx="527923" cy="22860"/>
          </a:xfrm>
          <a:prstGeom prst="roundRect">
            <a:avLst>
              <a:gd name="adj" fmla="val 323336"/>
            </a:avLst>
          </a:prstGeom>
          <a:solidFill>
            <a:srgbClr val="1B99A9"/>
          </a:solidFill>
          <a:ln/>
        </p:spPr>
      </p:sp>
      <p:sp>
        <p:nvSpPr>
          <p:cNvPr id="9" name="Shape 7"/>
          <p:cNvSpPr/>
          <p:nvPr/>
        </p:nvSpPr>
        <p:spPr>
          <a:xfrm>
            <a:off x="7117259" y="3400901"/>
            <a:ext cx="395883" cy="395883"/>
          </a:xfrm>
          <a:prstGeom prst="roundRect">
            <a:avLst>
              <a:gd name="adj" fmla="val 18671"/>
            </a:avLst>
          </a:prstGeom>
          <a:solidFill>
            <a:srgbClr val="028090"/>
          </a:solidFill>
          <a:ln w="15240">
            <a:solidFill>
              <a:srgbClr val="1B99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83160" y="3433822"/>
            <a:ext cx="26396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3879532" y="3461385"/>
            <a:ext cx="255579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1: Conexión y Pivot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3898" y="3841909"/>
            <a:ext cx="5731431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Conecta Ventas_2023.xlsx y aplica Pivot a columnas mensuales. Renombra campos a Mes y Ventas con tipos correctos.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0281" y="4643199"/>
            <a:ext cx="527923" cy="22860"/>
          </a:xfrm>
          <a:prstGeom prst="roundRect">
            <a:avLst>
              <a:gd name="adj" fmla="val 323336"/>
            </a:avLst>
          </a:prstGeom>
          <a:solidFill>
            <a:srgbClr val="B0C2B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17259" y="4456748"/>
            <a:ext cx="395883" cy="395883"/>
          </a:xfrm>
          <a:prstGeom prst="roundRect">
            <a:avLst>
              <a:gd name="adj" fmla="val 18671"/>
            </a:avLst>
          </a:prstGeom>
          <a:solidFill>
            <a:srgbClr val="CADCD8"/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83160" y="4489668"/>
            <a:ext cx="26396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8195072" y="4517231"/>
            <a:ext cx="230838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2: Ordenamiento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95072" y="4897755"/>
            <a:ext cx="5731431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 Mes_Orden (CASE) para ordenar Ene..Dic y Fecha_Mensual con MAKEDATE si dispones de año.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2195" y="5553313"/>
            <a:ext cx="527923" cy="22860"/>
          </a:xfrm>
          <a:prstGeom prst="roundRect">
            <a:avLst>
              <a:gd name="adj" fmla="val 323336"/>
            </a:avLst>
          </a:prstGeom>
          <a:solidFill>
            <a:srgbClr val="9F90BA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7259" y="5366861"/>
            <a:ext cx="395883" cy="395883"/>
          </a:xfrm>
          <a:prstGeom prst="roundRect">
            <a:avLst>
              <a:gd name="adj" fmla="val 18671"/>
            </a:avLst>
          </a:prstGeom>
          <a:solidFill>
            <a:srgbClr val="B9AAD4"/>
          </a:solidFill>
          <a:ln w="15240">
            <a:solidFill>
              <a:srgbClr val="9F90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3160" y="5399782"/>
            <a:ext cx="26396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4235529" y="5427345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3: Relaciones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3898" y="5807869"/>
            <a:ext cx="5731431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Establece Relación con Clientes.xlsx por ID_Cliente (1:N); valida duplicados con COUNTD.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90281" y="6463427"/>
            <a:ext cx="527923" cy="22860"/>
          </a:xfrm>
          <a:prstGeom prst="roundRect">
            <a:avLst>
              <a:gd name="adj" fmla="val 323336"/>
            </a:avLst>
          </a:prstGeom>
          <a:solidFill>
            <a:srgbClr val="98BB93"/>
          </a:solidFill>
          <a:ln/>
        </p:spPr>
      </p:sp>
      <p:sp>
        <p:nvSpPr>
          <p:cNvPr id="24" name="Shape 22"/>
          <p:cNvSpPr/>
          <p:nvPr/>
        </p:nvSpPr>
        <p:spPr>
          <a:xfrm>
            <a:off x="7117259" y="6276975"/>
            <a:ext cx="395883" cy="395883"/>
          </a:xfrm>
          <a:prstGeom prst="roundRect">
            <a:avLst>
              <a:gd name="adj" fmla="val 18671"/>
            </a:avLst>
          </a:prstGeom>
          <a:solidFill>
            <a:srgbClr val="B2D5AD"/>
          </a:solidFill>
          <a:ln w="15240">
            <a:solidFill>
              <a:srgbClr val="98BB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3160" y="6309896"/>
            <a:ext cx="26396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8195072" y="6337459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Paso 4: Visualización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95072" y="6717982"/>
            <a:ext cx="5731431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Hoja Serie: Fecha_Mensual → Columns; SUM(Ventas) → Rows; agrega %Δ al Tooltip; filtro por Región.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837" y="279678"/>
            <a:ext cx="44935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Evaluación y Entregables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837" y="851773"/>
            <a:ext cx="144029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Entregables Requeridos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837" y="1112401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Imagen de la hoja (PNG) con serie mensual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6837" y="1310640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Informe breve (1 página) con análisis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6837" y="1508879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Dashboard .twbx funcional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837" y="1707118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 hallazgos ejecutivos clave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6837" y="1971437"/>
            <a:ext cx="134588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Contenido del Informe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837" y="2232065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Font typeface="+mj-lt"/>
              <a:buAutoNum type="arabicPeriod" startAt="1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Ventajas del formato largo identificadas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6837" y="2430304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Font typeface="+mj-lt"/>
              <a:buAutoNum type="arabicPeriod" startAt="2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Riesgos mitigados al validar tipos/relaciones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6837" y="2628543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Font typeface="+mj-lt"/>
              <a:buAutoNum type="arabicPeriod" startAt="3"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Insight principal del análisis 2023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46883" y="851773"/>
            <a:ext cx="13820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Evaluación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13300" y="1786295"/>
            <a:ext cx="125122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40%</a:t>
            </a:r>
            <a:endParaRPr lang="en-US" sz="2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021" y="1150501"/>
            <a:ext cx="1525905" cy="152590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133528" y="2803446"/>
            <a:ext cx="141101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Transformación Técnica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46883" y="3064073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Correcta aplicación de pivot y validación de tipos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213300" y="4091226"/>
            <a:ext cx="125122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35%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021" y="3455432"/>
            <a:ext cx="1525905" cy="152590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203180" y="5108377"/>
            <a:ext cx="12715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Visual Limpia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446883" y="5369004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 claro con %Δ funcional en tooltip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0213300" y="6396157"/>
            <a:ext cx="125122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25%</a:t>
            </a:r>
            <a:endParaRPr lang="en-US" sz="2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21" y="5760363"/>
            <a:ext cx="1525905" cy="152590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03180" y="7413308"/>
            <a:ext cx="12715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Análisis Ejecutivo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446883" y="7673935"/>
            <a:ext cx="6784300" cy="162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Informe claro y accionable con insights relevantes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1839"/>
            <a:ext cx="88243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Reflexiones Finales y Próximos Pasos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98752"/>
            <a:ext cx="4215289" cy="2451973"/>
          </a:xfrm>
          <a:prstGeom prst="roundRect">
            <a:avLst>
              <a:gd name="adj" fmla="val 19427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619970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Formato Largo: La Base del Éxito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359348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formato largo simplifica análisis temporal, filtros y comparaciones. Es la piedra angular de visualizaciones flexibles y dashboards escalables.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398752"/>
            <a:ext cx="4215408" cy="2451973"/>
          </a:xfrm>
          <a:prstGeom prst="roundRect">
            <a:avLst>
              <a:gd name="adj" fmla="val 19427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2619970"/>
            <a:ext cx="34894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Flujo de Trabajo Estructurado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049191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entorno de Tableau organiza el flujo: fuente → modelado → hoja → dashboard. Dominar este flujo acelera significativamente tu productividad analítica.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398752"/>
            <a:ext cx="4215289" cy="2451973"/>
          </a:xfrm>
          <a:prstGeom prst="roundRect">
            <a:avLst>
              <a:gd name="adj" fmla="val 19427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2619970"/>
            <a:ext cx="27484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Calidad sobre Cantidad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049191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mini-dashboard con 2-3 vistas bien diseñadas comunica más efectivamente que un mosaico recargado de gráficos sin propósito claro.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148382"/>
            <a:ext cx="27459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Reflexión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75619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cambió en tu lectura al pasar de ancho a largo y por qué Tableau lo "prefiere"?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14314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conviene resolver en SQL antes de Tableau y qué dejar como cálculo en la vista?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65301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tu audiencia solo viera un gráfico, ¿cuál sería y qué decisión habilitaría?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2025-10-05T01:49:04Z</dcterms:created>
  <dcterms:modified xsi:type="dcterms:W3CDTF">2025-10-05T01:49:04Z</dcterms:modified>
</cp:coreProperties>
</file>