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4630400" cy="8229600"/>
  <p:notesSz cx="8229600" cy="14630400"/>
  <p:embeddedFontLst>
    <p:embeddedFont>
      <p:font typeface="Nunito Extra Bold"/>
      <p:regular r:id="rId27"/>
    </p:embeddedFont>
    <p:embeddedFont>
      <p:font typeface="Nunito Extra Bold"/>
      <p:regular r:id="rId2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font" Target="fonts/font1.fntdata"/><Relationship Id="rId2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5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6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0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slideLayout" Target="../slideLayouts/slideLayout21.xml"/><Relationship Id="rId10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447925"/>
            <a:ext cx="7556421" cy="186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Tableau: Implementación de reportes visuales con gráficos clave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605814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 la pregunta de negocio a la visual correcta: dispersión, barras, líneas, highlight tables, heatmaps y mapas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93790" y="5464135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F3E4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Módulo: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Elementos de Visualización Interactiva con Tableau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77340"/>
            <a:ext cx="561236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Preguntas de activación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6280190" y="2495074"/>
            <a:ext cx="3679031" cy="2451973"/>
          </a:xfrm>
          <a:prstGeom prst="roundRect">
            <a:avLst>
              <a:gd name="adj" fmla="val 3400"/>
            </a:avLst>
          </a:prstGeom>
          <a:solidFill>
            <a:srgbClr val="028090"/>
          </a:solidFill>
          <a:ln w="22860">
            <a:solidFill>
              <a:srgbClr val="1B99A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01408" y="2716292"/>
            <a:ext cx="285238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Factores de rentabilidad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6501408" y="3145512"/>
            <a:ext cx="323659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Si tu gerente pide "¿qué factores explican la rentabilidad?", ¿qué dos gráficos propondrías primero y por qué?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10157579" y="2495074"/>
            <a:ext cx="3679031" cy="2451973"/>
          </a:xfrm>
          <a:prstGeom prst="roundRect">
            <a:avLst>
              <a:gd name="adj" fmla="val 3400"/>
            </a:avLst>
          </a:prstGeom>
          <a:solidFill>
            <a:srgbClr val="CADCD8"/>
          </a:solidFill>
          <a:ln w="22860">
            <a:solidFill>
              <a:srgbClr val="B0C2B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78797" y="2716292"/>
            <a:ext cx="3236595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Heatmap vs Highlight Table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0378797" y="3455670"/>
            <a:ext cx="323659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¿Cómo decidirías entre un heatmap y una highlight table para mostrar desempeño cruzado (Categoría × Región)?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280190" y="5145405"/>
            <a:ext cx="7556421" cy="1506736"/>
          </a:xfrm>
          <a:prstGeom prst="roundRect">
            <a:avLst>
              <a:gd name="adj" fmla="val 5532"/>
            </a:avLst>
          </a:prstGeom>
          <a:solidFill>
            <a:srgbClr val="B9AAD4"/>
          </a:solidFill>
          <a:ln w="22860">
            <a:solidFill>
              <a:srgbClr val="9F90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01408" y="536662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Errores en mapas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6501408" y="5795843"/>
            <a:ext cx="711398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¿Qué error de interpretación es más común en mapas: confundir tamaño de población con ventas o usar una paleta que oculta diferencias? ¿Cómo lo evitarías?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23192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Propósito del curso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740104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Llevarás requerimientos de negocio a reportes visuales claros utilizando seis tipos de gráficos fundamentales en Tableau: scatter, barras, líneas, highlight tables, heatmaps y mapas.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59842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3912751"/>
            <a:ext cx="6422231" cy="228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4057650"/>
            <a:ext cx="355496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Seleccionar el gráfico correcto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93790" y="4486870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Aprenderás a elegir la visualización adecuada según la pregunta de negocio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414379" y="359842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14379" y="3912751"/>
            <a:ext cx="6422231" cy="22860"/>
          </a:xfrm>
          <a:prstGeom prst="rect">
            <a:avLst/>
          </a:prstGeom>
          <a:solidFill>
            <a:srgbClr val="CADCD8"/>
          </a:solidFill>
          <a:ln/>
        </p:spPr>
      </p:sp>
      <p:sp>
        <p:nvSpPr>
          <p:cNvPr id="10" name="Text 8"/>
          <p:cNvSpPr/>
          <p:nvPr/>
        </p:nvSpPr>
        <p:spPr>
          <a:xfrm>
            <a:off x="7414379" y="4057650"/>
            <a:ext cx="399645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Construir con pasos reproducibles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14379" y="4486870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Dominarás la construcción sistemática de cada tipo de gráfico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93790" y="515159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93790" y="5465921"/>
            <a:ext cx="6422231" cy="22860"/>
          </a:xfrm>
          <a:prstGeom prst="rect">
            <a:avLst/>
          </a:prstGeom>
          <a:solidFill>
            <a:srgbClr val="B9AAD4"/>
          </a:solidFill>
          <a:ln/>
        </p:spPr>
      </p:sp>
      <p:sp>
        <p:nvSpPr>
          <p:cNvPr id="14" name="Text 12"/>
          <p:cNvSpPr/>
          <p:nvPr/>
        </p:nvSpPr>
        <p:spPr>
          <a:xfrm>
            <a:off x="793790" y="5610820"/>
            <a:ext cx="29712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Incorporar cálculos útiles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793790" y="6040041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Implementarás ranking, % del total, variación y correlación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414379" y="515159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414379" y="5465921"/>
            <a:ext cx="6422231" cy="22860"/>
          </a:xfrm>
          <a:prstGeom prst="rect">
            <a:avLst/>
          </a:prstGeom>
          <a:solidFill>
            <a:srgbClr val="B2D5AD"/>
          </a:solidFill>
          <a:ln/>
        </p:spPr>
      </p:sp>
      <p:sp>
        <p:nvSpPr>
          <p:cNvPr id="18" name="Text 16"/>
          <p:cNvSpPr/>
          <p:nvPr/>
        </p:nvSpPr>
        <p:spPr>
          <a:xfrm>
            <a:off x="7414379" y="5610820"/>
            <a:ext cx="252031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Dashboard coherente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414379" y="6040041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Crearás un dashboard que se pueda leer en segundos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33882"/>
            <a:ext cx="898600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Elección del gráfico según la pregunta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50795"/>
            <a:ext cx="496133" cy="4961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7930" y="266854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Comparar categorías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537930" y="3097768"/>
            <a:ext cx="343804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Barras (mejor para diferencias absolutas y ranking)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986" y="2550795"/>
            <a:ext cx="496133" cy="4961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68127" y="2668548"/>
            <a:ext cx="276606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Relación entre métricas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5968127" y="3097768"/>
            <a:ext cx="343816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Scatter (descubrir patrones y outliers; línea de tendencia y correlación)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4302" y="2550795"/>
            <a:ext cx="496133" cy="4961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398443" y="266854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Tendencia temporal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0398443" y="3097768"/>
            <a:ext cx="343816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Líneas (estacionalidad y quiebres)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129683"/>
            <a:ext cx="496133" cy="49613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37930" y="4247436"/>
            <a:ext cx="320385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Cruces categoría×categoría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1537930" y="4676656"/>
            <a:ext cx="343804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Highlight table / Heatmap (patrones matriciales)</a:t>
            </a:r>
            <a:endParaRPr lang="en-US" sz="15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3986" y="4129683"/>
            <a:ext cx="496133" cy="49613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968127" y="424743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Ubicación geográfica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5968127" y="4676656"/>
            <a:ext cx="343816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Mapas (símbolos/coropletas; tasas vs totales)</a:t>
            </a:r>
            <a:endParaRPr lang="en-US" sz="1550" dirty="0"/>
          </a:p>
        </p:txBody>
      </p:sp>
      <p:sp>
        <p:nvSpPr>
          <p:cNvPr id="18" name="Shape 11"/>
          <p:cNvSpPr/>
          <p:nvPr/>
        </p:nvSpPr>
        <p:spPr>
          <a:xfrm>
            <a:off x="793790" y="5534978"/>
            <a:ext cx="13042821" cy="1160740"/>
          </a:xfrm>
          <a:prstGeom prst="roundRect">
            <a:avLst>
              <a:gd name="adj" fmla="val 7182"/>
            </a:avLst>
          </a:prstGeom>
          <a:solidFill>
            <a:srgbClr val="CAE1E8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48" y="5837873"/>
            <a:ext cx="248007" cy="19835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438513" y="5782866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F3E4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Principio guía: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el gráfico adecuado transmite el mensaje con mínima distorsión: evita tortas para muchas categorías; prefiere barras ordenadas. Prioriza legibilidad, títulos claros y tooltips con glosas breves.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075" y="545187"/>
            <a:ext cx="5736788" cy="619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Scatter Plot (dispersión)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075" y="1660565"/>
            <a:ext cx="2478524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¿Cuándo usar?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075" y="2168604"/>
            <a:ext cx="7633097" cy="634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Analizar relación entre dos medidas (p. ej., Ventas vs Beneficio), identificar clústeres y outliers.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075" y="3001208"/>
            <a:ext cx="2976801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Construcción paso a paso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075" y="3509248"/>
            <a:ext cx="7633097" cy="317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SUM(Ventas) → Columns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075" y="3895725"/>
            <a:ext cx="7633097" cy="317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Font typeface="+mj-lt"/>
              <a:buAutoNum type="arabicPeriod" startAt="2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SUM(Beneficio) → Rows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075" y="4282202"/>
            <a:ext cx="7633097" cy="317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Font typeface="+mj-lt"/>
              <a:buAutoNum type="arabicPeriod" startAt="3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Categoría → Color y Detalle si deseas distinguir subgrupos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93075" y="4668679"/>
            <a:ext cx="7633097" cy="317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Font typeface="+mj-lt"/>
              <a:buAutoNum type="arabicPeriod" startAt="4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Menú Analytics → Trend Line para añadir línea de tendencia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93075" y="5055156"/>
            <a:ext cx="7633097" cy="317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Font typeface="+mj-lt"/>
              <a:buAutoNum type="arabicPeriod" startAt="5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Campo calculado para correlación: WINDOW_CORR(SUM([Ventas]), SUM([Beneficio]))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93075" y="5570577"/>
            <a:ext cx="2478524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Buenas prácticas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93075" y="6078617"/>
            <a:ext cx="7633097" cy="317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Evita el overplotting filtrando o agregando por categorías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93075" y="6465094"/>
            <a:ext cx="7633097" cy="317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Usa tamaño moderado y una paleta sobria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93075" y="6851571"/>
            <a:ext cx="7633097" cy="317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Expón en el tooltip: unidades, r (correlación), n puntos</a:t>
            </a:r>
            <a:endParaRPr lang="en-US" sz="15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7424" y="1685330"/>
            <a:ext cx="4927521" cy="4927521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214842" y="6835854"/>
            <a:ext cx="4630103" cy="634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B9AAD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Errores comunes:</a:t>
            </a:r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Confundir correlación con causalidad. Escalas logarítmicas sin explicitarlo en ejes.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8917424" y="6835854"/>
            <a:ext cx="22860" cy="634365"/>
          </a:xfrm>
          <a:prstGeom prst="rect">
            <a:avLst/>
          </a:prstGeom>
          <a:solidFill>
            <a:srgbClr val="1F3E47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3427" y="667107"/>
            <a:ext cx="4708922" cy="588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Bar Chart (barras)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753427" y="1726525"/>
            <a:ext cx="2354461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¿Cuándo usar?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753427" y="2209205"/>
            <a:ext cx="3588782" cy="602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Comparar categorías, comunicar Top-N y ordenar de mayor a menor.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53427" y="3000256"/>
            <a:ext cx="2354461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Construcción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53427" y="3482935"/>
            <a:ext cx="3588782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Dimensión → Rows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53427" y="3850124"/>
            <a:ext cx="3588782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SUM(Ventas) → Columns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53427" y="4217313"/>
            <a:ext cx="3588782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Ordena descendente por la medida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53427" y="4584502"/>
            <a:ext cx="3588782" cy="602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(Opcional) Top-N con parámetro Top N y filtro RANK(SUM([Ventas])) ≤ [Top N]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53427" y="5375553"/>
            <a:ext cx="2354461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Variantes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753427" y="5858232"/>
            <a:ext cx="3588782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Horizontales (mejor para etiquetas largas)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53427" y="6225421"/>
            <a:ext cx="3588782" cy="602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Apiladas (proporciones internas; usar con cautela)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53427" y="6893957"/>
            <a:ext cx="3588782" cy="602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Agrupadas (comparación de 2–3 medidas por categoría)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809411" y="1726525"/>
            <a:ext cx="2354461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Buenas prácticas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4809411" y="2209205"/>
            <a:ext cx="3588782" cy="602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Una paleta principal + matices; etiqueta solo cuando aporte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809411" y="2877741"/>
            <a:ext cx="3588782" cy="602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Línea de referencia (promedio o meta) para contexto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4809411" y="3546277"/>
            <a:ext cx="3588782" cy="602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Título como pregunta: "¿Qué regiones lideran ventas?"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5091946" y="4360783"/>
            <a:ext cx="3306247" cy="904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Errores comunes: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Orden alfabético por defecto. Ejes truncados que exageran diferencias.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4809411" y="4360783"/>
            <a:ext cx="22860" cy="904042"/>
          </a:xfrm>
          <a:prstGeom prst="rect">
            <a:avLst/>
          </a:prstGeom>
          <a:solidFill>
            <a:srgbClr val="1F3E47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1744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Line Chart (líneas)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1638657"/>
            <a:ext cx="6422231" cy="1982867"/>
          </a:xfrm>
          <a:prstGeom prst="roundRect">
            <a:avLst>
              <a:gd name="adj" fmla="val 4204"/>
            </a:avLst>
          </a:prstGeom>
          <a:solidFill>
            <a:srgbClr val="028090"/>
          </a:solidFill>
          <a:ln w="22860">
            <a:solidFill>
              <a:srgbClr val="6060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5008" y="1859875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60606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8719" y="1990011"/>
            <a:ext cx="267891" cy="3349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5008" y="265354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¿Cuándo usar?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15008" y="3082766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Series temporales para tendencia, estacionalidad y quiebres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414379" y="1638657"/>
            <a:ext cx="6422231" cy="1982867"/>
          </a:xfrm>
          <a:prstGeom prst="roundRect">
            <a:avLst>
              <a:gd name="adj" fmla="val 4204"/>
            </a:avLst>
          </a:prstGeom>
          <a:solidFill>
            <a:srgbClr val="028090"/>
          </a:solidFill>
          <a:ln w="22860">
            <a:solidFill>
              <a:srgbClr val="CADCD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35597" y="1859875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CADCD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308" y="1990011"/>
            <a:ext cx="267891" cy="33492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35597" y="265354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Construcción básica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7635597" y="3082766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Fecha (continua) → Columns, SUM(Ventas) → Rows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93790" y="391918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Cálculos clave</a:t>
            </a:r>
            <a:endParaRPr lang="en-US" sz="1950" dirty="0"/>
          </a:p>
        </p:txBody>
      </p:sp>
      <p:sp>
        <p:nvSpPr>
          <p:cNvPr id="14" name="Text 10"/>
          <p:cNvSpPr/>
          <p:nvPr/>
        </p:nvSpPr>
        <p:spPr>
          <a:xfrm>
            <a:off x="793790" y="452699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F3E4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Variación mensual %: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793790" y="5067776"/>
            <a:ext cx="13042821" cy="932736"/>
          </a:xfrm>
          <a:prstGeom prst="roundRect">
            <a:avLst>
              <a:gd name="adj" fmla="val 8937"/>
            </a:avLst>
          </a:prstGeom>
          <a:solidFill>
            <a:srgbClr val="F2F2F2"/>
          </a:solidFill>
          <a:ln/>
        </p:spPr>
      </p:sp>
      <p:sp>
        <p:nvSpPr>
          <p:cNvPr id="16" name="Shape 12"/>
          <p:cNvSpPr/>
          <p:nvPr/>
        </p:nvSpPr>
        <p:spPr>
          <a:xfrm>
            <a:off x="783908" y="5067776"/>
            <a:ext cx="13062585" cy="932736"/>
          </a:xfrm>
          <a:prstGeom prst="roundRect">
            <a:avLst>
              <a:gd name="adj" fmla="val 3192"/>
            </a:avLst>
          </a:prstGeom>
          <a:solidFill>
            <a:srgbClr val="F2F2F2"/>
          </a:solidFill>
          <a:ln/>
        </p:spPr>
      </p:sp>
      <p:sp>
        <p:nvSpPr>
          <p:cNvPr id="17" name="Text 13"/>
          <p:cNvSpPr/>
          <p:nvPr/>
        </p:nvSpPr>
        <p:spPr>
          <a:xfrm>
            <a:off x="982266" y="5216604"/>
            <a:ext cx="1266586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(ZN(SUM([Ventas])) - LOOKUP(ZN(SUM([Ventas])), -1))/ ABS(LOOKUP(ZN(SUM([Ventas])), -1))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793790" y="622375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1424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Media móvil n periodos: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WINDOW_AVG(SUM([Ventas]), -[n]+1, 0)</a:t>
            </a:r>
            <a:endParaRPr lang="en-US" sz="1550" dirty="0"/>
          </a:p>
        </p:txBody>
      </p:sp>
      <p:sp>
        <p:nvSpPr>
          <p:cNvPr id="19" name="Shape 15"/>
          <p:cNvSpPr/>
          <p:nvPr/>
        </p:nvSpPr>
        <p:spPr>
          <a:xfrm>
            <a:off x="793790" y="6764536"/>
            <a:ext cx="13042821" cy="843201"/>
          </a:xfrm>
          <a:prstGeom prst="roundRect">
            <a:avLst>
              <a:gd name="adj" fmla="val 9886"/>
            </a:avLst>
          </a:prstGeom>
          <a:solidFill>
            <a:srgbClr val="CAE1E8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8" y="7067431"/>
            <a:ext cx="248007" cy="19835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38513" y="7012424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Buenas prácticas: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Granularidad homogénea (todo mensual o todo semanal). No más de 4–5 series simultáneas. Resalta con color la serie principal.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2674" y="304324"/>
            <a:ext cx="2767132" cy="345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Highlight Table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42674" y="926783"/>
            <a:ext cx="1383506" cy="172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¿Cuándo usar?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42674" y="1210270"/>
            <a:ext cx="5335905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Matrices donde interesa ver rápidamente magnitudes en cruces (Categoría × Región).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42674" y="1498044"/>
            <a:ext cx="1383506" cy="172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Construcción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42674" y="1781532"/>
            <a:ext cx="5335905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Dim1 → Rows; Dim2 → Columns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42674" y="1997393"/>
            <a:ext cx="5335905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Font typeface="+mj-lt"/>
              <a:buAutoNum type="arabicPeriod" startAt="2"/>
            </a:pPr>
            <a:r>
              <a:rPr lang="en-US" sz="8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SUM(Métrica) → Text y también a Color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42674" y="2213253"/>
            <a:ext cx="5335905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Font typeface="+mj-lt"/>
              <a:buAutoNum type="arabicPeriod" startAt="3"/>
            </a:pPr>
            <a:r>
              <a:rPr lang="en-US" sz="8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Paleta secuencial o divergente (si hay positivos/negativos)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42674" y="2429113"/>
            <a:ext cx="5335905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Font typeface="+mj-lt"/>
              <a:buAutoNum type="arabicPeriod" startAt="4"/>
            </a:pPr>
            <a:r>
              <a:rPr lang="en-US" sz="8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Etiquetas compactas (formato abreviado, separador de miles)</a:t>
            </a:r>
            <a:endParaRPr lang="en-US" sz="8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6233" y="940594"/>
            <a:ext cx="7083981" cy="7083981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42674" y="8273415"/>
            <a:ext cx="6817162" cy="1099780"/>
          </a:xfrm>
          <a:prstGeom prst="roundRect">
            <a:avLst>
              <a:gd name="adj" fmla="val 4227"/>
            </a:avLst>
          </a:prstGeom>
          <a:solidFill>
            <a:srgbClr val="FFFFFF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8523" y="8399264"/>
            <a:ext cx="1383506" cy="172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Buenas prácticas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68523" y="8638461"/>
            <a:ext cx="6565463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Controla la cardinalidad para no saturar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68523" y="8854321"/>
            <a:ext cx="6565463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Ordena filas y columnas por subtotal para facilitar patrones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68523" y="9070181"/>
            <a:ext cx="6565463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Reserva anotaciones para celdas clave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7370445" y="8273415"/>
            <a:ext cx="6817281" cy="1099780"/>
          </a:xfrm>
          <a:prstGeom prst="roundRect">
            <a:avLst>
              <a:gd name="adj" fmla="val 4227"/>
            </a:avLst>
          </a:prstGeom>
          <a:solidFill>
            <a:srgbClr val="FFFFFF"/>
          </a:solidFill>
          <a:ln w="15240">
            <a:solidFill>
              <a:srgbClr val="CADC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96294" y="8399264"/>
            <a:ext cx="1383506" cy="172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Errores comunes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496294" y="8638461"/>
            <a:ext cx="6565583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Usar demasiadas categorías; se vuelve ilegible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7496294" y="8854321"/>
            <a:ext cx="6565583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8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Paletas confusas para daltónicos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8670" y="675561"/>
            <a:ext cx="5961459" cy="616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Heatmap (mapa de calor)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788670" y="1587579"/>
            <a:ext cx="7566660" cy="630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1F3E4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¿Cuándo usar?</a:t>
            </a:r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Similar a highlight table, pero además codifica intensidad por Size (o densidad con Density Map en otro contexto). Útil para patrones de concentración.</a:t>
            </a:r>
            <a:endParaRPr lang="en-US" sz="15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70" y="2440186"/>
            <a:ext cx="985957" cy="118312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971794" y="2637353"/>
            <a:ext cx="2464951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Construcción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1971794" y="3063597"/>
            <a:ext cx="6383536" cy="315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Igual que highlight table + añade SUM(Métrica) → Size para doble codificación</a:t>
            </a:r>
            <a:endParaRPr lang="en-US" sz="15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" y="3623310"/>
            <a:ext cx="985957" cy="118312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971794" y="3820478"/>
            <a:ext cx="2464951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Ajustes</a:t>
            </a:r>
            <a:endParaRPr lang="en-US" sz="1900" dirty="0"/>
          </a:p>
        </p:txBody>
      </p:sp>
      <p:sp>
        <p:nvSpPr>
          <p:cNvPr id="10" name="Text 5"/>
          <p:cNvSpPr/>
          <p:nvPr/>
        </p:nvSpPr>
        <p:spPr>
          <a:xfrm>
            <a:off x="1971794" y="4246721"/>
            <a:ext cx="6383536" cy="315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Ajusta Size para no saturar celdas. Usa gradientes perceptualmente uniformes</a:t>
            </a:r>
            <a:endParaRPr lang="en-US" sz="15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670" y="4806434"/>
            <a:ext cx="985957" cy="145137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971794" y="5003602"/>
            <a:ext cx="2464951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Tooltip narrativo</a:t>
            </a:r>
            <a:endParaRPr lang="en-US" sz="1900" dirty="0"/>
          </a:p>
        </p:txBody>
      </p:sp>
      <p:sp>
        <p:nvSpPr>
          <p:cNvPr id="13" name="Text 7"/>
          <p:cNvSpPr/>
          <p:nvPr/>
        </p:nvSpPr>
        <p:spPr>
          <a:xfrm>
            <a:off x="1971794" y="5429845"/>
            <a:ext cx="6383536" cy="630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Complementa con tooltip que narre el insight ("Mayor margen en Consumidor-Sur")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1084421" y="6701433"/>
            <a:ext cx="7270909" cy="630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B9AAD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Errores comunes:</a:t>
            </a:r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Matrices gigantes sin filtros. Dos escalas de color en un mismo dashboard que rompen consistencia.</a:t>
            </a:r>
            <a:endParaRPr lang="en-US" sz="1550" dirty="0"/>
          </a:p>
        </p:txBody>
      </p:sp>
      <p:sp>
        <p:nvSpPr>
          <p:cNvPr id="15" name="Shape 9"/>
          <p:cNvSpPr/>
          <p:nvPr/>
        </p:nvSpPr>
        <p:spPr>
          <a:xfrm>
            <a:off x="788670" y="6479619"/>
            <a:ext cx="22860" cy="1074420"/>
          </a:xfrm>
          <a:prstGeom prst="rect">
            <a:avLst/>
          </a:prstGeom>
          <a:solidFill>
            <a:srgbClr val="1F3E47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8882" y="397907"/>
            <a:ext cx="3618309" cy="45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Mapas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858929" y="3224927"/>
            <a:ext cx="180915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Símbolos (burbujas)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78882" y="3537942"/>
            <a:ext cx="4089202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 Size y Color para mostrar múltiples dimensiones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7524" y="1139547"/>
            <a:ext cx="4715351" cy="4715351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468" y="3361908"/>
            <a:ext cx="216456" cy="27062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889927" y="1991797"/>
            <a:ext cx="180915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Coropletas (áreas)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9889927" y="2304812"/>
            <a:ext cx="4161592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Coloreadas por intensidad, ideales para tasas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7524" y="1139547"/>
            <a:ext cx="4715351" cy="4715351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016" y="1932563"/>
            <a:ext cx="216456" cy="27062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889927" y="4457938"/>
            <a:ext cx="180915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Densidad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9889927" y="4770953"/>
            <a:ext cx="4161592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Para miles de puntos y patrones de concentración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7524" y="1139547"/>
            <a:ext cx="4715351" cy="4715351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2016" y="4791135"/>
            <a:ext cx="216456" cy="270629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78882" y="6071949"/>
            <a:ext cx="2172891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Construcción paso a paso</a:t>
            </a:r>
            <a:endParaRPr lang="en-US" sz="1400" dirty="0"/>
          </a:p>
        </p:txBody>
      </p:sp>
      <p:sp>
        <p:nvSpPr>
          <p:cNvPr id="16" name="Text 8"/>
          <p:cNvSpPr/>
          <p:nvPr/>
        </p:nvSpPr>
        <p:spPr>
          <a:xfrm>
            <a:off x="578882" y="6515219"/>
            <a:ext cx="13472636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Asigna rol geográfico a País/Región/Ciudad</a:t>
            </a:r>
            <a:endParaRPr lang="en-US" sz="1100" dirty="0"/>
          </a:p>
        </p:txBody>
      </p:sp>
      <p:sp>
        <p:nvSpPr>
          <p:cNvPr id="17" name="Text 9"/>
          <p:cNvSpPr/>
          <p:nvPr/>
        </p:nvSpPr>
        <p:spPr>
          <a:xfrm>
            <a:off x="578882" y="6797397"/>
            <a:ext cx="13472636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Arrastra el campo geográfico al lienzo</a:t>
            </a:r>
            <a:endParaRPr lang="en-US" sz="1100" dirty="0"/>
          </a:p>
        </p:txBody>
      </p:sp>
      <p:sp>
        <p:nvSpPr>
          <p:cNvPr id="18" name="Text 10"/>
          <p:cNvSpPr/>
          <p:nvPr/>
        </p:nvSpPr>
        <p:spPr>
          <a:xfrm>
            <a:off x="578882" y="7079575"/>
            <a:ext cx="13472636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SUM(Ventas) → Color y, si aplica, COUNTD(Cliente) → Tooltip</a:t>
            </a:r>
            <a:endParaRPr lang="en-US" sz="1100" dirty="0"/>
          </a:p>
        </p:txBody>
      </p:sp>
      <p:sp>
        <p:nvSpPr>
          <p:cNvPr id="19" name="Text 11"/>
          <p:cNvSpPr/>
          <p:nvPr/>
        </p:nvSpPr>
        <p:spPr>
          <a:xfrm>
            <a:off x="578882" y="7361753"/>
            <a:ext cx="13472636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Font typeface="+mj-lt"/>
              <a:buAutoNum type="arabicPeriod" startAt="4"/>
            </a:pPr>
            <a:r>
              <a:rPr lang="en-US" sz="11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 coropletas, prefiere tasas (per cápita) a totales brutos</a:t>
            </a:r>
            <a:endParaRPr lang="en-US" sz="1100" dirty="0"/>
          </a:p>
        </p:txBody>
      </p:sp>
      <p:sp>
        <p:nvSpPr>
          <p:cNvPr id="20" name="Shape 12"/>
          <p:cNvSpPr/>
          <p:nvPr/>
        </p:nvSpPr>
        <p:spPr>
          <a:xfrm>
            <a:off x="578882" y="7756088"/>
            <a:ext cx="13472636" cy="614839"/>
          </a:xfrm>
          <a:prstGeom prst="roundRect">
            <a:avLst>
              <a:gd name="adj" fmla="val 9887"/>
            </a:avLst>
          </a:prstGeom>
          <a:solidFill>
            <a:srgbClr val="CAE1E8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543" y="7977783"/>
            <a:ext cx="180856" cy="144661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049060" y="7936825"/>
            <a:ext cx="12857798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Buenas prácticas:</a:t>
            </a:r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Leyendas claras; evita paletas engañosas. Revisa geocodificación (nombres consistentes). Si hay áreas muy dispares, usa símbolos en dual-axis sobre el polígono para evitar sesgo visual.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59198"/>
            <a:ext cx="674298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Cálculos transversales útiles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176111"/>
            <a:ext cx="4215289" cy="1506736"/>
          </a:xfrm>
          <a:prstGeom prst="roundRect">
            <a:avLst>
              <a:gd name="adj" fmla="val 31614"/>
            </a:avLst>
          </a:prstGeom>
          <a:solidFill>
            <a:srgbClr val="028090"/>
          </a:solidFill>
          <a:ln w="22860">
            <a:solidFill>
              <a:srgbClr val="1B99A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5008" y="339732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Ranking dinámico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15008" y="3826550"/>
            <a:ext cx="37728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RANK(SUM([Ventas]))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207437" y="3176111"/>
            <a:ext cx="4215408" cy="1506736"/>
          </a:xfrm>
          <a:prstGeom prst="roundRect">
            <a:avLst>
              <a:gd name="adj" fmla="val 31614"/>
            </a:avLst>
          </a:prstGeom>
          <a:solidFill>
            <a:srgbClr val="CADCD8"/>
          </a:solidFill>
          <a:ln w="22860">
            <a:solidFill>
              <a:srgbClr val="B0C2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28655" y="339732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% del total (vista)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428655" y="3826550"/>
            <a:ext cx="377297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SUM([Ventas]) / WINDOW_SUM(SUM([Ventas]))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9621203" y="3176111"/>
            <a:ext cx="4215289" cy="1506736"/>
          </a:xfrm>
          <a:prstGeom prst="roundRect">
            <a:avLst>
              <a:gd name="adj" fmla="val 31614"/>
            </a:avLst>
          </a:prstGeom>
          <a:solidFill>
            <a:srgbClr val="B9AAD4"/>
          </a:solidFill>
          <a:ln w="22860">
            <a:solidFill>
              <a:srgbClr val="9F90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42421" y="339732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% del total fijo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842421" y="3826550"/>
            <a:ext cx="377285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SUM([Ventas]) / { FIXED : SUM([Ventas]) } (invariante a filtros)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93790" y="4881205"/>
            <a:ext cx="6422112" cy="1189196"/>
          </a:xfrm>
          <a:prstGeom prst="roundRect">
            <a:avLst>
              <a:gd name="adj" fmla="val 40055"/>
            </a:avLst>
          </a:prstGeom>
          <a:solidFill>
            <a:srgbClr val="B2D5AD"/>
          </a:solidFill>
          <a:ln w="22860">
            <a:solidFill>
              <a:srgbClr val="98BB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5008" y="510242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Correlación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15008" y="5531644"/>
            <a:ext cx="597967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WINDOW_CORR(SUM([X]), SUM([Y]))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414260" y="4881205"/>
            <a:ext cx="6422231" cy="1189196"/>
          </a:xfrm>
          <a:prstGeom prst="roundRect">
            <a:avLst>
              <a:gd name="adj" fmla="val 40055"/>
            </a:avLst>
          </a:prstGeom>
          <a:solidFill>
            <a:srgbClr val="606060"/>
          </a:solidFill>
          <a:ln w="22860">
            <a:solidFill>
              <a:srgbClr val="7979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5478" y="5102423"/>
            <a:ext cx="251412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Top-N con parámetro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635478" y="5531644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[Es Top N] = RANK(SUM([Ventas])) ≤ [Top N]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8483"/>
            <a:ext cx="855737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Taller 1: Relación y outliers (scatter)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11621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Objetivo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272403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Construir un scatter Ventas vs Beneficio por Categoría, con línea de tendencia y r en el tooltip.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3264813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3579138"/>
            <a:ext cx="4215289" cy="228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93790" y="372403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Configuración básica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93790" y="4153257"/>
            <a:ext cx="421528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SUM(Ventas) → Columns; SUM(Beneficio) → Rows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207437" y="3264813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207437" y="3579138"/>
            <a:ext cx="4215408" cy="22860"/>
          </a:xfrm>
          <a:prstGeom prst="rect">
            <a:avLst/>
          </a:prstGeom>
          <a:solidFill>
            <a:srgbClr val="CADCD8"/>
          </a:solidFill>
          <a:ln/>
        </p:spPr>
      </p:sp>
      <p:sp>
        <p:nvSpPr>
          <p:cNvPr id="11" name="Text 9"/>
          <p:cNvSpPr/>
          <p:nvPr/>
        </p:nvSpPr>
        <p:spPr>
          <a:xfrm>
            <a:off x="5207437" y="372403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Categorización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207437" y="4153257"/>
            <a:ext cx="42154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Categoría → Color/Detail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9621203" y="3264813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9621203" y="3579138"/>
            <a:ext cx="4215289" cy="22860"/>
          </a:xfrm>
          <a:prstGeom prst="rect">
            <a:avLst/>
          </a:prstGeom>
          <a:solidFill>
            <a:srgbClr val="B9AAD4"/>
          </a:solidFill>
          <a:ln/>
        </p:spPr>
      </p:sp>
      <p:sp>
        <p:nvSpPr>
          <p:cNvPr id="15" name="Text 13"/>
          <p:cNvSpPr/>
          <p:nvPr/>
        </p:nvSpPr>
        <p:spPr>
          <a:xfrm>
            <a:off x="9621203" y="372403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Línea de tendencia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621203" y="4153257"/>
            <a:ext cx="421528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Añade Trend Line (lineal)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93790" y="4817983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93790" y="5132308"/>
            <a:ext cx="6422112" cy="22860"/>
          </a:xfrm>
          <a:prstGeom prst="rect">
            <a:avLst/>
          </a:prstGeom>
          <a:solidFill>
            <a:srgbClr val="B2D5AD"/>
          </a:solidFill>
          <a:ln/>
        </p:spPr>
      </p:sp>
      <p:sp>
        <p:nvSpPr>
          <p:cNvPr id="19" name="Text 17"/>
          <p:cNvSpPr/>
          <p:nvPr/>
        </p:nvSpPr>
        <p:spPr>
          <a:xfrm>
            <a:off x="793790" y="527720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Correlación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793790" y="5706427"/>
            <a:ext cx="642211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Cálculo [r] = WINDOW_CORR(SUM([Ventas]), SUM([Beneficio])) y colócalo en Tooltip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414260" y="4817983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05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7414260" y="5132308"/>
            <a:ext cx="6422231" cy="22860"/>
          </a:xfrm>
          <a:prstGeom prst="rect">
            <a:avLst/>
          </a:prstGeom>
          <a:solidFill>
            <a:srgbClr val="606060"/>
          </a:solidFill>
          <a:ln/>
        </p:spPr>
      </p:sp>
      <p:sp>
        <p:nvSpPr>
          <p:cNvPr id="23" name="Text 21"/>
          <p:cNvSpPr/>
          <p:nvPr/>
        </p:nvSpPr>
        <p:spPr>
          <a:xfrm>
            <a:off x="7414260" y="527720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Filtrado de outliers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7414260" y="5706427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Filtra outliers (documenta criterio: p95 o 3*IQR)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93790" y="6713577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2809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Entregable: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captura + breve interpretación (dirección, fuerza, outliers)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5428" y="388739"/>
            <a:ext cx="6901339" cy="441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Taller 2: Top-N con participación (barras)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65428" y="1042392"/>
            <a:ext cx="1767007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Objetivo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65428" y="1475184"/>
            <a:ext cx="13499544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Construir barras horizontales con Top-N y mostrar % del total.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5428" y="2001560"/>
            <a:ext cx="1842016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Pasos de construcción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5428" y="2363748"/>
            <a:ext cx="6577370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Parámetro [Top N]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5428" y="2639258"/>
            <a:ext cx="6577370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Cálculo [Es Top N] = RANK(SUM([Ventas])) ≤ [Top N]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5428" y="2914769"/>
            <a:ext cx="6577370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Producto → Rows; SUM(Ventas) → Columns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5428" y="3190280"/>
            <a:ext cx="6577370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Font typeface="+mj-lt"/>
              <a:buAutoNum type="arabicPeriod" startAt="4"/>
            </a:pPr>
            <a:r>
              <a:rPr lang="en-US" sz="11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Filtro por [Es Top N]; ordena desc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5428" y="3465790"/>
            <a:ext cx="6577370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Font typeface="+mj-lt"/>
              <a:buAutoNum type="arabicPeriod" startAt="5"/>
            </a:pPr>
            <a:r>
              <a:rPr lang="en-US" sz="11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Cálculo [% Total] = SUM([Ventas]) / WINDOW_SUM(SUM([Ventas])) en Tooltip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5428" y="3741301"/>
            <a:ext cx="6577370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Font typeface="+mj-lt"/>
              <a:buAutoNum type="arabicPeriod" startAt="6"/>
            </a:pPr>
            <a:r>
              <a:rPr lang="en-US" sz="11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Título dinámico con el valor del parámetro</a:t>
            </a:r>
            <a:endParaRPr lang="en-US" sz="11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5223" y="2019181"/>
            <a:ext cx="6577370" cy="657737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495223" y="8755499"/>
            <a:ext cx="6577370" cy="22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1F3E4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Entregable: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captura + 3 hallazgos ejecutivos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19534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078" y="2383631"/>
            <a:ext cx="9261515" cy="488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Taller 3: Serie con variación y media móvil (líneas)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625078" y="3106222"/>
            <a:ext cx="1953458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Objetivo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25078" y="3584734"/>
            <a:ext cx="13380244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Construir una serie mensual con variación % en tooltip y media móvil configurable.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59393" y="4401026"/>
            <a:ext cx="6377583" cy="156210"/>
          </a:xfrm>
          <a:prstGeom prst="roundRect">
            <a:avLst>
              <a:gd name="adj" fmla="val 42018"/>
            </a:avLst>
          </a:prstGeom>
          <a:solidFill>
            <a:srgbClr val="028090"/>
          </a:solidFill>
          <a:ln w="15240">
            <a:solidFill>
              <a:srgbClr val="1B99A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5078" y="4244757"/>
            <a:ext cx="468749" cy="468749"/>
          </a:xfrm>
          <a:prstGeom prst="roundRect">
            <a:avLst>
              <a:gd name="adj" fmla="val 97536"/>
            </a:avLst>
          </a:prstGeom>
          <a:solidFill>
            <a:srgbClr val="028090"/>
          </a:solidFill>
          <a:ln w="15240">
            <a:solidFill>
              <a:srgbClr val="1B99A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236" y="4332625"/>
            <a:ext cx="234315" cy="29301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81288" y="4869775"/>
            <a:ext cx="1953458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Serie temporal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81288" y="5207675"/>
            <a:ext cx="6299597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Fecha (Mes, continua) → Columns; SUM(Ventas) → Rows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627620" y="4166711"/>
            <a:ext cx="6377583" cy="156210"/>
          </a:xfrm>
          <a:prstGeom prst="roundRect">
            <a:avLst>
              <a:gd name="adj" fmla="val 42018"/>
            </a:avLst>
          </a:prstGeom>
          <a:solidFill>
            <a:srgbClr val="CADCD8"/>
          </a:solidFill>
          <a:ln w="15240">
            <a:solidFill>
              <a:srgbClr val="B0C2B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93305" y="4010442"/>
            <a:ext cx="468749" cy="468749"/>
          </a:xfrm>
          <a:prstGeom prst="roundRect">
            <a:avLst>
              <a:gd name="adj" fmla="val 97536"/>
            </a:avLst>
          </a:prstGeom>
          <a:solidFill>
            <a:srgbClr val="CADCD8"/>
          </a:solidFill>
          <a:ln w="15240">
            <a:solidFill>
              <a:srgbClr val="B0C2B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0462" y="4098310"/>
            <a:ext cx="234315" cy="29301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49515" y="4635460"/>
            <a:ext cx="1953458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Variación mensual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7549515" y="4973360"/>
            <a:ext cx="6299597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Cálculo %Δ al tooltip usando fórmula LOOKUP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59393" y="6160651"/>
            <a:ext cx="6377583" cy="156210"/>
          </a:xfrm>
          <a:prstGeom prst="roundRect">
            <a:avLst>
              <a:gd name="adj" fmla="val 42018"/>
            </a:avLst>
          </a:prstGeom>
          <a:solidFill>
            <a:srgbClr val="B9AAD4"/>
          </a:solidFill>
          <a:ln w="15240">
            <a:solidFill>
              <a:srgbClr val="9F90B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25078" y="6004381"/>
            <a:ext cx="468749" cy="468749"/>
          </a:xfrm>
          <a:prstGeom prst="roundRect">
            <a:avLst>
              <a:gd name="adj" fmla="val 97536"/>
            </a:avLst>
          </a:prstGeom>
          <a:solidFill>
            <a:srgbClr val="B9AAD4"/>
          </a:solidFill>
          <a:ln w="15240">
            <a:solidFill>
              <a:srgbClr val="9F90B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236" y="6092250"/>
            <a:ext cx="234315" cy="29301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81288" y="6629400"/>
            <a:ext cx="1953458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Media móvil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781288" y="6967299"/>
            <a:ext cx="6299597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Parámetro [n Periodos] y cálculo WINDOW_AVG para línea suave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7627620" y="5926336"/>
            <a:ext cx="6377583" cy="156210"/>
          </a:xfrm>
          <a:prstGeom prst="roundRect">
            <a:avLst>
              <a:gd name="adj" fmla="val 42018"/>
            </a:avLst>
          </a:prstGeom>
          <a:solidFill>
            <a:srgbClr val="B2D5AD"/>
          </a:solidFill>
          <a:ln w="15240">
            <a:solidFill>
              <a:srgbClr val="98BB9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393305" y="5770066"/>
            <a:ext cx="468749" cy="468749"/>
          </a:xfrm>
          <a:prstGeom prst="roundRect">
            <a:avLst>
              <a:gd name="adj" fmla="val 97536"/>
            </a:avLst>
          </a:prstGeom>
          <a:solidFill>
            <a:srgbClr val="B2D5AD"/>
          </a:solidFill>
          <a:ln w="15240">
            <a:solidFill>
              <a:srgbClr val="98BB93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0462" y="5857935"/>
            <a:ext cx="234315" cy="29301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549515" y="6395085"/>
            <a:ext cx="1953458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Puntos atípicos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7549515" y="6732984"/>
            <a:ext cx="6299597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Marca puntos atípicos con referencia (pico mínimo/máximo)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625078" y="7549277"/>
            <a:ext cx="13380244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B2D5AD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Entregable: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captura + explicación de estacionalidad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046" y="383619"/>
            <a:ext cx="8425101" cy="436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Taller 4: Matriz de desempeño (highlight/heatmap)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58046" y="1028819"/>
            <a:ext cx="1743908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Objetivo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58046" y="1456015"/>
            <a:ext cx="13514308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Comparar Categoría × Región con highlight table y heatmap.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58046" y="1975604"/>
            <a:ext cx="1743908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Highlight Table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58046" y="2333030"/>
            <a:ext cx="6587014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0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Categoría → Rows, Región → Columns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58046" y="2605088"/>
            <a:ext cx="6587014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0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SUM(Ventas) → Text/Color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58046" y="2877145"/>
            <a:ext cx="6587014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0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Paleta secuencial clara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58046" y="3239810"/>
            <a:ext cx="1743908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Heatmap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58046" y="3597235"/>
            <a:ext cx="6587014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0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Misma matriz base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58046" y="3869293"/>
            <a:ext cx="6587014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0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AVG(Margen) → Color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58046" y="4141351"/>
            <a:ext cx="6587014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0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SUM(Ventas) → Size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58046" y="4413409"/>
            <a:ext cx="6587014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0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Ordena por subtotal; paletas consistentes</a:t>
            </a:r>
            <a:endParaRPr lang="en-US" sz="10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2960" y="1993106"/>
            <a:ext cx="6587014" cy="658701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492960" y="8737044"/>
            <a:ext cx="6587014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b="1" dirty="0">
                <a:solidFill>
                  <a:srgbClr val="6E707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Entregable:</a:t>
            </a:r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dos capturas + 3 insights (picos, huecos, combinaciones críticas)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7443" y="497205"/>
            <a:ext cx="507575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Taller 5: Mapa ejecutivo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207443" y="1330881"/>
            <a:ext cx="2253377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Objetivo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07443" y="1882973"/>
            <a:ext cx="7701915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Mostrar distribución territorial con lectura ejecutiva.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207443" y="2374106"/>
            <a:ext cx="721043" cy="1081564"/>
          </a:xfrm>
          <a:prstGeom prst="roundRect">
            <a:avLst>
              <a:gd name="adj" fmla="val 360038"/>
            </a:avLst>
          </a:prstGeom>
          <a:solidFill>
            <a:srgbClr val="028090"/>
          </a:solidFill>
          <a:ln w="15240">
            <a:solidFill>
              <a:srgbClr val="1B99A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32709" y="2745819"/>
            <a:ext cx="270391" cy="338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108746" y="2554367"/>
            <a:ext cx="2676406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Configuración geográfica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108746" y="2944178"/>
            <a:ext cx="6800612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Asigna roles geográficos; País/Región → lienzo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07443" y="3635931"/>
            <a:ext cx="721043" cy="1081564"/>
          </a:xfrm>
          <a:prstGeom prst="roundRect">
            <a:avLst>
              <a:gd name="adj" fmla="val 360038"/>
            </a:avLst>
          </a:prstGeom>
          <a:solidFill>
            <a:srgbClr val="CADCD8"/>
          </a:solidFill>
          <a:ln w="15240">
            <a:solidFill>
              <a:srgbClr val="B0C2B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32709" y="4007644"/>
            <a:ext cx="270391" cy="338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7108746" y="3816191"/>
            <a:ext cx="2253377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Métricas clave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108746" y="4206002"/>
            <a:ext cx="6800612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SUM(Ventas) → Color; COUNTD(Cliente) → Tooltip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07443" y="4897755"/>
            <a:ext cx="721043" cy="1081564"/>
          </a:xfrm>
          <a:prstGeom prst="roundRect">
            <a:avLst>
              <a:gd name="adj" fmla="val 360038"/>
            </a:avLst>
          </a:prstGeom>
          <a:solidFill>
            <a:srgbClr val="B9AAD4"/>
          </a:solidFill>
          <a:ln w="15240">
            <a:solidFill>
              <a:srgbClr val="9F90B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32709" y="5269468"/>
            <a:ext cx="270391" cy="338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3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7108746" y="5078016"/>
            <a:ext cx="2253377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Corrección de sesgo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7108746" y="5467826"/>
            <a:ext cx="6800612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Si hay sesgo por tamaño de área, agrega símbolos en dual-axis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207443" y="6159579"/>
            <a:ext cx="721043" cy="1081564"/>
          </a:xfrm>
          <a:prstGeom prst="roundRect">
            <a:avLst>
              <a:gd name="adj" fmla="val 360038"/>
            </a:avLst>
          </a:prstGeom>
          <a:solidFill>
            <a:srgbClr val="B2D5AD"/>
          </a:solidFill>
          <a:ln w="15240">
            <a:solidFill>
              <a:srgbClr val="98BB9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32709" y="6531293"/>
            <a:ext cx="270391" cy="338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4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7108746" y="6339840"/>
            <a:ext cx="2253377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Claridad narrativa</a:t>
            </a:r>
            <a:endParaRPr lang="en-US" sz="1750" dirty="0"/>
          </a:p>
        </p:txBody>
      </p:sp>
      <p:sp>
        <p:nvSpPr>
          <p:cNvPr id="21" name="Text 18"/>
          <p:cNvSpPr/>
          <p:nvPr/>
        </p:nvSpPr>
        <p:spPr>
          <a:xfrm>
            <a:off x="7108746" y="6729651"/>
            <a:ext cx="6800612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Título que responda a la pregunta; leyendas claras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207443" y="7443907"/>
            <a:ext cx="7701915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Entregable:</a:t>
            </a:r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captura + nota de interpretación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57751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Actividad integradora: Dashboard "Preguntas clave"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259556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Objetivo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793790" y="3203377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Ensamblar un dashboard que responda tres preguntas fundamentales del negocio.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793790" y="3744158"/>
            <a:ext cx="3679031" cy="1499354"/>
          </a:xfrm>
          <a:prstGeom prst="roundRect">
            <a:avLst>
              <a:gd name="adj" fmla="val 5560"/>
            </a:avLst>
          </a:prstGeom>
          <a:solidFill>
            <a:srgbClr val="028090"/>
          </a:solidFill>
          <a:ln w="22860">
            <a:solidFill>
              <a:srgbClr val="1B99A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15008" y="3965377"/>
            <a:ext cx="3236595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¿Qué factores se asocian a la rentabilidad?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015008" y="4704755"/>
            <a:ext cx="32365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Scatter con r (correlación)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4671179" y="3744158"/>
            <a:ext cx="3679031" cy="1499354"/>
          </a:xfrm>
          <a:prstGeom prst="roundRect">
            <a:avLst>
              <a:gd name="adj" fmla="val 5560"/>
            </a:avLst>
          </a:prstGeom>
          <a:solidFill>
            <a:srgbClr val="CADCD8"/>
          </a:solidFill>
          <a:ln w="22860">
            <a:solidFill>
              <a:srgbClr val="B0C2B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92397" y="3965377"/>
            <a:ext cx="3236595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¿Dónde están los líderes y rezagados?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4892397" y="4704755"/>
            <a:ext cx="32365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Barras Top-N con %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793790" y="5441871"/>
            <a:ext cx="7556421" cy="1189196"/>
          </a:xfrm>
          <a:prstGeom prst="roundRect">
            <a:avLst>
              <a:gd name="adj" fmla="val 7010"/>
            </a:avLst>
          </a:prstGeom>
          <a:solidFill>
            <a:srgbClr val="B9AAD4"/>
          </a:solidFill>
          <a:ln w="22860">
            <a:solidFill>
              <a:srgbClr val="9F90B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15008" y="5663089"/>
            <a:ext cx="454652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¿Cómo evoluciona la métrica principal?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1015008" y="6092309"/>
            <a:ext cx="711398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Línea con %Δ y media móvil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793790" y="6854309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F3E4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Opcional: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matriz (highlight/heatmap) y mapa para contexto territorial.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3414"/>
            <a:ext cx="837973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Guía de construcción del dashboard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303770" y="1660327"/>
            <a:ext cx="22860" cy="5925860"/>
          </a:xfrm>
          <a:prstGeom prst="roundRect">
            <a:avLst>
              <a:gd name="adj" fmla="val 364651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519505" y="1872139"/>
            <a:ext cx="595313" cy="22860"/>
          </a:xfrm>
          <a:prstGeom prst="roundRect">
            <a:avLst>
              <a:gd name="adj" fmla="val 364651"/>
            </a:avLst>
          </a:prstGeom>
          <a:solidFill>
            <a:srgbClr val="1B99A9"/>
          </a:solidFill>
          <a:ln/>
        </p:spPr>
      </p:sp>
      <p:sp>
        <p:nvSpPr>
          <p:cNvPr id="5" name="Shape 3"/>
          <p:cNvSpPr/>
          <p:nvPr/>
        </p:nvSpPr>
        <p:spPr>
          <a:xfrm>
            <a:off x="7091958" y="1660327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028090"/>
          </a:solidFill>
          <a:ln w="22860">
            <a:solidFill>
              <a:srgbClr val="1B99A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66372" y="1697534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3253264" y="1728549"/>
            <a:ext cx="306966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Preparación de hojas base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93790" y="2157770"/>
            <a:ext cx="552914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Utiliza los Talleres 1–5 como fundamento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515582" y="3062764"/>
            <a:ext cx="595313" cy="22860"/>
          </a:xfrm>
          <a:prstGeom prst="roundRect">
            <a:avLst>
              <a:gd name="adj" fmla="val 364651"/>
            </a:avLst>
          </a:prstGeom>
          <a:solidFill>
            <a:srgbClr val="B0C2BE"/>
          </a:solidFill>
          <a:ln/>
        </p:spPr>
      </p:sp>
      <p:sp>
        <p:nvSpPr>
          <p:cNvPr id="10" name="Shape 8"/>
          <p:cNvSpPr/>
          <p:nvPr/>
        </p:nvSpPr>
        <p:spPr>
          <a:xfrm>
            <a:off x="7091958" y="2850952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CADCD8"/>
          </a:solidFill>
          <a:ln w="22860">
            <a:solidFill>
              <a:srgbClr val="B0C2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66372" y="2888159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2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8307467" y="2919174"/>
            <a:ext cx="442698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Estructura del dashboard (1280×800)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8307467" y="3348395"/>
            <a:ext cx="552914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Fila superior: 3 tarjetas KPI (valor actual, Δ vs periodo anterior, mini sparkline)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519505" y="4089083"/>
            <a:ext cx="595313" cy="22860"/>
          </a:xfrm>
          <a:prstGeom prst="roundRect">
            <a:avLst>
              <a:gd name="adj" fmla="val 364651"/>
            </a:avLst>
          </a:prstGeom>
          <a:solidFill>
            <a:srgbClr val="9F90BA"/>
          </a:solidFill>
          <a:ln/>
        </p:spPr>
      </p:sp>
      <p:sp>
        <p:nvSpPr>
          <p:cNvPr id="15" name="Shape 13"/>
          <p:cNvSpPr/>
          <p:nvPr/>
        </p:nvSpPr>
        <p:spPr>
          <a:xfrm>
            <a:off x="7091958" y="3877270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B9AAD4"/>
          </a:solidFill>
          <a:ln w="22860">
            <a:solidFill>
              <a:srgbClr val="9F90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66372" y="3914477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3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3353514" y="3945493"/>
            <a:ext cx="296941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Distribución de columnas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93790" y="4374713"/>
            <a:ext cx="552914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Izquierda: barras Top-N (selector N por parámetro). Central: línea con %Δ y media móvil. Derecha: scatter con r en tooltip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515582" y="5115520"/>
            <a:ext cx="595313" cy="22860"/>
          </a:xfrm>
          <a:prstGeom prst="roundRect">
            <a:avLst>
              <a:gd name="adj" fmla="val 364651"/>
            </a:avLst>
          </a:prstGeom>
          <a:solidFill>
            <a:srgbClr val="98BB93"/>
          </a:solidFill>
          <a:ln/>
        </p:spPr>
      </p:sp>
      <p:sp>
        <p:nvSpPr>
          <p:cNvPr id="20" name="Shape 18"/>
          <p:cNvSpPr/>
          <p:nvPr/>
        </p:nvSpPr>
        <p:spPr>
          <a:xfrm>
            <a:off x="7091958" y="4903708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B2D5AD"/>
          </a:solidFill>
          <a:ln w="22860">
            <a:solidFill>
              <a:srgbClr val="98BB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66372" y="4940915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4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8307467" y="4971931"/>
            <a:ext cx="304931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Configuración de acciones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8307467" y="5401151"/>
            <a:ext cx="552914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Filter Action: clic en categoría filtra scatter y línea. Parameter Action: clic en etiqueta Top-N cambia [Top N]. Highlight Action: resalta selección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6519505" y="6141958"/>
            <a:ext cx="595313" cy="22860"/>
          </a:xfrm>
          <a:prstGeom prst="roundRect">
            <a:avLst>
              <a:gd name="adj" fmla="val 364651"/>
            </a:avLst>
          </a:prstGeom>
          <a:solidFill>
            <a:srgbClr val="797979"/>
          </a:solidFill>
          <a:ln/>
        </p:spPr>
      </p:sp>
      <p:sp>
        <p:nvSpPr>
          <p:cNvPr id="25" name="Shape 23"/>
          <p:cNvSpPr/>
          <p:nvPr/>
        </p:nvSpPr>
        <p:spPr>
          <a:xfrm>
            <a:off x="7091958" y="5930146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606060"/>
          </a:solidFill>
          <a:ln w="22860">
            <a:solidFill>
              <a:srgbClr val="79797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66372" y="5967353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5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3842028" y="599836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Prueba de usabilidad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793790" y="6427589"/>
            <a:ext cx="552914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Tres tareas: identificar líder, ver cambio mensual, detectar relación positiva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1261" y="385882"/>
            <a:ext cx="3629501" cy="438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Rúbrica y entregables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61261" y="1174909"/>
            <a:ext cx="1899999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Entregables esperados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61261" y="1534358"/>
            <a:ext cx="6582847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Libro .twbx del dashboard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1261" y="1807964"/>
            <a:ext cx="6582847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Captura general del dashboard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1261" y="2081570"/>
            <a:ext cx="6582847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Memo con 3 hallazgos + 1 decisión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1261" y="2446377"/>
            <a:ext cx="1896547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Criterios de evaluación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1261" y="2805827"/>
            <a:ext cx="6582847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Elección correcta de gráficos y consistencia 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1261" y="3079433"/>
            <a:ext cx="6582847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Implementación de cálculos (r, % del total, %Δ, media móvil, Top-N)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1261" y="3353038"/>
            <a:ext cx="6582847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Interacción funcional (filtros/acciones) y narrativa clara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1261" y="3626644"/>
            <a:ext cx="6582847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Calidad de la interpretación (insights accionables, no solo descripciones)</a:t>
            </a:r>
            <a:endParaRPr lang="en-US" sz="11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3913" y="1192411"/>
            <a:ext cx="6582847" cy="6582847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493913" y="7933015"/>
            <a:ext cx="6582847" cy="820698"/>
          </a:xfrm>
          <a:prstGeom prst="roundRect">
            <a:avLst>
              <a:gd name="adj" fmla="val 7181"/>
            </a:avLst>
          </a:prstGeom>
          <a:solidFill>
            <a:srgbClr val="CAE1E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4168" y="8145542"/>
            <a:ext cx="175379" cy="1402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949803" y="8108275"/>
            <a:ext cx="5986701" cy="449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B9AAD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Errores a evitar: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% del total calculado incorrectamente, rangos de fecha mezclados, overplotting en scatter, mapas con datos ambiguos, matrices enormes sin filtros.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3427" y="517922"/>
            <a:ext cx="6091833" cy="588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Ideas clave y reflexión final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2664143" y="2055733"/>
            <a:ext cx="2354461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Elección adecuada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753427" y="2463046"/>
            <a:ext cx="4265176" cy="602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Elegir el gráfico adecuado reduce ambigüedad y acelera decisiones</a:t>
            </a:r>
            <a:endParaRPr lang="en-US" sz="1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8603" y="1483162"/>
            <a:ext cx="4593193" cy="4593193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6329" y="2777788"/>
            <a:ext cx="264795" cy="3309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11797" y="2055733"/>
            <a:ext cx="2354461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Cálculos simples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9611797" y="2463046"/>
            <a:ext cx="4265176" cy="602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Ranking, % del total, variaciones potencian la lectura sin sobrecargar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603" y="1483162"/>
            <a:ext cx="4593193" cy="4593193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9038" y="2777788"/>
            <a:ext cx="264795" cy="33099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11797" y="4493657"/>
            <a:ext cx="2354461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Coherencia visual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9611797" y="4900970"/>
            <a:ext cx="4265176" cy="602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Paleta, tipografías, títulos como preguntas son tan importantes como los datos</a:t>
            </a:r>
            <a:endParaRPr lang="en-US" sz="14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8603" y="1483162"/>
            <a:ext cx="4593193" cy="4593193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9038" y="4450497"/>
            <a:ext cx="264795" cy="33099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2664143" y="4493657"/>
            <a:ext cx="2354461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Integración efectiva</a:t>
            </a:r>
            <a:endParaRPr lang="en-US" sz="1850" dirty="0"/>
          </a:p>
        </p:txBody>
      </p:sp>
      <p:sp>
        <p:nvSpPr>
          <p:cNvPr id="16" name="Text 8"/>
          <p:cNvSpPr/>
          <p:nvPr/>
        </p:nvSpPr>
        <p:spPr>
          <a:xfrm>
            <a:off x="753427" y="4900970"/>
            <a:ext cx="4265176" cy="602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 buen dashboard integra scatter + barras + líneas, siempre anclados en preguntas de negocio</a:t>
            </a:r>
            <a:endParaRPr lang="en-US" sz="14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8603" y="1483162"/>
            <a:ext cx="4593193" cy="4593193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6329" y="4450497"/>
            <a:ext cx="264795" cy="330994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53427" y="6358890"/>
            <a:ext cx="2539246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Preguntas de reflexión</a:t>
            </a:r>
            <a:endParaRPr lang="en-US" sz="1850" dirty="0"/>
          </a:p>
        </p:txBody>
      </p:sp>
      <p:sp>
        <p:nvSpPr>
          <p:cNvPr id="20" name="Text 10"/>
          <p:cNvSpPr/>
          <p:nvPr/>
        </p:nvSpPr>
        <p:spPr>
          <a:xfrm>
            <a:off x="753427" y="6935748"/>
            <a:ext cx="13123545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¿Qué gráfico te obligó a replantear la pregunta inicial y por qué?</a:t>
            </a:r>
            <a:endParaRPr lang="en-US" sz="1450" dirty="0"/>
          </a:p>
        </p:txBody>
      </p:sp>
      <p:sp>
        <p:nvSpPr>
          <p:cNvPr id="21" name="Text 11"/>
          <p:cNvSpPr/>
          <p:nvPr/>
        </p:nvSpPr>
        <p:spPr>
          <a:xfrm>
            <a:off x="753427" y="7302937"/>
            <a:ext cx="13123545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¿Qué cálculo (r, % del total, %Δ, media móvil) resultó más convincente para tu audiencia?</a:t>
            </a:r>
            <a:endParaRPr lang="en-US" sz="1450" dirty="0"/>
          </a:p>
        </p:txBody>
      </p:sp>
      <p:sp>
        <p:nvSpPr>
          <p:cNvPr id="22" name="Text 12"/>
          <p:cNvSpPr/>
          <p:nvPr/>
        </p:nvSpPr>
        <p:spPr>
          <a:xfrm>
            <a:off x="753427" y="7670125"/>
            <a:ext cx="13123545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Si tuvieses que eliminar una vista del dashboard, ¿cuál sería y cómo mantendrías la respuesta central?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2025-10-05T01:59:17Z</dcterms:created>
  <dcterms:modified xsi:type="dcterms:W3CDTF">2025-10-05T01:59:17Z</dcterms:modified>
</cp:coreProperties>
</file>