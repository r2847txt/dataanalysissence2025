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gI8VQ8c5eyEcCnc1RBJ8M8a4qE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CB9007-AF6D-A7AA-B229-E49F4B4938E3}" v="7" dt="2025-09-26T11:49:01.421"/>
  </p1510:revLst>
</p1510:revInfo>
</file>

<file path=ppt/tableStyles.xml><?xml version="1.0" encoding="utf-8"?>
<a:tblStyleLst xmlns:a="http://schemas.openxmlformats.org/drawingml/2006/main" def="{2DDADF71-D26B-41FB-823F-52F5F6DC0405}">
  <a:tblStyle styleId="{2DDADF71-D26B-41FB-823F-52F5F6DC04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32D7AF-33CD-4880-BF50-AFE04603A4C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4DCB9007-AF6D-A7AA-B229-E49F4B4938E3}"/>
    <pc:docChg chg="modSld">
      <pc:chgData name="Soraya Salazar" userId="S::soraya.salazar@kibernumacademy.com::fdf00a5c-f577-43dc-8064-9968cad83607" providerId="AD" clId="Web-{4DCB9007-AF6D-A7AA-B229-E49F4B4938E3}" dt="2025-09-26T11:49:01.421" v="5" actId="20577"/>
      <pc:docMkLst>
        <pc:docMk/>
      </pc:docMkLst>
      <pc:sldChg chg="delSp modSp">
        <pc:chgData name="Soraya Salazar" userId="S::soraya.salazar@kibernumacademy.com::fdf00a5c-f577-43dc-8064-9968cad83607" providerId="AD" clId="Web-{4DCB9007-AF6D-A7AA-B229-E49F4B4938E3}" dt="2025-09-26T11:49:01.421" v="5" actId="20577"/>
        <pc:sldMkLst>
          <pc:docMk/>
          <pc:sldMk cId="0" sldId="256"/>
        </pc:sldMkLst>
        <pc:spChg chg="del">
          <ac:chgData name="Soraya Salazar" userId="S::soraya.salazar@kibernumacademy.com::fdf00a5c-f577-43dc-8064-9968cad83607" providerId="AD" clId="Web-{4DCB9007-AF6D-A7AA-B229-E49F4B4938E3}" dt="2025-09-26T11:48:57.514" v="0"/>
          <ac:spMkLst>
            <pc:docMk/>
            <pc:sldMk cId="0" sldId="256"/>
            <ac:spMk id="91" creationId="{00000000-0000-0000-0000-000000000000}"/>
          </ac:spMkLst>
        </pc:spChg>
        <pc:spChg chg="mod">
          <ac:chgData name="Soraya Salazar" userId="S::soraya.salazar@kibernumacademy.com::fdf00a5c-f577-43dc-8064-9968cad83607" providerId="AD" clId="Web-{4DCB9007-AF6D-A7AA-B229-E49F4B4938E3}" dt="2025-09-26T11:49:01.421" v="5" actId="20577"/>
          <ac:spMkLst>
            <pc:docMk/>
            <pc:sldMk cId="0" sldId="256"/>
            <ac:spMk id="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4063854" y="2990553"/>
            <a:ext cx="7308567" cy="1963554"/>
          </a:xfrm>
          <a:prstGeom prst="roundRect">
            <a:avLst>
              <a:gd name="adj" fmla="val 7874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185656" y="3257269"/>
            <a:ext cx="6792686" cy="1403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ES"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E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Distribución de Probabilidad Discreta</a:t>
            </a:r>
            <a:endParaRPr sz="5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250681" y="2523808"/>
            <a:ext cx="702277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FFFFFF"/>
              </a:buClr>
              <a:buSzPts val="2000"/>
            </a:pPr>
            <a:r>
              <a:rPr lang="es-ES" sz="2000" b="1" dirty="0">
                <a:solidFill>
                  <a:srgbClr val="FFFFFF"/>
                </a:solidFill>
              </a:rPr>
              <a:t> </a:t>
            </a:r>
            <a:r>
              <a:rPr lang="es-E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Inferencia Estadística</a:t>
            </a:r>
            <a:endParaRPr lang="es-ES"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6068291" y="-551793"/>
            <a:ext cx="4557668" cy="578881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363548" y="469681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Objetivos de Aprendizaje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301670" y="1834775"/>
            <a:ext cx="4324289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Explicar el concepto de distribución de probabilidad.</a:t>
            </a:r>
            <a:endParaRPr/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Reconocer las distintas distribuciones de probabilidad.</a:t>
            </a:r>
            <a:endParaRPr/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Realizar cálculos básicos de probabilidad.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120545" y="1659284"/>
            <a:ext cx="3524500" cy="3720972"/>
            <a:chOff x="884486" y="0"/>
            <a:chExt cx="3524500" cy="3720972"/>
          </a:xfrm>
        </p:grpSpPr>
        <p:sp>
          <p:nvSpPr>
            <p:cNvPr id="101" name="Google Shape;101;p2"/>
            <p:cNvSpPr/>
            <p:nvPr/>
          </p:nvSpPr>
          <p:spPr>
            <a:xfrm>
              <a:off x="884486" y="0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8" r="-24998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-299545" y="1302790"/>
            <a:ext cx="11571890" cy="4149628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905164" y="1560016"/>
            <a:ext cx="99888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distribución de probabilidad para una variable aleatoria discreta es una lista de todos los resultados numéricos posibles y mutuamente excluyentes, que indica, además, la probabilidad de ocurrencia de cada resultado.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 lo tanto, una distribución de probabilidad discreta sólo puede tomar un número finito de valores (generalmente valores enteros).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Ejemplos de distribuciones de probabilidad discreta: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905164" y="642164"/>
            <a:ext cx="10782300" cy="69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Distribuciones de Probabilidad Discretas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1403325" y="4027350"/>
            <a:ext cx="46497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uniforme discreta.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de Bernoulli.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binomial.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de Poisson.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5869550" y="3956025"/>
            <a:ext cx="3852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multinomial.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geométrica.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binomial negativa.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hipergeométrica.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914400" y="3254003"/>
            <a:ext cx="10363200" cy="2735317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914400" y="1268401"/>
            <a:ext cx="10363200" cy="1626698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1139877" y="358210"/>
            <a:ext cx="10572750" cy="657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Distribución Uniforme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1185326" y="1326494"/>
            <a:ext cx="982134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 un experimento E en donde se lanza un dado.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Variable aleatoria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puntuación obtenida.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Ω={ 1, 2, 3, 4, 5, 6 }    #Ω=6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" name="Google Shape;122;p4"/>
          <p:cNvGrpSpPr/>
          <p:nvPr/>
        </p:nvGrpSpPr>
        <p:grpSpPr>
          <a:xfrm>
            <a:off x="6998771" y="3339949"/>
            <a:ext cx="3870168" cy="2534184"/>
            <a:chOff x="4034894" y="3829304"/>
            <a:chExt cx="3348558" cy="2000921"/>
          </a:xfrm>
        </p:grpSpPr>
        <p:cxnSp>
          <p:nvCxnSpPr>
            <p:cNvPr id="123" name="Google Shape;123;p4"/>
            <p:cNvCxnSpPr/>
            <p:nvPr/>
          </p:nvCxnSpPr>
          <p:spPr>
            <a:xfrm>
              <a:off x="4440848" y="5590124"/>
              <a:ext cx="267102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124" name="Google Shape;124;p4"/>
            <p:cNvCxnSpPr/>
            <p:nvPr/>
          </p:nvCxnSpPr>
          <p:spPr>
            <a:xfrm flipH="1">
              <a:off x="4442514" y="4144401"/>
              <a:ext cx="5644" cy="144497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none" w="sm" len="sm"/>
            </a:ln>
          </p:spPr>
        </p:cxnSp>
        <p:sp>
          <p:nvSpPr>
            <p:cNvPr id="125" name="Google Shape;125;p4"/>
            <p:cNvSpPr/>
            <p:nvPr/>
          </p:nvSpPr>
          <p:spPr>
            <a:xfrm>
              <a:off x="4694847" y="5353361"/>
              <a:ext cx="144443" cy="229415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038492" y="5353361"/>
              <a:ext cx="144443" cy="229415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382137" y="5353361"/>
              <a:ext cx="144443" cy="229415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725782" y="5353361"/>
              <a:ext cx="144443" cy="229415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6069427" y="5353361"/>
              <a:ext cx="144443" cy="229415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6413071" y="5353361"/>
              <a:ext cx="144443" cy="229415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4645151" y="5553226"/>
              <a:ext cx="2632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32" name="Google Shape;132;p4"/>
            <p:cNvSpPr txBox="1"/>
            <p:nvPr/>
          </p:nvSpPr>
          <p:spPr>
            <a:xfrm>
              <a:off x="4974425" y="5553226"/>
              <a:ext cx="2632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326118" y="5553226"/>
              <a:ext cx="2632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34" name="Google Shape;134;p4"/>
            <p:cNvSpPr txBox="1"/>
            <p:nvPr/>
          </p:nvSpPr>
          <p:spPr>
            <a:xfrm>
              <a:off x="5665566" y="5553226"/>
              <a:ext cx="2632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6012765" y="5553226"/>
              <a:ext cx="2632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6352617" y="5553226"/>
              <a:ext cx="2632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4113914" y="4176897"/>
              <a:ext cx="2632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38" name="Google Shape;138;p4"/>
            <p:cNvSpPr txBox="1"/>
            <p:nvPr/>
          </p:nvSpPr>
          <p:spPr>
            <a:xfrm>
              <a:off x="4080689" y="5468068"/>
              <a:ext cx="2632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4034894" y="5214861"/>
              <a:ext cx="40107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1/6</a:t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7131460" y="5439360"/>
              <a:ext cx="2519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4229956" y="3829304"/>
              <a:ext cx="4251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P(x)</a:t>
              </a:r>
              <a:endParaRPr/>
            </a:p>
          </p:txBody>
        </p:sp>
      </p:grpSp>
      <p:pic>
        <p:nvPicPr>
          <p:cNvPr id="6" name="Imagen 5" descr="Imagen que contiene biombo, dibujo&#10;&#10;Descripción generada automáticamente">
            <a:extLst>
              <a:ext uri="{FF2B5EF4-FFF2-40B4-BE49-F238E27FC236}">
                <a16:creationId xmlns:a16="http://schemas.microsoft.com/office/drawing/2014/main" id="{372FFAE2-9C40-5987-48AD-5B0C924EB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946" y="4437970"/>
            <a:ext cx="5581650" cy="1247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914400" y="3254003"/>
            <a:ext cx="10363200" cy="2735317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914400" y="1075117"/>
            <a:ext cx="10363200" cy="1753647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914400" y="67055"/>
            <a:ext cx="1057275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Distribución No-Uniforme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1185326" y="1182269"/>
            <a:ext cx="9821348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 un experimento E en donde se lanza una moneda.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Variable aleatoria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cantidad de caras obtenidas en 3 lanzamientos.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Ω={ SSS, CSS, SCS, SSC, CCS, CSC, SCC, CCC }    #Ω=8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5"/>
          <p:cNvGrpSpPr/>
          <p:nvPr/>
        </p:nvGrpSpPr>
        <p:grpSpPr>
          <a:xfrm>
            <a:off x="7582401" y="3461518"/>
            <a:ext cx="2658622" cy="2554628"/>
            <a:chOff x="7684001" y="2607717"/>
            <a:chExt cx="2658622" cy="2554628"/>
          </a:xfrm>
        </p:grpSpPr>
        <p:cxnSp>
          <p:nvCxnSpPr>
            <p:cNvPr id="152" name="Google Shape;152;p5"/>
            <p:cNvCxnSpPr/>
            <p:nvPr/>
          </p:nvCxnSpPr>
          <p:spPr>
            <a:xfrm>
              <a:off x="8162044" y="4837811"/>
              <a:ext cx="186795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153" name="Google Shape;153;p5"/>
            <p:cNvCxnSpPr/>
            <p:nvPr/>
          </p:nvCxnSpPr>
          <p:spPr>
            <a:xfrm flipH="1">
              <a:off x="8163970" y="3006790"/>
              <a:ext cx="6523" cy="18300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none" w="sm" len="sm"/>
            </a:ln>
          </p:spPr>
        </p:cxnSp>
        <p:sp>
          <p:nvSpPr>
            <p:cNvPr id="154" name="Google Shape;154;p5"/>
            <p:cNvSpPr/>
            <p:nvPr/>
          </p:nvSpPr>
          <p:spPr>
            <a:xfrm>
              <a:off x="8705122" y="3786220"/>
              <a:ext cx="177078" cy="1042285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9102297" y="3786220"/>
              <a:ext cx="177078" cy="1042285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9509606" y="4537949"/>
              <a:ext cx="166943" cy="29055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8337509" y="4548723"/>
              <a:ext cx="166943" cy="29055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8657819" y="4791079"/>
              <a:ext cx="304215" cy="3508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59" name="Google Shape;159;p5"/>
            <p:cNvSpPr txBox="1"/>
            <p:nvPr/>
          </p:nvSpPr>
          <p:spPr>
            <a:xfrm>
              <a:off x="9038384" y="4791079"/>
              <a:ext cx="304215" cy="3508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9444861" y="4791079"/>
              <a:ext cx="304215" cy="3508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61" name="Google Shape;161;p5"/>
            <p:cNvSpPr txBox="1"/>
            <p:nvPr/>
          </p:nvSpPr>
          <p:spPr>
            <a:xfrm>
              <a:off x="8286826" y="4811523"/>
              <a:ext cx="304215" cy="3508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7692854" y="4362537"/>
              <a:ext cx="40107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1/8</a:t>
              </a: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10051378" y="4694001"/>
              <a:ext cx="291245" cy="3508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7918301" y="2607717"/>
              <a:ext cx="491337" cy="3508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P(x)</a:t>
              </a:r>
              <a:endParaRPr/>
            </a:p>
          </p:txBody>
        </p:sp>
        <p:sp>
          <p:nvSpPr>
            <p:cNvPr id="165" name="Google Shape;165;p5"/>
            <p:cNvSpPr txBox="1"/>
            <p:nvPr/>
          </p:nvSpPr>
          <p:spPr>
            <a:xfrm>
              <a:off x="7684001" y="3696747"/>
              <a:ext cx="40107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3/8</a:t>
              </a:r>
              <a:endParaRPr/>
            </a:p>
          </p:txBody>
        </p:sp>
      </p:grpSp>
      <p:pic>
        <p:nvPicPr>
          <p:cNvPr id="2" name="Imagen 1" descr="Calendario&#10;&#10;Descripción generada automáticamente">
            <a:extLst>
              <a:ext uri="{FF2B5EF4-FFF2-40B4-BE49-F238E27FC236}">
                <a16:creationId xmlns:a16="http://schemas.microsoft.com/office/drawing/2014/main" id="{B35007AC-719A-3928-CF42-E006F2EAA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221" y="4163786"/>
            <a:ext cx="4991100" cy="160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/>
          <p:nvPr/>
        </p:nvSpPr>
        <p:spPr>
          <a:xfrm>
            <a:off x="704850" y="2368985"/>
            <a:ext cx="10782300" cy="2793565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863247" y="2637637"/>
            <a:ext cx="10465505" cy="225625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22" t="-2160" r="-349" b="-37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823379" y="1226597"/>
            <a:ext cx="1066377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Valor Esperado de una Variable Aleatoria Discreta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704850" y="1807873"/>
            <a:ext cx="10782300" cy="3365065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1021645" y="1910983"/>
            <a:ext cx="10148711" cy="308725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40" t="-985" r="-540" b="-236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704850" y="791212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Valor Esperado de una Variable Aleatoria Discreta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704850" y="2368986"/>
            <a:ext cx="10782300" cy="2636368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1021645" y="2472095"/>
            <a:ext cx="10148711" cy="225625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40" t="-1350" r="-540" b="-405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704850" y="1175306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Dispersión de una Variable Aleatoria Discreta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447964" y="1831172"/>
            <a:ext cx="11277600" cy="3498209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646468" y="2573398"/>
            <a:ext cx="6667500" cy="1965697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967798" y="3001964"/>
            <a:ext cx="341456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desviación estándar 𝝈 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una variable aleatoria discreta se calcula, como: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5174673" y="2837812"/>
            <a:ext cx="5611089" cy="14368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531668" y="823110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Dispersión de una Variable Aleatoria Discreta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>
            <a:off x="1638300" y="2444893"/>
            <a:ext cx="6207579" cy="3719424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66436" y="1342935"/>
            <a:ext cx="11277600" cy="865746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714087" y="1451081"/>
            <a:ext cx="107823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varianza y la desviación estándar del número de caras por lanzamiento de 3 monedas se calculan usando la siguiente tabla:</a:t>
            </a:r>
            <a:endParaRPr/>
          </a:p>
        </p:txBody>
      </p:sp>
      <p:graphicFrame>
        <p:nvGraphicFramePr>
          <p:cNvPr id="203" name="Google Shape;203;p10"/>
          <p:cNvGraphicFramePr/>
          <p:nvPr>
            <p:extLst>
              <p:ext uri="{D42A27DB-BD31-4B8C-83A1-F6EECF244321}">
                <p14:modId xmlns:p14="http://schemas.microsoft.com/office/powerpoint/2010/main" val="3735684759"/>
              </p:ext>
            </p:extLst>
          </p:nvPr>
        </p:nvGraphicFramePr>
        <p:xfrm>
          <a:off x="2032000" y="2694130"/>
          <a:ext cx="5348350" cy="2861175"/>
        </p:xfrm>
        <a:graphic>
          <a:graphicData uri="http://schemas.openxmlformats.org/drawingml/2006/table">
            <a:tbl>
              <a:tblPr firstRow="1" bandRow="1">
                <a:noFill/>
                <a:tableStyleId>{EE32D7AF-33CD-4880-BF50-AFE04603A4C1}</a:tableStyleId>
              </a:tblPr>
              <a:tblGrid>
                <a:gridCol w="148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/>
                        <a:t>Caras por lanzamiento</a:t>
                      </a:r>
                      <a:endParaRPr sz="20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/>
                        <a:t>0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/>
                        <a:t>0.125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/>
                        <a:t>0.000</a:t>
                      </a: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/>
                        <a:t>1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/>
                        <a:t>0.375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/>
                        <a:t>0.375</a:t>
                      </a: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/>
                        <a:t>2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/>
                        <a:t>0.375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/>
                        <a:t>0.750</a:t>
                      </a: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/>
                        <a:t>3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/>
                        <a:t>0.125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/>
                        <a:t>0.375</a:t>
                      </a: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4" name="Google Shape;204;p10"/>
          <p:cNvSpPr txBox="1"/>
          <p:nvPr/>
        </p:nvSpPr>
        <p:spPr>
          <a:xfrm>
            <a:off x="4642273" y="5633040"/>
            <a:ext cx="2721001" cy="34541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95" r="-1791" b="-526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5" name="Google Shape;205;p10"/>
          <p:cNvSpPr txBox="1"/>
          <p:nvPr/>
        </p:nvSpPr>
        <p:spPr>
          <a:xfrm>
            <a:off x="714087" y="570417"/>
            <a:ext cx="10782300" cy="66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Dispersión de una Variable Aleatoria Discreta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1" descr="Patrón de fon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/>
          <p:nvPr/>
        </p:nvSpPr>
        <p:spPr>
          <a:xfrm>
            <a:off x="-585177" y="3057041"/>
            <a:ext cx="7270376" cy="1045333"/>
          </a:xfrm>
          <a:prstGeom prst="roundRect">
            <a:avLst>
              <a:gd name="adj" fmla="val 9640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2428454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s-ES" sz="3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Arial"/>
              <a:buNone/>
            </a:pPr>
            <a:r>
              <a:rPr lang="es-ES" sz="3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Presentación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Microsoft Office PowerPoint</Application>
  <PresentationFormat>Panorámica</PresentationFormat>
  <Paragraphs>82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 Distribución de Probabilidad Discreta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Distribución de Probabilidad Discreta</dc:title>
  <dc:creator>Kibernum</dc:creator>
  <cp:lastModifiedBy>kibernum</cp:lastModifiedBy>
  <cp:revision>17</cp:revision>
  <dcterms:created xsi:type="dcterms:W3CDTF">2023-01-03T12:28:26Z</dcterms:created>
  <dcterms:modified xsi:type="dcterms:W3CDTF">2025-09-26T11:49:08Z</dcterms:modified>
</cp:coreProperties>
</file>