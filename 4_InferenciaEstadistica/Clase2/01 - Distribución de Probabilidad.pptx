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12" r:id="rId5"/>
  </p:sldMasterIdLst>
  <p:notesMasterIdLst>
    <p:notesMasterId r:id="rId20"/>
  </p:notesMasterIdLst>
  <p:sldIdLst>
    <p:sldId id="562" r:id="rId6"/>
    <p:sldId id="269" r:id="rId7"/>
    <p:sldId id="271" r:id="rId8"/>
    <p:sldId id="645" r:id="rId9"/>
    <p:sldId id="595" r:id="rId10"/>
    <p:sldId id="764" r:id="rId11"/>
    <p:sldId id="765" r:id="rId12"/>
    <p:sldId id="732" r:id="rId13"/>
    <p:sldId id="767" r:id="rId14"/>
    <p:sldId id="768" r:id="rId15"/>
    <p:sldId id="769" r:id="rId16"/>
    <p:sldId id="770" r:id="rId17"/>
    <p:sldId id="771" r:id="rId18"/>
    <p:sldId id="772" r:id="rId19"/>
  </p:sldIdLst>
  <p:sldSz cx="12192000" cy="6858000"/>
  <p:notesSz cx="6858000" cy="9144000"/>
  <p:defaultTextStyle>
    <a:defPPr>
      <a:defRPr lang="es-ES_tradnl"/>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2B65"/>
    <a:srgbClr val="F6A120"/>
    <a:srgbClr val="078CAE"/>
    <a:srgbClr val="98C340"/>
    <a:srgbClr val="FD0075"/>
    <a:srgbClr val="8DB8FE"/>
    <a:srgbClr val="EDE9C8"/>
    <a:srgbClr val="252526"/>
    <a:srgbClr val="383838"/>
    <a:srgbClr val="1E1E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335BF4-0A6B-9BBE-0676-04165CDAC990}" v="4" dt="2025-09-26T11:48:49.1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91" autoAdjust="0"/>
    <p:restoredTop sz="96395" autoAdjust="0"/>
  </p:normalViewPr>
  <p:slideViewPr>
    <p:cSldViewPr snapToGrid="0">
      <p:cViewPr varScale="1">
        <p:scale>
          <a:sx n="76" d="100"/>
          <a:sy n="76" d="100"/>
        </p:scale>
        <p:origin x="114" y="31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4C335BF4-0A6B-9BBE-0676-04165CDAC990}"/>
    <pc:docChg chg="modSld">
      <pc:chgData name="Soraya Salazar" userId="S::soraya.salazar@kibernumacademy.com::fdf00a5c-f577-43dc-8064-9968cad83607" providerId="AD" clId="Web-{4C335BF4-0A6B-9BBE-0676-04165CDAC990}" dt="2025-09-26T11:48:49.106" v="1"/>
      <pc:docMkLst>
        <pc:docMk/>
      </pc:docMkLst>
      <pc:sldChg chg="delSp modSp">
        <pc:chgData name="Soraya Salazar" userId="S::soraya.salazar@kibernumacademy.com::fdf00a5c-f577-43dc-8064-9968cad83607" providerId="AD" clId="Web-{4C335BF4-0A6B-9BBE-0676-04165CDAC990}" dt="2025-09-26T11:48:49.106" v="1"/>
        <pc:sldMkLst>
          <pc:docMk/>
          <pc:sldMk cId="1998777028" sldId="562"/>
        </pc:sldMkLst>
        <pc:spChg chg="del">
          <ac:chgData name="Soraya Salazar" userId="S::soraya.salazar@kibernumacademy.com::fdf00a5c-f577-43dc-8064-9968cad83607" providerId="AD" clId="Web-{4C335BF4-0A6B-9BBE-0676-04165CDAC990}" dt="2025-09-26T11:48:49.106" v="1"/>
          <ac:spMkLst>
            <pc:docMk/>
            <pc:sldMk cId="1998777028" sldId="562"/>
            <ac:spMk id="9" creationId="{00000000-0000-0000-0000-000000000000}"/>
          </ac:spMkLst>
        </pc:spChg>
        <pc:spChg chg="mod">
          <ac:chgData name="Soraya Salazar" userId="S::soraya.salazar@kibernumacademy.com::fdf00a5c-f577-43dc-8064-9968cad83607" providerId="AD" clId="Web-{4C335BF4-0A6B-9BBE-0676-04165CDAC990}" dt="2025-09-26T11:48:47.027" v="0" actId="20577"/>
          <ac:spMkLst>
            <pc:docMk/>
            <pc:sldMk cId="1998777028" sldId="562"/>
            <ac:spMk id="10" creationId="{00000000-0000-0000-0000-000000000000}"/>
          </ac:spMkLst>
        </pc:sp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image" Target="../media/image3.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3.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86C9B3-8CA1-4316-B2A8-C2AB3E5202A1}" type="doc">
      <dgm:prSet loTypeId="urn:microsoft.com/office/officeart/2008/layout/CircularPictureCallout" loCatId="picture" qsTypeId="urn:microsoft.com/office/officeart/2005/8/quickstyle/simple1" qsCatId="simple" csTypeId="urn:microsoft.com/office/officeart/2005/8/colors/accent1_2" csCatId="accent1" phldr="1"/>
      <dgm:spPr/>
      <dgm:t>
        <a:bodyPr/>
        <a:lstStyle/>
        <a:p>
          <a:endParaRPr lang="es-CL"/>
        </a:p>
      </dgm:t>
    </dgm:pt>
    <dgm:pt modelId="{ACF776B3-81F4-49B8-996C-E0E8971CB28A}">
      <dgm:prSet phldrT="[Texto]" phldr="1"/>
      <dgm:spPr/>
      <dgm:t>
        <a:bodyPr/>
        <a:lstStyle/>
        <a:p>
          <a:endParaRPr lang="es-CL" dirty="0"/>
        </a:p>
      </dgm:t>
    </dgm:pt>
    <dgm:pt modelId="{41C4E4EE-2324-4FF1-BA78-4882005C9586}" type="sibTrans" cxnId="{5A64C6AC-4807-4DC4-9F2C-89D66A8AD3CD}">
      <dgm:prSet/>
      <dgm:spPr>
        <a:blipFill rotWithShape="1">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dgm:spPr>
      <dgm:t>
        <a:bodyPr/>
        <a:lstStyle/>
        <a:p>
          <a:endParaRPr lang="es-CL"/>
        </a:p>
      </dgm:t>
    </dgm:pt>
    <dgm:pt modelId="{5FCC59EC-C1F9-4CEA-A4DE-8BD900E35E09}" type="parTrans" cxnId="{5A64C6AC-4807-4DC4-9F2C-89D66A8AD3CD}">
      <dgm:prSet/>
      <dgm:spPr/>
      <dgm:t>
        <a:bodyPr/>
        <a:lstStyle/>
        <a:p>
          <a:endParaRPr lang="es-CL"/>
        </a:p>
      </dgm:t>
    </dgm:pt>
    <dgm:pt modelId="{79CAE2F2-FABA-47D8-982E-5CB4A395EF22}" type="pres">
      <dgm:prSet presAssocID="{BD86C9B3-8CA1-4316-B2A8-C2AB3E5202A1}" presName="Name0" presStyleCnt="0">
        <dgm:presLayoutVars>
          <dgm:chMax val="7"/>
          <dgm:chPref val="7"/>
          <dgm:dir/>
        </dgm:presLayoutVars>
      </dgm:prSet>
      <dgm:spPr/>
    </dgm:pt>
    <dgm:pt modelId="{013A5190-13DA-4A06-B419-25DE0FAB7E44}" type="pres">
      <dgm:prSet presAssocID="{BD86C9B3-8CA1-4316-B2A8-C2AB3E5202A1}" presName="Name1" presStyleCnt="0"/>
      <dgm:spPr/>
    </dgm:pt>
    <dgm:pt modelId="{8D925382-CBF4-430D-82BE-B8BB91879A49}" type="pres">
      <dgm:prSet presAssocID="{41C4E4EE-2324-4FF1-BA78-4882005C9586}" presName="picture_1" presStyleCnt="0"/>
      <dgm:spPr/>
    </dgm:pt>
    <dgm:pt modelId="{CE843430-6A5D-49F2-8E4D-AF5FF0C06A1E}" type="pres">
      <dgm:prSet presAssocID="{41C4E4EE-2324-4FF1-BA78-4882005C9586}" presName="pictureRepeatNode" presStyleLbl="alignImgPlace1" presStyleIdx="0" presStyleCnt="1" custScaleX="133164" custScaleY="133164" custLinFactNeighborX="11845" custLinFactNeighborY="-5357"/>
      <dgm:spPr/>
    </dgm:pt>
    <dgm:pt modelId="{4D1A0FA8-12E9-4E0B-B90F-BFECD1796557}" type="pres">
      <dgm:prSet presAssocID="{ACF776B3-81F4-49B8-996C-E0E8971CB28A}" presName="text_1" presStyleLbl="node1" presStyleIdx="0" presStyleCnt="0" custFlipHor="1" custScaleX="5764" custScaleY="23463" custLinFactY="76911" custLinFactNeighborX="48144" custLinFactNeighborY="100000">
        <dgm:presLayoutVars>
          <dgm:bulletEnabled val="1"/>
        </dgm:presLayoutVars>
      </dgm:prSet>
      <dgm:spPr/>
    </dgm:pt>
  </dgm:ptLst>
  <dgm:cxnLst>
    <dgm:cxn modelId="{5B738359-CF87-4D17-AA4D-AA83AFE3F907}" type="presOf" srcId="{41C4E4EE-2324-4FF1-BA78-4882005C9586}" destId="{CE843430-6A5D-49F2-8E4D-AF5FF0C06A1E}" srcOrd="0" destOrd="0" presId="urn:microsoft.com/office/officeart/2008/layout/CircularPictureCallout"/>
    <dgm:cxn modelId="{657E2791-CA4B-40FB-90BF-78812BF2A593}" type="presOf" srcId="{BD86C9B3-8CA1-4316-B2A8-C2AB3E5202A1}" destId="{79CAE2F2-FABA-47D8-982E-5CB4A395EF22}" srcOrd="0" destOrd="0" presId="urn:microsoft.com/office/officeart/2008/layout/CircularPictureCallout"/>
    <dgm:cxn modelId="{5A64C6AC-4807-4DC4-9F2C-89D66A8AD3CD}" srcId="{BD86C9B3-8CA1-4316-B2A8-C2AB3E5202A1}" destId="{ACF776B3-81F4-49B8-996C-E0E8971CB28A}" srcOrd="0" destOrd="0" parTransId="{5FCC59EC-C1F9-4CEA-A4DE-8BD900E35E09}" sibTransId="{41C4E4EE-2324-4FF1-BA78-4882005C9586}"/>
    <dgm:cxn modelId="{13E97CFA-3B17-4F06-A16C-1BAE7169EB0A}" type="presOf" srcId="{ACF776B3-81F4-49B8-996C-E0E8971CB28A}" destId="{4D1A0FA8-12E9-4E0B-B90F-BFECD1796557}" srcOrd="0" destOrd="0" presId="urn:microsoft.com/office/officeart/2008/layout/CircularPictureCallout"/>
    <dgm:cxn modelId="{D705EB29-DDF4-4415-9FE9-BC5F828FF238}" type="presParOf" srcId="{79CAE2F2-FABA-47D8-982E-5CB4A395EF22}" destId="{013A5190-13DA-4A06-B419-25DE0FAB7E44}" srcOrd="0" destOrd="0" presId="urn:microsoft.com/office/officeart/2008/layout/CircularPictureCallout"/>
    <dgm:cxn modelId="{1F943456-73C0-4688-ADD0-958A0DE02B92}" type="presParOf" srcId="{013A5190-13DA-4A06-B419-25DE0FAB7E44}" destId="{8D925382-CBF4-430D-82BE-B8BB91879A49}" srcOrd="0" destOrd="0" presId="urn:microsoft.com/office/officeart/2008/layout/CircularPictureCallout"/>
    <dgm:cxn modelId="{29D11D95-0058-49A1-964D-AFA35907B414}" type="presParOf" srcId="{8D925382-CBF4-430D-82BE-B8BB91879A49}" destId="{CE843430-6A5D-49F2-8E4D-AF5FF0C06A1E}" srcOrd="0" destOrd="0" presId="urn:microsoft.com/office/officeart/2008/layout/CircularPictureCallout"/>
    <dgm:cxn modelId="{6BC5FF22-5F5A-4683-BE56-58E9A0F6C169}" type="presParOf" srcId="{013A5190-13DA-4A06-B419-25DE0FAB7E44}" destId="{4D1A0FA8-12E9-4E0B-B90F-BFECD1796557}" srcOrd="1" destOrd="0" presId="urn:microsoft.com/office/officeart/2008/layout/CircularPictureCallou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843430-6A5D-49F2-8E4D-AF5FF0C06A1E}">
      <dsp:nvSpPr>
        <dsp:cNvPr id="0" name=""/>
        <dsp:cNvSpPr/>
      </dsp:nvSpPr>
      <dsp:spPr>
        <a:xfrm>
          <a:off x="1197992" y="0"/>
          <a:ext cx="3524500" cy="3524500"/>
        </a:xfrm>
        <a:prstGeom prst="ellipse">
          <a:avLst/>
        </a:prstGeom>
        <a:blipFill rotWithShape="1">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D1A0FA8-12E9-4E0B-B90F-BFECD1796557}">
      <dsp:nvSpPr>
        <dsp:cNvPr id="0" name=""/>
        <dsp:cNvSpPr/>
      </dsp:nvSpPr>
      <dsp:spPr>
        <a:xfrm flipH="1">
          <a:off x="3413435" y="3516041"/>
          <a:ext cx="97637" cy="20493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222250">
            <a:lnSpc>
              <a:spcPct val="90000"/>
            </a:lnSpc>
            <a:spcBef>
              <a:spcPct val="0"/>
            </a:spcBef>
            <a:spcAft>
              <a:spcPct val="35000"/>
            </a:spcAft>
            <a:buNone/>
          </a:pPr>
          <a:endParaRPr lang="es-CL" sz="500" kern="1200" dirty="0"/>
        </a:p>
      </dsp:txBody>
      <dsp:txXfrm>
        <a:off x="3413435" y="3516041"/>
        <a:ext cx="97637" cy="204931"/>
      </dsp:txXfrm>
    </dsp:sp>
  </dsp:spTree>
</dsp:drawing>
</file>

<file path=ppt/diagrams/layout1.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B214ECDC-27AA-4BAE-B04E-533364742B70}" type="datetimeFigureOut">
              <a:rPr lang="es-ES_tradnl"/>
              <a:pPr>
                <a:defRPr/>
              </a:pPr>
              <a:t>26/09/2025</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s-ES_tradnl"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noProof="0"/>
              <a:t>Editar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ES_tradnl" noProof="0"/>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661DC0F2-0470-49B2-BD20-1BE6BAB0CFEB}" type="slidenum">
              <a:rPr lang="es-ES_tradnl" altLang="es-CL"/>
              <a:pPr/>
              <a:t>‹Nº›</a:t>
            </a:fld>
            <a:endParaRPr lang="es-ES_tradnl" altLang="es-CL"/>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S_tradnl"/>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ES_tradnl"/>
          </a:p>
        </p:txBody>
      </p:sp>
      <p:sp>
        <p:nvSpPr>
          <p:cNvPr id="4" name="Marcador de fecha 3"/>
          <p:cNvSpPr>
            <a:spLocks noGrp="1"/>
          </p:cNvSpPr>
          <p:nvPr>
            <p:ph type="dt" sz="half" idx="10"/>
          </p:nvPr>
        </p:nvSpPr>
        <p:spPr/>
        <p:txBody>
          <a:bodyPr/>
          <a:lstStyle>
            <a:lvl1pPr>
              <a:defRPr/>
            </a:lvl1pPr>
          </a:lstStyle>
          <a:p>
            <a:pPr>
              <a:defRPr/>
            </a:pPr>
            <a:fld id="{723CE86C-1FAA-476E-8610-6CF612D82F6D}"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17FDA0F7-3317-4A90-85A9-784F1E0F6A0E}" type="slidenum">
              <a:rPr lang="es-ES_tradnl" altLang="es-CL"/>
              <a:pPr/>
              <a:t>‹Nº›</a:t>
            </a:fld>
            <a:endParaRPr lang="es-ES_tradnl" altLang="es-CL"/>
          </a:p>
        </p:txBody>
      </p:sp>
    </p:spTree>
    <p:extLst>
      <p:ext uri="{BB962C8B-B14F-4D97-AF65-F5344CB8AC3E}">
        <p14:creationId xmlns:p14="http://schemas.microsoft.com/office/powerpoint/2010/main" val="269372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E95A1AB2-ABDE-4AA7-B0BA-B4771DBF257E}"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35CBBCA2-D1A3-4B4D-AC73-9D069169A434}" type="slidenum">
              <a:rPr lang="es-ES_tradnl" altLang="es-CL"/>
              <a:pPr/>
              <a:t>‹Nº›</a:t>
            </a:fld>
            <a:endParaRPr lang="es-ES_tradnl" altLang="es-CL"/>
          </a:p>
        </p:txBody>
      </p:sp>
    </p:spTree>
    <p:extLst>
      <p:ext uri="{BB962C8B-B14F-4D97-AF65-F5344CB8AC3E}">
        <p14:creationId xmlns:p14="http://schemas.microsoft.com/office/powerpoint/2010/main" val="254672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lvl1pPr>
              <a:defRPr/>
            </a:lvl1pPr>
          </a:lstStyle>
          <a:p>
            <a:pPr>
              <a:defRPr/>
            </a:pPr>
            <a:fld id="{096A1A31-6B2F-42D4-9D8B-250D0522AC84}"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4248B1C2-5544-4117-B964-FFA2790965CB}" type="slidenum">
              <a:rPr lang="es-ES_tradnl" altLang="es-CL"/>
              <a:pPr/>
              <a:t>‹Nº›</a:t>
            </a:fld>
            <a:endParaRPr lang="es-ES_tradnl" altLang="es-CL"/>
          </a:p>
        </p:txBody>
      </p:sp>
    </p:spTree>
    <p:extLst>
      <p:ext uri="{BB962C8B-B14F-4D97-AF65-F5344CB8AC3E}">
        <p14:creationId xmlns:p14="http://schemas.microsoft.com/office/powerpoint/2010/main" val="4244721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fecha 3"/>
          <p:cNvSpPr>
            <a:spLocks noGrp="1"/>
          </p:cNvSpPr>
          <p:nvPr>
            <p:ph type="dt" sz="half" idx="10"/>
          </p:nvPr>
        </p:nvSpPr>
        <p:spPr/>
        <p:txBody>
          <a:bodyPr/>
          <a:lstStyle>
            <a:lvl1pPr>
              <a:defRPr/>
            </a:lvl1pPr>
          </a:lstStyle>
          <a:p>
            <a:pPr>
              <a:defRPr/>
            </a:pPr>
            <a:fld id="{5CC90434-FF42-4568-BAFD-14D07093E120}"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81203834-0EF4-4D06-A8D3-876274F5BE0F}" type="slidenum">
              <a:rPr lang="es-ES_tradnl" altLang="es-CL"/>
              <a:pPr/>
              <a:t>‹Nº›</a:t>
            </a:fld>
            <a:endParaRPr lang="es-ES_tradnl" altLang="es-CL"/>
          </a:p>
        </p:txBody>
      </p:sp>
    </p:spTree>
    <p:extLst>
      <p:ext uri="{BB962C8B-B14F-4D97-AF65-F5344CB8AC3E}">
        <p14:creationId xmlns:p14="http://schemas.microsoft.com/office/powerpoint/2010/main" val="939723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Marcador de fecha 3"/>
          <p:cNvSpPr>
            <a:spLocks noGrp="1"/>
          </p:cNvSpPr>
          <p:nvPr>
            <p:ph type="dt" sz="half" idx="10"/>
          </p:nvPr>
        </p:nvSpPr>
        <p:spPr/>
        <p:txBody>
          <a:bodyPr/>
          <a:lstStyle>
            <a:lvl1pPr>
              <a:defRPr/>
            </a:lvl1pPr>
          </a:lstStyle>
          <a:p>
            <a:pPr>
              <a:defRPr/>
            </a:pPr>
            <a:fld id="{3AE415DC-2033-47BD-86E8-F874CF6E7C58}" type="datetimeFigureOut">
              <a:rPr lang="es-ES_tradnl"/>
              <a:pPr>
                <a:defRPr/>
              </a:pPr>
              <a:t>26/09/2025</a:t>
            </a:fld>
            <a:endParaRPr lang="es-ES_tradnl"/>
          </a:p>
        </p:txBody>
      </p:sp>
      <p:sp>
        <p:nvSpPr>
          <p:cNvPr id="8" name="Marcador de pie de página 4"/>
          <p:cNvSpPr>
            <a:spLocks noGrp="1"/>
          </p:cNvSpPr>
          <p:nvPr>
            <p:ph type="ftr" sz="quarter" idx="11"/>
          </p:nvPr>
        </p:nvSpPr>
        <p:spPr/>
        <p:txBody>
          <a:bodyPr/>
          <a:lstStyle>
            <a:lvl1pPr>
              <a:defRPr/>
            </a:lvl1pPr>
          </a:lstStyle>
          <a:p>
            <a:pPr>
              <a:defRPr/>
            </a:pPr>
            <a:endParaRPr lang="es-ES_tradnl"/>
          </a:p>
        </p:txBody>
      </p:sp>
      <p:sp>
        <p:nvSpPr>
          <p:cNvPr id="9" name="Marcador de número de diapositiva 5"/>
          <p:cNvSpPr>
            <a:spLocks noGrp="1"/>
          </p:cNvSpPr>
          <p:nvPr>
            <p:ph type="sldNum" sz="quarter" idx="12"/>
          </p:nvPr>
        </p:nvSpPr>
        <p:spPr/>
        <p:txBody>
          <a:bodyPr/>
          <a:lstStyle>
            <a:lvl1pPr>
              <a:defRPr/>
            </a:lvl1pPr>
          </a:lstStyle>
          <a:p>
            <a:fld id="{6A3AF083-3250-4136-BEB9-7AF9A938BA7A}" type="slidenum">
              <a:rPr lang="es-ES_tradnl" altLang="es-CL"/>
              <a:pPr/>
              <a:t>‹Nº›</a:t>
            </a:fld>
            <a:endParaRPr lang="es-ES_tradnl" altLang="es-CL"/>
          </a:p>
        </p:txBody>
      </p:sp>
    </p:spTree>
    <p:extLst>
      <p:ext uri="{BB962C8B-B14F-4D97-AF65-F5344CB8AC3E}">
        <p14:creationId xmlns:p14="http://schemas.microsoft.com/office/powerpoint/2010/main" val="3192155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fecha 3"/>
          <p:cNvSpPr>
            <a:spLocks noGrp="1"/>
          </p:cNvSpPr>
          <p:nvPr>
            <p:ph type="dt" sz="half" idx="10"/>
          </p:nvPr>
        </p:nvSpPr>
        <p:spPr/>
        <p:txBody>
          <a:bodyPr/>
          <a:lstStyle>
            <a:lvl1pPr>
              <a:defRPr/>
            </a:lvl1pPr>
          </a:lstStyle>
          <a:p>
            <a:pPr>
              <a:defRPr/>
            </a:pPr>
            <a:fld id="{688908FD-EE54-425E-B52D-A5E77FE0F4E1}" type="datetimeFigureOut">
              <a:rPr lang="es-ES_tradnl"/>
              <a:pPr>
                <a:defRPr/>
              </a:pPr>
              <a:t>26/09/2025</a:t>
            </a:fld>
            <a:endParaRPr lang="es-ES_tradnl"/>
          </a:p>
        </p:txBody>
      </p:sp>
      <p:sp>
        <p:nvSpPr>
          <p:cNvPr id="4" name="Marcador de pie de página 4"/>
          <p:cNvSpPr>
            <a:spLocks noGrp="1"/>
          </p:cNvSpPr>
          <p:nvPr>
            <p:ph type="ftr" sz="quarter" idx="11"/>
          </p:nvPr>
        </p:nvSpPr>
        <p:spPr/>
        <p:txBody>
          <a:bodyPr/>
          <a:lstStyle>
            <a:lvl1pPr>
              <a:defRPr/>
            </a:lvl1pPr>
          </a:lstStyle>
          <a:p>
            <a:pPr>
              <a:defRPr/>
            </a:pPr>
            <a:endParaRPr lang="es-ES_tradnl"/>
          </a:p>
        </p:txBody>
      </p:sp>
      <p:sp>
        <p:nvSpPr>
          <p:cNvPr id="5" name="Marcador de número de diapositiva 5"/>
          <p:cNvSpPr>
            <a:spLocks noGrp="1"/>
          </p:cNvSpPr>
          <p:nvPr>
            <p:ph type="sldNum" sz="quarter" idx="12"/>
          </p:nvPr>
        </p:nvSpPr>
        <p:spPr/>
        <p:txBody>
          <a:bodyPr/>
          <a:lstStyle>
            <a:lvl1pPr>
              <a:defRPr/>
            </a:lvl1pPr>
          </a:lstStyle>
          <a:p>
            <a:fld id="{59C4D746-ECE6-4F12-9BD7-02F1A03DE9BC}" type="slidenum">
              <a:rPr lang="es-ES_tradnl" altLang="es-CL"/>
              <a:pPr/>
              <a:t>‹Nº›</a:t>
            </a:fld>
            <a:endParaRPr lang="es-ES_tradnl" altLang="es-CL"/>
          </a:p>
        </p:txBody>
      </p:sp>
    </p:spTree>
    <p:extLst>
      <p:ext uri="{BB962C8B-B14F-4D97-AF65-F5344CB8AC3E}">
        <p14:creationId xmlns:p14="http://schemas.microsoft.com/office/powerpoint/2010/main" val="1155446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3"/>
          <p:cNvSpPr>
            <a:spLocks noGrp="1"/>
          </p:cNvSpPr>
          <p:nvPr>
            <p:ph type="dt" sz="half" idx="10"/>
          </p:nvPr>
        </p:nvSpPr>
        <p:spPr/>
        <p:txBody>
          <a:bodyPr/>
          <a:lstStyle>
            <a:lvl1pPr>
              <a:defRPr/>
            </a:lvl1pPr>
          </a:lstStyle>
          <a:p>
            <a:pPr>
              <a:defRPr/>
            </a:pPr>
            <a:fld id="{454B1D3B-28B6-43FE-A4A1-ACF50A9182C7}" type="datetimeFigureOut">
              <a:rPr lang="es-ES_tradnl"/>
              <a:pPr>
                <a:defRPr/>
              </a:pPr>
              <a:t>26/09/2025</a:t>
            </a:fld>
            <a:endParaRPr lang="es-ES_tradnl"/>
          </a:p>
        </p:txBody>
      </p:sp>
      <p:sp>
        <p:nvSpPr>
          <p:cNvPr id="3" name="Marcador de pie de página 4"/>
          <p:cNvSpPr>
            <a:spLocks noGrp="1"/>
          </p:cNvSpPr>
          <p:nvPr>
            <p:ph type="ftr" sz="quarter" idx="11"/>
          </p:nvPr>
        </p:nvSpPr>
        <p:spPr/>
        <p:txBody>
          <a:bodyPr/>
          <a:lstStyle>
            <a:lvl1pPr>
              <a:defRPr/>
            </a:lvl1pPr>
          </a:lstStyle>
          <a:p>
            <a:pPr>
              <a:defRPr/>
            </a:pPr>
            <a:endParaRPr lang="es-ES_tradnl"/>
          </a:p>
        </p:txBody>
      </p:sp>
      <p:sp>
        <p:nvSpPr>
          <p:cNvPr id="4" name="Marcador de número de diapositiva 5"/>
          <p:cNvSpPr>
            <a:spLocks noGrp="1"/>
          </p:cNvSpPr>
          <p:nvPr>
            <p:ph type="sldNum" sz="quarter" idx="12"/>
          </p:nvPr>
        </p:nvSpPr>
        <p:spPr/>
        <p:txBody>
          <a:bodyPr/>
          <a:lstStyle>
            <a:lvl1pPr>
              <a:defRPr/>
            </a:lvl1pPr>
          </a:lstStyle>
          <a:p>
            <a:fld id="{546EC160-BB17-4C5C-A913-243CEE97784F}" type="slidenum">
              <a:rPr lang="es-ES_tradnl" altLang="es-CL"/>
              <a:pPr/>
              <a:t>‹Nº›</a:t>
            </a:fld>
            <a:endParaRPr lang="es-ES_tradnl" altLang="es-CL"/>
          </a:p>
        </p:txBody>
      </p:sp>
    </p:spTree>
    <p:extLst>
      <p:ext uri="{BB962C8B-B14F-4D97-AF65-F5344CB8AC3E}">
        <p14:creationId xmlns:p14="http://schemas.microsoft.com/office/powerpoint/2010/main" val="2921665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a:defRPr/>
            </a:pPr>
            <a:fld id="{022D298C-5E21-4FDC-838E-33C54A0835BE}"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F01B316F-FC05-4AA9-8B17-611F2B66785A}" type="slidenum">
              <a:rPr lang="es-ES_tradnl" altLang="es-CL"/>
              <a:pPr/>
              <a:t>‹Nº›</a:t>
            </a:fld>
            <a:endParaRPr lang="es-ES_tradnl" altLang="es-CL"/>
          </a:p>
        </p:txBody>
      </p:sp>
    </p:spTree>
    <p:extLst>
      <p:ext uri="{BB962C8B-B14F-4D97-AF65-F5344CB8AC3E}">
        <p14:creationId xmlns:p14="http://schemas.microsoft.com/office/powerpoint/2010/main" val="1524700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posición de imagen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_tradnl" noProof="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a:defRPr/>
            </a:pPr>
            <a:fld id="{A65492E0-A143-485F-B68F-8CC91249D59B}"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EDC192D6-CB19-4D76-BAD3-1D4E4EA927D1}" type="slidenum">
              <a:rPr lang="es-ES_tradnl" altLang="es-CL"/>
              <a:pPr/>
              <a:t>‹Nº›</a:t>
            </a:fld>
            <a:endParaRPr lang="es-ES_tradnl" altLang="es-CL"/>
          </a:p>
        </p:txBody>
      </p:sp>
    </p:spTree>
    <p:extLst>
      <p:ext uri="{BB962C8B-B14F-4D97-AF65-F5344CB8AC3E}">
        <p14:creationId xmlns:p14="http://schemas.microsoft.com/office/powerpoint/2010/main" val="1631019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4C38D573-BBF9-4466-8100-20705A6765C2}"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64F13FBE-C0B8-4F7C-B7BE-9681116FC5EC}" type="slidenum">
              <a:rPr lang="es-ES_tradnl" altLang="es-CL"/>
              <a:pPr/>
              <a:t>‹Nº›</a:t>
            </a:fld>
            <a:endParaRPr lang="es-ES_tradnl" altLang="es-CL"/>
          </a:p>
        </p:txBody>
      </p:sp>
    </p:spTree>
    <p:extLst>
      <p:ext uri="{BB962C8B-B14F-4D97-AF65-F5344CB8AC3E}">
        <p14:creationId xmlns:p14="http://schemas.microsoft.com/office/powerpoint/2010/main" val="1856682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A3C05822-3120-4BF7-B215-1DFE2C6DC6A3}"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F19D8483-F2FB-4D92-932B-BB90B8B7CC0E}" type="slidenum">
              <a:rPr lang="es-ES_tradnl" altLang="es-CL"/>
              <a:pPr/>
              <a:t>‹Nº›</a:t>
            </a:fld>
            <a:endParaRPr lang="es-ES_tradnl" altLang="es-CL"/>
          </a:p>
        </p:txBody>
      </p:sp>
    </p:spTree>
    <p:extLst>
      <p:ext uri="{BB962C8B-B14F-4D97-AF65-F5344CB8AC3E}">
        <p14:creationId xmlns:p14="http://schemas.microsoft.com/office/powerpoint/2010/main" val="34557498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S_tradnl"/>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ES_tradnl"/>
          </a:p>
        </p:txBody>
      </p:sp>
      <p:sp>
        <p:nvSpPr>
          <p:cNvPr id="4"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23CE86C-1FAA-476E-8610-6CF612D82F6D}"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7FDA0F7-3317-4A90-85A9-784F1E0F6A0E}"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8059901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95A1AB2-ABDE-4AA7-B0BA-B4771DBF257E}"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5CBBCA2-D1A3-4B4D-AC73-9D069169A434}"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8863651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96A1A31-6B2F-42D4-9D8B-250D0522AC84}"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248B1C2-5544-4117-B964-FFA2790965CB}"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700473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CC90434-FF42-4568-BAFD-14D07093E120}"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1203834-0EF4-4D06-A8D3-876274F5BE0F}"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7788598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AE415DC-2033-47BD-86E8-F874CF6E7C58}"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A3AF083-3250-4136-BEB9-7AF9A938BA7A}"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4700886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88908FD-EE54-425E-B52D-A5E77FE0F4E1}"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9C4D746-ECE6-4F12-9BD7-02F1A03DE9BC}"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6690177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54B1D3B-28B6-43FE-A4A1-ACF50A9182C7}"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46EC160-BB17-4C5C-A913-243CEE97784F}"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6703751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22D298C-5E21-4FDC-838E-33C54A0835BE}"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01B316F-FC05-4AA9-8B17-611F2B66785A}"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8699426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posición de imagen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_tradnl" noProof="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65492E0-A143-485F-B68F-8CC91249D59B}"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DC192D6-CB19-4D76-BAD3-1D4E4EA927D1}"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5806194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C38D573-BBF9-4466-8100-20705A6765C2}"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4F13FBE-C0B8-4F7C-B7BE-9681116FC5EC}"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0730933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3C05822-3120-4BF7-B215-1DFE2C6DC6A3}"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19D8483-F2FB-4D92-932B-BB90B8B7CC0E}"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976024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t="-1000" b="-1000"/>
          </a:stretch>
        </a:blipFill>
        <a:effectLst/>
      </p:bgPr>
    </p:bg>
    <p:spTree>
      <p:nvGrpSpPr>
        <p:cNvPr id="1" name=""/>
        <p:cNvGrpSpPr/>
        <p:nvPr/>
      </p:nvGrpSpPr>
      <p:grpSpPr>
        <a:xfrm>
          <a:off x="0" y="0"/>
          <a:ext cx="0" cy="0"/>
          <a:chOff x="0" y="0"/>
          <a:chExt cx="0" cy="0"/>
        </a:xfrm>
      </p:grpSpPr>
      <p:sp>
        <p:nvSpPr>
          <p:cNvPr id="1026" name="Marcador de título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n-US"/>
              <a:t>Haga clic para modificar el estilo de título del patrón</a:t>
            </a:r>
            <a:endParaRPr lang="es-ES_tradnl" altLang="en-US"/>
          </a:p>
        </p:txBody>
      </p:sp>
      <p:sp>
        <p:nvSpPr>
          <p:cNvPr id="1027" name="Marcador de texto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n-US"/>
              <a:t>Editar el estilo de texto del patrón</a:t>
            </a:r>
          </a:p>
          <a:p>
            <a:pPr lvl="1"/>
            <a:r>
              <a:rPr lang="es-ES" altLang="en-US"/>
              <a:t>Segundo nivel</a:t>
            </a:r>
          </a:p>
          <a:p>
            <a:pPr lvl="2"/>
            <a:r>
              <a:rPr lang="es-ES" altLang="en-US"/>
              <a:t>Tercer nivel</a:t>
            </a:r>
          </a:p>
          <a:p>
            <a:pPr lvl="3"/>
            <a:r>
              <a:rPr lang="es-ES" altLang="en-US"/>
              <a:t>Cuarto nivel</a:t>
            </a:r>
          </a:p>
          <a:p>
            <a:pPr lvl="4"/>
            <a:r>
              <a:rPr lang="es-ES" altLang="en-US"/>
              <a:t>Quinto nivel</a:t>
            </a:r>
            <a:endParaRPr lang="es-ES_tradnl" alt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40F057B8-E3CD-456E-9A46-2B8B20AF9933}" type="datetimeFigureOut">
              <a:rPr lang="es-ES_tradnl"/>
              <a:pPr>
                <a:defRPr/>
              </a:pPr>
              <a:t>26/09/2025</a:t>
            </a:fld>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s-ES_tradnl"/>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F59D94CD-8797-4F90-8E76-E70F46B730A3}" type="slidenum">
              <a:rPr lang="es-ES_tradnl" altLang="es-CL"/>
              <a:pPr/>
              <a:t>‹Nº›</a:t>
            </a:fld>
            <a:endParaRPr lang="es-ES_tradnl" altLang="es-CL"/>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t="-1000" b="-1000"/>
          </a:stretch>
        </a:blipFill>
        <a:effectLst/>
      </p:bgPr>
    </p:bg>
    <p:spTree>
      <p:nvGrpSpPr>
        <p:cNvPr id="1" name=""/>
        <p:cNvGrpSpPr/>
        <p:nvPr/>
      </p:nvGrpSpPr>
      <p:grpSpPr>
        <a:xfrm>
          <a:off x="0" y="0"/>
          <a:ext cx="0" cy="0"/>
          <a:chOff x="0" y="0"/>
          <a:chExt cx="0" cy="0"/>
        </a:xfrm>
      </p:grpSpPr>
      <p:sp>
        <p:nvSpPr>
          <p:cNvPr id="1026" name="Marcador de título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n-US"/>
              <a:t>Haga clic para modificar el estilo de título del patrón</a:t>
            </a:r>
            <a:endParaRPr lang="es-ES_tradnl" altLang="en-US"/>
          </a:p>
        </p:txBody>
      </p:sp>
      <p:sp>
        <p:nvSpPr>
          <p:cNvPr id="1027" name="Marcador de texto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n-US"/>
              <a:t>Editar el estilo de texto del patrón</a:t>
            </a:r>
          </a:p>
          <a:p>
            <a:pPr lvl="1"/>
            <a:r>
              <a:rPr lang="es-ES" altLang="en-US"/>
              <a:t>Segundo nivel</a:t>
            </a:r>
          </a:p>
          <a:p>
            <a:pPr lvl="2"/>
            <a:r>
              <a:rPr lang="es-ES" altLang="en-US"/>
              <a:t>Tercer nivel</a:t>
            </a:r>
          </a:p>
          <a:p>
            <a:pPr lvl="3"/>
            <a:r>
              <a:rPr lang="es-ES" altLang="en-US"/>
              <a:t>Cuarto nivel</a:t>
            </a:r>
          </a:p>
          <a:p>
            <a:pPr lvl="4"/>
            <a:r>
              <a:rPr lang="es-ES" altLang="en-US"/>
              <a:t>Quinto nivel</a:t>
            </a:r>
            <a:endParaRPr lang="es-ES_tradnl" alt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0F057B8-E3CD-456E-9A46-2B8B20AF9933}"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9D94CD-8797-4F90-8E76-E70F46B730A3}"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57781227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Patrón de fondo&#10;&#10;Descripción generada automáticamente con confianza baja">
            <a:extLst>
              <a:ext uri="{FF2B5EF4-FFF2-40B4-BE49-F238E27FC236}">
                <a16:creationId xmlns:a16="http://schemas.microsoft.com/office/drawing/2014/main" id="{89BB7D2C-520F-A6A8-1317-6FED65880B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7037762"/>
          </a:xfrm>
          <a:prstGeom prst="rect">
            <a:avLst/>
          </a:prstGeom>
        </p:spPr>
      </p:pic>
      <p:sp>
        <p:nvSpPr>
          <p:cNvPr id="6" name="Rectangle: Rounded Corners 22">
            <a:extLst>
              <a:ext uri="{FF2B5EF4-FFF2-40B4-BE49-F238E27FC236}">
                <a16:creationId xmlns:a16="http://schemas.microsoft.com/office/drawing/2014/main" id="{100F0B21-F305-84E0-FC1E-67639502205C}"/>
              </a:ext>
            </a:extLst>
          </p:cNvPr>
          <p:cNvSpPr/>
          <p:nvPr/>
        </p:nvSpPr>
        <p:spPr>
          <a:xfrm>
            <a:off x="3715511" y="3901440"/>
            <a:ext cx="7308567" cy="1689464"/>
          </a:xfrm>
          <a:prstGeom prst="roundRect">
            <a:avLst>
              <a:gd name="adj" fmla="val 7874"/>
            </a:avLst>
          </a:prstGeom>
          <a:solidFill>
            <a:schemeClr val="tx1">
              <a:alpha val="76000"/>
            </a:schemeClr>
          </a:solidFill>
          <a:ln>
            <a:no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Ins="540000" anchor="ctr"/>
          <a:lstStyle>
            <a:defPPr>
              <a:defRPr lang="es-ES_tradnl"/>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800" b="1" dirty="0"/>
          </a:p>
        </p:txBody>
      </p:sp>
      <p:sp>
        <p:nvSpPr>
          <p:cNvPr id="8" name="Título 1"/>
          <p:cNvSpPr>
            <a:spLocks noGrp="1"/>
          </p:cNvSpPr>
          <p:nvPr>
            <p:ph type="ctrTitle"/>
          </p:nvPr>
        </p:nvSpPr>
        <p:spPr>
          <a:xfrm>
            <a:off x="3936274" y="4014651"/>
            <a:ext cx="6792686" cy="1403036"/>
          </a:xfrm>
        </p:spPr>
        <p:txBody>
          <a:bodyPr rtlCol="0">
            <a:noAutofit/>
          </a:bodyPr>
          <a:lstStyle/>
          <a:p>
            <a:pPr algn="l" eaLnBrk="1" fontAlgn="auto" hangingPunct="1">
              <a:spcAft>
                <a:spcPts val="0"/>
              </a:spcAft>
              <a:defRPr/>
            </a:pPr>
            <a:br>
              <a:rPr lang="es-CL" sz="4800" b="1" dirty="0">
                <a:solidFill>
                  <a:schemeClr val="bg1"/>
                </a:solidFill>
                <a:latin typeface="Arial" panose="020B0604020202020204" pitchFamily="34" charset="0"/>
                <a:cs typeface="Arial" panose="020B0604020202020204" pitchFamily="34" charset="0"/>
              </a:rPr>
            </a:br>
            <a:r>
              <a:rPr lang="es-CL" sz="5000" b="1" dirty="0">
                <a:solidFill>
                  <a:schemeClr val="bg1"/>
                </a:solidFill>
                <a:latin typeface="Arial" panose="020B0604020202020204" pitchFamily="34" charset="0"/>
                <a:cs typeface="Arial" panose="020B0604020202020204" pitchFamily="34" charset="0"/>
              </a:rPr>
              <a:t>Distribución de Probabilidad</a:t>
            </a:r>
            <a:endParaRPr lang="es-ES_tradnl" sz="5000" b="1" dirty="0">
              <a:solidFill>
                <a:schemeClr val="bg1"/>
              </a:solidFill>
              <a:latin typeface="Arial" panose="020B0604020202020204" pitchFamily="34" charset="0"/>
              <a:cs typeface="Arial" panose="020B0604020202020204" pitchFamily="34" charset="0"/>
            </a:endParaRPr>
          </a:p>
        </p:txBody>
      </p:sp>
      <p:sp>
        <p:nvSpPr>
          <p:cNvPr id="10" name="Google Shape;92;p1"/>
          <p:cNvSpPr txBox="1"/>
          <p:nvPr/>
        </p:nvSpPr>
        <p:spPr>
          <a:xfrm>
            <a:off x="4001299" y="3382068"/>
            <a:ext cx="7022779" cy="400069"/>
          </a:xfrm>
          <a:prstGeom prst="rect">
            <a:avLst/>
          </a:prstGeom>
          <a:noFill/>
          <a:ln>
            <a:noFill/>
          </a:ln>
        </p:spPr>
        <p:txBody>
          <a:bodyPr spcFirstLastPara="1" wrap="square" lIns="91425" tIns="45700" rIns="91425" bIns="45700" anchor="t" anchorCtr="0">
            <a:spAutoFit/>
          </a:bodyPr>
          <a:lstStyle/>
          <a:p>
            <a:pPr marL="0" marR="0" lvl="0" indent="0" defTabSz="914400" eaLnBrk="0" fontAlgn="base" latinLnBrk="0" hangingPunct="0">
              <a:lnSpc>
                <a:spcPct val="100000"/>
              </a:lnSpc>
              <a:spcBef>
                <a:spcPts val="0"/>
              </a:spcBef>
              <a:spcAft>
                <a:spcPts val="0"/>
              </a:spcAft>
              <a:buClrTx/>
              <a:buSzTx/>
              <a:buFontTx/>
              <a:buNone/>
              <a:tabLst/>
              <a:defRPr/>
            </a:pPr>
            <a:r>
              <a:rPr kumimoji="0" lang="es-ES" sz="2000" b="1" i="0" u="none" strike="noStrike" kern="1200" cap="none" spc="0" normalizeH="0" baseline="0" noProof="0" dirty="0">
                <a:ln>
                  <a:noFill/>
                </a:ln>
                <a:solidFill>
                  <a:prstClr val="white"/>
                </a:solidFill>
                <a:effectLst/>
                <a:uLnTx/>
                <a:uFillTx/>
                <a:latin typeface="Arial"/>
                <a:cs typeface="Arial"/>
              </a:rPr>
              <a:t> Inferencia Estadística</a:t>
            </a:r>
            <a:endParaRPr kumimoji="0" sz="2000" b="0" i="0" u="none" strike="noStrike" kern="1200" cap="none" spc="0" normalizeH="0" baseline="0" noProof="0" dirty="0">
              <a:ln>
                <a:noFill/>
              </a:ln>
              <a:solidFill>
                <a:prstClr val="white"/>
              </a:solidFill>
              <a:effectLst/>
              <a:uLnTx/>
              <a:uFillTx/>
              <a:latin typeface="Arial"/>
              <a:ea typeface="Calibri"/>
              <a:cs typeface="Arial"/>
              <a:sym typeface="Calibri"/>
            </a:endParaRPr>
          </a:p>
        </p:txBody>
      </p:sp>
    </p:spTree>
    <p:extLst>
      <p:ext uri="{BB962C8B-B14F-4D97-AF65-F5344CB8AC3E}">
        <p14:creationId xmlns:p14="http://schemas.microsoft.com/office/powerpoint/2010/main" val="1998777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redondeado 15"/>
          <p:cNvSpPr/>
          <p:nvPr/>
        </p:nvSpPr>
        <p:spPr>
          <a:xfrm>
            <a:off x="6068291" y="-551793"/>
            <a:ext cx="4557668" cy="5864022"/>
          </a:xfrm>
          <a:prstGeom prst="roundRect">
            <a:avLst>
              <a:gd name="adj" fmla="val 2778"/>
            </a:avLst>
          </a:prstGeom>
          <a:gradFill flip="none" rotWithShape="1">
            <a:gsLst>
              <a:gs pos="0">
                <a:srgbClr val="7A2B65">
                  <a:shade val="30000"/>
                  <a:satMod val="115000"/>
                </a:srgbClr>
              </a:gs>
              <a:gs pos="50000">
                <a:srgbClr val="7A2B65">
                  <a:shade val="67500"/>
                  <a:satMod val="115000"/>
                </a:srgbClr>
              </a:gs>
              <a:gs pos="100000">
                <a:srgbClr val="7A2B6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 name="Título 1"/>
          <p:cNvSpPr txBox="1">
            <a:spLocks/>
          </p:cNvSpPr>
          <p:nvPr/>
        </p:nvSpPr>
        <p:spPr bwMode="auto">
          <a:xfrm>
            <a:off x="931818" y="469681"/>
            <a:ext cx="4725204"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Objetivos de Aprendizaje</a:t>
            </a:r>
          </a:p>
        </p:txBody>
      </p:sp>
      <p:sp>
        <p:nvSpPr>
          <p:cNvPr id="6" name="CuadroTexto 5"/>
          <p:cNvSpPr txBox="1"/>
          <p:nvPr/>
        </p:nvSpPr>
        <p:spPr>
          <a:xfrm>
            <a:off x="6466073" y="2100707"/>
            <a:ext cx="3598819" cy="2862322"/>
          </a:xfrm>
          <a:prstGeom prst="rect">
            <a:avLst/>
          </a:prstGeom>
          <a:noFill/>
        </p:spPr>
        <p:txBody>
          <a:bodyPr wrap="square" lIns="91440" tIns="45720" rIns="91440" bIns="45720" rtlCol="0" anchor="t">
            <a:spAutoFit/>
          </a:bodyPr>
          <a:lstStyle/>
          <a:p>
            <a:pPr marL="342900" indent="-342900">
              <a:buFont typeface="Arial" panose="020B0604020202020204" pitchFamily="34" charset="0"/>
              <a:buChar char="•"/>
              <a:defRPr>
                <a:solidFill>
                  <a:srgbClr val="FFFFFF"/>
                </a:solidFill>
              </a:defRPr>
            </a:pPr>
            <a:r>
              <a:rPr lang="es-ES" sz="2000" dirty="0">
                <a:latin typeface="+mn-lt"/>
                <a:ea typeface="Open Sans" pitchFamily="2" charset="0"/>
                <a:cs typeface="Open Sans" pitchFamily="2" charset="0"/>
              </a:rPr>
              <a:t>Explicar el concepto de distribución de probabilidad.</a:t>
            </a:r>
          </a:p>
          <a:p>
            <a:pPr marL="342900" indent="-342900">
              <a:buFont typeface="Arial" panose="020B0604020202020204" pitchFamily="34" charset="0"/>
              <a:buChar char="•"/>
              <a:defRPr>
                <a:solidFill>
                  <a:srgbClr val="FFFFFF"/>
                </a:solidFill>
              </a:defRPr>
            </a:pPr>
            <a:endParaRPr lang="es-ES" sz="2000" dirty="0">
              <a:latin typeface="+mn-lt"/>
              <a:ea typeface="Open Sans" pitchFamily="2" charset="0"/>
              <a:cs typeface="Open Sans" pitchFamily="2" charset="0"/>
            </a:endParaRPr>
          </a:p>
          <a:p>
            <a:pPr marL="342900" indent="-342900">
              <a:buFont typeface="Arial" panose="020B0604020202020204" pitchFamily="34" charset="0"/>
              <a:buChar char="•"/>
              <a:defRPr>
                <a:solidFill>
                  <a:srgbClr val="FFFFFF"/>
                </a:solidFill>
              </a:defRPr>
            </a:pPr>
            <a:r>
              <a:rPr lang="es-ES" sz="2000" dirty="0">
                <a:latin typeface="+mn-lt"/>
                <a:ea typeface="Open Sans" pitchFamily="2" charset="0"/>
                <a:cs typeface="Open Sans" pitchFamily="2" charset="0"/>
              </a:rPr>
              <a:t>Reconocer las distintas distribuciones de probabilidad.</a:t>
            </a:r>
          </a:p>
          <a:p>
            <a:pPr marL="342900" indent="-342900">
              <a:buFont typeface="Arial" panose="020B0604020202020204" pitchFamily="34" charset="0"/>
              <a:buChar char="•"/>
              <a:defRPr>
                <a:solidFill>
                  <a:srgbClr val="FFFFFF"/>
                </a:solidFill>
              </a:defRPr>
            </a:pPr>
            <a:endParaRPr lang="es-ES" sz="2000" dirty="0">
              <a:latin typeface="+mn-lt"/>
              <a:ea typeface="Open Sans" pitchFamily="2" charset="0"/>
              <a:cs typeface="Open Sans" pitchFamily="2" charset="0"/>
            </a:endParaRPr>
          </a:p>
          <a:p>
            <a:pPr marL="342900" indent="-342900">
              <a:buFont typeface="Arial" panose="020B0604020202020204" pitchFamily="34" charset="0"/>
              <a:buChar char="•"/>
              <a:defRPr>
                <a:solidFill>
                  <a:srgbClr val="FFFFFF"/>
                </a:solidFill>
              </a:defRPr>
            </a:pPr>
            <a:r>
              <a:rPr lang="es-ES" sz="2000" dirty="0">
                <a:latin typeface="+mn-lt"/>
                <a:ea typeface="Open Sans" pitchFamily="2" charset="0"/>
                <a:cs typeface="Open Sans" pitchFamily="2" charset="0"/>
              </a:rPr>
              <a:t>Realizar cálculos básicos de probabilidad.</a:t>
            </a:r>
          </a:p>
        </p:txBody>
      </p:sp>
      <p:graphicFrame>
        <p:nvGraphicFramePr>
          <p:cNvPr id="5" name="Diagrama 4">
            <a:extLst>
              <a:ext uri="{FF2B5EF4-FFF2-40B4-BE49-F238E27FC236}">
                <a16:creationId xmlns:a16="http://schemas.microsoft.com/office/drawing/2014/main" id="{76DA5601-9A99-7640-C9D2-BA554A55B661}"/>
              </a:ext>
            </a:extLst>
          </p:cNvPr>
          <p:cNvGraphicFramePr/>
          <p:nvPr>
            <p:extLst>
              <p:ext uri="{D42A27DB-BD31-4B8C-83A1-F6EECF244321}">
                <p14:modId xmlns:p14="http://schemas.microsoft.com/office/powerpoint/2010/main" val="1575693100"/>
              </p:ext>
            </p:extLst>
          </p:nvPr>
        </p:nvGraphicFramePr>
        <p:xfrm>
          <a:off x="236059" y="1659284"/>
          <a:ext cx="5293474" cy="37209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30025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bwMode="auto">
          <a:xfrm>
            <a:off x="1162050" y="1607482"/>
            <a:ext cx="10782300"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Contenido</a:t>
            </a:r>
          </a:p>
        </p:txBody>
      </p:sp>
      <p:sp>
        <p:nvSpPr>
          <p:cNvPr id="5" name="Rectángulo redondeado 14">
            <a:extLst>
              <a:ext uri="{FF2B5EF4-FFF2-40B4-BE49-F238E27FC236}">
                <a16:creationId xmlns:a16="http://schemas.microsoft.com/office/drawing/2014/main" id="{62C19520-3C27-97A1-FA66-919E66ACD2AC}"/>
              </a:ext>
            </a:extLst>
          </p:cNvPr>
          <p:cNvSpPr/>
          <p:nvPr/>
        </p:nvSpPr>
        <p:spPr>
          <a:xfrm>
            <a:off x="-296093" y="2609808"/>
            <a:ext cx="6849291" cy="1512616"/>
          </a:xfrm>
          <a:prstGeom prst="roundRect">
            <a:avLst>
              <a:gd name="adj" fmla="val 4466"/>
            </a:avLst>
          </a:prstGeom>
          <a:gradFill flip="none" rotWithShape="1">
            <a:gsLst>
              <a:gs pos="0">
                <a:srgbClr val="7A2B65">
                  <a:shade val="30000"/>
                  <a:satMod val="115000"/>
                </a:srgbClr>
              </a:gs>
              <a:gs pos="50000">
                <a:srgbClr val="7A2B65">
                  <a:shade val="67500"/>
                  <a:satMod val="115000"/>
                </a:srgbClr>
              </a:gs>
              <a:gs pos="100000">
                <a:srgbClr val="7A2B6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7" name="CuadroTexto 6">
            <a:extLst>
              <a:ext uri="{FF2B5EF4-FFF2-40B4-BE49-F238E27FC236}">
                <a16:creationId xmlns:a16="http://schemas.microsoft.com/office/drawing/2014/main" id="{93DA603D-4F38-4477-ABCF-7D9BF773DD97}"/>
              </a:ext>
            </a:extLst>
          </p:cNvPr>
          <p:cNvSpPr txBox="1"/>
          <p:nvPr/>
        </p:nvSpPr>
        <p:spPr>
          <a:xfrm>
            <a:off x="1162050" y="2861152"/>
            <a:ext cx="7639454" cy="1015663"/>
          </a:xfrm>
          <a:prstGeom prst="rect">
            <a:avLst/>
          </a:prstGeom>
          <a:noFill/>
        </p:spPr>
        <p:txBody>
          <a:bodyPr wrap="square" rtlCol="0">
            <a:spAutoFit/>
          </a:bodyPr>
          <a:lstStyle/>
          <a:p>
            <a:pPr marL="342900" indent="-342900" algn="just">
              <a:buFont typeface="+mj-lt"/>
              <a:buAutoNum type="arabicPeriod"/>
              <a:defRPr>
                <a:solidFill>
                  <a:srgbClr val="FFFFFF"/>
                </a:solidFill>
              </a:defRPr>
            </a:pPr>
            <a:r>
              <a:rPr lang="es-ES" sz="2000" dirty="0"/>
              <a:t>Datos y variables.</a:t>
            </a:r>
          </a:p>
          <a:p>
            <a:pPr marL="342900" indent="-342900" algn="just">
              <a:buFont typeface="+mj-lt"/>
              <a:buAutoNum type="arabicPeriod"/>
              <a:defRPr>
                <a:solidFill>
                  <a:srgbClr val="FFFFFF"/>
                </a:solidFill>
              </a:defRPr>
            </a:pPr>
            <a:endParaRPr lang="es-ES" sz="2000" dirty="0"/>
          </a:p>
          <a:p>
            <a:pPr marL="342900" indent="-342900" algn="just">
              <a:buFont typeface="+mj-lt"/>
              <a:buAutoNum type="arabicPeriod"/>
              <a:defRPr>
                <a:solidFill>
                  <a:srgbClr val="FFFFFF"/>
                </a:solidFill>
              </a:defRPr>
            </a:pPr>
            <a:r>
              <a:rPr lang="es-ES" sz="2000" dirty="0"/>
              <a:t>Distribución de probabilidad.</a:t>
            </a:r>
          </a:p>
        </p:txBody>
      </p:sp>
      <p:sp>
        <p:nvSpPr>
          <p:cNvPr id="2" name="Elipse 1">
            <a:extLst>
              <a:ext uri="{FF2B5EF4-FFF2-40B4-BE49-F238E27FC236}">
                <a16:creationId xmlns:a16="http://schemas.microsoft.com/office/drawing/2014/main" id="{882F76E7-2B9E-F258-B204-17385204028B}"/>
              </a:ext>
            </a:extLst>
          </p:cNvPr>
          <p:cNvSpPr/>
          <p:nvPr/>
        </p:nvSpPr>
        <p:spPr>
          <a:xfrm>
            <a:off x="7486524" y="1501649"/>
            <a:ext cx="3524500" cy="3524500"/>
          </a:xfrm>
          <a:prstGeom prst="ellipse">
            <a:avLst/>
          </a:prstGeom>
          <a:blipFill rotWithShape="1">
            <a:blip r:embed="rId2" cstate="print">
              <a:extLst>
                <a:ext uri="{28A0092B-C50C-407E-A947-70E740481C1C}">
                  <a14:useLocalDpi xmlns:a14="http://schemas.microsoft.com/office/drawing/2010/main" val="0"/>
                </a:ext>
              </a:extLst>
            </a:blip>
            <a:srcRect/>
            <a:stretch>
              <a:fillRect l="-25000" r="-25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s-CL"/>
          </a:p>
        </p:txBody>
      </p:sp>
    </p:spTree>
    <p:extLst>
      <p:ext uri="{BB962C8B-B14F-4D97-AF65-F5344CB8AC3E}">
        <p14:creationId xmlns:p14="http://schemas.microsoft.com/office/powerpoint/2010/main" val="556158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bwMode="auto">
          <a:xfrm>
            <a:off x="1445078" y="3255894"/>
            <a:ext cx="9745436"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600" dirty="0">
                <a:solidFill>
                  <a:schemeClr val="bg1">
                    <a:lumMod val="50000"/>
                  </a:schemeClr>
                </a:solidFill>
                <a:latin typeface="Arial" panose="020B0604020202020204" pitchFamily="34" charset="0"/>
                <a:cs typeface="Arial" panose="020B0604020202020204" pitchFamily="34" charset="0"/>
              </a:rPr>
              <a:t>Datos y Variables</a:t>
            </a:r>
          </a:p>
        </p:txBody>
      </p:sp>
    </p:spTree>
    <p:extLst>
      <p:ext uri="{BB962C8B-B14F-4D97-AF65-F5344CB8AC3E}">
        <p14:creationId xmlns:p14="http://schemas.microsoft.com/office/powerpoint/2010/main" val="3449811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299546" y="1825303"/>
            <a:ext cx="11002380" cy="3484928"/>
          </a:xfrm>
          <a:prstGeom prst="roundRect">
            <a:avLst>
              <a:gd name="adj" fmla="val 2971"/>
            </a:avLst>
          </a:prstGeom>
          <a:gradFill flip="none" rotWithShape="1">
            <a:gsLst>
              <a:gs pos="0">
                <a:srgbClr val="7A2B65">
                  <a:shade val="30000"/>
                  <a:satMod val="115000"/>
                </a:srgbClr>
              </a:gs>
              <a:gs pos="50000">
                <a:srgbClr val="7A2B65">
                  <a:shade val="67500"/>
                  <a:satMod val="115000"/>
                </a:srgbClr>
              </a:gs>
              <a:gs pos="100000">
                <a:srgbClr val="7A2B6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 name="CuadroTexto 12">
            <a:extLst>
              <a:ext uri="{FF2B5EF4-FFF2-40B4-BE49-F238E27FC236}">
                <a16:creationId xmlns:a16="http://schemas.microsoft.com/office/drawing/2014/main" id="{523B3A0C-1C10-D786-1819-3C83846BFBD6}"/>
              </a:ext>
            </a:extLst>
          </p:cNvPr>
          <p:cNvSpPr txBox="1"/>
          <p:nvPr/>
        </p:nvSpPr>
        <p:spPr>
          <a:xfrm>
            <a:off x="957304" y="2275105"/>
            <a:ext cx="8752753" cy="2585323"/>
          </a:xfrm>
          <a:prstGeom prst="rect">
            <a:avLst/>
          </a:prstGeom>
          <a:noFill/>
          <a:ln>
            <a:noFill/>
          </a:ln>
        </p:spPr>
        <p:txBody>
          <a:bodyPr wrap="square" rtlCol="0">
            <a:spAutoFit/>
          </a:bodyPr>
          <a:lstStyle/>
          <a:p>
            <a:pPr algn="just"/>
            <a:r>
              <a:rPr lang="es-ES" b="1" dirty="0">
                <a:solidFill>
                  <a:schemeClr val="bg1"/>
                </a:solidFill>
                <a:latin typeface="+mn-lt"/>
                <a:cs typeface="Arial" panose="020B0604020202020204" pitchFamily="34" charset="0"/>
              </a:rPr>
              <a:t>¿Qué se entiende en estadística por “variable”?</a:t>
            </a:r>
          </a:p>
          <a:p>
            <a:pPr algn="just"/>
            <a:r>
              <a:rPr lang="es-ES" dirty="0">
                <a:solidFill>
                  <a:schemeClr val="bg1"/>
                </a:solidFill>
                <a:latin typeface="+mn-lt"/>
                <a:cs typeface="Arial" panose="020B0604020202020204" pitchFamily="34" charset="0"/>
              </a:rPr>
              <a:t>Variable es cada una de las características que pueden observarse de un elemento de la muestra, es una característica de un objeto o individuo. Por ejemplo:</a:t>
            </a:r>
          </a:p>
          <a:p>
            <a:pPr marL="285750" indent="-285750" algn="just">
              <a:buFont typeface="Arial" panose="020B0604020202020204" pitchFamily="34" charset="0"/>
              <a:buChar char="•"/>
            </a:pPr>
            <a:r>
              <a:rPr lang="es-ES" dirty="0">
                <a:solidFill>
                  <a:schemeClr val="bg1"/>
                </a:solidFill>
                <a:latin typeface="+mn-lt"/>
                <a:cs typeface="Arial" panose="020B0604020202020204" pitchFamily="34" charset="0"/>
              </a:rPr>
              <a:t>La edad</a:t>
            </a:r>
          </a:p>
          <a:p>
            <a:pPr marL="285750" indent="-285750" algn="just">
              <a:buFont typeface="Arial" panose="020B0604020202020204" pitchFamily="34" charset="0"/>
              <a:buChar char="•"/>
            </a:pPr>
            <a:r>
              <a:rPr lang="es-ES" dirty="0">
                <a:solidFill>
                  <a:schemeClr val="bg1"/>
                </a:solidFill>
                <a:latin typeface="+mn-lt"/>
                <a:cs typeface="Arial" panose="020B0604020202020204" pitchFamily="34" charset="0"/>
              </a:rPr>
              <a:t>El ingreso</a:t>
            </a:r>
          </a:p>
          <a:p>
            <a:pPr marL="285750" indent="-285750" algn="just">
              <a:buFont typeface="Arial" panose="020B0604020202020204" pitchFamily="34" charset="0"/>
              <a:buChar char="•"/>
            </a:pPr>
            <a:r>
              <a:rPr lang="es-ES" dirty="0">
                <a:solidFill>
                  <a:schemeClr val="bg1"/>
                </a:solidFill>
                <a:latin typeface="+mn-lt"/>
                <a:cs typeface="Arial" panose="020B0604020202020204" pitchFamily="34" charset="0"/>
              </a:rPr>
              <a:t>Nivel de estudios</a:t>
            </a:r>
          </a:p>
          <a:p>
            <a:pPr algn="just"/>
            <a:endParaRPr lang="es-ES" dirty="0">
              <a:solidFill>
                <a:schemeClr val="bg1"/>
              </a:solidFill>
              <a:latin typeface="+mn-lt"/>
              <a:cs typeface="Arial" panose="020B0604020202020204" pitchFamily="34" charset="0"/>
            </a:endParaRPr>
          </a:p>
          <a:p>
            <a:pPr algn="just"/>
            <a:r>
              <a:rPr lang="es-ES" b="1" dirty="0">
                <a:solidFill>
                  <a:schemeClr val="bg1"/>
                </a:solidFill>
                <a:latin typeface="+mn-lt"/>
                <a:cs typeface="Arial" panose="020B0604020202020204" pitchFamily="34" charset="0"/>
              </a:rPr>
              <a:t>¿Qué es un dato?</a:t>
            </a:r>
          </a:p>
          <a:p>
            <a:pPr algn="just"/>
            <a:r>
              <a:rPr lang="es-ES" dirty="0">
                <a:solidFill>
                  <a:schemeClr val="bg1"/>
                </a:solidFill>
                <a:latin typeface="+mn-lt"/>
                <a:cs typeface="Arial" panose="020B0604020202020204" pitchFamily="34" charset="0"/>
              </a:rPr>
              <a:t>Es un valor o conjunto de valores individuales asociados con una variable.</a:t>
            </a:r>
          </a:p>
        </p:txBody>
      </p:sp>
      <p:sp>
        <p:nvSpPr>
          <p:cNvPr id="6" name="Título 1">
            <a:extLst>
              <a:ext uri="{FF2B5EF4-FFF2-40B4-BE49-F238E27FC236}">
                <a16:creationId xmlns:a16="http://schemas.microsoft.com/office/drawing/2014/main" id="{76EAE5E9-AA41-B6C1-2BE8-2CF9E5D4461A}"/>
              </a:ext>
            </a:extLst>
          </p:cNvPr>
          <p:cNvSpPr txBox="1">
            <a:spLocks/>
          </p:cNvSpPr>
          <p:nvPr/>
        </p:nvSpPr>
        <p:spPr bwMode="auto">
          <a:xfrm>
            <a:off x="957304" y="997461"/>
            <a:ext cx="11420115" cy="655038"/>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MX" sz="3200" dirty="0">
                <a:solidFill>
                  <a:schemeClr val="bg1">
                    <a:lumMod val="50000"/>
                  </a:schemeClr>
                </a:solidFill>
                <a:latin typeface="Arial" panose="020B0604020202020204" pitchFamily="34" charset="0"/>
                <a:cs typeface="Arial" panose="020B0604020202020204" pitchFamily="34" charset="0"/>
              </a:rPr>
              <a:t>Datos v/s Variables</a:t>
            </a:r>
          </a:p>
        </p:txBody>
      </p:sp>
    </p:spTree>
    <p:extLst>
      <p:ext uri="{BB962C8B-B14F-4D97-AF65-F5344CB8AC3E}">
        <p14:creationId xmlns:p14="http://schemas.microsoft.com/office/powerpoint/2010/main" val="254193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redondeado 4">
            <a:extLst>
              <a:ext uri="{FF2B5EF4-FFF2-40B4-BE49-F238E27FC236}">
                <a16:creationId xmlns:a16="http://schemas.microsoft.com/office/drawing/2014/main" id="{EEF64A50-BFC1-6219-5B5B-FB92BB3A07A2}"/>
              </a:ext>
            </a:extLst>
          </p:cNvPr>
          <p:cNvSpPr/>
          <p:nvPr/>
        </p:nvSpPr>
        <p:spPr>
          <a:xfrm>
            <a:off x="2559269" y="2711669"/>
            <a:ext cx="7073462" cy="3452648"/>
          </a:xfrm>
          <a:prstGeom prst="roundRect">
            <a:avLst>
              <a:gd name="adj" fmla="val 2971"/>
            </a:avLst>
          </a:prstGeom>
          <a:solidFill>
            <a:schemeClr val="bg1"/>
          </a:solidFill>
          <a:ln w="3810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2" name="Rectángulo redondeado 1"/>
          <p:cNvSpPr/>
          <p:nvPr/>
        </p:nvSpPr>
        <p:spPr>
          <a:xfrm>
            <a:off x="478378" y="1427993"/>
            <a:ext cx="11277600" cy="855784"/>
          </a:xfrm>
          <a:prstGeom prst="roundRect">
            <a:avLst>
              <a:gd name="adj" fmla="val 2971"/>
            </a:avLst>
          </a:prstGeom>
          <a:gradFill flip="none" rotWithShape="1">
            <a:gsLst>
              <a:gs pos="0">
                <a:srgbClr val="7A2B65">
                  <a:shade val="30000"/>
                  <a:satMod val="115000"/>
                </a:srgbClr>
              </a:gs>
              <a:gs pos="50000">
                <a:srgbClr val="7A2B65">
                  <a:shade val="67500"/>
                  <a:satMod val="115000"/>
                </a:srgbClr>
              </a:gs>
              <a:gs pos="100000">
                <a:srgbClr val="7A2B6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726028" y="606990"/>
            <a:ext cx="10782300" cy="525520"/>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Variables Numéricas</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704850" y="1513944"/>
            <a:ext cx="10782300" cy="646331"/>
          </a:xfrm>
          <a:prstGeom prst="rect">
            <a:avLst/>
          </a:prstGeom>
          <a:noFill/>
          <a:ln>
            <a:noFill/>
          </a:ln>
        </p:spPr>
        <p:txBody>
          <a:bodyPr wrap="square" lIns="91440" tIns="45720" rIns="91440" bIns="45720" rtlCol="0" anchor="t">
            <a:spAutoFit/>
          </a:bodyPr>
          <a:lstStyle/>
          <a:p>
            <a:pPr algn="just"/>
            <a:r>
              <a:rPr lang="es-ES" dirty="0">
                <a:solidFill>
                  <a:schemeClr val="bg1"/>
                </a:solidFill>
                <a:latin typeface="+mn-lt"/>
                <a:ea typeface="Source Sans Pro"/>
              </a:rPr>
              <a:t>Una variable numérica o cuantitativa tienen valores que representan cantidades. Las variables numéricas se clasifican como discretas o continuas.</a:t>
            </a:r>
          </a:p>
        </p:txBody>
      </p:sp>
      <p:grpSp>
        <p:nvGrpSpPr>
          <p:cNvPr id="5" name="Grupo 4">
            <a:extLst>
              <a:ext uri="{FF2B5EF4-FFF2-40B4-BE49-F238E27FC236}">
                <a16:creationId xmlns:a16="http://schemas.microsoft.com/office/drawing/2014/main" id="{D65577BE-3EF1-6974-FEE5-B2D187E44A2B}"/>
              </a:ext>
            </a:extLst>
          </p:cNvPr>
          <p:cNvGrpSpPr/>
          <p:nvPr/>
        </p:nvGrpSpPr>
        <p:grpSpPr>
          <a:xfrm>
            <a:off x="3001446" y="3029931"/>
            <a:ext cx="6189108" cy="2752952"/>
            <a:chOff x="2998078" y="1874912"/>
            <a:chExt cx="6189108" cy="2752952"/>
          </a:xfrm>
        </p:grpSpPr>
        <p:sp>
          <p:nvSpPr>
            <p:cNvPr id="6" name="Rectángulo 5">
              <a:extLst>
                <a:ext uri="{FF2B5EF4-FFF2-40B4-BE49-F238E27FC236}">
                  <a16:creationId xmlns:a16="http://schemas.microsoft.com/office/drawing/2014/main" id="{A1D6F608-B2B5-973B-EEC4-7C2A82F0A422}"/>
                </a:ext>
              </a:extLst>
            </p:cNvPr>
            <p:cNvSpPr/>
            <p:nvPr/>
          </p:nvSpPr>
          <p:spPr>
            <a:xfrm>
              <a:off x="4996211" y="1874912"/>
              <a:ext cx="2235200" cy="7789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dirty="0"/>
                <a:t>Variable Cuantitativa</a:t>
              </a:r>
            </a:p>
          </p:txBody>
        </p:sp>
        <p:sp>
          <p:nvSpPr>
            <p:cNvPr id="7" name="Rectángulo 6">
              <a:extLst>
                <a:ext uri="{FF2B5EF4-FFF2-40B4-BE49-F238E27FC236}">
                  <a16:creationId xmlns:a16="http://schemas.microsoft.com/office/drawing/2014/main" id="{AEB8A27B-178C-F7D6-E6F1-1FEA75720E9D}"/>
                </a:ext>
              </a:extLst>
            </p:cNvPr>
            <p:cNvSpPr/>
            <p:nvPr/>
          </p:nvSpPr>
          <p:spPr>
            <a:xfrm>
              <a:off x="2998078" y="3848931"/>
              <a:ext cx="2235200" cy="77893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s-CL" dirty="0"/>
                <a:t>Discreta</a:t>
              </a:r>
            </a:p>
          </p:txBody>
        </p:sp>
        <p:sp>
          <p:nvSpPr>
            <p:cNvPr id="8" name="Rectángulo 7">
              <a:extLst>
                <a:ext uri="{FF2B5EF4-FFF2-40B4-BE49-F238E27FC236}">
                  <a16:creationId xmlns:a16="http://schemas.microsoft.com/office/drawing/2014/main" id="{6FED9890-D85B-767E-EF0D-AB6F34836036}"/>
                </a:ext>
              </a:extLst>
            </p:cNvPr>
            <p:cNvSpPr/>
            <p:nvPr/>
          </p:nvSpPr>
          <p:spPr>
            <a:xfrm>
              <a:off x="6951986" y="3827891"/>
              <a:ext cx="2235200" cy="77893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s-CL" dirty="0"/>
                <a:t>Continua</a:t>
              </a:r>
            </a:p>
          </p:txBody>
        </p:sp>
        <p:cxnSp>
          <p:nvCxnSpPr>
            <p:cNvPr id="10" name="Conector: angular 9">
              <a:extLst>
                <a:ext uri="{FF2B5EF4-FFF2-40B4-BE49-F238E27FC236}">
                  <a16:creationId xmlns:a16="http://schemas.microsoft.com/office/drawing/2014/main" id="{F25EB556-C1A8-F83B-CF8F-177BB4A7FE57}"/>
                </a:ext>
              </a:extLst>
            </p:cNvPr>
            <p:cNvCxnSpPr>
              <a:cxnSpLocks/>
            </p:cNvCxnSpPr>
            <p:nvPr/>
          </p:nvCxnSpPr>
          <p:spPr>
            <a:xfrm rot="5400000">
              <a:off x="4474844" y="2252322"/>
              <a:ext cx="1195086" cy="199813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ector: angular 11">
              <a:extLst>
                <a:ext uri="{FF2B5EF4-FFF2-40B4-BE49-F238E27FC236}">
                  <a16:creationId xmlns:a16="http://schemas.microsoft.com/office/drawing/2014/main" id="{479AB178-3B75-7B24-C52B-7C805F526F8B}"/>
                </a:ext>
              </a:extLst>
            </p:cNvPr>
            <p:cNvCxnSpPr>
              <a:stCxn id="6" idx="2"/>
              <a:endCxn id="8" idx="0"/>
            </p:cNvCxnSpPr>
            <p:nvPr/>
          </p:nvCxnSpPr>
          <p:spPr>
            <a:xfrm rot="16200000" flipH="1">
              <a:off x="6504675" y="2262980"/>
              <a:ext cx="1174046" cy="1955775"/>
            </a:xfrm>
            <a:prstGeom prst="bentConnector3">
              <a:avLst>
                <a:gd name="adj1" fmla="val 49999"/>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61517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redondeado 4">
            <a:extLst>
              <a:ext uri="{FF2B5EF4-FFF2-40B4-BE49-F238E27FC236}">
                <a16:creationId xmlns:a16="http://schemas.microsoft.com/office/drawing/2014/main" id="{EEF64A50-BFC1-6219-5B5B-FB92BB3A07A2}"/>
              </a:ext>
            </a:extLst>
          </p:cNvPr>
          <p:cNvSpPr/>
          <p:nvPr/>
        </p:nvSpPr>
        <p:spPr>
          <a:xfrm>
            <a:off x="2243958" y="3363414"/>
            <a:ext cx="7704082" cy="2735317"/>
          </a:xfrm>
          <a:prstGeom prst="roundRect">
            <a:avLst>
              <a:gd name="adj" fmla="val 2971"/>
            </a:avLst>
          </a:prstGeom>
          <a:solidFill>
            <a:schemeClr val="bg1"/>
          </a:solidFill>
          <a:ln w="38100">
            <a:solidFill>
              <a:srgbClr val="7A2B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2" name="Rectángulo redondeado 1"/>
          <p:cNvSpPr/>
          <p:nvPr/>
        </p:nvSpPr>
        <p:spPr>
          <a:xfrm>
            <a:off x="457200" y="1075117"/>
            <a:ext cx="11277600" cy="2110307"/>
          </a:xfrm>
          <a:prstGeom prst="roundRect">
            <a:avLst>
              <a:gd name="adj" fmla="val 2971"/>
            </a:avLst>
          </a:prstGeom>
          <a:gradFill flip="none" rotWithShape="1">
            <a:gsLst>
              <a:gs pos="0">
                <a:srgbClr val="7A2B65">
                  <a:shade val="30000"/>
                  <a:satMod val="115000"/>
                </a:srgbClr>
              </a:gs>
              <a:gs pos="50000">
                <a:srgbClr val="7A2B65">
                  <a:shade val="67500"/>
                  <a:satMod val="115000"/>
                </a:srgbClr>
              </a:gs>
              <a:gs pos="100000">
                <a:srgbClr val="7A2B6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838570" y="446690"/>
            <a:ext cx="10782300" cy="53943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Variables Numéricas</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616074" y="1253107"/>
            <a:ext cx="11004796" cy="1754326"/>
          </a:xfrm>
          <a:prstGeom prst="rect">
            <a:avLst/>
          </a:prstGeom>
          <a:noFill/>
          <a:ln>
            <a:noFill/>
          </a:ln>
        </p:spPr>
        <p:txBody>
          <a:bodyPr wrap="square" lIns="91440" tIns="45720" rIns="91440" bIns="45720" rtlCol="0" anchor="t">
            <a:spAutoFit/>
          </a:bodyPr>
          <a:lstStyle/>
          <a:p>
            <a:pPr marL="285750" indent="-285750" algn="just">
              <a:buFont typeface="Wingdings" panose="05000000000000000000" pitchFamily="2" charset="2"/>
              <a:buChar char="Ø"/>
            </a:pPr>
            <a:r>
              <a:rPr lang="es-ES" dirty="0">
                <a:solidFill>
                  <a:schemeClr val="bg1"/>
                </a:solidFill>
                <a:latin typeface="+mn-lt"/>
                <a:ea typeface="Source Sans Pro"/>
              </a:rPr>
              <a:t>Las </a:t>
            </a:r>
            <a:r>
              <a:rPr lang="es-ES" b="1" dirty="0">
                <a:solidFill>
                  <a:schemeClr val="bg1"/>
                </a:solidFill>
                <a:latin typeface="+mn-lt"/>
                <a:ea typeface="Source Sans Pro"/>
              </a:rPr>
              <a:t>variables numéricas continuas</a:t>
            </a:r>
            <a:r>
              <a:rPr lang="es-ES" dirty="0">
                <a:solidFill>
                  <a:schemeClr val="bg1"/>
                </a:solidFill>
                <a:latin typeface="+mn-lt"/>
                <a:ea typeface="Source Sans Pro"/>
              </a:rPr>
              <a:t> producen resultados que típicamente proviene de un proceso de medición, por ejemplo, la estatura o el peso de una persona, la temperatura, etc.</a:t>
            </a:r>
          </a:p>
          <a:p>
            <a:pPr marL="285750" indent="-285750" algn="just">
              <a:buFont typeface="Wingdings" panose="05000000000000000000" pitchFamily="2" charset="2"/>
              <a:buChar char="Ø"/>
            </a:pPr>
            <a:endParaRPr lang="es-ES" dirty="0">
              <a:solidFill>
                <a:schemeClr val="bg1"/>
              </a:solidFill>
              <a:latin typeface="+mn-lt"/>
              <a:ea typeface="Source Sans Pro"/>
            </a:endParaRPr>
          </a:p>
          <a:p>
            <a:pPr marL="285750" indent="-285750" algn="just">
              <a:buFont typeface="Wingdings" panose="05000000000000000000" pitchFamily="2" charset="2"/>
              <a:buChar char="Ø"/>
            </a:pPr>
            <a:r>
              <a:rPr lang="es-ES" dirty="0">
                <a:solidFill>
                  <a:schemeClr val="bg1"/>
                </a:solidFill>
                <a:latin typeface="+mn-lt"/>
                <a:ea typeface="Source Sans Pro"/>
              </a:rPr>
              <a:t>Las </a:t>
            </a:r>
            <a:r>
              <a:rPr lang="es-ES" b="1" dirty="0">
                <a:solidFill>
                  <a:schemeClr val="bg1"/>
                </a:solidFill>
                <a:latin typeface="+mn-lt"/>
                <a:ea typeface="Source Sans Pro"/>
              </a:rPr>
              <a:t>variables numéricas discretas </a:t>
            </a:r>
            <a:r>
              <a:rPr lang="es-ES" dirty="0">
                <a:solidFill>
                  <a:schemeClr val="bg1"/>
                </a:solidFill>
                <a:latin typeface="+mn-lt"/>
                <a:ea typeface="Source Sans Pro"/>
              </a:rPr>
              <a:t>producen resultados que provienen de un proceso de conteo, por ejemplo: el número de revistas a las que una persona está suscrita o la cantidad de hijos de una persona, cantidad de piezas defectuosas, etc.</a:t>
            </a:r>
          </a:p>
        </p:txBody>
      </p:sp>
      <p:pic>
        <p:nvPicPr>
          <p:cNvPr id="4" name="Imagen 3">
            <a:extLst>
              <a:ext uri="{FF2B5EF4-FFF2-40B4-BE49-F238E27FC236}">
                <a16:creationId xmlns:a16="http://schemas.microsoft.com/office/drawing/2014/main" id="{ABF4CFB6-E08B-2593-7F9A-98D157A93A9B}"/>
              </a:ext>
            </a:extLst>
          </p:cNvPr>
          <p:cNvPicPr>
            <a:picLocks noChangeAspect="1"/>
          </p:cNvPicPr>
          <p:nvPr/>
        </p:nvPicPr>
        <p:blipFill>
          <a:blip r:embed="rId2"/>
          <a:stretch>
            <a:fillRect/>
          </a:stretch>
        </p:blipFill>
        <p:spPr>
          <a:xfrm>
            <a:off x="2562409" y="3463092"/>
            <a:ext cx="7067181" cy="2535961"/>
          </a:xfrm>
          <a:prstGeom prst="rect">
            <a:avLst/>
          </a:prstGeom>
        </p:spPr>
      </p:pic>
    </p:spTree>
    <p:extLst>
      <p:ext uri="{BB962C8B-B14F-4D97-AF65-F5344CB8AC3E}">
        <p14:creationId xmlns:p14="http://schemas.microsoft.com/office/powerpoint/2010/main" val="1462487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339635" y="1541418"/>
            <a:ext cx="12881610" cy="3864174"/>
          </a:xfrm>
          <a:prstGeom prst="roundRect">
            <a:avLst>
              <a:gd name="adj" fmla="val 2971"/>
            </a:avLst>
          </a:prstGeom>
          <a:gradFill flip="none" rotWithShape="1">
            <a:gsLst>
              <a:gs pos="0">
                <a:srgbClr val="7A2B65">
                  <a:shade val="30000"/>
                  <a:satMod val="115000"/>
                </a:srgbClr>
              </a:gs>
              <a:gs pos="50000">
                <a:srgbClr val="7A2B65">
                  <a:shade val="67500"/>
                  <a:satMod val="115000"/>
                </a:srgbClr>
              </a:gs>
              <a:gs pos="100000">
                <a:srgbClr val="7A2B6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 name="CuadroTexto 8">
            <a:extLst>
              <a:ext uri="{FF2B5EF4-FFF2-40B4-BE49-F238E27FC236}">
                <a16:creationId xmlns:a16="http://schemas.microsoft.com/office/drawing/2014/main" id="{C746CFDD-6FC3-5AA7-5C1D-362E2C5244F1}"/>
              </a:ext>
            </a:extLst>
          </p:cNvPr>
          <p:cNvSpPr txBox="1"/>
          <p:nvPr/>
        </p:nvSpPr>
        <p:spPr>
          <a:xfrm>
            <a:off x="1267190" y="1825485"/>
            <a:ext cx="10148711" cy="3139321"/>
          </a:xfrm>
          <a:prstGeom prst="rect">
            <a:avLst/>
          </a:prstGeom>
          <a:noFill/>
          <a:ln>
            <a:noFill/>
          </a:ln>
        </p:spPr>
        <p:txBody>
          <a:bodyPr wrap="square" lIns="91440" tIns="45720" rIns="91440" bIns="45720" rtlCol="0" anchor="t">
            <a:spAutoFit/>
          </a:bodyPr>
          <a:lstStyle/>
          <a:p>
            <a:pPr algn="just"/>
            <a:r>
              <a:rPr lang="es-ES" dirty="0">
                <a:solidFill>
                  <a:schemeClr val="bg1"/>
                </a:solidFill>
                <a:latin typeface="+mn-lt"/>
                <a:ea typeface="Source Sans Pro"/>
              </a:rPr>
              <a:t>La  información que se recoge de una o varias variables se presenta en tablas que representan la distribución de dichas variables y también, se pueden clasificar en: </a:t>
            </a:r>
          </a:p>
          <a:p>
            <a:pPr algn="just"/>
            <a:endParaRPr lang="es-ES" dirty="0">
              <a:solidFill>
                <a:schemeClr val="bg1"/>
              </a:solidFill>
              <a:latin typeface="+mn-lt"/>
              <a:ea typeface="Source Sans Pro"/>
            </a:endParaRPr>
          </a:p>
          <a:p>
            <a:pPr marL="285750" indent="-285750" algn="just">
              <a:buFont typeface="Arial" panose="020B0604020202020204" pitchFamily="34" charset="0"/>
              <a:buChar char="•"/>
            </a:pPr>
            <a:r>
              <a:rPr lang="es-ES" b="1" dirty="0">
                <a:solidFill>
                  <a:schemeClr val="bg1"/>
                </a:solidFill>
                <a:effectLst>
                  <a:outerShdw blurRad="38100" dist="38100" dir="2700000" algn="tl">
                    <a:srgbClr val="000000">
                      <a:alpha val="43137"/>
                    </a:srgbClr>
                  </a:outerShdw>
                </a:effectLst>
                <a:latin typeface="+mn-lt"/>
                <a:ea typeface="Source Sans Pro"/>
              </a:rPr>
              <a:t>Distribuciones unidimensionales </a:t>
            </a:r>
            <a:r>
              <a:rPr lang="es-ES" dirty="0">
                <a:solidFill>
                  <a:schemeClr val="bg1"/>
                </a:solidFill>
                <a:latin typeface="+mn-lt"/>
                <a:ea typeface="Source Sans Pro"/>
              </a:rPr>
              <a:t>– Sólo recogen información sobre una característica (por ejemplo: edad de los alumnos de una clase). </a:t>
            </a:r>
          </a:p>
          <a:p>
            <a:pPr marL="285750" indent="-285750" algn="just">
              <a:buFont typeface="Arial" panose="020B0604020202020204" pitchFamily="34" charset="0"/>
              <a:buChar char="•"/>
            </a:pPr>
            <a:endParaRPr lang="es-ES" dirty="0">
              <a:solidFill>
                <a:schemeClr val="bg1"/>
              </a:solidFill>
              <a:latin typeface="+mn-lt"/>
              <a:ea typeface="Source Sans Pro"/>
            </a:endParaRPr>
          </a:p>
          <a:p>
            <a:pPr marL="285750" indent="-285750" algn="just">
              <a:buFont typeface="Arial" panose="020B0604020202020204" pitchFamily="34" charset="0"/>
              <a:buChar char="•"/>
            </a:pPr>
            <a:r>
              <a:rPr lang="es-ES" b="1" dirty="0">
                <a:solidFill>
                  <a:schemeClr val="bg1"/>
                </a:solidFill>
                <a:effectLst>
                  <a:outerShdw blurRad="38100" dist="38100" dir="2700000" algn="tl">
                    <a:srgbClr val="000000">
                      <a:alpha val="43137"/>
                    </a:srgbClr>
                  </a:outerShdw>
                </a:effectLst>
                <a:latin typeface="+mn-lt"/>
                <a:ea typeface="Source Sans Pro"/>
              </a:rPr>
              <a:t>Distribuciones bidimensionales</a:t>
            </a:r>
            <a:r>
              <a:rPr lang="es-ES" dirty="0">
                <a:solidFill>
                  <a:schemeClr val="bg1"/>
                </a:solidFill>
                <a:latin typeface="+mn-lt"/>
                <a:ea typeface="Source Sans Pro"/>
              </a:rPr>
              <a:t> – Recogen información sobre dos características de cada elemento de la población simultáneamente (por ejemplo: edad y altura de los alumnos/as de una clase) . </a:t>
            </a:r>
          </a:p>
          <a:p>
            <a:pPr marL="285750" indent="-285750" algn="just">
              <a:buFont typeface="Arial" panose="020B0604020202020204" pitchFamily="34" charset="0"/>
              <a:buChar char="•"/>
            </a:pPr>
            <a:endParaRPr lang="es-ES" dirty="0">
              <a:solidFill>
                <a:schemeClr val="bg1"/>
              </a:solidFill>
              <a:latin typeface="+mn-lt"/>
              <a:ea typeface="Source Sans Pro"/>
            </a:endParaRPr>
          </a:p>
          <a:p>
            <a:pPr marL="285750" indent="-285750" algn="just">
              <a:buFont typeface="Arial" panose="020B0604020202020204" pitchFamily="34" charset="0"/>
              <a:buChar char="•"/>
            </a:pPr>
            <a:r>
              <a:rPr lang="es-ES" b="1" dirty="0">
                <a:solidFill>
                  <a:schemeClr val="bg1"/>
                </a:solidFill>
                <a:effectLst>
                  <a:outerShdw blurRad="38100" dist="38100" dir="2700000" algn="tl">
                    <a:srgbClr val="000000">
                      <a:alpha val="43137"/>
                    </a:srgbClr>
                  </a:outerShdw>
                </a:effectLst>
                <a:latin typeface="+mn-lt"/>
                <a:ea typeface="Source Sans Pro"/>
              </a:rPr>
              <a:t>Distribuciones multidimensionales</a:t>
            </a:r>
            <a:r>
              <a:rPr lang="es-ES" dirty="0">
                <a:solidFill>
                  <a:schemeClr val="bg1"/>
                </a:solidFill>
                <a:latin typeface="+mn-lt"/>
                <a:ea typeface="Source Sans Pro"/>
              </a:rPr>
              <a:t> – Recogen  información sobre tres o más características de cada  elemento (por ejemplo: edad, altura y peso de los alumnos/as de una clase).</a:t>
            </a:r>
          </a:p>
        </p:txBody>
      </p:sp>
      <p:pic>
        <p:nvPicPr>
          <p:cNvPr id="4" name="Imagen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7709" y="1905156"/>
            <a:ext cx="289524" cy="289524"/>
          </a:xfrm>
          <a:prstGeom prst="rect">
            <a:avLst/>
          </a:prstGeom>
        </p:spPr>
      </p:pic>
      <p:sp>
        <p:nvSpPr>
          <p:cNvPr id="5" name="Título 1">
            <a:extLst>
              <a:ext uri="{FF2B5EF4-FFF2-40B4-BE49-F238E27FC236}">
                <a16:creationId xmlns:a16="http://schemas.microsoft.com/office/drawing/2014/main" id="{B28B3DCB-34FE-E29C-8D2B-5495ADE4CD10}"/>
              </a:ext>
            </a:extLst>
          </p:cNvPr>
          <p:cNvSpPr txBox="1">
            <a:spLocks/>
          </p:cNvSpPr>
          <p:nvPr/>
        </p:nvSpPr>
        <p:spPr bwMode="auto">
          <a:xfrm>
            <a:off x="1267190" y="923184"/>
            <a:ext cx="10246085" cy="618234"/>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0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Distribución de Variables</a:t>
            </a:r>
            <a:endParaRPr lang="es-MX" sz="32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9048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313510" y="1745464"/>
            <a:ext cx="11588293" cy="3522822"/>
          </a:xfrm>
          <a:prstGeom prst="roundRect">
            <a:avLst>
              <a:gd name="adj" fmla="val 2971"/>
            </a:avLst>
          </a:prstGeom>
          <a:gradFill flip="none" rotWithShape="1">
            <a:gsLst>
              <a:gs pos="0">
                <a:srgbClr val="7A2B65">
                  <a:shade val="30000"/>
                  <a:satMod val="115000"/>
                </a:srgbClr>
              </a:gs>
              <a:gs pos="50000">
                <a:srgbClr val="7A2B65">
                  <a:shade val="67500"/>
                  <a:satMod val="115000"/>
                </a:srgbClr>
              </a:gs>
              <a:gs pos="100000">
                <a:srgbClr val="7A2B6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_tradnl"/>
          </a:p>
        </p:txBody>
      </p:sp>
      <p:sp>
        <p:nvSpPr>
          <p:cNvPr id="3" name="Título 1"/>
          <p:cNvSpPr txBox="1">
            <a:spLocks/>
          </p:cNvSpPr>
          <p:nvPr/>
        </p:nvSpPr>
        <p:spPr bwMode="auto">
          <a:xfrm>
            <a:off x="704850" y="737400"/>
            <a:ext cx="10782300" cy="777891"/>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¿Qué es una Distribución de Probabilidad?</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917216" y="1993804"/>
            <a:ext cx="10055584" cy="2862322"/>
          </a:xfrm>
          <a:prstGeom prst="rect">
            <a:avLst/>
          </a:prstGeom>
          <a:noFill/>
          <a:ln>
            <a:noFill/>
          </a:ln>
        </p:spPr>
        <p:txBody>
          <a:bodyPr wrap="square" lIns="91440" tIns="45720" rIns="91440" bIns="45720" rtlCol="0" anchor="t">
            <a:spAutoFit/>
          </a:bodyPr>
          <a:lstStyle/>
          <a:p>
            <a:pPr algn="just"/>
            <a:r>
              <a:rPr lang="es-ES" dirty="0">
                <a:solidFill>
                  <a:schemeClr val="bg1"/>
                </a:solidFill>
                <a:latin typeface="+mn-lt"/>
                <a:ea typeface="Source Sans Pro"/>
              </a:rPr>
              <a:t>Una distribución de probabilidad P es una función que define la probabilidad de ocurrencia de cada valor de una variable aleatoria X. Es decir, una distribución de probabilidad es una función matemática que describe las probabilidades de todos los posibles resultados de un experimento aleatorio.</a:t>
            </a:r>
          </a:p>
          <a:p>
            <a:pPr algn="just"/>
            <a:endParaRPr lang="es-ES" dirty="0">
              <a:solidFill>
                <a:schemeClr val="bg1"/>
              </a:solidFill>
              <a:latin typeface="+mn-lt"/>
              <a:ea typeface="Source Sans Pro"/>
            </a:endParaRPr>
          </a:p>
          <a:p>
            <a:pPr algn="just"/>
            <a:endParaRPr lang="es-ES" dirty="0">
              <a:solidFill>
                <a:schemeClr val="bg1"/>
              </a:solidFill>
              <a:latin typeface="+mn-lt"/>
              <a:ea typeface="Source Sans Pro"/>
            </a:endParaRPr>
          </a:p>
          <a:p>
            <a:pPr algn="just"/>
            <a:endParaRPr lang="es-ES" dirty="0">
              <a:solidFill>
                <a:schemeClr val="bg1"/>
              </a:solidFill>
              <a:latin typeface="+mn-lt"/>
              <a:ea typeface="Source Sans Pro"/>
            </a:endParaRPr>
          </a:p>
          <a:p>
            <a:pPr algn="just"/>
            <a:endParaRPr lang="es-ES" dirty="0">
              <a:solidFill>
                <a:schemeClr val="bg1"/>
              </a:solidFill>
              <a:latin typeface="+mn-lt"/>
              <a:ea typeface="Source Sans Pro"/>
            </a:endParaRPr>
          </a:p>
          <a:p>
            <a:pPr algn="just"/>
            <a:endParaRPr lang="es-ES" dirty="0">
              <a:solidFill>
                <a:schemeClr val="bg1"/>
              </a:solidFill>
              <a:latin typeface="+mn-lt"/>
              <a:ea typeface="Source Sans Pro"/>
            </a:endParaRPr>
          </a:p>
          <a:p>
            <a:pPr algn="just"/>
            <a:r>
              <a:rPr lang="es-ES" dirty="0">
                <a:solidFill>
                  <a:schemeClr val="bg1"/>
                </a:solidFill>
                <a:latin typeface="+mn-lt"/>
                <a:ea typeface="Source Sans Pro"/>
              </a:rPr>
              <a:t>Las distribuciones de probabilidad se usan frecuentemente en la teoría de la probabilidad y estadística, ya que sirven para calcular las probabilidades de los diferentes eventos de un espacio muestral.</a:t>
            </a:r>
          </a:p>
        </p:txBody>
      </p:sp>
      <p:pic>
        <p:nvPicPr>
          <p:cNvPr id="4" name="Imagen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8375" y="2052209"/>
            <a:ext cx="289524" cy="289524"/>
          </a:xfrm>
          <a:prstGeom prst="rect">
            <a:avLst/>
          </a:prstGeom>
        </p:spPr>
      </p:pic>
      <p:pic>
        <p:nvPicPr>
          <p:cNvPr id="5" name="Imagen 4">
            <a:extLst>
              <a:ext uri="{FF2B5EF4-FFF2-40B4-BE49-F238E27FC236}">
                <a16:creationId xmlns:a16="http://schemas.microsoft.com/office/drawing/2014/main" id="{6AF90861-D844-DB8C-02A0-F29F790ED39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8375" y="4245108"/>
            <a:ext cx="289524" cy="289524"/>
          </a:xfrm>
          <a:prstGeom prst="rect">
            <a:avLst/>
          </a:prstGeom>
        </p:spPr>
      </p:pic>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F9F6C81F-B16A-0799-D1D9-F08E820A08FD}"/>
                  </a:ext>
                </a:extLst>
              </p:cNvPr>
              <p:cNvSpPr txBox="1"/>
              <p:nvPr/>
            </p:nvSpPr>
            <p:spPr>
              <a:xfrm>
                <a:off x="4242583" y="3126066"/>
                <a:ext cx="2835807" cy="7386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s-ES" sz="2400" b="1" i="1" u="none" strike="noStrike" cap="none" spc="0" normalizeH="0" baseline="0" smtClean="0">
                          <a:ln>
                            <a:noFill/>
                          </a:ln>
                          <a:solidFill>
                            <a:schemeClr val="bg1"/>
                          </a:solidFill>
                          <a:effectLst/>
                          <a:uFillTx/>
                          <a:latin typeface="Cambria Math" panose="02040503050406030204" pitchFamily="18" charset="0"/>
                          <a:sym typeface="Calibri"/>
                        </a:rPr>
                        <m:t>𝑷</m:t>
                      </m:r>
                      <m:r>
                        <a:rPr kumimoji="0" lang="es-ES" sz="2400" b="1" i="1" u="none" strike="noStrike" cap="none" spc="0" normalizeH="0" baseline="0" smtClean="0">
                          <a:ln>
                            <a:noFill/>
                          </a:ln>
                          <a:solidFill>
                            <a:schemeClr val="bg1"/>
                          </a:solidFill>
                          <a:effectLst/>
                          <a:uFillTx/>
                          <a:latin typeface="Cambria Math" panose="02040503050406030204" pitchFamily="18" charset="0"/>
                          <a:sym typeface="Calibri"/>
                        </a:rPr>
                        <m:t>:</m:t>
                      </m:r>
                      <m:r>
                        <a:rPr kumimoji="0" lang="es-ES" sz="2400" b="1" i="1" u="none" strike="noStrike" cap="none" spc="0" normalizeH="0" baseline="0" smtClean="0">
                          <a:ln>
                            <a:noFill/>
                          </a:ln>
                          <a:solidFill>
                            <a:schemeClr val="bg1"/>
                          </a:solidFill>
                          <a:effectLst/>
                          <a:uFillTx/>
                          <a:latin typeface="Cambria Math" panose="02040503050406030204" pitchFamily="18" charset="0"/>
                          <a:sym typeface="Calibri"/>
                        </a:rPr>
                        <m:t>𝑰𝒎𝒈</m:t>
                      </m:r>
                      <m:d>
                        <m:dPr>
                          <m:ctrlPr>
                            <a:rPr kumimoji="0" lang="es-ES" sz="2400" b="1" i="1" u="none" strike="noStrike" cap="none" spc="0" normalizeH="0" baseline="0" smtClean="0">
                              <a:ln>
                                <a:noFill/>
                              </a:ln>
                              <a:solidFill>
                                <a:schemeClr val="bg1"/>
                              </a:solidFill>
                              <a:effectLst/>
                              <a:uFillTx/>
                              <a:latin typeface="Cambria Math" panose="02040503050406030204" pitchFamily="18" charset="0"/>
                              <a:sym typeface="Calibri"/>
                            </a:rPr>
                          </m:ctrlPr>
                        </m:dPr>
                        <m:e>
                          <m:r>
                            <a:rPr kumimoji="0" lang="es-ES" sz="2400" b="1" i="1" u="none" strike="noStrike" cap="none" spc="0" normalizeH="0" baseline="0" smtClean="0">
                              <a:ln>
                                <a:noFill/>
                              </a:ln>
                              <a:solidFill>
                                <a:schemeClr val="bg1"/>
                              </a:solidFill>
                              <a:effectLst/>
                              <a:uFillTx/>
                              <a:latin typeface="Cambria Math" panose="02040503050406030204" pitchFamily="18" charset="0"/>
                              <a:sym typeface="Calibri"/>
                            </a:rPr>
                            <m:t>𝑿</m:t>
                          </m:r>
                        </m:e>
                      </m:d>
                      <m:r>
                        <a:rPr kumimoji="0" lang="es-ES" sz="2400" b="1" i="1" u="none" strike="noStrike" cap="none" spc="0" normalizeH="0" baseline="0" smtClean="0">
                          <a:ln>
                            <a:noFill/>
                          </a:ln>
                          <a:solidFill>
                            <a:schemeClr val="bg1"/>
                          </a:solidFill>
                          <a:effectLst/>
                          <a:uFillTx/>
                          <a:latin typeface="Cambria Math" panose="02040503050406030204" pitchFamily="18" charset="0"/>
                          <a:ea typeface="Cambria Math" panose="02040503050406030204" pitchFamily="18" charset="0"/>
                          <a:sym typeface="Calibri"/>
                        </a:rPr>
                        <m:t>→</m:t>
                      </m:r>
                      <m:d>
                        <m:dPr>
                          <m:begChr m:val="["/>
                          <m:endChr m:val="]"/>
                          <m:ctrlPr>
                            <a:rPr kumimoji="0" lang="es-ES" sz="2400" b="1" i="1" u="none" strike="noStrike" cap="none" spc="0" normalizeH="0" baseline="0" smtClean="0">
                              <a:ln>
                                <a:noFill/>
                              </a:ln>
                              <a:solidFill>
                                <a:schemeClr val="bg1"/>
                              </a:solidFill>
                              <a:effectLst/>
                              <a:uFillTx/>
                              <a:latin typeface="Cambria Math" panose="02040503050406030204" pitchFamily="18" charset="0"/>
                              <a:ea typeface="Cambria Math" panose="02040503050406030204" pitchFamily="18" charset="0"/>
                              <a:sym typeface="Calibri"/>
                            </a:rPr>
                          </m:ctrlPr>
                        </m:dPr>
                        <m:e>
                          <m:r>
                            <a:rPr kumimoji="0" lang="es-ES" sz="2400" b="1" i="1" u="none" strike="noStrike" cap="none" spc="0" normalizeH="0" baseline="0" smtClean="0">
                              <a:ln>
                                <a:noFill/>
                              </a:ln>
                              <a:solidFill>
                                <a:schemeClr val="bg1"/>
                              </a:solidFill>
                              <a:effectLst/>
                              <a:uFillTx/>
                              <a:latin typeface="Cambria Math" panose="02040503050406030204" pitchFamily="18" charset="0"/>
                              <a:ea typeface="Cambria Math" panose="02040503050406030204" pitchFamily="18" charset="0"/>
                              <a:sym typeface="Calibri"/>
                            </a:rPr>
                            <m:t>𝟎</m:t>
                          </m:r>
                          <m:r>
                            <a:rPr kumimoji="0" lang="es-ES" sz="2400" b="1" i="1" u="none" strike="noStrike" cap="none" spc="0" normalizeH="0" baseline="0" smtClean="0">
                              <a:ln>
                                <a:noFill/>
                              </a:ln>
                              <a:solidFill>
                                <a:schemeClr val="bg1"/>
                              </a:solidFill>
                              <a:effectLst/>
                              <a:uFillTx/>
                              <a:latin typeface="Cambria Math" panose="02040503050406030204" pitchFamily="18" charset="0"/>
                              <a:ea typeface="Cambria Math" panose="02040503050406030204" pitchFamily="18" charset="0"/>
                              <a:sym typeface="Calibri"/>
                            </a:rPr>
                            <m:t>,</m:t>
                          </m:r>
                          <m:r>
                            <a:rPr kumimoji="0" lang="es-ES" sz="2400" b="1" i="1" u="none" strike="noStrike" cap="none" spc="0" normalizeH="0" baseline="0" smtClean="0">
                              <a:ln>
                                <a:noFill/>
                              </a:ln>
                              <a:solidFill>
                                <a:schemeClr val="bg1"/>
                              </a:solidFill>
                              <a:effectLst/>
                              <a:uFillTx/>
                              <a:latin typeface="Cambria Math" panose="02040503050406030204" pitchFamily="18" charset="0"/>
                              <a:ea typeface="Cambria Math" panose="02040503050406030204" pitchFamily="18" charset="0"/>
                              <a:sym typeface="Calibri"/>
                            </a:rPr>
                            <m:t>𝟏</m:t>
                          </m:r>
                        </m:e>
                      </m:d>
                      <m:r>
                        <a:rPr kumimoji="0" lang="es-ES" sz="2400" b="1" i="1" u="none" strike="noStrike" cap="none" spc="0" normalizeH="0" baseline="0" smtClean="0">
                          <a:ln>
                            <a:noFill/>
                          </a:ln>
                          <a:solidFill>
                            <a:schemeClr val="bg1"/>
                          </a:solidFill>
                          <a:effectLst/>
                          <a:uFillTx/>
                          <a:latin typeface="Cambria Math" panose="02040503050406030204" pitchFamily="18" charset="0"/>
                          <a:ea typeface="Cambria Math" panose="02040503050406030204" pitchFamily="18" charset="0"/>
                          <a:sym typeface="Calibri"/>
                        </a:rPr>
                        <m:t> </m:t>
                      </m:r>
                    </m:oMath>
                  </m:oMathPara>
                </a14:m>
                <a:endParaRPr kumimoji="0" lang="es-ES" sz="2400" b="1" i="1" u="none" strike="noStrike" cap="none" spc="0" normalizeH="0" baseline="0" dirty="0">
                  <a:ln>
                    <a:noFill/>
                  </a:ln>
                  <a:solidFill>
                    <a:schemeClr val="bg1"/>
                  </a:solidFill>
                  <a:effectLst/>
                  <a:uFillTx/>
                  <a:latin typeface="Cambria Math" panose="02040503050406030204" pitchFamily="18" charset="0"/>
                  <a:ea typeface="Cambria Math" panose="02040503050406030204" pitchFamily="18" charset="0"/>
                  <a:sym typeface="Calibri"/>
                </a:endParaRPr>
              </a:p>
              <a:p>
                <a:pPr marL="0" marR="0" indent="0" algn="l" defTabSz="914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s-ES" sz="2400" b="1" i="1" u="none" strike="noStrike" cap="none" spc="0" normalizeH="0" baseline="0" smtClean="0">
                          <a:ln>
                            <a:noFill/>
                          </a:ln>
                          <a:solidFill>
                            <a:schemeClr val="bg1"/>
                          </a:solidFill>
                          <a:effectLst/>
                          <a:uFillTx/>
                          <a:latin typeface="Cambria Math" panose="02040503050406030204" pitchFamily="18" charset="0"/>
                          <a:ea typeface="Cambria Math" panose="02040503050406030204" pitchFamily="18" charset="0"/>
                          <a:sym typeface="Calibri"/>
                        </a:rPr>
                        <m:t>𝒙</m:t>
                      </m:r>
                      <m:r>
                        <a:rPr kumimoji="0" lang="es-ES" sz="2400" b="1" i="1" u="none" strike="noStrike" cap="none" spc="0" normalizeH="0" baseline="0" smtClean="0">
                          <a:ln>
                            <a:noFill/>
                          </a:ln>
                          <a:solidFill>
                            <a:schemeClr val="bg1"/>
                          </a:solidFill>
                          <a:effectLst/>
                          <a:uFillTx/>
                          <a:latin typeface="Cambria Math" panose="02040503050406030204" pitchFamily="18" charset="0"/>
                          <a:ea typeface="Cambria Math" panose="02040503050406030204" pitchFamily="18" charset="0"/>
                          <a:sym typeface="Calibri"/>
                        </a:rPr>
                        <m:t>⟼</m:t>
                      </m:r>
                      <m:r>
                        <a:rPr kumimoji="0" lang="es-ES" sz="2400" b="1" i="1" u="none" strike="noStrike" cap="none" spc="0" normalizeH="0" baseline="0" smtClean="0">
                          <a:ln>
                            <a:noFill/>
                          </a:ln>
                          <a:solidFill>
                            <a:schemeClr val="bg1"/>
                          </a:solidFill>
                          <a:effectLst/>
                          <a:uFillTx/>
                          <a:latin typeface="Cambria Math" panose="02040503050406030204" pitchFamily="18" charset="0"/>
                          <a:ea typeface="Cambria Math" panose="02040503050406030204" pitchFamily="18" charset="0"/>
                          <a:sym typeface="Calibri"/>
                        </a:rPr>
                        <m:t>𝑷</m:t>
                      </m:r>
                      <m:r>
                        <a:rPr kumimoji="0" lang="es-ES" sz="2400" b="1" i="1" u="none" strike="noStrike" cap="none" spc="0" normalizeH="0" baseline="0" smtClean="0">
                          <a:ln>
                            <a:noFill/>
                          </a:ln>
                          <a:solidFill>
                            <a:schemeClr val="bg1"/>
                          </a:solidFill>
                          <a:effectLst/>
                          <a:uFillTx/>
                          <a:latin typeface="Cambria Math" panose="02040503050406030204" pitchFamily="18" charset="0"/>
                          <a:ea typeface="Cambria Math" panose="02040503050406030204" pitchFamily="18" charset="0"/>
                          <a:sym typeface="Calibri"/>
                        </a:rPr>
                        <m:t>(</m:t>
                      </m:r>
                      <m:r>
                        <a:rPr kumimoji="0" lang="es-ES" sz="2400" b="1" i="1" u="none" strike="noStrike" cap="none" spc="0" normalizeH="0" baseline="0" smtClean="0">
                          <a:ln>
                            <a:noFill/>
                          </a:ln>
                          <a:solidFill>
                            <a:schemeClr val="bg1"/>
                          </a:solidFill>
                          <a:effectLst/>
                          <a:uFillTx/>
                          <a:latin typeface="Cambria Math" panose="02040503050406030204" pitchFamily="18" charset="0"/>
                          <a:ea typeface="Cambria Math" panose="02040503050406030204" pitchFamily="18" charset="0"/>
                          <a:sym typeface="Calibri"/>
                        </a:rPr>
                        <m:t>𝑿</m:t>
                      </m:r>
                      <m:r>
                        <a:rPr kumimoji="0" lang="es-ES" sz="2400" b="1" i="1" u="none" strike="noStrike" cap="none" spc="0" normalizeH="0" baseline="0" smtClean="0">
                          <a:ln>
                            <a:noFill/>
                          </a:ln>
                          <a:solidFill>
                            <a:schemeClr val="bg1"/>
                          </a:solidFill>
                          <a:effectLst/>
                          <a:uFillTx/>
                          <a:latin typeface="Cambria Math" panose="02040503050406030204" pitchFamily="18" charset="0"/>
                          <a:ea typeface="Cambria Math" panose="02040503050406030204" pitchFamily="18" charset="0"/>
                          <a:sym typeface="Calibri"/>
                        </a:rPr>
                        <m:t>=</m:t>
                      </m:r>
                      <m:r>
                        <a:rPr kumimoji="0" lang="es-ES" sz="2400" b="1" i="1" u="none" strike="noStrike" cap="none" spc="0" normalizeH="0" baseline="0" smtClean="0">
                          <a:ln>
                            <a:noFill/>
                          </a:ln>
                          <a:solidFill>
                            <a:schemeClr val="bg1"/>
                          </a:solidFill>
                          <a:effectLst/>
                          <a:uFillTx/>
                          <a:latin typeface="Cambria Math" panose="02040503050406030204" pitchFamily="18" charset="0"/>
                          <a:ea typeface="Cambria Math" panose="02040503050406030204" pitchFamily="18" charset="0"/>
                          <a:sym typeface="Calibri"/>
                        </a:rPr>
                        <m:t>𝒙</m:t>
                      </m:r>
                      <m:r>
                        <a:rPr kumimoji="0" lang="es-ES" sz="2400" b="1" i="1" u="none" strike="noStrike" cap="none" spc="0" normalizeH="0" baseline="0" smtClean="0">
                          <a:ln>
                            <a:noFill/>
                          </a:ln>
                          <a:solidFill>
                            <a:schemeClr val="bg1"/>
                          </a:solidFill>
                          <a:effectLst/>
                          <a:uFillTx/>
                          <a:latin typeface="Cambria Math" panose="02040503050406030204" pitchFamily="18" charset="0"/>
                          <a:ea typeface="Cambria Math" panose="02040503050406030204" pitchFamily="18" charset="0"/>
                          <a:sym typeface="Calibri"/>
                        </a:rPr>
                        <m:t>)</m:t>
                      </m:r>
                    </m:oMath>
                  </m:oMathPara>
                </a14:m>
                <a:endParaRPr kumimoji="0" lang="es-ES" sz="2400" b="1" i="0" u="none" strike="noStrike" cap="none" spc="0" normalizeH="0" baseline="0" dirty="0">
                  <a:ln>
                    <a:noFill/>
                  </a:ln>
                  <a:solidFill>
                    <a:schemeClr val="bg1"/>
                  </a:solidFill>
                  <a:effectLst/>
                  <a:uFillTx/>
                  <a:ea typeface="Cambria Math" panose="02040503050406030204" pitchFamily="18" charset="0"/>
                  <a:sym typeface="Calibri"/>
                </a:endParaRPr>
              </a:p>
            </p:txBody>
          </p:sp>
        </mc:Choice>
        <mc:Fallback xmlns="">
          <p:sp>
            <p:nvSpPr>
              <p:cNvPr id="6" name="CuadroTexto 5">
                <a:extLst>
                  <a:ext uri="{FF2B5EF4-FFF2-40B4-BE49-F238E27FC236}">
                    <a16:creationId xmlns:a16="http://schemas.microsoft.com/office/drawing/2014/main" id="{F9F6C81F-B16A-0799-D1D9-F08E820A08FD}"/>
                  </a:ext>
                </a:extLst>
              </p:cNvPr>
              <p:cNvSpPr txBox="1">
                <a:spLocks noRot="1" noChangeAspect="1" noMove="1" noResize="1" noEditPoints="1" noAdjustHandles="1" noChangeArrowheads="1" noChangeShapeType="1" noTextEdit="1"/>
              </p:cNvSpPr>
              <p:nvPr/>
            </p:nvSpPr>
            <p:spPr>
              <a:xfrm>
                <a:off x="4242583" y="3126066"/>
                <a:ext cx="2835807" cy="738664"/>
              </a:xfrm>
              <a:prstGeom prst="rect">
                <a:avLst/>
              </a:prstGeom>
              <a:blipFill>
                <a:blip r:embed="rId3"/>
                <a:stretch>
                  <a:fillRect b="-16529"/>
                </a:stretch>
              </a:blipFill>
              <a:ln w="12700" cap="flat">
                <a:noFill/>
                <a:miter lim="400000"/>
              </a:ln>
              <a:effectLst/>
            </p:spPr>
            <p:txBody>
              <a:bodyPr/>
              <a:lstStyle/>
              <a:p>
                <a:r>
                  <a:rPr lang="es-CL">
                    <a:noFill/>
                  </a:rPr>
                  <a:t> </a:t>
                </a:r>
              </a:p>
            </p:txBody>
          </p:sp>
        </mc:Fallback>
      </mc:AlternateContent>
    </p:spTree>
    <p:extLst>
      <p:ext uri="{BB962C8B-B14F-4D97-AF65-F5344CB8AC3E}">
        <p14:creationId xmlns:p14="http://schemas.microsoft.com/office/powerpoint/2010/main" val="145364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457200" y="757646"/>
            <a:ext cx="11277600" cy="5644409"/>
          </a:xfrm>
          <a:prstGeom prst="roundRect">
            <a:avLst>
              <a:gd name="adj" fmla="val 2971"/>
            </a:avLst>
          </a:prstGeom>
          <a:gradFill flip="none" rotWithShape="1">
            <a:gsLst>
              <a:gs pos="0">
                <a:srgbClr val="7A2B65">
                  <a:shade val="30000"/>
                  <a:satMod val="115000"/>
                </a:srgbClr>
              </a:gs>
              <a:gs pos="50000">
                <a:srgbClr val="7A2B65">
                  <a:shade val="67500"/>
                  <a:satMod val="115000"/>
                </a:srgbClr>
              </a:gs>
              <a:gs pos="100000">
                <a:srgbClr val="7A2B6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6" name="Rectángulo redondeado 4">
            <a:extLst>
              <a:ext uri="{FF2B5EF4-FFF2-40B4-BE49-F238E27FC236}">
                <a16:creationId xmlns:a16="http://schemas.microsoft.com/office/drawing/2014/main" id="{EEF64A50-BFC1-6219-5B5B-FB92BB3A07A2}"/>
              </a:ext>
            </a:extLst>
          </p:cNvPr>
          <p:cNvSpPr/>
          <p:nvPr/>
        </p:nvSpPr>
        <p:spPr>
          <a:xfrm>
            <a:off x="600678" y="3572556"/>
            <a:ext cx="11034851" cy="2735317"/>
          </a:xfrm>
          <a:prstGeom prst="roundRect">
            <a:avLst>
              <a:gd name="adj" fmla="val 2971"/>
            </a:avLst>
          </a:prstGeom>
          <a:solidFill>
            <a:schemeClr val="bg1"/>
          </a:solidFill>
          <a:ln w="38100">
            <a:solidFill>
              <a:srgbClr val="7A2B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3" name="Título 1"/>
          <p:cNvSpPr txBox="1">
            <a:spLocks/>
          </p:cNvSpPr>
          <p:nvPr/>
        </p:nvSpPr>
        <p:spPr bwMode="auto">
          <a:xfrm>
            <a:off x="888274" y="182880"/>
            <a:ext cx="10598876" cy="480584"/>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Variables Numéricas</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600678" y="914305"/>
            <a:ext cx="10973013" cy="2585323"/>
          </a:xfrm>
          <a:prstGeom prst="rect">
            <a:avLst/>
          </a:prstGeom>
          <a:noFill/>
          <a:ln>
            <a:noFill/>
          </a:ln>
        </p:spPr>
        <p:txBody>
          <a:bodyPr wrap="square" lIns="91440" tIns="45720" rIns="91440" bIns="45720" rtlCol="0" anchor="t">
            <a:spAutoFit/>
          </a:bodyPr>
          <a:lstStyle/>
          <a:p>
            <a:pPr marL="285750" indent="-285750" algn="just">
              <a:buFont typeface="Arial" panose="020B0604020202020204" pitchFamily="34" charset="0"/>
              <a:buChar char="•"/>
            </a:pPr>
            <a:r>
              <a:rPr lang="es-ES" dirty="0">
                <a:solidFill>
                  <a:schemeClr val="bg1"/>
                </a:solidFill>
                <a:latin typeface="+mn-lt"/>
                <a:ea typeface="Source Sans Pro"/>
              </a:rPr>
              <a:t>Las distribuciones de probabilidad se pueden separar en dos grandes tipos: las distribuciones discretas y las distribuciones continuas.</a:t>
            </a:r>
          </a:p>
          <a:p>
            <a:pPr marL="285750" indent="-285750" algn="just">
              <a:buFont typeface="Arial" panose="020B0604020202020204" pitchFamily="34" charset="0"/>
              <a:buChar char="•"/>
            </a:pPr>
            <a:endParaRPr lang="es-ES" dirty="0">
              <a:solidFill>
                <a:schemeClr val="bg1"/>
              </a:solidFill>
              <a:latin typeface="+mn-lt"/>
              <a:ea typeface="Source Sans Pro"/>
            </a:endParaRPr>
          </a:p>
          <a:p>
            <a:pPr marL="285750" indent="-285750" algn="just">
              <a:buFont typeface="Arial" panose="020B0604020202020204" pitchFamily="34" charset="0"/>
              <a:buChar char="•"/>
            </a:pPr>
            <a:r>
              <a:rPr lang="es-ES" b="1" dirty="0">
                <a:solidFill>
                  <a:schemeClr val="bg1"/>
                </a:solidFill>
                <a:effectLst>
                  <a:outerShdw blurRad="38100" dist="38100" dir="2700000" algn="tl">
                    <a:srgbClr val="000000">
                      <a:alpha val="43137"/>
                    </a:srgbClr>
                  </a:outerShdw>
                </a:effectLst>
                <a:latin typeface="+mn-lt"/>
                <a:ea typeface="Source Sans Pro"/>
              </a:rPr>
              <a:t>Distribución de probabilidad discreta</a:t>
            </a:r>
            <a:r>
              <a:rPr lang="es-ES" b="1" dirty="0">
                <a:solidFill>
                  <a:schemeClr val="bg1"/>
                </a:solidFill>
                <a:latin typeface="+mn-lt"/>
                <a:ea typeface="Source Sans Pro"/>
              </a:rPr>
              <a:t>: </a:t>
            </a:r>
            <a:r>
              <a:rPr lang="es-ES" dirty="0">
                <a:solidFill>
                  <a:schemeClr val="bg1"/>
                </a:solidFill>
                <a:latin typeface="+mn-lt"/>
                <a:ea typeface="Source Sans Pro"/>
              </a:rPr>
              <a:t>la distribución solo puede tomar un número contable de valores dentro de un intervalo. Normalmente, las distribuciones de probabilidad discretas solo pueden tomar valores enteros, es decir, que no tienen decimales.</a:t>
            </a:r>
          </a:p>
          <a:p>
            <a:pPr marL="285750" indent="-285750" algn="just">
              <a:buFont typeface="Arial" panose="020B0604020202020204" pitchFamily="34" charset="0"/>
              <a:buChar char="•"/>
            </a:pPr>
            <a:endParaRPr lang="es-ES" dirty="0">
              <a:solidFill>
                <a:schemeClr val="bg1"/>
              </a:solidFill>
              <a:latin typeface="+mn-lt"/>
              <a:ea typeface="Source Sans Pro"/>
            </a:endParaRPr>
          </a:p>
          <a:p>
            <a:pPr marL="285750" indent="-285750" algn="just">
              <a:buFont typeface="Arial" panose="020B0604020202020204" pitchFamily="34" charset="0"/>
              <a:buChar char="•"/>
            </a:pPr>
            <a:r>
              <a:rPr lang="es-ES" b="1" dirty="0">
                <a:solidFill>
                  <a:schemeClr val="bg1"/>
                </a:solidFill>
                <a:effectLst>
                  <a:outerShdw blurRad="38100" dist="38100" dir="2700000" algn="tl">
                    <a:srgbClr val="000000">
                      <a:alpha val="43137"/>
                    </a:srgbClr>
                  </a:outerShdw>
                </a:effectLst>
                <a:latin typeface="+mn-lt"/>
                <a:ea typeface="Source Sans Pro"/>
              </a:rPr>
              <a:t>Distribución de probabilidad continua</a:t>
            </a:r>
            <a:r>
              <a:rPr lang="es-ES" b="1" dirty="0">
                <a:solidFill>
                  <a:schemeClr val="bg1"/>
                </a:solidFill>
                <a:latin typeface="+mn-lt"/>
                <a:ea typeface="Source Sans Pro"/>
              </a:rPr>
              <a:t>: </a:t>
            </a:r>
            <a:r>
              <a:rPr lang="es-ES" dirty="0">
                <a:solidFill>
                  <a:schemeClr val="bg1"/>
                </a:solidFill>
                <a:latin typeface="+mn-lt"/>
                <a:ea typeface="Source Sans Pro"/>
              </a:rPr>
              <a:t>la distribución puede tomar un número infinito de valores dentro de un intervalo. En general, las distribuciones de probabilidad continuas pueden tomar valores decimales.</a:t>
            </a:r>
          </a:p>
        </p:txBody>
      </p:sp>
      <p:pic>
        <p:nvPicPr>
          <p:cNvPr id="5" name="Imagen 4">
            <a:extLst>
              <a:ext uri="{FF2B5EF4-FFF2-40B4-BE49-F238E27FC236}">
                <a16:creationId xmlns:a16="http://schemas.microsoft.com/office/drawing/2014/main" id="{A86FD0D4-0FB9-3365-6DE3-BABC37B4891F}"/>
              </a:ext>
            </a:extLst>
          </p:cNvPr>
          <p:cNvPicPr>
            <a:picLocks noChangeAspect="1"/>
          </p:cNvPicPr>
          <p:nvPr/>
        </p:nvPicPr>
        <p:blipFill>
          <a:blip r:embed="rId2"/>
          <a:stretch>
            <a:fillRect/>
          </a:stretch>
        </p:blipFill>
        <p:spPr>
          <a:xfrm>
            <a:off x="3169003" y="3969766"/>
            <a:ext cx="5853994" cy="2100625"/>
          </a:xfrm>
          <a:prstGeom prst="rect">
            <a:avLst/>
          </a:prstGeom>
        </p:spPr>
      </p:pic>
    </p:spTree>
    <p:extLst>
      <p:ext uri="{BB962C8B-B14F-4D97-AF65-F5344CB8AC3E}">
        <p14:creationId xmlns:p14="http://schemas.microsoft.com/office/powerpoint/2010/main" val="1007741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redondeado 4">
            <a:extLst>
              <a:ext uri="{FF2B5EF4-FFF2-40B4-BE49-F238E27FC236}">
                <a16:creationId xmlns:a16="http://schemas.microsoft.com/office/drawing/2014/main" id="{EEF64A50-BFC1-6219-5B5B-FB92BB3A07A2}"/>
              </a:ext>
            </a:extLst>
          </p:cNvPr>
          <p:cNvSpPr/>
          <p:nvPr/>
        </p:nvSpPr>
        <p:spPr>
          <a:xfrm>
            <a:off x="1384662" y="1075117"/>
            <a:ext cx="9370423" cy="5314253"/>
          </a:xfrm>
          <a:prstGeom prst="roundRect">
            <a:avLst>
              <a:gd name="adj" fmla="val 2971"/>
            </a:avLst>
          </a:prstGeom>
          <a:solidFill>
            <a:schemeClr val="bg1"/>
          </a:solidFill>
          <a:ln w="38100">
            <a:solidFill>
              <a:srgbClr val="7A2B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3" name="Título 1"/>
          <p:cNvSpPr txBox="1">
            <a:spLocks/>
          </p:cNvSpPr>
          <p:nvPr/>
        </p:nvSpPr>
        <p:spPr bwMode="auto">
          <a:xfrm>
            <a:off x="1479911" y="160262"/>
            <a:ext cx="9275174"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Distribuciones de Probabilidad</a:t>
            </a:r>
            <a:endParaRPr lang="es-MX" sz="3200" dirty="0">
              <a:solidFill>
                <a:schemeClr val="bg1">
                  <a:lumMod val="50000"/>
                </a:schemeClr>
              </a:solidFill>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E540EA07-BAC1-8474-9F4D-65F962B3F2A2}"/>
              </a:ext>
            </a:extLst>
          </p:cNvPr>
          <p:cNvPicPr>
            <a:picLocks noChangeAspect="1"/>
          </p:cNvPicPr>
          <p:nvPr/>
        </p:nvPicPr>
        <p:blipFill>
          <a:blip r:embed="rId2"/>
          <a:stretch>
            <a:fillRect/>
          </a:stretch>
        </p:blipFill>
        <p:spPr>
          <a:xfrm>
            <a:off x="2711461" y="1261530"/>
            <a:ext cx="6769077" cy="4941426"/>
          </a:xfrm>
          <a:prstGeom prst="rect">
            <a:avLst/>
          </a:prstGeom>
        </p:spPr>
      </p:pic>
    </p:spTree>
    <p:extLst>
      <p:ext uri="{BB962C8B-B14F-4D97-AF65-F5344CB8AC3E}">
        <p14:creationId xmlns:p14="http://schemas.microsoft.com/office/powerpoint/2010/main" val="3856608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redondeado 4">
            <a:extLst>
              <a:ext uri="{FF2B5EF4-FFF2-40B4-BE49-F238E27FC236}">
                <a16:creationId xmlns:a16="http://schemas.microsoft.com/office/drawing/2014/main" id="{EEF64A50-BFC1-6219-5B5B-FB92BB3A07A2}"/>
              </a:ext>
            </a:extLst>
          </p:cNvPr>
          <p:cNvSpPr/>
          <p:nvPr/>
        </p:nvSpPr>
        <p:spPr>
          <a:xfrm>
            <a:off x="240574" y="1075117"/>
            <a:ext cx="11658600" cy="5227123"/>
          </a:xfrm>
          <a:prstGeom prst="roundRect">
            <a:avLst>
              <a:gd name="adj" fmla="val 2971"/>
            </a:avLst>
          </a:prstGeom>
          <a:solidFill>
            <a:schemeClr val="bg1"/>
          </a:solidFill>
          <a:ln w="38100">
            <a:solidFill>
              <a:srgbClr val="7A2B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3" name="Título 1"/>
          <p:cNvSpPr txBox="1">
            <a:spLocks/>
          </p:cNvSpPr>
          <p:nvPr/>
        </p:nvSpPr>
        <p:spPr bwMode="auto">
          <a:xfrm>
            <a:off x="704850" y="67055"/>
            <a:ext cx="10782300"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¿Cómo elegir la mejor distribución?</a:t>
            </a:r>
            <a:endParaRPr lang="es-MX" sz="3200" dirty="0">
              <a:solidFill>
                <a:schemeClr val="bg1">
                  <a:lumMod val="50000"/>
                </a:schemeClr>
              </a:solidFill>
              <a:latin typeface="Arial" panose="020B0604020202020204" pitchFamily="34" charset="0"/>
              <a:cs typeface="Arial" panose="020B0604020202020204" pitchFamily="34" charset="0"/>
            </a:endParaRPr>
          </a:p>
        </p:txBody>
      </p:sp>
      <p:pic>
        <p:nvPicPr>
          <p:cNvPr id="4" name="Imagen 3" descr="Diagrama&#10;&#10;Descripción generada automáticamente">
            <a:extLst>
              <a:ext uri="{FF2B5EF4-FFF2-40B4-BE49-F238E27FC236}">
                <a16:creationId xmlns:a16="http://schemas.microsoft.com/office/drawing/2014/main" id="{D9ADCF1D-2B91-FBDB-7F1E-E8986AFEFE97}"/>
              </a:ext>
            </a:extLst>
          </p:cNvPr>
          <p:cNvPicPr>
            <a:picLocks noChangeAspect="1"/>
          </p:cNvPicPr>
          <p:nvPr/>
        </p:nvPicPr>
        <p:blipFill>
          <a:blip r:embed="rId2"/>
          <a:stretch>
            <a:fillRect/>
          </a:stretch>
        </p:blipFill>
        <p:spPr>
          <a:xfrm>
            <a:off x="805543" y="1259739"/>
            <a:ext cx="10678886" cy="4871922"/>
          </a:xfrm>
          <a:prstGeom prst="rect">
            <a:avLst/>
          </a:prstGeom>
        </p:spPr>
      </p:pic>
    </p:spTree>
    <p:extLst>
      <p:ext uri="{BB962C8B-B14F-4D97-AF65-F5344CB8AC3E}">
        <p14:creationId xmlns:p14="http://schemas.microsoft.com/office/powerpoint/2010/main" val="554561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redondeado 8"/>
          <p:cNvSpPr/>
          <p:nvPr/>
        </p:nvSpPr>
        <p:spPr>
          <a:xfrm>
            <a:off x="-749030" y="3132234"/>
            <a:ext cx="7964307" cy="894946"/>
          </a:xfrm>
          <a:prstGeom prst="roundRect">
            <a:avLst>
              <a:gd name="adj" fmla="val 2778"/>
            </a:avLst>
          </a:prstGeom>
          <a:gradFill flip="none" rotWithShape="1">
            <a:gsLst>
              <a:gs pos="0">
                <a:srgbClr val="732C61">
                  <a:shade val="30000"/>
                  <a:satMod val="115000"/>
                </a:srgbClr>
              </a:gs>
              <a:gs pos="50000">
                <a:srgbClr val="732C61">
                  <a:shade val="67500"/>
                  <a:satMod val="115000"/>
                </a:srgbClr>
              </a:gs>
              <a:gs pos="100000">
                <a:srgbClr val="732C61">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s-ES_trad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ítulo 1"/>
          <p:cNvSpPr txBox="1">
            <a:spLocks/>
          </p:cNvSpPr>
          <p:nvPr/>
        </p:nvSpPr>
        <p:spPr bwMode="auto">
          <a:xfrm>
            <a:off x="2768633" y="2835053"/>
            <a:ext cx="4446644" cy="1489308"/>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36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Dudas y consultas</a:t>
            </a:r>
          </a:p>
        </p:txBody>
      </p:sp>
    </p:spTree>
    <p:extLst>
      <p:ext uri="{BB962C8B-B14F-4D97-AF65-F5344CB8AC3E}">
        <p14:creationId xmlns:p14="http://schemas.microsoft.com/office/powerpoint/2010/main" val="1033260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p:cNvSpPr txBox="1">
            <a:spLocks/>
          </p:cNvSpPr>
          <p:nvPr/>
        </p:nvSpPr>
        <p:spPr bwMode="auto">
          <a:xfrm>
            <a:off x="462603" y="2924969"/>
            <a:ext cx="10782300" cy="1008062"/>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s-ES" sz="36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Source Sans Pro"/>
                <a:cs typeface="Arial" panose="020B0604020202020204" pitchFamily="34" charset="0"/>
              </a:rPr>
              <a:t>Fin presentación</a:t>
            </a:r>
          </a:p>
        </p:txBody>
      </p:sp>
    </p:spTree>
    <p:extLst>
      <p:ext uri="{BB962C8B-B14F-4D97-AF65-F5344CB8AC3E}">
        <p14:creationId xmlns:p14="http://schemas.microsoft.com/office/powerpoint/2010/main" val="2938438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C9CD3420DD7C44287EDEB9C6D6708D7" ma:contentTypeVersion="15" ma:contentTypeDescription="Crear nuevo documento." ma:contentTypeScope="" ma:versionID="f7a9dcde27c9264a09c73004259269f1">
  <xsd:schema xmlns:xsd="http://www.w3.org/2001/XMLSchema" xmlns:xs="http://www.w3.org/2001/XMLSchema" xmlns:p="http://schemas.microsoft.com/office/2006/metadata/properties" xmlns:ns2="470d2f17-52cb-407b-8136-5e632d1cee08" xmlns:ns3="6171001b-fa9d-409b-8713-8b6a17935d68" targetNamespace="http://schemas.microsoft.com/office/2006/metadata/properties" ma:root="true" ma:fieldsID="674b5fe278d71baa753a58252eaf8fe3" ns2:_="" ns3:_="">
    <xsd:import namespace="470d2f17-52cb-407b-8136-5e632d1cee08"/>
    <xsd:import namespace="6171001b-fa9d-409b-8713-8b6a17935d6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TaxCatchAll" minOccurs="0"/>
                <xsd:element ref="ns2:MediaServiceGenerationTime" minOccurs="0"/>
                <xsd:element ref="ns2:MediaServiceEventHashCode" minOccurs="0"/>
                <xsd:element ref="ns2:lcf76f155ced4ddcb4097134ff3c332f" minOccurs="0"/>
                <xsd:element ref="ns2:MediaServiceOCR"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0d2f17-52cb-407b-8136-5e632d1cee0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5ecad781-11e1-4240-b729-e370ca3e03e9"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171001b-fa9d-409b-8713-8b6a17935d68"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626c5a85-e9ed-4a7d-a8f2-1ac62c4b72da}" ma:internalName="TaxCatchAll" ma:showField="CatchAllData" ma:web="6171001b-fa9d-409b-8713-8b6a17935d68">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6171001b-fa9d-409b-8713-8b6a17935d68"/>
    <lcf76f155ced4ddcb4097134ff3c332f xmlns="470d2f17-52cb-407b-8136-5e632d1cee08">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D405DB1-990F-4DDD-81A1-478BCA203F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0d2f17-52cb-407b-8136-5e632d1cee08"/>
    <ds:schemaRef ds:uri="6171001b-fa9d-409b-8713-8b6a17935d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E26BDBF-E58D-4DAC-8738-D11056BF4C72}">
  <ds:schemaRefs>
    <ds:schemaRef ds:uri="http://purl.org/dc/terms/"/>
    <ds:schemaRef ds:uri="470d2f17-52cb-407b-8136-5e632d1cee08"/>
    <ds:schemaRef ds:uri="http://schemas.microsoft.com/office/infopath/2007/PartnerControls"/>
    <ds:schemaRef ds:uri="http://purl.org/dc/elements/1.1/"/>
    <ds:schemaRef ds:uri="http://schemas.microsoft.com/office/2006/documentManagement/types"/>
    <ds:schemaRef ds:uri="6171001b-fa9d-409b-8713-8b6a17935d68"/>
    <ds:schemaRef ds:uri="http://purl.org/dc/dcmitype/"/>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89B05674-0616-4E66-A9FD-3C514085E54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8357</TotalTime>
  <Words>530</Words>
  <Application>Microsoft Office PowerPoint</Application>
  <PresentationFormat>Panorámica</PresentationFormat>
  <Paragraphs>61</Paragraphs>
  <Slides>14</Slides>
  <Notes>0</Notes>
  <HiddenSlides>0</HiddenSlides>
  <MMClips>0</MMClips>
  <ScaleCrop>false</ScaleCrop>
  <HeadingPairs>
    <vt:vector size="4" baseType="variant">
      <vt:variant>
        <vt:lpstr>Tema</vt:lpstr>
      </vt:variant>
      <vt:variant>
        <vt:i4>2</vt:i4>
      </vt:variant>
      <vt:variant>
        <vt:lpstr>Títulos de diapositiva</vt:lpstr>
      </vt:variant>
      <vt:variant>
        <vt:i4>14</vt:i4>
      </vt:variant>
    </vt:vector>
  </HeadingPairs>
  <TitlesOfParts>
    <vt:vector size="16" baseType="lpstr">
      <vt:lpstr>Tema de Office</vt:lpstr>
      <vt:lpstr>1_Tema de Office</vt:lpstr>
      <vt:lpstr> Distribución de Probabilidad</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Kibernum</dc:creator>
  <cp:lastModifiedBy>kibernum</cp:lastModifiedBy>
  <cp:revision>257</cp:revision>
  <dcterms:created xsi:type="dcterms:W3CDTF">2023-01-03T12:28:26Z</dcterms:created>
  <dcterms:modified xsi:type="dcterms:W3CDTF">2025-09-26T11:48:51Z</dcterms:modified>
</cp:coreProperties>
</file>