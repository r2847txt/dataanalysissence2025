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sldIdLst>
    <p:sldId id="562" r:id="rId5"/>
    <p:sldId id="741" r:id="rId6"/>
    <p:sldId id="595" r:id="rId7"/>
    <p:sldId id="737" r:id="rId8"/>
    <p:sldId id="740" r:id="rId9"/>
    <p:sldId id="738" r:id="rId10"/>
    <p:sldId id="742" r:id="rId11"/>
  </p:sldIdLst>
  <p:sldSz cx="12192000" cy="6858000"/>
  <p:notesSz cx="6858000" cy="9144000"/>
  <p:defaultTextStyle>
    <a:defPPr>
      <a:defRPr lang="es-ES_tradnl"/>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8CAE"/>
    <a:srgbClr val="98C340"/>
    <a:srgbClr val="F6A120"/>
    <a:srgbClr val="FD0075"/>
    <a:srgbClr val="252526"/>
    <a:srgbClr val="383838"/>
    <a:srgbClr val="1E1E1E"/>
    <a:srgbClr val="000000"/>
    <a:srgbClr val="4E7FDE"/>
    <a:srgbClr val="006B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E3C531-C4A8-A753-DACA-85963B2FA4A2}" v="4" dt="2025-09-26T11:52:16.864"/>
  </p1510:revLst>
</p1510:revInfo>
</file>

<file path=ppt/tableStyles.xml><?xml version="1.0" encoding="utf-8"?>
<a:tblStyleLst xmlns:a="http://schemas.openxmlformats.org/drawingml/2006/main" def="{5C22544A-7EE6-4342-B048-85BDC9FD1C3A}">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91" autoAdjust="0"/>
    <p:restoredTop sz="96395" autoAdjust="0"/>
  </p:normalViewPr>
  <p:slideViewPr>
    <p:cSldViewPr snapToGrid="0">
      <p:cViewPr varScale="1">
        <p:scale>
          <a:sx n="76" d="100"/>
          <a:sy n="76" d="100"/>
        </p:scale>
        <p:origin x="114" y="31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BDE3C531-C4A8-A753-DACA-85963B2FA4A2}"/>
    <pc:docChg chg="modSld">
      <pc:chgData name="Soraya Salazar" userId="S::soraya.salazar@kibernumacademy.com::fdf00a5c-f577-43dc-8064-9968cad83607" providerId="AD" clId="Web-{BDE3C531-C4A8-A753-DACA-85963B2FA4A2}" dt="2025-09-26T11:52:16.864" v="1"/>
      <pc:docMkLst>
        <pc:docMk/>
      </pc:docMkLst>
      <pc:sldChg chg="delSp modSp">
        <pc:chgData name="Soraya Salazar" userId="S::soraya.salazar@kibernumacademy.com::fdf00a5c-f577-43dc-8064-9968cad83607" providerId="AD" clId="Web-{BDE3C531-C4A8-A753-DACA-85963B2FA4A2}" dt="2025-09-26T11:52:16.864" v="1"/>
        <pc:sldMkLst>
          <pc:docMk/>
          <pc:sldMk cId="1998777028" sldId="562"/>
        </pc:sldMkLst>
        <pc:spChg chg="del">
          <ac:chgData name="Soraya Salazar" userId="S::soraya.salazar@kibernumacademy.com::fdf00a5c-f577-43dc-8064-9968cad83607" providerId="AD" clId="Web-{BDE3C531-C4A8-A753-DACA-85963B2FA4A2}" dt="2025-09-26T11:52:16.864" v="1"/>
          <ac:spMkLst>
            <pc:docMk/>
            <pc:sldMk cId="1998777028" sldId="562"/>
            <ac:spMk id="8" creationId="{00000000-0000-0000-0000-000000000000}"/>
          </ac:spMkLst>
        </pc:spChg>
        <pc:spChg chg="mod">
          <ac:chgData name="Soraya Salazar" userId="S::soraya.salazar@kibernumacademy.com::fdf00a5c-f577-43dc-8064-9968cad83607" providerId="AD" clId="Web-{BDE3C531-C4A8-A753-DACA-85963B2FA4A2}" dt="2025-09-26T11:52:14.238" v="0" actId="20577"/>
          <ac:spMkLst>
            <pc:docMk/>
            <pc:sldMk cId="1998777028" sldId="562"/>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B214ECDC-27AA-4BAE-B04E-533364742B70}" type="datetimeFigureOut">
              <a:rPr lang="es-ES_tradnl"/>
              <a:pPr>
                <a:defRPr/>
              </a:pPr>
              <a:t>26/09/2025</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s-ES_tradnl"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noProof="0"/>
              <a:t>Editar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_tradnl" noProof="0"/>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661DC0F2-0470-49B2-BD20-1BE6BAB0CFEB}" type="slidenum">
              <a:rPr lang="es-ES_tradnl" altLang="es-CL"/>
              <a:pPr/>
              <a:t>‹Nº›</a:t>
            </a:fld>
            <a:endParaRPr lang="es-ES_tradnl" altLang="es-CL"/>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S_tradnl"/>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ES_tradnl"/>
          </a:p>
        </p:txBody>
      </p:sp>
      <p:sp>
        <p:nvSpPr>
          <p:cNvPr id="4" name="Marcador de fecha 3"/>
          <p:cNvSpPr>
            <a:spLocks noGrp="1"/>
          </p:cNvSpPr>
          <p:nvPr>
            <p:ph type="dt" sz="half" idx="10"/>
          </p:nvPr>
        </p:nvSpPr>
        <p:spPr/>
        <p:txBody>
          <a:bodyPr/>
          <a:lstStyle>
            <a:lvl1pPr>
              <a:defRPr/>
            </a:lvl1pPr>
          </a:lstStyle>
          <a:p>
            <a:pPr>
              <a:defRPr/>
            </a:pPr>
            <a:fld id="{723CE86C-1FAA-476E-8610-6CF612D82F6D}"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17FDA0F7-3317-4A90-85A9-784F1E0F6A0E}" type="slidenum">
              <a:rPr lang="es-ES_tradnl" altLang="es-CL"/>
              <a:pPr/>
              <a:t>‹Nº›</a:t>
            </a:fld>
            <a:endParaRPr lang="es-ES_tradnl" altLang="es-CL"/>
          </a:p>
        </p:txBody>
      </p:sp>
    </p:spTree>
    <p:extLst>
      <p:ext uri="{BB962C8B-B14F-4D97-AF65-F5344CB8AC3E}">
        <p14:creationId xmlns:p14="http://schemas.microsoft.com/office/powerpoint/2010/main" val="269372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E95A1AB2-ABDE-4AA7-B0BA-B4771DBF257E}"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35CBBCA2-D1A3-4B4D-AC73-9D069169A434}" type="slidenum">
              <a:rPr lang="es-ES_tradnl" altLang="es-CL"/>
              <a:pPr/>
              <a:t>‹Nº›</a:t>
            </a:fld>
            <a:endParaRPr lang="es-ES_tradnl" altLang="es-CL"/>
          </a:p>
        </p:txBody>
      </p:sp>
    </p:spTree>
    <p:extLst>
      <p:ext uri="{BB962C8B-B14F-4D97-AF65-F5344CB8AC3E}">
        <p14:creationId xmlns:p14="http://schemas.microsoft.com/office/powerpoint/2010/main" val="254672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lvl1pPr>
              <a:defRPr/>
            </a:lvl1pPr>
          </a:lstStyle>
          <a:p>
            <a:pPr>
              <a:defRPr/>
            </a:pPr>
            <a:fld id="{096A1A31-6B2F-42D4-9D8B-250D0522AC84}"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4248B1C2-5544-4117-B964-FFA2790965CB}" type="slidenum">
              <a:rPr lang="es-ES_tradnl" altLang="es-CL"/>
              <a:pPr/>
              <a:t>‹Nº›</a:t>
            </a:fld>
            <a:endParaRPr lang="es-ES_tradnl" altLang="es-CL"/>
          </a:p>
        </p:txBody>
      </p:sp>
    </p:spTree>
    <p:extLst>
      <p:ext uri="{BB962C8B-B14F-4D97-AF65-F5344CB8AC3E}">
        <p14:creationId xmlns:p14="http://schemas.microsoft.com/office/powerpoint/2010/main" val="4244721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fecha 3"/>
          <p:cNvSpPr>
            <a:spLocks noGrp="1"/>
          </p:cNvSpPr>
          <p:nvPr>
            <p:ph type="dt" sz="half" idx="10"/>
          </p:nvPr>
        </p:nvSpPr>
        <p:spPr/>
        <p:txBody>
          <a:bodyPr/>
          <a:lstStyle>
            <a:lvl1pPr>
              <a:defRPr/>
            </a:lvl1pPr>
          </a:lstStyle>
          <a:p>
            <a:pPr>
              <a:defRPr/>
            </a:pPr>
            <a:fld id="{5CC90434-FF42-4568-BAFD-14D07093E120}"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81203834-0EF4-4D06-A8D3-876274F5BE0F}" type="slidenum">
              <a:rPr lang="es-ES_tradnl" altLang="es-CL"/>
              <a:pPr/>
              <a:t>‹Nº›</a:t>
            </a:fld>
            <a:endParaRPr lang="es-ES_tradnl" altLang="es-CL"/>
          </a:p>
        </p:txBody>
      </p:sp>
    </p:spTree>
    <p:extLst>
      <p:ext uri="{BB962C8B-B14F-4D97-AF65-F5344CB8AC3E}">
        <p14:creationId xmlns:p14="http://schemas.microsoft.com/office/powerpoint/2010/main" val="939723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Marcador de fecha 3"/>
          <p:cNvSpPr>
            <a:spLocks noGrp="1"/>
          </p:cNvSpPr>
          <p:nvPr>
            <p:ph type="dt" sz="half" idx="10"/>
          </p:nvPr>
        </p:nvSpPr>
        <p:spPr/>
        <p:txBody>
          <a:bodyPr/>
          <a:lstStyle>
            <a:lvl1pPr>
              <a:defRPr/>
            </a:lvl1pPr>
          </a:lstStyle>
          <a:p>
            <a:pPr>
              <a:defRPr/>
            </a:pPr>
            <a:fld id="{3AE415DC-2033-47BD-86E8-F874CF6E7C58}" type="datetimeFigureOut">
              <a:rPr lang="es-ES_tradnl"/>
              <a:pPr>
                <a:defRPr/>
              </a:pPr>
              <a:t>26/09/2025</a:t>
            </a:fld>
            <a:endParaRPr lang="es-ES_tradnl"/>
          </a:p>
        </p:txBody>
      </p:sp>
      <p:sp>
        <p:nvSpPr>
          <p:cNvPr id="8" name="Marcador de pie de página 4"/>
          <p:cNvSpPr>
            <a:spLocks noGrp="1"/>
          </p:cNvSpPr>
          <p:nvPr>
            <p:ph type="ftr" sz="quarter" idx="11"/>
          </p:nvPr>
        </p:nvSpPr>
        <p:spPr/>
        <p:txBody>
          <a:bodyPr/>
          <a:lstStyle>
            <a:lvl1pPr>
              <a:defRPr/>
            </a:lvl1pPr>
          </a:lstStyle>
          <a:p>
            <a:pPr>
              <a:defRPr/>
            </a:pPr>
            <a:endParaRPr lang="es-ES_tradnl"/>
          </a:p>
        </p:txBody>
      </p:sp>
      <p:sp>
        <p:nvSpPr>
          <p:cNvPr id="9" name="Marcador de número de diapositiva 5"/>
          <p:cNvSpPr>
            <a:spLocks noGrp="1"/>
          </p:cNvSpPr>
          <p:nvPr>
            <p:ph type="sldNum" sz="quarter" idx="12"/>
          </p:nvPr>
        </p:nvSpPr>
        <p:spPr/>
        <p:txBody>
          <a:bodyPr/>
          <a:lstStyle>
            <a:lvl1pPr>
              <a:defRPr/>
            </a:lvl1pPr>
          </a:lstStyle>
          <a:p>
            <a:fld id="{6A3AF083-3250-4136-BEB9-7AF9A938BA7A}" type="slidenum">
              <a:rPr lang="es-ES_tradnl" altLang="es-CL"/>
              <a:pPr/>
              <a:t>‹Nº›</a:t>
            </a:fld>
            <a:endParaRPr lang="es-ES_tradnl" altLang="es-CL"/>
          </a:p>
        </p:txBody>
      </p:sp>
    </p:spTree>
    <p:extLst>
      <p:ext uri="{BB962C8B-B14F-4D97-AF65-F5344CB8AC3E}">
        <p14:creationId xmlns:p14="http://schemas.microsoft.com/office/powerpoint/2010/main" val="3192155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fecha 3"/>
          <p:cNvSpPr>
            <a:spLocks noGrp="1"/>
          </p:cNvSpPr>
          <p:nvPr>
            <p:ph type="dt" sz="half" idx="10"/>
          </p:nvPr>
        </p:nvSpPr>
        <p:spPr/>
        <p:txBody>
          <a:bodyPr/>
          <a:lstStyle>
            <a:lvl1pPr>
              <a:defRPr/>
            </a:lvl1pPr>
          </a:lstStyle>
          <a:p>
            <a:pPr>
              <a:defRPr/>
            </a:pPr>
            <a:fld id="{688908FD-EE54-425E-B52D-A5E77FE0F4E1}" type="datetimeFigureOut">
              <a:rPr lang="es-ES_tradnl"/>
              <a:pPr>
                <a:defRPr/>
              </a:pPr>
              <a:t>26/09/2025</a:t>
            </a:fld>
            <a:endParaRPr lang="es-ES_tradnl"/>
          </a:p>
        </p:txBody>
      </p:sp>
      <p:sp>
        <p:nvSpPr>
          <p:cNvPr id="4" name="Marcador de pie de página 4"/>
          <p:cNvSpPr>
            <a:spLocks noGrp="1"/>
          </p:cNvSpPr>
          <p:nvPr>
            <p:ph type="ftr" sz="quarter" idx="11"/>
          </p:nvPr>
        </p:nvSpPr>
        <p:spPr/>
        <p:txBody>
          <a:bodyPr/>
          <a:lstStyle>
            <a:lvl1pPr>
              <a:defRPr/>
            </a:lvl1pPr>
          </a:lstStyle>
          <a:p>
            <a:pPr>
              <a:defRPr/>
            </a:pPr>
            <a:endParaRPr lang="es-ES_tradnl"/>
          </a:p>
        </p:txBody>
      </p:sp>
      <p:sp>
        <p:nvSpPr>
          <p:cNvPr id="5" name="Marcador de número de diapositiva 5"/>
          <p:cNvSpPr>
            <a:spLocks noGrp="1"/>
          </p:cNvSpPr>
          <p:nvPr>
            <p:ph type="sldNum" sz="quarter" idx="12"/>
          </p:nvPr>
        </p:nvSpPr>
        <p:spPr/>
        <p:txBody>
          <a:bodyPr/>
          <a:lstStyle>
            <a:lvl1pPr>
              <a:defRPr/>
            </a:lvl1pPr>
          </a:lstStyle>
          <a:p>
            <a:fld id="{59C4D746-ECE6-4F12-9BD7-02F1A03DE9BC}" type="slidenum">
              <a:rPr lang="es-ES_tradnl" altLang="es-CL"/>
              <a:pPr/>
              <a:t>‹Nº›</a:t>
            </a:fld>
            <a:endParaRPr lang="es-ES_tradnl" altLang="es-CL"/>
          </a:p>
        </p:txBody>
      </p:sp>
    </p:spTree>
    <p:extLst>
      <p:ext uri="{BB962C8B-B14F-4D97-AF65-F5344CB8AC3E}">
        <p14:creationId xmlns:p14="http://schemas.microsoft.com/office/powerpoint/2010/main" val="1155446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3"/>
          <p:cNvSpPr>
            <a:spLocks noGrp="1"/>
          </p:cNvSpPr>
          <p:nvPr>
            <p:ph type="dt" sz="half" idx="10"/>
          </p:nvPr>
        </p:nvSpPr>
        <p:spPr/>
        <p:txBody>
          <a:bodyPr/>
          <a:lstStyle>
            <a:lvl1pPr>
              <a:defRPr/>
            </a:lvl1pPr>
          </a:lstStyle>
          <a:p>
            <a:pPr>
              <a:defRPr/>
            </a:pPr>
            <a:fld id="{454B1D3B-28B6-43FE-A4A1-ACF50A9182C7}" type="datetimeFigureOut">
              <a:rPr lang="es-ES_tradnl"/>
              <a:pPr>
                <a:defRPr/>
              </a:pPr>
              <a:t>26/09/2025</a:t>
            </a:fld>
            <a:endParaRPr lang="es-ES_tradnl"/>
          </a:p>
        </p:txBody>
      </p:sp>
      <p:sp>
        <p:nvSpPr>
          <p:cNvPr id="3" name="Marcador de pie de página 4"/>
          <p:cNvSpPr>
            <a:spLocks noGrp="1"/>
          </p:cNvSpPr>
          <p:nvPr>
            <p:ph type="ftr" sz="quarter" idx="11"/>
          </p:nvPr>
        </p:nvSpPr>
        <p:spPr/>
        <p:txBody>
          <a:bodyPr/>
          <a:lstStyle>
            <a:lvl1pPr>
              <a:defRPr/>
            </a:lvl1pPr>
          </a:lstStyle>
          <a:p>
            <a:pPr>
              <a:defRPr/>
            </a:pPr>
            <a:endParaRPr lang="es-ES_tradnl"/>
          </a:p>
        </p:txBody>
      </p:sp>
      <p:sp>
        <p:nvSpPr>
          <p:cNvPr id="4" name="Marcador de número de diapositiva 5"/>
          <p:cNvSpPr>
            <a:spLocks noGrp="1"/>
          </p:cNvSpPr>
          <p:nvPr>
            <p:ph type="sldNum" sz="quarter" idx="12"/>
          </p:nvPr>
        </p:nvSpPr>
        <p:spPr/>
        <p:txBody>
          <a:bodyPr/>
          <a:lstStyle>
            <a:lvl1pPr>
              <a:defRPr/>
            </a:lvl1pPr>
          </a:lstStyle>
          <a:p>
            <a:fld id="{546EC160-BB17-4C5C-A913-243CEE97784F}" type="slidenum">
              <a:rPr lang="es-ES_tradnl" altLang="es-CL"/>
              <a:pPr/>
              <a:t>‹Nº›</a:t>
            </a:fld>
            <a:endParaRPr lang="es-ES_tradnl" altLang="es-CL"/>
          </a:p>
        </p:txBody>
      </p:sp>
    </p:spTree>
    <p:extLst>
      <p:ext uri="{BB962C8B-B14F-4D97-AF65-F5344CB8AC3E}">
        <p14:creationId xmlns:p14="http://schemas.microsoft.com/office/powerpoint/2010/main" val="2921665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a:defRPr/>
            </a:pPr>
            <a:fld id="{022D298C-5E21-4FDC-838E-33C54A0835BE}"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F01B316F-FC05-4AA9-8B17-611F2B66785A}" type="slidenum">
              <a:rPr lang="es-ES_tradnl" altLang="es-CL"/>
              <a:pPr/>
              <a:t>‹Nº›</a:t>
            </a:fld>
            <a:endParaRPr lang="es-ES_tradnl" altLang="es-CL"/>
          </a:p>
        </p:txBody>
      </p:sp>
    </p:spTree>
    <p:extLst>
      <p:ext uri="{BB962C8B-B14F-4D97-AF65-F5344CB8AC3E}">
        <p14:creationId xmlns:p14="http://schemas.microsoft.com/office/powerpoint/2010/main" val="1524700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posición de imagen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_tradnl" noProof="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a:defRPr/>
            </a:pPr>
            <a:fld id="{A65492E0-A143-485F-B68F-8CC91249D59B}"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EDC192D6-CB19-4D76-BAD3-1D4E4EA927D1}" type="slidenum">
              <a:rPr lang="es-ES_tradnl" altLang="es-CL"/>
              <a:pPr/>
              <a:t>‹Nº›</a:t>
            </a:fld>
            <a:endParaRPr lang="es-ES_tradnl" altLang="es-CL"/>
          </a:p>
        </p:txBody>
      </p:sp>
    </p:spTree>
    <p:extLst>
      <p:ext uri="{BB962C8B-B14F-4D97-AF65-F5344CB8AC3E}">
        <p14:creationId xmlns:p14="http://schemas.microsoft.com/office/powerpoint/2010/main" val="1631019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4C38D573-BBF9-4466-8100-20705A6765C2}"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64F13FBE-C0B8-4F7C-B7BE-9681116FC5EC}" type="slidenum">
              <a:rPr lang="es-ES_tradnl" altLang="es-CL"/>
              <a:pPr/>
              <a:t>‹Nº›</a:t>
            </a:fld>
            <a:endParaRPr lang="es-ES_tradnl" altLang="es-CL"/>
          </a:p>
        </p:txBody>
      </p:sp>
    </p:spTree>
    <p:extLst>
      <p:ext uri="{BB962C8B-B14F-4D97-AF65-F5344CB8AC3E}">
        <p14:creationId xmlns:p14="http://schemas.microsoft.com/office/powerpoint/2010/main" val="1856682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A3C05822-3120-4BF7-B215-1DFE2C6DC6A3}"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F19D8483-F2FB-4D92-932B-BB90B8B7CC0E}" type="slidenum">
              <a:rPr lang="es-ES_tradnl" altLang="es-CL"/>
              <a:pPr/>
              <a:t>‹Nº›</a:t>
            </a:fld>
            <a:endParaRPr lang="es-ES_tradnl" altLang="es-CL"/>
          </a:p>
        </p:txBody>
      </p:sp>
    </p:spTree>
    <p:extLst>
      <p:ext uri="{BB962C8B-B14F-4D97-AF65-F5344CB8AC3E}">
        <p14:creationId xmlns:p14="http://schemas.microsoft.com/office/powerpoint/2010/main" val="3455749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t="-1000" b="-1000"/>
          </a:stretch>
        </a:blipFill>
        <a:effectLst/>
      </p:bgPr>
    </p:bg>
    <p:spTree>
      <p:nvGrpSpPr>
        <p:cNvPr id="1" name=""/>
        <p:cNvGrpSpPr/>
        <p:nvPr/>
      </p:nvGrpSpPr>
      <p:grpSpPr>
        <a:xfrm>
          <a:off x="0" y="0"/>
          <a:ext cx="0" cy="0"/>
          <a:chOff x="0" y="0"/>
          <a:chExt cx="0" cy="0"/>
        </a:xfrm>
      </p:grpSpPr>
      <p:sp>
        <p:nvSpPr>
          <p:cNvPr id="1026" name="Marcador de título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n-US"/>
              <a:t>Haga clic para modificar el estilo de título del patrón</a:t>
            </a:r>
            <a:endParaRPr lang="es-ES_tradnl" altLang="en-US"/>
          </a:p>
        </p:txBody>
      </p:sp>
      <p:sp>
        <p:nvSpPr>
          <p:cNvPr id="1027" name="Marcador de texto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n-US"/>
              <a:t>Editar el estilo de texto del patrón</a:t>
            </a:r>
          </a:p>
          <a:p>
            <a:pPr lvl="1"/>
            <a:r>
              <a:rPr lang="es-ES" altLang="en-US"/>
              <a:t>Segundo nivel</a:t>
            </a:r>
          </a:p>
          <a:p>
            <a:pPr lvl="2"/>
            <a:r>
              <a:rPr lang="es-ES" altLang="en-US"/>
              <a:t>Tercer nivel</a:t>
            </a:r>
          </a:p>
          <a:p>
            <a:pPr lvl="3"/>
            <a:r>
              <a:rPr lang="es-ES" altLang="en-US"/>
              <a:t>Cuarto nivel</a:t>
            </a:r>
          </a:p>
          <a:p>
            <a:pPr lvl="4"/>
            <a:r>
              <a:rPr lang="es-ES" altLang="en-US"/>
              <a:t>Quinto nivel</a:t>
            </a:r>
            <a:endParaRPr lang="es-ES_tradnl" alt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40F057B8-E3CD-456E-9A46-2B8B20AF9933}" type="datetimeFigureOut">
              <a:rPr lang="es-ES_tradnl"/>
              <a:pPr>
                <a:defRPr/>
              </a:pPr>
              <a:t>26/09/2025</a:t>
            </a:fld>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s-ES_tradnl"/>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F59D94CD-8797-4F90-8E76-E70F46B730A3}" type="slidenum">
              <a:rPr lang="es-ES_tradnl" altLang="es-CL"/>
              <a:pPr/>
              <a:t>‹Nº›</a:t>
            </a:fld>
            <a:endParaRPr lang="es-ES_tradnl" altLang="es-CL"/>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Diagrama&#10;&#10;Descripción generada automáticamente con confianza media">
            <a:extLst>
              <a:ext uri="{FF2B5EF4-FFF2-40B4-BE49-F238E27FC236}">
                <a16:creationId xmlns:a16="http://schemas.microsoft.com/office/drawing/2014/main" id="{02FB8815-80A8-175E-A850-C2084DB0DF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7037762"/>
          </a:xfrm>
          <a:prstGeom prst="rect">
            <a:avLst/>
          </a:prstGeom>
        </p:spPr>
      </p:pic>
      <p:sp>
        <p:nvSpPr>
          <p:cNvPr id="6" name="Rectangle: Rounded Corners 22">
            <a:extLst>
              <a:ext uri="{FF2B5EF4-FFF2-40B4-BE49-F238E27FC236}">
                <a16:creationId xmlns:a16="http://schemas.microsoft.com/office/drawing/2014/main" id="{100F0B21-F305-84E0-FC1E-67639502205C}"/>
              </a:ext>
            </a:extLst>
          </p:cNvPr>
          <p:cNvSpPr/>
          <p:nvPr/>
        </p:nvSpPr>
        <p:spPr>
          <a:xfrm>
            <a:off x="4063854" y="3335383"/>
            <a:ext cx="7308567" cy="1494994"/>
          </a:xfrm>
          <a:prstGeom prst="roundRect">
            <a:avLst>
              <a:gd name="adj" fmla="val 7874"/>
            </a:avLst>
          </a:prstGeom>
          <a:solidFill>
            <a:schemeClr val="tx1">
              <a:alpha val="76000"/>
            </a:schemeClr>
          </a:solidFill>
          <a:ln>
            <a:no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Ins="540000" anchor="ctr"/>
          <a:lstStyle>
            <a:defPPr>
              <a:defRPr lang="es-ES_tradnl"/>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800" b="1" dirty="0"/>
          </a:p>
        </p:txBody>
      </p:sp>
      <p:sp>
        <p:nvSpPr>
          <p:cNvPr id="5" name="Título 1"/>
          <p:cNvSpPr>
            <a:spLocks noGrp="1"/>
          </p:cNvSpPr>
          <p:nvPr>
            <p:ph type="ctrTitle"/>
          </p:nvPr>
        </p:nvSpPr>
        <p:spPr>
          <a:xfrm>
            <a:off x="4223657" y="3335383"/>
            <a:ext cx="7323909" cy="1403036"/>
          </a:xfrm>
        </p:spPr>
        <p:txBody>
          <a:bodyPr rtlCol="0">
            <a:noAutofit/>
          </a:bodyPr>
          <a:lstStyle/>
          <a:p>
            <a:pPr algn="l" eaLnBrk="1" fontAlgn="auto" hangingPunct="1">
              <a:spcAft>
                <a:spcPts val="0"/>
              </a:spcAft>
              <a:defRPr/>
            </a:pPr>
            <a:br>
              <a:rPr lang="es-CL" sz="4800" b="1" dirty="0">
                <a:solidFill>
                  <a:schemeClr val="bg1"/>
                </a:solidFill>
                <a:latin typeface="Arial" panose="020B0604020202020204" pitchFamily="34" charset="0"/>
                <a:cs typeface="Arial" panose="020B0604020202020204" pitchFamily="34" charset="0"/>
              </a:rPr>
            </a:br>
            <a:r>
              <a:rPr lang="es-ES" sz="4800" b="1" dirty="0">
                <a:solidFill>
                  <a:schemeClr val="bg1"/>
                </a:solidFill>
                <a:latin typeface="Arial" panose="020B0604020202020204" pitchFamily="34" charset="0"/>
                <a:cs typeface="Arial" panose="020B0604020202020204" pitchFamily="34" charset="0"/>
              </a:rPr>
              <a:t>Actividad: Prueba de Hipótesis</a:t>
            </a:r>
            <a:endParaRPr lang="es-ES_tradnl" sz="2800" b="1" dirty="0">
              <a:solidFill>
                <a:schemeClr val="bg1"/>
              </a:solidFill>
              <a:latin typeface="Arial" panose="020B0604020202020204" pitchFamily="34" charset="0"/>
              <a:cs typeface="Arial" panose="020B0604020202020204" pitchFamily="34" charset="0"/>
            </a:endParaRPr>
          </a:p>
        </p:txBody>
      </p:sp>
      <p:sp>
        <p:nvSpPr>
          <p:cNvPr id="9" name="Google Shape;92;p1"/>
          <p:cNvSpPr txBox="1"/>
          <p:nvPr/>
        </p:nvSpPr>
        <p:spPr>
          <a:xfrm>
            <a:off x="4288683" y="2702800"/>
            <a:ext cx="7022779" cy="400069"/>
          </a:xfrm>
          <a:prstGeom prst="rect">
            <a:avLst/>
          </a:prstGeom>
          <a:noFill/>
          <a:ln>
            <a:noFill/>
          </a:ln>
        </p:spPr>
        <p:txBody>
          <a:bodyPr spcFirstLastPara="1" wrap="square" lIns="91425" tIns="45700" rIns="91425" bIns="45700" anchor="t" anchorCtr="0">
            <a:spAutoFit/>
          </a:bodyPr>
          <a:lstStyle/>
          <a:p>
            <a:pPr marL="0" marR="0" lvl="0" indent="0" defTabSz="914400" eaLnBrk="0" fontAlgn="base" latinLnBrk="0" hangingPunct="0">
              <a:lnSpc>
                <a:spcPct val="100000"/>
              </a:lnSpc>
              <a:spcBef>
                <a:spcPts val="0"/>
              </a:spcBef>
              <a:spcAft>
                <a:spcPts val="0"/>
              </a:spcAft>
              <a:buClrTx/>
              <a:buSzTx/>
              <a:buFontTx/>
              <a:buNone/>
              <a:tabLst/>
              <a:defRPr/>
            </a:pPr>
            <a:r>
              <a:rPr kumimoji="0" lang="es-ES" sz="2000" b="1" i="0" u="none" strike="noStrike" kern="1200" cap="none" spc="0" normalizeH="0" baseline="0" noProof="0" dirty="0">
                <a:ln>
                  <a:noFill/>
                </a:ln>
                <a:solidFill>
                  <a:prstClr val="white"/>
                </a:solidFill>
                <a:effectLst/>
                <a:uLnTx/>
                <a:uFillTx/>
                <a:latin typeface="Arial"/>
                <a:cs typeface="Arial"/>
              </a:rPr>
              <a:t> Inferencia Estadística</a:t>
            </a:r>
            <a:endParaRPr kumimoji="0" sz="2000" b="0" i="0" u="none" strike="noStrike" kern="1200" cap="none" spc="0" normalizeH="0" baseline="0" noProof="0" dirty="0">
              <a:ln>
                <a:noFill/>
              </a:ln>
              <a:solidFill>
                <a:prstClr val="white"/>
              </a:solidFill>
              <a:effectLst/>
              <a:uLnTx/>
              <a:uFillTx/>
              <a:latin typeface="Arial"/>
              <a:ea typeface="Calibri"/>
              <a:cs typeface="Arial"/>
              <a:sym typeface="Calibri"/>
            </a:endParaRPr>
          </a:p>
        </p:txBody>
      </p:sp>
    </p:spTree>
    <p:extLst>
      <p:ext uri="{BB962C8B-B14F-4D97-AF65-F5344CB8AC3E}">
        <p14:creationId xmlns:p14="http://schemas.microsoft.com/office/powerpoint/2010/main" val="1998777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bwMode="auto">
          <a:xfrm>
            <a:off x="6662057" y="1209279"/>
            <a:ext cx="4807132" cy="1186790"/>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lvl="0" eaLnBrk="1" fontAlgn="auto" hangingPunct="1">
              <a:spcAft>
                <a:spcPts val="0"/>
              </a:spcAft>
              <a:defRPr/>
            </a:pPr>
            <a:r>
              <a:rPr kumimoji="0" lang="es-ES" sz="32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j-ea"/>
                <a:cs typeface="Arial" panose="020B0604020202020204" pitchFamily="34" charset="0"/>
              </a:rPr>
              <a:t>Actividad:</a:t>
            </a:r>
          </a:p>
          <a:p>
            <a:pPr lvl="0" eaLnBrk="1" fontAlgn="auto" hangingPunct="1">
              <a:spcAft>
                <a:spcPts val="0"/>
              </a:spcAft>
              <a:defRPr/>
            </a:pPr>
            <a:r>
              <a:rPr lang="es-ES" sz="3200" dirty="0">
                <a:solidFill>
                  <a:prstClr val="white">
                    <a:lumMod val="50000"/>
                  </a:prstClr>
                </a:solidFill>
                <a:latin typeface="Arial" panose="020B0604020202020204" pitchFamily="34" charset="0"/>
                <a:cs typeface="Arial" panose="020B0604020202020204" pitchFamily="34" charset="0"/>
              </a:rPr>
              <a:t>Prueba de Hipótesis</a:t>
            </a:r>
            <a:endParaRPr kumimoji="0" lang="es-MX" sz="3200" b="0" i="0" u="none" strike="noStrike" kern="1200" cap="none" spc="0" normalizeH="0" baseline="0" noProof="0" dirty="0">
              <a:ln>
                <a:noFill/>
              </a:ln>
              <a:solidFill>
                <a:prstClr val="white">
                  <a:lumMod val="50000"/>
                </a:prstClr>
              </a:solidFill>
              <a:effectLst/>
              <a:uLnTx/>
              <a:uFillTx/>
              <a:latin typeface="Source Sans Pro" panose="020B0503030403020204" pitchFamily="34" charset="0"/>
              <a:ea typeface="+mj-ea"/>
              <a:cs typeface="+mj-cs"/>
            </a:endParaRPr>
          </a:p>
        </p:txBody>
      </p:sp>
      <p:sp>
        <p:nvSpPr>
          <p:cNvPr id="5" name="Rectángulo redondeado 4">
            <a:extLst>
              <a:ext uri="{FF2B5EF4-FFF2-40B4-BE49-F238E27FC236}">
                <a16:creationId xmlns:a16="http://schemas.microsoft.com/office/drawing/2014/main" id="{F54B704E-F625-E3FA-92EA-8240924D3BF1}"/>
              </a:ext>
            </a:extLst>
          </p:cNvPr>
          <p:cNvSpPr/>
          <p:nvPr/>
        </p:nvSpPr>
        <p:spPr>
          <a:xfrm>
            <a:off x="644757" y="1349553"/>
            <a:ext cx="5311415" cy="4412524"/>
          </a:xfrm>
          <a:prstGeom prst="roundRect">
            <a:avLst>
              <a:gd name="adj" fmla="val 2971"/>
            </a:avLst>
          </a:prstGeom>
          <a:solidFill>
            <a:srgbClr val="7FAEF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s-ES_tradnl"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2" descr="5 técnicas de análisis de datos para la precisión de tus informes">
            <a:extLst>
              <a:ext uri="{FF2B5EF4-FFF2-40B4-BE49-F238E27FC236}">
                <a16:creationId xmlns:a16="http://schemas.microsoft.com/office/drawing/2014/main" id="{2EF599DD-F081-0474-AC33-107E6F0BE3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255" y="1802674"/>
            <a:ext cx="4956418" cy="3297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7090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258443" y="2080279"/>
            <a:ext cx="11341601" cy="3081890"/>
          </a:xfrm>
          <a:prstGeom prst="roundRect">
            <a:avLst>
              <a:gd name="adj" fmla="val 2971"/>
            </a:avLst>
          </a:prstGeom>
          <a:gradFill flip="none" rotWithShape="1">
            <a:gsLst>
              <a:gs pos="0">
                <a:srgbClr val="078CAE">
                  <a:shade val="30000"/>
                  <a:satMod val="115000"/>
                </a:srgbClr>
              </a:gs>
              <a:gs pos="50000">
                <a:srgbClr val="078CAE">
                  <a:shade val="67500"/>
                  <a:satMod val="115000"/>
                </a:srgbClr>
              </a:gs>
              <a:gs pos="100000">
                <a:srgbClr val="078CAE">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 name="CuadroTexto 12">
            <a:extLst>
              <a:ext uri="{FF2B5EF4-FFF2-40B4-BE49-F238E27FC236}">
                <a16:creationId xmlns:a16="http://schemas.microsoft.com/office/drawing/2014/main" id="{523B3A0C-1C10-D786-1819-3C83846BFBD6}"/>
              </a:ext>
            </a:extLst>
          </p:cNvPr>
          <p:cNvSpPr txBox="1"/>
          <p:nvPr/>
        </p:nvSpPr>
        <p:spPr>
          <a:xfrm>
            <a:off x="1253832" y="2297785"/>
            <a:ext cx="10134426" cy="2646878"/>
          </a:xfrm>
          <a:prstGeom prst="rect">
            <a:avLst/>
          </a:prstGeom>
          <a:noFill/>
          <a:ln>
            <a:noFill/>
          </a:ln>
        </p:spPr>
        <p:txBody>
          <a:bodyPr wrap="square" rtlCol="0">
            <a:spAutoFit/>
          </a:bodyPr>
          <a:lstStyle/>
          <a:p>
            <a:r>
              <a:rPr lang="es-ES" b="1" dirty="0">
                <a:solidFill>
                  <a:schemeClr val="bg1"/>
                </a:solidFill>
                <a:latin typeface="+mn-lt"/>
              </a:rPr>
              <a:t>Grupos de trabajo</a:t>
            </a:r>
          </a:p>
          <a:p>
            <a:pPr marL="285750" indent="-285750">
              <a:buFont typeface="Wingdings" panose="05000000000000000000" pitchFamily="2" charset="2"/>
              <a:buChar char="Ø"/>
            </a:pPr>
            <a:r>
              <a:rPr lang="es-ES" dirty="0">
                <a:solidFill>
                  <a:schemeClr val="bg1"/>
                </a:solidFill>
                <a:latin typeface="+mn-lt"/>
              </a:rPr>
              <a:t>Grupos de 2 personas. (</a:t>
            </a:r>
            <a:r>
              <a:rPr lang="es-ES" dirty="0" err="1">
                <a:solidFill>
                  <a:schemeClr val="bg1"/>
                </a:solidFill>
                <a:latin typeface="+mn-lt"/>
              </a:rPr>
              <a:t>Pair</a:t>
            </a:r>
            <a:r>
              <a:rPr lang="es-ES" dirty="0">
                <a:solidFill>
                  <a:schemeClr val="bg1"/>
                </a:solidFill>
                <a:latin typeface="+mn-lt"/>
              </a:rPr>
              <a:t> </a:t>
            </a:r>
            <a:r>
              <a:rPr lang="es-ES" dirty="0" err="1">
                <a:solidFill>
                  <a:schemeClr val="bg1"/>
                </a:solidFill>
                <a:latin typeface="+mn-lt"/>
              </a:rPr>
              <a:t>programming</a:t>
            </a:r>
            <a:r>
              <a:rPr lang="es-ES" dirty="0">
                <a:solidFill>
                  <a:schemeClr val="bg1"/>
                </a:solidFill>
                <a:latin typeface="+mn-lt"/>
              </a:rPr>
              <a:t>).</a:t>
            </a:r>
          </a:p>
          <a:p>
            <a:pPr marL="285750" indent="-285750">
              <a:buFont typeface="Wingdings" panose="05000000000000000000" pitchFamily="2" charset="2"/>
              <a:buChar char="Ø"/>
            </a:pPr>
            <a:endParaRPr lang="es-ES" b="1" dirty="0">
              <a:solidFill>
                <a:schemeClr val="bg1"/>
              </a:solidFill>
              <a:latin typeface="+mn-lt"/>
            </a:endParaRPr>
          </a:p>
          <a:p>
            <a:r>
              <a:rPr lang="es-ES" b="1" dirty="0">
                <a:solidFill>
                  <a:schemeClr val="bg1"/>
                </a:solidFill>
                <a:latin typeface="+mn-lt"/>
              </a:rPr>
              <a:t>Tiempo</a:t>
            </a:r>
          </a:p>
          <a:p>
            <a:pPr marL="285750" indent="-285750">
              <a:buFont typeface="Wingdings" panose="05000000000000000000" pitchFamily="2" charset="2"/>
              <a:buChar char="Ø"/>
            </a:pPr>
            <a:r>
              <a:rPr lang="es-ES" dirty="0">
                <a:solidFill>
                  <a:schemeClr val="bg1"/>
                </a:solidFill>
                <a:latin typeface="+mn-lt"/>
              </a:rPr>
              <a:t>30-40 minutos.</a:t>
            </a:r>
          </a:p>
          <a:p>
            <a:pPr marL="285750" indent="-285750">
              <a:buFont typeface="Wingdings" panose="05000000000000000000" pitchFamily="2" charset="2"/>
              <a:buChar char="Ø"/>
            </a:pPr>
            <a:endParaRPr lang="es-ES" b="1" dirty="0">
              <a:solidFill>
                <a:schemeClr val="bg1"/>
              </a:solidFill>
              <a:latin typeface="+mn-lt"/>
            </a:endParaRPr>
          </a:p>
          <a:p>
            <a:r>
              <a:rPr lang="es-ES" b="1" dirty="0">
                <a:solidFill>
                  <a:schemeClr val="bg1"/>
                </a:solidFill>
                <a:latin typeface="+mn-lt"/>
              </a:rPr>
              <a:t>Objetivo</a:t>
            </a:r>
          </a:p>
          <a:p>
            <a:pPr marL="342900" indent="-342900">
              <a:buFont typeface="Wingdings" panose="05000000000000000000" pitchFamily="2" charset="2"/>
              <a:buChar char="Ø"/>
            </a:pPr>
            <a:r>
              <a:rPr lang="es-ES" dirty="0">
                <a:solidFill>
                  <a:schemeClr val="bg1"/>
                </a:solidFill>
                <a:latin typeface="+mn-lt"/>
              </a:rPr>
              <a:t>Aplicar propiedades de probabilidad para resolver un problema simple.</a:t>
            </a:r>
          </a:p>
          <a:p>
            <a:pPr marL="342900" indent="-342900">
              <a:buFont typeface="Wingdings" panose="05000000000000000000" pitchFamily="2" charset="2"/>
              <a:buChar char="Ø"/>
            </a:pPr>
            <a:r>
              <a:rPr lang="es-ES" dirty="0">
                <a:solidFill>
                  <a:schemeClr val="bg1"/>
                </a:solidFill>
                <a:latin typeface="+mn-lt"/>
              </a:rPr>
              <a:t>Aplicar propiedades de las prueba de hipótesis en la resolución de problemas.</a:t>
            </a:r>
          </a:p>
        </p:txBody>
      </p:sp>
      <p:sp>
        <p:nvSpPr>
          <p:cNvPr id="6" name="Título 1">
            <a:extLst>
              <a:ext uri="{FF2B5EF4-FFF2-40B4-BE49-F238E27FC236}">
                <a16:creationId xmlns:a16="http://schemas.microsoft.com/office/drawing/2014/main" id="{76EAE5E9-AA41-B6C1-2BE8-2CF9E5D4461A}"/>
              </a:ext>
            </a:extLst>
          </p:cNvPr>
          <p:cNvSpPr txBox="1">
            <a:spLocks/>
          </p:cNvSpPr>
          <p:nvPr/>
        </p:nvSpPr>
        <p:spPr bwMode="auto">
          <a:xfrm>
            <a:off x="1253832" y="1072217"/>
            <a:ext cx="10224952"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MX" sz="3200" dirty="0">
                <a:solidFill>
                  <a:schemeClr val="bg1">
                    <a:lumMod val="50000"/>
                  </a:schemeClr>
                </a:solidFill>
                <a:latin typeface="Arial" panose="020B0604020202020204" pitchFamily="34" charset="0"/>
                <a:cs typeface="Arial" panose="020B0604020202020204" pitchFamily="34" charset="0"/>
              </a:rPr>
              <a:t>Instrucciones</a:t>
            </a:r>
          </a:p>
        </p:txBody>
      </p:sp>
    </p:spTree>
    <p:extLst>
      <p:ext uri="{BB962C8B-B14F-4D97-AF65-F5344CB8AC3E}">
        <p14:creationId xmlns:p14="http://schemas.microsoft.com/office/powerpoint/2010/main" val="254193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378790" y="1693320"/>
            <a:ext cx="10958536" cy="3239561"/>
          </a:xfrm>
          <a:prstGeom prst="roundRect">
            <a:avLst>
              <a:gd name="adj" fmla="val 2971"/>
            </a:avLst>
          </a:prstGeom>
          <a:gradFill flip="none" rotWithShape="1">
            <a:gsLst>
              <a:gs pos="0">
                <a:srgbClr val="078CAE">
                  <a:shade val="30000"/>
                  <a:satMod val="115000"/>
                </a:srgbClr>
              </a:gs>
              <a:gs pos="50000">
                <a:srgbClr val="078CAE">
                  <a:shade val="67500"/>
                  <a:satMod val="115000"/>
                </a:srgbClr>
              </a:gs>
              <a:gs pos="100000">
                <a:srgbClr val="078CAE">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 name="CuadroTexto 12">
            <a:extLst>
              <a:ext uri="{FF2B5EF4-FFF2-40B4-BE49-F238E27FC236}">
                <a16:creationId xmlns:a16="http://schemas.microsoft.com/office/drawing/2014/main" id="{523B3A0C-1C10-D786-1819-3C83846BFBD6}"/>
              </a:ext>
            </a:extLst>
          </p:cNvPr>
          <p:cNvSpPr txBox="1"/>
          <p:nvPr/>
        </p:nvSpPr>
        <p:spPr>
          <a:xfrm>
            <a:off x="350419" y="1952019"/>
            <a:ext cx="5258746" cy="2585323"/>
          </a:xfrm>
          <a:prstGeom prst="rect">
            <a:avLst/>
          </a:prstGeom>
          <a:noFill/>
          <a:ln>
            <a:noFill/>
          </a:ln>
        </p:spPr>
        <p:txBody>
          <a:bodyPr wrap="square" rtlCol="0">
            <a:spAutoFit/>
          </a:bodyPr>
          <a:lstStyle/>
          <a:p>
            <a:pPr algn="just"/>
            <a:r>
              <a:rPr lang="es-ES" dirty="0">
                <a:solidFill>
                  <a:schemeClr val="bg1"/>
                </a:solidFill>
                <a:latin typeface="+mn-lt"/>
              </a:rPr>
              <a:t>Una máquina fabrica tornillos cuyo valor nominal debe ser de 800 milímetros de largo, con una desviación estándar de 5%. Se toma una muestra aleatoria, es decir en distintos días de la semana de producción, que totaliza unos 40 tornillos. Cuando se calcula la longitud promedio de la muestra, se obtiene el valor 790 milímetros. Determinar si el largo promedio está en la tolerancia con niveles de significancia respectivamente de 1%, 5% y 10%.</a:t>
            </a:r>
          </a:p>
        </p:txBody>
      </p:sp>
      <p:sp>
        <p:nvSpPr>
          <p:cNvPr id="6" name="Título 1">
            <a:extLst>
              <a:ext uri="{FF2B5EF4-FFF2-40B4-BE49-F238E27FC236}">
                <a16:creationId xmlns:a16="http://schemas.microsoft.com/office/drawing/2014/main" id="{76EAE5E9-AA41-B6C1-2BE8-2CF9E5D4461A}"/>
              </a:ext>
            </a:extLst>
          </p:cNvPr>
          <p:cNvSpPr txBox="1">
            <a:spLocks/>
          </p:cNvSpPr>
          <p:nvPr/>
        </p:nvSpPr>
        <p:spPr bwMode="auto">
          <a:xfrm>
            <a:off x="350419" y="926746"/>
            <a:ext cx="10703923" cy="629734"/>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Problema 1</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5" name="Rectángulo redondeado 1">
            <a:extLst>
              <a:ext uri="{FF2B5EF4-FFF2-40B4-BE49-F238E27FC236}">
                <a16:creationId xmlns:a16="http://schemas.microsoft.com/office/drawing/2014/main" id="{3E4784EE-9A7D-3F8E-3BDF-9442AADD5C68}"/>
              </a:ext>
            </a:extLst>
          </p:cNvPr>
          <p:cNvSpPr/>
          <p:nvPr/>
        </p:nvSpPr>
        <p:spPr>
          <a:xfrm>
            <a:off x="6003743" y="1740720"/>
            <a:ext cx="4486841" cy="3123364"/>
          </a:xfrm>
          <a:prstGeom prst="roundRect">
            <a:avLst>
              <a:gd name="adj" fmla="val 297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4" name="Imagen 3">
            <a:extLst>
              <a:ext uri="{FF2B5EF4-FFF2-40B4-BE49-F238E27FC236}">
                <a16:creationId xmlns:a16="http://schemas.microsoft.com/office/drawing/2014/main" id="{C9CCF259-0DFF-FC1D-F3D6-5AFC8FFF6F66}"/>
              </a:ext>
            </a:extLst>
          </p:cNvPr>
          <p:cNvPicPr>
            <a:picLocks noChangeAspect="1"/>
          </p:cNvPicPr>
          <p:nvPr/>
        </p:nvPicPr>
        <p:blipFill>
          <a:blip r:embed="rId2"/>
          <a:stretch>
            <a:fillRect/>
          </a:stretch>
        </p:blipFill>
        <p:spPr>
          <a:xfrm>
            <a:off x="6204918" y="1952019"/>
            <a:ext cx="4084490" cy="2700765"/>
          </a:xfrm>
          <a:prstGeom prst="rect">
            <a:avLst/>
          </a:prstGeom>
        </p:spPr>
      </p:pic>
    </p:spTree>
    <p:extLst>
      <p:ext uri="{BB962C8B-B14F-4D97-AF65-F5344CB8AC3E}">
        <p14:creationId xmlns:p14="http://schemas.microsoft.com/office/powerpoint/2010/main" val="2275669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348343" y="1493024"/>
            <a:ext cx="10958536" cy="4108786"/>
          </a:xfrm>
          <a:prstGeom prst="roundRect">
            <a:avLst>
              <a:gd name="adj" fmla="val 2971"/>
            </a:avLst>
          </a:prstGeom>
          <a:gradFill flip="none" rotWithShape="1">
            <a:gsLst>
              <a:gs pos="0">
                <a:srgbClr val="078CAE">
                  <a:shade val="30000"/>
                  <a:satMod val="115000"/>
                </a:srgbClr>
              </a:gs>
              <a:gs pos="50000">
                <a:srgbClr val="078CAE">
                  <a:shade val="67500"/>
                  <a:satMod val="115000"/>
                </a:srgbClr>
              </a:gs>
              <a:gs pos="100000">
                <a:srgbClr val="078CAE">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 name="CuadroTexto 12">
            <a:extLst>
              <a:ext uri="{FF2B5EF4-FFF2-40B4-BE49-F238E27FC236}">
                <a16:creationId xmlns:a16="http://schemas.microsoft.com/office/drawing/2014/main" id="{523B3A0C-1C10-D786-1819-3C83846BFBD6}"/>
              </a:ext>
            </a:extLst>
          </p:cNvPr>
          <p:cNvSpPr txBox="1"/>
          <p:nvPr/>
        </p:nvSpPr>
        <p:spPr>
          <a:xfrm>
            <a:off x="722809" y="1865140"/>
            <a:ext cx="6041709" cy="3139321"/>
          </a:xfrm>
          <a:prstGeom prst="rect">
            <a:avLst/>
          </a:prstGeom>
          <a:noFill/>
          <a:ln>
            <a:noFill/>
          </a:ln>
        </p:spPr>
        <p:txBody>
          <a:bodyPr wrap="square" rtlCol="0">
            <a:spAutoFit/>
          </a:bodyPr>
          <a:lstStyle/>
          <a:p>
            <a:pPr algn="just"/>
            <a:r>
              <a:rPr lang="es-ES" dirty="0">
                <a:solidFill>
                  <a:schemeClr val="bg1"/>
                </a:solidFill>
                <a:latin typeface="+mn-lt"/>
              </a:rPr>
              <a:t>Carl Reinhold August </a:t>
            </a:r>
            <a:r>
              <a:rPr lang="es-ES" dirty="0" err="1">
                <a:solidFill>
                  <a:schemeClr val="bg1"/>
                </a:solidFill>
                <a:latin typeface="+mn-lt"/>
              </a:rPr>
              <a:t>Wunderlich</a:t>
            </a:r>
            <a:r>
              <a:rPr lang="es-ES" dirty="0">
                <a:solidFill>
                  <a:schemeClr val="bg1"/>
                </a:solidFill>
                <a:latin typeface="+mn-lt"/>
              </a:rPr>
              <a:t> fue un médico que fue pionero en la medición de la temperatura promedio del cuerpo humano saludable, que descubrió que era de 98,6 ° F. Casi 150 años después, los investigadores de la Universidad de Maryland evalúan el famoso estándar de 98.6 ° F. Se midieron la temperatura corporal de 148 hombres y mujeres sanos, que produjeron un promedio de 98.24923 ° F. Con la desviación estándar tradicionalmente conocida de la temperatura del cuerpo humano en alrededor de 0,63 ° F ¿hay evidencia a un nivel de significancia del 1% de que la verdadera temperatura promedio del cuerpo humano difiere de 98,6 ° F?.</a:t>
            </a:r>
          </a:p>
        </p:txBody>
      </p:sp>
      <p:sp>
        <p:nvSpPr>
          <p:cNvPr id="6" name="Título 1">
            <a:extLst>
              <a:ext uri="{FF2B5EF4-FFF2-40B4-BE49-F238E27FC236}">
                <a16:creationId xmlns:a16="http://schemas.microsoft.com/office/drawing/2014/main" id="{76EAE5E9-AA41-B6C1-2BE8-2CF9E5D4461A}"/>
              </a:ext>
            </a:extLst>
          </p:cNvPr>
          <p:cNvSpPr txBox="1">
            <a:spLocks/>
          </p:cNvSpPr>
          <p:nvPr/>
        </p:nvSpPr>
        <p:spPr bwMode="auto">
          <a:xfrm>
            <a:off x="722809" y="745917"/>
            <a:ext cx="10331533" cy="625683"/>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Problema 2</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3" name="Rectángulo redondeado 1">
            <a:extLst>
              <a:ext uri="{FF2B5EF4-FFF2-40B4-BE49-F238E27FC236}">
                <a16:creationId xmlns:a16="http://schemas.microsoft.com/office/drawing/2014/main" id="{B4B121CF-D311-EB5F-135C-1BE82E691B75}"/>
              </a:ext>
            </a:extLst>
          </p:cNvPr>
          <p:cNvSpPr/>
          <p:nvPr/>
        </p:nvSpPr>
        <p:spPr>
          <a:xfrm>
            <a:off x="7024626" y="1577757"/>
            <a:ext cx="3325459" cy="3935277"/>
          </a:xfrm>
          <a:prstGeom prst="roundRect">
            <a:avLst>
              <a:gd name="adj" fmla="val 297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5" name="Imagen 4">
            <a:extLst>
              <a:ext uri="{FF2B5EF4-FFF2-40B4-BE49-F238E27FC236}">
                <a16:creationId xmlns:a16="http://schemas.microsoft.com/office/drawing/2014/main" id="{703777FD-0653-763C-8A06-93574B18D805}"/>
              </a:ext>
            </a:extLst>
          </p:cNvPr>
          <p:cNvPicPr>
            <a:picLocks noChangeAspect="1"/>
          </p:cNvPicPr>
          <p:nvPr/>
        </p:nvPicPr>
        <p:blipFill>
          <a:blip r:embed="rId2"/>
          <a:stretch>
            <a:fillRect/>
          </a:stretch>
        </p:blipFill>
        <p:spPr>
          <a:xfrm>
            <a:off x="7702670" y="1707995"/>
            <a:ext cx="1969369" cy="3683615"/>
          </a:xfrm>
          <a:prstGeom prst="rect">
            <a:avLst/>
          </a:prstGeom>
        </p:spPr>
      </p:pic>
    </p:spTree>
    <p:extLst>
      <p:ext uri="{BB962C8B-B14F-4D97-AF65-F5344CB8AC3E}">
        <p14:creationId xmlns:p14="http://schemas.microsoft.com/office/powerpoint/2010/main" val="368570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339634" y="2275767"/>
            <a:ext cx="10949827" cy="2306466"/>
          </a:xfrm>
          <a:prstGeom prst="roundRect">
            <a:avLst>
              <a:gd name="adj" fmla="val 2971"/>
            </a:avLst>
          </a:prstGeom>
          <a:gradFill flip="none" rotWithShape="1">
            <a:gsLst>
              <a:gs pos="0">
                <a:srgbClr val="078CAE">
                  <a:shade val="30000"/>
                  <a:satMod val="115000"/>
                </a:srgbClr>
              </a:gs>
              <a:gs pos="50000">
                <a:srgbClr val="078CAE">
                  <a:shade val="67500"/>
                  <a:satMod val="115000"/>
                </a:srgbClr>
              </a:gs>
              <a:gs pos="100000">
                <a:srgbClr val="078CAE">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 name="CuadroTexto 12">
            <a:extLst>
              <a:ext uri="{FF2B5EF4-FFF2-40B4-BE49-F238E27FC236}">
                <a16:creationId xmlns:a16="http://schemas.microsoft.com/office/drawing/2014/main" id="{523B3A0C-1C10-D786-1819-3C83846BFBD6}"/>
              </a:ext>
            </a:extLst>
          </p:cNvPr>
          <p:cNvSpPr txBox="1"/>
          <p:nvPr/>
        </p:nvSpPr>
        <p:spPr>
          <a:xfrm>
            <a:off x="731520" y="2360500"/>
            <a:ext cx="9674948" cy="2031325"/>
          </a:xfrm>
          <a:prstGeom prst="rect">
            <a:avLst/>
          </a:prstGeom>
          <a:noFill/>
          <a:ln>
            <a:noFill/>
          </a:ln>
        </p:spPr>
        <p:txBody>
          <a:bodyPr wrap="square" rtlCol="0">
            <a:spAutoFit/>
          </a:bodyPr>
          <a:lstStyle/>
          <a:p>
            <a:pPr marL="285750" indent="-285750" algn="just">
              <a:buFont typeface="Wingdings" panose="05000000000000000000" pitchFamily="2" charset="2"/>
              <a:buChar char="Ø"/>
            </a:pPr>
            <a:r>
              <a:rPr lang="es-ES" dirty="0">
                <a:solidFill>
                  <a:schemeClr val="bg1"/>
                </a:solidFill>
                <a:latin typeface="+mn-lt"/>
              </a:rPr>
              <a:t>La idea es que puedas identificar los parámetros y datos proporcionados en el enunciado, de tal forma que se pueda determinar las probabilidades y pruebas de hipótesis pertinentes que permitan resolver los ejercicios y responder las preguntas planteadas.</a:t>
            </a:r>
          </a:p>
          <a:p>
            <a:pPr marL="285750" indent="-285750" algn="just">
              <a:buFont typeface="Wingdings" panose="05000000000000000000" pitchFamily="2" charset="2"/>
              <a:buChar char="Ø"/>
            </a:pPr>
            <a:endParaRPr lang="es-ES" dirty="0">
              <a:solidFill>
                <a:schemeClr val="bg1"/>
              </a:solidFill>
              <a:latin typeface="+mn-lt"/>
            </a:endParaRPr>
          </a:p>
          <a:p>
            <a:pPr marL="285750" indent="-285750" algn="just">
              <a:buFont typeface="Wingdings" panose="05000000000000000000" pitchFamily="2" charset="2"/>
              <a:buChar char="Ø"/>
            </a:pPr>
            <a:r>
              <a:rPr lang="es-ES" dirty="0">
                <a:solidFill>
                  <a:schemeClr val="bg1"/>
                </a:solidFill>
                <a:latin typeface="+mn-lt"/>
              </a:rPr>
              <a:t>Plantear una solución usando las librerías de Python.</a:t>
            </a:r>
          </a:p>
          <a:p>
            <a:pPr marL="285750" indent="-285750" algn="just">
              <a:buFont typeface="Wingdings" panose="05000000000000000000" pitchFamily="2" charset="2"/>
              <a:buChar char="Ø"/>
            </a:pPr>
            <a:endParaRPr lang="es-ES" dirty="0">
              <a:solidFill>
                <a:schemeClr val="bg1"/>
              </a:solidFill>
              <a:latin typeface="+mn-lt"/>
            </a:endParaRPr>
          </a:p>
          <a:p>
            <a:pPr marL="285750" indent="-285750" algn="just">
              <a:buFont typeface="Wingdings" panose="05000000000000000000" pitchFamily="2" charset="2"/>
              <a:buChar char="Ø"/>
            </a:pPr>
            <a:r>
              <a:rPr lang="es-ES" dirty="0">
                <a:solidFill>
                  <a:schemeClr val="bg1"/>
                </a:solidFill>
                <a:latin typeface="+mn-lt"/>
              </a:rPr>
              <a:t>Interpretar los resultados obtenidos.</a:t>
            </a:r>
          </a:p>
        </p:txBody>
      </p:sp>
      <p:sp>
        <p:nvSpPr>
          <p:cNvPr id="6" name="Título 1">
            <a:extLst>
              <a:ext uri="{FF2B5EF4-FFF2-40B4-BE49-F238E27FC236}">
                <a16:creationId xmlns:a16="http://schemas.microsoft.com/office/drawing/2014/main" id="{76EAE5E9-AA41-B6C1-2BE8-2CF9E5D4461A}"/>
              </a:ext>
            </a:extLst>
          </p:cNvPr>
          <p:cNvSpPr txBox="1">
            <a:spLocks/>
          </p:cNvSpPr>
          <p:nvPr/>
        </p:nvSpPr>
        <p:spPr bwMode="auto">
          <a:xfrm>
            <a:off x="621982" y="1225339"/>
            <a:ext cx="10782300"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¿En qué consiste la actividad?</a:t>
            </a:r>
            <a:endParaRPr lang="es-MX" sz="32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7852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redondeado 6"/>
          <p:cNvSpPr/>
          <p:nvPr/>
        </p:nvSpPr>
        <p:spPr>
          <a:xfrm>
            <a:off x="1357459" y="754144"/>
            <a:ext cx="5599522" cy="5263123"/>
          </a:xfrm>
          <a:prstGeom prst="roundRect">
            <a:avLst>
              <a:gd name="adj" fmla="val 2971"/>
            </a:avLst>
          </a:prstGeom>
          <a:solidFill>
            <a:schemeClr val="bg1"/>
          </a:solidFill>
          <a:ln w="28575">
            <a:solidFill>
              <a:srgbClr val="078C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s-ES_trad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ángulo redondeado 5"/>
          <p:cNvSpPr/>
          <p:nvPr/>
        </p:nvSpPr>
        <p:spPr>
          <a:xfrm>
            <a:off x="7303304" y="2590254"/>
            <a:ext cx="4920343" cy="1590900"/>
          </a:xfrm>
          <a:prstGeom prst="roundRect">
            <a:avLst>
              <a:gd name="adj" fmla="val 2971"/>
            </a:avLst>
          </a:prstGeom>
          <a:gradFill flip="none" rotWithShape="1">
            <a:gsLst>
              <a:gs pos="0">
                <a:srgbClr val="078CAE">
                  <a:shade val="30000"/>
                  <a:satMod val="115000"/>
                </a:srgbClr>
              </a:gs>
              <a:gs pos="50000">
                <a:srgbClr val="078CAE">
                  <a:shade val="67500"/>
                  <a:satMod val="115000"/>
                </a:srgbClr>
              </a:gs>
              <a:gs pos="100000">
                <a:srgbClr val="078CAE">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s-ES_trad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Imagen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3980" y="1051873"/>
            <a:ext cx="5106479" cy="4667663"/>
          </a:xfrm>
          <a:prstGeom prst="rect">
            <a:avLst/>
          </a:prstGeom>
          <a:solidFill>
            <a:schemeClr val="bg1"/>
          </a:solidFill>
        </p:spPr>
      </p:pic>
      <p:sp>
        <p:nvSpPr>
          <p:cNvPr id="5" name="Título 4"/>
          <p:cNvSpPr>
            <a:spLocks noGrp="1"/>
          </p:cNvSpPr>
          <p:nvPr>
            <p:ph type="title"/>
          </p:nvPr>
        </p:nvSpPr>
        <p:spPr>
          <a:xfrm>
            <a:off x="8145409" y="3062538"/>
            <a:ext cx="1983377" cy="646331"/>
          </a:xfrm>
          <a:prstGeom prst="rect">
            <a:avLst/>
          </a:prstGeom>
        </p:spPr>
        <p:txBody>
          <a:bodyPr wrap="square">
            <a:spAutoFit/>
          </a:bodyPr>
          <a:lstStyle/>
          <a:p>
            <a:pPr algn="just"/>
            <a:r>
              <a:rPr lang="es-CL" sz="4000" dirty="0">
                <a:solidFill>
                  <a:schemeClr val="bg1"/>
                </a:solidFill>
                <a:latin typeface="Arial" panose="020B0604020202020204" pitchFamily="34" charset="0"/>
                <a:cs typeface="Arial" panose="020B0604020202020204" pitchFamily="34" charset="0"/>
              </a:rPr>
              <a:t>¡Éxito!</a:t>
            </a:r>
            <a:endParaRPr lang="en-US" sz="4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99571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171001b-fa9d-409b-8713-8b6a17935d68"/>
    <lcf76f155ced4ddcb4097134ff3c332f xmlns="470d2f17-52cb-407b-8136-5e632d1cee0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EC9CD3420DD7C44287EDEB9C6D6708D7" ma:contentTypeVersion="15" ma:contentTypeDescription="Crear nuevo documento." ma:contentTypeScope="" ma:versionID="f7a9dcde27c9264a09c73004259269f1">
  <xsd:schema xmlns:xsd="http://www.w3.org/2001/XMLSchema" xmlns:xs="http://www.w3.org/2001/XMLSchema" xmlns:p="http://schemas.microsoft.com/office/2006/metadata/properties" xmlns:ns2="470d2f17-52cb-407b-8136-5e632d1cee08" xmlns:ns3="6171001b-fa9d-409b-8713-8b6a17935d68" targetNamespace="http://schemas.microsoft.com/office/2006/metadata/properties" ma:root="true" ma:fieldsID="674b5fe278d71baa753a58252eaf8fe3" ns2:_="" ns3:_="">
    <xsd:import namespace="470d2f17-52cb-407b-8136-5e632d1cee08"/>
    <xsd:import namespace="6171001b-fa9d-409b-8713-8b6a17935d6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TaxCatchAll" minOccurs="0"/>
                <xsd:element ref="ns2:MediaServiceGenerationTime" minOccurs="0"/>
                <xsd:element ref="ns2:MediaServiceEventHashCode" minOccurs="0"/>
                <xsd:element ref="ns2:lcf76f155ced4ddcb4097134ff3c332f" minOccurs="0"/>
                <xsd:element ref="ns2:MediaServiceOCR"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d2f17-52cb-407b-8136-5e632d1cee0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5ecad781-11e1-4240-b729-e370ca3e03e9"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171001b-fa9d-409b-8713-8b6a17935d68"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626c5a85-e9ed-4a7d-a8f2-1ac62c4b72da}" ma:internalName="TaxCatchAll" ma:showField="CatchAllData" ma:web="6171001b-fa9d-409b-8713-8b6a17935d68">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26BDBF-E58D-4DAC-8738-D11056BF4C72}">
  <ds:schemaRefs>
    <ds:schemaRef ds:uri="http://purl.org/dc/terms/"/>
    <ds:schemaRef ds:uri="470d2f17-52cb-407b-8136-5e632d1cee08"/>
    <ds:schemaRef ds:uri="http://schemas.microsoft.com/office/infopath/2007/PartnerControls"/>
    <ds:schemaRef ds:uri="http://purl.org/dc/elements/1.1/"/>
    <ds:schemaRef ds:uri="http://schemas.microsoft.com/office/2006/documentManagement/types"/>
    <ds:schemaRef ds:uri="6171001b-fa9d-409b-8713-8b6a17935d68"/>
    <ds:schemaRef ds:uri="http://purl.org/dc/dcmitype/"/>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DD405DB1-990F-4DDD-81A1-478BCA203F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0d2f17-52cb-407b-8136-5e632d1cee08"/>
    <ds:schemaRef ds:uri="6171001b-fa9d-409b-8713-8b6a17935d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9B05674-0616-4E66-A9FD-3C514085E54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9258</TotalTime>
  <Words>323</Words>
  <Application>Microsoft Office PowerPoint</Application>
  <PresentationFormat>Panorámica</PresentationFormat>
  <Paragraphs>27</Paragraphs>
  <Slides>7</Slides>
  <Notes>0</Notes>
  <HiddenSlides>0</HiddenSlides>
  <MMClips>0</MMClips>
  <ScaleCrop>false</ScaleCrop>
  <HeadingPairs>
    <vt:vector size="4" baseType="variant">
      <vt:variant>
        <vt:lpstr>Tema</vt:lpstr>
      </vt:variant>
      <vt:variant>
        <vt:i4>1</vt:i4>
      </vt:variant>
      <vt:variant>
        <vt:lpstr>Títulos de diapositiva</vt:lpstr>
      </vt:variant>
      <vt:variant>
        <vt:i4>7</vt:i4>
      </vt:variant>
    </vt:vector>
  </HeadingPairs>
  <TitlesOfParts>
    <vt:vector size="8" baseType="lpstr">
      <vt:lpstr>Tema de Office</vt:lpstr>
      <vt:lpstr> Actividad: Prueba de Hipótesis</vt:lpstr>
      <vt:lpstr>Presentación de PowerPoint</vt:lpstr>
      <vt:lpstr>Presentación de PowerPoint</vt:lpstr>
      <vt:lpstr>Presentación de PowerPoint</vt:lpstr>
      <vt:lpstr>Presentación de PowerPoint</vt:lpstr>
      <vt:lpstr>Presentación de PowerPoint</vt:lpstr>
      <vt:lpstr>¡Éxito!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Kibernum</dc:creator>
  <cp:lastModifiedBy>kibernum</cp:lastModifiedBy>
  <cp:revision>246</cp:revision>
  <dcterms:created xsi:type="dcterms:W3CDTF">2023-01-03T12:28:26Z</dcterms:created>
  <dcterms:modified xsi:type="dcterms:W3CDTF">2025-09-26T11:52:20Z</dcterms:modified>
</cp:coreProperties>
</file>