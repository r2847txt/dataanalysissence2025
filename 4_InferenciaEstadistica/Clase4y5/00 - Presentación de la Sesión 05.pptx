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57" r:id="rId4"/>
    <p:sldId id="258" r:id="rId5"/>
    <p:sldId id="259" r:id="rId6"/>
    <p:sldId id="260" r:id="rId7"/>
    <p:sldId id="263" r:id="rId8"/>
    <p:sldId id="268" r:id="rId9"/>
    <p:sldId id="269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RkBPOB0YgDATrxJPpYZ1emibB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A9FC84-C304-1627-26CF-CC9CBADEA4B5}" v="7" dt="2025-09-26T11:51:53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>
      <p:cViewPr varScale="1">
        <p:scale>
          <a:sx n="75" d="100"/>
          <a:sy n="75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D1A9FC84-C304-1627-26CF-CC9CBADEA4B5}"/>
    <pc:docChg chg="modSld">
      <pc:chgData name="Soraya Salazar" userId="S::soraya.salazar@kibernumacademy.com::fdf00a5c-f577-43dc-8064-9968cad83607" providerId="AD" clId="Web-{D1A9FC84-C304-1627-26CF-CC9CBADEA4B5}" dt="2025-09-26T11:51:53.951" v="2"/>
      <pc:docMkLst>
        <pc:docMk/>
      </pc:docMkLst>
      <pc:sldChg chg="delSp modSp">
        <pc:chgData name="Soraya Salazar" userId="S::soraya.salazar@kibernumacademy.com::fdf00a5c-f577-43dc-8064-9968cad83607" providerId="AD" clId="Web-{D1A9FC84-C304-1627-26CF-CC9CBADEA4B5}" dt="2025-09-26T11:51:53.951" v="2"/>
        <pc:sldMkLst>
          <pc:docMk/>
          <pc:sldMk cId="0" sldId="256"/>
        </pc:sldMkLst>
        <pc:spChg chg="del">
          <ac:chgData name="Soraya Salazar" userId="S::soraya.salazar@kibernumacademy.com::fdf00a5c-f577-43dc-8064-9968cad83607" providerId="AD" clId="Web-{D1A9FC84-C304-1627-26CF-CC9CBADEA4B5}" dt="2025-09-26T11:51:53.951" v="2"/>
          <ac:spMkLst>
            <pc:docMk/>
            <pc:sldMk cId="0" sldId="256"/>
            <ac:spMk id="3" creationId="{00000000-0000-0000-0000-000000000000}"/>
          </ac:spMkLst>
        </pc:spChg>
        <pc:spChg chg="mod">
          <ac:chgData name="Soraya Salazar" userId="S::soraya.salazar@kibernumacademy.com::fdf00a5c-f577-43dc-8064-9968cad83607" providerId="AD" clId="Web-{D1A9FC84-C304-1627-26CF-CC9CBADEA4B5}" dt="2025-09-26T11:51:52.108" v="1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169525" y="3123426"/>
            <a:ext cx="6757093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lang="es-CL" sz="3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92;p1"/>
          <p:cNvSpPr txBox="1"/>
          <p:nvPr/>
        </p:nvSpPr>
        <p:spPr>
          <a:xfrm>
            <a:off x="4169525" y="2783416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Inferencia Estadística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902732"/>
            <a:ext cx="10515600" cy="1325563"/>
          </a:xfrm>
        </p:spPr>
        <p:txBody>
          <a:bodyPr/>
          <a:lstStyle/>
          <a:p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Repaso y Activación de Conceptos: </a:t>
            </a: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b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es-ES" sz="36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“Preparándonos para avanzar”</a:t>
            </a:r>
            <a:endParaRPr lang="en-US" sz="36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5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757382" y="3400280"/>
            <a:ext cx="7774334" cy="2428604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24021" y="4260659"/>
            <a:ext cx="71617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buClr>
                <a:schemeClr val="lt1"/>
              </a:buClr>
              <a:buSzPts val="1800"/>
            </a:pPr>
            <a:r>
              <a:rPr lang="es-E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Realiza una prueba de hipótesis para probar la validez de una aseveración acerca de un parámetro de la población.</a:t>
            </a:r>
            <a:endParaRPr sz="1800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24021" y="1459221"/>
            <a:ext cx="7074670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ES" sz="2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de Hipótesis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98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Título de la sesión</a:t>
            </a:r>
            <a:endParaRPr dirty="0"/>
          </a:p>
        </p:txBody>
      </p:sp>
      <p:sp>
        <p:nvSpPr>
          <p:cNvPr id="10" name="Google Shape;9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Aprendizajes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1017556" y="2333286"/>
            <a:ext cx="5948218" cy="286168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  <a:sym typeface="Arial"/>
              </a:rPr>
              <a:t>1. </a:t>
            </a: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Test de Hipótesis.</a:t>
            </a:r>
          </a:p>
          <a:p>
            <a:pPr lvl="0">
              <a:lnSpc>
                <a:spcPct val="90000"/>
              </a:lnSpc>
            </a:pPr>
            <a:endParaRPr lang="es-C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90000"/>
              </a:lnSpc>
            </a:pPr>
            <a:r>
              <a:rPr lang="es-CL" sz="2000" dirty="0">
                <a:solidFill>
                  <a:schemeClr val="bg1"/>
                </a:solidFill>
                <a:latin typeface="Calibri"/>
                <a:cs typeface="Calibri"/>
              </a:rPr>
              <a:t>2. Evaluación Final (asincrónico).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bg1"/>
              </a:solidFill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916" y="315276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218" y="3669149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8;p2"/>
          <p:cNvSpPr txBox="1"/>
          <p:nvPr/>
        </p:nvSpPr>
        <p:spPr>
          <a:xfrm>
            <a:off x="439260" y="1112363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</a:rPr>
              <a:t>Temáticas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6317819" y="-1933211"/>
            <a:ext cx="4553382" cy="7365792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19" name="Google Shape;119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02446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6578869" y="1761820"/>
            <a:ext cx="394979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 de Hipótesis.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</a:t>
            </a:r>
            <a:r>
              <a:rPr lang="es-CL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s-CL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s-CL" sz="2000" b="1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Final.</a:t>
            </a:r>
            <a:endParaRPr lang="es-CL" sz="2000" dirty="0">
              <a:solidFill>
                <a:schemeClr val="lt1"/>
              </a:solidFill>
              <a:latin typeface="Calibri"/>
              <a:cs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CL" sz="3200" dirty="0">
                <a:solidFill>
                  <a:srgbClr val="7F7F7F"/>
                </a:solidFill>
              </a:rPr>
              <a:t>Estructura de la Sesión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997" y="3989489"/>
            <a:ext cx="2950712" cy="179385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706" y="3092247"/>
            <a:ext cx="2950712" cy="179385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846" y="1976955"/>
            <a:ext cx="2950712" cy="1793857"/>
          </a:xfrm>
          <a:prstGeom prst="rect">
            <a:avLst/>
          </a:prstGeom>
        </p:spPr>
      </p:pic>
      <p:sp>
        <p:nvSpPr>
          <p:cNvPr id="130" name="Google Shape;130;p5"/>
          <p:cNvSpPr/>
          <p:nvPr/>
        </p:nvSpPr>
        <p:spPr>
          <a:xfrm>
            <a:off x="993711" y="-42800"/>
            <a:ext cx="4645090" cy="7127091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314175" y="603211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s-CL" sz="3200" dirty="0">
                <a:solidFill>
                  <a:srgbClr val="7F7F7F"/>
                </a:solidFill>
              </a:rPr>
              <a:t>. Test de Hipótesis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1428098" y="1956127"/>
            <a:ext cx="3855284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“Prueba de Hipotesis.pptx”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 “Test de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Hipótesis.ipynb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    </a:t>
            </a: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lvl="0"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“Prueba de hipotesis.pptx”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buClr>
                <a:schemeClr val="lt1"/>
              </a:buClr>
              <a:buSzPts val="2000"/>
              <a:buFont typeface="+mj-lt"/>
              <a:buAutoNum type="arabicPeriod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“Autoevaluación.xlsx”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/>
          <a:srcRect l="200" t="10591" r="31544" b="21185"/>
          <a:stretch/>
        </p:blipFill>
        <p:spPr>
          <a:xfrm>
            <a:off x="6594885" y="4083986"/>
            <a:ext cx="2673657" cy="15032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439" y="3250206"/>
            <a:ext cx="2707091" cy="152273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638" y="2133316"/>
            <a:ext cx="2633127" cy="14811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3730554" y="1899355"/>
            <a:ext cx="8703965" cy="3195159"/>
          </a:xfrm>
          <a:prstGeom prst="roundRect">
            <a:avLst>
              <a:gd name="adj" fmla="val 2778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697427" y="891293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lnSpc>
                <a:spcPct val="90000"/>
              </a:lnSpc>
              <a:buFont typeface="Arial"/>
              <a:buNone/>
            </a:pPr>
            <a:r>
              <a:rPr lang="es-CL" sz="3200" dirty="0">
                <a:solidFill>
                  <a:schemeClr val="tx2">
                    <a:lumMod val="50000"/>
                  </a:schemeClr>
                </a:solidFill>
              </a:rPr>
              <a:t>2. Desafío Sesión</a:t>
            </a:r>
          </a:p>
        </p:txBody>
      </p:sp>
      <p:sp>
        <p:nvSpPr>
          <p:cNvPr id="153" name="Google Shape;153;p8"/>
          <p:cNvSpPr txBox="1"/>
          <p:nvPr/>
        </p:nvSpPr>
        <p:spPr>
          <a:xfrm>
            <a:off x="4340332" y="2264475"/>
            <a:ext cx="7484407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Actividad:</a:t>
            </a:r>
            <a:endParaRPr lang="es-CL" dirty="0">
              <a:solidFill>
                <a:schemeClr val="lt1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lt1"/>
              </a:buClr>
              <a:buSzPts val="20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Guía Autoestudio: “Guía Test de </a:t>
            </a:r>
            <a:r>
              <a:rPr lang="es-CL" sz="2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Hipótesis.ipynb</a:t>
            </a: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50000"/>
              </a:lnSpc>
              <a:buClr>
                <a:schemeClr val="lt1"/>
              </a:buClr>
              <a:buSzPts val="2000"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lvl="0">
              <a:lnSpc>
                <a:spcPct val="150000"/>
              </a:lnSpc>
              <a:buClr>
                <a:schemeClr val="lt1"/>
              </a:buClr>
              <a:buSzPts val="2000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Evaluación Final Módulo: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342900" lvl="0" indent="-342900">
              <a:lnSpc>
                <a:spcPct val="150000"/>
              </a:lnSpc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CL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Caso Notas Alumnos</a:t>
            </a: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28575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CL" sz="200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</p:spPr>
        <p:txBody>
          <a:bodyPr/>
          <a:lstStyle/>
          <a:p>
            <a:pPr algn="just">
              <a:spcBef>
                <a:spcPct val="0"/>
              </a:spcBef>
              <a:defRPr/>
            </a:pPr>
            <a:r>
              <a:rPr lang="es-ES" sz="32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Cierre de la Sesión</a:t>
            </a:r>
            <a:endParaRPr lang="en-US" sz="32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56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 noGrp="1"/>
          </p:cNvSpPr>
          <p:nvPr>
            <p:ph type="title"/>
          </p:nvPr>
        </p:nvSpPr>
        <p:spPr bwMode="auto">
          <a:xfrm>
            <a:off x="702129" y="210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Recapitulación y Reflexión: </a:t>
            </a: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b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</a:b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“Lo que hemos aprendido hoy”</a:t>
            </a:r>
          </a:p>
        </p:txBody>
      </p:sp>
    </p:spTree>
    <p:extLst>
      <p:ext uri="{BB962C8B-B14F-4D97-AF65-F5344CB8AC3E}">
        <p14:creationId xmlns:p14="http://schemas.microsoft.com/office/powerpoint/2010/main" val="27144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lang="es-CL" dirty="0"/>
          </a:p>
        </p:txBody>
      </p:sp>
      <p:sp>
        <p:nvSpPr>
          <p:cNvPr id="160" name="Google Shape;160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Practica, practica y practica…</a:t>
            </a:r>
            <a:endParaRPr lang="es-CL" sz="2000" dirty="0">
              <a:solidFill>
                <a:schemeClr val="lt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No te sientas frustrado ni sientas que no sirves para </a:t>
            </a:r>
            <a:r>
              <a:rPr lang="es-CL" sz="2000" dirty="0">
                <a:solidFill>
                  <a:schemeClr val="lt1"/>
                </a:solidFill>
              </a:rPr>
              <a:t>esto</a:t>
            </a:r>
            <a:r>
              <a:rPr lang="es-CL" sz="2000" dirty="0">
                <a:solidFill>
                  <a:schemeClr val="lt1"/>
                </a:solidFill>
                <a:sym typeface="Arial"/>
              </a:rPr>
              <a:t>, la partida siempre cuesta un poco más.</a:t>
            </a: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184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2000" dirty="0">
              <a:solidFill>
                <a:schemeClr val="lt1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CL" sz="2000" dirty="0">
                <a:solidFill>
                  <a:schemeClr val="lt1"/>
                </a:solidFill>
                <a:sym typeface="Arial"/>
              </a:rPr>
              <a:t>Siéntete parte de la comunidad, comparte.</a:t>
            </a:r>
            <a:endParaRPr lang="es-CL" sz="2000" dirty="0">
              <a:solidFill>
                <a:schemeClr val="lt1"/>
              </a:solidFill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3" name="Google Shape;163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92D050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“Tu FUTURO se decide por lo que haces HOY,</a:t>
            </a:r>
            <a:r>
              <a:rPr lang="es-CL" sz="1600" b="1" dirty="0">
                <a:solidFill>
                  <a:schemeClr val="lt1"/>
                </a:solidFill>
              </a:rPr>
              <a:t> </a:t>
            </a:r>
            <a:endParaRPr lang="es-CL" sz="1600" dirty="0">
              <a:solidFill>
                <a:schemeClr val="lt1"/>
              </a:solidFill>
            </a:endParaRPr>
          </a:p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dirty="0">
                <a:solidFill>
                  <a:schemeClr val="lt1"/>
                </a:solidFill>
                <a:sym typeface="Arial"/>
              </a:rPr>
              <a:t>no MAÑANA”</a:t>
            </a:r>
            <a:endParaRPr lang="es-CL" sz="1600" dirty="0">
              <a:solidFill>
                <a:schemeClr val="lt1"/>
              </a:solidFill>
            </a:endParaRPr>
          </a:p>
          <a:p>
            <a:pPr marL="285750" marR="0" lvl="0" indent="-1841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CL" sz="1600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 descr="Patrón de fon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-585177" y="3057041"/>
            <a:ext cx="7270376" cy="1045333"/>
          </a:xfrm>
          <a:prstGeom prst="roundRect">
            <a:avLst>
              <a:gd name="adj" fmla="val 9640"/>
            </a:avLst>
          </a:prstGeom>
          <a:gradFill flip="none" rotWithShape="1">
            <a:gsLst>
              <a:gs pos="0">
                <a:srgbClr val="98C340">
                  <a:shade val="30000"/>
                  <a:satMod val="115000"/>
                </a:srgbClr>
              </a:gs>
              <a:gs pos="50000">
                <a:srgbClr val="98C340">
                  <a:shade val="67500"/>
                  <a:satMod val="115000"/>
                </a:srgbClr>
              </a:gs>
              <a:gs pos="100000">
                <a:srgbClr val="98C34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2469276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lang="es-CL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lang="es-C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171</Words>
  <Application>Microsoft Office PowerPoint</Application>
  <PresentationFormat>Panorámica</PresentationFormat>
  <Paragraphs>50</Paragraphs>
  <Slides>12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la sesión</vt:lpstr>
      <vt:lpstr>Repaso y Activación de Conceptos: 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kibernum</cp:lastModifiedBy>
  <cp:revision>71</cp:revision>
  <dcterms:created xsi:type="dcterms:W3CDTF">2023-01-03T12:28:26Z</dcterms:created>
  <dcterms:modified xsi:type="dcterms:W3CDTF">2025-09-26T11:51:57Z</dcterms:modified>
</cp:coreProperties>
</file>