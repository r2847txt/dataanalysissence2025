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3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hIWZTmm1LeK2hIWBOGR0KSPIN8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BA05D7-AD54-725F-C8E6-EAFEDA19F844}" v="3" dt="2025-09-26T11:51:20.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CCBA05D7-AD54-725F-C8E6-EAFEDA19F844}"/>
    <pc:docChg chg="modSld">
      <pc:chgData name="Soraya Salazar" userId="S::soraya.salazar@kibernumacademy.com::fdf00a5c-f577-43dc-8064-9968cad83607" providerId="AD" clId="Web-{CCBA05D7-AD54-725F-C8E6-EAFEDA19F844}" dt="2025-09-26T11:51:20.240" v="1" actId="20577"/>
      <pc:docMkLst>
        <pc:docMk/>
      </pc:docMkLst>
      <pc:sldChg chg="delSp modSp">
        <pc:chgData name="Soraya Salazar" userId="S::soraya.salazar@kibernumacademy.com::fdf00a5c-f577-43dc-8064-9968cad83607" providerId="AD" clId="Web-{CCBA05D7-AD54-725F-C8E6-EAFEDA19F844}" dt="2025-09-26T11:51:20.240" v="1" actId="20577"/>
        <pc:sldMkLst>
          <pc:docMk/>
          <pc:sldMk cId="0" sldId="256"/>
        </pc:sldMkLst>
        <pc:spChg chg="del">
          <ac:chgData name="Soraya Salazar" userId="S::soraya.salazar@kibernumacademy.com::fdf00a5c-f577-43dc-8064-9968cad83607" providerId="AD" clId="Web-{CCBA05D7-AD54-725F-C8E6-EAFEDA19F844}" dt="2025-09-26T11:51:17.897" v="0"/>
          <ac:spMkLst>
            <pc:docMk/>
            <pc:sldMk cId="0" sldId="256"/>
            <ac:spMk id="166" creationId="{00000000-0000-0000-0000-000000000000}"/>
          </ac:spMkLst>
        </pc:spChg>
        <pc:spChg chg="mod">
          <ac:chgData name="Soraya Salazar" userId="S::soraya.salazar@kibernumacademy.com::fdf00a5c-f577-43dc-8064-9968cad83607" providerId="AD" clId="Web-{CCBA05D7-AD54-725F-C8E6-EAFEDA19F844}" dt="2025-09-26T11:51:20.240" v="1" actId="20577"/>
          <ac:spMkLst>
            <pc:docMk/>
            <pc:sldMk cId="0" sldId="256"/>
            <ac:spMk id="1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 name="Google Shape;1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9" name="Google Shape;18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2" name="Google Shape;2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7" name="Google Shape;22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4" name="Google Shape;23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1" name="Google Shape;24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8" name="Google Shape;24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3" name="Google Shape;25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4" name="Google Shape;27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8" name="Google Shape;30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5" name="Google Shape;31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3" name="Google Shape;32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0" name="Google Shape;33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0" name="Google Shape;34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2" name="Google Shape;35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1" name="Google Shape;36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0" name="Google Shape;37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9" name="Google Shape;37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8" name="Google Shape;38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7" name="Google Shape;39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0" name="Google Shape;41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1" name="Google Shape;42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8" name="Google Shape;42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3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3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3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43"/>
          <p:cNvSpPr>
            <a:spLocks noGrp="1"/>
          </p:cNvSpPr>
          <p:nvPr>
            <p:ph type="pic" idx="2"/>
          </p:nvPr>
        </p:nvSpPr>
        <p:spPr>
          <a:xfrm>
            <a:off x="5183188" y="987425"/>
            <a:ext cx="6172200" cy="4873625"/>
          </a:xfrm>
          <a:prstGeom prst="rect">
            <a:avLst/>
          </a:prstGeom>
          <a:noFill/>
          <a:ln>
            <a:noFill/>
          </a:ln>
        </p:spPr>
      </p:sp>
      <p:sp>
        <p:nvSpPr>
          <p:cNvPr id="68" name="Google Shape;68;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4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4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5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5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5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53"/>
          <p:cNvSpPr>
            <a:spLocks noGrp="1"/>
          </p:cNvSpPr>
          <p:nvPr>
            <p:ph type="pic" idx="2"/>
          </p:nvPr>
        </p:nvSpPr>
        <p:spPr>
          <a:xfrm>
            <a:off x="5183188" y="987425"/>
            <a:ext cx="6172200" cy="4873625"/>
          </a:xfrm>
          <a:prstGeom prst="rect">
            <a:avLst/>
          </a:prstGeom>
          <a:noFill/>
          <a:ln>
            <a:noFill/>
          </a:ln>
        </p:spPr>
      </p:sp>
      <p:sp>
        <p:nvSpPr>
          <p:cNvPr id="143" name="Google Shape;143;p5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5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5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5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84"/>
        <p:cNvGrpSpPr/>
        <p:nvPr/>
      </p:nvGrpSpPr>
      <p:grpSpPr>
        <a:xfrm>
          <a:off x="0" y="0"/>
          <a:ext cx="0" cy="0"/>
          <a:chOff x="0" y="0"/>
          <a:chExt cx="0" cy="0"/>
        </a:xfrm>
      </p:grpSpPr>
      <p:sp>
        <p:nvSpPr>
          <p:cNvPr id="85" name="Google Shape;85;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 descr="Patrón de fondo&#10;&#10;Descripción generada automáticamente con confianza baja"/>
          <p:cNvPicPr preferRelativeResize="0"/>
          <p:nvPr/>
        </p:nvPicPr>
        <p:blipFill rotWithShape="1">
          <a:blip r:embed="rId3">
            <a:alphaModFix/>
          </a:blip>
          <a:srcRect/>
          <a:stretch/>
        </p:blipFill>
        <p:spPr>
          <a:xfrm>
            <a:off x="0" y="0"/>
            <a:ext cx="12192000" cy="7037762"/>
          </a:xfrm>
          <a:prstGeom prst="rect">
            <a:avLst/>
          </a:prstGeom>
          <a:noFill/>
          <a:ln>
            <a:noFill/>
          </a:ln>
        </p:spPr>
      </p:pic>
      <p:sp>
        <p:nvSpPr>
          <p:cNvPr id="164" name="Google Shape;164;p1"/>
          <p:cNvSpPr/>
          <p:nvPr/>
        </p:nvSpPr>
        <p:spPr>
          <a:xfrm>
            <a:off x="4123818" y="3518881"/>
            <a:ext cx="7308567" cy="1667870"/>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5" name="Google Shape;165;p1"/>
          <p:cNvSpPr txBox="1">
            <a:spLocks noGrp="1"/>
          </p:cNvSpPr>
          <p:nvPr>
            <p:ph type="ctrTitle"/>
          </p:nvPr>
        </p:nvSpPr>
        <p:spPr>
          <a:xfrm>
            <a:off x="4815840" y="3749123"/>
            <a:ext cx="6966370" cy="1403319"/>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000"/>
              <a:buFont typeface="Arial"/>
              <a:buNone/>
            </a:pPr>
            <a:br>
              <a:rPr lang="es-ES" sz="5000" b="1">
                <a:solidFill>
                  <a:schemeClr val="lt1"/>
                </a:solidFill>
                <a:latin typeface="Arial"/>
                <a:ea typeface="Arial"/>
                <a:cs typeface="Arial"/>
                <a:sym typeface="Arial"/>
              </a:rPr>
            </a:br>
            <a:br>
              <a:rPr lang="es-ES" sz="5000" b="1">
                <a:solidFill>
                  <a:schemeClr val="lt1"/>
                </a:solidFill>
                <a:latin typeface="Arial"/>
                <a:ea typeface="Arial"/>
                <a:cs typeface="Arial"/>
                <a:sym typeface="Arial"/>
              </a:rPr>
            </a:br>
            <a:br>
              <a:rPr lang="es-ES" sz="5000" b="1">
                <a:solidFill>
                  <a:schemeClr val="lt1"/>
                </a:solidFill>
                <a:latin typeface="Arial"/>
                <a:ea typeface="Arial"/>
                <a:cs typeface="Arial"/>
                <a:sym typeface="Arial"/>
              </a:rPr>
            </a:br>
            <a:br>
              <a:rPr lang="es-ES" sz="50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Bootstrapping</a:t>
            </a:r>
            <a:br>
              <a:rPr lang="es-ES" sz="5000" b="1">
                <a:solidFill>
                  <a:schemeClr val="lt1"/>
                </a:solidFill>
                <a:latin typeface="Arial"/>
                <a:ea typeface="Arial"/>
                <a:cs typeface="Arial"/>
                <a:sym typeface="Arial"/>
              </a:rPr>
            </a:br>
            <a:endParaRPr sz="3000" b="1">
              <a:solidFill>
                <a:schemeClr val="lt1"/>
              </a:solidFill>
              <a:latin typeface="Calibri"/>
              <a:ea typeface="Calibri"/>
              <a:cs typeface="Calibri"/>
              <a:sym typeface="Calibri"/>
            </a:endParaRPr>
          </a:p>
        </p:txBody>
      </p:sp>
      <p:sp>
        <p:nvSpPr>
          <p:cNvPr id="167" name="Google Shape;167;p1"/>
          <p:cNvSpPr txBox="1"/>
          <p:nvPr/>
        </p:nvSpPr>
        <p:spPr>
          <a:xfrm>
            <a:off x="4815840" y="3037460"/>
            <a:ext cx="647365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2000"/>
              <a:buFont typeface="Arial"/>
              <a:buNone/>
            </a:pPr>
            <a:r>
              <a:rPr lang="es-ES" sz="2000" b="1" i="0" u="none" strike="noStrike" cap="none" dirty="0">
                <a:solidFill>
                  <a:srgbClr val="FFFFFF"/>
                </a:solidFill>
                <a:latin typeface="Arial"/>
                <a:ea typeface="Arial"/>
                <a:cs typeface="Arial"/>
                <a:sym typeface="Arial"/>
              </a:rPr>
              <a:t> Inferencia Estadística</a:t>
            </a:r>
            <a:endParaRPr sz="20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
          <p:cNvSpPr/>
          <p:nvPr/>
        </p:nvSpPr>
        <p:spPr>
          <a:xfrm>
            <a:off x="6068291" y="-326264"/>
            <a:ext cx="4557668" cy="5706521"/>
          </a:xfrm>
          <a:prstGeom prst="roundRect">
            <a:avLst>
              <a:gd name="adj" fmla="val 2778"/>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2"/>
          <p:cNvSpPr txBox="1"/>
          <p:nvPr/>
        </p:nvSpPr>
        <p:spPr>
          <a:xfrm>
            <a:off x="363548" y="469681"/>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 de Aprendizaje</a:t>
            </a:r>
            <a:endParaRPr sz="3200">
              <a:solidFill>
                <a:srgbClr val="7F7F7F"/>
              </a:solidFill>
              <a:latin typeface="Arial"/>
              <a:ea typeface="Arial"/>
              <a:cs typeface="Arial"/>
              <a:sym typeface="Arial"/>
            </a:endParaRPr>
          </a:p>
        </p:txBody>
      </p:sp>
      <p:sp>
        <p:nvSpPr>
          <p:cNvPr id="174" name="Google Shape;174;p2"/>
          <p:cNvSpPr txBox="1"/>
          <p:nvPr/>
        </p:nvSpPr>
        <p:spPr>
          <a:xfrm>
            <a:off x="6288495" y="1865162"/>
            <a:ext cx="4117260" cy="286232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Utiliza los conceptos básicos de estadística Inferencial.</a:t>
            </a:r>
            <a:endParaRPr/>
          </a:p>
          <a:p>
            <a:pPr marL="342900" marR="0" lvl="0" indent="-228600" algn="just" rtl="0">
              <a:spcBef>
                <a:spcPts val="0"/>
              </a:spcBef>
              <a:spcAft>
                <a:spcPts val="0"/>
              </a:spcAft>
              <a:buClr>
                <a:srgbClr val="FFFFFF"/>
              </a:buClr>
              <a:buSzPts val="1800"/>
              <a:buFont typeface="Noto Sans Symbols"/>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Describir el concepto de intervalo de confianza.</a:t>
            </a:r>
            <a:endParaRPr/>
          </a:p>
          <a:p>
            <a:pPr marL="342900" marR="0" lvl="0" indent="-228600" algn="just" rtl="0">
              <a:spcBef>
                <a:spcPts val="0"/>
              </a:spcBef>
              <a:spcAft>
                <a:spcPts val="0"/>
              </a:spcAft>
              <a:buClr>
                <a:srgbClr val="FFFFFF"/>
              </a:buClr>
              <a:buSzPts val="1800"/>
              <a:buFont typeface="Noto Sans Symbols"/>
              <a:buNone/>
            </a:pPr>
            <a:endParaRPr sz="1800">
              <a:solidFill>
                <a:schemeClr val="dk1"/>
              </a:solidFill>
              <a:latin typeface="Calibri"/>
              <a:ea typeface="Calibri"/>
              <a:cs typeface="Calibri"/>
              <a:sym typeface="Calibri"/>
            </a:endParaRPr>
          </a:p>
          <a:p>
            <a:pPr marL="342900" marR="0" lvl="0" indent="-342900" algn="just" rtl="0">
              <a:spcBef>
                <a:spcPts val="0"/>
              </a:spcBef>
              <a:spcAft>
                <a:spcPts val="0"/>
              </a:spcAft>
              <a:buClr>
                <a:srgbClr val="FFFFFF"/>
              </a:buClr>
              <a:buSzPts val="1800"/>
              <a:buFont typeface="Noto Sans Symbols"/>
              <a:buChar char="⮚"/>
            </a:pPr>
            <a:r>
              <a:rPr lang="es-ES" sz="1800">
                <a:solidFill>
                  <a:srgbClr val="FFFFFF"/>
                </a:solidFill>
                <a:latin typeface="Calibri"/>
                <a:ea typeface="Calibri"/>
                <a:cs typeface="Calibri"/>
                <a:sym typeface="Calibri"/>
              </a:rPr>
              <a:t>Realizar  estimaciones de la media de una población utilizando intervalos de confianza implementados mediante bootstrapping.</a:t>
            </a:r>
            <a:endParaRPr/>
          </a:p>
        </p:txBody>
      </p:sp>
      <p:grpSp>
        <p:nvGrpSpPr>
          <p:cNvPr id="175" name="Google Shape;175;p2"/>
          <p:cNvGrpSpPr/>
          <p:nvPr/>
        </p:nvGrpSpPr>
        <p:grpSpPr>
          <a:xfrm>
            <a:off x="1120545" y="1659284"/>
            <a:ext cx="3524500" cy="3720972"/>
            <a:chOff x="884486" y="0"/>
            <a:chExt cx="3524500" cy="3720972"/>
          </a:xfrm>
        </p:grpSpPr>
        <p:sp>
          <p:nvSpPr>
            <p:cNvPr id="176" name="Google Shape;176;p2"/>
            <p:cNvSpPr/>
            <p:nvPr/>
          </p:nvSpPr>
          <p:spPr>
            <a:xfrm>
              <a:off x="884486"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p:nvPr/>
        </p:nvSpPr>
        <p:spPr>
          <a:xfrm>
            <a:off x="980101" y="1607482"/>
            <a:ext cx="1014167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Contenido:</a:t>
            </a:r>
            <a:endParaRPr/>
          </a:p>
        </p:txBody>
      </p:sp>
      <p:sp>
        <p:nvSpPr>
          <p:cNvPr id="184" name="Google Shape;184;p3"/>
          <p:cNvSpPr/>
          <p:nvPr/>
        </p:nvSpPr>
        <p:spPr>
          <a:xfrm>
            <a:off x="-920750" y="2507602"/>
            <a:ext cx="8070600" cy="1894500"/>
          </a:xfrm>
          <a:prstGeom prst="roundRect">
            <a:avLst>
              <a:gd name="adj" fmla="val 4466"/>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3"/>
          <p:cNvSpPr txBox="1"/>
          <p:nvPr/>
        </p:nvSpPr>
        <p:spPr>
          <a:xfrm>
            <a:off x="980101" y="2827210"/>
            <a:ext cx="6953400" cy="120060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¿Qué es Bootstrapping?</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Implementación de Bootstrapping en Python.</a:t>
            </a:r>
            <a:endParaRPr sz="1800">
              <a:solidFill>
                <a:schemeClr val="dk1"/>
              </a:solidFill>
              <a:latin typeface="Calibri"/>
              <a:ea typeface="Calibri"/>
              <a:cs typeface="Calibri"/>
              <a:sym typeface="Calibri"/>
            </a:endParaRPr>
          </a:p>
          <a:p>
            <a:pPr marL="342900" marR="0" lvl="0" indent="-342900" algn="just" rtl="0">
              <a:lnSpc>
                <a:spcPct val="150000"/>
              </a:lnSpc>
              <a:spcBef>
                <a:spcPts val="0"/>
              </a:spcBef>
              <a:spcAft>
                <a:spcPts val="0"/>
              </a:spcAft>
              <a:buClr>
                <a:srgbClr val="FFFFFF"/>
              </a:buClr>
              <a:buSzPts val="1800"/>
              <a:buFont typeface="Calibri"/>
              <a:buAutoNum type="arabicPeriod"/>
            </a:pPr>
            <a:r>
              <a:rPr lang="es-ES" sz="1800">
                <a:solidFill>
                  <a:srgbClr val="FFFFFF"/>
                </a:solidFill>
                <a:latin typeface="Calibri"/>
                <a:ea typeface="Calibri"/>
                <a:cs typeface="Calibri"/>
                <a:sym typeface="Calibri"/>
              </a:rPr>
              <a:t>Cálculo de intervalos de confianza con Bootstrapping.</a:t>
            </a:r>
            <a:endParaRPr sz="1800">
              <a:solidFill>
                <a:schemeClr val="dk1"/>
              </a:solidFill>
              <a:latin typeface="Calibri"/>
              <a:ea typeface="Calibri"/>
              <a:cs typeface="Calibri"/>
              <a:sym typeface="Calibri"/>
            </a:endParaRPr>
          </a:p>
        </p:txBody>
      </p:sp>
      <p:sp>
        <p:nvSpPr>
          <p:cNvPr id="186" name="Google Shape;186;p3"/>
          <p:cNvSpPr/>
          <p:nvPr/>
        </p:nvSpPr>
        <p:spPr>
          <a:xfrm>
            <a:off x="7933422" y="1395816"/>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4"/>
          <p:cNvSpPr txBox="1"/>
          <p:nvPr/>
        </p:nvSpPr>
        <p:spPr>
          <a:xfrm>
            <a:off x="704850" y="292496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5"/>
          <p:cNvSpPr/>
          <p:nvPr/>
        </p:nvSpPr>
        <p:spPr>
          <a:xfrm>
            <a:off x="5807951" y="2631091"/>
            <a:ext cx="6094684" cy="183055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5"/>
          <p:cNvSpPr/>
          <p:nvPr/>
        </p:nvSpPr>
        <p:spPr>
          <a:xfrm>
            <a:off x="-289691" y="1120675"/>
            <a:ext cx="5828342" cy="5201297"/>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5"/>
          <p:cNvSpPr txBox="1"/>
          <p:nvPr/>
        </p:nvSpPr>
        <p:spPr>
          <a:xfrm>
            <a:off x="385927" y="72333"/>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
        <p:nvSpPr>
          <p:cNvPr id="199" name="Google Shape;199;p5"/>
          <p:cNvSpPr txBox="1"/>
          <p:nvPr/>
        </p:nvSpPr>
        <p:spPr>
          <a:xfrm>
            <a:off x="704852" y="1472182"/>
            <a:ext cx="4497114"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En ciencia de datos, hay situaciones en que es necesario cuantificar la incertidumbre que hay alrededor de un valor, sea una medición, una predicción, una estimación, etc. Por ejemplo, un caso típico es resumir un conjunto de valores que siguen una determinada distribución aleatoria usando un estadístico, como por ejemplo la media.</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El enfoque tradicional ha sido utilizar métodos analíticos para cuantificar esta incertidumbre, pero no siempre existe una fórmula analítica para todas las posibles situaciones, además, muchas veces estos métodos deben cumplir con requisitos o supuestos para su aplicación que no siempre se cumplen.</a:t>
            </a:r>
            <a:endParaRPr sz="1800">
              <a:solidFill>
                <a:schemeClr val="lt1"/>
              </a:solidFill>
              <a:latin typeface="Arial"/>
              <a:ea typeface="Arial"/>
              <a:cs typeface="Arial"/>
              <a:sym typeface="Arial"/>
            </a:endParaRPr>
          </a:p>
        </p:txBody>
      </p:sp>
      <p:pic>
        <p:nvPicPr>
          <p:cNvPr id="200" name="Google Shape;200;p5"/>
          <p:cNvPicPr preferRelativeResize="0"/>
          <p:nvPr/>
        </p:nvPicPr>
        <p:blipFill rotWithShape="1">
          <a:blip r:embed="rId3">
            <a:alphaModFix/>
          </a:blip>
          <a:srcRect/>
          <a:stretch/>
        </p:blipFill>
        <p:spPr>
          <a:xfrm>
            <a:off x="5949610" y="2829244"/>
            <a:ext cx="5769985" cy="14342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6" name="Google Shape;206;p6"/>
          <p:cNvSpPr/>
          <p:nvPr/>
        </p:nvSpPr>
        <p:spPr>
          <a:xfrm>
            <a:off x="457200" y="1092046"/>
            <a:ext cx="11277600" cy="5157151"/>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6"/>
          <p:cNvSpPr/>
          <p:nvPr/>
        </p:nvSpPr>
        <p:spPr>
          <a:xfrm>
            <a:off x="707570" y="2543017"/>
            <a:ext cx="10776859" cy="3566730"/>
          </a:xfrm>
          <a:prstGeom prst="roundRect">
            <a:avLst>
              <a:gd name="adj" fmla="val 2971"/>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6"/>
          <p:cNvSpPr txBox="1"/>
          <p:nvPr/>
        </p:nvSpPr>
        <p:spPr>
          <a:xfrm>
            <a:off x="704850" y="7592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
        <p:nvSpPr>
          <p:cNvPr id="208" name="Google Shape;208;p6"/>
          <p:cNvSpPr txBox="1"/>
          <p:nvPr/>
        </p:nvSpPr>
        <p:spPr>
          <a:xfrm>
            <a:off x="704850" y="1253123"/>
            <a:ext cx="10782300"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Hoy en día existe la alternativa de utilizar métodos computacionales (algorítmicos) que obtienen resultados equivalentes a los métodos analíticos. Estos métodos tienen muchas menos restricciones y son más fáciles de entender y aplicar. Sin embargo, son más lentos puesto que necesitan realizar un número elevado de operaciones en su procesamiento, aunque esto no es un problema, dada la creciente potencia de cálculo de las máquinas.</a:t>
            </a:r>
            <a:endParaRPr/>
          </a:p>
        </p:txBody>
      </p:sp>
      <p:pic>
        <p:nvPicPr>
          <p:cNvPr id="209" name="Google Shape;209;p6"/>
          <p:cNvPicPr preferRelativeResize="0"/>
          <p:nvPr/>
        </p:nvPicPr>
        <p:blipFill rotWithShape="1">
          <a:blip r:embed="rId3">
            <a:alphaModFix/>
          </a:blip>
          <a:srcRect/>
          <a:stretch/>
        </p:blipFill>
        <p:spPr>
          <a:xfrm>
            <a:off x="2380959" y="2817406"/>
            <a:ext cx="7430082" cy="301680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7"/>
          <p:cNvSpPr/>
          <p:nvPr/>
        </p:nvSpPr>
        <p:spPr>
          <a:xfrm>
            <a:off x="457200" y="2049443"/>
            <a:ext cx="11277600" cy="3283924"/>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7"/>
          <p:cNvSpPr txBox="1"/>
          <p:nvPr/>
        </p:nvSpPr>
        <p:spPr>
          <a:xfrm>
            <a:off x="704850" y="800073"/>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
        <p:nvSpPr>
          <p:cNvPr id="216" name="Google Shape;216;p7"/>
          <p:cNvSpPr txBox="1"/>
          <p:nvPr/>
        </p:nvSpPr>
        <p:spPr>
          <a:xfrm>
            <a:off x="704850" y="2260244"/>
            <a:ext cx="10782300"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Justamente uno de estos métodos computacionales es el Bootstrapping, y se le llama así a un conjunto de técnicas que utilizan muestreos aleatorios con reemplazo a partir de una distribución de partida para estimar intervalos de confianza, distribuciones muestrales de un parámetro, etc.</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idea es simple, partiendo de la muestra original, extraemos nuevas muestras aleatorias con reemplazo del mismo tamaño y calculamos el estadístico de interés (media, varianza, etc), repitiendo este proceso un número elevado de veces. Esto nos dará una distribución muestral del estadístico que nos interese, sobre la que podremos calcular, por ejemplo, </a:t>
            </a:r>
            <a:r>
              <a:rPr lang="es-ES" sz="1800" b="1">
                <a:solidFill>
                  <a:schemeClr val="lt1"/>
                </a:solidFill>
                <a:latin typeface="Calibri"/>
                <a:ea typeface="Calibri"/>
                <a:cs typeface="Calibri"/>
                <a:sym typeface="Calibri"/>
              </a:rPr>
              <a:t>intervalos de confianza</a:t>
            </a:r>
            <a:r>
              <a:rPr lang="es-ES" sz="1800">
                <a:solidFill>
                  <a:schemeClr val="lt1"/>
                </a:solidFill>
                <a:latin typeface="Calibri"/>
                <a:ea typeface="Calibri"/>
                <a:cs typeface="Calibri"/>
                <a:sym typeface="Calibri"/>
              </a:rPr>
              <a:t>. Cuantas más veces lo repitamos, mayor será la distribución muestral generada, y más precisa será la estimación que hagamos (de aquí el coste computacional de este método).</a:t>
            </a:r>
            <a:endParaRPr/>
          </a:p>
        </p:txBody>
      </p:sp>
      <p:sp>
        <p:nvSpPr>
          <p:cNvPr id="217" name="Google Shape;217;p7"/>
          <p:cNvSpPr txBox="1"/>
          <p:nvPr/>
        </p:nvSpPr>
        <p:spPr>
          <a:xfrm>
            <a:off x="704850" y="6096169"/>
            <a:ext cx="5312773" cy="307777"/>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b="0" i="0" u="none" strike="noStrike">
                <a:solidFill>
                  <a:srgbClr val="595959"/>
                </a:solidFill>
                <a:latin typeface="Arial"/>
                <a:ea typeface="Arial"/>
                <a:cs typeface="Arial"/>
                <a:sym typeface="Arial"/>
              </a:rPr>
              <a:t>Más info:  https://en.wikipedia.org/wiki/Bootstrapping_(statistics)</a:t>
            </a:r>
            <a:endParaRPr sz="1400">
              <a:solidFill>
                <a:srgbClr val="595959"/>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8"/>
          <p:cNvSpPr/>
          <p:nvPr/>
        </p:nvSpPr>
        <p:spPr>
          <a:xfrm>
            <a:off x="704850" y="1472487"/>
            <a:ext cx="10667445" cy="469183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8"/>
          <p:cNvSpPr txBox="1"/>
          <p:nvPr/>
        </p:nvSpPr>
        <p:spPr>
          <a:xfrm>
            <a:off x="704850" y="46442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pic>
        <p:nvPicPr>
          <p:cNvPr id="224" name="Google Shape;224;p8"/>
          <p:cNvPicPr preferRelativeResize="0"/>
          <p:nvPr/>
        </p:nvPicPr>
        <p:blipFill rotWithShape="1">
          <a:blip r:embed="rId3">
            <a:alphaModFix/>
          </a:blip>
          <a:srcRect/>
          <a:stretch/>
        </p:blipFill>
        <p:spPr>
          <a:xfrm>
            <a:off x="2231720" y="1793549"/>
            <a:ext cx="7728559" cy="4049706"/>
          </a:xfrm>
          <a:prstGeom prst="rect">
            <a:avLst/>
          </a:prstGeom>
          <a:noFill/>
          <a:ln>
            <a:noFill/>
          </a:ln>
        </p:spPr>
      </p:pic>
      <p:sp>
        <p:nvSpPr>
          <p:cNvPr id="3" name="Rectángulo 2">
            <a:extLst>
              <a:ext uri="{FF2B5EF4-FFF2-40B4-BE49-F238E27FC236}">
                <a16:creationId xmlns:a16="http://schemas.microsoft.com/office/drawing/2014/main" id="{CC18EA6C-C3A2-BFC3-9DD0-A29AEA34CCC4}"/>
              </a:ext>
            </a:extLst>
          </p:cNvPr>
          <p:cNvSpPr/>
          <p:nvPr/>
        </p:nvSpPr>
        <p:spPr>
          <a:xfrm>
            <a:off x="3366197" y="1917561"/>
            <a:ext cx="1180681" cy="293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3">
            <a:extLst>
              <a:ext uri="{FF2B5EF4-FFF2-40B4-BE49-F238E27FC236}">
                <a16:creationId xmlns:a16="http://schemas.microsoft.com/office/drawing/2014/main" id="{CAB2AE54-1FD1-B881-373F-D5292A262199}"/>
              </a:ext>
            </a:extLst>
          </p:cNvPr>
          <p:cNvSpPr/>
          <p:nvPr/>
        </p:nvSpPr>
        <p:spPr>
          <a:xfrm>
            <a:off x="5878284" y="1917561"/>
            <a:ext cx="828989" cy="293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A641D7D9-1AEC-09FB-BA71-BB3A131BB844}"/>
              </a:ext>
            </a:extLst>
          </p:cNvPr>
          <p:cNvSpPr/>
          <p:nvPr/>
        </p:nvSpPr>
        <p:spPr>
          <a:xfrm>
            <a:off x="4170065" y="3902111"/>
            <a:ext cx="2026417" cy="293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ABB08AAC-E29C-A05A-2A70-40B969340162}"/>
              </a:ext>
            </a:extLst>
          </p:cNvPr>
          <p:cNvSpPr/>
          <p:nvPr/>
        </p:nvSpPr>
        <p:spPr>
          <a:xfrm>
            <a:off x="7058966" y="1917559"/>
            <a:ext cx="2512087" cy="477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3A78D4D6-1666-CCF3-0CDF-04E4F7509E2F}"/>
              </a:ext>
            </a:extLst>
          </p:cNvPr>
          <p:cNvSpPr/>
          <p:nvPr/>
        </p:nvSpPr>
        <p:spPr>
          <a:xfrm>
            <a:off x="7494395" y="4044461"/>
            <a:ext cx="1976174" cy="2930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75B7C2D-E78B-C837-B929-7D52B233735B}"/>
              </a:ext>
            </a:extLst>
          </p:cNvPr>
          <p:cNvSpPr txBox="1"/>
          <p:nvPr/>
        </p:nvSpPr>
        <p:spPr>
          <a:xfrm>
            <a:off x="3250641" y="1893276"/>
            <a:ext cx="140425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dirty="0"/>
              <a:t>Población</a:t>
            </a:r>
          </a:p>
        </p:txBody>
      </p:sp>
      <p:sp>
        <p:nvSpPr>
          <p:cNvPr id="8" name="CuadroTexto 7">
            <a:extLst>
              <a:ext uri="{FF2B5EF4-FFF2-40B4-BE49-F238E27FC236}">
                <a16:creationId xmlns:a16="http://schemas.microsoft.com/office/drawing/2014/main" id="{21954DC3-5B12-F395-C3C9-E9DFA3E8AF4D}"/>
              </a:ext>
            </a:extLst>
          </p:cNvPr>
          <p:cNvSpPr txBox="1"/>
          <p:nvPr/>
        </p:nvSpPr>
        <p:spPr>
          <a:xfrm>
            <a:off x="5645498" y="1893274"/>
            <a:ext cx="128702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600" dirty="0"/>
              <a:t>Muestra</a:t>
            </a:r>
          </a:p>
        </p:txBody>
      </p:sp>
      <p:sp>
        <p:nvSpPr>
          <p:cNvPr id="9" name="CuadroTexto 8">
            <a:extLst>
              <a:ext uri="{FF2B5EF4-FFF2-40B4-BE49-F238E27FC236}">
                <a16:creationId xmlns:a16="http://schemas.microsoft.com/office/drawing/2014/main" id="{53E9D354-A9F5-4016-C402-85ED2495C98C}"/>
              </a:ext>
            </a:extLst>
          </p:cNvPr>
          <p:cNvSpPr txBox="1"/>
          <p:nvPr/>
        </p:nvSpPr>
        <p:spPr>
          <a:xfrm>
            <a:off x="7236486" y="4011801"/>
            <a:ext cx="258493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Estadísticos del Bootstrap</a:t>
            </a:r>
          </a:p>
        </p:txBody>
      </p:sp>
      <p:sp>
        <p:nvSpPr>
          <p:cNvPr id="10" name="CuadroTexto 9">
            <a:extLst>
              <a:ext uri="{FF2B5EF4-FFF2-40B4-BE49-F238E27FC236}">
                <a16:creationId xmlns:a16="http://schemas.microsoft.com/office/drawing/2014/main" id="{9BD36F0A-5EBC-BAB5-BE8F-A7E8AE04B109}"/>
              </a:ext>
            </a:extLst>
          </p:cNvPr>
          <p:cNvSpPr txBox="1"/>
          <p:nvPr/>
        </p:nvSpPr>
        <p:spPr>
          <a:xfrm>
            <a:off x="3954024" y="3902943"/>
            <a:ext cx="258493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Distribución del Bootstrap</a:t>
            </a:r>
          </a:p>
        </p:txBody>
      </p:sp>
      <p:sp>
        <p:nvSpPr>
          <p:cNvPr id="11" name="CuadroTexto 10">
            <a:extLst>
              <a:ext uri="{FF2B5EF4-FFF2-40B4-BE49-F238E27FC236}">
                <a16:creationId xmlns:a16="http://schemas.microsoft.com/office/drawing/2014/main" id="{81A67F13-674E-BF9A-82D4-765E29CD005C}"/>
              </a:ext>
            </a:extLst>
          </p:cNvPr>
          <p:cNvSpPr txBox="1"/>
          <p:nvPr/>
        </p:nvSpPr>
        <p:spPr>
          <a:xfrm>
            <a:off x="7060640" y="1918394"/>
            <a:ext cx="258493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err="1"/>
              <a:t>Remuestreo</a:t>
            </a:r>
            <a:r>
              <a:rPr lang="es-ES" dirty="0"/>
              <a:t> Bootstrap</a:t>
            </a:r>
          </a:p>
          <a:p>
            <a:pPr algn="ctr"/>
            <a:r>
              <a:rPr lang="es-ES" sz="1100" dirty="0"/>
              <a:t>(</a:t>
            </a:r>
            <a:r>
              <a:rPr lang="es-ES" sz="1100" err="1"/>
              <a:t>remuestreo</a:t>
            </a:r>
            <a:r>
              <a:rPr lang="es-ES" sz="1100" dirty="0"/>
              <a:t> aleatorio con reemplazo)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9"/>
          <p:cNvSpPr/>
          <p:nvPr/>
        </p:nvSpPr>
        <p:spPr>
          <a:xfrm>
            <a:off x="457200" y="1854133"/>
            <a:ext cx="11277600" cy="3321549"/>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9"/>
          <p:cNvSpPr txBox="1"/>
          <p:nvPr/>
        </p:nvSpPr>
        <p:spPr>
          <a:xfrm>
            <a:off x="704850" y="2222245"/>
            <a:ext cx="10782300"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Desde el punto de vista teórico, el escenario ideal para realizar inferencia sobre una población es disponer de infinitas (o una gran cantidad) de muestras de dicha población. Si para cada muestra se calcula el estadístico de interés, por ejemplo, la media, se obtiene lo que se conoce como distribución muestral. Esta distribución tiene dos características: su promedio tiende a converger con el valor real del parámetro poblacional, y su dispersión permite conocer el error esperado al estimar el estadístico con una muestra de un tamaño determinado.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la práctica, no suele ser posible acceder a múltiples muestras. Si solo se dispone de una muestra, y ésta es representativa de la población, cabe esperar que los valores en la muestra aparezcan aproximadamente con la misma frecuencia que en la población. </a:t>
            </a:r>
            <a:endParaRPr/>
          </a:p>
        </p:txBody>
      </p:sp>
      <p:sp>
        <p:nvSpPr>
          <p:cNvPr id="231" name="Google Shape;231;p9"/>
          <p:cNvSpPr txBox="1"/>
          <p:nvPr/>
        </p:nvSpPr>
        <p:spPr>
          <a:xfrm>
            <a:off x="704850" y="846069"/>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0"/>
          <p:cNvSpPr/>
          <p:nvPr/>
        </p:nvSpPr>
        <p:spPr>
          <a:xfrm>
            <a:off x="457201" y="1854133"/>
            <a:ext cx="11277600" cy="3427315"/>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7" name="Google Shape;237;p10"/>
          <p:cNvSpPr txBox="1"/>
          <p:nvPr/>
        </p:nvSpPr>
        <p:spPr>
          <a:xfrm>
            <a:off x="791937" y="2275128"/>
            <a:ext cx="10782300"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Así pues, bootstrapping es un proceso de simulación gracias al cual se puede aproximar la distribución muestral de un estadístico empleando únicamente una muestra inicial. Ahora bien, es importante destacar qué información puede y no puede extraerse.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Bootstrapping no proporciona una mejor estimación del estadístico que la obtenida con la muestra original.</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Bootstrapping simula el proceso de muestreo y con ello la variabilidad generada por este proceso. Gracias a esto, permite estimar la incertidumbre que se puede esperar de un estadístico calculado a partir de una muestra.</a:t>
            </a:r>
            <a:endParaRPr/>
          </a:p>
        </p:txBody>
      </p:sp>
      <p:sp>
        <p:nvSpPr>
          <p:cNvPr id="238" name="Google Shape;238;p10"/>
          <p:cNvSpPr txBox="1"/>
          <p:nvPr/>
        </p:nvSpPr>
        <p:spPr>
          <a:xfrm>
            <a:off x="704851" y="846071"/>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1"/>
          <p:cNvSpPr/>
          <p:nvPr/>
        </p:nvSpPr>
        <p:spPr>
          <a:xfrm>
            <a:off x="422366" y="2473644"/>
            <a:ext cx="11277600" cy="1976888"/>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4" name="Google Shape;244;p11"/>
          <p:cNvSpPr txBox="1"/>
          <p:nvPr/>
        </p:nvSpPr>
        <p:spPr>
          <a:xfrm>
            <a:off x="670017" y="2703229"/>
            <a:ext cx="10782300"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La estrategia de bootstrapping se puede emplear para resolver varios problemas, entre ellos, los siguientes: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Calcular intervalos de confianza de un parámetro poblacional.</a:t>
            </a:r>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Calcular la significancia estadística (p-value) de la diferencia entre poblaciones.</a:t>
            </a:r>
            <a:endParaRPr/>
          </a:p>
          <a:p>
            <a:pPr marL="285750" marR="0" lvl="0" indent="-285750" algn="just" rtl="0">
              <a:spcBef>
                <a:spcPts val="0"/>
              </a:spcBef>
              <a:spcAft>
                <a:spcPts val="0"/>
              </a:spcAft>
              <a:buClr>
                <a:schemeClr val="lt1"/>
              </a:buClr>
              <a:buSzPts val="1800"/>
              <a:buFont typeface="Noto Sans Symbols"/>
              <a:buChar char="⮚"/>
            </a:pPr>
            <a:r>
              <a:rPr lang="es-ES" sz="1800">
                <a:solidFill>
                  <a:schemeClr val="lt1"/>
                </a:solidFill>
                <a:latin typeface="Calibri"/>
                <a:ea typeface="Calibri"/>
                <a:cs typeface="Calibri"/>
                <a:sym typeface="Calibri"/>
              </a:rPr>
              <a:t>Calcular intervalos de confianza para la diferencia entre poblaciones.</a:t>
            </a:r>
            <a:endParaRPr/>
          </a:p>
        </p:txBody>
      </p:sp>
      <p:sp>
        <p:nvSpPr>
          <p:cNvPr id="245" name="Google Shape;245;p11"/>
          <p:cNvSpPr txBox="1"/>
          <p:nvPr/>
        </p:nvSpPr>
        <p:spPr>
          <a:xfrm>
            <a:off x="704850" y="1274322"/>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¿Qué es Bootstrapping?</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2"/>
          <p:cNvSpPr txBox="1"/>
          <p:nvPr/>
        </p:nvSpPr>
        <p:spPr>
          <a:xfrm>
            <a:off x="1297033" y="3308146"/>
            <a:ext cx="855236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Implementación de Bootstrapping en Python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500"/>
                                        <p:tgtEl>
                                          <p:spTgt spid="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3"/>
          <p:cNvSpPr/>
          <p:nvPr/>
        </p:nvSpPr>
        <p:spPr>
          <a:xfrm>
            <a:off x="1770993" y="2452196"/>
            <a:ext cx="8650014" cy="394137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p13"/>
          <p:cNvSpPr txBox="1"/>
          <p:nvPr/>
        </p:nvSpPr>
        <p:spPr>
          <a:xfrm>
            <a:off x="704850" y="363344"/>
            <a:ext cx="5312127"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s-ES" sz="3200">
                <a:solidFill>
                  <a:srgbClr val="7F7F7F"/>
                </a:solidFill>
                <a:latin typeface="Arial"/>
                <a:ea typeface="Arial"/>
                <a:cs typeface="Arial"/>
                <a:sym typeface="Arial"/>
              </a:rPr>
              <a:t>Implementación en Python</a:t>
            </a:r>
            <a:endParaRPr sz="3200">
              <a:solidFill>
                <a:srgbClr val="7F7F7F"/>
              </a:solidFill>
              <a:latin typeface="Arial"/>
              <a:ea typeface="Arial"/>
              <a:cs typeface="Arial"/>
              <a:sym typeface="Arial"/>
            </a:endParaRPr>
          </a:p>
        </p:txBody>
      </p:sp>
      <p:sp>
        <p:nvSpPr>
          <p:cNvPr id="257" name="Google Shape;257;p13"/>
          <p:cNvSpPr/>
          <p:nvPr/>
        </p:nvSpPr>
        <p:spPr>
          <a:xfrm>
            <a:off x="4346222" y="2659047"/>
            <a:ext cx="1670756" cy="451556"/>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1</a:t>
            </a:r>
            <a:endParaRPr/>
          </a:p>
        </p:txBody>
      </p:sp>
      <p:sp>
        <p:nvSpPr>
          <p:cNvPr id="258" name="Google Shape;258;p13"/>
          <p:cNvSpPr txBox="1"/>
          <p:nvPr/>
        </p:nvSpPr>
        <p:spPr>
          <a:xfrm>
            <a:off x="6299201" y="2730936"/>
            <a:ext cx="2844625" cy="307777"/>
          </a:xfrm>
          <a:prstGeom prst="rect">
            <a:avLst/>
          </a:prstGeom>
          <a:blipFill rotWithShape="1">
            <a:blip r:embed="rId3">
              <a:alphaModFix/>
            </a:blip>
            <a:stretch>
              <a:fillRect l="-641" t="-3998" b="-199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59" name="Google Shape;259;p13"/>
          <p:cNvSpPr/>
          <p:nvPr/>
        </p:nvSpPr>
        <p:spPr>
          <a:xfrm>
            <a:off x="4346222" y="3652511"/>
            <a:ext cx="1670756" cy="451556"/>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2</a:t>
            </a:r>
            <a:endParaRPr/>
          </a:p>
        </p:txBody>
      </p:sp>
      <p:sp>
        <p:nvSpPr>
          <p:cNvPr id="260" name="Google Shape;260;p13"/>
          <p:cNvSpPr txBox="1"/>
          <p:nvPr/>
        </p:nvSpPr>
        <p:spPr>
          <a:xfrm>
            <a:off x="6299201" y="3598764"/>
            <a:ext cx="3488266" cy="738664"/>
          </a:xfrm>
          <a:prstGeom prst="rect">
            <a:avLst/>
          </a:prstGeom>
          <a:blipFill rotWithShape="1">
            <a:blip r:embed="rId4">
              <a:alphaModFix/>
            </a:blip>
            <a:stretch>
              <a:fillRect l="-523" t="-819" b="-737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261" name="Google Shape;261;p13"/>
          <p:cNvSpPr/>
          <p:nvPr/>
        </p:nvSpPr>
        <p:spPr>
          <a:xfrm>
            <a:off x="4346222" y="4621306"/>
            <a:ext cx="1670756" cy="451556"/>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3</a:t>
            </a:r>
            <a:endParaRPr/>
          </a:p>
        </p:txBody>
      </p:sp>
      <p:sp>
        <p:nvSpPr>
          <p:cNvPr id="262" name="Google Shape;262;p13"/>
          <p:cNvSpPr txBox="1"/>
          <p:nvPr/>
        </p:nvSpPr>
        <p:spPr>
          <a:xfrm>
            <a:off x="6299201" y="4578411"/>
            <a:ext cx="3488266" cy="523220"/>
          </a:xfrm>
          <a:prstGeom prst="rect">
            <a:avLst/>
          </a:prstGeom>
          <a:blipFill rotWithShape="1">
            <a:blip r:embed="rId5">
              <a:alphaModFix/>
            </a:blip>
            <a:stretch>
              <a:fillRect l="-523" t="-2325" b="-116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cxnSp>
        <p:nvCxnSpPr>
          <p:cNvPr id="263" name="Google Shape;263;p13"/>
          <p:cNvCxnSpPr>
            <a:stCxn id="261" idx="1"/>
            <a:endCxn id="259" idx="1"/>
          </p:cNvCxnSpPr>
          <p:nvPr/>
        </p:nvCxnSpPr>
        <p:spPr>
          <a:xfrm rot="10800000" flipH="1">
            <a:off x="4346222" y="3878384"/>
            <a:ext cx="600" cy="968700"/>
          </a:xfrm>
          <a:prstGeom prst="bentConnector3">
            <a:avLst>
              <a:gd name="adj1" fmla="val -301272173"/>
            </a:avLst>
          </a:prstGeom>
          <a:noFill/>
          <a:ln w="9525" cap="flat" cmpd="sng">
            <a:solidFill>
              <a:schemeClr val="accent1"/>
            </a:solidFill>
            <a:prstDash val="solid"/>
            <a:miter lim="800000"/>
            <a:headEnd type="none" w="sm" len="sm"/>
            <a:tailEnd type="triangle" w="med" len="med"/>
          </a:ln>
        </p:spPr>
      </p:cxnSp>
      <p:cxnSp>
        <p:nvCxnSpPr>
          <p:cNvPr id="264" name="Google Shape;264;p13"/>
          <p:cNvCxnSpPr>
            <a:stCxn id="257" idx="2"/>
            <a:endCxn id="259" idx="0"/>
          </p:cNvCxnSpPr>
          <p:nvPr/>
        </p:nvCxnSpPr>
        <p:spPr>
          <a:xfrm>
            <a:off x="5181600" y="3110603"/>
            <a:ext cx="0" cy="541800"/>
          </a:xfrm>
          <a:prstGeom prst="straightConnector1">
            <a:avLst/>
          </a:prstGeom>
          <a:noFill/>
          <a:ln w="9525" cap="flat" cmpd="sng">
            <a:solidFill>
              <a:schemeClr val="accent1"/>
            </a:solidFill>
            <a:prstDash val="solid"/>
            <a:miter lim="800000"/>
            <a:headEnd type="none" w="sm" len="sm"/>
            <a:tailEnd type="triangle" w="med" len="med"/>
          </a:ln>
        </p:spPr>
      </p:cxnSp>
      <p:cxnSp>
        <p:nvCxnSpPr>
          <p:cNvPr id="265" name="Google Shape;265;p13"/>
          <p:cNvCxnSpPr>
            <a:stCxn id="259" idx="2"/>
            <a:endCxn id="261" idx="0"/>
          </p:cNvCxnSpPr>
          <p:nvPr/>
        </p:nvCxnSpPr>
        <p:spPr>
          <a:xfrm>
            <a:off x="5181600" y="4104067"/>
            <a:ext cx="0" cy="517200"/>
          </a:xfrm>
          <a:prstGeom prst="straightConnector1">
            <a:avLst/>
          </a:prstGeom>
          <a:noFill/>
          <a:ln w="9525" cap="flat" cmpd="sng">
            <a:solidFill>
              <a:schemeClr val="accent1"/>
            </a:solidFill>
            <a:prstDash val="solid"/>
            <a:miter lim="800000"/>
            <a:headEnd type="none" w="sm" len="sm"/>
            <a:tailEnd type="triangle" w="med" len="med"/>
          </a:ln>
        </p:spPr>
      </p:cxnSp>
      <p:sp>
        <p:nvSpPr>
          <p:cNvPr id="266" name="Google Shape;266;p13"/>
          <p:cNvSpPr/>
          <p:nvPr/>
        </p:nvSpPr>
        <p:spPr>
          <a:xfrm>
            <a:off x="4346221" y="5614772"/>
            <a:ext cx="1670756" cy="451556"/>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a:solidFill>
                  <a:schemeClr val="lt1"/>
                </a:solidFill>
                <a:latin typeface="Calibri"/>
                <a:ea typeface="Calibri"/>
                <a:cs typeface="Calibri"/>
                <a:sym typeface="Calibri"/>
              </a:rPr>
              <a:t>Paso 4</a:t>
            </a:r>
            <a:endParaRPr/>
          </a:p>
        </p:txBody>
      </p:sp>
      <p:cxnSp>
        <p:nvCxnSpPr>
          <p:cNvPr id="267" name="Google Shape;267;p13"/>
          <p:cNvCxnSpPr>
            <a:stCxn id="261" idx="2"/>
            <a:endCxn id="266" idx="0"/>
          </p:cNvCxnSpPr>
          <p:nvPr/>
        </p:nvCxnSpPr>
        <p:spPr>
          <a:xfrm>
            <a:off x="5181600" y="5072862"/>
            <a:ext cx="0" cy="541800"/>
          </a:xfrm>
          <a:prstGeom prst="straightConnector1">
            <a:avLst/>
          </a:prstGeom>
          <a:noFill/>
          <a:ln w="9525" cap="flat" cmpd="sng">
            <a:solidFill>
              <a:schemeClr val="accent1"/>
            </a:solidFill>
            <a:prstDash val="solid"/>
            <a:miter lim="800000"/>
            <a:headEnd type="none" w="sm" len="sm"/>
            <a:tailEnd type="triangle" w="med" len="med"/>
          </a:ln>
        </p:spPr>
      </p:cxnSp>
      <p:sp>
        <p:nvSpPr>
          <p:cNvPr id="268" name="Google Shape;268;p13"/>
          <p:cNvSpPr txBox="1"/>
          <p:nvPr/>
        </p:nvSpPr>
        <p:spPr>
          <a:xfrm>
            <a:off x="6299201" y="5614772"/>
            <a:ext cx="348826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chemeClr val="dk1"/>
                </a:solidFill>
                <a:latin typeface="Calibri"/>
                <a:ea typeface="Calibri"/>
                <a:cs typeface="Calibri"/>
                <a:sym typeface="Calibri"/>
              </a:rPr>
              <a:t>Obtenemos distribución, estimadores, intervalos, etc.</a:t>
            </a:r>
            <a:endParaRPr/>
          </a:p>
        </p:txBody>
      </p:sp>
      <p:sp>
        <p:nvSpPr>
          <p:cNvPr id="269" name="Google Shape;269;p13"/>
          <p:cNvSpPr txBox="1"/>
          <p:nvPr/>
        </p:nvSpPr>
        <p:spPr>
          <a:xfrm>
            <a:off x="2631719" y="4104067"/>
            <a:ext cx="103293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Repetimos N veces</a:t>
            </a:r>
            <a:endParaRPr/>
          </a:p>
        </p:txBody>
      </p:sp>
      <p:sp>
        <p:nvSpPr>
          <p:cNvPr id="270" name="Google Shape;270;p13"/>
          <p:cNvSpPr/>
          <p:nvPr/>
        </p:nvSpPr>
        <p:spPr>
          <a:xfrm>
            <a:off x="457200" y="1427426"/>
            <a:ext cx="11277600" cy="812748"/>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13"/>
          <p:cNvSpPr txBox="1"/>
          <p:nvPr/>
        </p:nvSpPr>
        <p:spPr>
          <a:xfrm>
            <a:off x="820966" y="1499796"/>
            <a:ext cx="107823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Dependiendo del estadístico que se quiera estimar, va a variar la implementación en código, pero en general, se tiene la siguiente estructura:</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500"/>
                                        <p:tgtEl>
                                          <p:spTgt spid="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4"/>
          <p:cNvSpPr/>
          <p:nvPr/>
        </p:nvSpPr>
        <p:spPr>
          <a:xfrm>
            <a:off x="1865586" y="2739737"/>
            <a:ext cx="8460828" cy="375638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7" name="Google Shape;277;p14"/>
          <p:cNvSpPr/>
          <p:nvPr/>
        </p:nvSpPr>
        <p:spPr>
          <a:xfrm>
            <a:off x="457200" y="1341681"/>
            <a:ext cx="11277600" cy="1140184"/>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14"/>
          <p:cNvSpPr txBox="1"/>
          <p:nvPr/>
        </p:nvSpPr>
        <p:spPr>
          <a:xfrm>
            <a:off x="704850" y="32784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Implementación en Python</a:t>
            </a:r>
            <a:endParaRPr sz="3200">
              <a:solidFill>
                <a:srgbClr val="7F7F7F"/>
              </a:solidFill>
              <a:latin typeface="Arial"/>
              <a:ea typeface="Arial"/>
              <a:cs typeface="Arial"/>
              <a:sym typeface="Arial"/>
            </a:endParaRPr>
          </a:p>
        </p:txBody>
      </p:sp>
      <p:sp>
        <p:nvSpPr>
          <p:cNvPr id="279" name="Google Shape;279;p14"/>
          <p:cNvSpPr txBox="1"/>
          <p:nvPr/>
        </p:nvSpPr>
        <p:spPr>
          <a:xfrm>
            <a:off x="704850" y="1547970"/>
            <a:ext cx="10782300"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Por ejemplo, si queremos calcular la distribución muestral de la media usando bootstrapping, se puede utilizar la librería numpy, el cual es muy eficiente para las operaciones con datos. A continuación, se presenta un ejemplo:</a:t>
            </a:r>
            <a:endParaRPr/>
          </a:p>
        </p:txBody>
      </p:sp>
      <p:pic>
        <p:nvPicPr>
          <p:cNvPr id="280" name="Google Shape;280;p14"/>
          <p:cNvPicPr preferRelativeResize="0"/>
          <p:nvPr/>
        </p:nvPicPr>
        <p:blipFill rotWithShape="1">
          <a:blip r:embed="rId3">
            <a:alphaModFix/>
          </a:blip>
          <a:srcRect/>
          <a:stretch/>
        </p:blipFill>
        <p:spPr>
          <a:xfrm>
            <a:off x="5154555" y="3232701"/>
            <a:ext cx="4725059" cy="1924319"/>
          </a:xfrm>
          <a:prstGeom prst="rect">
            <a:avLst/>
          </a:prstGeom>
          <a:noFill/>
          <a:ln>
            <a:noFill/>
          </a:ln>
        </p:spPr>
      </p:pic>
      <p:cxnSp>
        <p:nvCxnSpPr>
          <p:cNvPr id="281" name="Google Shape;281;p14"/>
          <p:cNvCxnSpPr/>
          <p:nvPr/>
        </p:nvCxnSpPr>
        <p:spPr>
          <a:xfrm>
            <a:off x="4258830" y="3232701"/>
            <a:ext cx="895724" cy="178264"/>
          </a:xfrm>
          <a:prstGeom prst="straightConnector1">
            <a:avLst/>
          </a:prstGeom>
          <a:noFill/>
          <a:ln w="9525" cap="flat" cmpd="sng">
            <a:solidFill>
              <a:schemeClr val="accent1"/>
            </a:solidFill>
            <a:prstDash val="solid"/>
            <a:miter lim="800000"/>
            <a:headEnd type="none" w="sm" len="sm"/>
            <a:tailEnd type="triangle" w="med" len="med"/>
          </a:ln>
        </p:spPr>
      </p:cxnSp>
      <p:sp>
        <p:nvSpPr>
          <p:cNvPr id="282" name="Google Shape;282;p14"/>
          <p:cNvSpPr txBox="1"/>
          <p:nvPr/>
        </p:nvSpPr>
        <p:spPr>
          <a:xfrm>
            <a:off x="3400875" y="2937224"/>
            <a:ext cx="10368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Muestra inicial</a:t>
            </a:r>
            <a:endParaRPr/>
          </a:p>
        </p:txBody>
      </p:sp>
      <p:cxnSp>
        <p:nvCxnSpPr>
          <p:cNvPr id="283" name="Google Shape;283;p14"/>
          <p:cNvCxnSpPr/>
          <p:nvPr/>
        </p:nvCxnSpPr>
        <p:spPr>
          <a:xfrm rot="10800000" flipH="1">
            <a:off x="4044342" y="3752459"/>
            <a:ext cx="1110212" cy="3462"/>
          </a:xfrm>
          <a:prstGeom prst="straightConnector1">
            <a:avLst/>
          </a:prstGeom>
          <a:noFill/>
          <a:ln w="9525" cap="flat" cmpd="sng">
            <a:solidFill>
              <a:schemeClr val="accent1"/>
            </a:solidFill>
            <a:prstDash val="solid"/>
            <a:miter lim="800000"/>
            <a:headEnd type="none" w="sm" len="sm"/>
            <a:tailEnd type="triangle" w="med" len="med"/>
          </a:ln>
        </p:spPr>
      </p:cxnSp>
      <p:sp>
        <p:nvSpPr>
          <p:cNvPr id="284" name="Google Shape;284;p14"/>
          <p:cNvSpPr txBox="1"/>
          <p:nvPr/>
        </p:nvSpPr>
        <p:spPr>
          <a:xfrm>
            <a:off x="2509053" y="3506741"/>
            <a:ext cx="161298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 5000 remuestreos a iterar</a:t>
            </a:r>
            <a:endParaRPr/>
          </a:p>
        </p:txBody>
      </p:sp>
      <p:cxnSp>
        <p:nvCxnSpPr>
          <p:cNvPr id="285" name="Google Shape;285;p14"/>
          <p:cNvCxnSpPr/>
          <p:nvPr/>
        </p:nvCxnSpPr>
        <p:spPr>
          <a:xfrm rot="10800000" flipH="1">
            <a:off x="4001137" y="4624522"/>
            <a:ext cx="1420449" cy="5193"/>
          </a:xfrm>
          <a:prstGeom prst="straightConnector1">
            <a:avLst/>
          </a:prstGeom>
          <a:noFill/>
          <a:ln w="9525" cap="flat" cmpd="sng">
            <a:solidFill>
              <a:schemeClr val="accent1"/>
            </a:solidFill>
            <a:prstDash val="solid"/>
            <a:miter lim="800000"/>
            <a:headEnd type="none" w="sm" len="sm"/>
            <a:tailEnd type="triangle" w="med" len="med"/>
          </a:ln>
        </p:spPr>
      </p:cxnSp>
      <p:sp>
        <p:nvSpPr>
          <p:cNvPr id="286" name="Google Shape;286;p14"/>
          <p:cNvSpPr txBox="1"/>
          <p:nvPr/>
        </p:nvSpPr>
        <p:spPr>
          <a:xfrm>
            <a:off x="1989764" y="4364643"/>
            <a:ext cx="205457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Nueva muestra aleatoria con reemplazo</a:t>
            </a:r>
            <a:endParaRPr/>
          </a:p>
        </p:txBody>
      </p:sp>
      <p:cxnSp>
        <p:nvCxnSpPr>
          <p:cNvPr id="287" name="Google Shape;287;p14"/>
          <p:cNvCxnSpPr/>
          <p:nvPr/>
        </p:nvCxnSpPr>
        <p:spPr>
          <a:xfrm rot="10800000" flipH="1">
            <a:off x="3979100" y="4852195"/>
            <a:ext cx="1442486" cy="365152"/>
          </a:xfrm>
          <a:prstGeom prst="straightConnector1">
            <a:avLst/>
          </a:prstGeom>
          <a:noFill/>
          <a:ln w="9525" cap="flat" cmpd="sng">
            <a:solidFill>
              <a:schemeClr val="accent1"/>
            </a:solidFill>
            <a:prstDash val="solid"/>
            <a:miter lim="800000"/>
            <a:headEnd type="none" w="sm" len="sm"/>
            <a:tailEnd type="triangle" w="med" len="med"/>
          </a:ln>
        </p:spPr>
      </p:cxnSp>
      <p:sp>
        <p:nvSpPr>
          <p:cNvPr id="288" name="Google Shape;288;p14"/>
          <p:cNvSpPr txBox="1"/>
          <p:nvPr/>
        </p:nvSpPr>
        <p:spPr>
          <a:xfrm>
            <a:off x="2265722" y="5034771"/>
            <a:ext cx="177425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Mediana de la nueva muestra</a:t>
            </a:r>
            <a:endParaRPr/>
          </a:p>
        </p:txBody>
      </p:sp>
      <p:cxnSp>
        <p:nvCxnSpPr>
          <p:cNvPr id="289" name="Google Shape;289;p14"/>
          <p:cNvCxnSpPr/>
          <p:nvPr/>
        </p:nvCxnSpPr>
        <p:spPr>
          <a:xfrm rot="10800000" flipH="1">
            <a:off x="4074891" y="5074675"/>
            <a:ext cx="1418593" cy="810112"/>
          </a:xfrm>
          <a:prstGeom prst="straightConnector1">
            <a:avLst/>
          </a:prstGeom>
          <a:noFill/>
          <a:ln w="9525" cap="flat" cmpd="sng">
            <a:solidFill>
              <a:schemeClr val="accent1"/>
            </a:solidFill>
            <a:prstDash val="solid"/>
            <a:miter lim="800000"/>
            <a:headEnd type="none" w="sm" len="sm"/>
            <a:tailEnd type="triangle" w="med" len="med"/>
          </a:ln>
        </p:spPr>
      </p:cxnSp>
      <p:sp>
        <p:nvSpPr>
          <p:cNvPr id="290" name="Google Shape;290;p14"/>
          <p:cNvSpPr txBox="1"/>
          <p:nvPr/>
        </p:nvSpPr>
        <p:spPr>
          <a:xfrm>
            <a:off x="2183661" y="5735374"/>
            <a:ext cx="193837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rgbClr val="595959"/>
                </a:solidFill>
                <a:latin typeface="Calibri"/>
                <a:ea typeface="Calibri"/>
                <a:cs typeface="Calibri"/>
                <a:sym typeface="Calibri"/>
              </a:rPr>
              <a:t>Guardamos valor de la mediana en un listado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5"/>
          <p:cNvSpPr/>
          <p:nvPr/>
        </p:nvSpPr>
        <p:spPr>
          <a:xfrm>
            <a:off x="1770993" y="1819328"/>
            <a:ext cx="8650014" cy="3998148"/>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15"/>
          <p:cNvSpPr txBox="1"/>
          <p:nvPr/>
        </p:nvSpPr>
        <p:spPr>
          <a:xfrm>
            <a:off x="1576250" y="464425"/>
            <a:ext cx="991089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Implementación en Python</a:t>
            </a:r>
            <a:endParaRPr sz="3200">
              <a:solidFill>
                <a:srgbClr val="7F7F7F"/>
              </a:solidFill>
              <a:latin typeface="Arial"/>
              <a:ea typeface="Arial"/>
              <a:cs typeface="Arial"/>
              <a:sym typeface="Arial"/>
            </a:endParaRPr>
          </a:p>
        </p:txBody>
      </p:sp>
      <p:pic>
        <p:nvPicPr>
          <p:cNvPr id="297" name="Google Shape;297;p15"/>
          <p:cNvPicPr preferRelativeResize="0"/>
          <p:nvPr/>
        </p:nvPicPr>
        <p:blipFill rotWithShape="1">
          <a:blip r:embed="rId3">
            <a:alphaModFix/>
          </a:blip>
          <a:srcRect/>
          <a:stretch/>
        </p:blipFill>
        <p:spPr>
          <a:xfrm>
            <a:off x="6373899" y="3277084"/>
            <a:ext cx="3734321" cy="447737"/>
          </a:xfrm>
          <a:prstGeom prst="rect">
            <a:avLst/>
          </a:prstGeom>
          <a:noFill/>
          <a:ln>
            <a:noFill/>
          </a:ln>
        </p:spPr>
      </p:pic>
      <p:pic>
        <p:nvPicPr>
          <p:cNvPr id="298" name="Google Shape;298;p15"/>
          <p:cNvPicPr preferRelativeResize="0"/>
          <p:nvPr/>
        </p:nvPicPr>
        <p:blipFill rotWithShape="1">
          <a:blip r:embed="rId4">
            <a:alphaModFix/>
          </a:blip>
          <a:srcRect/>
          <a:stretch/>
        </p:blipFill>
        <p:spPr>
          <a:xfrm>
            <a:off x="6373899" y="3804094"/>
            <a:ext cx="3734321" cy="537313"/>
          </a:xfrm>
          <a:prstGeom prst="rect">
            <a:avLst/>
          </a:prstGeom>
          <a:noFill/>
          <a:ln>
            <a:noFill/>
          </a:ln>
        </p:spPr>
      </p:pic>
      <p:pic>
        <p:nvPicPr>
          <p:cNvPr id="299" name="Google Shape;299;p15"/>
          <p:cNvPicPr preferRelativeResize="0"/>
          <p:nvPr/>
        </p:nvPicPr>
        <p:blipFill rotWithShape="1">
          <a:blip r:embed="rId5">
            <a:alphaModFix/>
          </a:blip>
          <a:srcRect/>
          <a:stretch/>
        </p:blipFill>
        <p:spPr>
          <a:xfrm>
            <a:off x="2083780" y="2758036"/>
            <a:ext cx="3823230" cy="2814606"/>
          </a:xfrm>
          <a:prstGeom prst="rect">
            <a:avLst/>
          </a:prstGeom>
          <a:noFill/>
          <a:ln>
            <a:noFill/>
          </a:ln>
        </p:spPr>
      </p:pic>
      <p:pic>
        <p:nvPicPr>
          <p:cNvPr id="300" name="Google Shape;300;p15"/>
          <p:cNvPicPr preferRelativeResize="0"/>
          <p:nvPr/>
        </p:nvPicPr>
        <p:blipFill rotWithShape="1">
          <a:blip r:embed="rId6">
            <a:alphaModFix/>
          </a:blip>
          <a:srcRect r="36346" b="7628"/>
          <a:stretch/>
        </p:blipFill>
        <p:spPr>
          <a:xfrm>
            <a:off x="2175480" y="2308243"/>
            <a:ext cx="3731530" cy="4135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6"/>
          <p:cNvSpPr txBox="1"/>
          <p:nvPr/>
        </p:nvSpPr>
        <p:spPr>
          <a:xfrm>
            <a:off x="1088027" y="3395231"/>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Intervalos de Confianza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p:cTn id="7"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7"/>
          <p:cNvSpPr/>
          <p:nvPr/>
        </p:nvSpPr>
        <p:spPr>
          <a:xfrm>
            <a:off x="457200" y="1854133"/>
            <a:ext cx="11277600" cy="364590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1" name="Google Shape;311;p17"/>
          <p:cNvSpPr txBox="1"/>
          <p:nvPr/>
        </p:nvSpPr>
        <p:spPr>
          <a:xfrm>
            <a:off x="704851" y="731278"/>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12" name="Google Shape;312;p17"/>
          <p:cNvSpPr txBox="1"/>
          <p:nvPr/>
        </p:nvSpPr>
        <p:spPr>
          <a:xfrm>
            <a:off x="704851" y="2083719"/>
            <a:ext cx="10782300"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Supongamos que estamos controlando la calidad de un producto que es fabricado en una empresa. Para esto, se realiza un control de calidad seleccionado aleatoriamente 50 producto, los cuales son inspeccionados uno a uno en busca de fallos.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Los resultados son registrados con un 0 cuando no hay falla, y con un 1 cuando sí la hay. Es así que se obtiene el siguiente registro: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𝑥=[00001001001000011000000000100011000000010000001000]</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En este caso, podemos resumir el conjunto de valores diciendo que la tasa media de fallos es de 0.2, es decir, un 20%.</a:t>
            </a:r>
            <a:endParaRPr/>
          </a:p>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1"/>
                                        </p:tgtEl>
                                        <p:attrNameLst>
                                          <p:attrName>style.visibility</p:attrName>
                                        </p:attrNameLst>
                                      </p:cBhvr>
                                      <p:to>
                                        <p:strVal val="visible"/>
                                      </p:to>
                                    </p:set>
                                    <p:animEffect transition="in" filter="fade">
                                      <p:cBhvr>
                                        <p:cTn id="7" dur="5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18" descr="Patrón de fondo"/>
          <p:cNvPicPr preferRelativeResize="0"/>
          <p:nvPr/>
        </p:nvPicPr>
        <p:blipFill rotWithShape="1">
          <a:blip r:embed="rId3">
            <a:alphaModFix/>
          </a:blip>
          <a:srcRect/>
          <a:stretch/>
        </p:blipFill>
        <p:spPr>
          <a:xfrm>
            <a:off x="0" y="-1"/>
            <a:ext cx="12192000" cy="6858001"/>
          </a:xfrm>
          <a:prstGeom prst="rect">
            <a:avLst/>
          </a:prstGeom>
          <a:noFill/>
          <a:ln>
            <a:noFill/>
          </a:ln>
        </p:spPr>
      </p:pic>
      <p:sp>
        <p:nvSpPr>
          <p:cNvPr id="318" name="Google Shape;318;p18"/>
          <p:cNvSpPr/>
          <p:nvPr/>
        </p:nvSpPr>
        <p:spPr>
          <a:xfrm>
            <a:off x="457200" y="2311333"/>
            <a:ext cx="11277600" cy="305078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18"/>
          <p:cNvSpPr txBox="1"/>
          <p:nvPr/>
        </p:nvSpPr>
        <p:spPr>
          <a:xfrm>
            <a:off x="704850" y="1257273"/>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20" name="Google Shape;320;p18"/>
          <p:cNvSpPr txBox="1"/>
          <p:nvPr/>
        </p:nvSpPr>
        <p:spPr>
          <a:xfrm>
            <a:off x="704851" y="2540919"/>
            <a:ext cx="10782300"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Sin embargo, ¿cómo es de fiable este valor? Puede haber sido fruto del azar por haber elegido esos 50 productos específicos. Si se escogieran otros 50 productos, seguramente salga un registro de fallas distinto y con eso la media podría variar. </a:t>
            </a:r>
            <a:r>
              <a:rPr lang="es-ES" sz="1800" b="1">
                <a:solidFill>
                  <a:schemeClr val="lt1"/>
                </a:solidFill>
                <a:latin typeface="Calibri"/>
                <a:ea typeface="Calibri"/>
                <a:cs typeface="Calibri"/>
                <a:sym typeface="Calibri"/>
              </a:rPr>
              <a:t>Hay una incertidumbre intrínseca a la media que hemos calculado</a:t>
            </a:r>
            <a:r>
              <a:rPr lang="es-ES" sz="1800">
                <a:solidFill>
                  <a:schemeClr val="lt1"/>
                </a:solidFill>
                <a:latin typeface="Calibri"/>
                <a:ea typeface="Calibri"/>
                <a:cs typeface="Calibri"/>
                <a:sym typeface="Calibri"/>
              </a:rPr>
              <a:t>. Esto se debe a que esta media, no es la tasa media de fallos real (la media de la población) sino la media calculada a partir de una muestra (la media muestral).</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Nuestro objetivo será calcular la incertidumbre de dicha estimación usando un intervalo de confianza. Para ello, usaremos dos métodos: el </a:t>
            </a:r>
            <a:r>
              <a:rPr lang="es-ES" sz="1800" b="1">
                <a:solidFill>
                  <a:schemeClr val="lt1"/>
                </a:solidFill>
                <a:latin typeface="Calibri"/>
                <a:ea typeface="Calibri"/>
                <a:cs typeface="Calibri"/>
                <a:sym typeface="Calibri"/>
              </a:rPr>
              <a:t>analítico</a:t>
            </a:r>
            <a:r>
              <a:rPr lang="es-ES" sz="1800">
                <a:solidFill>
                  <a:schemeClr val="lt1"/>
                </a:solidFill>
                <a:latin typeface="Calibri"/>
                <a:ea typeface="Calibri"/>
                <a:cs typeface="Calibri"/>
                <a:sym typeface="Calibri"/>
              </a:rPr>
              <a:t> y el </a:t>
            </a:r>
            <a:r>
              <a:rPr lang="es-ES" sz="1800" b="1">
                <a:solidFill>
                  <a:schemeClr val="lt1"/>
                </a:solidFill>
                <a:latin typeface="Calibri"/>
                <a:ea typeface="Calibri"/>
                <a:cs typeface="Calibri"/>
                <a:sym typeface="Calibri"/>
              </a:rPr>
              <a:t>computacional</a:t>
            </a:r>
            <a:r>
              <a:rPr lang="es-ES" sz="1800">
                <a:solidFill>
                  <a:schemeClr val="lt1"/>
                </a:solidFill>
                <a:latin typeface="Calibri"/>
                <a:ea typeface="Calibri"/>
                <a:cs typeface="Calibri"/>
                <a:sym typeface="Calibri"/>
              </a:rPr>
              <a:t> (bootstrapping), de manera de comparar sus ventajas e inconvenientes.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fade">
                                      <p:cBhvr>
                                        <p:cTn id="7" dur="5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9"/>
          <p:cNvSpPr/>
          <p:nvPr/>
        </p:nvSpPr>
        <p:spPr>
          <a:xfrm>
            <a:off x="712618" y="1526833"/>
            <a:ext cx="6164511" cy="4794723"/>
          </a:xfrm>
          <a:prstGeom prst="roundRect">
            <a:avLst>
              <a:gd name="adj" fmla="val 2971"/>
            </a:avLst>
          </a:prstGeom>
          <a:gradFill>
            <a:gsLst>
              <a:gs pos="0">
                <a:srgbClr val="5B1744"/>
              </a:gs>
              <a:gs pos="50000">
                <a:srgbClr val="852262"/>
              </a:gs>
              <a:gs pos="100000">
                <a:srgbClr val="9F2A77"/>
              </a:gs>
            </a:gsLst>
            <a:lin ang="2700000" scaled="0"/>
          </a:gradFill>
          <a:ln w="127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6" name="Google Shape;326;p19"/>
          <p:cNvSpPr txBox="1"/>
          <p:nvPr/>
        </p:nvSpPr>
        <p:spPr>
          <a:xfrm>
            <a:off x="1042204" y="453231"/>
            <a:ext cx="1013478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27" name="Google Shape;327;p19"/>
          <p:cNvSpPr txBox="1"/>
          <p:nvPr/>
        </p:nvSpPr>
        <p:spPr>
          <a:xfrm>
            <a:off x="1042204" y="1719741"/>
            <a:ext cx="8155064" cy="4524315"/>
          </a:xfrm>
          <a:prstGeom prst="rect">
            <a:avLst/>
          </a:prstGeom>
          <a:blipFill rotWithShape="1">
            <a:blip r:embed="rId3">
              <a:alphaModFix/>
            </a:blip>
            <a:stretch>
              <a:fillRect l="-671" t="-806" b="-121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5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0"/>
          <p:cNvSpPr/>
          <p:nvPr/>
        </p:nvSpPr>
        <p:spPr>
          <a:xfrm>
            <a:off x="457200" y="1412698"/>
            <a:ext cx="11277600" cy="5086663"/>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20"/>
          <p:cNvSpPr txBox="1"/>
          <p:nvPr/>
        </p:nvSpPr>
        <p:spPr>
          <a:xfrm>
            <a:off x="704850" y="358639"/>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34" name="Google Shape;334;p20"/>
          <p:cNvSpPr txBox="1"/>
          <p:nvPr/>
        </p:nvSpPr>
        <p:spPr>
          <a:xfrm>
            <a:off x="704851" y="1642285"/>
            <a:ext cx="10782300" cy="4511684"/>
          </a:xfrm>
          <a:prstGeom prst="rect">
            <a:avLst/>
          </a:prstGeom>
          <a:blipFill rotWithShape="1">
            <a:blip r:embed="rId3">
              <a:alphaModFix/>
            </a:blip>
            <a:stretch>
              <a:fillRect l="-565" t="-807" r="-112" b="-10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35" name="Google Shape;335;p20"/>
          <p:cNvSpPr txBox="1"/>
          <p:nvPr/>
        </p:nvSpPr>
        <p:spPr>
          <a:xfrm>
            <a:off x="5061360" y="3950344"/>
            <a:ext cx="3102351" cy="727507"/>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36" name="Google Shape;336;p20"/>
          <p:cNvSpPr txBox="1"/>
          <p:nvPr/>
        </p:nvSpPr>
        <p:spPr>
          <a:xfrm>
            <a:off x="4734766" y="4975682"/>
            <a:ext cx="2722467" cy="246221"/>
          </a:xfrm>
          <a:prstGeom prst="rect">
            <a:avLst/>
          </a:prstGeom>
          <a:blipFill rotWithShape="1">
            <a:blip r:embed="rId5">
              <a:alphaModFix/>
            </a:blip>
            <a:stretch>
              <a:fillRect b="-3170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337" name="Google Shape;337;p20"/>
          <p:cNvSpPr txBox="1"/>
          <p:nvPr/>
        </p:nvSpPr>
        <p:spPr>
          <a:xfrm>
            <a:off x="4644454" y="4623022"/>
            <a:ext cx="2722467" cy="246221"/>
          </a:xfrm>
          <a:prstGeom prst="rect">
            <a:avLst/>
          </a:prstGeom>
          <a:blipFill rotWithShape="1">
            <a:blip r:embed="rId6">
              <a:alphaModFix/>
            </a:blip>
            <a:stretch>
              <a:fillRect b="-1707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3"/>
                                        </p:tgtEl>
                                        <p:attrNameLst>
                                          <p:attrName>style.visibility</p:attrName>
                                        </p:attrNameLst>
                                      </p:cBhvr>
                                      <p:to>
                                        <p:strVal val="visible"/>
                                      </p:to>
                                    </p:set>
                                    <p:animEffect transition="in" filter="fade">
                                      <p:cBhvr>
                                        <p:cTn id="7" dur="5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1"/>
          <p:cNvSpPr/>
          <p:nvPr/>
        </p:nvSpPr>
        <p:spPr>
          <a:xfrm>
            <a:off x="5807951" y="2130642"/>
            <a:ext cx="6094684" cy="3676790"/>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21"/>
          <p:cNvSpPr/>
          <p:nvPr/>
        </p:nvSpPr>
        <p:spPr>
          <a:xfrm>
            <a:off x="-271936" y="2130642"/>
            <a:ext cx="5649967" cy="367679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21"/>
          <p:cNvSpPr txBox="1"/>
          <p:nvPr/>
        </p:nvSpPr>
        <p:spPr>
          <a:xfrm>
            <a:off x="416801" y="777698"/>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45" name="Google Shape;345;p21"/>
          <p:cNvSpPr txBox="1"/>
          <p:nvPr/>
        </p:nvSpPr>
        <p:spPr>
          <a:xfrm>
            <a:off x="801483" y="2425558"/>
            <a:ext cx="4015740" cy="3139281"/>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1800" b="1" dirty="0">
                <a:solidFill>
                  <a:schemeClr val="lt1"/>
                </a:solidFill>
                <a:latin typeface="Calibri"/>
                <a:ea typeface="Calibri"/>
                <a:cs typeface="Calibri"/>
                <a:sym typeface="Calibri"/>
              </a:rPr>
              <a:t>Opción 2: Método Computacional (</a:t>
            </a:r>
            <a:r>
              <a:rPr lang="es-ES" sz="1800" b="1" err="1">
                <a:solidFill>
                  <a:schemeClr val="lt1"/>
                </a:solidFill>
                <a:latin typeface="Calibri"/>
                <a:ea typeface="Calibri"/>
                <a:cs typeface="Calibri"/>
                <a:sym typeface="Calibri"/>
              </a:rPr>
              <a:t>bootstrapping</a:t>
            </a:r>
            <a:r>
              <a:rPr lang="es-ES" sz="1800" b="1" dirty="0">
                <a:solidFill>
                  <a:schemeClr val="lt1"/>
                </a:solidFill>
                <a:latin typeface="Calibri"/>
                <a:ea typeface="Calibri"/>
                <a:cs typeface="Calibri"/>
                <a:sym typeface="Calibri"/>
              </a:rPr>
              <a:t>)</a:t>
            </a:r>
            <a:endParaRPr lang="es-ES" dirty="0">
              <a:solidFill>
                <a:schemeClr val="lt1"/>
              </a:solidFill>
            </a:endParaRPr>
          </a:p>
          <a:p>
            <a:pPr algn="just"/>
            <a:endParaRPr lang="es-ES" sz="1800" b="1" dirty="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Para determinar el intervalo de confianza, aplicaremos el procedimiento explicado anteriormente. Partiremos de la muestra original 𝑥, y a partir de ella, obtendremos nuevas muestras con reemplazo del mismo tamaño, 𝑥′, en donde calcularemos la media. Este procedimiento lo repetiremos 𝑁 veces.</a:t>
            </a:r>
            <a:endParaRPr dirty="0">
              <a:solidFill>
                <a:schemeClr val="lt1"/>
              </a:solidFill>
            </a:endParaRPr>
          </a:p>
        </p:txBody>
      </p:sp>
      <p:sp>
        <p:nvSpPr>
          <p:cNvPr id="346" name="Google Shape;346;p21"/>
          <p:cNvSpPr/>
          <p:nvPr/>
        </p:nvSpPr>
        <p:spPr>
          <a:xfrm>
            <a:off x="6326054" y="2763228"/>
            <a:ext cx="5058480" cy="2286966"/>
          </a:xfrm>
          <a:prstGeom prst="rect">
            <a:avLst/>
          </a:prstGeom>
          <a:solidFill>
            <a:srgbClr val="2525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7" name="Google Shape;347;p21"/>
          <p:cNvPicPr preferRelativeResize="0"/>
          <p:nvPr/>
        </p:nvPicPr>
        <p:blipFill rotWithShape="1">
          <a:blip r:embed="rId3">
            <a:alphaModFix/>
          </a:blip>
          <a:srcRect/>
          <a:stretch/>
        </p:blipFill>
        <p:spPr>
          <a:xfrm>
            <a:off x="6331147" y="2830991"/>
            <a:ext cx="4867954" cy="514422"/>
          </a:xfrm>
          <a:prstGeom prst="rect">
            <a:avLst/>
          </a:prstGeom>
          <a:noFill/>
          <a:ln>
            <a:noFill/>
          </a:ln>
        </p:spPr>
      </p:pic>
      <p:pic>
        <p:nvPicPr>
          <p:cNvPr id="348" name="Google Shape;348;p21"/>
          <p:cNvPicPr preferRelativeResize="0"/>
          <p:nvPr/>
        </p:nvPicPr>
        <p:blipFill rotWithShape="1">
          <a:blip r:embed="rId4">
            <a:alphaModFix/>
          </a:blip>
          <a:srcRect/>
          <a:stretch/>
        </p:blipFill>
        <p:spPr>
          <a:xfrm>
            <a:off x="6350199" y="3397600"/>
            <a:ext cx="4848902" cy="419158"/>
          </a:xfrm>
          <a:prstGeom prst="rect">
            <a:avLst/>
          </a:prstGeom>
          <a:noFill/>
          <a:ln>
            <a:noFill/>
          </a:ln>
        </p:spPr>
      </p:pic>
      <p:pic>
        <p:nvPicPr>
          <p:cNvPr id="349" name="Google Shape;349;p21"/>
          <p:cNvPicPr preferRelativeResize="0"/>
          <p:nvPr/>
        </p:nvPicPr>
        <p:blipFill rotWithShape="1">
          <a:blip r:embed="rId5">
            <a:alphaModFix/>
          </a:blip>
          <a:srcRect/>
          <a:stretch/>
        </p:blipFill>
        <p:spPr>
          <a:xfrm>
            <a:off x="6326053" y="4059456"/>
            <a:ext cx="5058481" cy="9907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5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2"/>
          <p:cNvSpPr/>
          <p:nvPr/>
        </p:nvSpPr>
        <p:spPr>
          <a:xfrm>
            <a:off x="6450163" y="1401178"/>
            <a:ext cx="5399363" cy="4018921"/>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55" name="Google Shape;355;p22"/>
          <p:cNvSpPr/>
          <p:nvPr/>
        </p:nvSpPr>
        <p:spPr>
          <a:xfrm>
            <a:off x="-599178" y="3680604"/>
            <a:ext cx="6721303" cy="1614159"/>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6" name="Google Shape;356;p22"/>
          <p:cNvSpPr txBox="1"/>
          <p:nvPr/>
        </p:nvSpPr>
        <p:spPr>
          <a:xfrm>
            <a:off x="505097" y="1167113"/>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57" name="Google Shape;357;p22"/>
          <p:cNvSpPr txBox="1"/>
          <p:nvPr/>
        </p:nvSpPr>
        <p:spPr>
          <a:xfrm>
            <a:off x="592183" y="4026018"/>
            <a:ext cx="5251268"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Opción 2: Método Computacional (bootstrapping)</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el histograma obtenido a partir de las medias de 10 muestras.</a:t>
            </a:r>
            <a:endParaRPr/>
          </a:p>
        </p:txBody>
      </p:sp>
      <p:pic>
        <p:nvPicPr>
          <p:cNvPr id="358" name="Google Shape;358;p22"/>
          <p:cNvPicPr preferRelativeResize="0"/>
          <p:nvPr/>
        </p:nvPicPr>
        <p:blipFill rotWithShape="1">
          <a:blip r:embed="rId3">
            <a:alphaModFix/>
          </a:blip>
          <a:srcRect/>
          <a:stretch/>
        </p:blipFill>
        <p:spPr>
          <a:xfrm>
            <a:off x="6544932" y="1548500"/>
            <a:ext cx="5105400" cy="3724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3"/>
          <p:cNvSpPr/>
          <p:nvPr/>
        </p:nvSpPr>
        <p:spPr>
          <a:xfrm>
            <a:off x="6406709" y="1308538"/>
            <a:ext cx="5399363" cy="4240924"/>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64" name="Google Shape;364;p23"/>
          <p:cNvSpPr/>
          <p:nvPr/>
        </p:nvSpPr>
        <p:spPr>
          <a:xfrm>
            <a:off x="-289691" y="2479150"/>
            <a:ext cx="6368274" cy="175432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5" name="Google Shape;365;p23"/>
          <p:cNvSpPr txBox="1"/>
          <p:nvPr/>
        </p:nvSpPr>
        <p:spPr>
          <a:xfrm>
            <a:off x="385927" y="1457069"/>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66" name="Google Shape;366;p23"/>
          <p:cNvSpPr txBox="1"/>
          <p:nvPr/>
        </p:nvSpPr>
        <p:spPr>
          <a:xfrm>
            <a:off x="410936" y="2858417"/>
            <a:ext cx="5063171"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Opción 2: Método Computacional (bootstrapping)</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el histograma obtenido a partir de las medias de 100 muestras.</a:t>
            </a:r>
            <a:endParaRPr/>
          </a:p>
        </p:txBody>
      </p:sp>
      <p:pic>
        <p:nvPicPr>
          <p:cNvPr id="367" name="Google Shape;367;p23"/>
          <p:cNvPicPr preferRelativeResize="0"/>
          <p:nvPr/>
        </p:nvPicPr>
        <p:blipFill rotWithShape="1">
          <a:blip r:embed="rId3">
            <a:alphaModFix/>
          </a:blip>
          <a:srcRect/>
          <a:stretch/>
        </p:blipFill>
        <p:spPr>
          <a:xfrm>
            <a:off x="6463202" y="1566861"/>
            <a:ext cx="5286375" cy="3724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5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4"/>
          <p:cNvSpPr/>
          <p:nvPr/>
        </p:nvSpPr>
        <p:spPr>
          <a:xfrm>
            <a:off x="6406709" y="1308538"/>
            <a:ext cx="5399363" cy="4240924"/>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24"/>
          <p:cNvSpPr/>
          <p:nvPr/>
        </p:nvSpPr>
        <p:spPr>
          <a:xfrm>
            <a:off x="-263565" y="2568453"/>
            <a:ext cx="6074982" cy="175432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24"/>
          <p:cNvSpPr txBox="1"/>
          <p:nvPr/>
        </p:nvSpPr>
        <p:spPr>
          <a:xfrm>
            <a:off x="452302" y="1074842"/>
            <a:ext cx="679322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75" name="Google Shape;375;p24"/>
          <p:cNvSpPr txBox="1"/>
          <p:nvPr/>
        </p:nvSpPr>
        <p:spPr>
          <a:xfrm>
            <a:off x="778873" y="2708738"/>
            <a:ext cx="4001271" cy="1477287"/>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1800" b="1" dirty="0">
                <a:solidFill>
                  <a:schemeClr val="lt1"/>
                </a:solidFill>
                <a:latin typeface="Calibri"/>
                <a:ea typeface="Calibri"/>
                <a:cs typeface="Calibri"/>
                <a:sym typeface="Calibri"/>
              </a:rPr>
              <a:t>Opción 2: Método Computacional (</a:t>
            </a:r>
            <a:r>
              <a:rPr lang="es-ES" sz="1800" b="1" err="1">
                <a:solidFill>
                  <a:schemeClr val="lt1"/>
                </a:solidFill>
                <a:latin typeface="Calibri"/>
                <a:ea typeface="Calibri"/>
                <a:cs typeface="Calibri"/>
                <a:sym typeface="Calibri"/>
              </a:rPr>
              <a:t>bootstrapping</a:t>
            </a:r>
            <a:r>
              <a:rPr lang="es-ES" sz="1800" b="1" dirty="0">
                <a:solidFill>
                  <a:schemeClr val="lt1"/>
                </a:solidFill>
                <a:latin typeface="Calibri"/>
                <a:ea typeface="Calibri"/>
                <a:cs typeface="Calibri"/>
                <a:sym typeface="Calibri"/>
              </a:rPr>
              <a:t>)</a:t>
            </a:r>
            <a:endParaRPr lang="es-ES" dirty="0">
              <a:solidFill>
                <a:schemeClr val="lt1"/>
              </a:solidFill>
            </a:endParaRPr>
          </a:p>
          <a:p>
            <a:pPr algn="just"/>
            <a:endParaRPr lang="es-ES" sz="1800" b="1" dirty="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Este es el histograma obtenido a partir de las medias de 1.000 muestras.</a:t>
            </a:r>
            <a:endParaRPr dirty="0">
              <a:solidFill>
                <a:schemeClr val="lt1"/>
              </a:solidFill>
            </a:endParaRPr>
          </a:p>
        </p:txBody>
      </p:sp>
      <p:pic>
        <p:nvPicPr>
          <p:cNvPr id="376" name="Google Shape;376;p24"/>
          <p:cNvPicPr preferRelativeResize="0"/>
          <p:nvPr/>
        </p:nvPicPr>
        <p:blipFill rotWithShape="1">
          <a:blip r:embed="rId3">
            <a:alphaModFix/>
          </a:blip>
          <a:srcRect/>
          <a:stretch/>
        </p:blipFill>
        <p:spPr>
          <a:xfrm>
            <a:off x="6534640" y="1676656"/>
            <a:ext cx="5143500" cy="3724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fade">
                                      <p:cBhvr>
                                        <p:cTn id="7" dur="5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5"/>
          <p:cNvSpPr/>
          <p:nvPr/>
        </p:nvSpPr>
        <p:spPr>
          <a:xfrm>
            <a:off x="6406709" y="1308538"/>
            <a:ext cx="5399363" cy="4240924"/>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25"/>
          <p:cNvSpPr/>
          <p:nvPr/>
        </p:nvSpPr>
        <p:spPr>
          <a:xfrm>
            <a:off x="-289692" y="2479150"/>
            <a:ext cx="6385691" cy="175432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25"/>
          <p:cNvSpPr txBox="1"/>
          <p:nvPr/>
        </p:nvSpPr>
        <p:spPr>
          <a:xfrm>
            <a:off x="385927" y="1457069"/>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84" name="Google Shape;384;p25"/>
          <p:cNvSpPr txBox="1"/>
          <p:nvPr/>
        </p:nvSpPr>
        <p:spPr>
          <a:xfrm>
            <a:off x="385927" y="2894648"/>
            <a:ext cx="5242560"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b="1">
                <a:solidFill>
                  <a:schemeClr val="lt1"/>
                </a:solidFill>
                <a:latin typeface="Calibri"/>
                <a:ea typeface="Calibri"/>
                <a:cs typeface="Calibri"/>
                <a:sym typeface="Calibri"/>
              </a:rPr>
              <a:t>Opción 2: Método Computacional (bootstrapping)</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el histograma obtenido a partir de las medias de 10.000 muestras.</a:t>
            </a:r>
            <a:endParaRPr/>
          </a:p>
        </p:txBody>
      </p:sp>
      <p:pic>
        <p:nvPicPr>
          <p:cNvPr id="385" name="Google Shape;385;p25"/>
          <p:cNvPicPr preferRelativeResize="0"/>
          <p:nvPr/>
        </p:nvPicPr>
        <p:blipFill rotWithShape="1">
          <a:blip r:embed="rId3">
            <a:alphaModFix/>
          </a:blip>
          <a:srcRect/>
          <a:stretch/>
        </p:blipFill>
        <p:spPr>
          <a:xfrm>
            <a:off x="6490142" y="1562568"/>
            <a:ext cx="5229225" cy="37242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3"/>
                                        </p:tgtEl>
                                        <p:attrNameLst>
                                          <p:attrName>style.visibility</p:attrName>
                                        </p:attrNameLst>
                                      </p:cBhvr>
                                      <p:to>
                                        <p:strVal val="visible"/>
                                      </p:to>
                                    </p:set>
                                    <p:animEffect transition="in" filter="fade">
                                      <p:cBhvr>
                                        <p:cTn id="7" dur="5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6"/>
          <p:cNvSpPr/>
          <p:nvPr/>
        </p:nvSpPr>
        <p:spPr>
          <a:xfrm>
            <a:off x="6406709" y="1671144"/>
            <a:ext cx="5399363" cy="4018921"/>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391" name="Google Shape;391;p26"/>
          <p:cNvSpPr/>
          <p:nvPr/>
        </p:nvSpPr>
        <p:spPr>
          <a:xfrm>
            <a:off x="-289691" y="2885727"/>
            <a:ext cx="6217525" cy="1614159"/>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2" name="Google Shape;392;p26"/>
          <p:cNvSpPr txBox="1"/>
          <p:nvPr/>
        </p:nvSpPr>
        <p:spPr>
          <a:xfrm>
            <a:off x="385927" y="1877665"/>
            <a:ext cx="1078230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393" name="Google Shape;393;p26"/>
          <p:cNvSpPr txBox="1"/>
          <p:nvPr/>
        </p:nvSpPr>
        <p:spPr>
          <a:xfrm>
            <a:off x="522514" y="3115315"/>
            <a:ext cx="4883558"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Opción 2: Método Computacional (bootstrapping)</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Este es el histograma obtenido a partir de las medias de 100.000 muestras.</a:t>
            </a:r>
            <a:endParaRPr sz="1800">
              <a:solidFill>
                <a:schemeClr val="lt1"/>
              </a:solidFill>
              <a:latin typeface="Calibri"/>
              <a:ea typeface="Calibri"/>
              <a:cs typeface="Calibri"/>
              <a:sym typeface="Calibri"/>
            </a:endParaRPr>
          </a:p>
        </p:txBody>
      </p:sp>
      <p:pic>
        <p:nvPicPr>
          <p:cNvPr id="394" name="Google Shape;394;p26"/>
          <p:cNvPicPr preferRelativeResize="0"/>
          <p:nvPr/>
        </p:nvPicPr>
        <p:blipFill rotWithShape="1">
          <a:blip r:embed="rId3">
            <a:alphaModFix/>
          </a:blip>
          <a:srcRect/>
          <a:stretch/>
        </p:blipFill>
        <p:spPr>
          <a:xfrm>
            <a:off x="6552777" y="1993045"/>
            <a:ext cx="5107226" cy="35281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2"/>
                                        </p:tgtEl>
                                        <p:attrNameLst>
                                          <p:attrName>style.visibility</p:attrName>
                                        </p:attrNameLst>
                                      </p:cBhvr>
                                      <p:to>
                                        <p:strVal val="visible"/>
                                      </p:to>
                                    </p:set>
                                    <p:animEffect transition="in" filter="fade">
                                      <p:cBhvr>
                                        <p:cTn id="7" dur="500"/>
                                        <p:tgtEl>
                                          <p:spTgt spid="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7"/>
          <p:cNvSpPr/>
          <p:nvPr/>
        </p:nvSpPr>
        <p:spPr>
          <a:xfrm>
            <a:off x="6371875" y="783065"/>
            <a:ext cx="5399363" cy="5408729"/>
          </a:xfrm>
          <a:prstGeom prst="roundRect">
            <a:avLst>
              <a:gd name="adj" fmla="val 2971"/>
            </a:avLst>
          </a:prstGeom>
          <a:solidFill>
            <a:schemeClr val="lt1"/>
          </a:solidFill>
          <a:ln w="38100" cap="flat" cmpd="sng">
            <a:solidFill>
              <a:srgbClr val="98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27"/>
          <p:cNvSpPr/>
          <p:nvPr/>
        </p:nvSpPr>
        <p:spPr>
          <a:xfrm>
            <a:off x="-289691" y="2479150"/>
            <a:ext cx="6074982" cy="1754326"/>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1" name="Google Shape;401;p27"/>
          <p:cNvSpPr txBox="1"/>
          <p:nvPr/>
        </p:nvSpPr>
        <p:spPr>
          <a:xfrm>
            <a:off x="385927" y="1457069"/>
            <a:ext cx="591037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Bootstrapping para calcular IC</a:t>
            </a:r>
            <a:endParaRPr sz="3200">
              <a:solidFill>
                <a:srgbClr val="7F7F7F"/>
              </a:solidFill>
              <a:latin typeface="Arial"/>
              <a:ea typeface="Arial"/>
              <a:cs typeface="Arial"/>
              <a:sym typeface="Arial"/>
            </a:endParaRPr>
          </a:p>
        </p:txBody>
      </p:sp>
      <p:sp>
        <p:nvSpPr>
          <p:cNvPr id="402" name="Google Shape;402;p27"/>
          <p:cNvSpPr txBox="1"/>
          <p:nvPr/>
        </p:nvSpPr>
        <p:spPr>
          <a:xfrm>
            <a:off x="452846" y="2825340"/>
            <a:ext cx="4955177" cy="147732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Opción 2: Método Computacional (bootstrapping)</a:t>
            </a:r>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Con los 100.000 resampleos, calculemos el intervalo de confianza.</a:t>
            </a:r>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a:p>
            <a:pPr marL="285750" marR="0" lvl="0" indent="-171450" algn="l"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403" name="Google Shape;403;p27"/>
          <p:cNvPicPr preferRelativeResize="0"/>
          <p:nvPr/>
        </p:nvPicPr>
        <p:blipFill rotWithShape="1">
          <a:blip r:embed="rId3">
            <a:alphaModFix/>
          </a:blip>
          <a:srcRect/>
          <a:stretch/>
        </p:blipFill>
        <p:spPr>
          <a:xfrm>
            <a:off x="7110644" y="4345803"/>
            <a:ext cx="4077269" cy="447737"/>
          </a:xfrm>
          <a:prstGeom prst="rect">
            <a:avLst/>
          </a:prstGeom>
          <a:noFill/>
          <a:ln>
            <a:noFill/>
          </a:ln>
        </p:spPr>
      </p:pic>
      <p:pic>
        <p:nvPicPr>
          <p:cNvPr id="404" name="Google Shape;404;p27"/>
          <p:cNvPicPr preferRelativeResize="0"/>
          <p:nvPr/>
        </p:nvPicPr>
        <p:blipFill rotWithShape="1">
          <a:blip r:embed="rId4">
            <a:alphaModFix/>
          </a:blip>
          <a:srcRect r="3167"/>
          <a:stretch/>
        </p:blipFill>
        <p:spPr>
          <a:xfrm>
            <a:off x="7110644" y="4938637"/>
            <a:ext cx="4077269" cy="285790"/>
          </a:xfrm>
          <a:prstGeom prst="rect">
            <a:avLst/>
          </a:prstGeom>
          <a:noFill/>
          <a:ln>
            <a:noFill/>
          </a:ln>
        </p:spPr>
      </p:pic>
      <p:sp>
        <p:nvSpPr>
          <p:cNvPr id="405" name="Google Shape;405;p27"/>
          <p:cNvSpPr txBox="1"/>
          <p:nvPr/>
        </p:nvSpPr>
        <p:spPr>
          <a:xfrm>
            <a:off x="7704366" y="5754988"/>
            <a:ext cx="2722467" cy="246221"/>
          </a:xfrm>
          <a:prstGeom prst="rect">
            <a:avLst/>
          </a:prstGeom>
          <a:blipFill rotWithShape="1">
            <a:blip r:embed="rId5">
              <a:alphaModFix/>
            </a:blip>
            <a:stretch>
              <a:fillRect b="-349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06" name="Google Shape;406;p27"/>
          <p:cNvSpPr txBox="1"/>
          <p:nvPr/>
        </p:nvSpPr>
        <p:spPr>
          <a:xfrm>
            <a:off x="7056122" y="5360082"/>
            <a:ext cx="407726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595959"/>
                </a:solidFill>
                <a:latin typeface="Calibri"/>
                <a:ea typeface="Calibri"/>
                <a:cs typeface="Calibri"/>
                <a:sym typeface="Calibri"/>
              </a:rPr>
              <a:t>En este caso, el intervalo de confianza calculado es:</a:t>
            </a:r>
            <a:endParaRPr/>
          </a:p>
        </p:txBody>
      </p:sp>
      <p:pic>
        <p:nvPicPr>
          <p:cNvPr id="407" name="Google Shape;407;p27"/>
          <p:cNvPicPr preferRelativeResize="0"/>
          <p:nvPr/>
        </p:nvPicPr>
        <p:blipFill rotWithShape="1">
          <a:blip r:embed="rId6">
            <a:alphaModFix/>
          </a:blip>
          <a:srcRect/>
          <a:stretch/>
        </p:blipFill>
        <p:spPr>
          <a:xfrm>
            <a:off x="6823533" y="1050508"/>
            <a:ext cx="4542446" cy="31829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1"/>
                                        </p:tgtEl>
                                        <p:attrNameLst>
                                          <p:attrName>style.visibility</p:attrName>
                                        </p:attrNameLst>
                                      </p:cBhvr>
                                      <p:to>
                                        <p:strVal val="visible"/>
                                      </p:to>
                                    </p:set>
                                    <p:animEffect transition="in" filter="fade">
                                      <p:cBhvr>
                                        <p:cTn id="7" dur="500"/>
                                        <p:tgtEl>
                                          <p:spTgt spid="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8"/>
          <p:cNvSpPr/>
          <p:nvPr/>
        </p:nvSpPr>
        <p:spPr>
          <a:xfrm>
            <a:off x="1323150" y="1198700"/>
            <a:ext cx="9545700" cy="46812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3" name="Google Shape;413;p28"/>
          <p:cNvSpPr txBox="1"/>
          <p:nvPr/>
        </p:nvSpPr>
        <p:spPr>
          <a:xfrm>
            <a:off x="1558834" y="358639"/>
            <a:ext cx="8830492"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Comparación de Resultados</a:t>
            </a:r>
            <a:endParaRPr sz="3200">
              <a:solidFill>
                <a:srgbClr val="7F7F7F"/>
              </a:solidFill>
              <a:latin typeface="Arial"/>
              <a:ea typeface="Arial"/>
              <a:cs typeface="Arial"/>
              <a:sym typeface="Arial"/>
            </a:endParaRPr>
          </a:p>
        </p:txBody>
      </p:sp>
      <p:sp>
        <p:nvSpPr>
          <p:cNvPr id="414" name="Google Shape;414;p28"/>
          <p:cNvSpPr txBox="1"/>
          <p:nvPr/>
        </p:nvSpPr>
        <p:spPr>
          <a:xfrm>
            <a:off x="1685652" y="1428285"/>
            <a:ext cx="8839200" cy="4525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A continuación, se resumen los resultados obtenidos con cada método: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Como se puede observar, los intervalos son muy parecidos. Sin embargo, a diferencia del método analítico, no hemos tenido que saber las fórmulas ni hacer ninguna suposición sobre la distribución muestral de los datos. Sólo tuvimos que codificar algunas líneas de código para extraer una muestra aleatoria con reemplazo y utilizar un loop iterativo.</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Esta técnica es extraordinariamente potente, ya que </a:t>
            </a:r>
            <a:r>
              <a:rPr lang="es-ES" sz="1800" b="1">
                <a:solidFill>
                  <a:schemeClr val="lt1"/>
                </a:solidFill>
                <a:latin typeface="Calibri"/>
                <a:ea typeface="Calibri"/>
                <a:cs typeface="Calibri"/>
                <a:sym typeface="Calibri"/>
              </a:rPr>
              <a:t>podemos extraer cualquier intervalo de confianza que queramos simplemente cambiando los percentiles a calcular</a:t>
            </a:r>
            <a:r>
              <a:rPr lang="es-ES" sz="1800">
                <a:solidFill>
                  <a:schemeClr val="lt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415" name="Google Shape;415;p28"/>
          <p:cNvSpPr txBox="1"/>
          <p:nvPr/>
        </p:nvSpPr>
        <p:spPr>
          <a:xfrm>
            <a:off x="5852597" y="2247739"/>
            <a:ext cx="2722500" cy="246300"/>
          </a:xfrm>
          <a:prstGeom prst="rect">
            <a:avLst/>
          </a:prstGeom>
          <a:blipFill rotWithShape="1">
            <a:blip r:embed="rId3">
              <a:alphaModFix/>
            </a:blip>
            <a:stretch>
              <a:fillRect b="-349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16" name="Google Shape;416;p28"/>
          <p:cNvSpPr txBox="1"/>
          <p:nvPr/>
        </p:nvSpPr>
        <p:spPr>
          <a:xfrm>
            <a:off x="5852597" y="2844173"/>
            <a:ext cx="2722500" cy="246300"/>
          </a:xfrm>
          <a:prstGeom prst="rect">
            <a:avLst/>
          </a:prstGeom>
          <a:blipFill rotWithShape="1">
            <a:blip r:embed="rId4">
              <a:alphaModFix/>
            </a:blip>
            <a:stretch>
              <a:fillRect b="-3170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800">
                <a:latin typeface="Calibri"/>
                <a:ea typeface="Calibri"/>
                <a:cs typeface="Calibri"/>
                <a:sym typeface="Calibri"/>
              </a:rPr>
              <a:t> </a:t>
            </a:r>
            <a:endParaRPr/>
          </a:p>
        </p:txBody>
      </p:sp>
      <p:sp>
        <p:nvSpPr>
          <p:cNvPr id="417" name="Google Shape;417;p28"/>
          <p:cNvSpPr txBox="1"/>
          <p:nvPr/>
        </p:nvSpPr>
        <p:spPr>
          <a:xfrm>
            <a:off x="3326031" y="2202925"/>
            <a:ext cx="2668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lt1"/>
                </a:solidFill>
                <a:latin typeface="Calibri"/>
                <a:ea typeface="Calibri"/>
                <a:cs typeface="Calibri"/>
                <a:sym typeface="Calibri"/>
              </a:rPr>
              <a:t>Método Analítico</a:t>
            </a:r>
            <a:endParaRPr/>
          </a:p>
        </p:txBody>
      </p:sp>
      <p:sp>
        <p:nvSpPr>
          <p:cNvPr id="418" name="Google Shape;418;p28"/>
          <p:cNvSpPr txBox="1"/>
          <p:nvPr/>
        </p:nvSpPr>
        <p:spPr>
          <a:xfrm>
            <a:off x="3349547" y="2782675"/>
            <a:ext cx="2722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a:solidFill>
                  <a:schemeClr val="lt1"/>
                </a:solidFill>
                <a:latin typeface="Calibri"/>
                <a:ea typeface="Calibri"/>
                <a:cs typeface="Calibri"/>
                <a:sym typeface="Calibri"/>
              </a:rPr>
              <a:t>Método Computacional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3"/>
                                        </p:tgtEl>
                                        <p:attrNameLst>
                                          <p:attrName>style.visibility</p:attrName>
                                        </p:attrNameLst>
                                      </p:cBhvr>
                                      <p:to>
                                        <p:strVal val="visible"/>
                                      </p:to>
                                    </p:set>
                                    <p:animEffect transition="in" filter="fade">
                                      <p:cBhvr>
                                        <p:cTn id="7" dur="500"/>
                                        <p:tgtEl>
                                          <p:spTgt spid="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9"/>
          <p:cNvSpPr/>
          <p:nvPr/>
        </p:nvSpPr>
        <p:spPr>
          <a:xfrm>
            <a:off x="1367175" y="1964499"/>
            <a:ext cx="9232800" cy="3640200"/>
          </a:xfrm>
          <a:prstGeom prst="roundRect">
            <a:avLst>
              <a:gd name="adj" fmla="val 2971"/>
            </a:avLst>
          </a:prstGeom>
          <a:gradFill>
            <a:gsLst>
              <a:gs pos="0">
                <a:srgbClr val="5B1744"/>
              </a:gs>
              <a:gs pos="50000">
                <a:srgbClr val="852262"/>
              </a:gs>
              <a:gs pos="100000">
                <a:srgbClr val="9F2A77"/>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29"/>
          <p:cNvSpPr txBox="1"/>
          <p:nvPr/>
        </p:nvSpPr>
        <p:spPr>
          <a:xfrm>
            <a:off x="1367163" y="956429"/>
            <a:ext cx="1003121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Boostrapping para Calcular Intervalos de Confianza</a:t>
            </a:r>
            <a:endParaRPr sz="3200">
              <a:solidFill>
                <a:srgbClr val="7F7F7F"/>
              </a:solidFill>
              <a:latin typeface="Arial"/>
              <a:ea typeface="Arial"/>
              <a:cs typeface="Arial"/>
              <a:sym typeface="Arial"/>
            </a:endParaRPr>
          </a:p>
        </p:txBody>
      </p:sp>
      <p:sp>
        <p:nvSpPr>
          <p:cNvPr id="425" name="Google Shape;425;p29"/>
          <p:cNvSpPr txBox="1"/>
          <p:nvPr/>
        </p:nvSpPr>
        <p:spPr>
          <a:xfrm>
            <a:off x="1841827" y="2699509"/>
            <a:ext cx="7745141"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Existen varios métodos para estimar intervalos de confianza mediante el uso de bootstrapping:</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Intervalos basados en distribución normal (normal bootstrap intervals).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Intervalos basados en percentiles (percentile bootstrap intervals).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Intervalos basados en distribución Student's (bootstrap Student's t intervals).</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Bias-Corrected and Accelerated Bootstrap Method (BCA).</a:t>
            </a:r>
            <a:endParaRPr/>
          </a:p>
          <a:p>
            <a:pPr marL="285750" marR="0" lvl="0" indent="-285750" algn="just" rtl="0">
              <a:spcBef>
                <a:spcPts val="0"/>
              </a:spcBef>
              <a:spcAft>
                <a:spcPts val="0"/>
              </a:spcAft>
              <a:buClr>
                <a:schemeClr val="lt1"/>
              </a:buClr>
              <a:buSzPts val="1800"/>
              <a:buFont typeface="Arial"/>
              <a:buChar char="•"/>
            </a:pPr>
            <a:r>
              <a:rPr lang="es-ES" sz="1800">
                <a:solidFill>
                  <a:schemeClr val="lt1"/>
                </a:solidFill>
                <a:latin typeface="Calibri"/>
                <a:ea typeface="Calibri"/>
                <a:cs typeface="Calibri"/>
                <a:sym typeface="Calibri"/>
              </a:rPr>
              <a:t>Intervalos empíricos (empirical bootstrap intervals).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5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0"/>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31" name="Google Shape;431;p30"/>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5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1"/>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ES"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p:cTn id="7" dur="500"/>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1529</Words>
  <Application>Microsoft Office PowerPoint</Application>
  <PresentationFormat>Panorámica</PresentationFormat>
  <Paragraphs>140</Paragraphs>
  <Slides>31</Slides>
  <Notes>31</Notes>
  <HiddenSlides>0</HiddenSlides>
  <MMClips>0</MMClips>
  <ScaleCrop>false</ScaleCrop>
  <HeadingPairs>
    <vt:vector size="4" baseType="variant">
      <vt:variant>
        <vt:lpstr>Tema</vt:lpstr>
      </vt:variant>
      <vt:variant>
        <vt:i4>2</vt:i4>
      </vt:variant>
      <vt:variant>
        <vt:lpstr>Títulos de diapositiva</vt:lpstr>
      </vt:variant>
      <vt:variant>
        <vt:i4>31</vt:i4>
      </vt:variant>
    </vt:vector>
  </HeadingPairs>
  <TitlesOfParts>
    <vt:vector size="33" baseType="lpstr">
      <vt:lpstr>Tema de Office</vt:lpstr>
      <vt:lpstr>1_Tema de Office</vt:lpstr>
      <vt:lpstr>    Bootstrapping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Bootstrapping </dc:title>
  <dc:creator>Kibernum</dc:creator>
  <cp:lastModifiedBy>kibernum</cp:lastModifiedBy>
  <cp:revision>58</cp:revision>
  <dcterms:created xsi:type="dcterms:W3CDTF">2023-01-03T12:28:26Z</dcterms:created>
  <dcterms:modified xsi:type="dcterms:W3CDTF">2025-09-26T11:51:28Z</dcterms:modified>
</cp:coreProperties>
</file>