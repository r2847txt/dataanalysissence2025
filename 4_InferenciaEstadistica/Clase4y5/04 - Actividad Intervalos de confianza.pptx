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62" r:id="rId5"/>
    <p:sldId id="743" r:id="rId6"/>
    <p:sldId id="595" r:id="rId7"/>
    <p:sldId id="737" r:id="rId8"/>
    <p:sldId id="741" r:id="rId9"/>
    <p:sldId id="742" r:id="rId10"/>
    <p:sldId id="740" r:id="rId11"/>
    <p:sldId id="744" r:id="rId12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CAE"/>
    <a:srgbClr val="F6A120"/>
    <a:srgbClr val="98C340"/>
    <a:srgbClr val="FD0075"/>
    <a:srgbClr val="252526"/>
    <a:srgbClr val="383838"/>
    <a:srgbClr val="1E1E1E"/>
    <a:srgbClr val="000000"/>
    <a:srgbClr val="4E7FDE"/>
    <a:srgbClr val="006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B974EA-AD34-905F-BD05-B30A7303AF68}" v="4" dt="2025-09-26T11:51:33.76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1" autoAdjust="0"/>
    <p:restoredTop sz="96395" autoAdjust="0"/>
  </p:normalViewPr>
  <p:slideViewPr>
    <p:cSldViewPr snapToGrid="0">
      <p:cViewPr varScale="1">
        <p:scale>
          <a:sx n="76" d="100"/>
          <a:sy n="76" d="100"/>
        </p:scale>
        <p:origin x="114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8FB974EA-AD34-905F-BD05-B30A7303AF68}"/>
    <pc:docChg chg="modSld">
      <pc:chgData name="Soraya Salazar" userId="S::soraya.salazar@kibernumacademy.com::fdf00a5c-f577-43dc-8064-9968cad83607" providerId="AD" clId="Web-{8FB974EA-AD34-905F-BD05-B30A7303AF68}" dt="2025-09-26T11:51:33.765" v="1"/>
      <pc:docMkLst>
        <pc:docMk/>
      </pc:docMkLst>
      <pc:sldChg chg="delSp modSp">
        <pc:chgData name="Soraya Salazar" userId="S::soraya.salazar@kibernumacademy.com::fdf00a5c-f577-43dc-8064-9968cad83607" providerId="AD" clId="Web-{8FB974EA-AD34-905F-BD05-B30A7303AF68}" dt="2025-09-26T11:51:33.765" v="1"/>
        <pc:sldMkLst>
          <pc:docMk/>
          <pc:sldMk cId="1998777028" sldId="562"/>
        </pc:sldMkLst>
        <pc:spChg chg="del">
          <ac:chgData name="Soraya Salazar" userId="S::soraya.salazar@kibernumacademy.com::fdf00a5c-f577-43dc-8064-9968cad83607" providerId="AD" clId="Web-{8FB974EA-AD34-905F-BD05-B30A7303AF68}" dt="2025-09-26T11:51:33.765" v="1"/>
          <ac:spMkLst>
            <pc:docMk/>
            <pc:sldMk cId="1998777028" sldId="562"/>
            <ac:spMk id="9" creationId="{00000000-0000-0000-0000-000000000000}"/>
          </ac:spMkLst>
        </pc:spChg>
        <pc:spChg chg="mod">
          <ac:chgData name="Soraya Salazar" userId="S::soraya.salazar@kibernumacademy.com::fdf00a5c-f577-43dc-8064-9968cad83607" providerId="AD" clId="Web-{8FB974EA-AD34-905F-BD05-B30A7303AF68}" dt="2025-09-26T11:51:30.546" v="0" actId="20577"/>
          <ac:spMkLst>
            <pc:docMk/>
            <pc:sldMk cId="1998777028" sldId="562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02FB8815-80A8-175E-A850-C2084DB0D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sp>
        <p:nvSpPr>
          <p:cNvPr id="12" name="Rectangle: Rounded Corners 22">
            <a:extLst>
              <a:ext uri="{FF2B5EF4-FFF2-40B4-BE49-F238E27FC236}">
                <a16:creationId xmlns:a16="http://schemas.microsoft.com/office/drawing/2014/main" id="{100F0B21-F305-84E0-FC1E-67639502205C}"/>
              </a:ext>
            </a:extLst>
          </p:cNvPr>
          <p:cNvSpPr/>
          <p:nvPr/>
        </p:nvSpPr>
        <p:spPr>
          <a:xfrm>
            <a:off x="4032068" y="3810462"/>
            <a:ext cx="7270685" cy="1611086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>
            <a:defPPr>
              <a:defRPr lang="es-ES_tradn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Ejercicios Intervalo de Confianza</a:t>
            </a:r>
            <a:endParaRPr lang="en-US" sz="4800" b="1" dirty="0"/>
          </a:p>
        </p:txBody>
      </p:sp>
      <p:sp>
        <p:nvSpPr>
          <p:cNvPr id="10" name="Google Shape;92;p1"/>
          <p:cNvSpPr txBox="1"/>
          <p:nvPr/>
        </p:nvSpPr>
        <p:spPr>
          <a:xfrm>
            <a:off x="4156020" y="3256311"/>
            <a:ext cx="702277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Inferencia Estadística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/>
              <a:cs typeface="Arial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 bwMode="auto">
          <a:xfrm>
            <a:off x="6662057" y="1209279"/>
            <a:ext cx="4807132" cy="118679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Actividad: </a:t>
            </a:r>
            <a:r>
              <a:rPr lang="es-ES" sz="3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Intervalo de Confianza</a:t>
            </a: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ource Sans Pro" panose="020B0503030403020204" pitchFamily="34" charset="0"/>
              <a:ea typeface="+mj-ea"/>
              <a:cs typeface="+mj-cs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F54B704E-F625-E3FA-92EA-8240924D3BF1}"/>
              </a:ext>
            </a:extLst>
          </p:cNvPr>
          <p:cNvSpPr/>
          <p:nvPr/>
        </p:nvSpPr>
        <p:spPr>
          <a:xfrm>
            <a:off x="644757" y="1349553"/>
            <a:ext cx="5311415" cy="4412524"/>
          </a:xfrm>
          <a:prstGeom prst="roundRect">
            <a:avLst>
              <a:gd name="adj" fmla="val 2971"/>
            </a:avLst>
          </a:prstGeom>
          <a:solidFill>
            <a:srgbClr val="7FAEF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2" descr="5 técnicas de análisis de datos para la precisión de tus informes">
            <a:extLst>
              <a:ext uri="{FF2B5EF4-FFF2-40B4-BE49-F238E27FC236}">
                <a16:creationId xmlns:a16="http://schemas.microsoft.com/office/drawing/2014/main" id="{2EF599DD-F081-0474-AC33-107E6F0BE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55" y="1802674"/>
            <a:ext cx="4956418" cy="329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78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58443" y="2080279"/>
            <a:ext cx="11341601" cy="308189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696484" y="2299847"/>
            <a:ext cx="10134426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+mn-lt"/>
              </a:rPr>
              <a:t>Grupos de trabajo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Grupos de 2 personas. (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Pair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programming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)</a:t>
            </a:r>
          </a:p>
          <a:p>
            <a:endParaRPr lang="es-ES" b="1" dirty="0">
              <a:solidFill>
                <a:schemeClr val="bg1"/>
              </a:solidFill>
              <a:latin typeface="+mn-lt"/>
            </a:endParaRPr>
          </a:p>
          <a:p>
            <a:r>
              <a:rPr lang="es-ES" b="1" dirty="0">
                <a:solidFill>
                  <a:schemeClr val="bg1"/>
                </a:solidFill>
                <a:latin typeface="+mn-lt"/>
              </a:rPr>
              <a:t>Tiempo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30-40 minutos.</a:t>
            </a:r>
          </a:p>
          <a:p>
            <a:endParaRPr lang="es-ES" b="1" dirty="0">
              <a:solidFill>
                <a:schemeClr val="bg1"/>
              </a:solidFill>
              <a:latin typeface="+mn-lt"/>
            </a:endParaRPr>
          </a:p>
          <a:p>
            <a:r>
              <a:rPr lang="es-ES" b="1" dirty="0">
                <a:solidFill>
                  <a:schemeClr val="bg1"/>
                </a:solidFill>
                <a:latin typeface="+mn-lt"/>
              </a:rPr>
              <a:t>Objetivo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Aplicar propiedades de probabilidad para resolver un problema simple.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Aplicar propiedades de los intervalos de confianza en la resolución de problemas.</a:t>
            </a:r>
            <a:endParaRPr lang="es-ES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696484" y="1072217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</a:t>
            </a:r>
          </a:p>
        </p:txBody>
      </p:sp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745222" y="2381298"/>
            <a:ext cx="12064499" cy="2052281"/>
          </a:xfrm>
          <a:prstGeom prst="roundRect">
            <a:avLst>
              <a:gd name="adj" fmla="val 2971"/>
            </a:avLst>
          </a:prstGeom>
          <a:solidFill>
            <a:srgbClr val="078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542008" y="2668774"/>
            <a:ext cx="10134426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Considere el siguiente enunciado: 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Se hizo una encuesta a 325 personas mayores de 16  años y se encontró que  120  iban al teatro regularmente. Hallar, con un nivel de confianza del  94%,  un intervalo para estudiar la proporción de los ciudadanos que van al teatro regularmente.</a:t>
            </a:r>
            <a:endParaRPr lang="es-E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542008" y="1498920"/>
            <a:ext cx="10782300" cy="59490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1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66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120159" y="1623404"/>
            <a:ext cx="11625381" cy="3383776"/>
          </a:xfrm>
          <a:prstGeom prst="roundRect">
            <a:avLst>
              <a:gd name="adj" fmla="val 2971"/>
            </a:avLst>
          </a:prstGeom>
          <a:solidFill>
            <a:srgbClr val="078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716191" y="1856432"/>
            <a:ext cx="10134426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Considere el siguiente enunciado: 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En una encuesta realizada a 800 personas elegidas al azar del censo electoral, 240 declaran su intención de votar por el partido A.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a) Estimar, con un nivel de confianza del  95,45 % ,  entre qué valores se encuentra la intención de voto a dicho partido en todo el censo.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b) Discutir, razonadamente, el efecto que tendría sobre el intervalo de confianza el aumento, o la disminución, del nivel de confianza.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716191" y="1049308"/>
            <a:ext cx="10782300" cy="5713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2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27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26519" y="1623109"/>
            <a:ext cx="11625381" cy="3787219"/>
          </a:xfrm>
          <a:prstGeom prst="roundRect">
            <a:avLst>
              <a:gd name="adj" fmla="val 2971"/>
            </a:avLst>
          </a:prstGeom>
          <a:solidFill>
            <a:srgbClr val="078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829390" y="1830306"/>
            <a:ext cx="10134426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Considere el siguiente enunciado: 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En un control de calidad se analizó una muestra aleatoria de  750  tornillos resultando defectuosos  80  de ellos.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a) Hallar un intervalo de confianza para la proporción de tornillos defectuosos en el conjunto de producción con  99 %  de confianza. 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b) ¿Cuál es el error máximo cometido en la estimación anterior? 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c) Si deseamos que el error cometido, con el mismo nivel de confianza, sea la décima parte del </a:t>
            </a:r>
            <a:r>
              <a:rPr lang="es-ES" b="1" dirty="0">
                <a:solidFill>
                  <a:schemeClr val="bg1"/>
                </a:solidFill>
                <a:latin typeface="+mn-lt"/>
              </a:rPr>
              <a:t>apartado anterior, ¿cuál ha de ser el tamaño de la muestra?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829390" y="879572"/>
            <a:ext cx="10183485" cy="66456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3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73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58443" y="1957815"/>
            <a:ext cx="11341601" cy="308189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696484" y="2467062"/>
            <a:ext cx="10134426" cy="23083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La idea es que puedas identificar los parámetros y datos proporcionados en el enunciado, de tal forma que se pueda determinar las probabilidades e intervalo de confianza que permitan resolver los ejercicios y responder las preguntas planteadas.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s-ES" dirty="0">
              <a:solidFill>
                <a:schemeClr val="bg1"/>
              </a:solidFill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Plantear una solución usando las librerías de Python.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s-ES" dirty="0">
              <a:solidFill>
                <a:schemeClr val="bg1"/>
              </a:solidFill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Interpretar los resultados obtenidos.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s-ES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704850" y="1217173"/>
            <a:ext cx="10782300" cy="7043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</a:t>
            </a:r>
          </a:p>
        </p:txBody>
      </p:sp>
    </p:spTree>
    <p:extLst>
      <p:ext uri="{BB962C8B-B14F-4D97-AF65-F5344CB8AC3E}">
        <p14:creationId xmlns:p14="http://schemas.microsoft.com/office/powerpoint/2010/main" val="299652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¡Éxito!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6319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26BDBF-E58D-4DAC-8738-D11056BF4C72}">
  <ds:schemaRefs>
    <ds:schemaRef ds:uri="http://purl.org/dc/terms/"/>
    <ds:schemaRef ds:uri="470d2f17-52cb-407b-8136-5e632d1cee08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6171001b-fa9d-409b-8713-8b6a17935d68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9273</TotalTime>
  <Words>359</Words>
  <Application>Microsoft Office PowerPoint</Application>
  <PresentationFormat>Panorámica</PresentationFormat>
  <Paragraphs>44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¡Éxito!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kibernum</cp:lastModifiedBy>
  <cp:revision>252</cp:revision>
  <dcterms:created xsi:type="dcterms:W3CDTF">2023-01-03T12:28:26Z</dcterms:created>
  <dcterms:modified xsi:type="dcterms:W3CDTF">2025-09-26T11:51:35Z</dcterms:modified>
</cp:coreProperties>
</file>