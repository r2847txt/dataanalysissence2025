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3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ijrIR3JAAzzBlE/qiyVcae4+a29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DBFF3C-6F60-7BE4-30A9-D794A1436173}" v="5" dt="2025-09-26T11:51:08.3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customschemas.google.com/relationships/presentationmetadata" Target="metadata"/><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83DBFF3C-6F60-7BE4-30A9-D794A1436173}"/>
    <pc:docChg chg="modSld">
      <pc:chgData name="Soraya Salazar" userId="S::soraya.salazar@kibernumacademy.com::fdf00a5c-f577-43dc-8064-9968cad83607" providerId="AD" clId="Web-{83DBFF3C-6F60-7BE4-30A9-D794A1436173}" dt="2025-09-26T11:51:08.330" v="2" actId="20577"/>
      <pc:docMkLst>
        <pc:docMk/>
      </pc:docMkLst>
      <pc:sldChg chg="delSp modSp">
        <pc:chgData name="Soraya Salazar" userId="S::soraya.salazar@kibernumacademy.com::fdf00a5c-f577-43dc-8064-9968cad83607" providerId="AD" clId="Web-{83DBFF3C-6F60-7BE4-30A9-D794A1436173}" dt="2025-09-26T11:51:08.330" v="2" actId="20577"/>
        <pc:sldMkLst>
          <pc:docMk/>
          <pc:sldMk cId="0" sldId="256"/>
        </pc:sldMkLst>
        <pc:spChg chg="del">
          <ac:chgData name="Soraya Salazar" userId="S::soraya.salazar@kibernumacademy.com::fdf00a5c-f577-43dc-8064-9968cad83607" providerId="AD" clId="Web-{83DBFF3C-6F60-7BE4-30A9-D794A1436173}" dt="2025-09-26T11:51:05.096" v="0"/>
          <ac:spMkLst>
            <pc:docMk/>
            <pc:sldMk cId="0" sldId="256"/>
            <ac:spMk id="165" creationId="{00000000-0000-0000-0000-000000000000}"/>
          </ac:spMkLst>
        </pc:spChg>
        <pc:spChg chg="mod">
          <ac:chgData name="Soraya Salazar" userId="S::soraya.salazar@kibernumacademy.com::fdf00a5c-f577-43dc-8064-9968cad83607" providerId="AD" clId="Web-{83DBFF3C-6F60-7BE4-30A9-D794A1436173}" dt="2025-09-26T11:51:08.330" v="2" actId="20577"/>
          <ac:spMkLst>
            <pc:docMk/>
            <pc:sldMk cId="0" sldId="256"/>
            <ac:spMk id="1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7" name="Google Shape;17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5" name="Google Shape;18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0" name="Google Shape;19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6" name="Google Shape;20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9" name="Google Shape;2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5" name="Google Shape;2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8" name="Google Shape;24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7" name="Google Shape;25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5" name="Google Shape;2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2" name="Google Shape;27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1" name="Google Shape;28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8" name="Google Shape;28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3" name="Google Shape;29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1" name="Google Shape;30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1" name="Google Shape;31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4" name="Google Shape;32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2" name="Google Shape;33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7" name="Google Shape;34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5" name="Google Shape;35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3" name="Google Shape;36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9" name="Google Shape;37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6" name="Google Shape;38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4" name="Google Shape;39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1" name="Google Shape;41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7" name="Google Shape;41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2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3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3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3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3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3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39"/>
          <p:cNvSpPr>
            <a:spLocks noGrp="1"/>
          </p:cNvSpPr>
          <p:nvPr>
            <p:ph type="pic" idx="2"/>
          </p:nvPr>
        </p:nvSpPr>
        <p:spPr>
          <a:xfrm>
            <a:off x="5183188" y="987425"/>
            <a:ext cx="6172200" cy="4873625"/>
          </a:xfrm>
          <a:prstGeom prst="rect">
            <a:avLst/>
          </a:prstGeom>
          <a:noFill/>
          <a:ln>
            <a:noFill/>
          </a:ln>
        </p:spPr>
      </p:sp>
      <p:sp>
        <p:nvSpPr>
          <p:cNvPr id="68" name="Google Shape;68;p3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4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4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4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0"/>
        <p:cNvGrpSpPr/>
        <p:nvPr/>
      </p:nvGrpSpPr>
      <p:grpSpPr>
        <a:xfrm>
          <a:off x="0" y="0"/>
          <a:ext cx="0" cy="0"/>
          <a:chOff x="0" y="0"/>
          <a:chExt cx="0" cy="0"/>
        </a:xfrm>
      </p:grpSpPr>
      <p:sp>
        <p:nvSpPr>
          <p:cNvPr id="91" name="Google Shape;91;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2" name="Google Shape;92;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6"/>
        <p:cNvGrpSpPr/>
        <p:nvPr/>
      </p:nvGrpSpPr>
      <p:grpSpPr>
        <a:xfrm>
          <a:off x="0" y="0"/>
          <a:ext cx="0" cy="0"/>
          <a:chOff x="0" y="0"/>
          <a:chExt cx="0" cy="0"/>
        </a:xfrm>
      </p:grpSpPr>
      <p:sp>
        <p:nvSpPr>
          <p:cNvPr id="97" name="Google Shape;97;p4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8" name="Google Shape;98;p4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02"/>
        <p:cNvGrpSpPr/>
        <p:nvPr/>
      </p:nvGrpSpPr>
      <p:grpSpPr>
        <a:xfrm>
          <a:off x="0" y="0"/>
          <a:ext cx="0" cy="0"/>
          <a:chOff x="0" y="0"/>
          <a:chExt cx="0" cy="0"/>
        </a:xfrm>
      </p:grpSpPr>
      <p:sp>
        <p:nvSpPr>
          <p:cNvPr id="103" name="Google Shape;103;p4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4" name="Google Shape;104;p4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8"/>
        <p:cNvGrpSpPr/>
        <p:nvPr/>
      </p:nvGrpSpPr>
      <p:grpSpPr>
        <a:xfrm>
          <a:off x="0" y="0"/>
          <a:ext cx="0" cy="0"/>
          <a:chOff x="0" y="0"/>
          <a:chExt cx="0" cy="0"/>
        </a:xfrm>
      </p:grpSpPr>
      <p:sp>
        <p:nvSpPr>
          <p:cNvPr id="109" name="Google Shape;109;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4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4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5"/>
        <p:cNvGrpSpPr/>
        <p:nvPr/>
      </p:nvGrpSpPr>
      <p:grpSpPr>
        <a:xfrm>
          <a:off x="0" y="0"/>
          <a:ext cx="0" cy="0"/>
          <a:chOff x="0" y="0"/>
          <a:chExt cx="0" cy="0"/>
        </a:xfrm>
      </p:grpSpPr>
      <p:sp>
        <p:nvSpPr>
          <p:cNvPr id="116" name="Google Shape;116;p4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4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4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4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4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24"/>
        <p:cNvGrpSpPr/>
        <p:nvPr/>
      </p:nvGrpSpPr>
      <p:grpSpPr>
        <a:xfrm>
          <a:off x="0" y="0"/>
          <a:ext cx="0" cy="0"/>
          <a:chOff x="0" y="0"/>
          <a:chExt cx="0" cy="0"/>
        </a:xfrm>
      </p:grpSpPr>
      <p:sp>
        <p:nvSpPr>
          <p:cNvPr id="125" name="Google Shape;125;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6" name="Google Shape;126;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9"/>
        <p:cNvGrpSpPr/>
        <p:nvPr/>
      </p:nvGrpSpPr>
      <p:grpSpPr>
        <a:xfrm>
          <a:off x="0" y="0"/>
          <a:ext cx="0" cy="0"/>
          <a:chOff x="0" y="0"/>
          <a:chExt cx="0" cy="0"/>
        </a:xfrm>
      </p:grpSpPr>
      <p:sp>
        <p:nvSpPr>
          <p:cNvPr id="130" name="Google Shape;130;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3"/>
        <p:cNvGrpSpPr/>
        <p:nvPr/>
      </p:nvGrpSpPr>
      <p:grpSpPr>
        <a:xfrm>
          <a:off x="0" y="0"/>
          <a:ext cx="0" cy="0"/>
          <a:chOff x="0" y="0"/>
          <a:chExt cx="0" cy="0"/>
        </a:xfrm>
      </p:grpSpPr>
      <p:sp>
        <p:nvSpPr>
          <p:cNvPr id="134" name="Google Shape;134;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5" name="Google Shape;135;p4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4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0"/>
        <p:cNvGrpSpPr/>
        <p:nvPr/>
      </p:nvGrpSpPr>
      <p:grpSpPr>
        <a:xfrm>
          <a:off x="0" y="0"/>
          <a:ext cx="0" cy="0"/>
          <a:chOff x="0" y="0"/>
          <a:chExt cx="0" cy="0"/>
        </a:xfrm>
      </p:grpSpPr>
      <p:sp>
        <p:nvSpPr>
          <p:cNvPr id="141" name="Google Shape;141;p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2" name="Google Shape;142;p49"/>
          <p:cNvSpPr>
            <a:spLocks noGrp="1"/>
          </p:cNvSpPr>
          <p:nvPr>
            <p:ph type="pic" idx="2"/>
          </p:nvPr>
        </p:nvSpPr>
        <p:spPr>
          <a:xfrm>
            <a:off x="5183188" y="987425"/>
            <a:ext cx="6172200" cy="4873625"/>
          </a:xfrm>
          <a:prstGeom prst="rect">
            <a:avLst/>
          </a:prstGeom>
          <a:noFill/>
          <a:ln>
            <a:noFill/>
          </a:ln>
        </p:spPr>
      </p:sp>
      <p:sp>
        <p:nvSpPr>
          <p:cNvPr id="143" name="Google Shape;143;p4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7"/>
        <p:cNvGrpSpPr/>
        <p:nvPr/>
      </p:nvGrpSpPr>
      <p:grpSpPr>
        <a:xfrm>
          <a:off x="0" y="0"/>
          <a:ext cx="0" cy="0"/>
          <a:chOff x="0" y="0"/>
          <a:chExt cx="0" cy="0"/>
        </a:xfrm>
      </p:grpSpPr>
      <p:sp>
        <p:nvSpPr>
          <p:cNvPr id="148" name="Google Shape;148;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9" name="Google Shape;149;p5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3"/>
        <p:cNvGrpSpPr/>
        <p:nvPr/>
      </p:nvGrpSpPr>
      <p:grpSpPr>
        <a:xfrm>
          <a:off x="0" y="0"/>
          <a:ext cx="0" cy="0"/>
          <a:chOff x="0" y="0"/>
          <a:chExt cx="0" cy="0"/>
        </a:xfrm>
      </p:grpSpPr>
      <p:sp>
        <p:nvSpPr>
          <p:cNvPr id="154" name="Google Shape;154;p5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5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84"/>
        <p:cNvGrpSpPr/>
        <p:nvPr/>
      </p:nvGrpSpPr>
      <p:grpSpPr>
        <a:xfrm>
          <a:off x="0" y="0"/>
          <a:ext cx="0" cy="0"/>
          <a:chOff x="0" y="0"/>
          <a:chExt cx="0" cy="0"/>
        </a:xfrm>
      </p:grpSpPr>
      <p:sp>
        <p:nvSpPr>
          <p:cNvPr id="85" name="Google Shape;85;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6" name="Google Shape;86;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163" name="Google Shape;163;p1"/>
          <p:cNvSpPr/>
          <p:nvPr/>
        </p:nvSpPr>
        <p:spPr>
          <a:xfrm>
            <a:off x="3587931" y="3771993"/>
            <a:ext cx="7717149" cy="1293910"/>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164" name="Google Shape;164;p1"/>
          <p:cNvSpPr txBox="1">
            <a:spLocks noGrp="1"/>
          </p:cNvSpPr>
          <p:nvPr>
            <p:ph type="ctrTitle"/>
          </p:nvPr>
        </p:nvSpPr>
        <p:spPr>
          <a:xfrm>
            <a:off x="3789583" y="4062172"/>
            <a:ext cx="7515497" cy="1170809"/>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5000"/>
              <a:buFont typeface="Arial"/>
              <a:buNone/>
            </a:pPr>
            <a:r>
              <a:rPr lang="es-ES" sz="5000" b="1">
                <a:solidFill>
                  <a:schemeClr val="lt1"/>
                </a:solidFill>
                <a:latin typeface="Arial"/>
                <a:ea typeface="Arial"/>
                <a:cs typeface="Arial"/>
                <a:sym typeface="Arial"/>
              </a:rPr>
              <a:t>Intervalos de Confianza</a:t>
            </a:r>
            <a:br>
              <a:rPr lang="es-ES" sz="5000" b="1">
                <a:solidFill>
                  <a:schemeClr val="lt1"/>
                </a:solidFill>
                <a:latin typeface="Arial"/>
                <a:ea typeface="Arial"/>
                <a:cs typeface="Arial"/>
                <a:sym typeface="Arial"/>
              </a:rPr>
            </a:br>
            <a:endParaRPr sz="3000" b="1">
              <a:solidFill>
                <a:schemeClr val="lt1"/>
              </a:solidFill>
              <a:latin typeface="Calibri"/>
              <a:ea typeface="Calibri"/>
              <a:cs typeface="Calibri"/>
              <a:sym typeface="Calibri"/>
            </a:endParaRPr>
          </a:p>
        </p:txBody>
      </p:sp>
      <p:sp>
        <p:nvSpPr>
          <p:cNvPr id="166" name="Google Shape;166;p1"/>
          <p:cNvSpPr txBox="1"/>
          <p:nvPr/>
        </p:nvSpPr>
        <p:spPr>
          <a:xfrm>
            <a:off x="3864725" y="3319162"/>
            <a:ext cx="7022779"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2000"/>
              <a:buFont typeface="Arial"/>
              <a:buNone/>
            </a:pPr>
            <a:r>
              <a:rPr lang="es-ES" sz="2000" b="1" i="0" u="none" strike="noStrike" cap="none">
                <a:solidFill>
                  <a:srgbClr val="FFFFFF"/>
                </a:solidFill>
                <a:latin typeface="Arial"/>
                <a:ea typeface="Arial"/>
                <a:cs typeface="Arial"/>
                <a:sym typeface="Arial"/>
              </a:rPr>
              <a:t>Inferencia Estadística</a:t>
            </a:r>
            <a:endParaRPr sz="20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
          <p:cNvSpPr txBox="1"/>
          <p:nvPr/>
        </p:nvSpPr>
        <p:spPr>
          <a:xfrm>
            <a:off x="1083189" y="884789"/>
            <a:ext cx="10091692" cy="499015"/>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Objetivos</a:t>
            </a:r>
            <a:endParaRPr/>
          </a:p>
        </p:txBody>
      </p:sp>
      <p:sp>
        <p:nvSpPr>
          <p:cNvPr id="172" name="Google Shape;172;p2"/>
          <p:cNvSpPr/>
          <p:nvPr/>
        </p:nvSpPr>
        <p:spPr>
          <a:xfrm>
            <a:off x="-157180" y="2035993"/>
            <a:ext cx="7930452" cy="2533190"/>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2"/>
          <p:cNvSpPr txBox="1"/>
          <p:nvPr/>
        </p:nvSpPr>
        <p:spPr>
          <a:xfrm>
            <a:off x="1083189" y="2286925"/>
            <a:ext cx="6022017" cy="2031325"/>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Utiliza los conceptos básicos de estadística Inferencial.</a:t>
            </a:r>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Describir el concepto de intervalo de confianza.</a:t>
            </a:r>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Realizar estimaciones de la media de una población utilizando intervalos de confianza a partir de una muestra aleatoria.</a:t>
            </a:r>
            <a:endParaRPr/>
          </a:p>
        </p:txBody>
      </p:sp>
      <p:pic>
        <p:nvPicPr>
          <p:cNvPr id="174" name="Google Shape;174;p2"/>
          <p:cNvPicPr preferRelativeResize="0"/>
          <p:nvPr/>
        </p:nvPicPr>
        <p:blipFill rotWithShape="1">
          <a:blip r:embed="rId3">
            <a:alphaModFix/>
          </a:blip>
          <a:srcRect/>
          <a:stretch/>
        </p:blipFill>
        <p:spPr>
          <a:xfrm>
            <a:off x="8771276" y="2035991"/>
            <a:ext cx="2533191" cy="253319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8"/>
        <p:cNvGrpSpPr/>
        <p:nvPr/>
      </p:nvGrpSpPr>
      <p:grpSpPr>
        <a:xfrm>
          <a:off x="0" y="0"/>
          <a:ext cx="0" cy="0"/>
          <a:chOff x="0" y="0"/>
          <a:chExt cx="0" cy="0"/>
        </a:xfrm>
      </p:grpSpPr>
      <p:sp>
        <p:nvSpPr>
          <p:cNvPr id="179" name="Google Shape;179;p3"/>
          <p:cNvSpPr txBox="1"/>
          <p:nvPr/>
        </p:nvSpPr>
        <p:spPr>
          <a:xfrm>
            <a:off x="1611984" y="993169"/>
            <a:ext cx="6014301" cy="59294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Contenido</a:t>
            </a:r>
            <a:endParaRPr/>
          </a:p>
        </p:txBody>
      </p:sp>
      <p:sp>
        <p:nvSpPr>
          <p:cNvPr id="180" name="Google Shape;180;p3"/>
          <p:cNvSpPr/>
          <p:nvPr/>
        </p:nvSpPr>
        <p:spPr>
          <a:xfrm>
            <a:off x="566244" y="1745427"/>
            <a:ext cx="6847412" cy="3262740"/>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 name="Google Shape;181;p3"/>
          <p:cNvSpPr txBox="1"/>
          <p:nvPr/>
        </p:nvSpPr>
        <p:spPr>
          <a:xfrm>
            <a:off x="1116993" y="2868965"/>
            <a:ext cx="5888449" cy="1015663"/>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lt1"/>
              </a:buClr>
              <a:buSzPts val="2000"/>
              <a:buFont typeface="Noto Sans Symbols"/>
              <a:buChar char="⮚"/>
            </a:pPr>
            <a:r>
              <a:rPr lang="es-ES" sz="2000">
                <a:solidFill>
                  <a:schemeClr val="lt1"/>
                </a:solidFill>
                <a:latin typeface="Calibri"/>
                <a:ea typeface="Calibri"/>
                <a:cs typeface="Calibri"/>
                <a:sym typeface="Calibri"/>
              </a:rPr>
              <a:t>Intervalos de confianza.</a:t>
            </a:r>
            <a:endParaRPr/>
          </a:p>
          <a:p>
            <a:pPr marL="342900" marR="0" lvl="0" indent="-215900" algn="just" rtl="0">
              <a:spcBef>
                <a:spcPts val="0"/>
              </a:spcBef>
              <a:spcAft>
                <a:spcPts val="0"/>
              </a:spcAft>
              <a:buClr>
                <a:schemeClr val="dk1"/>
              </a:buClr>
              <a:buSzPts val="2000"/>
              <a:buFont typeface="Noto Sans Symbols"/>
              <a:buNone/>
            </a:pPr>
            <a:endParaRPr sz="20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2000"/>
              <a:buFont typeface="Noto Sans Symbols"/>
              <a:buChar char="⮚"/>
            </a:pPr>
            <a:r>
              <a:rPr lang="es-ES" sz="2000">
                <a:solidFill>
                  <a:schemeClr val="lt1"/>
                </a:solidFill>
                <a:latin typeface="Calibri"/>
                <a:ea typeface="Calibri"/>
                <a:cs typeface="Calibri"/>
                <a:sym typeface="Calibri"/>
              </a:rPr>
              <a:t>Intervalos de confianza para la media poblacional</a:t>
            </a:r>
            <a:r>
              <a:rPr lang="es-ES" sz="2000">
                <a:solidFill>
                  <a:schemeClr val="lt1"/>
                </a:solidFill>
                <a:latin typeface="Arial"/>
                <a:ea typeface="Arial"/>
                <a:cs typeface="Arial"/>
                <a:sym typeface="Arial"/>
              </a:rPr>
              <a:t>.</a:t>
            </a:r>
            <a:endParaRPr/>
          </a:p>
        </p:txBody>
      </p:sp>
      <p:pic>
        <p:nvPicPr>
          <p:cNvPr id="182" name="Google Shape;182;p3"/>
          <p:cNvPicPr preferRelativeResize="0"/>
          <p:nvPr/>
        </p:nvPicPr>
        <p:blipFill rotWithShape="1">
          <a:blip r:embed="rId4">
            <a:alphaModFix/>
          </a:blip>
          <a:srcRect/>
          <a:stretch/>
        </p:blipFill>
        <p:spPr>
          <a:xfrm>
            <a:off x="8455655" y="1989640"/>
            <a:ext cx="3018526" cy="30185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4"/>
          <p:cNvSpPr txBox="1"/>
          <p:nvPr/>
        </p:nvSpPr>
        <p:spPr>
          <a:xfrm>
            <a:off x="1753385" y="3106842"/>
            <a:ext cx="7418895"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600">
                <a:solidFill>
                  <a:srgbClr val="7F7F7F"/>
                </a:solidFill>
                <a:latin typeface="Arial"/>
                <a:ea typeface="Arial"/>
                <a:cs typeface="Arial"/>
                <a:sym typeface="Arial"/>
              </a:rPr>
              <a:t>Intervalos de Confianza</a:t>
            </a:r>
            <a:endParaRPr sz="36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7"/>
                                        </p:tgtEl>
                                        <p:attrNameLst>
                                          <p:attrName>style.visibility</p:attrName>
                                        </p:attrNameLst>
                                      </p:cBhvr>
                                      <p:to>
                                        <p:strVal val="visible"/>
                                      </p:to>
                                    </p:set>
                                    <p:animEffect transition="in" filter="fade">
                                      <p:cBhvr>
                                        <p:cTn id="7" dur="500"/>
                                        <p:tgtEl>
                                          <p:spTgt spid="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1"/>
        <p:cNvGrpSpPr/>
        <p:nvPr/>
      </p:nvGrpSpPr>
      <p:grpSpPr>
        <a:xfrm>
          <a:off x="0" y="0"/>
          <a:ext cx="0" cy="0"/>
          <a:chOff x="0" y="0"/>
          <a:chExt cx="0" cy="0"/>
        </a:xfrm>
      </p:grpSpPr>
      <p:sp>
        <p:nvSpPr>
          <p:cNvPr id="192" name="Google Shape;192;p5"/>
          <p:cNvSpPr/>
          <p:nvPr/>
        </p:nvSpPr>
        <p:spPr>
          <a:xfrm rot="5400000">
            <a:off x="5832325" y="-75400"/>
            <a:ext cx="685800" cy="10699800"/>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5"/>
          <p:cNvSpPr txBox="1"/>
          <p:nvPr/>
        </p:nvSpPr>
        <p:spPr>
          <a:xfrm>
            <a:off x="770107" y="734158"/>
            <a:ext cx="10269011" cy="767863"/>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Intuición</a:t>
            </a:r>
            <a:endParaRPr/>
          </a:p>
        </p:txBody>
      </p:sp>
      <p:sp>
        <p:nvSpPr>
          <p:cNvPr id="194" name="Google Shape;194;p5"/>
          <p:cNvSpPr/>
          <p:nvPr/>
        </p:nvSpPr>
        <p:spPr>
          <a:xfrm>
            <a:off x="-313500" y="1671200"/>
            <a:ext cx="12021900" cy="2883600"/>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5"/>
          <p:cNvSpPr txBox="1"/>
          <p:nvPr/>
        </p:nvSpPr>
        <p:spPr>
          <a:xfrm>
            <a:off x="770107" y="1932360"/>
            <a:ext cx="4444200" cy="20319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Supongamos que se quiere </a:t>
            </a:r>
            <a:r>
              <a:rPr lang="es-ES" sz="1800" b="1">
                <a:solidFill>
                  <a:schemeClr val="lt1"/>
                </a:solidFill>
                <a:latin typeface="Calibri"/>
                <a:ea typeface="Calibri"/>
                <a:cs typeface="Calibri"/>
                <a:sym typeface="Calibri"/>
              </a:rPr>
              <a:t>estimar la media de altura de una población de jóvenes adultos</a:t>
            </a:r>
            <a:r>
              <a:rPr lang="es-ES" sz="1800">
                <a:solidFill>
                  <a:schemeClr val="lt1"/>
                </a:solidFill>
                <a:latin typeface="Calibri"/>
                <a:ea typeface="Calibri"/>
                <a:cs typeface="Calibri"/>
                <a:sym typeface="Calibri"/>
              </a:rPr>
              <a:t>. Para este efecto, se toma una muestra aleatoria de 50 jóvenes adultos y se mide su altura. Se encuentra que la media de altura de la muestra es de 175 cm y la desviación estándar es de 5 cm.</a:t>
            </a:r>
            <a:endParaRPr/>
          </a:p>
        </p:txBody>
      </p:sp>
      <p:sp>
        <p:nvSpPr>
          <p:cNvPr id="196" name="Google Shape;196;p5"/>
          <p:cNvSpPr/>
          <p:nvPr/>
        </p:nvSpPr>
        <p:spPr>
          <a:xfrm rot="5400000">
            <a:off x="7296800" y="155822"/>
            <a:ext cx="2745300" cy="5930400"/>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97" name="Google Shape;197;p5"/>
          <p:cNvGrpSpPr/>
          <p:nvPr/>
        </p:nvGrpSpPr>
        <p:grpSpPr>
          <a:xfrm>
            <a:off x="5996738" y="1932372"/>
            <a:ext cx="5345289" cy="2380163"/>
            <a:chOff x="3268133" y="2472267"/>
            <a:chExt cx="5655734" cy="2518398"/>
          </a:xfrm>
        </p:grpSpPr>
        <p:pic>
          <p:nvPicPr>
            <p:cNvPr id="198" name="Google Shape;198;p5" descr="Population vs Sample"/>
            <p:cNvPicPr preferRelativeResize="0"/>
            <p:nvPr/>
          </p:nvPicPr>
          <p:blipFill rotWithShape="1">
            <a:blip r:embed="rId4">
              <a:alphaModFix/>
            </a:blip>
            <a:srcRect l="7733" t="26485" r="9822" b="11474"/>
            <a:stretch/>
          </p:blipFill>
          <p:spPr>
            <a:xfrm flipH="1">
              <a:off x="3268133" y="2472267"/>
              <a:ext cx="5655734" cy="2212622"/>
            </a:xfrm>
            <a:prstGeom prst="rect">
              <a:avLst/>
            </a:prstGeom>
            <a:noFill/>
            <a:ln>
              <a:noFill/>
            </a:ln>
          </p:spPr>
        </p:pic>
        <p:sp>
          <p:nvSpPr>
            <p:cNvPr id="199" name="Google Shape;199;p5"/>
            <p:cNvSpPr/>
            <p:nvPr/>
          </p:nvSpPr>
          <p:spPr>
            <a:xfrm>
              <a:off x="5340523" y="3036711"/>
              <a:ext cx="1336856" cy="1088956"/>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0" name="Google Shape;200;p5"/>
            <p:cNvSpPr/>
            <p:nvPr/>
          </p:nvSpPr>
          <p:spPr>
            <a:xfrm>
              <a:off x="5429204" y="3352800"/>
              <a:ext cx="1159494" cy="451556"/>
            </a:xfrm>
            <a:prstGeom prst="rightArrow">
              <a:avLst>
                <a:gd name="adj1" fmla="val 50000"/>
                <a:gd name="adj2" fmla="val 50000"/>
              </a:avLst>
            </a:prstGeom>
            <a:solidFill>
              <a:schemeClr val="lt1"/>
            </a:solidFill>
            <a:ln w="127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rgbClr val="595959"/>
                  </a:solidFill>
                  <a:latin typeface="Calibri"/>
                  <a:ea typeface="Calibri"/>
                  <a:cs typeface="Calibri"/>
                  <a:sym typeface="Calibri"/>
                </a:rPr>
                <a:t>Inferencia</a:t>
              </a:r>
              <a:endParaRPr/>
            </a:p>
          </p:txBody>
        </p:sp>
        <p:sp>
          <p:nvSpPr>
            <p:cNvPr id="201" name="Google Shape;201;p5"/>
            <p:cNvSpPr txBox="1"/>
            <p:nvPr/>
          </p:nvSpPr>
          <p:spPr>
            <a:xfrm>
              <a:off x="3753557" y="4282454"/>
              <a:ext cx="993422" cy="3582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595959"/>
                  </a:solidFill>
                  <a:latin typeface="Calibri"/>
                  <a:ea typeface="Calibri"/>
                  <a:cs typeface="Calibri"/>
                  <a:sym typeface="Calibri"/>
                </a:rPr>
                <a:t>Muestra</a:t>
              </a:r>
              <a:endParaRPr sz="1600">
                <a:solidFill>
                  <a:srgbClr val="595959"/>
                </a:solidFill>
                <a:latin typeface="Calibri"/>
                <a:ea typeface="Calibri"/>
                <a:cs typeface="Calibri"/>
                <a:sym typeface="Calibri"/>
              </a:endParaRPr>
            </a:p>
          </p:txBody>
        </p:sp>
        <p:sp>
          <p:nvSpPr>
            <p:cNvPr id="202" name="Google Shape;202;p5"/>
            <p:cNvSpPr txBox="1"/>
            <p:nvPr/>
          </p:nvSpPr>
          <p:spPr>
            <a:xfrm>
              <a:off x="7185379" y="4632448"/>
              <a:ext cx="1535287" cy="35821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rgbClr val="595959"/>
                  </a:solidFill>
                  <a:latin typeface="Calibri"/>
                  <a:ea typeface="Calibri"/>
                  <a:cs typeface="Calibri"/>
                  <a:sym typeface="Calibri"/>
                </a:rPr>
                <a:t>Población</a:t>
              </a:r>
              <a:endParaRPr sz="1600">
                <a:solidFill>
                  <a:srgbClr val="595959"/>
                </a:solidFill>
                <a:latin typeface="Calibri"/>
                <a:ea typeface="Calibri"/>
                <a:cs typeface="Calibri"/>
                <a:sym typeface="Calibri"/>
              </a:endParaRPr>
            </a:p>
          </p:txBody>
        </p:sp>
      </p:grpSp>
      <p:sp>
        <p:nvSpPr>
          <p:cNvPr id="203" name="Google Shape;203;p5"/>
          <p:cNvSpPr/>
          <p:nvPr/>
        </p:nvSpPr>
        <p:spPr>
          <a:xfrm>
            <a:off x="2768779" y="5095755"/>
            <a:ext cx="6654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Calibri"/>
                <a:ea typeface="Calibri"/>
                <a:cs typeface="Calibri"/>
                <a:sym typeface="Calibri"/>
              </a:rPr>
              <a:t>¿Podemos inferir la media de la población a partir de una muestra? </a:t>
            </a:r>
            <a:endParaRPr sz="1800" b="1">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Effect transition="in" filter="fade">
                                      <p:cBhvr>
                                        <p:cTn id="7" dur="5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6"/>
          <p:cNvSpPr txBox="1"/>
          <p:nvPr/>
        </p:nvSpPr>
        <p:spPr>
          <a:xfrm>
            <a:off x="1085004" y="318951"/>
            <a:ext cx="5063700" cy="100800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Intuición</a:t>
            </a:r>
            <a:endParaRPr/>
          </a:p>
        </p:txBody>
      </p:sp>
      <p:sp>
        <p:nvSpPr>
          <p:cNvPr id="209" name="Google Shape;209;p6"/>
          <p:cNvSpPr/>
          <p:nvPr/>
        </p:nvSpPr>
        <p:spPr>
          <a:xfrm>
            <a:off x="896725" y="1174175"/>
            <a:ext cx="10241100" cy="4456500"/>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 name="Google Shape;210;p6"/>
          <p:cNvSpPr txBox="1"/>
          <p:nvPr/>
        </p:nvSpPr>
        <p:spPr>
          <a:xfrm>
            <a:off x="5750589" y="1906924"/>
            <a:ext cx="4724529" cy="286228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Lo primero que pensaríamos es en utilizar el promedio de las alturas de las muestras, pero no sabemos qué tan alejado está del valor real de la población. La mala noticia es que posiblemente nunca sabremos el valor certero a partir de esta muestra. La buena noticia es que, a pesar de lo anterior, al menos podemos saber entre qué rango de valores podría encontrarse.</a:t>
            </a:r>
            <a:endParaRPr sz="1600"/>
          </a:p>
        </p:txBody>
      </p:sp>
      <p:grpSp>
        <p:nvGrpSpPr>
          <p:cNvPr id="211" name="Google Shape;211;p6"/>
          <p:cNvGrpSpPr/>
          <p:nvPr/>
        </p:nvGrpSpPr>
        <p:grpSpPr>
          <a:xfrm>
            <a:off x="980353" y="1256979"/>
            <a:ext cx="4068016" cy="4286355"/>
            <a:chOff x="1505293" y="1776449"/>
            <a:chExt cx="3405052" cy="3588710"/>
          </a:xfrm>
        </p:grpSpPr>
        <p:sp>
          <p:nvSpPr>
            <p:cNvPr id="212" name="Google Shape;212;p6"/>
            <p:cNvSpPr/>
            <p:nvPr/>
          </p:nvSpPr>
          <p:spPr>
            <a:xfrm>
              <a:off x="1505293" y="1776449"/>
              <a:ext cx="3405052" cy="3588710"/>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3" name="Google Shape;213;p6"/>
            <p:cNvGrpSpPr/>
            <p:nvPr/>
          </p:nvGrpSpPr>
          <p:grpSpPr>
            <a:xfrm>
              <a:off x="1674823" y="1929097"/>
              <a:ext cx="3158817" cy="3372565"/>
              <a:chOff x="1707495" y="2711665"/>
              <a:chExt cx="1958636" cy="2091171"/>
            </a:xfrm>
          </p:grpSpPr>
          <p:pic>
            <p:nvPicPr>
              <p:cNvPr id="214" name="Google Shape;214;p6" descr="Population vs Sample"/>
              <p:cNvPicPr preferRelativeResize="0"/>
              <p:nvPr/>
            </p:nvPicPr>
            <p:blipFill rotWithShape="1">
              <a:blip r:embed="rId3">
                <a:alphaModFix/>
              </a:blip>
              <a:srcRect l="59968" t="26485" r="9823" b="11474"/>
              <a:stretch/>
            </p:blipFill>
            <p:spPr>
              <a:xfrm flipH="1">
                <a:off x="1707495" y="2711665"/>
                <a:ext cx="1958636" cy="2091171"/>
              </a:xfrm>
              <a:prstGeom prst="rect">
                <a:avLst/>
              </a:prstGeom>
              <a:noFill/>
              <a:ln>
                <a:noFill/>
              </a:ln>
            </p:spPr>
          </p:pic>
          <p:sp>
            <p:nvSpPr>
              <p:cNvPr id="215" name="Google Shape;215;p6"/>
              <p:cNvSpPr txBox="1"/>
              <p:nvPr/>
            </p:nvSpPr>
            <p:spPr>
              <a:xfrm>
                <a:off x="2340088" y="4518384"/>
                <a:ext cx="635893" cy="1917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595959"/>
                    </a:solidFill>
                    <a:latin typeface="Calibri"/>
                    <a:ea typeface="Calibri"/>
                    <a:cs typeface="Calibri"/>
                    <a:sym typeface="Calibri"/>
                  </a:rPr>
                  <a:t>Muestra</a:t>
                </a:r>
                <a:endParaRPr sz="1800">
                  <a:solidFill>
                    <a:srgbClr val="595959"/>
                  </a:solidFill>
                  <a:latin typeface="Calibri"/>
                  <a:ea typeface="Calibri"/>
                  <a:cs typeface="Calibri"/>
                  <a:sym typeface="Calibri"/>
                </a:endParaRPr>
              </a:p>
            </p:txBody>
          </p:sp>
          <p:sp>
            <p:nvSpPr>
              <p:cNvPr id="216" name="Google Shape;216;p6"/>
              <p:cNvSpPr txBox="1"/>
              <p:nvPr/>
            </p:nvSpPr>
            <p:spPr>
              <a:xfrm>
                <a:off x="2256745" y="2802682"/>
                <a:ext cx="719236" cy="159781"/>
              </a:xfrm>
              <a:prstGeom prst="rect">
                <a:avLst/>
              </a:prstGeom>
              <a:blipFill rotWithShape="1">
                <a:blip r:embed="rId4">
                  <a:alphaModFix/>
                </a:blip>
                <a:stretch>
                  <a:fillRect l="-3964" r="-1760" b="-588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7"/>
          <p:cNvSpPr/>
          <p:nvPr/>
        </p:nvSpPr>
        <p:spPr>
          <a:xfrm>
            <a:off x="907643" y="1381541"/>
            <a:ext cx="6147093" cy="1891894"/>
          </a:xfrm>
          <a:prstGeom prst="roundRect">
            <a:avLst>
              <a:gd name="adj" fmla="val 8034"/>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7"/>
          <p:cNvSpPr txBox="1"/>
          <p:nvPr/>
        </p:nvSpPr>
        <p:spPr>
          <a:xfrm>
            <a:off x="1184968" y="1810037"/>
            <a:ext cx="5572574"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En este caso, con un 95% de probabilidad podemos inferir que la media de la altura de la población de jóvenes adultos se encuentra en el rango 175 𝑐𝑚𝑠 ±1.42 𝑐𝑚𝑠 .</a:t>
            </a:r>
            <a:endParaRPr/>
          </a:p>
        </p:txBody>
      </p:sp>
      <p:sp>
        <p:nvSpPr>
          <p:cNvPr id="223" name="Google Shape;223;p7"/>
          <p:cNvSpPr txBox="1"/>
          <p:nvPr/>
        </p:nvSpPr>
        <p:spPr>
          <a:xfrm>
            <a:off x="809859" y="366675"/>
            <a:ext cx="10782300" cy="100800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Intuición</a:t>
            </a:r>
            <a:endParaRPr/>
          </a:p>
        </p:txBody>
      </p:sp>
      <p:grpSp>
        <p:nvGrpSpPr>
          <p:cNvPr id="224" name="Google Shape;224;p7"/>
          <p:cNvGrpSpPr/>
          <p:nvPr/>
        </p:nvGrpSpPr>
        <p:grpSpPr>
          <a:xfrm>
            <a:off x="7530105" y="1374811"/>
            <a:ext cx="3623170" cy="4236257"/>
            <a:chOff x="7669609" y="1803508"/>
            <a:chExt cx="3045843" cy="3561239"/>
          </a:xfrm>
        </p:grpSpPr>
        <p:sp>
          <p:nvSpPr>
            <p:cNvPr id="225" name="Google Shape;225;p7"/>
            <p:cNvSpPr/>
            <p:nvPr/>
          </p:nvSpPr>
          <p:spPr>
            <a:xfrm>
              <a:off x="7669609" y="1803508"/>
              <a:ext cx="3045843" cy="3561239"/>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26" name="Google Shape;226;p7"/>
            <p:cNvGrpSpPr/>
            <p:nvPr/>
          </p:nvGrpSpPr>
          <p:grpSpPr>
            <a:xfrm>
              <a:off x="7869460" y="1957634"/>
              <a:ext cx="2646138" cy="3136573"/>
              <a:chOff x="8359414" y="2277011"/>
              <a:chExt cx="2123177" cy="2516687"/>
            </a:xfrm>
          </p:grpSpPr>
          <p:grpSp>
            <p:nvGrpSpPr>
              <p:cNvPr id="227" name="Google Shape;227;p7"/>
              <p:cNvGrpSpPr/>
              <p:nvPr/>
            </p:nvGrpSpPr>
            <p:grpSpPr>
              <a:xfrm>
                <a:off x="8359414" y="2474167"/>
                <a:ext cx="2123177" cy="2319531"/>
                <a:chOff x="6913583" y="2736678"/>
                <a:chExt cx="2246488" cy="2454244"/>
              </a:xfrm>
            </p:grpSpPr>
            <p:pic>
              <p:nvPicPr>
                <p:cNvPr id="228" name="Google Shape;228;p7" descr="Population vs Sample"/>
                <p:cNvPicPr preferRelativeResize="0"/>
                <p:nvPr/>
              </p:nvPicPr>
              <p:blipFill rotWithShape="1">
                <a:blip r:embed="rId3">
                  <a:alphaModFix/>
                </a:blip>
                <a:srcRect l="7733" t="26485" r="59518" b="11474"/>
                <a:stretch/>
              </p:blipFill>
              <p:spPr>
                <a:xfrm flipH="1">
                  <a:off x="6913583" y="2736678"/>
                  <a:ext cx="2246488" cy="2212622"/>
                </a:xfrm>
                <a:prstGeom prst="rect">
                  <a:avLst/>
                </a:prstGeom>
                <a:noFill/>
                <a:ln>
                  <a:noFill/>
                </a:ln>
              </p:spPr>
            </p:pic>
            <p:sp>
              <p:nvSpPr>
                <p:cNvPr id="229" name="Google Shape;229;p7"/>
                <p:cNvSpPr txBox="1"/>
                <p:nvPr/>
              </p:nvSpPr>
              <p:spPr>
                <a:xfrm>
                  <a:off x="7269186" y="4949299"/>
                  <a:ext cx="1535287" cy="24162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rgbClr val="595959"/>
                      </a:solidFill>
                      <a:latin typeface="Calibri"/>
                      <a:ea typeface="Calibri"/>
                      <a:cs typeface="Calibri"/>
                      <a:sym typeface="Calibri"/>
                    </a:rPr>
                    <a:t>Población</a:t>
                  </a:r>
                  <a:endParaRPr sz="1600">
                    <a:solidFill>
                      <a:srgbClr val="595959"/>
                    </a:solidFill>
                    <a:latin typeface="Calibri"/>
                    <a:ea typeface="Calibri"/>
                    <a:cs typeface="Calibri"/>
                    <a:sym typeface="Calibri"/>
                  </a:endParaRPr>
                </a:p>
              </p:txBody>
            </p:sp>
          </p:grpSp>
          <p:sp>
            <p:nvSpPr>
              <p:cNvPr id="230" name="Google Shape;230;p7"/>
              <p:cNvSpPr txBox="1"/>
              <p:nvPr/>
            </p:nvSpPr>
            <p:spPr>
              <a:xfrm>
                <a:off x="8631442" y="2277011"/>
                <a:ext cx="1690861" cy="186840"/>
              </a:xfrm>
              <a:prstGeom prst="rect">
                <a:avLst/>
              </a:prstGeom>
              <a:blipFill rotWithShape="1">
                <a:blip r:embed="rId4">
                  <a:alphaModFix/>
                </a:blip>
                <a:stretch>
                  <a:fillRect l="-1698" r="-727" b="-2222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grpSp>
      </p:grpSp>
      <p:sp>
        <p:nvSpPr>
          <p:cNvPr id="231" name="Google Shape;231;p7"/>
          <p:cNvSpPr/>
          <p:nvPr/>
        </p:nvSpPr>
        <p:spPr>
          <a:xfrm rot="5400000">
            <a:off x="3481568" y="2011241"/>
            <a:ext cx="999243" cy="6147094"/>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7"/>
          <p:cNvSpPr/>
          <p:nvPr/>
        </p:nvSpPr>
        <p:spPr>
          <a:xfrm>
            <a:off x="1266718" y="4730845"/>
            <a:ext cx="5428942"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000" b="1">
                <a:solidFill>
                  <a:srgbClr val="595959"/>
                </a:solidFill>
                <a:latin typeface="Calibri"/>
                <a:ea typeface="Calibri"/>
                <a:cs typeface="Calibri"/>
                <a:sym typeface="Calibri"/>
              </a:rPr>
              <a:t>¿Cómo llegar a ese rango?</a:t>
            </a:r>
            <a:endParaRPr/>
          </a:p>
          <a:p>
            <a:pPr marL="0" marR="0" lvl="0" indent="0" algn="ctr" rtl="0">
              <a:spcBef>
                <a:spcPts val="0"/>
              </a:spcBef>
              <a:spcAft>
                <a:spcPts val="0"/>
              </a:spcAft>
              <a:buNone/>
            </a:pPr>
            <a:r>
              <a:rPr lang="es-ES" sz="2000" b="1">
                <a:solidFill>
                  <a:srgbClr val="595959"/>
                </a:solidFill>
                <a:latin typeface="Calibri"/>
                <a:ea typeface="Calibri"/>
                <a:cs typeface="Calibri"/>
                <a:sym typeface="Calibri"/>
              </a:rPr>
              <a:t> Lo aprenderemos más adelante.</a:t>
            </a:r>
            <a:endParaRPr sz="2000" b="1">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8"/>
          <p:cNvSpPr txBox="1"/>
          <p:nvPr/>
        </p:nvSpPr>
        <p:spPr>
          <a:xfrm>
            <a:off x="904973" y="367645"/>
            <a:ext cx="10024810" cy="553238"/>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dirty="0">
                <a:solidFill>
                  <a:srgbClr val="7F7F7F"/>
                </a:solidFill>
                <a:latin typeface="Arial"/>
                <a:ea typeface="Arial"/>
                <a:cs typeface="Arial"/>
                <a:sym typeface="Arial"/>
              </a:rPr>
              <a:t>Definición Intervalo de Confianza</a:t>
            </a:r>
            <a:endParaRPr dirty="0"/>
          </a:p>
        </p:txBody>
      </p:sp>
      <p:sp>
        <p:nvSpPr>
          <p:cNvPr id="238" name="Google Shape;238;p8"/>
          <p:cNvSpPr/>
          <p:nvPr/>
        </p:nvSpPr>
        <p:spPr>
          <a:xfrm>
            <a:off x="-268014" y="1043575"/>
            <a:ext cx="11669521" cy="1457872"/>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 name="Google Shape;239;p8"/>
          <p:cNvSpPr txBox="1"/>
          <p:nvPr/>
        </p:nvSpPr>
        <p:spPr>
          <a:xfrm>
            <a:off x="904973" y="1293861"/>
            <a:ext cx="9690755"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 intervalo de confianza es un </a:t>
            </a:r>
            <a:r>
              <a:rPr lang="es-ES" sz="1800" b="1">
                <a:solidFill>
                  <a:schemeClr val="lt1"/>
                </a:solidFill>
                <a:latin typeface="Calibri"/>
                <a:ea typeface="Calibri"/>
                <a:cs typeface="Calibri"/>
                <a:sym typeface="Calibri"/>
              </a:rPr>
              <a:t>rango de valores </a:t>
            </a:r>
            <a:r>
              <a:rPr lang="es-ES" sz="1800">
                <a:solidFill>
                  <a:schemeClr val="lt1"/>
                </a:solidFill>
                <a:latin typeface="Calibri"/>
                <a:ea typeface="Calibri"/>
                <a:cs typeface="Calibri"/>
                <a:sym typeface="Calibri"/>
              </a:rPr>
              <a:t>que se utiliza para </a:t>
            </a:r>
            <a:r>
              <a:rPr lang="es-ES" sz="1800" b="1">
                <a:solidFill>
                  <a:schemeClr val="lt1"/>
                </a:solidFill>
                <a:latin typeface="Calibri"/>
                <a:ea typeface="Calibri"/>
                <a:cs typeface="Calibri"/>
                <a:sym typeface="Calibri"/>
              </a:rPr>
              <a:t>estimar un parámetro desconocido de una población</a:t>
            </a:r>
            <a:r>
              <a:rPr lang="es-ES" sz="1800">
                <a:solidFill>
                  <a:schemeClr val="lt1"/>
                </a:solidFill>
                <a:latin typeface="Calibri"/>
                <a:ea typeface="Calibri"/>
                <a:cs typeface="Calibri"/>
                <a:sym typeface="Calibri"/>
              </a:rPr>
              <a:t>, como la media o la proporción. Este rango se basa en una </a:t>
            </a:r>
            <a:r>
              <a:rPr lang="es-ES" sz="1800" b="1">
                <a:solidFill>
                  <a:schemeClr val="lt1"/>
                </a:solidFill>
                <a:latin typeface="Calibri"/>
                <a:ea typeface="Calibri"/>
                <a:cs typeface="Calibri"/>
                <a:sym typeface="Calibri"/>
              </a:rPr>
              <a:t>muestra de la población</a:t>
            </a:r>
            <a:r>
              <a:rPr lang="es-ES" sz="1800">
                <a:solidFill>
                  <a:schemeClr val="lt1"/>
                </a:solidFill>
                <a:latin typeface="Calibri"/>
                <a:ea typeface="Calibri"/>
                <a:cs typeface="Calibri"/>
                <a:sym typeface="Calibri"/>
              </a:rPr>
              <a:t> y se utiliza para proporcionar una </a:t>
            </a:r>
            <a:r>
              <a:rPr lang="es-ES" sz="1800" b="1">
                <a:solidFill>
                  <a:schemeClr val="lt1"/>
                </a:solidFill>
                <a:latin typeface="Calibri"/>
                <a:ea typeface="Calibri"/>
                <a:cs typeface="Calibri"/>
                <a:sym typeface="Calibri"/>
              </a:rPr>
              <a:t>medida de incertidumbre alrededor de la estimación</a:t>
            </a:r>
            <a:r>
              <a:rPr lang="es-ES" sz="1800">
                <a:solidFill>
                  <a:schemeClr val="lt1"/>
                </a:solidFill>
                <a:latin typeface="Calibri"/>
                <a:ea typeface="Calibri"/>
                <a:cs typeface="Calibri"/>
                <a:sym typeface="Calibri"/>
              </a:rPr>
              <a:t>.</a:t>
            </a:r>
            <a:endParaRPr/>
          </a:p>
        </p:txBody>
      </p:sp>
      <p:sp>
        <p:nvSpPr>
          <p:cNvPr id="240" name="Google Shape;240;p8"/>
          <p:cNvSpPr/>
          <p:nvPr/>
        </p:nvSpPr>
        <p:spPr>
          <a:xfrm>
            <a:off x="2456889" y="3009318"/>
            <a:ext cx="6195558" cy="2822418"/>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1" name="Google Shape;241;p8" descr="Population vs Sample"/>
          <p:cNvPicPr preferRelativeResize="0"/>
          <p:nvPr/>
        </p:nvPicPr>
        <p:blipFill rotWithShape="1">
          <a:blip r:embed="rId3">
            <a:alphaModFix/>
          </a:blip>
          <a:srcRect l="7733" t="26485" r="9822" b="11474"/>
          <a:stretch/>
        </p:blipFill>
        <p:spPr>
          <a:xfrm flipH="1">
            <a:off x="2813850" y="3062089"/>
            <a:ext cx="5655734" cy="2212622"/>
          </a:xfrm>
          <a:prstGeom prst="rect">
            <a:avLst/>
          </a:prstGeom>
          <a:noFill/>
          <a:ln>
            <a:noFill/>
          </a:ln>
        </p:spPr>
      </p:pic>
      <p:sp>
        <p:nvSpPr>
          <p:cNvPr id="242" name="Google Shape;242;p8"/>
          <p:cNvSpPr/>
          <p:nvPr/>
        </p:nvSpPr>
        <p:spPr>
          <a:xfrm>
            <a:off x="4886240" y="3626533"/>
            <a:ext cx="1336856" cy="1088956"/>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 name="Google Shape;243;p8"/>
          <p:cNvSpPr/>
          <p:nvPr/>
        </p:nvSpPr>
        <p:spPr>
          <a:xfrm>
            <a:off x="4974921" y="3942622"/>
            <a:ext cx="1159494" cy="451556"/>
          </a:xfrm>
          <a:prstGeom prst="rightArrow">
            <a:avLst>
              <a:gd name="adj1" fmla="val 50000"/>
              <a:gd name="adj2" fmla="val 50000"/>
            </a:avLst>
          </a:prstGeom>
          <a:solidFill>
            <a:schemeClr val="lt1"/>
          </a:solidFill>
          <a:ln w="127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rgbClr val="595959"/>
                </a:solidFill>
                <a:latin typeface="Calibri"/>
                <a:ea typeface="Calibri"/>
                <a:cs typeface="Calibri"/>
                <a:sym typeface="Calibri"/>
              </a:rPr>
              <a:t>Inferencia</a:t>
            </a:r>
            <a:endParaRPr/>
          </a:p>
        </p:txBody>
      </p:sp>
      <p:sp>
        <p:nvSpPr>
          <p:cNvPr id="244" name="Google Shape;244;p8"/>
          <p:cNvSpPr txBox="1"/>
          <p:nvPr/>
        </p:nvSpPr>
        <p:spPr>
          <a:xfrm>
            <a:off x="3231541" y="4954532"/>
            <a:ext cx="9934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595959"/>
                </a:solidFill>
                <a:latin typeface="Calibri"/>
                <a:ea typeface="Calibri"/>
                <a:cs typeface="Calibri"/>
                <a:sym typeface="Calibri"/>
              </a:rPr>
              <a:t>Muestra</a:t>
            </a:r>
            <a:endParaRPr sz="1800">
              <a:solidFill>
                <a:srgbClr val="595959"/>
              </a:solidFill>
              <a:latin typeface="Calibri"/>
              <a:ea typeface="Calibri"/>
              <a:cs typeface="Calibri"/>
              <a:sym typeface="Calibri"/>
            </a:endParaRPr>
          </a:p>
        </p:txBody>
      </p:sp>
      <p:sp>
        <p:nvSpPr>
          <p:cNvPr id="245" name="Google Shape;245;p8"/>
          <p:cNvSpPr txBox="1"/>
          <p:nvPr/>
        </p:nvSpPr>
        <p:spPr>
          <a:xfrm>
            <a:off x="6685940" y="5397403"/>
            <a:ext cx="153528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a:solidFill>
                  <a:srgbClr val="595959"/>
                </a:solidFill>
                <a:latin typeface="Calibri"/>
                <a:ea typeface="Calibri"/>
                <a:cs typeface="Calibri"/>
                <a:sym typeface="Calibri"/>
              </a:rPr>
              <a:t>Población</a:t>
            </a:r>
            <a:endParaRPr sz="1800">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7"/>
                                        </p:tgtEl>
                                        <p:attrNameLst>
                                          <p:attrName>style.visibility</p:attrName>
                                        </p:attrNameLst>
                                      </p:cBhvr>
                                      <p:to>
                                        <p:strVal val="visible"/>
                                      </p:to>
                                    </p:set>
                                    <p:animEffect transition="in" filter="fade">
                                      <p:cBhvr>
                                        <p:cTn id="7" dur="500"/>
                                        <p:tgtEl>
                                          <p:spTgt spid="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9"/>
          <p:cNvSpPr txBox="1"/>
          <p:nvPr/>
        </p:nvSpPr>
        <p:spPr>
          <a:xfrm>
            <a:off x="405872" y="537894"/>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Definición Intervalo de Confianza</a:t>
            </a:r>
            <a:endParaRPr/>
          </a:p>
        </p:txBody>
      </p:sp>
      <p:sp>
        <p:nvSpPr>
          <p:cNvPr id="251" name="Google Shape;251;p9"/>
          <p:cNvSpPr/>
          <p:nvPr/>
        </p:nvSpPr>
        <p:spPr>
          <a:xfrm>
            <a:off x="-669402" y="1644192"/>
            <a:ext cx="7369747" cy="3950563"/>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 name="Google Shape;252;p9"/>
          <p:cNvSpPr txBox="1"/>
          <p:nvPr/>
        </p:nvSpPr>
        <p:spPr>
          <a:xfrm>
            <a:off x="405872" y="2212441"/>
            <a:ext cx="6057990"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En otras palabras, si se tiene una </a:t>
            </a:r>
            <a:r>
              <a:rPr lang="es-ES" sz="1800" b="1">
                <a:solidFill>
                  <a:schemeClr val="lt1"/>
                </a:solidFill>
                <a:latin typeface="Calibri"/>
                <a:ea typeface="Calibri"/>
                <a:cs typeface="Calibri"/>
                <a:sym typeface="Calibri"/>
              </a:rPr>
              <a:t>muestra de una población</a:t>
            </a:r>
            <a:r>
              <a:rPr lang="es-ES" sz="1800">
                <a:solidFill>
                  <a:schemeClr val="lt1"/>
                </a:solidFill>
                <a:latin typeface="Calibri"/>
                <a:ea typeface="Calibri"/>
                <a:cs typeface="Calibri"/>
                <a:sym typeface="Calibri"/>
              </a:rPr>
              <a:t> y se desea </a:t>
            </a:r>
            <a:r>
              <a:rPr lang="es-ES" sz="1800" b="1">
                <a:solidFill>
                  <a:schemeClr val="lt1"/>
                </a:solidFill>
                <a:latin typeface="Calibri"/>
                <a:ea typeface="Calibri"/>
                <a:cs typeface="Calibri"/>
                <a:sym typeface="Calibri"/>
              </a:rPr>
              <a:t>estimar un parámetro poblacional</a:t>
            </a:r>
            <a:r>
              <a:rPr lang="es-ES" sz="1800">
                <a:solidFill>
                  <a:schemeClr val="lt1"/>
                </a:solidFill>
                <a:latin typeface="Calibri"/>
                <a:ea typeface="Calibri"/>
                <a:cs typeface="Calibri"/>
                <a:sym typeface="Calibri"/>
              </a:rPr>
              <a:t>, se puede construir un </a:t>
            </a:r>
            <a:r>
              <a:rPr lang="es-ES" sz="1800" b="1">
                <a:solidFill>
                  <a:schemeClr val="lt1"/>
                </a:solidFill>
                <a:latin typeface="Calibri"/>
                <a:ea typeface="Calibri"/>
                <a:cs typeface="Calibri"/>
                <a:sym typeface="Calibri"/>
              </a:rPr>
              <a:t>intervalo de confianza que contenga el valor más probable del parámetro</a:t>
            </a:r>
            <a:r>
              <a:rPr lang="es-ES" sz="1800">
                <a:solidFill>
                  <a:schemeClr val="lt1"/>
                </a:solidFill>
                <a:latin typeface="Calibri"/>
                <a:ea typeface="Calibri"/>
                <a:cs typeface="Calibri"/>
                <a:sym typeface="Calibri"/>
              </a:rPr>
              <a:t>.</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El </a:t>
            </a:r>
            <a:r>
              <a:rPr lang="es-ES" sz="1800" b="1">
                <a:solidFill>
                  <a:schemeClr val="lt1"/>
                </a:solidFill>
                <a:latin typeface="Calibri"/>
                <a:ea typeface="Calibri"/>
                <a:cs typeface="Calibri"/>
                <a:sym typeface="Calibri"/>
              </a:rPr>
              <a:t>nivel de confianza </a:t>
            </a:r>
            <a:r>
              <a:rPr lang="es-ES" sz="1800">
                <a:solidFill>
                  <a:schemeClr val="lt1"/>
                </a:solidFill>
                <a:latin typeface="Calibri"/>
                <a:ea typeface="Calibri"/>
                <a:cs typeface="Calibri"/>
                <a:sym typeface="Calibri"/>
              </a:rPr>
              <a:t>se refiere a la probabilidad de que el verdadero valor del parámetro poblacional se encuentre dentro de dicho intervalo. Los intervalos de confianza se construyen utilizando técnicas estadísticas y se basan en el tamaño de la muestra y la variabilidad de la muestra.</a:t>
            </a:r>
            <a:endParaRPr/>
          </a:p>
        </p:txBody>
      </p:sp>
      <p:sp>
        <p:nvSpPr>
          <p:cNvPr id="253" name="Google Shape;253;p9"/>
          <p:cNvSpPr/>
          <p:nvPr/>
        </p:nvSpPr>
        <p:spPr>
          <a:xfrm>
            <a:off x="7031421" y="2392723"/>
            <a:ext cx="4954653" cy="2808498"/>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54" name="Google Shape;254;p9"/>
          <p:cNvPicPr preferRelativeResize="0"/>
          <p:nvPr/>
        </p:nvPicPr>
        <p:blipFill rotWithShape="1">
          <a:blip r:embed="rId3">
            <a:alphaModFix/>
          </a:blip>
          <a:srcRect/>
          <a:stretch/>
        </p:blipFill>
        <p:spPr>
          <a:xfrm>
            <a:off x="7152290" y="2778940"/>
            <a:ext cx="4747869" cy="203606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0"/>
                                        </p:tgtEl>
                                        <p:attrNameLst>
                                          <p:attrName>style.visibility</p:attrName>
                                        </p:attrNameLst>
                                      </p:cBhvr>
                                      <p:to>
                                        <p:strVal val="visible"/>
                                      </p:to>
                                    </p:set>
                                    <p:animEffect transition="in" filter="fade">
                                      <p:cBhvr>
                                        <p:cTn id="7" dur="5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0"/>
          <p:cNvSpPr txBox="1"/>
          <p:nvPr/>
        </p:nvSpPr>
        <p:spPr>
          <a:xfrm>
            <a:off x="422343" y="405353"/>
            <a:ext cx="10507441" cy="579954"/>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Algunas definiciones</a:t>
            </a:r>
            <a:endParaRPr/>
          </a:p>
        </p:txBody>
      </p:sp>
      <p:grpSp>
        <p:nvGrpSpPr>
          <p:cNvPr id="260" name="Google Shape;260;p10"/>
          <p:cNvGrpSpPr/>
          <p:nvPr/>
        </p:nvGrpSpPr>
        <p:grpSpPr>
          <a:xfrm>
            <a:off x="-669374" y="1013405"/>
            <a:ext cx="10105869" cy="4528093"/>
            <a:chOff x="-669401" y="1286690"/>
            <a:chExt cx="8427054" cy="3930043"/>
          </a:xfrm>
        </p:grpSpPr>
        <p:sp>
          <p:nvSpPr>
            <p:cNvPr id="261" name="Google Shape;261;p10"/>
            <p:cNvSpPr/>
            <p:nvPr/>
          </p:nvSpPr>
          <p:spPr>
            <a:xfrm>
              <a:off x="-669401" y="1286690"/>
              <a:ext cx="8427054" cy="3930043"/>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10"/>
            <p:cNvSpPr txBox="1"/>
            <p:nvPr/>
          </p:nvSpPr>
          <p:spPr>
            <a:xfrm>
              <a:off x="261474" y="1641496"/>
              <a:ext cx="6695173" cy="3264300"/>
            </a:xfrm>
            <a:prstGeom prst="rect">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Estimador Puntual</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“Un estimador puntual consiste en un solo valor (punto) deducido de una muestra para estimar el valor de una población” (Lind, Marchal y Whaten, 2008, p.294).</a:t>
              </a:r>
              <a:endParaRPr/>
            </a:p>
            <a:p>
              <a:pPr marL="0" marR="0" lvl="0" indent="0" algn="just" rtl="0">
                <a:spcBef>
                  <a:spcPts val="0"/>
                </a:spcBef>
                <a:spcAft>
                  <a:spcPts val="0"/>
                </a:spcAft>
                <a:buNone/>
              </a:pPr>
              <a:endParaRPr sz="1800" b="1">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Estimador por intervalo</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Un estimador por intervalo es aquel en el que se espera encontrar el parámetro poblacional. </a:t>
              </a:r>
              <a:endParaRPr/>
            </a:p>
            <a:p>
              <a:pPr marL="0" marR="0" lvl="0" indent="0" algn="just" rtl="0">
                <a:spcBef>
                  <a:spcPts val="0"/>
                </a:spcBef>
                <a:spcAft>
                  <a:spcPts val="0"/>
                </a:spcAft>
                <a:buNone/>
              </a:pPr>
              <a:endParaRPr sz="1800" b="1">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Intervalo de confianza</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Intervalo de las estimaciones probables sobre el parámetro.</a:t>
              </a:r>
              <a:endParaRPr/>
            </a:p>
            <a:p>
              <a:pPr marL="0" marR="0" lvl="0" indent="0" algn="just" rtl="0">
                <a:spcBef>
                  <a:spcPts val="0"/>
                </a:spcBef>
                <a:spcAft>
                  <a:spcPts val="0"/>
                </a:spcAft>
                <a:buNone/>
              </a:pPr>
              <a:endParaRPr sz="1800" b="1">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Límites de los Intervalo de confianza</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Son los dos valores extremos del intervalo de confianza.</a:t>
              </a:r>
              <a:endParaRPr sz="18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fade">
                                      <p:cBhvr>
                                        <p:cTn id="7" dur="500"/>
                                        <p:tgtEl>
                                          <p:spTgt spid="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1"/>
          <p:cNvSpPr txBox="1"/>
          <p:nvPr/>
        </p:nvSpPr>
        <p:spPr>
          <a:xfrm>
            <a:off x="552934" y="359755"/>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Nivel de Confianza</a:t>
            </a:r>
            <a:endParaRPr/>
          </a:p>
        </p:txBody>
      </p:sp>
      <p:sp>
        <p:nvSpPr>
          <p:cNvPr id="268" name="Google Shape;268;p11"/>
          <p:cNvSpPr/>
          <p:nvPr/>
        </p:nvSpPr>
        <p:spPr>
          <a:xfrm>
            <a:off x="-194528" y="1381432"/>
            <a:ext cx="10141650" cy="4182793"/>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 name="Google Shape;269;p11"/>
          <p:cNvSpPr txBox="1"/>
          <p:nvPr/>
        </p:nvSpPr>
        <p:spPr>
          <a:xfrm>
            <a:off x="552934" y="1619345"/>
            <a:ext cx="8564256" cy="369331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Tomamos una muestra de una clase de idiomas y podemos estimar que el promedio general de la clase de idiomas es de 8.35. Al construir un intervalo para esta afirmación, podemos encontrar los dos puntos que van de 7.8 a 8.9.</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Ahora, debemos establecer una afirmación que nos garantice que el promedio general del grupo se encuentra justo entre los dos puntos que encontramos. Para ello utilizamos un nivel de confianza que nos permitirá emitir el siguiente enunciado: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i="1">
                <a:solidFill>
                  <a:schemeClr val="lt1"/>
                </a:solidFill>
                <a:latin typeface="Calibri"/>
                <a:ea typeface="Calibri"/>
                <a:cs typeface="Calibri"/>
                <a:sym typeface="Calibri"/>
              </a:rPr>
              <a:t>“Contamos con el 90% de confianza, o de seguridad, de que el promedio general de la clase de idiomas se encuentra entre los valores de 7.8 y 8.9”</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Si quisiéramos tener un nivel de confianza más alto, por ejemplo, de 95%, deberíamos ampliar el rango o intervalo. ¿Cómo hacerlo?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5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6" name="Google Shape;276;p12"/>
          <p:cNvSpPr/>
          <p:nvPr/>
        </p:nvSpPr>
        <p:spPr>
          <a:xfrm>
            <a:off x="-423513" y="1716652"/>
            <a:ext cx="12175537" cy="3446680"/>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274" name="Google Shape;274;p12"/>
          <p:cNvSpPr/>
          <p:nvPr/>
        </p:nvSpPr>
        <p:spPr>
          <a:xfrm rot="16200000">
            <a:off x="7324040" y="746752"/>
            <a:ext cx="3095784" cy="5358525"/>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 name="Google Shape;275;p12"/>
          <p:cNvSpPr txBox="1"/>
          <p:nvPr/>
        </p:nvSpPr>
        <p:spPr>
          <a:xfrm>
            <a:off x="386499" y="602181"/>
            <a:ext cx="10552712" cy="702378"/>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Nivel de Confianza</a:t>
            </a:r>
            <a:endParaRPr/>
          </a:p>
        </p:txBody>
      </p:sp>
      <p:sp>
        <p:nvSpPr>
          <p:cNvPr id="277" name="Google Shape;277;p12"/>
          <p:cNvSpPr txBox="1"/>
          <p:nvPr/>
        </p:nvSpPr>
        <p:spPr>
          <a:xfrm>
            <a:off x="310930" y="1867119"/>
            <a:ext cx="5737093" cy="31392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lt1"/>
                </a:solidFill>
                <a:latin typeface="Calibri"/>
                <a:ea typeface="Calibri"/>
                <a:cs typeface="Calibri"/>
                <a:sym typeface="Calibri"/>
              </a:rPr>
              <a:t>Ahora debemos asignar los valores al límite inferior y al superior. Sabemos que el área que hay dentro de nuestro intervalo es de 0.95, por lo tanto, el valor de cada cola es de 0.025, al sumar ambas, obtenemos el valor de 0.05.</a:t>
            </a:r>
            <a:endParaRPr dirty="0">
              <a:solidFill>
                <a:schemeClr val="lt1"/>
              </a:solidFill>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s-ES" sz="1800" dirty="0">
                <a:solidFill>
                  <a:schemeClr val="lt1"/>
                </a:solidFill>
                <a:latin typeface="Calibri"/>
                <a:ea typeface="Calibri"/>
                <a:cs typeface="Calibri"/>
                <a:sym typeface="Calibri"/>
              </a:rPr>
              <a:t>Nuestro último paso consiste en ubicar dentro de nuestra tabla Z los valores de 0.025 en el caso del límite inferior y 0.975 en el caso del límite inferior. Una vez que encontramos esos valores podemos afirmar que para el nivel de confianza de 95% el valor Z es igual a +1.96 y -1.96 respectivamente.</a:t>
            </a:r>
            <a:endParaRPr sz="1800" dirty="0">
              <a:solidFill>
                <a:schemeClr val="lt1"/>
              </a:solidFill>
              <a:latin typeface="Calibri"/>
              <a:ea typeface="Calibri"/>
              <a:cs typeface="Calibri"/>
              <a:sym typeface="Calibri"/>
            </a:endParaRPr>
          </a:p>
        </p:txBody>
      </p:sp>
      <p:pic>
        <p:nvPicPr>
          <p:cNvPr id="278" name="Google Shape;278;p12"/>
          <p:cNvPicPr preferRelativeResize="0"/>
          <p:nvPr/>
        </p:nvPicPr>
        <p:blipFill rotWithShape="1">
          <a:blip r:embed="rId3">
            <a:alphaModFix/>
          </a:blip>
          <a:srcRect/>
          <a:stretch/>
        </p:blipFill>
        <p:spPr>
          <a:xfrm>
            <a:off x="6788837" y="2525432"/>
            <a:ext cx="4445000" cy="1778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5"/>
                                        </p:tgtEl>
                                        <p:attrNameLst>
                                          <p:attrName>style.visibility</p:attrName>
                                        </p:attrNameLst>
                                      </p:cBhvr>
                                      <p:to>
                                        <p:strVal val="visible"/>
                                      </p:to>
                                    </p:set>
                                    <p:animEffect transition="in" filter="fade">
                                      <p:cBhvr>
                                        <p:cTn id="7"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3"/>
          <p:cNvSpPr txBox="1"/>
          <p:nvPr/>
        </p:nvSpPr>
        <p:spPr>
          <a:xfrm>
            <a:off x="805389" y="569899"/>
            <a:ext cx="1055587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Nivel de Confianza del 95%</a:t>
            </a:r>
            <a:endParaRPr sz="3200">
              <a:solidFill>
                <a:srgbClr val="7F7F7F"/>
              </a:solidFill>
              <a:latin typeface="Arial"/>
              <a:ea typeface="Arial"/>
              <a:cs typeface="Arial"/>
              <a:sym typeface="Arial"/>
            </a:endParaRPr>
          </a:p>
        </p:txBody>
      </p:sp>
      <p:sp>
        <p:nvSpPr>
          <p:cNvPr id="284" name="Google Shape;284;p13"/>
          <p:cNvSpPr/>
          <p:nvPr/>
        </p:nvSpPr>
        <p:spPr>
          <a:xfrm rot="16200000">
            <a:off x="4146305" y="-1643210"/>
            <a:ext cx="3880294" cy="10562124"/>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85" name="Google Shape;285;p13"/>
          <p:cNvPicPr preferRelativeResize="0"/>
          <p:nvPr/>
        </p:nvPicPr>
        <p:blipFill rotWithShape="1">
          <a:blip r:embed="rId3">
            <a:alphaModFix/>
          </a:blip>
          <a:srcRect/>
          <a:stretch/>
        </p:blipFill>
        <p:spPr>
          <a:xfrm>
            <a:off x="2122959" y="1886890"/>
            <a:ext cx="8398933" cy="351289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fade">
                                      <p:cBhvr>
                                        <p:cTn id="7" dur="5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9"/>
        <p:cNvGrpSpPr/>
        <p:nvPr/>
      </p:nvGrpSpPr>
      <p:grpSpPr>
        <a:xfrm>
          <a:off x="0" y="0"/>
          <a:ext cx="0" cy="0"/>
          <a:chOff x="0" y="0"/>
          <a:chExt cx="0" cy="0"/>
        </a:xfrm>
      </p:grpSpPr>
      <p:sp>
        <p:nvSpPr>
          <p:cNvPr id="290" name="Google Shape;290;p14"/>
          <p:cNvSpPr txBox="1"/>
          <p:nvPr/>
        </p:nvSpPr>
        <p:spPr>
          <a:xfrm>
            <a:off x="1564849" y="3389645"/>
            <a:ext cx="9818606"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Intervalo de Confianza para la Media Poblacional</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fade">
                                      <p:cBhvr>
                                        <p:cTn id="7" dur="500"/>
                                        <p:tgtEl>
                                          <p:spTgt spid="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5"/>
          <p:cNvSpPr txBox="1"/>
          <p:nvPr/>
        </p:nvSpPr>
        <p:spPr>
          <a:xfrm>
            <a:off x="1107397" y="885847"/>
            <a:ext cx="10262586" cy="763729"/>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Algunas definiciones</a:t>
            </a:r>
            <a:endParaRPr/>
          </a:p>
        </p:txBody>
      </p:sp>
      <p:grpSp>
        <p:nvGrpSpPr>
          <p:cNvPr id="296" name="Google Shape;296;p15"/>
          <p:cNvGrpSpPr/>
          <p:nvPr/>
        </p:nvGrpSpPr>
        <p:grpSpPr>
          <a:xfrm>
            <a:off x="932156" y="1752686"/>
            <a:ext cx="10262586" cy="3539960"/>
            <a:chOff x="-73935" y="1464803"/>
            <a:chExt cx="8427054" cy="3930043"/>
          </a:xfrm>
        </p:grpSpPr>
        <p:sp>
          <p:nvSpPr>
            <p:cNvPr id="297" name="Google Shape;297;p15"/>
            <p:cNvSpPr/>
            <p:nvPr/>
          </p:nvSpPr>
          <p:spPr>
            <a:xfrm>
              <a:off x="-73935" y="1464803"/>
              <a:ext cx="8427054" cy="3930043"/>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15"/>
            <p:cNvSpPr txBox="1"/>
            <p:nvPr/>
          </p:nvSpPr>
          <p:spPr>
            <a:xfrm>
              <a:off x="69963" y="1914172"/>
              <a:ext cx="8018947" cy="3031304"/>
            </a:xfrm>
            <a:prstGeom prst="rect">
              <a:avLst/>
            </a:prstGeom>
            <a:blipFill rotWithShape="1">
              <a:blip r:embed="rId3">
                <a:alphaModFix/>
              </a:blip>
              <a:stretch>
                <a:fillRect l="-561" t="-1338" r="-6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5"/>
                                        </p:tgtEl>
                                        <p:attrNameLst>
                                          <p:attrName>style.visibility</p:attrName>
                                        </p:attrNameLst>
                                      </p:cBhvr>
                                      <p:to>
                                        <p:strVal val="visible"/>
                                      </p:to>
                                    </p:set>
                                    <p:animEffect transition="in" filter="fade">
                                      <p:cBhvr>
                                        <p:cTn id="7" dur="50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6"/>
          <p:cNvSpPr txBox="1"/>
          <p:nvPr/>
        </p:nvSpPr>
        <p:spPr>
          <a:xfrm>
            <a:off x="848410" y="459559"/>
            <a:ext cx="10408353" cy="584945"/>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IC para la media con varianza conocida (n&gt;=30)</a:t>
            </a:r>
            <a:endParaRPr sz="3200">
              <a:solidFill>
                <a:srgbClr val="7F7F7F"/>
              </a:solidFill>
              <a:latin typeface="Arial"/>
              <a:ea typeface="Arial"/>
              <a:cs typeface="Arial"/>
              <a:sym typeface="Arial"/>
            </a:endParaRPr>
          </a:p>
        </p:txBody>
      </p:sp>
      <p:sp>
        <p:nvSpPr>
          <p:cNvPr id="304" name="Google Shape;304;p16"/>
          <p:cNvSpPr/>
          <p:nvPr/>
        </p:nvSpPr>
        <p:spPr>
          <a:xfrm rot="-5400000">
            <a:off x="3491543" y="-1453526"/>
            <a:ext cx="5122089" cy="10408352"/>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 name="Google Shape;305;p16"/>
          <p:cNvSpPr txBox="1"/>
          <p:nvPr/>
        </p:nvSpPr>
        <p:spPr>
          <a:xfrm>
            <a:off x="3832885" y="2015960"/>
            <a:ext cx="4690090" cy="726674"/>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pic>
        <p:nvPicPr>
          <p:cNvPr id="306" name="Google Shape;306;p16"/>
          <p:cNvPicPr preferRelativeResize="0"/>
          <p:nvPr/>
        </p:nvPicPr>
        <p:blipFill rotWithShape="1">
          <a:blip r:embed="rId4">
            <a:alphaModFix/>
          </a:blip>
          <a:srcRect/>
          <a:stretch/>
        </p:blipFill>
        <p:spPr>
          <a:xfrm>
            <a:off x="3528085" y="2848697"/>
            <a:ext cx="5299690" cy="2030154"/>
          </a:xfrm>
          <a:prstGeom prst="rect">
            <a:avLst/>
          </a:prstGeom>
          <a:noFill/>
          <a:ln>
            <a:noFill/>
          </a:ln>
        </p:spPr>
      </p:pic>
      <p:sp>
        <p:nvSpPr>
          <p:cNvPr id="307" name="Google Shape;307;p16"/>
          <p:cNvSpPr txBox="1"/>
          <p:nvPr/>
        </p:nvSpPr>
        <p:spPr>
          <a:xfrm>
            <a:off x="3165738" y="1279622"/>
            <a:ext cx="24384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800" b="1">
                <a:solidFill>
                  <a:srgbClr val="595959"/>
                </a:solidFill>
                <a:latin typeface="Calibri"/>
                <a:ea typeface="Calibri"/>
                <a:cs typeface="Calibri"/>
                <a:sym typeface="Calibri"/>
              </a:rPr>
              <a:t>Intervalo de confianza</a:t>
            </a:r>
            <a:r>
              <a:rPr lang="es-ES" sz="1800">
                <a:solidFill>
                  <a:srgbClr val="595959"/>
                </a:solidFill>
                <a:latin typeface="Calibri"/>
                <a:ea typeface="Calibri"/>
                <a:cs typeface="Calibri"/>
                <a:sym typeface="Calibri"/>
              </a:rPr>
              <a:t>:</a:t>
            </a:r>
            <a:endParaRPr/>
          </a:p>
        </p:txBody>
      </p:sp>
      <p:sp>
        <p:nvSpPr>
          <p:cNvPr id="308" name="Google Shape;308;p16"/>
          <p:cNvSpPr txBox="1"/>
          <p:nvPr/>
        </p:nvSpPr>
        <p:spPr>
          <a:xfrm>
            <a:off x="3165738" y="4878851"/>
            <a:ext cx="7443703" cy="1345561"/>
          </a:xfrm>
          <a:prstGeom prst="rect">
            <a:avLst/>
          </a:prstGeom>
          <a:blipFill rotWithShape="1">
            <a:blip r:embed="rId5">
              <a:alphaModFix/>
            </a:blip>
            <a:stretch>
              <a:fillRect l="-408" t="-1356" b="-361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5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7"/>
          <p:cNvSpPr/>
          <p:nvPr/>
        </p:nvSpPr>
        <p:spPr>
          <a:xfrm rot="10800000" flipH="1">
            <a:off x="1422511" y="1300894"/>
            <a:ext cx="9483365" cy="4609711"/>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 name="Google Shape;314;p17"/>
          <p:cNvSpPr/>
          <p:nvPr/>
        </p:nvSpPr>
        <p:spPr>
          <a:xfrm rot="-5400000">
            <a:off x="3989400" y="-1013850"/>
            <a:ext cx="4361400" cy="9222000"/>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 name="Google Shape;315;p17"/>
          <p:cNvSpPr txBox="1"/>
          <p:nvPr/>
        </p:nvSpPr>
        <p:spPr>
          <a:xfrm>
            <a:off x="1565782" y="463216"/>
            <a:ext cx="9011092" cy="703187"/>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IC para la media con varianza conocida (n&gt;=30)</a:t>
            </a:r>
            <a:endParaRPr sz="3200">
              <a:solidFill>
                <a:srgbClr val="7F7F7F"/>
              </a:solidFill>
              <a:latin typeface="Arial"/>
              <a:ea typeface="Arial"/>
              <a:cs typeface="Arial"/>
              <a:sym typeface="Arial"/>
            </a:endParaRPr>
          </a:p>
        </p:txBody>
      </p:sp>
      <p:sp>
        <p:nvSpPr>
          <p:cNvPr id="316" name="Google Shape;316;p17"/>
          <p:cNvSpPr txBox="1"/>
          <p:nvPr/>
        </p:nvSpPr>
        <p:spPr>
          <a:xfrm>
            <a:off x="6299333" y="1748311"/>
            <a:ext cx="2527015" cy="902811"/>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17" name="Google Shape;317;p17"/>
          <p:cNvSpPr txBox="1"/>
          <p:nvPr/>
        </p:nvSpPr>
        <p:spPr>
          <a:xfrm>
            <a:off x="3532847" y="1828521"/>
            <a:ext cx="2438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Calibri"/>
                <a:ea typeface="Calibri"/>
                <a:cs typeface="Calibri"/>
                <a:sym typeface="Calibri"/>
              </a:rPr>
              <a:t>Tamaño de la muestra</a:t>
            </a:r>
            <a:r>
              <a:rPr lang="es-ES" sz="1800">
                <a:solidFill>
                  <a:srgbClr val="595959"/>
                </a:solidFill>
                <a:latin typeface="Calibri"/>
                <a:ea typeface="Calibri"/>
                <a:cs typeface="Calibri"/>
                <a:sym typeface="Calibri"/>
              </a:rPr>
              <a:t>:</a:t>
            </a:r>
            <a:endParaRPr/>
          </a:p>
        </p:txBody>
      </p:sp>
      <p:sp>
        <p:nvSpPr>
          <p:cNvPr id="318" name="Google Shape;318;p17"/>
          <p:cNvSpPr txBox="1"/>
          <p:nvPr/>
        </p:nvSpPr>
        <p:spPr>
          <a:xfrm>
            <a:off x="3532847" y="3377218"/>
            <a:ext cx="2438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Calibri"/>
                <a:ea typeface="Calibri"/>
                <a:cs typeface="Calibri"/>
                <a:sym typeface="Calibri"/>
              </a:rPr>
              <a:t>Longitud del Intervalo:</a:t>
            </a:r>
            <a:endParaRPr sz="1800">
              <a:solidFill>
                <a:srgbClr val="595959"/>
              </a:solidFill>
              <a:latin typeface="Calibri"/>
              <a:ea typeface="Calibri"/>
              <a:cs typeface="Calibri"/>
              <a:sym typeface="Calibri"/>
            </a:endParaRPr>
          </a:p>
        </p:txBody>
      </p:sp>
      <p:sp>
        <p:nvSpPr>
          <p:cNvPr id="319" name="Google Shape;319;p17"/>
          <p:cNvSpPr txBox="1"/>
          <p:nvPr/>
        </p:nvSpPr>
        <p:spPr>
          <a:xfrm>
            <a:off x="6299333" y="3285461"/>
            <a:ext cx="2527015" cy="829843"/>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20" name="Google Shape;320;p17"/>
          <p:cNvSpPr txBox="1"/>
          <p:nvPr/>
        </p:nvSpPr>
        <p:spPr>
          <a:xfrm>
            <a:off x="3532847" y="4855429"/>
            <a:ext cx="2438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rgbClr val="595959"/>
                </a:solidFill>
                <a:latin typeface="Calibri"/>
                <a:ea typeface="Calibri"/>
                <a:cs typeface="Calibri"/>
                <a:sym typeface="Calibri"/>
              </a:rPr>
              <a:t>Error estándar:</a:t>
            </a:r>
            <a:endParaRPr sz="1800">
              <a:solidFill>
                <a:srgbClr val="595959"/>
              </a:solidFill>
              <a:latin typeface="Calibri"/>
              <a:ea typeface="Calibri"/>
              <a:cs typeface="Calibri"/>
              <a:sym typeface="Calibri"/>
            </a:endParaRPr>
          </a:p>
        </p:txBody>
      </p:sp>
      <p:sp>
        <p:nvSpPr>
          <p:cNvPr id="321" name="Google Shape;321;p17"/>
          <p:cNvSpPr txBox="1"/>
          <p:nvPr/>
        </p:nvSpPr>
        <p:spPr>
          <a:xfrm>
            <a:off x="6140929" y="4723445"/>
            <a:ext cx="1800106" cy="616451"/>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5"/>
                                        </p:tgtEl>
                                        <p:attrNameLst>
                                          <p:attrName>style.visibility</p:attrName>
                                        </p:attrNameLst>
                                      </p:cBhvr>
                                      <p:to>
                                        <p:strVal val="visible"/>
                                      </p:to>
                                    </p:set>
                                    <p:animEffect transition="in" filter="fade">
                                      <p:cBhvr>
                                        <p:cTn id="7" dur="500"/>
                                        <p:tgtEl>
                                          <p:spTgt spid="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18"/>
          <p:cNvSpPr/>
          <p:nvPr/>
        </p:nvSpPr>
        <p:spPr>
          <a:xfrm rot="-5400000">
            <a:off x="5019773" y="-1927782"/>
            <a:ext cx="2601797" cy="10944520"/>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7" name="Google Shape;327;p18"/>
          <p:cNvSpPr txBox="1"/>
          <p:nvPr/>
        </p:nvSpPr>
        <p:spPr>
          <a:xfrm>
            <a:off x="1056495" y="1396098"/>
            <a:ext cx="10525455" cy="65187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 1</a:t>
            </a:r>
            <a:endParaRPr/>
          </a:p>
        </p:txBody>
      </p:sp>
      <p:sp>
        <p:nvSpPr>
          <p:cNvPr id="328" name="Google Shape;328;p18"/>
          <p:cNvSpPr/>
          <p:nvPr/>
        </p:nvSpPr>
        <p:spPr>
          <a:xfrm>
            <a:off x="1056495" y="2552097"/>
            <a:ext cx="10525455" cy="1982777"/>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9" name="Google Shape;329;p18"/>
          <p:cNvSpPr txBox="1"/>
          <p:nvPr/>
        </p:nvSpPr>
        <p:spPr>
          <a:xfrm>
            <a:off x="1697909" y="2943320"/>
            <a:ext cx="9242625"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 fabricante produce focos que tienen un promedio de vida de distribución aproximadamente normal y una desviación estándar de 40 horas. Si una muestra de 30 focos tiene una vida promedio de 780 horas. Encuentre el intervalo de confianza del 95%, 96%, 98% para la media de la población de todos los focos que produce la empresa.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7"/>
                                        </p:tgtEl>
                                        <p:attrNameLst>
                                          <p:attrName>style.visibility</p:attrName>
                                        </p:attrNameLst>
                                      </p:cBhvr>
                                      <p:to>
                                        <p:strVal val="visible"/>
                                      </p:to>
                                    </p:set>
                                    <p:animEffect transition="in" filter="fade">
                                      <p:cBhvr>
                                        <p:cTn id="7" dur="500"/>
                                        <p:tgtEl>
                                          <p:spTgt spid="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9"/>
          <p:cNvSpPr txBox="1"/>
          <p:nvPr/>
        </p:nvSpPr>
        <p:spPr>
          <a:xfrm>
            <a:off x="999241" y="231861"/>
            <a:ext cx="10450202" cy="697425"/>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 1</a:t>
            </a:r>
            <a:endParaRPr/>
          </a:p>
        </p:txBody>
      </p:sp>
      <p:sp>
        <p:nvSpPr>
          <p:cNvPr id="335" name="Google Shape;335;p19"/>
          <p:cNvSpPr/>
          <p:nvPr/>
        </p:nvSpPr>
        <p:spPr>
          <a:xfrm rot="-5400000">
            <a:off x="3550203" y="-1658061"/>
            <a:ext cx="5153309" cy="10443770"/>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Calibri"/>
              <a:ea typeface="Calibri"/>
              <a:cs typeface="Calibri"/>
              <a:sym typeface="Calibri"/>
            </a:endParaRPr>
          </a:p>
        </p:txBody>
      </p:sp>
      <p:sp>
        <p:nvSpPr>
          <p:cNvPr id="336" name="Google Shape;336;p19"/>
          <p:cNvSpPr/>
          <p:nvPr/>
        </p:nvSpPr>
        <p:spPr>
          <a:xfrm>
            <a:off x="1316484" y="1764576"/>
            <a:ext cx="4463351" cy="3785611"/>
          </a:xfrm>
          <a:prstGeom prst="rect">
            <a:avLst/>
          </a:prstGeom>
          <a:blipFill rotWithShape="1">
            <a:blip r:embed="rId3">
              <a:alphaModFix/>
            </a:blip>
            <a:stretch>
              <a:fillRect l="-819" t="-48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cxnSp>
        <p:nvCxnSpPr>
          <p:cNvPr id="337" name="Google Shape;337;p19"/>
          <p:cNvCxnSpPr/>
          <p:nvPr/>
        </p:nvCxnSpPr>
        <p:spPr>
          <a:xfrm>
            <a:off x="6126857" y="1016721"/>
            <a:ext cx="0" cy="5094205"/>
          </a:xfrm>
          <a:prstGeom prst="straightConnector1">
            <a:avLst/>
          </a:prstGeom>
          <a:noFill/>
          <a:ln w="9525" cap="flat" cmpd="sng">
            <a:solidFill>
              <a:srgbClr val="7F7F7F"/>
            </a:solidFill>
            <a:prstDash val="solid"/>
            <a:miter lim="800000"/>
            <a:headEnd type="none" w="sm" len="sm"/>
            <a:tailEnd type="none" w="sm" len="sm"/>
          </a:ln>
        </p:spPr>
      </p:cxnSp>
      <p:sp>
        <p:nvSpPr>
          <p:cNvPr id="338" name="Google Shape;338;p19"/>
          <p:cNvSpPr txBox="1"/>
          <p:nvPr/>
        </p:nvSpPr>
        <p:spPr>
          <a:xfrm>
            <a:off x="7887382" y="1474081"/>
            <a:ext cx="2077156" cy="369332"/>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39" name="Google Shape;339;p19"/>
          <p:cNvSpPr txBox="1"/>
          <p:nvPr/>
        </p:nvSpPr>
        <p:spPr>
          <a:xfrm>
            <a:off x="7799325" y="1819058"/>
            <a:ext cx="2077156" cy="369332"/>
          </a:xfrm>
          <a:prstGeom prst="rect">
            <a:avLst/>
          </a:prstGeom>
          <a:blipFill rotWithShape="1">
            <a:blip r:embed="rId5">
              <a:alphaModFix/>
            </a:blip>
            <a:stretch>
              <a:fillRect b="-1311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40" name="Google Shape;340;p19"/>
          <p:cNvSpPr txBox="1"/>
          <p:nvPr/>
        </p:nvSpPr>
        <p:spPr>
          <a:xfrm>
            <a:off x="7799325" y="3102809"/>
            <a:ext cx="2077156" cy="369332"/>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41" name="Google Shape;341;p19"/>
          <p:cNvSpPr txBox="1"/>
          <p:nvPr/>
        </p:nvSpPr>
        <p:spPr>
          <a:xfrm>
            <a:off x="6842892" y="4365911"/>
            <a:ext cx="3990025" cy="524311"/>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42" name="Google Shape;342;p19"/>
          <p:cNvSpPr txBox="1"/>
          <p:nvPr/>
        </p:nvSpPr>
        <p:spPr>
          <a:xfrm>
            <a:off x="7202265" y="3837307"/>
            <a:ext cx="308342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rgbClr val="595959"/>
                </a:solidFill>
                <a:latin typeface="Calibri"/>
                <a:ea typeface="Calibri"/>
                <a:cs typeface="Calibri"/>
                <a:sym typeface="Calibri"/>
              </a:rPr>
              <a:t>Calculamos intervalo de confianza</a:t>
            </a:r>
            <a:endParaRPr sz="1800">
              <a:solidFill>
                <a:srgbClr val="595959"/>
              </a:solidFill>
              <a:latin typeface="Calibri"/>
              <a:ea typeface="Calibri"/>
              <a:cs typeface="Calibri"/>
              <a:sym typeface="Calibri"/>
            </a:endParaRPr>
          </a:p>
        </p:txBody>
      </p:sp>
      <p:sp>
        <p:nvSpPr>
          <p:cNvPr id="343" name="Google Shape;343;p19"/>
          <p:cNvSpPr txBox="1"/>
          <p:nvPr/>
        </p:nvSpPr>
        <p:spPr>
          <a:xfrm>
            <a:off x="6842892" y="5200858"/>
            <a:ext cx="3990025" cy="276999"/>
          </a:xfrm>
          <a:prstGeom prst="rect">
            <a:avLst/>
          </a:prstGeom>
          <a:blipFill rotWithShape="1">
            <a:blip r:embed="rId8">
              <a:alphaModFix/>
            </a:blip>
            <a:stretch>
              <a:fillRect b="-2173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44" name="Google Shape;344;p19"/>
          <p:cNvSpPr txBox="1"/>
          <p:nvPr/>
        </p:nvSpPr>
        <p:spPr>
          <a:xfrm>
            <a:off x="7371132" y="2648489"/>
            <a:ext cx="2933543"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rgbClr val="595959"/>
                </a:solidFill>
                <a:latin typeface="Calibri"/>
                <a:ea typeface="Calibri"/>
                <a:cs typeface="Calibri"/>
                <a:sym typeface="Calibri"/>
              </a:rPr>
              <a:t>Determinamos valor normal Z</a:t>
            </a:r>
            <a:endParaRPr sz="1800">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4"/>
                                        </p:tgtEl>
                                        <p:attrNameLst>
                                          <p:attrName>style.visibility</p:attrName>
                                        </p:attrNameLst>
                                      </p:cBhvr>
                                      <p:to>
                                        <p:strVal val="visible"/>
                                      </p:to>
                                    </p:set>
                                    <p:animEffect transition="in" filter="fade">
                                      <p:cBhvr>
                                        <p:cTn id="7"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0"/>
          <p:cNvSpPr/>
          <p:nvPr/>
        </p:nvSpPr>
        <p:spPr>
          <a:xfrm rot="10800000" flipH="1">
            <a:off x="1480008" y="895545"/>
            <a:ext cx="9425868" cy="5392131"/>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 name="Google Shape;350;p20"/>
          <p:cNvSpPr/>
          <p:nvPr/>
        </p:nvSpPr>
        <p:spPr>
          <a:xfrm rot="-5400000">
            <a:off x="3602060" y="-1024135"/>
            <a:ext cx="5187000" cy="9211800"/>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 name="Google Shape;351;p20"/>
          <p:cNvSpPr txBox="1"/>
          <p:nvPr/>
        </p:nvSpPr>
        <p:spPr>
          <a:xfrm>
            <a:off x="1480008" y="0"/>
            <a:ext cx="10007142"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IC para la media con varianza desconocida (n &lt; 30)</a:t>
            </a:r>
            <a:endParaRPr/>
          </a:p>
        </p:txBody>
      </p:sp>
      <p:sp>
        <p:nvSpPr>
          <p:cNvPr id="352" name="Google Shape;352;p20"/>
          <p:cNvSpPr txBox="1"/>
          <p:nvPr/>
        </p:nvSpPr>
        <p:spPr>
          <a:xfrm>
            <a:off x="1784475" y="1181925"/>
            <a:ext cx="8833800" cy="4799700"/>
          </a:xfrm>
          <a:prstGeom prst="rect">
            <a:avLst/>
          </a:prstGeom>
          <a:blipFill rotWithShape="1">
            <a:blip r:embed="rId3">
              <a:alphaModFix/>
            </a:blip>
            <a:stretch>
              <a:fillRect l="-643" t="-634" r="-571" b="-63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1"/>
                                        </p:tgtEl>
                                        <p:attrNameLst>
                                          <p:attrName>style.visibility</p:attrName>
                                        </p:attrNameLst>
                                      </p:cBhvr>
                                      <p:to>
                                        <p:strVal val="visible"/>
                                      </p:to>
                                    </p:set>
                                    <p:animEffect transition="in" filter="fade">
                                      <p:cBhvr>
                                        <p:cTn id="7" dur="500"/>
                                        <p:tgtEl>
                                          <p:spTgt spid="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1"/>
          <p:cNvSpPr/>
          <p:nvPr/>
        </p:nvSpPr>
        <p:spPr>
          <a:xfrm rot="-5400000">
            <a:off x="5038627" y="-1946635"/>
            <a:ext cx="2564090" cy="10944520"/>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p21"/>
          <p:cNvSpPr txBox="1"/>
          <p:nvPr/>
        </p:nvSpPr>
        <p:spPr>
          <a:xfrm>
            <a:off x="1015293" y="1230849"/>
            <a:ext cx="1066826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 2</a:t>
            </a:r>
            <a:endParaRPr/>
          </a:p>
        </p:txBody>
      </p:sp>
      <p:sp>
        <p:nvSpPr>
          <p:cNvPr id="359" name="Google Shape;359;p21"/>
          <p:cNvSpPr/>
          <p:nvPr/>
        </p:nvSpPr>
        <p:spPr>
          <a:xfrm>
            <a:off x="1015293" y="2611412"/>
            <a:ext cx="10501378" cy="1781479"/>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p21"/>
          <p:cNvSpPr txBox="1"/>
          <p:nvPr/>
        </p:nvSpPr>
        <p:spPr>
          <a:xfrm>
            <a:off x="1807614" y="2883132"/>
            <a:ext cx="9083617"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Una compañía utiliza baterías en sus juegos electrónicos que según ellos duran un promedio de 30 horas, para confirmar esto, se prueba 16 baterías siendo la media muestral de 27.5 horas y su desviación estándar S=5 horas. Encuentre un intervalo de confianza del 95% para la media. Suponga que la distribución de las baterías es aproximadamente normal.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8"/>
                                        </p:tgtEl>
                                        <p:attrNameLst>
                                          <p:attrName>style.visibility</p:attrName>
                                        </p:attrNameLst>
                                      </p:cBhvr>
                                      <p:to>
                                        <p:strVal val="visible"/>
                                      </p:to>
                                    </p:set>
                                    <p:animEffect transition="in" filter="fade">
                                      <p:cBhvr>
                                        <p:cTn id="7" dur="500"/>
                                        <p:tgtEl>
                                          <p:spTgt spid="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2"/>
          <p:cNvSpPr txBox="1"/>
          <p:nvPr/>
        </p:nvSpPr>
        <p:spPr>
          <a:xfrm>
            <a:off x="505300" y="523189"/>
            <a:ext cx="10782300" cy="49459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 2</a:t>
            </a:r>
            <a:endParaRPr/>
          </a:p>
        </p:txBody>
      </p:sp>
      <p:sp>
        <p:nvSpPr>
          <p:cNvPr id="366" name="Google Shape;366;p22"/>
          <p:cNvSpPr/>
          <p:nvPr/>
        </p:nvSpPr>
        <p:spPr>
          <a:xfrm rot="-5400000">
            <a:off x="3539587" y="-1865363"/>
            <a:ext cx="4912450" cy="10981022"/>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67" name="Google Shape;367;p22"/>
          <p:cNvCxnSpPr/>
          <p:nvPr/>
        </p:nvCxnSpPr>
        <p:spPr>
          <a:xfrm flipH="1">
            <a:off x="5792244" y="1168922"/>
            <a:ext cx="24094" cy="4912451"/>
          </a:xfrm>
          <a:prstGeom prst="straightConnector1">
            <a:avLst/>
          </a:prstGeom>
          <a:noFill/>
          <a:ln w="9525" cap="flat" cmpd="sng">
            <a:solidFill>
              <a:srgbClr val="7F7F7F"/>
            </a:solidFill>
            <a:prstDash val="solid"/>
            <a:miter lim="800000"/>
            <a:headEnd type="none" w="sm" len="sm"/>
            <a:tailEnd type="none" w="sm" len="sm"/>
          </a:ln>
        </p:spPr>
      </p:cxnSp>
      <p:sp>
        <p:nvSpPr>
          <p:cNvPr id="368" name="Google Shape;368;p22"/>
          <p:cNvSpPr/>
          <p:nvPr/>
        </p:nvSpPr>
        <p:spPr>
          <a:xfrm>
            <a:off x="1032105" y="1459339"/>
            <a:ext cx="4115248" cy="4031833"/>
          </a:xfrm>
          <a:prstGeom prst="rect">
            <a:avLst/>
          </a:prstGeom>
          <a:blipFill rotWithShape="1">
            <a:blip r:embed="rId3">
              <a:alphaModFix/>
            </a:blip>
            <a:stretch>
              <a:fillRect l="-740" t="-45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69" name="Google Shape;369;p22"/>
          <p:cNvSpPr txBox="1"/>
          <p:nvPr/>
        </p:nvSpPr>
        <p:spPr>
          <a:xfrm>
            <a:off x="7679927" y="1459339"/>
            <a:ext cx="2077156" cy="369332"/>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70" name="Google Shape;370;p22"/>
          <p:cNvSpPr txBox="1"/>
          <p:nvPr/>
        </p:nvSpPr>
        <p:spPr>
          <a:xfrm>
            <a:off x="7679927" y="1997625"/>
            <a:ext cx="2077156" cy="369332"/>
          </a:xfrm>
          <a:prstGeom prst="rect">
            <a:avLst/>
          </a:prstGeom>
          <a:blipFill rotWithShape="1">
            <a:blip r:embed="rId5">
              <a:alphaModFix/>
            </a:blip>
            <a:stretch>
              <a:fillRect b="-1333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71" name="Google Shape;371;p22"/>
          <p:cNvSpPr txBox="1"/>
          <p:nvPr/>
        </p:nvSpPr>
        <p:spPr>
          <a:xfrm>
            <a:off x="7679927" y="2937226"/>
            <a:ext cx="2077156" cy="369332"/>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72" name="Google Shape;372;p22"/>
          <p:cNvSpPr txBox="1"/>
          <p:nvPr/>
        </p:nvSpPr>
        <p:spPr>
          <a:xfrm>
            <a:off x="6850218" y="2415109"/>
            <a:ext cx="373657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595959"/>
                </a:solidFill>
                <a:latin typeface="Calibri"/>
                <a:ea typeface="Calibri"/>
                <a:cs typeface="Calibri"/>
                <a:sym typeface="Calibri"/>
              </a:rPr>
              <a:t>Determinamos valor t-Student con v=15:</a:t>
            </a:r>
            <a:endParaRPr sz="1800">
              <a:solidFill>
                <a:srgbClr val="595959"/>
              </a:solidFill>
              <a:latin typeface="Calibri"/>
              <a:ea typeface="Calibri"/>
              <a:cs typeface="Calibri"/>
              <a:sym typeface="Calibri"/>
            </a:endParaRPr>
          </a:p>
        </p:txBody>
      </p:sp>
      <p:sp>
        <p:nvSpPr>
          <p:cNvPr id="373" name="Google Shape;373;p22"/>
          <p:cNvSpPr txBox="1"/>
          <p:nvPr/>
        </p:nvSpPr>
        <p:spPr>
          <a:xfrm>
            <a:off x="7176795" y="3750575"/>
            <a:ext cx="308342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595959"/>
                </a:solidFill>
                <a:latin typeface="Calibri"/>
                <a:ea typeface="Calibri"/>
                <a:cs typeface="Calibri"/>
                <a:sym typeface="Calibri"/>
              </a:rPr>
              <a:t>Calculamos intervalo de confianza</a:t>
            </a:r>
            <a:endParaRPr sz="1800">
              <a:solidFill>
                <a:srgbClr val="595959"/>
              </a:solidFill>
              <a:latin typeface="Calibri"/>
              <a:ea typeface="Calibri"/>
              <a:cs typeface="Calibri"/>
              <a:sym typeface="Calibri"/>
            </a:endParaRPr>
          </a:p>
        </p:txBody>
      </p:sp>
      <p:sp>
        <p:nvSpPr>
          <p:cNvPr id="374" name="Google Shape;374;p22"/>
          <p:cNvSpPr txBox="1"/>
          <p:nvPr/>
        </p:nvSpPr>
        <p:spPr>
          <a:xfrm>
            <a:off x="6311990" y="4917816"/>
            <a:ext cx="4813030" cy="414537"/>
          </a:xfrm>
          <a:prstGeom prst="rect">
            <a:avLst/>
          </a:prstGeom>
          <a:blipFill rotWithShape="1">
            <a:blip r:embed="rId7">
              <a:alphaModFix/>
            </a:blip>
            <a:stretch>
              <a:fillRect l="-252" t="-136752" r="-12784" b="-20733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75" name="Google Shape;375;p22"/>
          <p:cNvSpPr txBox="1"/>
          <p:nvPr/>
        </p:nvSpPr>
        <p:spPr>
          <a:xfrm>
            <a:off x="6373460" y="4228099"/>
            <a:ext cx="4690090" cy="526170"/>
          </a:xfrm>
          <a:prstGeom prst="rect">
            <a:avLst/>
          </a:prstGeom>
          <a:blipFill rotWithShape="1">
            <a:blip r:embed="rId8">
              <a:alphaModFix/>
            </a:blip>
            <a:stretch>
              <a:fillRect b="-116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76" name="Google Shape;376;p22"/>
          <p:cNvSpPr txBox="1"/>
          <p:nvPr/>
        </p:nvSpPr>
        <p:spPr>
          <a:xfrm>
            <a:off x="6311990" y="5627792"/>
            <a:ext cx="4813030" cy="276999"/>
          </a:xfrm>
          <a:prstGeom prst="rect">
            <a:avLst/>
          </a:prstGeom>
          <a:blipFill rotWithShape="1">
            <a:blip r:embed="rId9">
              <a:alphaModFix/>
            </a:blip>
            <a:stretch>
              <a:fillRect b="-2173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5"/>
                                        </p:tgtEl>
                                        <p:attrNameLst>
                                          <p:attrName>style.visibility</p:attrName>
                                        </p:attrNameLst>
                                      </p:cBhvr>
                                      <p:to>
                                        <p:strVal val="visible"/>
                                      </p:to>
                                    </p:set>
                                    <p:animEffect transition="in" filter="fade">
                                      <p:cBhvr>
                                        <p:cTn id="7" dur="500"/>
                                        <p:tgtEl>
                                          <p:spTgt spid="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3"/>
          <p:cNvSpPr txBox="1"/>
          <p:nvPr/>
        </p:nvSpPr>
        <p:spPr>
          <a:xfrm>
            <a:off x="867265" y="381814"/>
            <a:ext cx="10619885" cy="605354"/>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Tabla Distribución t-Student</a:t>
            </a:r>
            <a:endParaRPr sz="3200">
              <a:solidFill>
                <a:srgbClr val="7F7F7F"/>
              </a:solidFill>
              <a:latin typeface="Arial"/>
              <a:ea typeface="Arial"/>
              <a:cs typeface="Arial"/>
              <a:sym typeface="Arial"/>
            </a:endParaRPr>
          </a:p>
        </p:txBody>
      </p:sp>
      <p:sp>
        <p:nvSpPr>
          <p:cNvPr id="382" name="Google Shape;382;p23"/>
          <p:cNvSpPr/>
          <p:nvPr/>
        </p:nvSpPr>
        <p:spPr>
          <a:xfrm rot="16200000">
            <a:off x="3436862" y="-1582426"/>
            <a:ext cx="5305709" cy="10444901"/>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83" name="Google Shape;383;p23"/>
          <p:cNvPicPr preferRelativeResize="0"/>
          <p:nvPr/>
        </p:nvPicPr>
        <p:blipFill rotWithShape="1">
          <a:blip r:embed="rId3">
            <a:alphaModFix/>
          </a:blip>
          <a:srcRect/>
          <a:stretch/>
        </p:blipFill>
        <p:spPr>
          <a:xfrm>
            <a:off x="2734002" y="1168639"/>
            <a:ext cx="6711428" cy="494276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fade">
                                      <p:cBhvr>
                                        <p:cTn id="7" dur="50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4"/>
          <p:cNvSpPr/>
          <p:nvPr/>
        </p:nvSpPr>
        <p:spPr>
          <a:xfrm rot="-5400000">
            <a:off x="5340284" y="-2031477"/>
            <a:ext cx="2055044" cy="10944520"/>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9" name="Google Shape;389;p24"/>
          <p:cNvSpPr txBox="1"/>
          <p:nvPr/>
        </p:nvSpPr>
        <p:spPr>
          <a:xfrm>
            <a:off x="895546" y="1601495"/>
            <a:ext cx="10147359" cy="661297"/>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 3</a:t>
            </a:r>
            <a:endParaRPr sz="3200">
              <a:solidFill>
                <a:srgbClr val="7F7F7F"/>
              </a:solidFill>
              <a:latin typeface="Arial"/>
              <a:ea typeface="Arial"/>
              <a:cs typeface="Arial"/>
              <a:sym typeface="Arial"/>
            </a:endParaRPr>
          </a:p>
        </p:txBody>
      </p:sp>
      <p:sp>
        <p:nvSpPr>
          <p:cNvPr id="390" name="Google Shape;390;p24"/>
          <p:cNvSpPr/>
          <p:nvPr/>
        </p:nvSpPr>
        <p:spPr>
          <a:xfrm>
            <a:off x="1414021" y="2714196"/>
            <a:ext cx="9653047" cy="1423447"/>
          </a:xfrm>
          <a:prstGeom prst="roundRect">
            <a:avLst>
              <a:gd name="adj" fmla="val 2971"/>
            </a:avLst>
          </a:prstGeom>
          <a:gradFill>
            <a:gsLst>
              <a:gs pos="0">
                <a:srgbClr val="5A2443"/>
              </a:gs>
              <a:gs pos="50000">
                <a:srgbClr val="843461"/>
              </a:gs>
              <a:gs pos="100000">
                <a:srgbClr val="9E3F75"/>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1" name="Google Shape;391;p24"/>
          <p:cNvSpPr txBox="1"/>
          <p:nvPr/>
        </p:nvSpPr>
        <p:spPr>
          <a:xfrm>
            <a:off x="1619231" y="2825754"/>
            <a:ext cx="9242625"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En una muestra aleatoria de 20 porciones de cereal el contenido Promedio de azúcar fue de 11.3 gramos con desviación estándar de 2.45 gramos. Suponiendo que los contenidos de azúcar están distribuidos normalmente, determine el intervalo de confianza del 95% para el contenido promedio de azúcar en las porciones de dicho cereal.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9"/>
                                        </p:tgtEl>
                                        <p:attrNameLst>
                                          <p:attrName>style.visibility</p:attrName>
                                        </p:attrNameLst>
                                      </p:cBhvr>
                                      <p:to>
                                        <p:strVal val="visible"/>
                                      </p:to>
                                    </p:set>
                                    <p:animEffect transition="in" filter="fade">
                                      <p:cBhvr>
                                        <p:cTn id="7" dur="500"/>
                                        <p:tgtEl>
                                          <p:spTgt spid="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25"/>
          <p:cNvSpPr txBox="1"/>
          <p:nvPr/>
        </p:nvSpPr>
        <p:spPr>
          <a:xfrm>
            <a:off x="725054" y="233465"/>
            <a:ext cx="10782300" cy="505044"/>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Ejemplo 3</a:t>
            </a:r>
            <a:endParaRPr/>
          </a:p>
        </p:txBody>
      </p:sp>
      <p:sp>
        <p:nvSpPr>
          <p:cNvPr id="397" name="Google Shape;397;p25"/>
          <p:cNvSpPr/>
          <p:nvPr/>
        </p:nvSpPr>
        <p:spPr>
          <a:xfrm rot="-5400000">
            <a:off x="3539549" y="-1937067"/>
            <a:ext cx="5153309" cy="10981022"/>
          </a:xfrm>
          <a:prstGeom prst="roundRect">
            <a:avLst>
              <a:gd name="adj" fmla="val 2971"/>
            </a:avLst>
          </a:prstGeom>
          <a:solidFill>
            <a:schemeClr val="lt1"/>
          </a:solidFill>
          <a:ln w="38100" cap="flat" cmpd="sng">
            <a:solidFill>
              <a:srgbClr val="9846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8" name="Google Shape;398;p25"/>
          <p:cNvSpPr txBox="1">
            <a:spLocks noGrp="1"/>
          </p:cNvSpPr>
          <p:nvPr>
            <p:ph type="title"/>
          </p:nvPr>
        </p:nvSpPr>
        <p:spPr>
          <a:xfrm>
            <a:off x="838200" y="365126"/>
            <a:ext cx="10515600" cy="48000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000000"/>
              </a:buClr>
              <a:buSzPts val="4400"/>
              <a:buFont typeface="Calibri"/>
              <a:buNone/>
            </a:pPr>
            <a:r>
              <a:rPr lang="es-ES"/>
              <a:t> </a:t>
            </a:r>
            <a:endParaRPr/>
          </a:p>
        </p:txBody>
      </p:sp>
      <p:sp>
        <p:nvSpPr>
          <p:cNvPr id="399" name="Google Shape;399;p25"/>
          <p:cNvSpPr/>
          <p:nvPr/>
        </p:nvSpPr>
        <p:spPr>
          <a:xfrm>
            <a:off x="1091688" y="1488139"/>
            <a:ext cx="4115248" cy="4031833"/>
          </a:xfrm>
          <a:prstGeom prst="rect">
            <a:avLst/>
          </a:prstGeom>
          <a:blipFill rotWithShape="1">
            <a:blip r:embed="rId3">
              <a:alphaModFix/>
            </a:blip>
            <a:stretch>
              <a:fillRect l="-740" t="-45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cxnSp>
        <p:nvCxnSpPr>
          <p:cNvPr id="400" name="Google Shape;400;p25"/>
          <p:cNvCxnSpPr/>
          <p:nvPr/>
        </p:nvCxnSpPr>
        <p:spPr>
          <a:xfrm>
            <a:off x="5814335" y="976789"/>
            <a:ext cx="0" cy="5080384"/>
          </a:xfrm>
          <a:prstGeom prst="straightConnector1">
            <a:avLst/>
          </a:prstGeom>
          <a:noFill/>
          <a:ln w="9525" cap="flat" cmpd="sng">
            <a:solidFill>
              <a:srgbClr val="7F7F7F"/>
            </a:solidFill>
            <a:prstDash val="solid"/>
            <a:miter lim="800000"/>
            <a:headEnd type="none" w="sm" len="sm"/>
            <a:tailEnd type="none" w="sm" len="sm"/>
          </a:ln>
        </p:spPr>
      </p:cxnSp>
      <p:sp>
        <p:nvSpPr>
          <p:cNvPr id="401" name="Google Shape;401;p25"/>
          <p:cNvSpPr txBox="1"/>
          <p:nvPr/>
        </p:nvSpPr>
        <p:spPr>
          <a:xfrm>
            <a:off x="7814079" y="1002450"/>
            <a:ext cx="2077156" cy="369332"/>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2" name="Google Shape;402;p25"/>
          <p:cNvSpPr txBox="1"/>
          <p:nvPr/>
        </p:nvSpPr>
        <p:spPr>
          <a:xfrm>
            <a:off x="7814079" y="1380372"/>
            <a:ext cx="2077156" cy="369332"/>
          </a:xfrm>
          <a:prstGeom prst="rect">
            <a:avLst/>
          </a:prstGeom>
          <a:blipFill rotWithShape="1">
            <a:blip r:embed="rId5">
              <a:alphaModFix/>
            </a:blip>
            <a:stretch>
              <a:fillRect b="-1311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3" name="Google Shape;403;p25"/>
          <p:cNvSpPr txBox="1"/>
          <p:nvPr/>
        </p:nvSpPr>
        <p:spPr>
          <a:xfrm>
            <a:off x="7814079" y="2516065"/>
            <a:ext cx="2077156" cy="369332"/>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4" name="Google Shape;404;p25"/>
          <p:cNvSpPr txBox="1"/>
          <p:nvPr/>
        </p:nvSpPr>
        <p:spPr>
          <a:xfrm>
            <a:off x="6888414" y="2061745"/>
            <a:ext cx="392848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rgbClr val="595959"/>
                </a:solidFill>
                <a:latin typeface="Calibri"/>
                <a:ea typeface="Calibri"/>
                <a:cs typeface="Calibri"/>
                <a:sym typeface="Calibri"/>
              </a:rPr>
              <a:t>Determinamos valor t-Student con v=19:</a:t>
            </a:r>
            <a:endParaRPr sz="1800">
              <a:solidFill>
                <a:srgbClr val="595959"/>
              </a:solidFill>
              <a:latin typeface="Calibri"/>
              <a:ea typeface="Calibri"/>
              <a:cs typeface="Calibri"/>
              <a:sym typeface="Calibri"/>
            </a:endParaRPr>
          </a:p>
        </p:txBody>
      </p:sp>
      <p:sp>
        <p:nvSpPr>
          <p:cNvPr id="405" name="Google Shape;405;p25"/>
          <p:cNvSpPr txBox="1"/>
          <p:nvPr/>
        </p:nvSpPr>
        <p:spPr>
          <a:xfrm>
            <a:off x="7310947" y="3504056"/>
            <a:ext cx="308342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a:solidFill>
                  <a:srgbClr val="595959"/>
                </a:solidFill>
                <a:latin typeface="Calibri"/>
                <a:ea typeface="Calibri"/>
                <a:cs typeface="Calibri"/>
                <a:sym typeface="Calibri"/>
              </a:rPr>
              <a:t>Calculamos intervalo de confianza</a:t>
            </a:r>
            <a:endParaRPr sz="1800">
              <a:solidFill>
                <a:srgbClr val="595959"/>
              </a:solidFill>
              <a:latin typeface="Calibri"/>
              <a:ea typeface="Calibri"/>
              <a:cs typeface="Calibri"/>
              <a:sym typeface="Calibri"/>
            </a:endParaRPr>
          </a:p>
        </p:txBody>
      </p:sp>
      <p:sp>
        <p:nvSpPr>
          <p:cNvPr id="406" name="Google Shape;406;p25"/>
          <p:cNvSpPr txBox="1"/>
          <p:nvPr/>
        </p:nvSpPr>
        <p:spPr>
          <a:xfrm>
            <a:off x="5934731" y="4946367"/>
            <a:ext cx="5796056" cy="450251"/>
          </a:xfrm>
          <a:prstGeom prst="rect">
            <a:avLst/>
          </a:prstGeom>
          <a:blipFill rotWithShape="1">
            <a:blip r:embed="rId7">
              <a:alphaModFix/>
            </a:blip>
            <a:stretch>
              <a:fillRect t="-93240" r="-314" b="-15810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7" name="Google Shape;407;p25"/>
          <p:cNvSpPr txBox="1"/>
          <p:nvPr/>
        </p:nvSpPr>
        <p:spPr>
          <a:xfrm>
            <a:off x="6507612" y="4064623"/>
            <a:ext cx="4690090" cy="526170"/>
          </a:xfrm>
          <a:prstGeom prst="rect">
            <a:avLst/>
          </a:prstGeom>
          <a:blipFill rotWithShape="1">
            <a:blip r:embed="rId8">
              <a:alphaModFix/>
            </a:blip>
            <a:stretch>
              <a:fillRect b="-116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8" name="Google Shape;408;p25"/>
          <p:cNvSpPr txBox="1"/>
          <p:nvPr/>
        </p:nvSpPr>
        <p:spPr>
          <a:xfrm>
            <a:off x="6446142" y="5725556"/>
            <a:ext cx="4813030" cy="276999"/>
          </a:xfrm>
          <a:prstGeom prst="rect">
            <a:avLst/>
          </a:prstGeom>
          <a:blipFill rotWithShape="1">
            <a:blip r:embed="rId9">
              <a:alphaModFix/>
            </a:blip>
            <a:stretch>
              <a:fillRect b="-2173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6"/>
                                        </p:tgtEl>
                                        <p:attrNameLst>
                                          <p:attrName>style.visibility</p:attrName>
                                        </p:attrNameLst>
                                      </p:cBhvr>
                                      <p:to>
                                        <p:strVal val="visible"/>
                                      </p:to>
                                    </p:set>
                                    <p:animEffect transition="in" filter="fade">
                                      <p:cBhvr>
                                        <p:cTn id="7" dur="500"/>
                                        <p:tgtEl>
                                          <p:spTgt spid="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26"/>
          <p:cNvSpPr/>
          <p:nvPr/>
        </p:nvSpPr>
        <p:spPr>
          <a:xfrm>
            <a:off x="-749030" y="3132234"/>
            <a:ext cx="7964307" cy="894946"/>
          </a:xfrm>
          <a:prstGeom prst="roundRect">
            <a:avLst>
              <a:gd name="adj" fmla="val 2778"/>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14" name="Google Shape;414;p26"/>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ES"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4"/>
                                        </p:tgtEl>
                                        <p:attrNameLst>
                                          <p:attrName>style.visibility</p:attrName>
                                        </p:attrNameLst>
                                      </p:cBhvr>
                                      <p:to>
                                        <p:strVal val="visible"/>
                                      </p:to>
                                    </p:set>
                                    <p:animEffect transition="in" filter="fade">
                                      <p:cBhvr>
                                        <p:cTn id="7" dur="500"/>
                                        <p:tgtEl>
                                          <p:spTgt spid="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7"/>
          <p:cNvSpPr txBox="1"/>
          <p:nvPr/>
        </p:nvSpPr>
        <p:spPr>
          <a:xfrm>
            <a:off x="462603" y="292496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ES" sz="3600" b="0" i="0" u="none" strike="noStrike" cap="none">
                <a:solidFill>
                  <a:srgbClr val="7F7F7F"/>
                </a:solidFill>
                <a:latin typeface="Arial"/>
                <a:ea typeface="Arial"/>
                <a:cs typeface="Arial"/>
                <a:sym typeface="Arial"/>
              </a:rPr>
              <a:t>Fin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500"/>
                                        <p:tgtEl>
                                          <p:spTgt spid="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1053</Words>
  <Application>Microsoft Office PowerPoint</Application>
  <PresentationFormat>Panorámica</PresentationFormat>
  <Paragraphs>120</Paragraphs>
  <Slides>27</Slides>
  <Notes>27</Notes>
  <HiddenSlides>0</HiddenSlides>
  <MMClips>0</MMClips>
  <ScaleCrop>false</ScaleCrop>
  <HeadingPairs>
    <vt:vector size="4" baseType="variant">
      <vt:variant>
        <vt:lpstr>Tema</vt:lpstr>
      </vt:variant>
      <vt:variant>
        <vt:i4>2</vt:i4>
      </vt:variant>
      <vt:variant>
        <vt:lpstr>Títulos de diapositiva</vt:lpstr>
      </vt:variant>
      <vt:variant>
        <vt:i4>27</vt:i4>
      </vt:variant>
    </vt:vector>
  </HeadingPairs>
  <TitlesOfParts>
    <vt:vector size="29" baseType="lpstr">
      <vt:lpstr>Tema de Office</vt:lpstr>
      <vt:lpstr>1_Tema de Office</vt:lpstr>
      <vt:lpstr>Intervalos de Confianza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 </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Intervalos de Confianza </dc:title>
  <dc:creator>Kibernum</dc:creator>
  <cp:lastModifiedBy>kibernum</cp:lastModifiedBy>
  <cp:revision>23</cp:revision>
  <dcterms:created xsi:type="dcterms:W3CDTF">2023-01-03T12:28:26Z</dcterms:created>
  <dcterms:modified xsi:type="dcterms:W3CDTF">2025-09-26T11:51:15Z</dcterms:modified>
</cp:coreProperties>
</file>