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4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g/MukXtDPnt5r0VZPw4ImLP73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10E59-6BE0-1AFD-4ABB-198F5393332E}" v="5" dt="2025-09-26T11:52:05.298"/>
  </p1510:revLst>
</p1510:revInfo>
</file>

<file path=ppt/tableStyles.xml><?xml version="1.0" encoding="utf-8"?>
<a:tblStyleLst xmlns:a="http://schemas.openxmlformats.org/drawingml/2006/main" def="{20780FF4-66EB-4A62-9647-4E2A51CB9C1C}">
  <a:tblStyle styleId="{20780FF4-66EB-4A62-9647-4E2A51CB9C1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ECE7"/>
          </a:solidFill>
        </a:fill>
      </a:tcStyle>
    </a:wholeTbl>
    <a:band1H>
      <a:tcTxStyle/>
      <a:tcStyle>
        <a:tcBdr/>
        <a:fill>
          <a:solidFill>
            <a:srgbClr val="F8D6CC"/>
          </a:solidFill>
        </a:fill>
      </a:tcStyle>
    </a:band1H>
    <a:band2H>
      <a:tcTxStyle/>
      <a:tcStyle>
        <a:tcBdr/>
      </a:tcStyle>
    </a:band2H>
    <a:band1V>
      <a:tcTxStyle/>
      <a:tcStyle>
        <a:tcBdr/>
        <a:fill>
          <a:solidFill>
            <a:srgbClr val="F8D6CC"/>
          </a:solidFill>
        </a:fill>
      </a:tcStyle>
    </a:band1V>
    <a:band2V>
      <a:tcTxStyle/>
      <a:tcStyle>
        <a:tcBdr/>
      </a:tcStyle>
    </a:band2V>
    <a:lastCol>
      <a:tcTxStyle b="on" i="off">
        <a:font>
          <a:latin typeface="Calibri"/>
          <a:ea typeface="Calibri"/>
          <a:cs typeface="Calibri"/>
        </a:font>
        <a:schemeClr val="lt1"/>
      </a:tcTxStyle>
      <a:tcStyle>
        <a:tcBdr/>
        <a:fill>
          <a:solidFill>
            <a:schemeClr val="accent2"/>
          </a:solidFill>
        </a:fill>
      </a:tcStyle>
    </a:lastCol>
    <a:firstCol>
      <a:tcTxStyle b="on" i="off">
        <a:font>
          <a:latin typeface="Calibri"/>
          <a:ea typeface="Calibri"/>
          <a:cs typeface="Calibri"/>
        </a:font>
        <a:schemeClr val="lt1"/>
      </a:tcTxStyle>
      <a:tcStyle>
        <a:tcBdr/>
        <a:fill>
          <a:solidFill>
            <a:schemeClr val="accent2"/>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109F3174-62C5-4F7F-B54A-AF850380FE05}"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AC91A65-7CFD-4C13-BA17-9EF92CE3DCE8}" styleName="Table_2">
    <a:wholeTbl>
      <a:tcTxStyle b="off" i="off">
        <a:font>
          <a:latin typeface="Calibri"/>
          <a:ea typeface="Calibri"/>
          <a:cs typeface="Calibri"/>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FCECE7"/>
          </a:solidFill>
        </a:fill>
      </a:tcStyle>
    </a:band1H>
    <a:band2H>
      <a:tcTxStyle/>
      <a:tcStyle>
        <a:tcBdr/>
      </a:tcStyle>
    </a:band2H>
    <a:band1V>
      <a:tcTxStyle/>
      <a:tcStyle>
        <a:tcBdr/>
        <a:fill>
          <a:solidFill>
            <a:srgbClr val="FCECE7"/>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56" Type="http://schemas.microsoft.com/office/2016/11/relationships/changesInfo" Target="changesInfos/changesInfo1.xml"/><Relationship Id="rId8" Type="http://schemas.openxmlformats.org/officeDocument/2006/relationships/slide" Target="slides/slide6.xml"/><Relationship Id="rId51" Type="http://customschemas.google.com/relationships/presentationmetadata" Target="meta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5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4D510E59-6BE0-1AFD-4ABB-198F5393332E}"/>
    <pc:docChg chg="modSld">
      <pc:chgData name="Soraya Salazar" userId="S::soraya.salazar@kibernumacademy.com::fdf00a5c-f577-43dc-8064-9968cad83607" providerId="AD" clId="Web-{4D510E59-6BE0-1AFD-4ABB-198F5393332E}" dt="2025-09-26T11:52:05.298" v="2"/>
      <pc:docMkLst>
        <pc:docMk/>
      </pc:docMkLst>
      <pc:sldChg chg="delSp modSp">
        <pc:chgData name="Soraya Salazar" userId="S::soraya.salazar@kibernumacademy.com::fdf00a5c-f577-43dc-8064-9968cad83607" providerId="AD" clId="Web-{4D510E59-6BE0-1AFD-4ABB-198F5393332E}" dt="2025-09-26T11:52:05.298" v="2"/>
        <pc:sldMkLst>
          <pc:docMk/>
          <pc:sldMk cId="0" sldId="256"/>
        </pc:sldMkLst>
        <pc:spChg chg="del">
          <ac:chgData name="Soraya Salazar" userId="S::soraya.salazar@kibernumacademy.com::fdf00a5c-f577-43dc-8064-9968cad83607" providerId="AD" clId="Web-{4D510E59-6BE0-1AFD-4ABB-198F5393332E}" dt="2025-09-26T11:52:05.298" v="2"/>
          <ac:spMkLst>
            <pc:docMk/>
            <pc:sldMk cId="0" sldId="256"/>
            <ac:spMk id="166" creationId="{00000000-0000-0000-0000-000000000000}"/>
          </ac:spMkLst>
        </pc:spChg>
        <pc:spChg chg="mod">
          <ac:chgData name="Soraya Salazar" userId="S::soraya.salazar@kibernumacademy.com::fdf00a5c-f577-43dc-8064-9968cad83607" providerId="AD" clId="Web-{4D510E59-6BE0-1AFD-4ABB-198F5393332E}" dt="2025-09-26T11:52:03.329" v="1" actId="20577"/>
          <ac:spMkLst>
            <pc:docMk/>
            <pc:sldMk cId="0" sldId="256"/>
            <ac:spMk id="1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0" name="Google Shape;17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 name="Google Shape;18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9" name="Google Shape;18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4" name="Google Shape;1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3" name="Google Shape;20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4" name="Google Shape;2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3" name="Google Shape;22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3" name="Google Shape;23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2" name="Google Shape;24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1" name="Google Shape;25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0" name="Google Shape;26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6" name="Google Shape;27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6" name="Google Shape;28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6" name="Google Shape;29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6" name="Google Shape;30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2" name="Google Shape;3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4" name="Google Shape;34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4" name="Google Shape;35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1" name="Google Shape;37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1" name="Google Shape;38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9" name="Google Shape;39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3" name="Google Shape;41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5" name="Google Shape;42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4" name="Google Shape;44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7" name="Google Shape;45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2" name="Google Shape;47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9" name="Google Shape;47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8" name="Google Shape;49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5" name="Google Shape;54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6" name="Google Shape;55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5" name="Google Shape;56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2" name="Google Shape;57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0" name="Google Shape;59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8" name="Google Shape;60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5" name="Google Shape;61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22" name="Google Shape;62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29" name="Google Shape;62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8" name="Google Shape;63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5" name="Google Shape;64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2" name="Google Shape;65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8" name="Google Shape;65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4" name="Google Shape;66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70" name="Google Shape;67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4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4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5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5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5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5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5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5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5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5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5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5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56"/>
          <p:cNvSpPr>
            <a:spLocks noGrp="1"/>
          </p:cNvSpPr>
          <p:nvPr>
            <p:ph type="pic" idx="2"/>
          </p:nvPr>
        </p:nvSpPr>
        <p:spPr>
          <a:xfrm>
            <a:off x="5183188" y="987425"/>
            <a:ext cx="6172200" cy="4873625"/>
          </a:xfrm>
          <a:prstGeom prst="rect">
            <a:avLst/>
          </a:prstGeom>
          <a:noFill/>
          <a:ln>
            <a:noFill/>
          </a:ln>
        </p:spPr>
      </p:sp>
      <p:sp>
        <p:nvSpPr>
          <p:cNvPr id="68" name="Google Shape;68;p5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5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5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5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0"/>
        <p:cNvGrpSpPr/>
        <p:nvPr/>
      </p:nvGrpSpPr>
      <p:grpSpPr>
        <a:xfrm>
          <a:off x="0" y="0"/>
          <a:ext cx="0" cy="0"/>
          <a:chOff x="0" y="0"/>
          <a:chExt cx="0" cy="0"/>
        </a:xfrm>
      </p:grpSpPr>
      <p:sp>
        <p:nvSpPr>
          <p:cNvPr id="91" name="Google Shape;91;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6"/>
        <p:cNvGrpSpPr/>
        <p:nvPr/>
      </p:nvGrpSpPr>
      <p:grpSpPr>
        <a:xfrm>
          <a:off x="0" y="0"/>
          <a:ext cx="0" cy="0"/>
          <a:chOff x="0" y="0"/>
          <a:chExt cx="0" cy="0"/>
        </a:xfrm>
      </p:grpSpPr>
      <p:sp>
        <p:nvSpPr>
          <p:cNvPr id="97" name="Google Shape;97;p5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5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6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6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6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6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6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6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6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6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6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6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6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66"/>
          <p:cNvSpPr>
            <a:spLocks noGrp="1"/>
          </p:cNvSpPr>
          <p:nvPr>
            <p:ph type="pic" idx="2"/>
          </p:nvPr>
        </p:nvSpPr>
        <p:spPr>
          <a:xfrm>
            <a:off x="5183188" y="987425"/>
            <a:ext cx="6172200" cy="4873625"/>
          </a:xfrm>
          <a:prstGeom prst="rect">
            <a:avLst/>
          </a:prstGeom>
          <a:noFill/>
          <a:ln>
            <a:noFill/>
          </a:ln>
        </p:spPr>
      </p:sp>
      <p:sp>
        <p:nvSpPr>
          <p:cNvPr id="143" name="Google Shape;143;p6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6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6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6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84"/>
        <p:cNvGrpSpPr/>
        <p:nvPr/>
      </p:nvGrpSpPr>
      <p:grpSpPr>
        <a:xfrm>
          <a:off x="0" y="0"/>
          <a:ext cx="0" cy="0"/>
          <a:chOff x="0" y="0"/>
          <a:chExt cx="0" cy="0"/>
        </a:xfrm>
      </p:grpSpPr>
      <p:sp>
        <p:nvSpPr>
          <p:cNvPr id="85" name="Google Shape;85;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5.png"/><Relationship Id="rId7"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1" descr="Patrón de fondo&#10;&#10;Descripción generada automáticamente con confianza baj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164" name="Google Shape;164;p1"/>
          <p:cNvSpPr/>
          <p:nvPr/>
        </p:nvSpPr>
        <p:spPr>
          <a:xfrm>
            <a:off x="4063854" y="3605348"/>
            <a:ext cx="7396626" cy="1881052"/>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165" name="Google Shape;165;p1"/>
          <p:cNvSpPr txBox="1">
            <a:spLocks noGrp="1"/>
          </p:cNvSpPr>
          <p:nvPr>
            <p:ph type="ctrTitle"/>
          </p:nvPr>
        </p:nvSpPr>
        <p:spPr>
          <a:xfrm>
            <a:off x="4214948" y="3888895"/>
            <a:ext cx="7323909" cy="1403036"/>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4800" b="1">
                <a:solidFill>
                  <a:schemeClr val="lt1"/>
                </a:solidFill>
                <a:latin typeface="Arial"/>
                <a:ea typeface="Arial"/>
                <a:cs typeface="Arial"/>
                <a:sym typeface="Arial"/>
              </a:rPr>
              <a:t>Prueba de Hipótesis</a:t>
            </a:r>
            <a:br>
              <a:rPr lang="es-ES" sz="4800" b="1">
                <a:solidFill>
                  <a:schemeClr val="lt1"/>
                </a:solidFill>
                <a:latin typeface="Arial"/>
                <a:ea typeface="Arial"/>
                <a:cs typeface="Arial"/>
                <a:sym typeface="Arial"/>
              </a:rPr>
            </a:br>
            <a:endParaRPr sz="2800" b="1">
              <a:solidFill>
                <a:schemeClr val="lt1"/>
              </a:solidFill>
              <a:latin typeface="Arial"/>
              <a:ea typeface="Arial"/>
              <a:cs typeface="Arial"/>
              <a:sym typeface="Arial"/>
            </a:endParaRPr>
          </a:p>
        </p:txBody>
      </p:sp>
      <p:sp>
        <p:nvSpPr>
          <p:cNvPr id="167" name="Google Shape;167;p1"/>
          <p:cNvSpPr txBox="1"/>
          <p:nvPr/>
        </p:nvSpPr>
        <p:spPr>
          <a:xfrm>
            <a:off x="4279974" y="3116049"/>
            <a:ext cx="7022779"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2000"/>
              <a:buFont typeface="Arial"/>
              <a:buNone/>
            </a:pPr>
            <a:r>
              <a:rPr lang="es-ES" sz="2000" b="1" i="0" u="none" strike="noStrike" cap="none" dirty="0">
                <a:solidFill>
                  <a:srgbClr val="FFFFFF"/>
                </a:solidFill>
                <a:latin typeface="Arial"/>
                <a:ea typeface="Arial"/>
                <a:cs typeface="Arial"/>
                <a:sym typeface="Arial"/>
              </a:rPr>
              <a:t> Inferencia Estadística</a:t>
            </a:r>
            <a:endParaRPr sz="20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
          <p:cNvSpPr/>
          <p:nvPr/>
        </p:nvSpPr>
        <p:spPr>
          <a:xfrm>
            <a:off x="6068291" y="-326264"/>
            <a:ext cx="4557668" cy="5445297"/>
          </a:xfrm>
          <a:prstGeom prst="roundRect">
            <a:avLst>
              <a:gd name="adj" fmla="val 2778"/>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2"/>
          <p:cNvSpPr txBox="1"/>
          <p:nvPr/>
        </p:nvSpPr>
        <p:spPr>
          <a:xfrm>
            <a:off x="363548" y="469681"/>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Objetivos de Aprendizaje</a:t>
            </a:r>
            <a:endParaRPr sz="3200">
              <a:solidFill>
                <a:srgbClr val="7F7F7F"/>
              </a:solidFill>
              <a:latin typeface="Arial"/>
              <a:ea typeface="Arial"/>
              <a:cs typeface="Arial"/>
              <a:sym typeface="Arial"/>
            </a:endParaRPr>
          </a:p>
        </p:txBody>
      </p:sp>
      <p:sp>
        <p:nvSpPr>
          <p:cNvPr id="174" name="Google Shape;174;p2"/>
          <p:cNvSpPr txBox="1"/>
          <p:nvPr/>
        </p:nvSpPr>
        <p:spPr>
          <a:xfrm>
            <a:off x="6130552" y="1859320"/>
            <a:ext cx="4242646" cy="2862282"/>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FFFFFF"/>
              </a:buClr>
              <a:buSzPts val="1800"/>
              <a:buFont typeface="Noto Sans Symbols"/>
              <a:buChar char="⮚"/>
            </a:pPr>
            <a:r>
              <a:rPr lang="es-ES" sz="1800">
                <a:solidFill>
                  <a:srgbClr val="FFFFFF"/>
                </a:solidFill>
                <a:latin typeface="Calibri"/>
                <a:ea typeface="Calibri"/>
                <a:cs typeface="Calibri"/>
                <a:sym typeface="Calibri"/>
              </a:rPr>
              <a:t>Utilizar conceptos básicos de estadística inferencial.</a:t>
            </a:r>
            <a:endParaRPr/>
          </a:p>
          <a:p>
            <a:pPr marL="342900" marR="0" lvl="0" indent="-228600" algn="just" rtl="0">
              <a:spcBef>
                <a:spcPts val="0"/>
              </a:spcBef>
              <a:spcAft>
                <a:spcPts val="0"/>
              </a:spcAft>
              <a:buClr>
                <a:srgbClr val="FFFFFF"/>
              </a:buClr>
              <a:buSzPts val="1800"/>
              <a:buFont typeface="Noto Sans Symbols"/>
              <a:buNone/>
            </a:pPr>
            <a:endParaRPr sz="18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1800"/>
              <a:buFont typeface="Noto Sans Symbols"/>
              <a:buChar char="⮚"/>
            </a:pPr>
            <a:r>
              <a:rPr lang="es-ES" sz="1800">
                <a:solidFill>
                  <a:srgbClr val="FFFFFF"/>
                </a:solidFill>
                <a:latin typeface="Calibri"/>
                <a:ea typeface="Calibri"/>
                <a:cs typeface="Calibri"/>
                <a:sym typeface="Calibri"/>
              </a:rPr>
              <a:t>Explicar los principios básicos de la prueba de hipótesis.</a:t>
            </a:r>
            <a:endParaRPr/>
          </a:p>
          <a:p>
            <a:pPr marL="342900" marR="0" lvl="0" indent="-228600" algn="just" rtl="0">
              <a:spcBef>
                <a:spcPts val="0"/>
              </a:spcBef>
              <a:spcAft>
                <a:spcPts val="0"/>
              </a:spcAft>
              <a:buClr>
                <a:srgbClr val="FFFFFF"/>
              </a:buClr>
              <a:buSzPts val="1800"/>
              <a:buFont typeface="Noto Sans Symbols"/>
              <a:buNone/>
            </a:pPr>
            <a:endParaRPr sz="18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1800"/>
              <a:buFont typeface="Noto Sans Symbols"/>
              <a:buChar char="⮚"/>
            </a:pPr>
            <a:r>
              <a:rPr lang="es-ES" sz="1800">
                <a:solidFill>
                  <a:srgbClr val="FFFFFF"/>
                </a:solidFill>
                <a:latin typeface="Calibri"/>
                <a:ea typeface="Calibri"/>
                <a:cs typeface="Calibri"/>
                <a:sym typeface="Calibri"/>
              </a:rPr>
              <a:t>Realiza  una  prueba  de  hipótesis  para  probar  la validez de una aseveración acerca de un parámetro de la población.</a:t>
            </a:r>
            <a:endParaRPr/>
          </a:p>
        </p:txBody>
      </p:sp>
      <p:grpSp>
        <p:nvGrpSpPr>
          <p:cNvPr id="175" name="Google Shape;175;p2"/>
          <p:cNvGrpSpPr/>
          <p:nvPr/>
        </p:nvGrpSpPr>
        <p:grpSpPr>
          <a:xfrm>
            <a:off x="1425343" y="1659284"/>
            <a:ext cx="3524500" cy="3720972"/>
            <a:chOff x="1189284" y="0"/>
            <a:chExt cx="3524500" cy="3720972"/>
          </a:xfrm>
        </p:grpSpPr>
        <p:sp>
          <p:nvSpPr>
            <p:cNvPr id="176" name="Google Shape;176;p2"/>
            <p:cNvSpPr/>
            <p:nvPr/>
          </p:nvSpPr>
          <p:spPr>
            <a:xfrm>
              <a:off x="1189284" y="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
          <p:cNvSpPr txBox="1"/>
          <p:nvPr/>
        </p:nvSpPr>
        <p:spPr>
          <a:xfrm>
            <a:off x="1162050" y="160748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Contenido</a:t>
            </a:r>
            <a:endParaRPr/>
          </a:p>
        </p:txBody>
      </p:sp>
      <p:sp>
        <p:nvSpPr>
          <p:cNvPr id="184" name="Google Shape;184;p3"/>
          <p:cNvSpPr/>
          <p:nvPr/>
        </p:nvSpPr>
        <p:spPr>
          <a:xfrm>
            <a:off x="-357050" y="2575637"/>
            <a:ext cx="6910200" cy="1772400"/>
          </a:xfrm>
          <a:prstGeom prst="roundRect">
            <a:avLst>
              <a:gd name="adj" fmla="val 4466"/>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3"/>
          <p:cNvSpPr txBox="1"/>
          <p:nvPr/>
        </p:nvSpPr>
        <p:spPr>
          <a:xfrm>
            <a:off x="728009" y="2802235"/>
            <a:ext cx="7639500" cy="120060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FFFFFF"/>
              </a:buClr>
              <a:buSzPts val="1800"/>
              <a:buFont typeface="Calibri"/>
              <a:buAutoNum type="arabicPeriod"/>
            </a:pPr>
            <a:r>
              <a:rPr lang="es-ES" sz="1800">
                <a:solidFill>
                  <a:srgbClr val="FFFFFF"/>
                </a:solidFill>
                <a:latin typeface="Calibri"/>
                <a:ea typeface="Calibri"/>
                <a:cs typeface="Calibri"/>
                <a:sym typeface="Calibri"/>
              </a:rPr>
              <a:t>Significancia estadística.</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Calibri"/>
              <a:buAutoNum type="arabicPeriod"/>
            </a:pPr>
            <a:r>
              <a:rPr lang="es-ES" sz="1800">
                <a:solidFill>
                  <a:srgbClr val="FFFFFF"/>
                </a:solidFill>
                <a:latin typeface="Calibri"/>
                <a:ea typeface="Calibri"/>
                <a:cs typeface="Calibri"/>
                <a:sym typeface="Calibri"/>
              </a:rPr>
              <a:t>Prueba de hipótesis.</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Calibri"/>
              <a:buAutoNum type="arabicPeriod"/>
            </a:pPr>
            <a:r>
              <a:rPr lang="es-ES" sz="1800">
                <a:solidFill>
                  <a:srgbClr val="FFFFFF"/>
                </a:solidFill>
                <a:latin typeface="Calibri"/>
                <a:ea typeface="Calibri"/>
                <a:cs typeface="Calibri"/>
                <a:sym typeface="Calibri"/>
              </a:rPr>
              <a:t>Pasos prueba de hipótesis.</a:t>
            </a:r>
            <a:endParaRPr sz="1800">
              <a:solidFill>
                <a:schemeClr val="dk1"/>
              </a:solidFill>
              <a:latin typeface="Calibri"/>
              <a:ea typeface="Calibri"/>
              <a:cs typeface="Calibri"/>
              <a:sym typeface="Calibri"/>
            </a:endParaRPr>
          </a:p>
        </p:txBody>
      </p:sp>
      <p:sp>
        <p:nvSpPr>
          <p:cNvPr id="186" name="Google Shape;186;p3"/>
          <p:cNvSpPr/>
          <p:nvPr/>
        </p:nvSpPr>
        <p:spPr>
          <a:xfrm>
            <a:off x="7933422" y="1395816"/>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4"/>
          <p:cNvSpPr txBox="1"/>
          <p:nvPr/>
        </p:nvSpPr>
        <p:spPr>
          <a:xfrm>
            <a:off x="1392827" y="3351688"/>
            <a:ext cx="813435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Prueba de Hipótesis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fade">
                                      <p:cBhvr>
                                        <p:cTn id="7"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5"/>
          <p:cNvSpPr/>
          <p:nvPr/>
        </p:nvSpPr>
        <p:spPr>
          <a:xfrm>
            <a:off x="5807951" y="1285300"/>
            <a:ext cx="6094684" cy="4522132"/>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5"/>
          <p:cNvSpPr/>
          <p:nvPr/>
        </p:nvSpPr>
        <p:spPr>
          <a:xfrm>
            <a:off x="-289691" y="2616179"/>
            <a:ext cx="5808277" cy="2308325"/>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5"/>
          <p:cNvSpPr txBox="1"/>
          <p:nvPr/>
        </p:nvSpPr>
        <p:spPr>
          <a:xfrm>
            <a:off x="704851" y="1635873"/>
            <a:ext cx="1046337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¿Qué es una Hipótesis?</a:t>
            </a:r>
            <a:endParaRPr sz="3200">
              <a:solidFill>
                <a:srgbClr val="7F7F7F"/>
              </a:solidFill>
              <a:latin typeface="Arial"/>
              <a:ea typeface="Arial"/>
              <a:cs typeface="Arial"/>
              <a:sym typeface="Arial"/>
            </a:endParaRPr>
          </a:p>
        </p:txBody>
      </p:sp>
      <p:sp>
        <p:nvSpPr>
          <p:cNvPr id="199" name="Google Shape;199;p5"/>
          <p:cNvSpPr txBox="1"/>
          <p:nvPr/>
        </p:nvSpPr>
        <p:spPr>
          <a:xfrm>
            <a:off x="704851" y="2913803"/>
            <a:ext cx="4497114"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Una </a:t>
            </a:r>
            <a:r>
              <a:rPr lang="es-ES" sz="1800" b="1">
                <a:solidFill>
                  <a:schemeClr val="lt1"/>
                </a:solidFill>
                <a:latin typeface="Calibri"/>
                <a:ea typeface="Calibri"/>
                <a:cs typeface="Calibri"/>
                <a:sym typeface="Calibri"/>
              </a:rPr>
              <a:t>hipótesis estadística </a:t>
            </a:r>
            <a:r>
              <a:rPr lang="es-ES" sz="1800">
                <a:solidFill>
                  <a:schemeClr val="lt1"/>
                </a:solidFill>
                <a:latin typeface="Calibri"/>
                <a:ea typeface="Calibri"/>
                <a:cs typeface="Calibri"/>
                <a:sym typeface="Calibri"/>
              </a:rPr>
              <a:t>es una </a:t>
            </a:r>
            <a:r>
              <a:rPr lang="es-ES" sz="1800" b="1">
                <a:solidFill>
                  <a:schemeClr val="lt1"/>
                </a:solidFill>
                <a:latin typeface="Calibri"/>
                <a:ea typeface="Calibri"/>
                <a:cs typeface="Calibri"/>
                <a:sym typeface="Calibri"/>
              </a:rPr>
              <a:t>asunción relativa</a:t>
            </a:r>
            <a:r>
              <a:rPr lang="es-ES" sz="1800">
                <a:solidFill>
                  <a:schemeClr val="lt1"/>
                </a:solidFill>
                <a:latin typeface="Calibri"/>
                <a:ea typeface="Calibri"/>
                <a:cs typeface="Calibri"/>
                <a:sym typeface="Calibri"/>
              </a:rPr>
              <a:t> a una o varias poblaciones, respecto a una característica, que puede ser cierta o no. Nótese que </a:t>
            </a:r>
            <a:r>
              <a:rPr lang="es-ES" sz="1800" b="1">
                <a:solidFill>
                  <a:schemeClr val="lt1"/>
                </a:solidFill>
                <a:latin typeface="Calibri"/>
                <a:ea typeface="Calibri"/>
                <a:cs typeface="Calibri"/>
                <a:sym typeface="Calibri"/>
              </a:rPr>
              <a:t>una hipótesis no siempre es correcta</a:t>
            </a:r>
            <a:r>
              <a:rPr lang="es-ES" sz="1800">
                <a:solidFill>
                  <a:schemeClr val="lt1"/>
                </a:solidFill>
                <a:latin typeface="Calibri"/>
                <a:ea typeface="Calibri"/>
                <a:cs typeface="Calibri"/>
                <a:sym typeface="Calibri"/>
              </a:rPr>
              <a:t>, es una conjetura que </a:t>
            </a:r>
            <a:r>
              <a:rPr lang="es-ES" sz="1800" b="1">
                <a:solidFill>
                  <a:schemeClr val="lt1"/>
                </a:solidFill>
                <a:latin typeface="Calibri"/>
                <a:ea typeface="Calibri"/>
                <a:cs typeface="Calibri"/>
                <a:sym typeface="Calibri"/>
              </a:rPr>
              <a:t>debe ser comprobada mediante pruebas</a:t>
            </a:r>
            <a:r>
              <a:rPr lang="es-ES" sz="1800">
                <a:solidFill>
                  <a:schemeClr val="lt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lt1"/>
              </a:solidFill>
              <a:latin typeface="Arial"/>
              <a:ea typeface="Arial"/>
              <a:cs typeface="Arial"/>
              <a:sym typeface="Arial"/>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200" name="Google Shape;200;p5"/>
          <p:cNvPicPr preferRelativeResize="0"/>
          <p:nvPr/>
        </p:nvPicPr>
        <p:blipFill rotWithShape="1">
          <a:blip r:embed="rId3">
            <a:alphaModFix/>
          </a:blip>
          <a:srcRect/>
          <a:stretch/>
        </p:blipFill>
        <p:spPr>
          <a:xfrm>
            <a:off x="6029720" y="1682833"/>
            <a:ext cx="5651147" cy="372706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5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6"/>
          <p:cNvSpPr/>
          <p:nvPr/>
        </p:nvSpPr>
        <p:spPr>
          <a:xfrm>
            <a:off x="5807951" y="1285300"/>
            <a:ext cx="6094684" cy="4522132"/>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6"/>
          <p:cNvSpPr/>
          <p:nvPr/>
        </p:nvSpPr>
        <p:spPr>
          <a:xfrm>
            <a:off x="-277275" y="3081748"/>
            <a:ext cx="5802985" cy="2725684"/>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6"/>
          <p:cNvSpPr txBox="1"/>
          <p:nvPr/>
        </p:nvSpPr>
        <p:spPr>
          <a:xfrm>
            <a:off x="542930" y="153265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Tipos de Hipótesis</a:t>
            </a:r>
            <a:endParaRPr sz="3200">
              <a:solidFill>
                <a:srgbClr val="7F7F7F"/>
              </a:solidFill>
              <a:latin typeface="Arial"/>
              <a:ea typeface="Arial"/>
              <a:cs typeface="Arial"/>
              <a:sym typeface="Arial"/>
            </a:endParaRPr>
          </a:p>
        </p:txBody>
      </p:sp>
      <p:sp>
        <p:nvSpPr>
          <p:cNvPr id="208" name="Google Shape;208;p6"/>
          <p:cNvSpPr txBox="1"/>
          <p:nvPr/>
        </p:nvSpPr>
        <p:spPr>
          <a:xfrm>
            <a:off x="541739" y="3292577"/>
            <a:ext cx="4497114"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Bajo el dominio de las ciencias sociales, la Hipótesis se caracteriza en dos formas. Cuando no existe ningún factor que pueda establecer una relación entre dos variables, se dice que es una </a:t>
            </a:r>
            <a:r>
              <a:rPr lang="es-ES" sz="1800" b="1">
                <a:solidFill>
                  <a:schemeClr val="lt1"/>
                </a:solidFill>
                <a:latin typeface="Calibri"/>
                <a:ea typeface="Calibri"/>
                <a:cs typeface="Calibri"/>
                <a:sym typeface="Calibri"/>
              </a:rPr>
              <a:t>hipótesis nula</a:t>
            </a:r>
            <a:r>
              <a:rPr lang="es-ES" sz="1800">
                <a:solidFill>
                  <a:schemeClr val="lt1"/>
                </a:solidFill>
                <a:latin typeface="Calibri"/>
                <a:ea typeface="Calibri"/>
                <a:cs typeface="Calibri"/>
                <a:sym typeface="Calibri"/>
              </a:rPr>
              <a:t>. Si un factor predice la relación existente entre las variables, se denominará </a:t>
            </a:r>
            <a:r>
              <a:rPr lang="es-ES" sz="1800" b="1">
                <a:solidFill>
                  <a:schemeClr val="lt1"/>
                </a:solidFill>
                <a:latin typeface="Calibri"/>
                <a:ea typeface="Calibri"/>
                <a:cs typeface="Calibri"/>
                <a:sym typeface="Calibri"/>
              </a:rPr>
              <a:t>hipótesis alternativa</a:t>
            </a:r>
            <a:r>
              <a:rPr lang="es-ES" sz="1800">
                <a:solidFill>
                  <a:schemeClr val="lt1"/>
                </a:solidFill>
                <a:latin typeface="Calibri"/>
                <a:ea typeface="Calibri"/>
                <a:cs typeface="Calibri"/>
                <a:sym typeface="Calibri"/>
              </a:rPr>
              <a:t>.</a:t>
            </a:r>
            <a:endParaRPr sz="1800">
              <a:solidFill>
                <a:schemeClr val="lt1"/>
              </a:solidFill>
              <a:latin typeface="Arial"/>
              <a:ea typeface="Arial"/>
              <a:cs typeface="Arial"/>
              <a:sym typeface="Arial"/>
            </a:endParaRPr>
          </a:p>
        </p:txBody>
      </p:sp>
      <p:pic>
        <p:nvPicPr>
          <p:cNvPr id="209" name="Google Shape;209;p6"/>
          <p:cNvPicPr preferRelativeResize="0"/>
          <p:nvPr/>
        </p:nvPicPr>
        <p:blipFill rotWithShape="1">
          <a:blip r:embed="rId3">
            <a:alphaModFix/>
          </a:blip>
          <a:srcRect l="14320" t="7571" r="16790" b="9467"/>
          <a:stretch/>
        </p:blipFill>
        <p:spPr>
          <a:xfrm>
            <a:off x="7028916" y="1533314"/>
            <a:ext cx="3624167" cy="3273318"/>
          </a:xfrm>
          <a:prstGeom prst="rect">
            <a:avLst/>
          </a:prstGeom>
          <a:noFill/>
          <a:ln>
            <a:noFill/>
          </a:ln>
        </p:spPr>
      </p:pic>
      <p:sp>
        <p:nvSpPr>
          <p:cNvPr id="210" name="Google Shape;210;p6"/>
          <p:cNvSpPr txBox="1"/>
          <p:nvPr/>
        </p:nvSpPr>
        <p:spPr>
          <a:xfrm>
            <a:off x="6372433" y="4834036"/>
            <a:ext cx="2556934"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No existe ningún factor que pueda establecer una relación entre dos variables</a:t>
            </a:r>
            <a:endParaRPr sz="1400">
              <a:solidFill>
                <a:schemeClr val="dk1"/>
              </a:solidFill>
              <a:latin typeface="Calibri"/>
              <a:ea typeface="Calibri"/>
              <a:cs typeface="Calibri"/>
              <a:sym typeface="Calibri"/>
            </a:endParaRPr>
          </a:p>
        </p:txBody>
      </p:sp>
      <p:sp>
        <p:nvSpPr>
          <p:cNvPr id="211" name="Google Shape;211;p6"/>
          <p:cNvSpPr txBox="1"/>
          <p:nvPr/>
        </p:nvSpPr>
        <p:spPr>
          <a:xfrm>
            <a:off x="8976416" y="4806632"/>
            <a:ext cx="2458181"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Existe un factor que predice la relación existente entre las variables</a:t>
            </a:r>
            <a:endParaRPr sz="1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7"/>
          <p:cNvSpPr/>
          <p:nvPr/>
        </p:nvSpPr>
        <p:spPr>
          <a:xfrm>
            <a:off x="2102069" y="2542191"/>
            <a:ext cx="7987862" cy="3891790"/>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7"/>
          <p:cNvSpPr/>
          <p:nvPr/>
        </p:nvSpPr>
        <p:spPr>
          <a:xfrm>
            <a:off x="457200" y="1135588"/>
            <a:ext cx="11277600" cy="1234327"/>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7"/>
          <p:cNvSpPr txBox="1"/>
          <p:nvPr/>
        </p:nvSpPr>
        <p:spPr>
          <a:xfrm>
            <a:off x="704851" y="500377"/>
            <a:ext cx="10782299" cy="455295"/>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Hipótesis Nula</a:t>
            </a:r>
            <a:endParaRPr sz="3200">
              <a:solidFill>
                <a:srgbClr val="7F7F7F"/>
              </a:solidFill>
              <a:latin typeface="Arial"/>
              <a:ea typeface="Arial"/>
              <a:cs typeface="Arial"/>
              <a:sym typeface="Arial"/>
            </a:endParaRPr>
          </a:p>
        </p:txBody>
      </p:sp>
      <p:sp>
        <p:nvSpPr>
          <p:cNvPr id="219" name="Google Shape;219;p7"/>
          <p:cNvSpPr txBox="1"/>
          <p:nvPr/>
        </p:nvSpPr>
        <p:spPr>
          <a:xfrm>
            <a:off x="704851" y="1266669"/>
            <a:ext cx="10782300" cy="923330"/>
          </a:xfrm>
          <a:prstGeom prst="rect">
            <a:avLst/>
          </a:prstGeom>
          <a:blipFill rotWithShape="1">
            <a:blip r:embed="rId3">
              <a:alphaModFix/>
            </a:blip>
            <a:stretch>
              <a:fillRect l="-507" t="-3971" r="-508" b="-99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grpSp>
        <p:nvGrpSpPr>
          <p:cNvPr id="12" name="Grupo 11">
            <a:extLst>
              <a:ext uri="{FF2B5EF4-FFF2-40B4-BE49-F238E27FC236}">
                <a16:creationId xmlns:a16="http://schemas.microsoft.com/office/drawing/2014/main" id="{22CC8030-D291-4215-99CE-B199E8EA2C8B}"/>
              </a:ext>
            </a:extLst>
          </p:cNvPr>
          <p:cNvGrpSpPr/>
          <p:nvPr/>
        </p:nvGrpSpPr>
        <p:grpSpPr>
          <a:xfrm>
            <a:off x="2310694" y="2742253"/>
            <a:ext cx="7570611" cy="3491665"/>
            <a:chOff x="2310694" y="2742253"/>
            <a:chExt cx="7570611" cy="3491665"/>
          </a:xfrm>
        </p:grpSpPr>
        <p:pic>
          <p:nvPicPr>
            <p:cNvPr id="220" name="Google Shape;220;p7"/>
            <p:cNvPicPr preferRelativeResize="0"/>
            <p:nvPr/>
          </p:nvPicPr>
          <p:blipFill rotWithShape="1">
            <a:blip r:embed="rId4">
              <a:alphaModFix/>
            </a:blip>
            <a:srcRect t="20980" b="9837"/>
            <a:stretch/>
          </p:blipFill>
          <p:spPr>
            <a:xfrm>
              <a:off x="2310694" y="2742253"/>
              <a:ext cx="7570611" cy="3491665"/>
            </a:xfrm>
            <a:prstGeom prst="rect">
              <a:avLst/>
            </a:prstGeom>
            <a:noFill/>
            <a:ln>
              <a:noFill/>
            </a:ln>
          </p:spPr>
        </p:pic>
        <p:grpSp>
          <p:nvGrpSpPr>
            <p:cNvPr id="5" name="Grupo 4">
              <a:extLst>
                <a:ext uri="{FF2B5EF4-FFF2-40B4-BE49-F238E27FC236}">
                  <a16:creationId xmlns:a16="http://schemas.microsoft.com/office/drawing/2014/main" id="{7CDA0263-C290-53D9-86FD-454FE43758B6}"/>
                </a:ext>
              </a:extLst>
            </p:cNvPr>
            <p:cNvGrpSpPr/>
            <p:nvPr/>
          </p:nvGrpSpPr>
          <p:grpSpPr>
            <a:xfrm>
              <a:off x="2960075" y="3179884"/>
              <a:ext cx="1267558" cy="578826"/>
              <a:chOff x="2960075" y="3179884"/>
              <a:chExt cx="1267558" cy="578826"/>
            </a:xfrm>
          </p:grpSpPr>
          <p:sp>
            <p:nvSpPr>
              <p:cNvPr id="3" name="Rectángulo 2">
                <a:extLst>
                  <a:ext uri="{FF2B5EF4-FFF2-40B4-BE49-F238E27FC236}">
                    <a16:creationId xmlns:a16="http://schemas.microsoft.com/office/drawing/2014/main" id="{B006126A-475D-8A68-E93F-2370FC92AB71}"/>
                  </a:ext>
                </a:extLst>
              </p:cNvPr>
              <p:cNvSpPr/>
              <p:nvPr/>
            </p:nvSpPr>
            <p:spPr>
              <a:xfrm>
                <a:off x="3040672" y="3179884"/>
                <a:ext cx="1106365" cy="1538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796D7404-4BFB-2457-25EF-9C7E73905B6C}"/>
                  </a:ext>
                </a:extLst>
              </p:cNvPr>
              <p:cNvSpPr/>
              <p:nvPr/>
            </p:nvSpPr>
            <p:spPr>
              <a:xfrm>
                <a:off x="2960075" y="3333749"/>
                <a:ext cx="1267558" cy="424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2" name="CuadroTexto 1">
              <a:extLst>
                <a:ext uri="{FF2B5EF4-FFF2-40B4-BE49-F238E27FC236}">
                  <a16:creationId xmlns:a16="http://schemas.microsoft.com/office/drawing/2014/main" id="{E095EF70-CF84-E77D-C9F9-2A567CE3A08C}"/>
                </a:ext>
              </a:extLst>
            </p:cNvPr>
            <p:cNvSpPr txBox="1"/>
            <p:nvPr/>
          </p:nvSpPr>
          <p:spPr>
            <a:xfrm>
              <a:off x="2836985" y="3121687"/>
              <a:ext cx="150767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100" dirty="0">
                  <a:solidFill>
                    <a:srgbClr val="595959"/>
                  </a:solidFill>
                </a:rPr>
                <a:t>Los gatos no muestran preferencia por comida basado en su forma</a:t>
              </a:r>
            </a:p>
          </p:txBody>
        </p:sp>
        <p:sp>
          <p:nvSpPr>
            <p:cNvPr id="9" name="Rectángulo 8">
              <a:extLst>
                <a:ext uri="{FF2B5EF4-FFF2-40B4-BE49-F238E27FC236}">
                  <a16:creationId xmlns:a16="http://schemas.microsoft.com/office/drawing/2014/main" id="{79BAB835-5DDA-A452-1C1C-73368DB0192D}"/>
                </a:ext>
              </a:extLst>
            </p:cNvPr>
            <p:cNvSpPr/>
            <p:nvPr/>
          </p:nvSpPr>
          <p:spPr>
            <a:xfrm>
              <a:off x="5451230" y="3216518"/>
              <a:ext cx="1348153" cy="4689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25B693D8-678B-66B1-EAE0-5BBF34121C65}"/>
                </a:ext>
              </a:extLst>
            </p:cNvPr>
            <p:cNvSpPr txBox="1"/>
            <p:nvPr/>
          </p:nvSpPr>
          <p:spPr>
            <a:xfrm>
              <a:off x="5298831" y="3121686"/>
              <a:ext cx="1646885"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100" dirty="0">
                  <a:solidFill>
                    <a:srgbClr val="595959"/>
                  </a:solidFill>
                </a:rPr>
                <a:t>El crecimiento de plantas no es afectado por luz de color</a:t>
              </a:r>
            </a:p>
          </p:txBody>
        </p:sp>
        <p:sp>
          <p:nvSpPr>
            <p:cNvPr id="11" name="Rectángulo 10">
              <a:extLst>
                <a:ext uri="{FF2B5EF4-FFF2-40B4-BE49-F238E27FC236}">
                  <a16:creationId xmlns:a16="http://schemas.microsoft.com/office/drawing/2014/main" id="{14219FB1-AC98-32D1-4EBD-4089772FE66B}"/>
                </a:ext>
              </a:extLst>
            </p:cNvPr>
            <p:cNvSpPr/>
            <p:nvPr/>
          </p:nvSpPr>
          <p:spPr>
            <a:xfrm>
              <a:off x="8066941" y="3179884"/>
              <a:ext cx="1230923" cy="4982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F10FABE0-9201-E439-8771-8887532DA9C9}"/>
                </a:ext>
              </a:extLst>
            </p:cNvPr>
            <p:cNvSpPr txBox="1"/>
            <p:nvPr/>
          </p:nvSpPr>
          <p:spPr>
            <a:xfrm>
              <a:off x="7929196" y="3180301"/>
              <a:ext cx="1500347"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100" dirty="0">
                  <a:solidFill>
                    <a:srgbClr val="595959"/>
                  </a:solidFill>
                </a:rPr>
                <a:t>La edad no tiene efecto en la habilidad musical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5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8"/>
          <p:cNvSpPr/>
          <p:nvPr/>
        </p:nvSpPr>
        <p:spPr>
          <a:xfrm>
            <a:off x="1770993" y="2507644"/>
            <a:ext cx="8650014" cy="3352462"/>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8"/>
          <p:cNvSpPr/>
          <p:nvPr/>
        </p:nvSpPr>
        <p:spPr>
          <a:xfrm>
            <a:off x="453180" y="1181785"/>
            <a:ext cx="11277600" cy="982584"/>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8"/>
          <p:cNvSpPr txBox="1"/>
          <p:nvPr/>
        </p:nvSpPr>
        <p:spPr>
          <a:xfrm>
            <a:off x="700831" y="408961"/>
            <a:ext cx="10782300" cy="577413"/>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Hipótesis Nula</a:t>
            </a:r>
            <a:endParaRPr sz="3200">
              <a:solidFill>
                <a:srgbClr val="7F7F7F"/>
              </a:solidFill>
              <a:latin typeface="Arial"/>
              <a:ea typeface="Arial"/>
              <a:cs typeface="Arial"/>
              <a:sym typeface="Arial"/>
            </a:endParaRPr>
          </a:p>
        </p:txBody>
      </p:sp>
      <p:sp>
        <p:nvSpPr>
          <p:cNvPr id="228" name="Google Shape;228;p8"/>
          <p:cNvSpPr txBox="1"/>
          <p:nvPr/>
        </p:nvSpPr>
        <p:spPr>
          <a:xfrm>
            <a:off x="700831" y="1312865"/>
            <a:ext cx="1078230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escribir una hipótesis nula, primero hay que partir haciéndose una pregunta. Redactándolo de forma que se asuma que no hay relación entre las variables.</a:t>
            </a:r>
            <a:endParaRPr/>
          </a:p>
        </p:txBody>
      </p:sp>
      <p:graphicFrame>
        <p:nvGraphicFramePr>
          <p:cNvPr id="229" name="Google Shape;229;p8"/>
          <p:cNvGraphicFramePr/>
          <p:nvPr/>
        </p:nvGraphicFramePr>
        <p:xfrm>
          <a:off x="2032000" y="2703055"/>
          <a:ext cx="8128000" cy="2961700"/>
        </p:xfrm>
        <a:graphic>
          <a:graphicData uri="http://schemas.openxmlformats.org/drawingml/2006/table">
            <a:tbl>
              <a:tblPr firstRow="1" bandRow="1">
                <a:noFill/>
                <a:tableStyleId>{20780FF4-66EB-4A62-9647-4E2A51CB9C1C}</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s-ES" sz="1400" u="none" strike="noStrike" cap="none">
                          <a:solidFill>
                            <a:schemeClr val="lt1"/>
                          </a:solidFill>
                        </a:rPr>
                        <a:t>Pregunta</a:t>
                      </a:r>
                      <a:endParaRPr/>
                    </a:p>
                  </a:txBody>
                  <a:tcPr marL="91450" marR="91450" marT="45725" marB="45725">
                    <a:solidFill>
                      <a:srgbClr val="7F7F7F"/>
                    </a:solidFill>
                  </a:tcPr>
                </a:tc>
                <a:tc>
                  <a:txBody>
                    <a:bodyPr/>
                    <a:lstStyle/>
                    <a:p>
                      <a:pPr marL="0" marR="0" lvl="0" indent="0" algn="l" rtl="0">
                        <a:spcBef>
                          <a:spcPts val="0"/>
                        </a:spcBef>
                        <a:spcAft>
                          <a:spcPts val="0"/>
                        </a:spcAft>
                        <a:buNone/>
                      </a:pPr>
                      <a:r>
                        <a:rPr lang="es-ES" sz="1400">
                          <a:solidFill>
                            <a:schemeClr val="lt1"/>
                          </a:solidFill>
                        </a:rPr>
                        <a:t>Hipótesis Nula</a:t>
                      </a:r>
                      <a:endParaRPr/>
                    </a:p>
                  </a:txBody>
                  <a:tcPr marL="91450" marR="91450" marT="45725" marB="45725">
                    <a:solidFill>
                      <a:srgbClr val="7F7F7F"/>
                    </a:solid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s-ES" sz="1400">
                          <a:solidFill>
                            <a:srgbClr val="262626"/>
                          </a:solidFill>
                        </a:rPr>
                        <a:t>¿Son los jóvenes mejores en matemática que los adultos?</a:t>
                      </a:r>
                      <a:endParaRPr/>
                    </a:p>
                  </a:txBody>
                  <a:tcPr marL="91450" marR="91450" marT="45725" marB="45725">
                    <a:solidFill>
                      <a:srgbClr val="E9EAEC"/>
                    </a:solidFill>
                  </a:tcPr>
                </a:tc>
                <a:tc>
                  <a:txBody>
                    <a:bodyPr/>
                    <a:lstStyle/>
                    <a:p>
                      <a:pPr marL="0" marR="0" lvl="0" indent="0" algn="l" rtl="0">
                        <a:spcBef>
                          <a:spcPts val="0"/>
                        </a:spcBef>
                        <a:spcAft>
                          <a:spcPts val="0"/>
                        </a:spcAft>
                        <a:buNone/>
                      </a:pPr>
                      <a:r>
                        <a:rPr lang="es-ES" sz="1400">
                          <a:solidFill>
                            <a:srgbClr val="262626"/>
                          </a:solidFill>
                        </a:rPr>
                        <a:t>La </a:t>
                      </a:r>
                      <a:r>
                        <a:rPr lang="es-ES" sz="1400" b="1">
                          <a:solidFill>
                            <a:srgbClr val="262626"/>
                          </a:solidFill>
                        </a:rPr>
                        <a:t>edad no tiene efecto </a:t>
                      </a:r>
                      <a:r>
                        <a:rPr lang="es-ES" sz="1400">
                          <a:solidFill>
                            <a:srgbClr val="262626"/>
                          </a:solidFill>
                        </a:rPr>
                        <a:t>en la habilidad matemática</a:t>
                      </a:r>
                      <a:endParaRPr/>
                    </a:p>
                  </a:txBody>
                  <a:tcPr marL="91450" marR="91450" marT="45725" marB="45725">
                    <a:solidFill>
                      <a:srgbClr val="E9EAEC"/>
                    </a:solidFill>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s-ES" sz="1400">
                          <a:solidFill>
                            <a:srgbClr val="262626"/>
                          </a:solidFill>
                        </a:rPr>
                        <a:t>¿Reduce el consumo diario de aspirina el riesgo de tener un ataque al corazón?</a:t>
                      </a:r>
                      <a:endParaRPr/>
                    </a:p>
                  </a:txBody>
                  <a:tcPr marL="91450" marR="91450" marT="45725" marB="45725">
                    <a:solidFill>
                      <a:srgbClr val="BFBFBF"/>
                    </a:solidFill>
                  </a:tcPr>
                </a:tc>
                <a:tc>
                  <a:txBody>
                    <a:bodyPr/>
                    <a:lstStyle/>
                    <a:p>
                      <a:pPr marL="0" marR="0" lvl="0" indent="0" algn="l" rtl="0">
                        <a:spcBef>
                          <a:spcPts val="0"/>
                        </a:spcBef>
                        <a:spcAft>
                          <a:spcPts val="0"/>
                        </a:spcAft>
                        <a:buNone/>
                      </a:pPr>
                      <a:r>
                        <a:rPr lang="es-ES" sz="1400">
                          <a:solidFill>
                            <a:srgbClr val="262626"/>
                          </a:solidFill>
                        </a:rPr>
                        <a:t>El consumo diario de aspirina </a:t>
                      </a:r>
                      <a:r>
                        <a:rPr lang="es-ES" sz="1400" b="1">
                          <a:solidFill>
                            <a:srgbClr val="262626"/>
                          </a:solidFill>
                        </a:rPr>
                        <a:t>no afecta el riesgo </a:t>
                      </a:r>
                      <a:r>
                        <a:rPr lang="es-ES" sz="1400">
                          <a:solidFill>
                            <a:srgbClr val="262626"/>
                          </a:solidFill>
                        </a:rPr>
                        <a:t>de ataque al corazón</a:t>
                      </a:r>
                      <a:endParaRPr/>
                    </a:p>
                  </a:txBody>
                  <a:tcPr marL="91450" marR="91450" marT="45725" marB="45725">
                    <a:solidFill>
                      <a:srgbClr val="BFBFBF"/>
                    </a:solidFill>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s-ES" sz="1400">
                          <a:solidFill>
                            <a:srgbClr val="262626"/>
                          </a:solidFill>
                        </a:rPr>
                        <a:t>¿Usan los adolescentes los teléfonos móviles para acceder a internet más que los adultos?</a:t>
                      </a:r>
                      <a:endParaRPr/>
                    </a:p>
                  </a:txBody>
                  <a:tcPr marL="91450" marR="91450" marT="45725" marB="45725">
                    <a:solidFill>
                      <a:srgbClr val="E9EAEC"/>
                    </a:solidFill>
                  </a:tcPr>
                </a:tc>
                <a:tc>
                  <a:txBody>
                    <a:bodyPr/>
                    <a:lstStyle/>
                    <a:p>
                      <a:pPr marL="0" marR="0" lvl="0" indent="0" algn="l" rtl="0">
                        <a:spcBef>
                          <a:spcPts val="0"/>
                        </a:spcBef>
                        <a:spcAft>
                          <a:spcPts val="0"/>
                        </a:spcAft>
                        <a:buNone/>
                      </a:pPr>
                      <a:r>
                        <a:rPr lang="es-ES" sz="1400">
                          <a:solidFill>
                            <a:srgbClr val="262626"/>
                          </a:solidFill>
                        </a:rPr>
                        <a:t>La </a:t>
                      </a:r>
                      <a:r>
                        <a:rPr lang="es-ES" sz="1400" b="1">
                          <a:solidFill>
                            <a:srgbClr val="262626"/>
                          </a:solidFill>
                        </a:rPr>
                        <a:t>edad no tiene efecto </a:t>
                      </a:r>
                      <a:r>
                        <a:rPr lang="es-ES" sz="1400">
                          <a:solidFill>
                            <a:srgbClr val="262626"/>
                          </a:solidFill>
                        </a:rPr>
                        <a:t>en cómo el teléfono móvil es usado para acceder a internet</a:t>
                      </a:r>
                      <a:endParaRPr/>
                    </a:p>
                  </a:txBody>
                  <a:tcPr marL="91450" marR="91450" marT="45725" marB="45725">
                    <a:solidFill>
                      <a:srgbClr val="E9EAEC"/>
                    </a:solidFill>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s-ES" sz="1400">
                          <a:solidFill>
                            <a:srgbClr val="262626"/>
                          </a:solidFill>
                        </a:rPr>
                        <a:t>¿Les importa a los gatos el color de su comida?</a:t>
                      </a:r>
                      <a:endParaRPr/>
                    </a:p>
                  </a:txBody>
                  <a:tcPr marL="91450" marR="91450" marT="45725" marB="45725">
                    <a:solidFill>
                      <a:srgbClr val="BFBFBF"/>
                    </a:solidFill>
                  </a:tcPr>
                </a:tc>
                <a:tc>
                  <a:txBody>
                    <a:bodyPr/>
                    <a:lstStyle/>
                    <a:p>
                      <a:pPr marL="0" marR="0" lvl="0" indent="0" algn="l" rtl="0">
                        <a:spcBef>
                          <a:spcPts val="0"/>
                        </a:spcBef>
                        <a:spcAft>
                          <a:spcPts val="0"/>
                        </a:spcAft>
                        <a:buNone/>
                      </a:pPr>
                      <a:r>
                        <a:rPr lang="es-ES" sz="1400">
                          <a:solidFill>
                            <a:srgbClr val="262626"/>
                          </a:solidFill>
                        </a:rPr>
                        <a:t>Los </a:t>
                      </a:r>
                      <a:r>
                        <a:rPr lang="es-ES" sz="1400" b="1">
                          <a:solidFill>
                            <a:srgbClr val="262626"/>
                          </a:solidFill>
                        </a:rPr>
                        <a:t>gatos no expresan preferencia </a:t>
                      </a:r>
                      <a:r>
                        <a:rPr lang="es-ES" sz="1400">
                          <a:solidFill>
                            <a:srgbClr val="262626"/>
                          </a:solidFill>
                        </a:rPr>
                        <a:t>de comida basado en su color</a:t>
                      </a:r>
                      <a:endParaRPr/>
                    </a:p>
                  </a:txBody>
                  <a:tcPr marL="91450" marR="91450" marT="45725" marB="45725">
                    <a:solidFill>
                      <a:srgbClr val="BFBFBF"/>
                    </a:solidFill>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s-ES" sz="1400">
                          <a:solidFill>
                            <a:srgbClr val="262626"/>
                          </a:solidFill>
                        </a:rPr>
                        <a:t>¿Alivia el dolor marcar corteza de sauce?</a:t>
                      </a:r>
                      <a:endParaRPr/>
                    </a:p>
                  </a:txBody>
                  <a:tcPr marL="91450" marR="91450" marT="45725" marB="45725">
                    <a:solidFill>
                      <a:srgbClr val="E9EAEC"/>
                    </a:solidFill>
                  </a:tcPr>
                </a:tc>
                <a:tc>
                  <a:txBody>
                    <a:bodyPr/>
                    <a:lstStyle/>
                    <a:p>
                      <a:pPr marL="0" marR="0" lvl="0" indent="0" algn="l" rtl="0">
                        <a:spcBef>
                          <a:spcPts val="0"/>
                        </a:spcBef>
                        <a:spcAft>
                          <a:spcPts val="0"/>
                        </a:spcAft>
                        <a:buNone/>
                      </a:pPr>
                      <a:r>
                        <a:rPr lang="es-ES" sz="1400" b="1">
                          <a:solidFill>
                            <a:srgbClr val="262626"/>
                          </a:solidFill>
                        </a:rPr>
                        <a:t>No hay diferencia </a:t>
                      </a:r>
                      <a:r>
                        <a:rPr lang="es-ES" sz="1400">
                          <a:solidFill>
                            <a:srgbClr val="262626"/>
                          </a:solidFill>
                        </a:rPr>
                        <a:t>en el alivio del dolor después de masticar corteza de sauce versus tomar un placebo</a:t>
                      </a:r>
                      <a:endParaRPr sz="1400">
                        <a:solidFill>
                          <a:srgbClr val="262626"/>
                        </a:solidFill>
                      </a:endParaRPr>
                    </a:p>
                  </a:txBody>
                  <a:tcPr marL="91450" marR="91450" marT="45725" marB="45725">
                    <a:solidFill>
                      <a:srgbClr val="E9EAEC"/>
                    </a:solidFill>
                  </a:tcPr>
                </a:tc>
                <a:extLst>
                  <a:ext uri="{0D108BD9-81ED-4DB2-BD59-A6C34878D82A}">
                    <a16:rowId xmlns:a16="http://schemas.microsoft.com/office/drawing/2014/main" val="10005"/>
                  </a:ext>
                </a:extLst>
              </a:tr>
            </a:tbl>
          </a:graphicData>
        </a:graphic>
      </p:graphicFrame>
      <p:sp>
        <p:nvSpPr>
          <p:cNvPr id="230" name="Google Shape;230;p8"/>
          <p:cNvSpPr txBox="1"/>
          <p:nvPr/>
        </p:nvSpPr>
        <p:spPr>
          <a:xfrm>
            <a:off x="700831" y="6203381"/>
            <a:ext cx="10786319" cy="307777"/>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595959"/>
                </a:solidFill>
                <a:latin typeface="Calibri"/>
                <a:ea typeface="Calibri"/>
                <a:cs typeface="Calibri"/>
                <a:sym typeface="Calibri"/>
              </a:rPr>
              <a:t>Helmenstine, Anne Marie, Ph.D. "Null Hypothesis Examples." ThoughtCo, Apr. 5, 2023, thoughtco.com/null-hypothesis-examples-609097.</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7"/>
                                        </p:tgtEl>
                                        <p:attrNameLst>
                                          <p:attrName>style.visibility</p:attrName>
                                        </p:attrNameLst>
                                      </p:cBhvr>
                                      <p:to>
                                        <p:strVal val="visible"/>
                                      </p:to>
                                    </p:set>
                                    <p:animEffect transition="in" filter="fade">
                                      <p:cBhvr>
                                        <p:cTn id="7"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9"/>
          <p:cNvSpPr/>
          <p:nvPr/>
        </p:nvSpPr>
        <p:spPr>
          <a:xfrm>
            <a:off x="6573537" y="1522163"/>
            <a:ext cx="4897166" cy="4522132"/>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9"/>
          <p:cNvSpPr/>
          <p:nvPr/>
        </p:nvSpPr>
        <p:spPr>
          <a:xfrm>
            <a:off x="-270641" y="1522163"/>
            <a:ext cx="6138041" cy="4522131"/>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7" name="Google Shape;237;p9"/>
          <p:cNvSpPr txBox="1"/>
          <p:nvPr/>
        </p:nvSpPr>
        <p:spPr>
          <a:xfrm>
            <a:off x="673407" y="1809492"/>
            <a:ext cx="4746039" cy="39703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PROBLEMA</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¿Cuáles son los beneficios para la salud de comer una manzana al día?</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HIPÓTESIS</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El aumento del consumo de manzana en los mayores de 60 años </a:t>
            </a:r>
            <a:r>
              <a:rPr lang="es-ES" sz="1800" b="1">
                <a:solidFill>
                  <a:schemeClr val="lt1"/>
                </a:solidFill>
                <a:latin typeface="Calibri"/>
                <a:ea typeface="Calibri"/>
                <a:cs typeface="Calibri"/>
                <a:sym typeface="Calibri"/>
              </a:rPr>
              <a:t>dará como resultado </a:t>
            </a:r>
            <a:r>
              <a:rPr lang="es-ES" sz="1800">
                <a:solidFill>
                  <a:schemeClr val="lt1"/>
                </a:solidFill>
                <a:latin typeface="Calibri"/>
                <a:ea typeface="Calibri"/>
                <a:cs typeface="Calibri"/>
                <a:sym typeface="Calibri"/>
              </a:rPr>
              <a:t>una disminución de la frecuencia de las visitas al médico.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HIPÓTESIS NULA</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El aumento del consumo de manzana en mayores de 60 años</a:t>
            </a:r>
            <a:r>
              <a:rPr lang="es-ES" sz="1800" b="1">
                <a:solidFill>
                  <a:schemeClr val="lt1"/>
                </a:solidFill>
                <a:latin typeface="Calibri"/>
                <a:ea typeface="Calibri"/>
                <a:cs typeface="Calibri"/>
                <a:sym typeface="Calibri"/>
              </a:rPr>
              <a:t> no tendrá ningún efecto </a:t>
            </a:r>
            <a:r>
              <a:rPr lang="es-ES" sz="1800">
                <a:solidFill>
                  <a:schemeClr val="lt1"/>
                </a:solidFill>
                <a:latin typeface="Calibri"/>
                <a:ea typeface="Calibri"/>
                <a:cs typeface="Calibri"/>
                <a:sym typeface="Calibri"/>
              </a:rPr>
              <a:t>en la frecuencia de las visitas al médico.</a:t>
            </a:r>
            <a:endParaRPr sz="1800">
              <a:solidFill>
                <a:schemeClr val="lt1"/>
              </a:solidFill>
              <a:latin typeface="Arial"/>
              <a:ea typeface="Arial"/>
              <a:cs typeface="Arial"/>
              <a:sym typeface="Arial"/>
            </a:endParaRPr>
          </a:p>
        </p:txBody>
      </p:sp>
      <p:pic>
        <p:nvPicPr>
          <p:cNvPr id="238" name="Google Shape;238;p9"/>
          <p:cNvPicPr preferRelativeResize="0"/>
          <p:nvPr/>
        </p:nvPicPr>
        <p:blipFill rotWithShape="1">
          <a:blip r:embed="rId3">
            <a:alphaModFix/>
          </a:blip>
          <a:srcRect l="14320" t="7571" r="16790" b="9467"/>
          <a:stretch/>
        </p:blipFill>
        <p:spPr>
          <a:xfrm>
            <a:off x="6786486" y="1764023"/>
            <a:ext cx="4471267" cy="4038412"/>
          </a:xfrm>
          <a:prstGeom prst="rect">
            <a:avLst/>
          </a:prstGeom>
          <a:noFill/>
          <a:ln>
            <a:noFill/>
          </a:ln>
        </p:spPr>
      </p:pic>
      <p:sp>
        <p:nvSpPr>
          <p:cNvPr id="239" name="Google Shape;239;p9"/>
          <p:cNvSpPr txBox="1"/>
          <p:nvPr/>
        </p:nvSpPr>
        <p:spPr>
          <a:xfrm>
            <a:off x="673407" y="514101"/>
            <a:ext cx="1064951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Ejemplo de Hipótesis Nulas</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500"/>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0"/>
          <p:cNvSpPr/>
          <p:nvPr/>
        </p:nvSpPr>
        <p:spPr>
          <a:xfrm>
            <a:off x="6566667" y="1200396"/>
            <a:ext cx="4897166" cy="4522132"/>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10"/>
          <p:cNvSpPr/>
          <p:nvPr/>
        </p:nvSpPr>
        <p:spPr>
          <a:xfrm>
            <a:off x="-272775" y="1796570"/>
            <a:ext cx="6157091" cy="3925958"/>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10"/>
          <p:cNvSpPr txBox="1"/>
          <p:nvPr/>
        </p:nvSpPr>
        <p:spPr>
          <a:xfrm>
            <a:off x="628651" y="817295"/>
            <a:ext cx="10758982"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 de Hipótesis Nulas</a:t>
            </a:r>
            <a:endParaRPr sz="3200">
              <a:solidFill>
                <a:srgbClr val="7F7F7F"/>
              </a:solidFill>
              <a:latin typeface="Arial"/>
              <a:ea typeface="Arial"/>
              <a:cs typeface="Arial"/>
              <a:sym typeface="Arial"/>
            </a:endParaRPr>
          </a:p>
        </p:txBody>
      </p:sp>
      <p:sp>
        <p:nvSpPr>
          <p:cNvPr id="247" name="Google Shape;247;p10"/>
          <p:cNvSpPr txBox="1"/>
          <p:nvPr/>
        </p:nvSpPr>
        <p:spPr>
          <a:xfrm>
            <a:off x="704851" y="2051389"/>
            <a:ext cx="4497114"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PROBLEMA</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¿Qué aerolíneas tienen más demoras?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HIPÓTESIS</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Las aerolíneas de bajo costo </a:t>
            </a:r>
            <a:r>
              <a:rPr lang="es-ES" sz="1800" b="1">
                <a:solidFill>
                  <a:schemeClr val="lt1"/>
                </a:solidFill>
                <a:latin typeface="Calibri"/>
                <a:ea typeface="Calibri"/>
                <a:cs typeface="Calibri"/>
                <a:sym typeface="Calibri"/>
              </a:rPr>
              <a:t>tienen más probabilidades de tener retrasos</a:t>
            </a:r>
            <a:r>
              <a:rPr lang="es-ES" sz="1800">
                <a:solidFill>
                  <a:schemeClr val="lt1"/>
                </a:solidFill>
                <a:latin typeface="Calibri"/>
                <a:ea typeface="Calibri"/>
                <a:cs typeface="Calibri"/>
                <a:sym typeface="Calibri"/>
              </a:rPr>
              <a:t> que las aerolíneas premium.</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HIPÓTESIS NULA</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Las aerolíneas de bajo costo y premium </a:t>
            </a:r>
            <a:r>
              <a:rPr lang="es-ES" sz="1800" b="1">
                <a:solidFill>
                  <a:schemeClr val="lt1"/>
                </a:solidFill>
                <a:latin typeface="Calibri"/>
                <a:ea typeface="Calibri"/>
                <a:cs typeface="Calibri"/>
                <a:sym typeface="Calibri"/>
              </a:rPr>
              <a:t>tienen la misma probabilidad de tener retrasos</a:t>
            </a:r>
            <a:r>
              <a:rPr lang="es-ES" sz="1800">
                <a:solidFill>
                  <a:schemeClr val="lt1"/>
                </a:solidFill>
                <a:latin typeface="Calibri"/>
                <a:ea typeface="Calibri"/>
                <a:cs typeface="Calibri"/>
                <a:sym typeface="Calibri"/>
              </a:rPr>
              <a:t>.</a:t>
            </a:r>
            <a:endParaRPr/>
          </a:p>
        </p:txBody>
      </p:sp>
      <p:pic>
        <p:nvPicPr>
          <p:cNvPr id="248" name="Google Shape;248;p10"/>
          <p:cNvPicPr preferRelativeResize="0"/>
          <p:nvPr/>
        </p:nvPicPr>
        <p:blipFill rotWithShape="1">
          <a:blip r:embed="rId3">
            <a:alphaModFix/>
          </a:blip>
          <a:srcRect l="14320" t="7571" r="16790" b="9467"/>
          <a:stretch/>
        </p:blipFill>
        <p:spPr>
          <a:xfrm>
            <a:off x="6779616" y="1442256"/>
            <a:ext cx="4471267" cy="40384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6"/>
                                        </p:tgtEl>
                                        <p:attrNameLst>
                                          <p:attrName>style.visibility</p:attrName>
                                        </p:attrNameLst>
                                      </p:cBhvr>
                                      <p:to>
                                        <p:strVal val="visible"/>
                                      </p:to>
                                    </p:set>
                                    <p:animEffect transition="in" filter="fade">
                                      <p:cBhvr>
                                        <p:cTn id="7" dur="500"/>
                                        <p:tgtEl>
                                          <p:spTgt spid="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1"/>
          <p:cNvSpPr/>
          <p:nvPr/>
        </p:nvSpPr>
        <p:spPr>
          <a:xfrm>
            <a:off x="1786759" y="2822028"/>
            <a:ext cx="8618482" cy="3332116"/>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54" name="Google Shape;254;p11"/>
          <p:cNvSpPr/>
          <p:nvPr/>
        </p:nvSpPr>
        <p:spPr>
          <a:xfrm>
            <a:off x="466724" y="1135588"/>
            <a:ext cx="11268075" cy="1406602"/>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11"/>
          <p:cNvSpPr txBox="1"/>
          <p:nvPr/>
        </p:nvSpPr>
        <p:spPr>
          <a:xfrm>
            <a:off x="1209674" y="199884"/>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Hipótesis Alternativa</a:t>
            </a:r>
            <a:endParaRPr sz="3200">
              <a:solidFill>
                <a:srgbClr val="7F7F7F"/>
              </a:solidFill>
              <a:latin typeface="Arial"/>
              <a:ea typeface="Arial"/>
              <a:cs typeface="Arial"/>
              <a:sym typeface="Arial"/>
            </a:endParaRPr>
          </a:p>
        </p:txBody>
      </p:sp>
      <p:sp>
        <p:nvSpPr>
          <p:cNvPr id="256" name="Google Shape;256;p11"/>
          <p:cNvSpPr txBox="1"/>
          <p:nvPr/>
        </p:nvSpPr>
        <p:spPr>
          <a:xfrm>
            <a:off x="1209674" y="1207946"/>
            <a:ext cx="9867901" cy="1200329"/>
          </a:xfrm>
          <a:prstGeom prst="rect">
            <a:avLst/>
          </a:prstGeom>
          <a:blipFill rotWithShape="1">
            <a:blip r:embed="rId3">
              <a:alphaModFix/>
            </a:blip>
            <a:stretch>
              <a:fillRect l="-493" t="-2537" r="-554" b="-710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graphicFrame>
        <p:nvGraphicFramePr>
          <p:cNvPr id="257" name="Google Shape;257;p11"/>
          <p:cNvGraphicFramePr/>
          <p:nvPr/>
        </p:nvGraphicFramePr>
        <p:xfrm>
          <a:off x="1947334" y="3007266"/>
          <a:ext cx="8128000" cy="2961700"/>
        </p:xfrm>
        <a:graphic>
          <a:graphicData uri="http://schemas.openxmlformats.org/drawingml/2006/table">
            <a:tbl>
              <a:tblPr firstRow="1" bandRow="1">
                <a:noFill/>
                <a:tableStyleId>{109F3174-62C5-4F7F-B54A-AF850380FE05}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s-ES" sz="1400"/>
                        <a:t>Pregunta</a:t>
                      </a:r>
                      <a:endParaRPr/>
                    </a:p>
                  </a:txBody>
                  <a:tcPr marL="91450" marR="91450" marT="45725" marB="45725"/>
                </a:tc>
                <a:tc>
                  <a:txBody>
                    <a:bodyPr/>
                    <a:lstStyle/>
                    <a:p>
                      <a:pPr marL="0" marR="0" lvl="0" indent="0" algn="l" rtl="0">
                        <a:spcBef>
                          <a:spcPts val="0"/>
                        </a:spcBef>
                        <a:spcAft>
                          <a:spcPts val="0"/>
                        </a:spcAft>
                        <a:buNone/>
                      </a:pPr>
                      <a:r>
                        <a:rPr lang="es-ES" sz="1400"/>
                        <a:t>Hipótesis Alternativa</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s-ES" sz="1400"/>
                        <a:t>¿Son los jóvenes mejores en matemática que los adultos?</a:t>
                      </a:r>
                      <a:endParaRPr/>
                    </a:p>
                  </a:txBody>
                  <a:tcPr marL="91450" marR="91450" marT="45725" marB="45725"/>
                </a:tc>
                <a:tc>
                  <a:txBody>
                    <a:bodyPr/>
                    <a:lstStyle/>
                    <a:p>
                      <a:pPr marL="0" marR="0" lvl="0" indent="0" algn="l" rtl="0">
                        <a:spcBef>
                          <a:spcPts val="0"/>
                        </a:spcBef>
                        <a:spcAft>
                          <a:spcPts val="0"/>
                        </a:spcAft>
                        <a:buNone/>
                      </a:pPr>
                      <a:r>
                        <a:rPr lang="es-ES" sz="1400"/>
                        <a:t>La </a:t>
                      </a:r>
                      <a:r>
                        <a:rPr lang="es-ES" sz="1400" b="1"/>
                        <a:t>edad tiene efecto </a:t>
                      </a:r>
                      <a:r>
                        <a:rPr lang="es-ES" sz="1400"/>
                        <a:t>en la habilidad matemática.</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s-ES" sz="1400"/>
                        <a:t>¿Reduce el consumo diario de aspirina el riesgo de tener un ataque al corazón?</a:t>
                      </a:r>
                      <a:endParaRPr/>
                    </a:p>
                  </a:txBody>
                  <a:tcPr marL="91450" marR="91450" marT="45725" marB="45725"/>
                </a:tc>
                <a:tc>
                  <a:txBody>
                    <a:bodyPr/>
                    <a:lstStyle/>
                    <a:p>
                      <a:pPr marL="0" marR="0" lvl="0" indent="0" algn="l" rtl="0">
                        <a:spcBef>
                          <a:spcPts val="0"/>
                        </a:spcBef>
                        <a:spcAft>
                          <a:spcPts val="0"/>
                        </a:spcAft>
                        <a:buNone/>
                      </a:pPr>
                      <a:r>
                        <a:rPr lang="es-ES" sz="1400"/>
                        <a:t>El consumo diario de aspirina </a:t>
                      </a:r>
                      <a:r>
                        <a:rPr lang="es-ES" sz="1400" b="1"/>
                        <a:t>afecta el riesgo de ataque</a:t>
                      </a:r>
                      <a:r>
                        <a:rPr lang="es-ES" sz="1400"/>
                        <a:t> al corazón.</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s-ES" sz="1400"/>
                        <a:t>¿Usan los adolescentes los teléfonos móviles para acceder a internet más que los adultos?</a:t>
                      </a:r>
                      <a:endParaRPr/>
                    </a:p>
                  </a:txBody>
                  <a:tcPr marL="91450" marR="91450" marT="45725" marB="45725"/>
                </a:tc>
                <a:tc>
                  <a:txBody>
                    <a:bodyPr/>
                    <a:lstStyle/>
                    <a:p>
                      <a:pPr marL="0" marR="0" lvl="0" indent="0" algn="l" rtl="0">
                        <a:spcBef>
                          <a:spcPts val="0"/>
                        </a:spcBef>
                        <a:spcAft>
                          <a:spcPts val="0"/>
                        </a:spcAft>
                        <a:buNone/>
                      </a:pPr>
                      <a:r>
                        <a:rPr lang="es-ES" sz="1400"/>
                        <a:t>La </a:t>
                      </a:r>
                      <a:r>
                        <a:rPr lang="es-ES" sz="1400" b="1"/>
                        <a:t>edad tiene efecto </a:t>
                      </a:r>
                      <a:r>
                        <a:rPr lang="es-ES" sz="1400"/>
                        <a:t>en cómo el teléfono móvil es usado para acceder a internet.</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s-ES" sz="1400"/>
                        <a:t>¿Les importa a los gatos el color de su comida?</a:t>
                      </a:r>
                      <a:endParaRPr/>
                    </a:p>
                  </a:txBody>
                  <a:tcPr marL="91450" marR="91450" marT="45725" marB="45725"/>
                </a:tc>
                <a:tc>
                  <a:txBody>
                    <a:bodyPr/>
                    <a:lstStyle/>
                    <a:p>
                      <a:pPr marL="0" marR="0" lvl="0" indent="0" algn="l" rtl="0">
                        <a:spcBef>
                          <a:spcPts val="0"/>
                        </a:spcBef>
                        <a:spcAft>
                          <a:spcPts val="0"/>
                        </a:spcAft>
                        <a:buNone/>
                      </a:pPr>
                      <a:r>
                        <a:rPr lang="es-ES" sz="1400"/>
                        <a:t>Los </a:t>
                      </a:r>
                      <a:r>
                        <a:rPr lang="es-ES" sz="1400" b="1"/>
                        <a:t>gatos expresan preferencia </a:t>
                      </a:r>
                      <a:r>
                        <a:rPr lang="es-ES" sz="1400"/>
                        <a:t>de comida basado en su color.</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s-ES" sz="1400"/>
                        <a:t>¿Alivia el dolor marcar corteza de sauce?</a:t>
                      </a:r>
                      <a:endParaRPr/>
                    </a:p>
                  </a:txBody>
                  <a:tcPr marL="91450" marR="91450" marT="45725" marB="45725"/>
                </a:tc>
                <a:tc>
                  <a:txBody>
                    <a:bodyPr/>
                    <a:lstStyle/>
                    <a:p>
                      <a:pPr marL="0" marR="0" lvl="0" indent="0" algn="l" rtl="0">
                        <a:spcBef>
                          <a:spcPts val="0"/>
                        </a:spcBef>
                        <a:spcAft>
                          <a:spcPts val="0"/>
                        </a:spcAft>
                        <a:buNone/>
                      </a:pPr>
                      <a:r>
                        <a:rPr lang="es-ES" sz="1400" b="1"/>
                        <a:t>Hay diferencia en el alivio del dolor </a:t>
                      </a:r>
                      <a:r>
                        <a:rPr lang="es-ES" sz="1400"/>
                        <a:t>después de masticar corteza de sauce versus tomar un placebo.</a:t>
                      </a:r>
                      <a:endParaRPr sz="1400"/>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500"/>
                                        <p:tgtEl>
                                          <p:spTgt spid="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2"/>
          <p:cNvSpPr/>
          <p:nvPr/>
        </p:nvSpPr>
        <p:spPr>
          <a:xfrm>
            <a:off x="1207911" y="573018"/>
            <a:ext cx="9685867" cy="5711964"/>
          </a:xfrm>
          <a:prstGeom prst="rect">
            <a:avLst/>
          </a:prstGeom>
          <a:solidFill>
            <a:schemeClr val="lt1"/>
          </a:solidFill>
          <a:ln w="762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 name="Google Shape;263;p12"/>
          <p:cNvSpPr txBox="1"/>
          <p:nvPr/>
        </p:nvSpPr>
        <p:spPr>
          <a:xfrm>
            <a:off x="3773073" y="844329"/>
            <a:ext cx="455554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a:solidFill>
                  <a:schemeClr val="lt1"/>
                </a:solidFill>
                <a:latin typeface="Arial Rounded"/>
                <a:ea typeface="Arial Rounded"/>
                <a:cs typeface="Arial Rounded"/>
                <a:sym typeface="Arial Rounded"/>
              </a:rPr>
              <a:t>Hipótesis Nula v/s Alternativa</a:t>
            </a:r>
            <a:endParaRPr/>
          </a:p>
        </p:txBody>
      </p:sp>
      <p:sp>
        <p:nvSpPr>
          <p:cNvPr id="264" name="Google Shape;264;p12"/>
          <p:cNvSpPr txBox="1"/>
          <p:nvPr/>
        </p:nvSpPr>
        <p:spPr>
          <a:xfrm>
            <a:off x="2409931" y="1167494"/>
            <a:ext cx="181011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Rounded"/>
                <a:ea typeface="Arial Rounded"/>
                <a:cs typeface="Arial Rounded"/>
                <a:sym typeface="Arial Rounded"/>
              </a:rPr>
              <a:t>Hipótesis Nula</a:t>
            </a:r>
            <a:endParaRPr/>
          </a:p>
        </p:txBody>
      </p:sp>
      <p:sp>
        <p:nvSpPr>
          <p:cNvPr id="265" name="Google Shape;265;p12"/>
          <p:cNvSpPr txBox="1"/>
          <p:nvPr/>
        </p:nvSpPr>
        <p:spPr>
          <a:xfrm>
            <a:off x="7193903" y="1118600"/>
            <a:ext cx="25210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Rounded"/>
                <a:ea typeface="Arial Rounded"/>
                <a:cs typeface="Arial Rounded"/>
                <a:sym typeface="Arial Rounded"/>
              </a:rPr>
              <a:t>Hipótesis Alternativa</a:t>
            </a:r>
            <a:endParaRPr/>
          </a:p>
        </p:txBody>
      </p:sp>
      <p:sp>
        <p:nvSpPr>
          <p:cNvPr id="266" name="Google Shape;266;p12"/>
          <p:cNvSpPr txBox="1"/>
          <p:nvPr/>
        </p:nvSpPr>
        <p:spPr>
          <a:xfrm>
            <a:off x="1913040" y="2998111"/>
            <a:ext cx="3287610"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595959"/>
                </a:solidFill>
                <a:latin typeface="Calibri"/>
                <a:ea typeface="Calibri"/>
                <a:cs typeface="Calibri"/>
                <a:sym typeface="Calibri"/>
              </a:rPr>
              <a:t>Proposición acerca de un parámetro de la población.</a:t>
            </a:r>
            <a:endParaRPr/>
          </a:p>
        </p:txBody>
      </p:sp>
      <p:sp>
        <p:nvSpPr>
          <p:cNvPr id="267" name="Google Shape;267;p12"/>
          <p:cNvSpPr txBox="1"/>
          <p:nvPr/>
        </p:nvSpPr>
        <p:spPr>
          <a:xfrm>
            <a:off x="1913040" y="5398113"/>
            <a:ext cx="3083171" cy="338554"/>
          </a:xfrm>
          <a:prstGeom prst="rect">
            <a:avLst/>
          </a:prstGeom>
          <a:blipFill rotWithShape="1">
            <a:blip r:embed="rId3">
              <a:alphaModFix/>
            </a:blip>
            <a:stretch>
              <a:fillRect t="-5453" b="-23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68" name="Google Shape;268;p12"/>
          <p:cNvSpPr txBox="1"/>
          <p:nvPr/>
        </p:nvSpPr>
        <p:spPr>
          <a:xfrm>
            <a:off x="6916732" y="5433309"/>
            <a:ext cx="3083171" cy="338554"/>
          </a:xfrm>
          <a:prstGeom prst="rect">
            <a:avLst/>
          </a:prstGeom>
          <a:blipFill rotWithShape="1">
            <a:blip r:embed="rId4">
              <a:alphaModFix/>
            </a:blip>
            <a:stretch>
              <a:fillRect t="-5356" b="-2142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69" name="Google Shape;269;p12"/>
          <p:cNvSpPr txBox="1"/>
          <p:nvPr/>
        </p:nvSpPr>
        <p:spPr>
          <a:xfrm>
            <a:off x="6491081" y="2998110"/>
            <a:ext cx="3675068"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595959"/>
                </a:solidFill>
                <a:latin typeface="Calibri"/>
                <a:ea typeface="Calibri"/>
                <a:cs typeface="Calibri"/>
                <a:sym typeface="Calibri"/>
              </a:rPr>
              <a:t>Proposición que contradice directamente la hipótesis nula.</a:t>
            </a:r>
            <a:endParaRPr/>
          </a:p>
        </p:txBody>
      </p:sp>
      <p:sp>
        <p:nvSpPr>
          <p:cNvPr id="270" name="Google Shape;270;p12"/>
          <p:cNvSpPr txBox="1"/>
          <p:nvPr/>
        </p:nvSpPr>
        <p:spPr>
          <a:xfrm>
            <a:off x="3029311" y="1859991"/>
            <a:ext cx="743762" cy="707886"/>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71" name="Google Shape;271;p12"/>
          <p:cNvSpPr txBox="1"/>
          <p:nvPr/>
        </p:nvSpPr>
        <p:spPr>
          <a:xfrm>
            <a:off x="7956734" y="1859991"/>
            <a:ext cx="743762" cy="707886"/>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72" name="Google Shape;272;p12"/>
          <p:cNvSpPr txBox="1"/>
          <p:nvPr/>
        </p:nvSpPr>
        <p:spPr>
          <a:xfrm>
            <a:off x="1913040" y="3969545"/>
            <a:ext cx="3287610" cy="10772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595959"/>
                </a:solidFill>
                <a:latin typeface="Calibri"/>
                <a:ea typeface="Calibri"/>
                <a:cs typeface="Calibri"/>
                <a:sym typeface="Calibri"/>
              </a:rPr>
              <a:t>Testeamos la probabilidad que esta proposición sea verdadera para así decidir si aceptar o rechazar la hipótesis alternativa.</a:t>
            </a:r>
            <a:endParaRPr/>
          </a:p>
        </p:txBody>
      </p:sp>
      <p:sp>
        <p:nvSpPr>
          <p:cNvPr id="273" name="Google Shape;273;p12"/>
          <p:cNvSpPr txBox="1"/>
          <p:nvPr/>
        </p:nvSpPr>
        <p:spPr>
          <a:xfrm>
            <a:off x="6491081" y="3879143"/>
            <a:ext cx="3675068" cy="10772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595959"/>
                </a:solidFill>
                <a:latin typeface="Calibri"/>
                <a:ea typeface="Calibri"/>
                <a:cs typeface="Calibri"/>
                <a:sym typeface="Calibri"/>
              </a:rPr>
              <a:t>Determinamos no aceptar o rechazar esta proposición en base a la probabilidad de la hipótesis nula (opuesta) de ser verdadera.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3"/>
          <p:cNvSpPr/>
          <p:nvPr/>
        </p:nvSpPr>
        <p:spPr>
          <a:xfrm>
            <a:off x="5746203" y="1090863"/>
            <a:ext cx="5932450" cy="5229726"/>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9" name="Google Shape;279;p13"/>
          <p:cNvSpPr/>
          <p:nvPr/>
        </p:nvSpPr>
        <p:spPr>
          <a:xfrm>
            <a:off x="-289691" y="2617649"/>
            <a:ext cx="5649967" cy="1706916"/>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p13"/>
          <p:cNvSpPr txBox="1"/>
          <p:nvPr/>
        </p:nvSpPr>
        <p:spPr>
          <a:xfrm>
            <a:off x="561976" y="1498297"/>
            <a:ext cx="463998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Ejemplos</a:t>
            </a:r>
            <a:endParaRPr sz="3200">
              <a:solidFill>
                <a:srgbClr val="7F7F7F"/>
              </a:solidFill>
              <a:latin typeface="Arial"/>
              <a:ea typeface="Arial"/>
              <a:cs typeface="Arial"/>
              <a:sym typeface="Arial"/>
            </a:endParaRPr>
          </a:p>
        </p:txBody>
      </p:sp>
      <p:sp>
        <p:nvSpPr>
          <p:cNvPr id="281" name="Google Shape;281;p13"/>
          <p:cNvSpPr txBox="1"/>
          <p:nvPr/>
        </p:nvSpPr>
        <p:spPr>
          <a:xfrm>
            <a:off x="561976" y="2914503"/>
            <a:ext cx="4497114"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Queremos comprobar si los estudiantes de institutos universitarios tardan menos de cinco años en graduarse, en promedio. Las hipótesis nula y alternativa son:</a:t>
            </a:r>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82" name="Google Shape;282;p13"/>
          <p:cNvSpPr txBox="1"/>
          <p:nvPr/>
        </p:nvSpPr>
        <p:spPr>
          <a:xfrm>
            <a:off x="6096000" y="1391617"/>
            <a:ext cx="1102422" cy="1200329"/>
          </a:xfrm>
          <a:prstGeom prst="rect">
            <a:avLst/>
          </a:prstGeom>
          <a:blipFill rotWithShape="1">
            <a:blip r:embed="rId3">
              <a:alphaModFix/>
            </a:blip>
            <a:stretch>
              <a:fillRect r="-1767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83" name="Google Shape;283;p13"/>
          <p:cNvSpPr txBox="1"/>
          <p:nvPr/>
        </p:nvSpPr>
        <p:spPr>
          <a:xfrm>
            <a:off x="6096000" y="3682810"/>
            <a:ext cx="1102422" cy="1200329"/>
          </a:xfrm>
          <a:prstGeom prst="rect">
            <a:avLst/>
          </a:prstGeom>
          <a:blipFill rotWithShape="1">
            <a:blip r:embed="rId4">
              <a:alphaModFix/>
            </a:blip>
            <a:stretch>
              <a:fillRect r="-160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50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4"/>
          <p:cNvSpPr/>
          <p:nvPr/>
        </p:nvSpPr>
        <p:spPr>
          <a:xfrm>
            <a:off x="-289691" y="2617649"/>
            <a:ext cx="5649967" cy="1706916"/>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14"/>
          <p:cNvSpPr txBox="1"/>
          <p:nvPr/>
        </p:nvSpPr>
        <p:spPr>
          <a:xfrm>
            <a:off x="385927" y="1498297"/>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Ejemplos</a:t>
            </a:r>
            <a:endParaRPr sz="3200">
              <a:solidFill>
                <a:srgbClr val="7F7F7F"/>
              </a:solidFill>
              <a:latin typeface="Arial"/>
              <a:ea typeface="Arial"/>
              <a:cs typeface="Arial"/>
              <a:sym typeface="Arial"/>
            </a:endParaRPr>
          </a:p>
        </p:txBody>
      </p:sp>
      <p:sp>
        <p:nvSpPr>
          <p:cNvPr id="290" name="Google Shape;290;p14"/>
          <p:cNvSpPr txBox="1"/>
          <p:nvPr/>
        </p:nvSpPr>
        <p:spPr>
          <a:xfrm>
            <a:off x="385927" y="2847237"/>
            <a:ext cx="4576598"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Se realiza un ensayo médico para comprobar si un nuevo medicamento reduce el colesterol en un 25 %. Indique las hipótesis nula y alternativa.</a:t>
            </a:r>
            <a:endParaRPr/>
          </a:p>
        </p:txBody>
      </p:sp>
      <p:sp>
        <p:nvSpPr>
          <p:cNvPr id="291" name="Google Shape;291;p14"/>
          <p:cNvSpPr/>
          <p:nvPr/>
        </p:nvSpPr>
        <p:spPr>
          <a:xfrm>
            <a:off x="5746203" y="1090863"/>
            <a:ext cx="5932450" cy="5229726"/>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92" name="Google Shape;292;p14"/>
          <p:cNvSpPr txBox="1"/>
          <p:nvPr/>
        </p:nvSpPr>
        <p:spPr>
          <a:xfrm>
            <a:off x="6096000" y="1391617"/>
            <a:ext cx="1102422" cy="1200329"/>
          </a:xfrm>
          <a:prstGeom prst="rect">
            <a:avLst/>
          </a:prstGeom>
          <a:blipFill rotWithShape="1">
            <a:blip r:embed="rId3">
              <a:alphaModFix/>
            </a:blip>
            <a:stretch>
              <a:fillRect r="-1767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93" name="Google Shape;293;p14"/>
          <p:cNvSpPr txBox="1"/>
          <p:nvPr/>
        </p:nvSpPr>
        <p:spPr>
          <a:xfrm>
            <a:off x="6096000" y="3682810"/>
            <a:ext cx="1102422" cy="1200329"/>
          </a:xfrm>
          <a:prstGeom prst="rect">
            <a:avLst/>
          </a:prstGeom>
          <a:blipFill rotWithShape="1">
            <a:blip r:embed="rId4">
              <a:alphaModFix/>
            </a:blip>
            <a:stretch>
              <a:fillRect r="-160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9"/>
                                        </p:tgtEl>
                                        <p:attrNameLst>
                                          <p:attrName>style.visibility</p:attrName>
                                        </p:attrNameLst>
                                      </p:cBhvr>
                                      <p:to>
                                        <p:strVal val="visible"/>
                                      </p:to>
                                    </p:set>
                                    <p:animEffect transition="in" filter="fade">
                                      <p:cBhvr>
                                        <p:cTn id="7" dur="500"/>
                                        <p:tgtEl>
                                          <p:spTgt spid="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5"/>
          <p:cNvSpPr/>
          <p:nvPr/>
        </p:nvSpPr>
        <p:spPr>
          <a:xfrm>
            <a:off x="-289691" y="2604042"/>
            <a:ext cx="5649967" cy="1924630"/>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15"/>
          <p:cNvSpPr txBox="1"/>
          <p:nvPr/>
        </p:nvSpPr>
        <p:spPr>
          <a:xfrm>
            <a:off x="385927" y="1498297"/>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Ejemplos</a:t>
            </a:r>
            <a:endParaRPr sz="3200">
              <a:solidFill>
                <a:srgbClr val="7F7F7F"/>
              </a:solidFill>
              <a:latin typeface="Arial"/>
              <a:ea typeface="Arial"/>
              <a:cs typeface="Arial"/>
              <a:sym typeface="Arial"/>
            </a:endParaRPr>
          </a:p>
        </p:txBody>
      </p:sp>
      <p:sp>
        <p:nvSpPr>
          <p:cNvPr id="300" name="Google Shape;300;p15"/>
          <p:cNvSpPr txBox="1"/>
          <p:nvPr/>
        </p:nvSpPr>
        <p:spPr>
          <a:xfrm>
            <a:off x="385927" y="2847237"/>
            <a:ext cx="4548023"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Arial"/>
                <a:ea typeface="Arial"/>
                <a:cs typeface="Arial"/>
                <a:sym typeface="Arial"/>
              </a:rPr>
              <a:t>En el examen estatal de conducir, alrededor del 40 % aprueba el examen en el primer intento. Queremos comprobar si más del 40 % aprueba en el primer intento.</a:t>
            </a:r>
            <a:endParaRPr/>
          </a:p>
        </p:txBody>
      </p:sp>
      <p:sp>
        <p:nvSpPr>
          <p:cNvPr id="301" name="Google Shape;301;p15"/>
          <p:cNvSpPr/>
          <p:nvPr/>
        </p:nvSpPr>
        <p:spPr>
          <a:xfrm>
            <a:off x="5746203" y="1090863"/>
            <a:ext cx="5932450" cy="5229726"/>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15"/>
          <p:cNvSpPr txBox="1"/>
          <p:nvPr/>
        </p:nvSpPr>
        <p:spPr>
          <a:xfrm>
            <a:off x="6096000" y="1401142"/>
            <a:ext cx="1102422" cy="1200329"/>
          </a:xfrm>
          <a:prstGeom prst="rect">
            <a:avLst/>
          </a:prstGeom>
          <a:blipFill rotWithShape="1">
            <a:blip r:embed="rId3">
              <a:alphaModFix/>
            </a:blip>
            <a:stretch>
              <a:fillRect r="-1767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03" name="Google Shape;303;p15"/>
          <p:cNvSpPr txBox="1"/>
          <p:nvPr/>
        </p:nvSpPr>
        <p:spPr>
          <a:xfrm>
            <a:off x="6096000" y="3682810"/>
            <a:ext cx="1102422" cy="1200329"/>
          </a:xfrm>
          <a:prstGeom prst="rect">
            <a:avLst/>
          </a:prstGeom>
          <a:blipFill rotWithShape="1">
            <a:blip r:embed="rId4">
              <a:alphaModFix/>
            </a:blip>
            <a:stretch>
              <a:fillRect r="-160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9"/>
                                        </p:tgtEl>
                                        <p:attrNameLst>
                                          <p:attrName>style.visibility</p:attrName>
                                        </p:attrNameLst>
                                      </p:cBhvr>
                                      <p:to>
                                        <p:strVal val="visible"/>
                                      </p:to>
                                    </p:set>
                                    <p:animEffect transition="in" filter="fade">
                                      <p:cBhvr>
                                        <p:cTn id="7" dur="500"/>
                                        <p:tgtEl>
                                          <p:spTgt spid="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6"/>
          <p:cNvSpPr/>
          <p:nvPr/>
        </p:nvSpPr>
        <p:spPr>
          <a:xfrm>
            <a:off x="6103592" y="2062244"/>
            <a:ext cx="5653909" cy="3248272"/>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9" name="Google Shape;309;p16"/>
          <p:cNvSpPr/>
          <p:nvPr/>
        </p:nvSpPr>
        <p:spPr>
          <a:xfrm>
            <a:off x="-289691" y="2597193"/>
            <a:ext cx="6007270" cy="2937618"/>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16"/>
          <p:cNvSpPr txBox="1"/>
          <p:nvPr/>
        </p:nvSpPr>
        <p:spPr>
          <a:xfrm>
            <a:off x="627159" y="1602738"/>
            <a:ext cx="1113034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Test de Hipótesis</a:t>
            </a:r>
            <a:endParaRPr sz="3200">
              <a:solidFill>
                <a:srgbClr val="7F7F7F"/>
              </a:solidFill>
              <a:latin typeface="Arial"/>
              <a:ea typeface="Arial"/>
              <a:cs typeface="Arial"/>
              <a:sym typeface="Arial"/>
            </a:endParaRPr>
          </a:p>
        </p:txBody>
      </p:sp>
      <p:sp>
        <p:nvSpPr>
          <p:cNvPr id="311" name="Google Shape;311;p16"/>
          <p:cNvSpPr txBox="1"/>
          <p:nvPr/>
        </p:nvSpPr>
        <p:spPr>
          <a:xfrm>
            <a:off x="627160" y="2797571"/>
            <a:ext cx="4497114"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Arial"/>
                <a:ea typeface="Arial"/>
                <a:cs typeface="Arial"/>
                <a:sym typeface="Arial"/>
              </a:rPr>
              <a:t>Test de hipótesis </a:t>
            </a:r>
            <a:r>
              <a:rPr lang="es-ES" sz="1800">
                <a:solidFill>
                  <a:schemeClr val="lt1"/>
                </a:solidFill>
                <a:latin typeface="Arial"/>
                <a:ea typeface="Arial"/>
                <a:cs typeface="Arial"/>
                <a:sym typeface="Arial"/>
              </a:rPr>
              <a:t>es un método que nos ayuda a tomar decisiones y conclusiones acerca de toda la población a partir de una muestra de datos. A menudo nos referimos que el resultado de una prueba de hipótesis debe ser </a:t>
            </a:r>
            <a:r>
              <a:rPr lang="es-ES" sz="1800" b="1">
                <a:solidFill>
                  <a:schemeClr val="lt1"/>
                </a:solidFill>
                <a:latin typeface="Arial"/>
                <a:ea typeface="Arial"/>
                <a:cs typeface="Arial"/>
                <a:sym typeface="Arial"/>
              </a:rPr>
              <a:t>estadísticamente significativa</a:t>
            </a:r>
            <a:r>
              <a:rPr lang="es-ES" sz="1800">
                <a:solidFill>
                  <a:schemeClr val="lt1"/>
                </a:solidFill>
                <a:latin typeface="Arial"/>
                <a:ea typeface="Arial"/>
                <a:cs typeface="Arial"/>
                <a:sym typeface="Arial"/>
              </a:rPr>
              <a:t>, lo que quiere decir que es poco probable que el resultado lo hayamos obtenido por suerte.</a:t>
            </a:r>
            <a:endParaRPr/>
          </a:p>
        </p:txBody>
      </p:sp>
      <p:grpSp>
        <p:nvGrpSpPr>
          <p:cNvPr id="312" name="Google Shape;312;p16"/>
          <p:cNvGrpSpPr/>
          <p:nvPr/>
        </p:nvGrpSpPr>
        <p:grpSpPr>
          <a:xfrm>
            <a:off x="6160919" y="2692763"/>
            <a:ext cx="5345289" cy="2361579"/>
            <a:chOff x="3268133" y="2472267"/>
            <a:chExt cx="5655734" cy="2498735"/>
          </a:xfrm>
        </p:grpSpPr>
        <p:pic>
          <p:nvPicPr>
            <p:cNvPr id="313" name="Google Shape;313;p16" descr="Population vs Sample"/>
            <p:cNvPicPr preferRelativeResize="0"/>
            <p:nvPr/>
          </p:nvPicPr>
          <p:blipFill rotWithShape="1">
            <a:blip r:embed="rId3">
              <a:alphaModFix/>
            </a:blip>
            <a:srcRect l="7733" t="26485" r="9822" b="11474"/>
            <a:stretch/>
          </p:blipFill>
          <p:spPr>
            <a:xfrm flipH="1">
              <a:off x="3268133" y="2472267"/>
              <a:ext cx="5655734" cy="2212622"/>
            </a:xfrm>
            <a:prstGeom prst="rect">
              <a:avLst/>
            </a:prstGeom>
            <a:noFill/>
            <a:ln>
              <a:noFill/>
            </a:ln>
          </p:spPr>
        </p:pic>
        <p:sp>
          <p:nvSpPr>
            <p:cNvPr id="314" name="Google Shape;314;p16"/>
            <p:cNvSpPr/>
            <p:nvPr/>
          </p:nvSpPr>
          <p:spPr>
            <a:xfrm>
              <a:off x="5340523" y="3036711"/>
              <a:ext cx="1336856" cy="1088956"/>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5" name="Google Shape;315;p16"/>
            <p:cNvSpPr/>
            <p:nvPr/>
          </p:nvSpPr>
          <p:spPr>
            <a:xfrm>
              <a:off x="5429204" y="3352800"/>
              <a:ext cx="1159494" cy="451556"/>
            </a:xfrm>
            <a:prstGeom prst="rightArrow">
              <a:avLst>
                <a:gd name="adj1" fmla="val 50000"/>
                <a:gd name="adj2" fmla="val 50000"/>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Inferencia</a:t>
              </a:r>
              <a:endParaRPr/>
            </a:p>
          </p:txBody>
        </p:sp>
        <p:sp>
          <p:nvSpPr>
            <p:cNvPr id="316" name="Google Shape;316;p16"/>
            <p:cNvSpPr txBox="1"/>
            <p:nvPr/>
          </p:nvSpPr>
          <p:spPr>
            <a:xfrm>
              <a:off x="3753557" y="4282454"/>
              <a:ext cx="99342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Muestra</a:t>
              </a:r>
              <a:endParaRPr sz="1600">
                <a:solidFill>
                  <a:schemeClr val="dk1"/>
                </a:solidFill>
                <a:latin typeface="Calibri"/>
                <a:ea typeface="Calibri"/>
                <a:cs typeface="Calibri"/>
                <a:sym typeface="Calibri"/>
              </a:endParaRPr>
            </a:p>
          </p:txBody>
        </p:sp>
        <p:sp>
          <p:nvSpPr>
            <p:cNvPr id="317" name="Google Shape;317;p16"/>
            <p:cNvSpPr txBox="1"/>
            <p:nvPr/>
          </p:nvSpPr>
          <p:spPr>
            <a:xfrm>
              <a:off x="7185379" y="4632448"/>
              <a:ext cx="153528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chemeClr val="dk1"/>
                  </a:solidFill>
                  <a:latin typeface="Calibri"/>
                  <a:ea typeface="Calibri"/>
                  <a:cs typeface="Calibri"/>
                  <a:sym typeface="Calibri"/>
                </a:rPr>
                <a:t>Población</a:t>
              </a:r>
              <a:endParaRPr sz="1600">
                <a:solidFill>
                  <a:schemeClr val="dk1"/>
                </a:solidFill>
                <a:latin typeface="Calibri"/>
                <a:ea typeface="Calibri"/>
                <a:cs typeface="Calibri"/>
                <a:sym typeface="Calibri"/>
              </a:endParaRPr>
            </a:p>
          </p:txBody>
        </p:sp>
      </p:grpSp>
      <p:sp>
        <p:nvSpPr>
          <p:cNvPr id="318" name="Google Shape;318;p16"/>
          <p:cNvSpPr txBox="1"/>
          <p:nvPr/>
        </p:nvSpPr>
        <p:spPr>
          <a:xfrm>
            <a:off x="6464774" y="2591929"/>
            <a:ext cx="1248740" cy="276999"/>
          </a:xfrm>
          <a:prstGeom prst="rect">
            <a:avLst/>
          </a:prstGeom>
          <a:blipFill rotWithShape="1">
            <a:blip r:embed="rId4">
              <a:alphaModFix/>
            </a:blip>
            <a:stretch>
              <a:fillRect l="-3901" t="-4345" r="-1949" b="-65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9" name="Google Shape;319;p16"/>
          <p:cNvSpPr txBox="1"/>
          <p:nvPr/>
        </p:nvSpPr>
        <p:spPr>
          <a:xfrm>
            <a:off x="10181556" y="2438221"/>
            <a:ext cx="793294" cy="276999"/>
          </a:xfrm>
          <a:prstGeom prst="rect">
            <a:avLst/>
          </a:prstGeom>
          <a:blipFill rotWithShape="1">
            <a:blip r:embed="rId5">
              <a:alphaModFix/>
            </a:blip>
            <a:stretch>
              <a:fillRect l="-6152" r="-6921" b="-222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17"/>
          <p:cNvSpPr/>
          <p:nvPr/>
        </p:nvSpPr>
        <p:spPr>
          <a:xfrm>
            <a:off x="2016804" y="1085885"/>
            <a:ext cx="8354113" cy="5199168"/>
          </a:xfrm>
          <a:prstGeom prst="roundRect">
            <a:avLst>
              <a:gd name="adj" fmla="val 2971"/>
            </a:avLst>
          </a:prstGeom>
          <a:solidFill>
            <a:srgbClr val="8B2E73"/>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17"/>
          <p:cNvSpPr/>
          <p:nvPr/>
        </p:nvSpPr>
        <p:spPr>
          <a:xfrm>
            <a:off x="2112059" y="1643144"/>
            <a:ext cx="8166260" cy="4522132"/>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6" name="Google Shape;326;p17"/>
          <p:cNvSpPr txBox="1"/>
          <p:nvPr/>
        </p:nvSpPr>
        <p:spPr>
          <a:xfrm>
            <a:off x="566887" y="347897"/>
            <a:ext cx="10782300" cy="497737"/>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Pasos del Test de Hipótesis</a:t>
            </a:r>
            <a:endParaRPr sz="3200">
              <a:solidFill>
                <a:srgbClr val="7F7F7F"/>
              </a:solidFill>
              <a:latin typeface="Arial"/>
              <a:ea typeface="Arial"/>
              <a:cs typeface="Arial"/>
              <a:sym typeface="Arial"/>
            </a:endParaRPr>
          </a:p>
        </p:txBody>
      </p:sp>
      <p:sp>
        <p:nvSpPr>
          <p:cNvPr id="327" name="Google Shape;327;p17"/>
          <p:cNvSpPr txBox="1"/>
          <p:nvPr/>
        </p:nvSpPr>
        <p:spPr>
          <a:xfrm>
            <a:off x="2515385" y="1196038"/>
            <a:ext cx="6809172"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Los pasos para realizar un test de hipótesis son los siguientes:</a:t>
            </a:r>
            <a:endParaRPr/>
          </a:p>
        </p:txBody>
      </p:sp>
      <p:sp>
        <p:nvSpPr>
          <p:cNvPr id="328" name="Google Shape;328;p17"/>
          <p:cNvSpPr/>
          <p:nvPr/>
        </p:nvSpPr>
        <p:spPr>
          <a:xfrm>
            <a:off x="2650423" y="2817112"/>
            <a:ext cx="1580445" cy="451556"/>
          </a:xfrm>
          <a:prstGeom prst="rect">
            <a:avLst/>
          </a:prstGeom>
          <a:solidFill>
            <a:srgbClr val="8B2E7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2</a:t>
            </a:r>
            <a:endParaRPr/>
          </a:p>
        </p:txBody>
      </p:sp>
      <p:sp>
        <p:nvSpPr>
          <p:cNvPr id="329" name="Google Shape;329;p17"/>
          <p:cNvSpPr txBox="1"/>
          <p:nvPr/>
        </p:nvSpPr>
        <p:spPr>
          <a:xfrm>
            <a:off x="4767389" y="2745448"/>
            <a:ext cx="441498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chemeClr val="dk1"/>
                </a:solidFill>
                <a:latin typeface="Calibri"/>
                <a:ea typeface="Calibri"/>
                <a:cs typeface="Calibri"/>
                <a:sym typeface="Calibri"/>
              </a:rPr>
              <a:t>Preparar plan de análisis</a:t>
            </a:r>
            <a:r>
              <a:rPr lang="es-ES" sz="1400">
                <a:solidFill>
                  <a:schemeClr val="dk1"/>
                </a:solidFill>
                <a:latin typeface="Calibri"/>
                <a:ea typeface="Calibri"/>
                <a:cs typeface="Calibri"/>
                <a:sym typeface="Calibri"/>
              </a:rPr>
              <a:t>.</a:t>
            </a:r>
            <a:r>
              <a:rPr lang="es-ES" sz="1400" b="1">
                <a:solidFill>
                  <a:schemeClr val="dk1"/>
                </a:solidFill>
                <a:latin typeface="Calibri"/>
                <a:ea typeface="Calibri"/>
                <a:cs typeface="Calibri"/>
                <a:sym typeface="Calibri"/>
              </a:rPr>
              <a:t> </a:t>
            </a:r>
            <a:r>
              <a:rPr lang="es-ES" sz="1400">
                <a:solidFill>
                  <a:schemeClr val="dk1"/>
                </a:solidFill>
                <a:latin typeface="Calibri"/>
                <a:ea typeface="Calibri"/>
                <a:cs typeface="Calibri"/>
                <a:sym typeface="Calibri"/>
              </a:rPr>
              <a:t>Obtener las muestras, preparar los datos, definir parámetros, nivel de significancia, etc.</a:t>
            </a:r>
            <a:endParaRPr/>
          </a:p>
        </p:txBody>
      </p:sp>
      <p:sp>
        <p:nvSpPr>
          <p:cNvPr id="330" name="Google Shape;330;p17"/>
          <p:cNvSpPr/>
          <p:nvPr/>
        </p:nvSpPr>
        <p:spPr>
          <a:xfrm>
            <a:off x="2650423" y="1896851"/>
            <a:ext cx="1580445" cy="451556"/>
          </a:xfrm>
          <a:prstGeom prst="rect">
            <a:avLst/>
          </a:prstGeom>
          <a:solidFill>
            <a:srgbClr val="8B2E7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1</a:t>
            </a:r>
            <a:endParaRPr/>
          </a:p>
        </p:txBody>
      </p:sp>
      <p:sp>
        <p:nvSpPr>
          <p:cNvPr id="331" name="Google Shape;331;p17"/>
          <p:cNvSpPr txBox="1"/>
          <p:nvPr/>
        </p:nvSpPr>
        <p:spPr>
          <a:xfrm>
            <a:off x="4767389" y="1891427"/>
            <a:ext cx="430269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chemeClr val="dk1"/>
                </a:solidFill>
                <a:latin typeface="Calibri"/>
                <a:ea typeface="Calibri"/>
                <a:cs typeface="Calibri"/>
                <a:sym typeface="Calibri"/>
              </a:rPr>
              <a:t>Formular las hipótesis </a:t>
            </a:r>
            <a:r>
              <a:rPr lang="es-ES" sz="1400">
                <a:solidFill>
                  <a:schemeClr val="dk1"/>
                </a:solidFill>
                <a:latin typeface="Calibri"/>
                <a:ea typeface="Calibri"/>
                <a:cs typeface="Calibri"/>
                <a:sym typeface="Calibri"/>
              </a:rPr>
              <a:t>(nula y alternativa), de forma que sólo una pueda ser verdadera.</a:t>
            </a:r>
            <a:endParaRPr/>
          </a:p>
        </p:txBody>
      </p:sp>
      <p:sp>
        <p:nvSpPr>
          <p:cNvPr id="332" name="Google Shape;332;p17"/>
          <p:cNvSpPr/>
          <p:nvPr/>
        </p:nvSpPr>
        <p:spPr>
          <a:xfrm>
            <a:off x="2650423" y="3737373"/>
            <a:ext cx="1580445" cy="451556"/>
          </a:xfrm>
          <a:prstGeom prst="rect">
            <a:avLst/>
          </a:prstGeom>
          <a:solidFill>
            <a:srgbClr val="8B2E7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3</a:t>
            </a:r>
            <a:endParaRPr/>
          </a:p>
        </p:txBody>
      </p:sp>
      <p:sp>
        <p:nvSpPr>
          <p:cNvPr id="333" name="Google Shape;333;p17"/>
          <p:cNvSpPr txBox="1"/>
          <p:nvPr/>
        </p:nvSpPr>
        <p:spPr>
          <a:xfrm>
            <a:off x="4767389" y="4585970"/>
            <a:ext cx="505131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chemeClr val="dk1"/>
                </a:solidFill>
                <a:latin typeface="Calibri"/>
                <a:ea typeface="Calibri"/>
                <a:cs typeface="Calibri"/>
                <a:sym typeface="Calibri"/>
              </a:rPr>
              <a:t>Calcular Estadísticos de Prueba</a:t>
            </a:r>
            <a:r>
              <a:rPr lang="es-ES" sz="1400">
                <a:solidFill>
                  <a:schemeClr val="dk1"/>
                </a:solidFill>
                <a:latin typeface="Calibri"/>
                <a:ea typeface="Calibri"/>
                <a:cs typeface="Calibri"/>
                <a:sym typeface="Calibri"/>
              </a:rPr>
              <a:t>. Acá evaluamos la muestra y calculamos el valor de los estadísticos de prueba.</a:t>
            </a:r>
            <a:endParaRPr/>
          </a:p>
        </p:txBody>
      </p:sp>
      <p:sp>
        <p:nvSpPr>
          <p:cNvPr id="334" name="Google Shape;334;p17"/>
          <p:cNvSpPr/>
          <p:nvPr/>
        </p:nvSpPr>
        <p:spPr>
          <a:xfrm>
            <a:off x="2650422" y="4657634"/>
            <a:ext cx="1580445" cy="451556"/>
          </a:xfrm>
          <a:prstGeom prst="rect">
            <a:avLst/>
          </a:prstGeom>
          <a:solidFill>
            <a:srgbClr val="8B2E7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4</a:t>
            </a:r>
            <a:endParaRPr/>
          </a:p>
        </p:txBody>
      </p:sp>
      <p:sp>
        <p:nvSpPr>
          <p:cNvPr id="335" name="Google Shape;335;p17"/>
          <p:cNvSpPr txBox="1"/>
          <p:nvPr/>
        </p:nvSpPr>
        <p:spPr>
          <a:xfrm>
            <a:off x="4767389" y="5440335"/>
            <a:ext cx="518447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chemeClr val="dk1"/>
                </a:solidFill>
                <a:latin typeface="Calibri"/>
                <a:ea typeface="Calibri"/>
                <a:cs typeface="Calibri"/>
                <a:sym typeface="Calibri"/>
              </a:rPr>
              <a:t>Evaluar los resultados</a:t>
            </a:r>
            <a:r>
              <a:rPr lang="es-ES" sz="1400">
                <a:solidFill>
                  <a:schemeClr val="dk1"/>
                </a:solidFill>
                <a:latin typeface="Calibri"/>
                <a:ea typeface="Calibri"/>
                <a:cs typeface="Calibri"/>
                <a:sym typeface="Calibri"/>
              </a:rPr>
              <a:t>. Aquí aceptamos la hipótesis nula como plausible o la rechazamos a favor de la hipótesis alternativa.</a:t>
            </a:r>
            <a:endParaRPr sz="1400">
              <a:solidFill>
                <a:schemeClr val="dk1"/>
              </a:solidFill>
              <a:latin typeface="Calibri"/>
              <a:ea typeface="Calibri"/>
              <a:cs typeface="Calibri"/>
              <a:sym typeface="Calibri"/>
            </a:endParaRPr>
          </a:p>
        </p:txBody>
      </p:sp>
      <p:cxnSp>
        <p:nvCxnSpPr>
          <p:cNvPr id="336" name="Google Shape;336;p17"/>
          <p:cNvCxnSpPr>
            <a:stCxn id="330" idx="2"/>
            <a:endCxn id="328" idx="0"/>
          </p:cNvCxnSpPr>
          <p:nvPr/>
        </p:nvCxnSpPr>
        <p:spPr>
          <a:xfrm>
            <a:off x="3440646" y="2348407"/>
            <a:ext cx="0" cy="468600"/>
          </a:xfrm>
          <a:prstGeom prst="straightConnector1">
            <a:avLst/>
          </a:prstGeom>
          <a:noFill/>
          <a:ln w="9525" cap="flat" cmpd="sng">
            <a:solidFill>
              <a:srgbClr val="FD0075"/>
            </a:solidFill>
            <a:prstDash val="solid"/>
            <a:miter lim="800000"/>
            <a:headEnd type="none" w="sm" len="sm"/>
            <a:tailEnd type="triangle" w="med" len="med"/>
          </a:ln>
        </p:spPr>
      </p:cxnSp>
      <p:cxnSp>
        <p:nvCxnSpPr>
          <p:cNvPr id="337" name="Google Shape;337;p17"/>
          <p:cNvCxnSpPr>
            <a:stCxn id="328" idx="2"/>
            <a:endCxn id="332" idx="0"/>
          </p:cNvCxnSpPr>
          <p:nvPr/>
        </p:nvCxnSpPr>
        <p:spPr>
          <a:xfrm>
            <a:off x="3440646" y="3268668"/>
            <a:ext cx="0" cy="468600"/>
          </a:xfrm>
          <a:prstGeom prst="straightConnector1">
            <a:avLst/>
          </a:prstGeom>
          <a:noFill/>
          <a:ln w="9525" cap="flat" cmpd="sng">
            <a:solidFill>
              <a:srgbClr val="FD0075"/>
            </a:solidFill>
            <a:prstDash val="solid"/>
            <a:miter lim="800000"/>
            <a:headEnd type="none" w="sm" len="sm"/>
            <a:tailEnd type="triangle" w="med" len="med"/>
          </a:ln>
        </p:spPr>
      </p:cxnSp>
      <p:cxnSp>
        <p:nvCxnSpPr>
          <p:cNvPr id="338" name="Google Shape;338;p17"/>
          <p:cNvCxnSpPr>
            <a:stCxn id="332" idx="2"/>
            <a:endCxn id="334" idx="0"/>
          </p:cNvCxnSpPr>
          <p:nvPr/>
        </p:nvCxnSpPr>
        <p:spPr>
          <a:xfrm>
            <a:off x="3440646" y="4188929"/>
            <a:ext cx="0" cy="468600"/>
          </a:xfrm>
          <a:prstGeom prst="straightConnector1">
            <a:avLst/>
          </a:prstGeom>
          <a:noFill/>
          <a:ln w="9525" cap="flat" cmpd="sng">
            <a:solidFill>
              <a:srgbClr val="FD0075"/>
            </a:solidFill>
            <a:prstDash val="solid"/>
            <a:miter lim="800000"/>
            <a:headEnd type="none" w="sm" len="sm"/>
            <a:tailEnd type="triangle" w="med" len="med"/>
          </a:ln>
        </p:spPr>
      </p:cxnSp>
      <p:sp>
        <p:nvSpPr>
          <p:cNvPr id="339" name="Google Shape;339;p17"/>
          <p:cNvSpPr/>
          <p:nvPr/>
        </p:nvSpPr>
        <p:spPr>
          <a:xfrm>
            <a:off x="2650422" y="5577894"/>
            <a:ext cx="1580445" cy="451556"/>
          </a:xfrm>
          <a:prstGeom prst="rect">
            <a:avLst/>
          </a:prstGeom>
          <a:solidFill>
            <a:srgbClr val="8B2E73"/>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5</a:t>
            </a:r>
            <a:endParaRPr/>
          </a:p>
        </p:txBody>
      </p:sp>
      <p:cxnSp>
        <p:nvCxnSpPr>
          <p:cNvPr id="340" name="Google Shape;340;p17"/>
          <p:cNvCxnSpPr>
            <a:stCxn id="334" idx="2"/>
          </p:cNvCxnSpPr>
          <p:nvPr/>
        </p:nvCxnSpPr>
        <p:spPr>
          <a:xfrm flipH="1">
            <a:off x="3439745" y="5109190"/>
            <a:ext cx="900" cy="468600"/>
          </a:xfrm>
          <a:prstGeom prst="straightConnector1">
            <a:avLst/>
          </a:prstGeom>
          <a:noFill/>
          <a:ln w="9525" cap="flat" cmpd="sng">
            <a:solidFill>
              <a:srgbClr val="FD0075"/>
            </a:solidFill>
            <a:prstDash val="solid"/>
            <a:miter lim="800000"/>
            <a:headEnd type="none" w="sm" len="sm"/>
            <a:tailEnd type="triangle" w="med" len="med"/>
          </a:ln>
        </p:spPr>
      </p:cxnSp>
      <p:sp>
        <p:nvSpPr>
          <p:cNvPr id="341" name="Google Shape;341;p17"/>
          <p:cNvSpPr txBox="1"/>
          <p:nvPr/>
        </p:nvSpPr>
        <p:spPr>
          <a:xfrm>
            <a:off x="4767389" y="3694667"/>
            <a:ext cx="505131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chemeClr val="dk1"/>
                </a:solidFill>
                <a:latin typeface="Calibri"/>
                <a:ea typeface="Calibri"/>
                <a:cs typeface="Calibri"/>
                <a:sym typeface="Calibri"/>
              </a:rPr>
              <a:t>Elección de un nivel de significancia</a:t>
            </a:r>
            <a:r>
              <a:rPr lang="es-ES" sz="1400">
                <a:solidFill>
                  <a:schemeClr val="dk1"/>
                </a:solidFill>
                <a:latin typeface="Calibri"/>
                <a:ea typeface="Calibri"/>
                <a:cs typeface="Calibri"/>
                <a:sym typeface="Calibri"/>
              </a:rPr>
              <a:t>. Por lo general, el nivel de significancia de la prueba (alfa, α) es establecido en 0.05</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5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8"/>
          <p:cNvSpPr/>
          <p:nvPr/>
        </p:nvSpPr>
        <p:spPr>
          <a:xfrm>
            <a:off x="-259224" y="1042515"/>
            <a:ext cx="12449607" cy="1984769"/>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 name="Google Shape;347;p18"/>
          <p:cNvSpPr txBox="1"/>
          <p:nvPr/>
        </p:nvSpPr>
        <p:spPr>
          <a:xfrm>
            <a:off x="346973" y="100585"/>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Estadístico de Pruebas</a:t>
            </a:r>
            <a:endParaRPr sz="3200">
              <a:solidFill>
                <a:srgbClr val="7F7F7F"/>
              </a:solidFill>
              <a:latin typeface="Arial"/>
              <a:ea typeface="Arial"/>
              <a:cs typeface="Arial"/>
              <a:sym typeface="Arial"/>
            </a:endParaRPr>
          </a:p>
        </p:txBody>
      </p:sp>
      <p:sp>
        <p:nvSpPr>
          <p:cNvPr id="348" name="Google Shape;348;p18"/>
          <p:cNvSpPr txBox="1"/>
          <p:nvPr/>
        </p:nvSpPr>
        <p:spPr>
          <a:xfrm>
            <a:off x="615518" y="1106852"/>
            <a:ext cx="10814482" cy="181588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Un estadístico de prueba es una medida calculada a partir de los datos de una muestra que se utiliza para tomar una decisión sobre una hipótesis estadística. En otras palabras, es un número que nos ayuda a determinar si los resultados observados en una muestra son consistentes con lo que se esperaría bajo una cierta hipótesis nula.</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Cuando realizamos un estudio o experimento, a menudo queremos probar una afirmación sobre una población o comparar dos o más grupos. El estadístico de prueba nos proporciona una manera de cuantificar la evidencia en favor o en contra de la hipótesis nula.</a:t>
            </a:r>
            <a:endParaRPr/>
          </a:p>
        </p:txBody>
      </p:sp>
      <p:sp>
        <p:nvSpPr>
          <p:cNvPr id="349" name="Google Shape;349;p18"/>
          <p:cNvSpPr/>
          <p:nvPr/>
        </p:nvSpPr>
        <p:spPr>
          <a:xfrm>
            <a:off x="355053" y="3266983"/>
            <a:ext cx="11323600" cy="3197984"/>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pic>
        <p:nvPicPr>
          <p:cNvPr id="350" name="Google Shape;350;p18" descr="RECURSOS ESTADÍSTICOS&quot; DISTRIBUCIÓN NORMAL,PRUEBA DE HIPÓTESIS&quot;"/>
          <p:cNvPicPr preferRelativeResize="0"/>
          <p:nvPr/>
        </p:nvPicPr>
        <p:blipFill rotWithShape="1">
          <a:blip r:embed="rId3">
            <a:alphaModFix/>
          </a:blip>
          <a:srcRect/>
          <a:stretch/>
        </p:blipFill>
        <p:spPr>
          <a:xfrm>
            <a:off x="4499407" y="3500021"/>
            <a:ext cx="7077075" cy="2876550"/>
          </a:xfrm>
          <a:prstGeom prst="rect">
            <a:avLst/>
          </a:prstGeom>
          <a:noFill/>
          <a:ln>
            <a:noFill/>
          </a:ln>
        </p:spPr>
      </p:pic>
      <p:sp>
        <p:nvSpPr>
          <p:cNvPr id="351" name="Google Shape;351;p18"/>
          <p:cNvSpPr txBox="1"/>
          <p:nvPr/>
        </p:nvSpPr>
        <p:spPr>
          <a:xfrm>
            <a:off x="615518" y="3500747"/>
            <a:ext cx="3883889" cy="25545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Los estadísticos de prueba varían según el tipo de prueba estadística que estemos realizando y la naturaleza de los datos. Algunos ejemplos comunes de estadísticos de prueba incluyen la prueba t de Student, la prueba Z, la prueba F y la prueba chi-cuadrado. Estos estadísticos se eligen en función de las características de los datos y las suposiciones subyacentes del modelo estadístico.</a:t>
            </a:r>
            <a:endParaRPr sz="16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7"/>
                                        </p:tgtEl>
                                        <p:attrNameLst>
                                          <p:attrName>style.visibility</p:attrName>
                                        </p:attrNameLst>
                                      </p:cBhvr>
                                      <p:to>
                                        <p:strVal val="visible"/>
                                      </p:to>
                                    </p:set>
                                    <p:animEffect transition="in" filter="fade">
                                      <p:cBhvr>
                                        <p:cTn id="7" dur="500"/>
                                        <p:tgtEl>
                                          <p:spTgt spid="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19"/>
          <p:cNvSpPr/>
          <p:nvPr/>
        </p:nvSpPr>
        <p:spPr>
          <a:xfrm>
            <a:off x="-207951" y="1024454"/>
            <a:ext cx="12449607" cy="1039517"/>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p19"/>
          <p:cNvSpPr txBox="1"/>
          <p:nvPr/>
        </p:nvSpPr>
        <p:spPr>
          <a:xfrm>
            <a:off x="346973" y="100585"/>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Estadístico de Pruebas</a:t>
            </a:r>
            <a:endParaRPr sz="3200">
              <a:solidFill>
                <a:srgbClr val="7F7F7F"/>
              </a:solidFill>
              <a:latin typeface="Arial"/>
              <a:ea typeface="Arial"/>
              <a:cs typeface="Arial"/>
              <a:sym typeface="Arial"/>
            </a:endParaRPr>
          </a:p>
        </p:txBody>
      </p:sp>
      <p:sp>
        <p:nvSpPr>
          <p:cNvPr id="358" name="Google Shape;358;p19"/>
          <p:cNvSpPr txBox="1"/>
          <p:nvPr/>
        </p:nvSpPr>
        <p:spPr>
          <a:xfrm>
            <a:off x="513347" y="1179648"/>
            <a:ext cx="1094171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Existen variadas pruebas de hipótesis, dependiendo del tipo de parámetro a inferir y de las características de la muestra. A continuación, se presentan ejemplos de pruebas relacionadas con la inferencia de la media.</a:t>
            </a:r>
            <a:endParaRPr/>
          </a:p>
        </p:txBody>
      </p:sp>
      <p:sp>
        <p:nvSpPr>
          <p:cNvPr id="359" name="Google Shape;359;p19"/>
          <p:cNvSpPr/>
          <p:nvPr/>
        </p:nvSpPr>
        <p:spPr>
          <a:xfrm>
            <a:off x="355053" y="2251345"/>
            <a:ext cx="11323600" cy="4186988"/>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19"/>
          <p:cNvSpPr/>
          <p:nvPr/>
        </p:nvSpPr>
        <p:spPr>
          <a:xfrm>
            <a:off x="4293940" y="2561280"/>
            <a:ext cx="3521368" cy="3651684"/>
          </a:xfrm>
          <a:prstGeom prst="rect">
            <a:avLst/>
          </a:prstGeom>
          <a:solidFill>
            <a:schemeClr val="lt1">
              <a:alpha val="63921"/>
            </a:schemeClr>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1" name="Google Shape;361;p19"/>
          <p:cNvSpPr/>
          <p:nvPr/>
        </p:nvSpPr>
        <p:spPr>
          <a:xfrm>
            <a:off x="513347" y="2562682"/>
            <a:ext cx="3521369" cy="3651685"/>
          </a:xfrm>
          <a:prstGeom prst="rect">
            <a:avLst/>
          </a:prstGeom>
          <a:solidFill>
            <a:schemeClr val="lt1">
              <a:alpha val="63921"/>
            </a:schemeClr>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2" name="Google Shape;362;p19"/>
          <p:cNvSpPr txBox="1"/>
          <p:nvPr/>
        </p:nvSpPr>
        <p:spPr>
          <a:xfrm>
            <a:off x="1489265" y="2608632"/>
            <a:ext cx="156953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Rounded"/>
                <a:ea typeface="Arial Rounded"/>
                <a:cs typeface="Arial Rounded"/>
                <a:sym typeface="Arial Rounded"/>
              </a:rPr>
              <a:t>Para medias</a:t>
            </a:r>
            <a:endParaRPr/>
          </a:p>
        </p:txBody>
      </p:sp>
      <p:sp>
        <p:nvSpPr>
          <p:cNvPr id="363" name="Google Shape;363;p19"/>
          <p:cNvSpPr txBox="1"/>
          <p:nvPr/>
        </p:nvSpPr>
        <p:spPr>
          <a:xfrm>
            <a:off x="5104388" y="2605286"/>
            <a:ext cx="22552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Rounded"/>
                <a:ea typeface="Arial Rounded"/>
                <a:cs typeface="Arial Rounded"/>
                <a:sym typeface="Arial Rounded"/>
              </a:rPr>
              <a:t>Para proporciones</a:t>
            </a:r>
            <a:endParaRPr/>
          </a:p>
        </p:txBody>
      </p:sp>
      <p:sp>
        <p:nvSpPr>
          <p:cNvPr id="364" name="Google Shape;364;p19"/>
          <p:cNvSpPr/>
          <p:nvPr/>
        </p:nvSpPr>
        <p:spPr>
          <a:xfrm>
            <a:off x="7986533" y="2561280"/>
            <a:ext cx="3521368" cy="3651684"/>
          </a:xfrm>
          <a:prstGeom prst="rect">
            <a:avLst/>
          </a:prstGeom>
          <a:solidFill>
            <a:schemeClr val="lt1">
              <a:alpha val="63921"/>
            </a:schemeClr>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5" name="Google Shape;365;p19"/>
          <p:cNvSpPr txBox="1"/>
          <p:nvPr/>
        </p:nvSpPr>
        <p:spPr>
          <a:xfrm>
            <a:off x="8613381" y="2583837"/>
            <a:ext cx="226767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Rounded"/>
                <a:ea typeface="Arial Rounded"/>
                <a:cs typeface="Arial Rounded"/>
                <a:sym typeface="Arial Rounded"/>
              </a:rPr>
              <a:t>Para dos muestras</a:t>
            </a:r>
            <a:endParaRPr/>
          </a:p>
        </p:txBody>
      </p:sp>
      <p:sp>
        <p:nvSpPr>
          <p:cNvPr id="366" name="Google Shape;366;p19"/>
          <p:cNvSpPr txBox="1"/>
          <p:nvPr/>
        </p:nvSpPr>
        <p:spPr>
          <a:xfrm>
            <a:off x="684099" y="2977964"/>
            <a:ext cx="3257586" cy="30469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dk1"/>
                </a:solidFill>
                <a:latin typeface="Calibri"/>
                <a:ea typeface="Calibri"/>
                <a:cs typeface="Calibri"/>
                <a:sym typeface="Calibri"/>
              </a:rPr>
              <a:t>En un estudio sobre la duración de baterías, se recopilan datos de una muestra de 30 baterías y se calcula su duración media. Se plantea una hipótesis nula de que la duración promedio es 10 horas, y una alternativa de que es menor. Mediante una prueba de hipótesis sobre la media de la muestra, se determina si hay suficiente evidencia para rechazar la afirmación de la empresa.</a:t>
            </a:r>
            <a:endParaRPr sz="1600">
              <a:solidFill>
                <a:schemeClr val="dk1"/>
              </a:solidFill>
              <a:latin typeface="Calibri"/>
              <a:ea typeface="Calibri"/>
              <a:cs typeface="Calibri"/>
              <a:sym typeface="Calibri"/>
            </a:endParaRPr>
          </a:p>
        </p:txBody>
      </p:sp>
      <p:sp>
        <p:nvSpPr>
          <p:cNvPr id="367" name="Google Shape;367;p19"/>
          <p:cNvSpPr txBox="1"/>
          <p:nvPr/>
        </p:nvSpPr>
        <p:spPr>
          <a:xfrm>
            <a:off x="4502010" y="2977964"/>
            <a:ext cx="3313298" cy="30469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dk1"/>
                </a:solidFill>
                <a:latin typeface="Calibri"/>
                <a:ea typeface="Calibri"/>
                <a:cs typeface="Calibri"/>
                <a:sym typeface="Calibri"/>
              </a:rPr>
              <a:t>Se recolecta una muestra de productos para verificar si el 80% cumple con un estándar de calidad. Se plantea una hipótesis nula de que la proporción es 0.80 y una alternativa de que es diferente. Se realiza una prueba de hipótesis sobre la proporción muestral para evaluar la afirmación de la empresa. Dependiendo del resultado, se toman decisiones sobre la calidad de los productos.</a:t>
            </a:r>
            <a:endParaRPr sz="1600">
              <a:solidFill>
                <a:schemeClr val="dk1"/>
              </a:solidFill>
              <a:latin typeface="Calibri"/>
              <a:ea typeface="Calibri"/>
              <a:cs typeface="Calibri"/>
              <a:sym typeface="Calibri"/>
            </a:endParaRPr>
          </a:p>
        </p:txBody>
      </p:sp>
      <p:sp>
        <p:nvSpPr>
          <p:cNvPr id="368" name="Google Shape;368;p19"/>
          <p:cNvSpPr txBox="1"/>
          <p:nvPr/>
        </p:nvSpPr>
        <p:spPr>
          <a:xfrm>
            <a:off x="8239328" y="2987840"/>
            <a:ext cx="3154476" cy="30469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dk1"/>
                </a:solidFill>
                <a:latin typeface="Calibri"/>
                <a:ea typeface="Calibri"/>
                <a:cs typeface="Calibri"/>
                <a:sym typeface="Calibri"/>
              </a:rPr>
              <a:t>Se comparan los puntajes promedio en matemáticas entre dos grupos de estudiantes, A y B. Se toman muestras aleatorias de cada grupo y se calculan las medias de los puntajes. Se utiliza una prueba de hipótesis sobre la diferencia de medias para determinar si hay suficiente evidencia para afirmar que las medias son diferentes, con una hipótesis nula de igualdad y una alternativa de diferencia. </a:t>
            </a:r>
            <a:endParaRPr sz="16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7"/>
                                        </p:tgtEl>
                                        <p:attrNameLst>
                                          <p:attrName>style.visibility</p:attrName>
                                        </p:attrNameLst>
                                      </p:cBhvr>
                                      <p:to>
                                        <p:strVal val="visible"/>
                                      </p:to>
                                    </p:set>
                                    <p:animEffect transition="in" filter="fade">
                                      <p:cBhvr>
                                        <p:cTn id="7" dur="500"/>
                                        <p:tgtEl>
                                          <p:spTgt spid="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0"/>
          <p:cNvSpPr/>
          <p:nvPr/>
        </p:nvSpPr>
        <p:spPr>
          <a:xfrm>
            <a:off x="-257607" y="1454995"/>
            <a:ext cx="12449607" cy="1212413"/>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p20"/>
          <p:cNvSpPr txBox="1"/>
          <p:nvPr/>
        </p:nvSpPr>
        <p:spPr>
          <a:xfrm>
            <a:off x="446820" y="676059"/>
            <a:ext cx="10682453" cy="519049"/>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Estadístico de Pruebas</a:t>
            </a:r>
            <a:endParaRPr sz="3200">
              <a:solidFill>
                <a:srgbClr val="7F7F7F"/>
              </a:solidFill>
              <a:latin typeface="Arial"/>
              <a:ea typeface="Arial"/>
              <a:cs typeface="Arial"/>
              <a:sym typeface="Arial"/>
            </a:endParaRPr>
          </a:p>
        </p:txBody>
      </p:sp>
      <p:sp>
        <p:nvSpPr>
          <p:cNvPr id="375" name="Google Shape;375;p20"/>
          <p:cNvSpPr txBox="1"/>
          <p:nvPr/>
        </p:nvSpPr>
        <p:spPr>
          <a:xfrm>
            <a:off x="448437" y="1572600"/>
            <a:ext cx="11129662"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realizar una prueba de hipótesis sobre la media a partir de una muestra, se suele utilizar la distribución t de Student. Esta distribución se utiliza cuando el tamaño de la muestra es pequeño (generalmente menos de 30 observaciones) y/o la desviación estándar poblacional es desconocida.</a:t>
            </a:r>
            <a:endParaRPr/>
          </a:p>
        </p:txBody>
      </p:sp>
      <p:sp>
        <p:nvSpPr>
          <p:cNvPr id="376" name="Google Shape;376;p20"/>
          <p:cNvSpPr/>
          <p:nvPr/>
        </p:nvSpPr>
        <p:spPr>
          <a:xfrm>
            <a:off x="446820" y="2937866"/>
            <a:ext cx="11323500" cy="3198000"/>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pic>
        <p:nvPicPr>
          <p:cNvPr id="377" name="Google Shape;377;p20" descr="RECURSOS ESTADÍSTICOS&quot; DISTRIBUCIÓN NORMAL,PRUEBA DE HIPÓTESIS&quot;"/>
          <p:cNvPicPr preferRelativeResize="0"/>
          <p:nvPr/>
        </p:nvPicPr>
        <p:blipFill rotWithShape="1">
          <a:blip r:embed="rId3">
            <a:alphaModFix/>
          </a:blip>
          <a:srcRect/>
          <a:stretch/>
        </p:blipFill>
        <p:spPr>
          <a:xfrm>
            <a:off x="4591174" y="3170904"/>
            <a:ext cx="7077075" cy="2876550"/>
          </a:xfrm>
          <a:prstGeom prst="rect">
            <a:avLst/>
          </a:prstGeom>
          <a:noFill/>
          <a:ln>
            <a:noFill/>
          </a:ln>
        </p:spPr>
      </p:pic>
      <p:sp>
        <p:nvSpPr>
          <p:cNvPr id="378" name="Google Shape;378;p20"/>
          <p:cNvSpPr txBox="1"/>
          <p:nvPr/>
        </p:nvSpPr>
        <p:spPr>
          <a:xfrm>
            <a:off x="707285" y="3382696"/>
            <a:ext cx="3883800" cy="2308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dk1"/>
                </a:solidFill>
                <a:latin typeface="Calibri"/>
                <a:ea typeface="Calibri"/>
                <a:cs typeface="Calibri"/>
                <a:sym typeface="Calibri"/>
              </a:rPr>
              <a:t>La distribución t de Student es similar a la distribución normal estándar, pero tiene colas más pesadas, lo que la hace más apropiada para muestras pequeñas donde la variabilidad puede ser mayor. La forma de la distribución t depende del tamaño de la muestra y tiene un parámetro adicional, los grados de libertad, que se calcula restando 1 al tamaño de la muestra.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4"/>
                                        </p:tgtEl>
                                        <p:attrNameLst>
                                          <p:attrName>style.visibility</p:attrName>
                                        </p:attrNameLst>
                                      </p:cBhvr>
                                      <p:to>
                                        <p:strVal val="visible"/>
                                      </p:to>
                                    </p:set>
                                    <p:animEffect transition="in" filter="fade">
                                      <p:cBhvr>
                                        <p:cTn id="7" dur="500"/>
                                        <p:tgtEl>
                                          <p:spTgt spid="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1"/>
          <p:cNvSpPr/>
          <p:nvPr/>
        </p:nvSpPr>
        <p:spPr>
          <a:xfrm>
            <a:off x="-259224" y="878051"/>
            <a:ext cx="12449607" cy="1237087"/>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21"/>
          <p:cNvSpPr txBox="1"/>
          <p:nvPr/>
        </p:nvSpPr>
        <p:spPr>
          <a:xfrm>
            <a:off x="346973" y="100585"/>
            <a:ext cx="10782300" cy="614625"/>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Estadísticos para medias</a:t>
            </a:r>
            <a:endParaRPr sz="3200">
              <a:solidFill>
                <a:srgbClr val="7F7F7F"/>
              </a:solidFill>
              <a:latin typeface="Arial"/>
              <a:ea typeface="Arial"/>
              <a:cs typeface="Arial"/>
              <a:sym typeface="Arial"/>
            </a:endParaRPr>
          </a:p>
        </p:txBody>
      </p:sp>
      <p:sp>
        <p:nvSpPr>
          <p:cNvPr id="385" name="Google Shape;385;p21"/>
          <p:cNvSpPr txBox="1"/>
          <p:nvPr/>
        </p:nvSpPr>
        <p:spPr>
          <a:xfrm>
            <a:off x="446820" y="1026950"/>
            <a:ext cx="10941718"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distribución normal se utiliza cuando estamos trabajando con datos continuos y el tamaño de la muestra es grande (generalmente más de 30 observaciones). También se puede utilizar cuando conocemos la desviación estándar poblacional.</a:t>
            </a:r>
            <a:endParaRPr/>
          </a:p>
        </p:txBody>
      </p:sp>
      <p:sp>
        <p:nvSpPr>
          <p:cNvPr id="386" name="Google Shape;386;p21"/>
          <p:cNvSpPr/>
          <p:nvPr/>
        </p:nvSpPr>
        <p:spPr>
          <a:xfrm>
            <a:off x="355053" y="2295735"/>
            <a:ext cx="11323600" cy="4186988"/>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87" name="Google Shape;387;p21"/>
          <p:cNvSpPr/>
          <p:nvPr/>
        </p:nvSpPr>
        <p:spPr>
          <a:xfrm>
            <a:off x="5362112" y="2655554"/>
            <a:ext cx="2792691" cy="3602184"/>
          </a:xfrm>
          <a:prstGeom prst="rect">
            <a:avLst/>
          </a:prstGeom>
          <a:solidFill>
            <a:srgbClr val="E9EAEC">
              <a:alpha val="63921"/>
            </a:srgbClr>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8" name="Google Shape;388;p21"/>
          <p:cNvSpPr txBox="1"/>
          <p:nvPr/>
        </p:nvSpPr>
        <p:spPr>
          <a:xfrm>
            <a:off x="5937958" y="3352027"/>
            <a:ext cx="1596934" cy="1017394"/>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89" name="Google Shape;389;p21"/>
          <p:cNvSpPr txBox="1"/>
          <p:nvPr/>
        </p:nvSpPr>
        <p:spPr>
          <a:xfrm>
            <a:off x="5897296" y="4898691"/>
            <a:ext cx="1596934" cy="1081258"/>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90" name="Google Shape;390;p21"/>
          <p:cNvSpPr txBox="1"/>
          <p:nvPr/>
        </p:nvSpPr>
        <p:spPr>
          <a:xfrm>
            <a:off x="6050732" y="2701503"/>
            <a:ext cx="156953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Rounded"/>
                <a:ea typeface="Arial Rounded"/>
                <a:cs typeface="Arial Rounded"/>
                <a:sym typeface="Arial Rounded"/>
              </a:rPr>
              <a:t>Para medias</a:t>
            </a:r>
            <a:endParaRPr/>
          </a:p>
        </p:txBody>
      </p:sp>
      <p:cxnSp>
        <p:nvCxnSpPr>
          <p:cNvPr id="391" name="Google Shape;391;p21"/>
          <p:cNvCxnSpPr/>
          <p:nvPr/>
        </p:nvCxnSpPr>
        <p:spPr>
          <a:xfrm rot="10800000">
            <a:off x="8414027" y="3682862"/>
            <a:ext cx="846072" cy="0"/>
          </a:xfrm>
          <a:prstGeom prst="straightConnector1">
            <a:avLst/>
          </a:prstGeom>
          <a:noFill/>
          <a:ln w="9525" cap="flat" cmpd="sng">
            <a:solidFill>
              <a:srgbClr val="8B2E73"/>
            </a:solidFill>
            <a:prstDash val="solid"/>
            <a:miter lim="800000"/>
            <a:headEnd type="none" w="sm" len="sm"/>
            <a:tailEnd type="triangle" w="med" len="med"/>
          </a:ln>
        </p:spPr>
      </p:cxnSp>
      <p:sp>
        <p:nvSpPr>
          <p:cNvPr id="392" name="Google Shape;392;p21"/>
          <p:cNvSpPr txBox="1"/>
          <p:nvPr/>
        </p:nvSpPr>
        <p:spPr>
          <a:xfrm>
            <a:off x="9326341" y="3378573"/>
            <a:ext cx="2206376" cy="738664"/>
          </a:xfrm>
          <a:prstGeom prst="rect">
            <a:avLst/>
          </a:prstGeom>
          <a:blipFill rotWithShape="1">
            <a:blip r:embed="rId5">
              <a:alphaModFix/>
            </a:blip>
            <a:stretch>
              <a:fillRect t="-1652" r="-828" b="-826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93" name="Google Shape;393;p21"/>
          <p:cNvSpPr txBox="1"/>
          <p:nvPr/>
        </p:nvSpPr>
        <p:spPr>
          <a:xfrm>
            <a:off x="9454018" y="5069988"/>
            <a:ext cx="2030716" cy="738664"/>
          </a:xfrm>
          <a:prstGeom prst="rect">
            <a:avLst/>
          </a:prstGeom>
          <a:blipFill rotWithShape="1">
            <a:blip r:embed="rId6">
              <a:alphaModFix/>
            </a:blip>
            <a:stretch>
              <a:fillRect t="-1652" b="-743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cxnSp>
        <p:nvCxnSpPr>
          <p:cNvPr id="394" name="Google Shape;394;p21"/>
          <p:cNvCxnSpPr/>
          <p:nvPr/>
        </p:nvCxnSpPr>
        <p:spPr>
          <a:xfrm rot="10800000">
            <a:off x="8414027" y="5356233"/>
            <a:ext cx="912314" cy="0"/>
          </a:xfrm>
          <a:prstGeom prst="straightConnector1">
            <a:avLst/>
          </a:prstGeom>
          <a:noFill/>
          <a:ln w="9525" cap="flat" cmpd="sng">
            <a:solidFill>
              <a:srgbClr val="8B2E73"/>
            </a:solidFill>
            <a:prstDash val="solid"/>
            <a:miter lim="800000"/>
            <a:headEnd type="none" w="sm" len="sm"/>
            <a:tailEnd type="triangle" w="med" len="med"/>
          </a:ln>
        </p:spPr>
      </p:cxnSp>
      <p:sp>
        <p:nvSpPr>
          <p:cNvPr id="395" name="Google Shape;395;p21"/>
          <p:cNvSpPr txBox="1"/>
          <p:nvPr/>
        </p:nvSpPr>
        <p:spPr>
          <a:xfrm>
            <a:off x="631554" y="2886169"/>
            <a:ext cx="4454057" cy="1323439"/>
          </a:xfrm>
          <a:prstGeom prst="rect">
            <a:avLst/>
          </a:prstGeom>
          <a:blipFill rotWithShape="1">
            <a:blip r:embed="rId7">
              <a:alphaModFix/>
            </a:blip>
            <a:stretch>
              <a:fillRect l="-820" t="-1375" b="-458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96" name="Google Shape;396;p21"/>
          <p:cNvSpPr txBox="1"/>
          <p:nvPr/>
        </p:nvSpPr>
        <p:spPr>
          <a:xfrm>
            <a:off x="648831" y="4712762"/>
            <a:ext cx="4454057" cy="1323439"/>
          </a:xfrm>
          <a:prstGeom prst="rect">
            <a:avLst/>
          </a:prstGeom>
          <a:blipFill rotWithShape="1">
            <a:blip r:embed="rId8">
              <a:alphaModFix/>
            </a:blip>
            <a:stretch>
              <a:fillRect l="-682" t="-1380" b="-506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4"/>
                                        </p:tgtEl>
                                        <p:attrNameLst>
                                          <p:attrName>style.visibility</p:attrName>
                                        </p:attrNameLst>
                                      </p:cBhvr>
                                      <p:to>
                                        <p:strVal val="visible"/>
                                      </p:to>
                                    </p:set>
                                    <p:animEffect transition="in" filter="fade">
                                      <p:cBhvr>
                                        <p:cTn id="7" dur="5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2"/>
          <p:cNvSpPr/>
          <p:nvPr/>
        </p:nvSpPr>
        <p:spPr>
          <a:xfrm>
            <a:off x="-259224" y="1104661"/>
            <a:ext cx="12449607" cy="1364768"/>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2" name="Google Shape;402;p22"/>
          <p:cNvSpPr txBox="1"/>
          <p:nvPr/>
        </p:nvSpPr>
        <p:spPr>
          <a:xfrm>
            <a:off x="434200" y="15329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Estadístico para proporciones</a:t>
            </a:r>
            <a:endParaRPr sz="3200">
              <a:solidFill>
                <a:srgbClr val="7F7F7F"/>
              </a:solidFill>
              <a:latin typeface="Arial"/>
              <a:ea typeface="Arial"/>
              <a:cs typeface="Arial"/>
              <a:sym typeface="Arial"/>
            </a:endParaRPr>
          </a:p>
        </p:txBody>
      </p:sp>
      <p:sp>
        <p:nvSpPr>
          <p:cNvPr id="403" name="Google Shape;403;p22"/>
          <p:cNvSpPr txBox="1"/>
          <p:nvPr/>
        </p:nvSpPr>
        <p:spPr>
          <a:xfrm>
            <a:off x="446820" y="1284408"/>
            <a:ext cx="10941718"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realizar pruebas de hipótesis sobre proporciones, se utiliza el estadístico de prueba Z. Este estadístico sigue una distribución normal estándar cuando se cumplen ciertas condiciones, como un tamaño de muestra grande y una proporción de población conocida o una proporción de población estimada a partir de la muestra</a:t>
            </a:r>
            <a:r>
              <a:rPr lang="es-ES" sz="1800">
                <a:solidFill>
                  <a:schemeClr val="lt1"/>
                </a:solidFill>
                <a:latin typeface="Arial"/>
                <a:ea typeface="Arial"/>
                <a:cs typeface="Arial"/>
                <a:sym typeface="Arial"/>
              </a:rPr>
              <a:t>.</a:t>
            </a:r>
            <a:endParaRPr/>
          </a:p>
        </p:txBody>
      </p:sp>
      <p:sp>
        <p:nvSpPr>
          <p:cNvPr id="404" name="Google Shape;404;p22"/>
          <p:cNvSpPr/>
          <p:nvPr/>
        </p:nvSpPr>
        <p:spPr>
          <a:xfrm>
            <a:off x="434200" y="2762449"/>
            <a:ext cx="11323500" cy="3470700"/>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05" name="Google Shape;405;p22"/>
          <p:cNvSpPr/>
          <p:nvPr/>
        </p:nvSpPr>
        <p:spPr>
          <a:xfrm>
            <a:off x="1071290" y="3041555"/>
            <a:ext cx="4083600" cy="2472000"/>
          </a:xfrm>
          <a:prstGeom prst="rect">
            <a:avLst/>
          </a:prstGeom>
          <a:solidFill>
            <a:srgbClr val="E9EAEC">
              <a:alpha val="63921"/>
            </a:srgbClr>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6" name="Google Shape;406;p22"/>
          <p:cNvSpPr txBox="1"/>
          <p:nvPr/>
        </p:nvSpPr>
        <p:spPr>
          <a:xfrm>
            <a:off x="1852451" y="3812717"/>
            <a:ext cx="2412900" cy="11850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7" name="Google Shape;407;p22"/>
          <p:cNvSpPr txBox="1"/>
          <p:nvPr/>
        </p:nvSpPr>
        <p:spPr>
          <a:xfrm>
            <a:off x="2009931" y="3074582"/>
            <a:ext cx="2255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Rounded"/>
                <a:ea typeface="Arial Rounded"/>
                <a:cs typeface="Arial Rounded"/>
                <a:sym typeface="Arial Rounded"/>
              </a:rPr>
              <a:t>Para proporciones</a:t>
            </a:r>
            <a:endParaRPr/>
          </a:p>
        </p:txBody>
      </p:sp>
      <p:sp>
        <p:nvSpPr>
          <p:cNvPr id="408" name="Google Shape;408;p22"/>
          <p:cNvSpPr txBox="1"/>
          <p:nvPr/>
        </p:nvSpPr>
        <p:spPr>
          <a:xfrm>
            <a:off x="5484886" y="5607752"/>
            <a:ext cx="2030700" cy="523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Variable aleatoria normal o binominal, con n &gt; 30 </a:t>
            </a:r>
            <a:endParaRPr/>
          </a:p>
        </p:txBody>
      </p:sp>
      <p:cxnSp>
        <p:nvCxnSpPr>
          <p:cNvPr id="409" name="Google Shape;409;p22"/>
          <p:cNvCxnSpPr/>
          <p:nvPr/>
        </p:nvCxnSpPr>
        <p:spPr>
          <a:xfrm rot="10800000">
            <a:off x="4600921" y="5334190"/>
            <a:ext cx="703200" cy="297300"/>
          </a:xfrm>
          <a:prstGeom prst="straightConnector1">
            <a:avLst/>
          </a:prstGeom>
          <a:noFill/>
          <a:ln w="9525" cap="flat" cmpd="sng">
            <a:solidFill>
              <a:schemeClr val="accent1"/>
            </a:solidFill>
            <a:prstDash val="solid"/>
            <a:miter lim="800000"/>
            <a:headEnd type="none" w="sm" len="sm"/>
            <a:tailEnd type="triangle" w="med" len="med"/>
          </a:ln>
        </p:spPr>
      </p:cxnSp>
      <p:sp>
        <p:nvSpPr>
          <p:cNvPr id="410" name="Google Shape;410;p22"/>
          <p:cNvSpPr txBox="1"/>
          <p:nvPr/>
        </p:nvSpPr>
        <p:spPr>
          <a:xfrm>
            <a:off x="5936179" y="3738885"/>
            <a:ext cx="4942800" cy="1077300"/>
          </a:xfrm>
          <a:prstGeom prst="rect">
            <a:avLst/>
          </a:prstGeom>
          <a:blipFill rotWithShape="1">
            <a:blip r:embed="rId4">
              <a:alphaModFix/>
            </a:blip>
            <a:stretch>
              <a:fillRect l="-739" t="-1694" b="-62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2"/>
                                        </p:tgtEl>
                                        <p:attrNameLst>
                                          <p:attrName>style.visibility</p:attrName>
                                        </p:attrNameLst>
                                      </p:cBhvr>
                                      <p:to>
                                        <p:strVal val="visible"/>
                                      </p:to>
                                    </p:set>
                                    <p:animEffect transition="in" filter="fade">
                                      <p:cBhvr>
                                        <p:cTn id="7" dur="500"/>
                                        <p:tgtEl>
                                          <p:spTgt spid="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23"/>
          <p:cNvSpPr/>
          <p:nvPr/>
        </p:nvSpPr>
        <p:spPr>
          <a:xfrm>
            <a:off x="-155902" y="1104661"/>
            <a:ext cx="12449607" cy="1364768"/>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23"/>
          <p:cNvSpPr txBox="1"/>
          <p:nvPr/>
        </p:nvSpPr>
        <p:spPr>
          <a:xfrm>
            <a:off x="346973" y="100585"/>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Estadístico para diferencia de medias</a:t>
            </a:r>
            <a:endParaRPr sz="3200">
              <a:solidFill>
                <a:srgbClr val="7F7F7F"/>
              </a:solidFill>
              <a:latin typeface="Arial"/>
              <a:ea typeface="Arial"/>
              <a:cs typeface="Arial"/>
              <a:sym typeface="Arial"/>
            </a:endParaRPr>
          </a:p>
        </p:txBody>
      </p:sp>
      <p:sp>
        <p:nvSpPr>
          <p:cNvPr id="417" name="Google Shape;417;p23"/>
          <p:cNvSpPr txBox="1"/>
          <p:nvPr/>
        </p:nvSpPr>
        <p:spPr>
          <a:xfrm>
            <a:off x="355053" y="1441938"/>
            <a:ext cx="1132360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Esta prueba se utiliza cuando queremos comparar las medias de dos grupos independientes. El estadístico t se calcula como la diferencia entre las medias muestrales dividida por una estimación de la variabilidad de los datos.</a:t>
            </a:r>
            <a:endParaRPr/>
          </a:p>
        </p:txBody>
      </p:sp>
      <p:sp>
        <p:nvSpPr>
          <p:cNvPr id="418" name="Google Shape;418;p23"/>
          <p:cNvSpPr/>
          <p:nvPr/>
        </p:nvSpPr>
        <p:spPr>
          <a:xfrm>
            <a:off x="355050" y="2792775"/>
            <a:ext cx="11323500" cy="3107700"/>
          </a:xfrm>
          <a:prstGeom prst="roundRect">
            <a:avLst>
              <a:gd name="adj" fmla="val 2971"/>
            </a:avLst>
          </a:prstGeom>
          <a:blipFill rotWithShape="1">
            <a:blip r:embed="rId3">
              <a:alphaModFix/>
            </a:blip>
            <a:stretch>
              <a:fillRect/>
            </a:stretch>
          </a:blipFill>
          <a:ln w="38100" cap="flat" cmpd="sng">
            <a:solidFill>
              <a:srgbClr val="8B2E7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19" name="Google Shape;419;p23"/>
          <p:cNvSpPr/>
          <p:nvPr/>
        </p:nvSpPr>
        <p:spPr>
          <a:xfrm>
            <a:off x="1012055" y="3128629"/>
            <a:ext cx="4235400" cy="2472000"/>
          </a:xfrm>
          <a:prstGeom prst="rect">
            <a:avLst/>
          </a:prstGeom>
          <a:solidFill>
            <a:srgbClr val="E9EAEC">
              <a:alpha val="63921"/>
            </a:srgbClr>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0" name="Google Shape;420;p23"/>
          <p:cNvSpPr txBox="1"/>
          <p:nvPr/>
        </p:nvSpPr>
        <p:spPr>
          <a:xfrm>
            <a:off x="1739949" y="3899791"/>
            <a:ext cx="2412900" cy="14811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21" name="Google Shape;421;p23"/>
          <p:cNvSpPr txBox="1"/>
          <p:nvPr/>
        </p:nvSpPr>
        <p:spPr>
          <a:xfrm>
            <a:off x="1533440" y="3197168"/>
            <a:ext cx="3096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Arial Rounded"/>
                <a:ea typeface="Arial Rounded"/>
                <a:cs typeface="Arial Rounded"/>
                <a:sym typeface="Arial Rounded"/>
              </a:rPr>
              <a:t>Para diferencia de medias</a:t>
            </a:r>
            <a:endParaRPr/>
          </a:p>
        </p:txBody>
      </p:sp>
      <p:sp>
        <p:nvSpPr>
          <p:cNvPr id="422" name="Google Shape;422;p23"/>
          <p:cNvSpPr txBox="1"/>
          <p:nvPr/>
        </p:nvSpPr>
        <p:spPr>
          <a:xfrm>
            <a:off x="5904535" y="3657317"/>
            <a:ext cx="4942800" cy="1077300"/>
          </a:xfrm>
          <a:prstGeom prst="rect">
            <a:avLst/>
          </a:prstGeom>
          <a:blipFill rotWithShape="1">
            <a:blip r:embed="rId5">
              <a:alphaModFix/>
            </a:blip>
            <a:stretch>
              <a:fillRect l="-740" t="-1694" b="-62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6"/>
                                        </p:tgtEl>
                                        <p:attrNameLst>
                                          <p:attrName>style.visibility</p:attrName>
                                        </p:attrNameLst>
                                      </p:cBhvr>
                                      <p:to>
                                        <p:strVal val="visible"/>
                                      </p:to>
                                    </p:set>
                                    <p:animEffect transition="in" filter="fade">
                                      <p:cBhvr>
                                        <p:cTn id="7" dur="500"/>
                                        <p:tgtEl>
                                          <p:spTgt spid="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24"/>
          <p:cNvSpPr/>
          <p:nvPr/>
        </p:nvSpPr>
        <p:spPr>
          <a:xfrm>
            <a:off x="772516" y="1409700"/>
            <a:ext cx="10436768" cy="4971883"/>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28" name="Google Shape;428;p24"/>
          <p:cNvSpPr txBox="1"/>
          <p:nvPr/>
        </p:nvSpPr>
        <p:spPr>
          <a:xfrm>
            <a:off x="772516" y="533689"/>
            <a:ext cx="10714634" cy="701773"/>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Estadístico de Pruebas</a:t>
            </a:r>
            <a:endParaRPr sz="3200">
              <a:solidFill>
                <a:srgbClr val="7F7F7F"/>
              </a:solidFill>
              <a:latin typeface="Arial"/>
              <a:ea typeface="Arial"/>
              <a:cs typeface="Arial"/>
              <a:sym typeface="Arial"/>
            </a:endParaRPr>
          </a:p>
        </p:txBody>
      </p:sp>
      <p:graphicFrame>
        <p:nvGraphicFramePr>
          <p:cNvPr id="429" name="Google Shape;429;p24"/>
          <p:cNvGraphicFramePr/>
          <p:nvPr/>
        </p:nvGraphicFramePr>
        <p:xfrm>
          <a:off x="1202267" y="1708140"/>
          <a:ext cx="9787450" cy="4329670"/>
        </p:xfrm>
        <a:graphic>
          <a:graphicData uri="http://schemas.openxmlformats.org/drawingml/2006/table">
            <a:tbl>
              <a:tblPr firstRow="1">
                <a:noFill/>
                <a:tableStyleId>{3AC91A65-7CFD-4C13-BA17-9EF92CE3DCE8}</a:tableStyleId>
              </a:tblPr>
              <a:tblGrid>
                <a:gridCol w="2384075">
                  <a:extLst>
                    <a:ext uri="{9D8B030D-6E8A-4147-A177-3AD203B41FA5}">
                      <a16:colId xmlns:a16="http://schemas.microsoft.com/office/drawing/2014/main" val="20000"/>
                    </a:ext>
                  </a:extLst>
                </a:gridCol>
                <a:gridCol w="2379950">
                  <a:extLst>
                    <a:ext uri="{9D8B030D-6E8A-4147-A177-3AD203B41FA5}">
                      <a16:colId xmlns:a16="http://schemas.microsoft.com/office/drawing/2014/main" val="20001"/>
                    </a:ext>
                  </a:extLst>
                </a:gridCol>
                <a:gridCol w="2344950">
                  <a:extLst>
                    <a:ext uri="{9D8B030D-6E8A-4147-A177-3AD203B41FA5}">
                      <a16:colId xmlns:a16="http://schemas.microsoft.com/office/drawing/2014/main" val="20002"/>
                    </a:ext>
                  </a:extLst>
                </a:gridCol>
                <a:gridCol w="2678475">
                  <a:extLst>
                    <a:ext uri="{9D8B030D-6E8A-4147-A177-3AD203B41FA5}">
                      <a16:colId xmlns:a16="http://schemas.microsoft.com/office/drawing/2014/main" val="20003"/>
                    </a:ext>
                  </a:extLst>
                </a:gridCol>
              </a:tblGrid>
              <a:tr h="522725">
                <a:tc>
                  <a:txBody>
                    <a:bodyPr/>
                    <a:lstStyle/>
                    <a:p>
                      <a:pPr marL="0" marR="0" lvl="0" indent="0" algn="l" rtl="0">
                        <a:lnSpc>
                          <a:spcPct val="100000"/>
                        </a:lnSpc>
                        <a:spcBef>
                          <a:spcPts val="0"/>
                        </a:spcBef>
                        <a:spcAft>
                          <a:spcPts val="0"/>
                        </a:spcAft>
                        <a:buClr>
                          <a:schemeClr val="hlink"/>
                        </a:buClr>
                        <a:buSzPts val="1440"/>
                        <a:buFont typeface="Noto Sans Symbols"/>
                        <a:buNone/>
                      </a:pPr>
                      <a:r>
                        <a:rPr lang="es-ES" sz="1800" b="1" u="none" strike="noStrike" cap="none">
                          <a:solidFill>
                            <a:schemeClr val="dk1"/>
                          </a:solidFill>
                        </a:rPr>
                        <a:t>Población</a:t>
                      </a:r>
                      <a:endParaRPr sz="1800" b="1" i="0" u="none" strike="noStrike" cap="none">
                        <a:solidFill>
                          <a:schemeClr val="dk1"/>
                        </a:solidFill>
                        <a:latin typeface="Arial"/>
                        <a:ea typeface="Arial"/>
                        <a:cs typeface="Arial"/>
                        <a:sym typeface="Arial"/>
                      </a:endParaRPr>
                    </a:p>
                  </a:txBody>
                  <a:tcPr marL="91450" marR="91450" marT="45725" marB="45725">
                    <a:solidFill>
                      <a:srgbClr val="E9EAEC"/>
                    </a:solidFill>
                  </a:tcPr>
                </a:tc>
                <a:tc>
                  <a:txBody>
                    <a:bodyPr/>
                    <a:lstStyle/>
                    <a:p>
                      <a:pPr marL="0" marR="0" lvl="0" indent="0" algn="l" rtl="0">
                        <a:lnSpc>
                          <a:spcPct val="100000"/>
                        </a:lnSpc>
                        <a:spcBef>
                          <a:spcPts val="0"/>
                        </a:spcBef>
                        <a:spcAft>
                          <a:spcPts val="0"/>
                        </a:spcAft>
                        <a:buClr>
                          <a:schemeClr val="hlink"/>
                        </a:buClr>
                        <a:buSzPts val="1440"/>
                        <a:buFont typeface="Noto Sans Symbols"/>
                        <a:buNone/>
                      </a:pPr>
                      <a:r>
                        <a:rPr lang="es-ES" sz="1800" b="1" u="none" strike="noStrike" cap="none">
                          <a:solidFill>
                            <a:schemeClr val="dk1"/>
                          </a:solidFill>
                        </a:rPr>
                        <a:t>Tamaño de Muestra</a:t>
                      </a:r>
                      <a:endParaRPr sz="1800" b="1" i="0" u="none" strike="noStrike" cap="none">
                        <a:solidFill>
                          <a:schemeClr val="dk1"/>
                        </a:solidFill>
                        <a:latin typeface="Arial"/>
                        <a:ea typeface="Arial"/>
                        <a:cs typeface="Arial"/>
                        <a:sym typeface="Arial"/>
                      </a:endParaRPr>
                    </a:p>
                  </a:txBody>
                  <a:tcPr marL="91450" marR="91450" marT="45725" marB="45725">
                    <a:solidFill>
                      <a:srgbClr val="E9EAEC"/>
                    </a:solidFill>
                  </a:tcPr>
                </a:tc>
                <a:tc>
                  <a:txBody>
                    <a:bodyPr/>
                    <a:lstStyle/>
                    <a:p>
                      <a:pPr marL="0" marR="0" lvl="0" indent="0" algn="l" rtl="0">
                        <a:lnSpc>
                          <a:spcPct val="100000"/>
                        </a:lnSpc>
                        <a:spcBef>
                          <a:spcPts val="0"/>
                        </a:spcBef>
                        <a:spcAft>
                          <a:spcPts val="0"/>
                        </a:spcAft>
                        <a:buClr>
                          <a:schemeClr val="hlink"/>
                        </a:buClr>
                        <a:buSzPts val="1440"/>
                        <a:buFont typeface="Noto Sans Symbols"/>
                        <a:buNone/>
                      </a:pPr>
                      <a:r>
                        <a:rPr lang="es-ES" sz="1800" b="1" u="none" strike="noStrike" cap="none">
                          <a:solidFill>
                            <a:schemeClr val="dk1"/>
                          </a:solidFill>
                        </a:rPr>
                        <a:t>σ conocida</a:t>
                      </a:r>
                      <a:endParaRPr sz="1800" b="1" i="0" u="none" strike="noStrike" cap="none">
                        <a:solidFill>
                          <a:schemeClr val="dk1"/>
                        </a:solidFill>
                        <a:latin typeface="Arial"/>
                        <a:ea typeface="Arial"/>
                        <a:cs typeface="Arial"/>
                        <a:sym typeface="Arial"/>
                      </a:endParaRPr>
                    </a:p>
                  </a:txBody>
                  <a:tcPr marL="91450" marR="91450" marT="45725" marB="45725">
                    <a:solidFill>
                      <a:srgbClr val="E9EAEC"/>
                    </a:solidFill>
                  </a:tcPr>
                </a:tc>
                <a:tc>
                  <a:txBody>
                    <a:bodyPr/>
                    <a:lstStyle/>
                    <a:p>
                      <a:pPr marL="0" marR="0" lvl="0" indent="0" algn="l" rtl="0">
                        <a:lnSpc>
                          <a:spcPct val="100000"/>
                        </a:lnSpc>
                        <a:spcBef>
                          <a:spcPts val="0"/>
                        </a:spcBef>
                        <a:spcAft>
                          <a:spcPts val="0"/>
                        </a:spcAft>
                        <a:buClr>
                          <a:schemeClr val="hlink"/>
                        </a:buClr>
                        <a:buSzPts val="1440"/>
                        <a:buFont typeface="Noto Sans Symbols"/>
                        <a:buNone/>
                      </a:pPr>
                      <a:r>
                        <a:rPr lang="es-ES" sz="1800" b="1" u="none" strike="noStrike" cap="none">
                          <a:solidFill>
                            <a:schemeClr val="dk1"/>
                          </a:solidFill>
                        </a:rPr>
                        <a:t>σ desconocida</a:t>
                      </a:r>
                      <a:endParaRPr sz="1800" b="1" i="0" u="none" strike="noStrike" cap="none">
                        <a:solidFill>
                          <a:schemeClr val="dk1"/>
                        </a:solidFill>
                        <a:latin typeface="Arial"/>
                        <a:ea typeface="Arial"/>
                        <a:cs typeface="Arial"/>
                        <a:sym typeface="Arial"/>
                      </a:endParaRPr>
                    </a:p>
                  </a:txBody>
                  <a:tcPr marL="91450" marR="91450" marT="45725" marB="45725">
                    <a:solidFill>
                      <a:srgbClr val="E9EAEC"/>
                    </a:solidFill>
                  </a:tcPr>
                </a:tc>
                <a:extLst>
                  <a:ext uri="{0D108BD9-81ED-4DB2-BD59-A6C34878D82A}">
                    <a16:rowId xmlns:a16="http://schemas.microsoft.com/office/drawing/2014/main" val="10000"/>
                  </a:ext>
                </a:extLst>
              </a:tr>
              <a:tr h="864475">
                <a:tc rowSpan="2">
                  <a:txBody>
                    <a:bodyPr/>
                    <a:lstStyle/>
                    <a:p>
                      <a:pPr marL="0" marR="0" lvl="0" indent="0" algn="l" rtl="0">
                        <a:lnSpc>
                          <a:spcPct val="100000"/>
                        </a:lnSpc>
                        <a:spcBef>
                          <a:spcPts val="0"/>
                        </a:spcBef>
                        <a:spcAft>
                          <a:spcPts val="0"/>
                        </a:spcAft>
                        <a:buClr>
                          <a:schemeClr val="hlink"/>
                        </a:buClr>
                        <a:buSzPts val="1280"/>
                        <a:buFont typeface="Noto Sans Symbols"/>
                        <a:buNone/>
                      </a:pPr>
                      <a:r>
                        <a:rPr lang="es-ES" sz="1600" b="0" u="none" strike="noStrike" cap="none">
                          <a:solidFill>
                            <a:schemeClr val="dk1"/>
                          </a:solidFill>
                        </a:rPr>
                        <a:t>Con Distribución Normal</a:t>
                      </a: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hlink"/>
                        </a:buClr>
                        <a:buSzPts val="1280"/>
                        <a:buFont typeface="Noto Sans Symbols"/>
                        <a:buNone/>
                      </a:pPr>
                      <a:r>
                        <a:rPr lang="es-ES" sz="1600" b="0" u="none" strike="noStrike" cap="none">
                          <a:solidFill>
                            <a:schemeClr val="dk1"/>
                          </a:solidFill>
                        </a:rPr>
                        <a:t>Grande</a:t>
                      </a:r>
                      <a:endParaRPr/>
                    </a:p>
                    <a:p>
                      <a:pPr marL="0" marR="0" lvl="0" indent="0" algn="l" rtl="0">
                        <a:lnSpc>
                          <a:spcPct val="100000"/>
                        </a:lnSpc>
                        <a:spcBef>
                          <a:spcPts val="320"/>
                        </a:spcBef>
                        <a:spcAft>
                          <a:spcPts val="0"/>
                        </a:spcAft>
                        <a:buClr>
                          <a:schemeClr val="hlink"/>
                        </a:buClr>
                        <a:buSzPts val="1280"/>
                        <a:buFont typeface="Noto Sans Symbols"/>
                        <a:buNone/>
                      </a:pPr>
                      <a:r>
                        <a:rPr lang="es-ES" sz="1600" b="0" u="none" strike="noStrike" cap="none">
                          <a:solidFill>
                            <a:schemeClr val="dk1"/>
                          </a:solidFill>
                        </a:rPr>
                        <a:t>(n≥30)</a:t>
                      </a: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hlink"/>
                        </a:buClr>
                        <a:buSzPts val="1280"/>
                        <a:buFont typeface="Noto Sans Symbols"/>
                        <a:buNone/>
                      </a:pP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hlink"/>
                        </a:buClr>
                        <a:buSzPts val="1280"/>
                        <a:buFont typeface="Noto Sans Symbols"/>
                        <a:buNone/>
                      </a:pPr>
                      <a:r>
                        <a:rPr lang="es-ES" sz="1600" b="0" u="none" strike="noStrike" cap="none">
                          <a:solidFill>
                            <a:schemeClr val="dk1"/>
                          </a:solidFill>
                        </a:rPr>
                        <a:t>              </a:t>
                      </a:r>
                      <a:endParaRPr sz="16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810800">
                <a:tc vMerge="1">
                  <a:txBody>
                    <a:bodyPr/>
                    <a:lstStyle/>
                    <a:p>
                      <a:endParaRPr lang="es-ES"/>
                    </a:p>
                  </a:txBody>
                  <a:tcPr/>
                </a:tc>
                <a:tc>
                  <a:txBody>
                    <a:bodyPr/>
                    <a:lstStyle/>
                    <a:p>
                      <a:pPr marL="0" marR="0" lvl="0" indent="0" algn="l" rtl="0">
                        <a:lnSpc>
                          <a:spcPct val="100000"/>
                        </a:lnSpc>
                        <a:spcBef>
                          <a:spcPts val="0"/>
                        </a:spcBef>
                        <a:spcAft>
                          <a:spcPts val="0"/>
                        </a:spcAft>
                        <a:buClr>
                          <a:schemeClr val="hlink"/>
                        </a:buClr>
                        <a:buSzPts val="1280"/>
                        <a:buFont typeface="Noto Sans Symbols"/>
                        <a:buNone/>
                      </a:pPr>
                      <a:r>
                        <a:rPr lang="es-ES" sz="1600" b="0" u="none" strike="noStrike" cap="none">
                          <a:solidFill>
                            <a:schemeClr val="dk1"/>
                          </a:solidFill>
                        </a:rPr>
                        <a:t>Pequeña</a:t>
                      </a:r>
                      <a:endParaRPr/>
                    </a:p>
                    <a:p>
                      <a:pPr marL="0" marR="0" lvl="0" indent="0" algn="l" rtl="0">
                        <a:lnSpc>
                          <a:spcPct val="100000"/>
                        </a:lnSpc>
                        <a:spcBef>
                          <a:spcPts val="320"/>
                        </a:spcBef>
                        <a:spcAft>
                          <a:spcPts val="0"/>
                        </a:spcAft>
                        <a:buClr>
                          <a:schemeClr val="hlink"/>
                        </a:buClr>
                        <a:buSzPts val="1280"/>
                        <a:buFont typeface="Noto Sans Symbols"/>
                        <a:buNone/>
                      </a:pPr>
                      <a:r>
                        <a:rPr lang="es-ES" sz="1600" b="0" u="none" strike="noStrike" cap="none">
                          <a:solidFill>
                            <a:schemeClr val="dk1"/>
                          </a:solidFill>
                        </a:rPr>
                        <a:t>(n&lt;30)</a:t>
                      </a: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hlink"/>
                        </a:buClr>
                        <a:buSzPts val="1280"/>
                        <a:buFont typeface="Noto Sans Symbols"/>
                        <a:buNone/>
                      </a:pP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hlink"/>
                        </a:buClr>
                        <a:buSzPts val="1280"/>
                        <a:buFont typeface="Noto Sans Symbols"/>
                        <a:buNone/>
                      </a:pPr>
                      <a:endParaRPr sz="16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1232500">
                <a:tc rowSpan="2">
                  <a:txBody>
                    <a:bodyPr/>
                    <a:lstStyle/>
                    <a:p>
                      <a:pPr marL="0" marR="0" lvl="0" indent="0" algn="l" rtl="0">
                        <a:lnSpc>
                          <a:spcPct val="100000"/>
                        </a:lnSpc>
                        <a:spcBef>
                          <a:spcPts val="0"/>
                        </a:spcBef>
                        <a:spcAft>
                          <a:spcPts val="0"/>
                        </a:spcAft>
                        <a:buClr>
                          <a:schemeClr val="hlink"/>
                        </a:buClr>
                        <a:buSzPts val="1280"/>
                        <a:buFont typeface="Noto Sans Symbols"/>
                        <a:buNone/>
                      </a:pPr>
                      <a:r>
                        <a:rPr lang="es-ES" sz="1600" b="0" u="none" strike="noStrike" cap="none">
                          <a:solidFill>
                            <a:schemeClr val="dk1"/>
                          </a:solidFill>
                        </a:rPr>
                        <a:t>Sin Distribución Normal</a:t>
                      </a: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hlink"/>
                        </a:buClr>
                        <a:buSzPts val="1280"/>
                        <a:buFont typeface="Noto Sans Symbols"/>
                        <a:buNone/>
                      </a:pPr>
                      <a:r>
                        <a:rPr lang="es-ES" sz="1600" b="0" u="none" strike="noStrike" cap="none">
                          <a:solidFill>
                            <a:schemeClr val="dk1"/>
                          </a:solidFill>
                        </a:rPr>
                        <a:t>Grande</a:t>
                      </a:r>
                      <a:endParaRPr/>
                    </a:p>
                    <a:p>
                      <a:pPr marL="0" marR="0" lvl="0" indent="0" algn="l" rtl="0">
                        <a:lnSpc>
                          <a:spcPct val="100000"/>
                        </a:lnSpc>
                        <a:spcBef>
                          <a:spcPts val="320"/>
                        </a:spcBef>
                        <a:spcAft>
                          <a:spcPts val="0"/>
                        </a:spcAft>
                        <a:buClr>
                          <a:schemeClr val="hlink"/>
                        </a:buClr>
                        <a:buSzPts val="1280"/>
                        <a:buFont typeface="Noto Sans Symbols"/>
                        <a:buNone/>
                      </a:pPr>
                      <a:r>
                        <a:rPr lang="es-ES" sz="1600" b="0" u="none" strike="noStrike" cap="none">
                          <a:solidFill>
                            <a:schemeClr val="dk1"/>
                          </a:solidFill>
                        </a:rPr>
                        <a:t>(n≥30)</a:t>
                      </a:r>
                      <a:endParaRPr sz="1600" b="0" u="none" strike="noStrike" cap="none">
                        <a:solidFill>
                          <a:schemeClr val="dk1"/>
                        </a:solidFill>
                      </a:endParaRPr>
                    </a:p>
                    <a:p>
                      <a:pPr marL="0" marR="0" lvl="0" indent="0" algn="l" rtl="0">
                        <a:lnSpc>
                          <a:spcPct val="100000"/>
                        </a:lnSpc>
                        <a:spcBef>
                          <a:spcPts val="320"/>
                        </a:spcBef>
                        <a:spcAft>
                          <a:spcPts val="0"/>
                        </a:spcAft>
                        <a:buClr>
                          <a:schemeClr val="hlink"/>
                        </a:buClr>
                        <a:buSzPts val="1280"/>
                        <a:buFont typeface="Noto Sans Symbols"/>
                        <a:buNone/>
                      </a:pP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hlink"/>
                        </a:buClr>
                        <a:buSzPts val="1280"/>
                        <a:buFont typeface="Noto Sans Symbols"/>
                        <a:buNone/>
                      </a:pP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hlink"/>
                        </a:buClr>
                        <a:buSzPts val="1280"/>
                        <a:buFont typeface="Noto Sans Symbols"/>
                        <a:buNone/>
                      </a:pPr>
                      <a:endParaRPr sz="1600" b="0" u="none" strike="noStrike" cap="none">
                        <a:solidFill>
                          <a:schemeClr val="dk1"/>
                        </a:solidFill>
                      </a:endParaRPr>
                    </a:p>
                    <a:p>
                      <a:pPr marL="0" marR="0" lvl="0" indent="0" algn="l" rtl="0">
                        <a:lnSpc>
                          <a:spcPct val="100000"/>
                        </a:lnSpc>
                        <a:spcBef>
                          <a:spcPts val="320"/>
                        </a:spcBef>
                        <a:spcAft>
                          <a:spcPts val="0"/>
                        </a:spcAft>
                        <a:buClr>
                          <a:schemeClr val="hlink"/>
                        </a:buClr>
                        <a:buSzPts val="1280"/>
                        <a:buFont typeface="Noto Sans Symbols"/>
                        <a:buNone/>
                      </a:pPr>
                      <a:r>
                        <a:rPr lang="es-ES" sz="1600" b="0" u="none" strike="noStrike" cap="none">
                          <a:solidFill>
                            <a:schemeClr val="dk1"/>
                          </a:solidFill>
                        </a:rPr>
                        <a:t>                    </a:t>
                      </a:r>
                      <a:endParaRPr/>
                    </a:p>
                    <a:p>
                      <a:pPr marL="0" marR="0" lvl="0" indent="0" algn="l" rtl="0">
                        <a:lnSpc>
                          <a:spcPct val="100000"/>
                        </a:lnSpc>
                        <a:spcBef>
                          <a:spcPts val="320"/>
                        </a:spcBef>
                        <a:spcAft>
                          <a:spcPts val="0"/>
                        </a:spcAft>
                        <a:buClr>
                          <a:schemeClr val="hlink"/>
                        </a:buClr>
                        <a:buSzPts val="1280"/>
                        <a:buFont typeface="Noto Sans Symbols"/>
                        <a:buNone/>
                      </a:pPr>
                      <a:r>
                        <a:rPr lang="es-ES" sz="1600" b="0" u="none" strike="noStrike" cap="none">
                          <a:solidFill>
                            <a:schemeClr val="dk1"/>
                          </a:solidFill>
                        </a:rPr>
                        <a:t>                  </a:t>
                      </a:r>
                      <a:endParaRPr sz="1600" b="0" i="0" u="none" strike="noStrike" cap="none">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r h="839550">
                <a:tc vMerge="1">
                  <a:txBody>
                    <a:bodyPr/>
                    <a:lstStyle/>
                    <a:p>
                      <a:endParaRPr lang="es-ES"/>
                    </a:p>
                  </a:txBody>
                  <a:tcPr/>
                </a:tc>
                <a:tc>
                  <a:txBody>
                    <a:bodyPr/>
                    <a:lstStyle/>
                    <a:p>
                      <a:pPr marL="0" marR="0" lvl="0" indent="0" algn="l" rtl="0">
                        <a:lnSpc>
                          <a:spcPct val="100000"/>
                        </a:lnSpc>
                        <a:spcBef>
                          <a:spcPts val="0"/>
                        </a:spcBef>
                        <a:spcAft>
                          <a:spcPts val="0"/>
                        </a:spcAft>
                        <a:buClr>
                          <a:schemeClr val="hlink"/>
                        </a:buClr>
                        <a:buSzPts val="1280"/>
                        <a:buFont typeface="Noto Sans Symbols"/>
                        <a:buNone/>
                      </a:pPr>
                      <a:r>
                        <a:rPr lang="es-ES" sz="1600" b="0" u="none" strike="noStrike" cap="none">
                          <a:solidFill>
                            <a:schemeClr val="dk1"/>
                          </a:solidFill>
                        </a:rPr>
                        <a:t>Pequeña</a:t>
                      </a:r>
                      <a:endParaRPr/>
                    </a:p>
                    <a:p>
                      <a:pPr marL="0" marR="0" lvl="0" indent="0" algn="l" rtl="0">
                        <a:lnSpc>
                          <a:spcPct val="100000"/>
                        </a:lnSpc>
                        <a:spcBef>
                          <a:spcPts val="320"/>
                        </a:spcBef>
                        <a:spcAft>
                          <a:spcPts val="0"/>
                        </a:spcAft>
                        <a:buClr>
                          <a:schemeClr val="hlink"/>
                        </a:buClr>
                        <a:buSzPts val="1280"/>
                        <a:buFont typeface="Noto Sans Symbols"/>
                        <a:buNone/>
                      </a:pPr>
                      <a:r>
                        <a:rPr lang="es-ES" sz="1600" b="0" u="none" strike="noStrike" cap="none">
                          <a:solidFill>
                            <a:schemeClr val="dk1"/>
                          </a:solidFill>
                        </a:rPr>
                        <a:t>(n&lt;30)</a:t>
                      </a:r>
                      <a:endParaRPr sz="1600" b="0" u="none" strike="noStrike" cap="none">
                        <a:solidFill>
                          <a:schemeClr val="dk1"/>
                        </a:solidFill>
                      </a:endParaRPr>
                    </a:p>
                    <a:p>
                      <a:pPr marL="0" marR="0" lvl="0" indent="0" algn="l" rtl="0">
                        <a:lnSpc>
                          <a:spcPct val="100000"/>
                        </a:lnSpc>
                        <a:spcBef>
                          <a:spcPts val="320"/>
                        </a:spcBef>
                        <a:spcAft>
                          <a:spcPts val="0"/>
                        </a:spcAft>
                        <a:buClr>
                          <a:schemeClr val="hlink"/>
                        </a:buClr>
                        <a:buSzPts val="1280"/>
                        <a:buFont typeface="Noto Sans Symbols"/>
                        <a:buNone/>
                      </a:pPr>
                      <a:endParaRPr sz="1600" b="0" i="0" u="none" strike="noStrike" cap="none">
                        <a:solidFill>
                          <a:schemeClr val="dk1"/>
                        </a:solidFill>
                        <a:latin typeface="Arial"/>
                        <a:ea typeface="Arial"/>
                        <a:cs typeface="Arial"/>
                        <a:sym typeface="Arial"/>
                      </a:endParaRPr>
                    </a:p>
                  </a:txBody>
                  <a:tcPr marL="91450" marR="91450" marT="45725" marB="45725"/>
                </a:tc>
                <a:tc gridSpan="2">
                  <a:txBody>
                    <a:bodyPr/>
                    <a:lstStyle/>
                    <a:p>
                      <a:pPr marL="0" marR="0" lvl="0" indent="0" algn="l" rtl="0">
                        <a:lnSpc>
                          <a:spcPct val="100000"/>
                        </a:lnSpc>
                        <a:spcBef>
                          <a:spcPts val="0"/>
                        </a:spcBef>
                        <a:spcAft>
                          <a:spcPts val="0"/>
                        </a:spcAft>
                        <a:buClr>
                          <a:schemeClr val="hlink"/>
                        </a:buClr>
                        <a:buSzPts val="1280"/>
                        <a:buFont typeface="Noto Sans Symbols"/>
                        <a:buNone/>
                      </a:pPr>
                      <a:endParaRPr sz="1600" b="0" u="none" strike="noStrike" cap="none">
                        <a:solidFill>
                          <a:schemeClr val="dk1"/>
                        </a:solidFill>
                      </a:endParaRPr>
                    </a:p>
                    <a:p>
                      <a:pPr marL="0" marR="0" lvl="0" indent="0" algn="l" rtl="0">
                        <a:lnSpc>
                          <a:spcPct val="100000"/>
                        </a:lnSpc>
                        <a:spcBef>
                          <a:spcPts val="320"/>
                        </a:spcBef>
                        <a:spcAft>
                          <a:spcPts val="0"/>
                        </a:spcAft>
                        <a:buClr>
                          <a:schemeClr val="hlink"/>
                        </a:buClr>
                        <a:buSzPts val="1280"/>
                        <a:buFont typeface="Noto Sans Symbols"/>
                        <a:buNone/>
                      </a:pPr>
                      <a:r>
                        <a:rPr lang="es-ES" sz="1600" b="0" u="none" strike="noStrike" cap="none">
                          <a:solidFill>
                            <a:schemeClr val="dk1"/>
                          </a:solidFill>
                        </a:rPr>
                        <a:t>Se usaría pruebas no paramétricas</a:t>
                      </a:r>
                      <a:endParaRPr sz="1600" b="0" i="0" u="none" strike="noStrike" cap="none">
                        <a:solidFill>
                          <a:schemeClr val="dk1"/>
                        </a:solidFill>
                        <a:latin typeface="Arial"/>
                        <a:ea typeface="Arial"/>
                        <a:cs typeface="Arial"/>
                        <a:sym typeface="Arial"/>
                      </a:endParaRPr>
                    </a:p>
                  </a:txBody>
                  <a:tcPr marL="91450" marR="91450" marT="45725" marB="45725"/>
                </a:tc>
                <a:tc hMerge="1">
                  <a:txBody>
                    <a:bodyPr/>
                    <a:lstStyle/>
                    <a:p>
                      <a:endParaRPr lang="es-ES"/>
                    </a:p>
                  </a:txBody>
                  <a:tcPr/>
                </a:tc>
                <a:extLst>
                  <a:ext uri="{0D108BD9-81ED-4DB2-BD59-A6C34878D82A}">
                    <a16:rowId xmlns:a16="http://schemas.microsoft.com/office/drawing/2014/main" val="10004"/>
                  </a:ext>
                </a:extLst>
              </a:tr>
            </a:tbl>
          </a:graphicData>
        </a:graphic>
      </p:graphicFrame>
      <p:pic>
        <p:nvPicPr>
          <p:cNvPr id="430" name="Google Shape;430;p24"/>
          <p:cNvPicPr preferRelativeResize="0"/>
          <p:nvPr/>
        </p:nvPicPr>
        <p:blipFill rotWithShape="1">
          <a:blip r:embed="rId3">
            <a:alphaModFix/>
          </a:blip>
          <a:srcRect/>
          <a:stretch/>
        </p:blipFill>
        <p:spPr>
          <a:xfrm>
            <a:off x="5966253" y="2310524"/>
            <a:ext cx="898525" cy="711200"/>
          </a:xfrm>
          <a:prstGeom prst="rect">
            <a:avLst/>
          </a:prstGeom>
          <a:noFill/>
          <a:ln>
            <a:noFill/>
          </a:ln>
        </p:spPr>
      </p:pic>
      <p:pic>
        <p:nvPicPr>
          <p:cNvPr id="431" name="Google Shape;431;p24"/>
          <p:cNvPicPr preferRelativeResize="0"/>
          <p:nvPr/>
        </p:nvPicPr>
        <p:blipFill rotWithShape="1">
          <a:blip r:embed="rId4">
            <a:alphaModFix/>
          </a:blip>
          <a:srcRect/>
          <a:stretch/>
        </p:blipFill>
        <p:spPr>
          <a:xfrm>
            <a:off x="8047466" y="2311502"/>
            <a:ext cx="723900" cy="596900"/>
          </a:xfrm>
          <a:prstGeom prst="rect">
            <a:avLst/>
          </a:prstGeom>
          <a:noFill/>
          <a:ln>
            <a:noFill/>
          </a:ln>
        </p:spPr>
      </p:pic>
      <p:pic>
        <p:nvPicPr>
          <p:cNvPr id="432" name="Google Shape;432;p24"/>
          <p:cNvPicPr preferRelativeResize="0"/>
          <p:nvPr/>
        </p:nvPicPr>
        <p:blipFill rotWithShape="1">
          <a:blip r:embed="rId5">
            <a:alphaModFix/>
          </a:blip>
          <a:srcRect/>
          <a:stretch/>
        </p:blipFill>
        <p:spPr>
          <a:xfrm>
            <a:off x="9595323" y="2311502"/>
            <a:ext cx="966787" cy="687387"/>
          </a:xfrm>
          <a:prstGeom prst="rect">
            <a:avLst/>
          </a:prstGeom>
          <a:noFill/>
          <a:ln>
            <a:noFill/>
          </a:ln>
        </p:spPr>
      </p:pic>
      <p:pic>
        <p:nvPicPr>
          <p:cNvPr id="433" name="Google Shape;433;p24"/>
          <p:cNvPicPr preferRelativeResize="0"/>
          <p:nvPr/>
        </p:nvPicPr>
        <p:blipFill rotWithShape="1">
          <a:blip r:embed="rId6">
            <a:alphaModFix/>
          </a:blip>
          <a:srcRect/>
          <a:stretch/>
        </p:blipFill>
        <p:spPr>
          <a:xfrm>
            <a:off x="8004603" y="4209358"/>
            <a:ext cx="809625" cy="596900"/>
          </a:xfrm>
          <a:prstGeom prst="rect">
            <a:avLst/>
          </a:prstGeom>
          <a:noFill/>
          <a:ln>
            <a:noFill/>
          </a:ln>
        </p:spPr>
      </p:pic>
      <p:pic>
        <p:nvPicPr>
          <p:cNvPr id="434" name="Google Shape;434;p24"/>
          <p:cNvPicPr preferRelativeResize="0"/>
          <p:nvPr/>
        </p:nvPicPr>
        <p:blipFill rotWithShape="1">
          <a:blip r:embed="rId4">
            <a:alphaModFix/>
          </a:blip>
          <a:srcRect/>
          <a:stretch/>
        </p:blipFill>
        <p:spPr>
          <a:xfrm>
            <a:off x="8871423" y="3226696"/>
            <a:ext cx="723900" cy="596900"/>
          </a:xfrm>
          <a:prstGeom prst="rect">
            <a:avLst/>
          </a:prstGeom>
          <a:noFill/>
          <a:ln>
            <a:noFill/>
          </a:ln>
        </p:spPr>
      </p:pic>
      <p:pic>
        <p:nvPicPr>
          <p:cNvPr id="435" name="Google Shape;435;p24"/>
          <p:cNvPicPr preferRelativeResize="0"/>
          <p:nvPr/>
        </p:nvPicPr>
        <p:blipFill rotWithShape="1">
          <a:blip r:embed="rId3">
            <a:alphaModFix/>
          </a:blip>
          <a:srcRect/>
          <a:stretch/>
        </p:blipFill>
        <p:spPr>
          <a:xfrm>
            <a:off x="5933003" y="3077640"/>
            <a:ext cx="898525" cy="711200"/>
          </a:xfrm>
          <a:prstGeom prst="rect">
            <a:avLst/>
          </a:prstGeom>
          <a:noFill/>
          <a:ln>
            <a:noFill/>
          </a:ln>
        </p:spPr>
      </p:pic>
      <p:pic>
        <p:nvPicPr>
          <p:cNvPr id="436" name="Google Shape;436;p24"/>
          <p:cNvPicPr preferRelativeResize="0"/>
          <p:nvPr/>
        </p:nvPicPr>
        <p:blipFill rotWithShape="1">
          <a:blip r:embed="rId5">
            <a:alphaModFix/>
          </a:blip>
          <a:srcRect/>
          <a:stretch/>
        </p:blipFill>
        <p:spPr>
          <a:xfrm>
            <a:off x="5932034" y="4095058"/>
            <a:ext cx="1000125" cy="711200"/>
          </a:xfrm>
          <a:prstGeom prst="rect">
            <a:avLst/>
          </a:prstGeom>
          <a:noFill/>
          <a:ln>
            <a:noFill/>
          </a:ln>
        </p:spPr>
      </p:pic>
      <p:pic>
        <p:nvPicPr>
          <p:cNvPr id="437" name="Google Shape;437;p24"/>
          <p:cNvPicPr preferRelativeResize="0"/>
          <p:nvPr/>
        </p:nvPicPr>
        <p:blipFill rotWithShape="1">
          <a:blip r:embed="rId5">
            <a:alphaModFix/>
          </a:blip>
          <a:srcRect/>
          <a:stretch/>
        </p:blipFill>
        <p:spPr>
          <a:xfrm>
            <a:off x="9595323" y="4141491"/>
            <a:ext cx="966787" cy="687388"/>
          </a:xfrm>
          <a:prstGeom prst="rect">
            <a:avLst/>
          </a:prstGeom>
          <a:noFill/>
          <a:ln>
            <a:noFill/>
          </a:ln>
        </p:spPr>
      </p:pic>
      <p:sp>
        <p:nvSpPr>
          <p:cNvPr id="438" name="Google Shape;438;p24"/>
          <p:cNvSpPr txBox="1"/>
          <p:nvPr/>
        </p:nvSpPr>
        <p:spPr>
          <a:xfrm>
            <a:off x="8909084" y="2455368"/>
            <a:ext cx="7239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0" u="none" strike="noStrike" cap="none">
                <a:solidFill>
                  <a:schemeClr val="dk1"/>
                </a:solidFill>
                <a:latin typeface="Calibri"/>
                <a:ea typeface="Calibri"/>
                <a:cs typeface="Calibri"/>
                <a:sym typeface="Calibri"/>
              </a:rPr>
              <a:t>o bien</a:t>
            </a:r>
            <a:endParaRPr sz="1400">
              <a:solidFill>
                <a:schemeClr val="dk1"/>
              </a:solidFill>
              <a:latin typeface="Calibri"/>
              <a:ea typeface="Calibri"/>
              <a:cs typeface="Calibri"/>
              <a:sym typeface="Calibri"/>
            </a:endParaRPr>
          </a:p>
        </p:txBody>
      </p:sp>
      <p:sp>
        <p:nvSpPr>
          <p:cNvPr id="439" name="Google Shape;439;p24"/>
          <p:cNvSpPr txBox="1"/>
          <p:nvPr/>
        </p:nvSpPr>
        <p:spPr>
          <a:xfrm>
            <a:off x="8909084" y="4281477"/>
            <a:ext cx="7239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0" u="none" strike="noStrike" cap="none">
                <a:solidFill>
                  <a:schemeClr val="dk1"/>
                </a:solidFill>
                <a:latin typeface="Calibri"/>
                <a:ea typeface="Calibri"/>
                <a:cs typeface="Calibri"/>
                <a:sym typeface="Calibri"/>
              </a:rPr>
              <a:t>o bien</a:t>
            </a:r>
            <a:endParaRPr sz="1400">
              <a:solidFill>
                <a:schemeClr val="dk1"/>
              </a:solidFill>
              <a:latin typeface="Calibri"/>
              <a:ea typeface="Calibri"/>
              <a:cs typeface="Calibri"/>
              <a:sym typeface="Calibri"/>
            </a:endParaRPr>
          </a:p>
        </p:txBody>
      </p:sp>
      <p:sp>
        <p:nvSpPr>
          <p:cNvPr id="440" name="Google Shape;440;p24"/>
          <p:cNvSpPr txBox="1"/>
          <p:nvPr/>
        </p:nvSpPr>
        <p:spPr>
          <a:xfrm>
            <a:off x="8771366" y="6057616"/>
            <a:ext cx="202176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Noto Sans Symbols"/>
              <a:buNone/>
            </a:pPr>
            <a:r>
              <a:rPr lang="es-ES" sz="1400">
                <a:solidFill>
                  <a:schemeClr val="dk1"/>
                </a:solidFill>
                <a:latin typeface="Calibri"/>
                <a:ea typeface="Calibri"/>
                <a:cs typeface="Calibri"/>
                <a:sym typeface="Calibri"/>
              </a:rPr>
              <a:t>Fuente : Kazmier (1996)</a:t>
            </a:r>
            <a:endParaRPr sz="1400">
              <a:solidFill>
                <a:schemeClr val="dk1"/>
              </a:solidFill>
              <a:latin typeface="Calibri"/>
              <a:ea typeface="Calibri"/>
              <a:cs typeface="Calibri"/>
              <a:sym typeface="Calibri"/>
            </a:endParaRPr>
          </a:p>
        </p:txBody>
      </p:sp>
      <p:sp>
        <p:nvSpPr>
          <p:cNvPr id="441" name="Google Shape;441;p24"/>
          <p:cNvSpPr txBox="1"/>
          <p:nvPr/>
        </p:nvSpPr>
        <p:spPr>
          <a:xfrm>
            <a:off x="1202267" y="6059104"/>
            <a:ext cx="3000375" cy="304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Noto Sans Symbols"/>
              <a:buNone/>
            </a:pPr>
            <a:r>
              <a:rPr lang="es-ES" sz="1400">
                <a:solidFill>
                  <a:schemeClr val="dk1"/>
                </a:solidFill>
                <a:latin typeface="Calibri"/>
                <a:ea typeface="Calibri"/>
                <a:cs typeface="Calibri"/>
                <a:sym typeface="Calibri"/>
              </a:rPr>
              <a:t>*Se aplica el teorema de límite central</a:t>
            </a:r>
            <a:endParaRPr sz="1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8"/>
                                        </p:tgtEl>
                                        <p:attrNameLst>
                                          <p:attrName>style.visibility</p:attrName>
                                        </p:attrNameLst>
                                      </p:cBhvr>
                                      <p:to>
                                        <p:strVal val="visible"/>
                                      </p:to>
                                    </p:set>
                                    <p:animEffect transition="in" filter="fade">
                                      <p:cBhvr>
                                        <p:cTn id="7" dur="500"/>
                                        <p:tgtEl>
                                          <p:spTgt spid="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25" descr="Patrón de fondo"/>
          <p:cNvPicPr preferRelativeResize="0"/>
          <p:nvPr/>
        </p:nvPicPr>
        <p:blipFill rotWithShape="1">
          <a:blip r:embed="rId3">
            <a:alphaModFix/>
          </a:blip>
          <a:srcRect/>
          <a:stretch/>
        </p:blipFill>
        <p:spPr>
          <a:xfrm>
            <a:off x="0" y="-1"/>
            <a:ext cx="12192000" cy="6858001"/>
          </a:xfrm>
          <a:prstGeom prst="rect">
            <a:avLst/>
          </a:prstGeom>
          <a:noFill/>
          <a:ln>
            <a:noFill/>
          </a:ln>
        </p:spPr>
      </p:pic>
      <p:sp>
        <p:nvSpPr>
          <p:cNvPr id="447" name="Google Shape;447;p25"/>
          <p:cNvSpPr/>
          <p:nvPr/>
        </p:nvSpPr>
        <p:spPr>
          <a:xfrm>
            <a:off x="457200" y="2411344"/>
            <a:ext cx="11277600" cy="3989455"/>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Entonces, formulamos las hipótesis:</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a:solidFill>
                  <a:schemeClr val="lt1"/>
                </a:solidFill>
                <a:latin typeface="Calibri"/>
                <a:ea typeface="Calibri"/>
                <a:cs typeface="Calibri"/>
                <a:sym typeface="Calibri"/>
              </a:rPr>
              <a:t>Calculamos el estadístico de prueba Z, con la siguiente fórmula:</a:t>
            </a:r>
            <a:endParaRPr/>
          </a:p>
        </p:txBody>
      </p:sp>
      <p:sp>
        <p:nvSpPr>
          <p:cNvPr id="448" name="Google Shape;448;p25"/>
          <p:cNvSpPr/>
          <p:nvPr/>
        </p:nvSpPr>
        <p:spPr>
          <a:xfrm>
            <a:off x="457200" y="1028705"/>
            <a:ext cx="11277600" cy="1137095"/>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 name="Google Shape;449;p25"/>
          <p:cNvSpPr txBox="1"/>
          <p:nvPr/>
        </p:nvSpPr>
        <p:spPr>
          <a:xfrm>
            <a:off x="457200" y="75928"/>
            <a:ext cx="1102995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a:t>
            </a:r>
            <a:endParaRPr sz="3200">
              <a:solidFill>
                <a:srgbClr val="7F7F7F"/>
              </a:solidFill>
              <a:latin typeface="Arial"/>
              <a:ea typeface="Arial"/>
              <a:cs typeface="Arial"/>
              <a:sym typeface="Arial"/>
            </a:endParaRPr>
          </a:p>
        </p:txBody>
      </p:sp>
      <p:sp>
        <p:nvSpPr>
          <p:cNvPr id="450" name="Google Shape;450;p25"/>
          <p:cNvSpPr txBox="1"/>
          <p:nvPr/>
        </p:nvSpPr>
        <p:spPr>
          <a:xfrm>
            <a:off x="890587" y="1135587"/>
            <a:ext cx="10410826"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Supongamos que se quiere determinar si la media de una población de tiempo de respuesta de un sistema informático es igual a 5 segundos. Se toma una muestra aleatoria de 50 tiempos de respuesta, obteniendo una media muestral de 5.12 segundos y una desviación estándar muestral de 0.2 segundos.</a:t>
            </a:r>
            <a:endParaRPr/>
          </a:p>
        </p:txBody>
      </p:sp>
      <p:sp>
        <p:nvSpPr>
          <p:cNvPr id="451" name="Google Shape;451;p25"/>
          <p:cNvSpPr txBox="1"/>
          <p:nvPr/>
        </p:nvSpPr>
        <p:spPr>
          <a:xfrm>
            <a:off x="704850" y="2411345"/>
            <a:ext cx="60960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595959"/>
              </a:solidFill>
              <a:latin typeface="Calibri"/>
              <a:ea typeface="Calibri"/>
              <a:cs typeface="Calibri"/>
              <a:sym typeface="Calibri"/>
            </a:endParaRPr>
          </a:p>
          <a:p>
            <a:pPr marL="0" marR="0" lvl="0" indent="0" algn="l" rtl="0">
              <a:spcBef>
                <a:spcPts val="0"/>
              </a:spcBef>
              <a:spcAft>
                <a:spcPts val="0"/>
              </a:spcAft>
              <a:buNone/>
            </a:pPr>
            <a:r>
              <a:rPr lang="es-ES" sz="1800">
                <a:solidFill>
                  <a:srgbClr val="595959"/>
                </a:solidFill>
                <a:latin typeface="Calibri"/>
                <a:ea typeface="Calibri"/>
                <a:cs typeface="Calibri"/>
                <a:sym typeface="Calibri"/>
              </a:rPr>
              <a:t>Entonces, formulamos las hipótesis:</a:t>
            </a:r>
            <a:endParaRPr/>
          </a:p>
          <a:p>
            <a:pPr marL="0" marR="0" lvl="0" indent="0" algn="l" rtl="0">
              <a:spcBef>
                <a:spcPts val="0"/>
              </a:spcBef>
              <a:spcAft>
                <a:spcPts val="0"/>
              </a:spcAft>
              <a:buNone/>
            </a:pPr>
            <a:endParaRPr sz="1800">
              <a:solidFill>
                <a:srgbClr val="595959"/>
              </a:solidFill>
              <a:latin typeface="Calibri"/>
              <a:ea typeface="Calibri"/>
              <a:cs typeface="Calibri"/>
              <a:sym typeface="Calibri"/>
            </a:endParaRPr>
          </a:p>
          <a:p>
            <a:pPr marL="0" marR="0" lvl="0" indent="0" algn="l" rtl="0">
              <a:spcBef>
                <a:spcPts val="0"/>
              </a:spcBef>
              <a:spcAft>
                <a:spcPts val="0"/>
              </a:spcAft>
              <a:buNone/>
            </a:pPr>
            <a:endParaRPr sz="1800">
              <a:solidFill>
                <a:srgbClr val="595959"/>
              </a:solidFill>
              <a:latin typeface="Calibri"/>
              <a:ea typeface="Calibri"/>
              <a:cs typeface="Calibri"/>
              <a:sym typeface="Calibri"/>
            </a:endParaRPr>
          </a:p>
          <a:p>
            <a:pPr marL="0" marR="0" lvl="0" indent="0" algn="l" rtl="0">
              <a:spcBef>
                <a:spcPts val="0"/>
              </a:spcBef>
              <a:spcAft>
                <a:spcPts val="0"/>
              </a:spcAft>
              <a:buNone/>
            </a:pPr>
            <a:endParaRPr sz="1800">
              <a:solidFill>
                <a:srgbClr val="595959"/>
              </a:solidFill>
              <a:latin typeface="Calibri"/>
              <a:ea typeface="Calibri"/>
              <a:cs typeface="Calibri"/>
              <a:sym typeface="Calibri"/>
            </a:endParaRPr>
          </a:p>
          <a:p>
            <a:pPr marL="0" marR="0" lvl="0" indent="0" algn="l" rtl="0">
              <a:spcBef>
                <a:spcPts val="0"/>
              </a:spcBef>
              <a:spcAft>
                <a:spcPts val="0"/>
              </a:spcAft>
              <a:buNone/>
            </a:pPr>
            <a:endParaRPr sz="1800">
              <a:solidFill>
                <a:srgbClr val="595959"/>
              </a:solidFill>
              <a:latin typeface="Calibri"/>
              <a:ea typeface="Calibri"/>
              <a:cs typeface="Calibri"/>
              <a:sym typeface="Calibri"/>
            </a:endParaRPr>
          </a:p>
          <a:p>
            <a:pPr marL="0" marR="0" lvl="0" indent="0" algn="l" rtl="0">
              <a:spcBef>
                <a:spcPts val="0"/>
              </a:spcBef>
              <a:spcAft>
                <a:spcPts val="0"/>
              </a:spcAft>
              <a:buNone/>
            </a:pPr>
            <a:endParaRPr sz="1800">
              <a:solidFill>
                <a:srgbClr val="595959"/>
              </a:solidFill>
              <a:latin typeface="Calibri"/>
              <a:ea typeface="Calibri"/>
              <a:cs typeface="Calibri"/>
              <a:sym typeface="Calibri"/>
            </a:endParaRPr>
          </a:p>
          <a:p>
            <a:pPr marL="0" marR="0" lvl="0" indent="0" algn="l" rtl="0">
              <a:spcBef>
                <a:spcPts val="0"/>
              </a:spcBef>
              <a:spcAft>
                <a:spcPts val="0"/>
              </a:spcAft>
              <a:buNone/>
            </a:pPr>
            <a:r>
              <a:rPr lang="es-ES" sz="1800">
                <a:solidFill>
                  <a:srgbClr val="595959"/>
                </a:solidFill>
                <a:latin typeface="Calibri"/>
                <a:ea typeface="Calibri"/>
                <a:cs typeface="Calibri"/>
                <a:sym typeface="Calibri"/>
              </a:rPr>
              <a:t>Calculamos el estadístico de prueba Z, con la siguiente fórmula:</a:t>
            </a:r>
            <a:endParaRPr/>
          </a:p>
        </p:txBody>
      </p:sp>
      <p:sp>
        <p:nvSpPr>
          <p:cNvPr id="452" name="Google Shape;452;p25"/>
          <p:cNvSpPr txBox="1"/>
          <p:nvPr/>
        </p:nvSpPr>
        <p:spPr>
          <a:xfrm>
            <a:off x="3752850" y="5074515"/>
            <a:ext cx="4479016" cy="943528"/>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53" name="Google Shape;453;p25"/>
          <p:cNvSpPr txBox="1"/>
          <p:nvPr/>
        </p:nvSpPr>
        <p:spPr>
          <a:xfrm>
            <a:off x="1235428" y="3237955"/>
            <a:ext cx="2517422" cy="369332"/>
          </a:xfrm>
          <a:prstGeom prst="rect">
            <a:avLst/>
          </a:prstGeom>
          <a:blipFill rotWithShape="1">
            <a:blip r:embed="rId5">
              <a:alphaModFix/>
            </a:blip>
            <a:stretch>
              <a:fillRect b="-327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54" name="Google Shape;454;p25"/>
          <p:cNvSpPr txBox="1"/>
          <p:nvPr/>
        </p:nvSpPr>
        <p:spPr>
          <a:xfrm>
            <a:off x="1235428" y="3597678"/>
            <a:ext cx="2517422" cy="369332"/>
          </a:xfrm>
          <a:prstGeom prst="rect">
            <a:avLst/>
          </a:prstGeom>
          <a:blipFill rotWithShape="1">
            <a:blip r:embed="rId6">
              <a:alphaModFix/>
            </a:blip>
            <a:stretch>
              <a:fillRect b="-327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9"/>
                                        </p:tgtEl>
                                        <p:attrNameLst>
                                          <p:attrName>style.visibility</p:attrName>
                                        </p:attrNameLst>
                                      </p:cBhvr>
                                      <p:to>
                                        <p:strVal val="visible"/>
                                      </p:to>
                                    </p:set>
                                    <p:animEffect transition="in" filter="fade">
                                      <p:cBhvr>
                                        <p:cTn id="7" dur="500"/>
                                        <p:tgtEl>
                                          <p:spTgt spid="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26"/>
          <p:cNvSpPr/>
          <p:nvPr/>
        </p:nvSpPr>
        <p:spPr>
          <a:xfrm>
            <a:off x="457200" y="2972949"/>
            <a:ext cx="11277600" cy="3332116"/>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60" name="Google Shape;460;p26"/>
          <p:cNvSpPr/>
          <p:nvPr/>
        </p:nvSpPr>
        <p:spPr>
          <a:xfrm>
            <a:off x="457200" y="1135587"/>
            <a:ext cx="11277600" cy="1521147"/>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1" name="Google Shape;461;p26"/>
          <p:cNvSpPr txBox="1"/>
          <p:nvPr/>
        </p:nvSpPr>
        <p:spPr>
          <a:xfrm>
            <a:off x="457200" y="75928"/>
            <a:ext cx="1102995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 1</a:t>
            </a:r>
            <a:endParaRPr sz="3200">
              <a:solidFill>
                <a:srgbClr val="7F7F7F"/>
              </a:solidFill>
              <a:latin typeface="Arial"/>
              <a:ea typeface="Arial"/>
              <a:cs typeface="Arial"/>
              <a:sym typeface="Arial"/>
            </a:endParaRPr>
          </a:p>
        </p:txBody>
      </p:sp>
      <p:sp>
        <p:nvSpPr>
          <p:cNvPr id="462" name="Google Shape;462;p26"/>
          <p:cNvSpPr txBox="1"/>
          <p:nvPr/>
        </p:nvSpPr>
        <p:spPr>
          <a:xfrm>
            <a:off x="704851" y="1266669"/>
            <a:ext cx="107823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Arial"/>
                <a:ea typeface="Arial"/>
                <a:cs typeface="Arial"/>
                <a:sym typeface="Arial"/>
              </a:rPr>
              <a:t>Veamos dónde se sitúa el valor </a:t>
            </a:r>
            <a:r>
              <a:rPr lang="es-ES" sz="1800" i="1">
                <a:solidFill>
                  <a:schemeClr val="lt1"/>
                </a:solidFill>
                <a:latin typeface="Arial"/>
                <a:ea typeface="Arial"/>
                <a:cs typeface="Arial"/>
                <a:sym typeface="Arial"/>
              </a:rPr>
              <a:t>Z=3.06 </a:t>
            </a:r>
            <a:r>
              <a:rPr lang="es-ES" sz="1800">
                <a:solidFill>
                  <a:schemeClr val="lt1"/>
                </a:solidFill>
                <a:latin typeface="Arial"/>
                <a:ea typeface="Arial"/>
                <a:cs typeface="Arial"/>
                <a:sym typeface="Arial"/>
              </a:rPr>
              <a:t>en la distribución normal estándar. Entonces, podemos concluir que el valor probabilístico de asumir la hipótesis nula, dada la muestra de datos analizada, es bajísima. Por lo tanto, se puede decir que la probabilidad que la media de los tiempos de respuesta del sistema informático es bajísima, de un 0.11%</a:t>
            </a:r>
            <a:endParaRPr/>
          </a:p>
        </p:txBody>
      </p:sp>
      <p:grpSp>
        <p:nvGrpSpPr>
          <p:cNvPr id="463" name="Google Shape;463;p26"/>
          <p:cNvGrpSpPr/>
          <p:nvPr/>
        </p:nvGrpSpPr>
        <p:grpSpPr>
          <a:xfrm>
            <a:off x="4153282" y="3412949"/>
            <a:ext cx="5522058" cy="2814462"/>
            <a:chOff x="3094238" y="3149600"/>
            <a:chExt cx="5522058" cy="2814462"/>
          </a:xfrm>
        </p:grpSpPr>
        <p:pic>
          <p:nvPicPr>
            <p:cNvPr id="464" name="Google Shape;464;p26"/>
            <p:cNvPicPr preferRelativeResize="0"/>
            <p:nvPr/>
          </p:nvPicPr>
          <p:blipFill rotWithShape="1">
            <a:blip r:embed="rId3">
              <a:alphaModFix/>
            </a:blip>
            <a:srcRect t="11124"/>
            <a:stretch/>
          </p:blipFill>
          <p:spPr>
            <a:xfrm>
              <a:off x="3094238" y="3149600"/>
              <a:ext cx="5522058" cy="2814462"/>
            </a:xfrm>
            <a:prstGeom prst="rect">
              <a:avLst/>
            </a:prstGeom>
            <a:noFill/>
            <a:ln>
              <a:noFill/>
            </a:ln>
          </p:spPr>
        </p:pic>
        <p:cxnSp>
          <p:nvCxnSpPr>
            <p:cNvPr id="465" name="Google Shape;465;p26"/>
            <p:cNvCxnSpPr/>
            <p:nvPr/>
          </p:nvCxnSpPr>
          <p:spPr>
            <a:xfrm rot="10800000">
              <a:off x="8116711" y="3917244"/>
              <a:ext cx="0" cy="1648178"/>
            </a:xfrm>
            <a:prstGeom prst="straightConnector1">
              <a:avLst/>
            </a:prstGeom>
            <a:noFill/>
            <a:ln w="19050" cap="flat" cmpd="sng">
              <a:solidFill>
                <a:srgbClr val="FF0000"/>
              </a:solidFill>
              <a:prstDash val="solid"/>
              <a:miter lim="800000"/>
              <a:headEnd type="none" w="sm" len="sm"/>
              <a:tailEnd type="none" w="sm" len="sm"/>
            </a:ln>
          </p:spPr>
        </p:cxnSp>
        <p:sp>
          <p:nvSpPr>
            <p:cNvPr id="466" name="Google Shape;466;p26"/>
            <p:cNvSpPr txBox="1"/>
            <p:nvPr/>
          </p:nvSpPr>
          <p:spPr>
            <a:xfrm>
              <a:off x="7710313" y="3609467"/>
              <a:ext cx="8127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Z = 3.06</a:t>
              </a:r>
              <a:endParaRPr sz="1400">
                <a:solidFill>
                  <a:schemeClr val="dk1"/>
                </a:solidFill>
                <a:latin typeface="Calibri"/>
                <a:ea typeface="Calibri"/>
                <a:cs typeface="Calibri"/>
                <a:sym typeface="Calibri"/>
              </a:endParaRPr>
            </a:p>
          </p:txBody>
        </p:sp>
      </p:grpSp>
      <p:sp>
        <p:nvSpPr>
          <p:cNvPr id="467" name="Google Shape;467;p26"/>
          <p:cNvSpPr txBox="1"/>
          <p:nvPr/>
        </p:nvSpPr>
        <p:spPr>
          <a:xfrm>
            <a:off x="704850" y="3288040"/>
            <a:ext cx="2472265" cy="1169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Dado Z = 3.06</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s-ES" sz="1400">
                <a:solidFill>
                  <a:schemeClr val="dk1"/>
                </a:solidFill>
                <a:latin typeface="Calibri"/>
                <a:ea typeface="Calibri"/>
                <a:cs typeface="Calibri"/>
                <a:sym typeface="Calibri"/>
              </a:rPr>
              <a:t>P(x &lt; Z) = 0.99889 = 99.889%</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s-ES" sz="1400">
                <a:solidFill>
                  <a:schemeClr val="dk1"/>
                </a:solidFill>
                <a:latin typeface="Calibri"/>
                <a:ea typeface="Calibri"/>
                <a:cs typeface="Calibri"/>
                <a:sym typeface="Calibri"/>
              </a:rPr>
              <a:t>P(x &gt; Z) = 0.0011 = 0.11% </a:t>
            </a:r>
            <a:endParaRPr sz="1400">
              <a:solidFill>
                <a:schemeClr val="dk1"/>
              </a:solidFill>
              <a:latin typeface="Calibri"/>
              <a:ea typeface="Calibri"/>
              <a:cs typeface="Calibri"/>
              <a:sym typeface="Calibri"/>
            </a:endParaRPr>
          </a:p>
        </p:txBody>
      </p:sp>
      <p:pic>
        <p:nvPicPr>
          <p:cNvPr id="468" name="Google Shape;468;p26"/>
          <p:cNvPicPr preferRelativeResize="0"/>
          <p:nvPr/>
        </p:nvPicPr>
        <p:blipFill rotWithShape="1">
          <a:blip r:embed="rId4">
            <a:alphaModFix/>
          </a:blip>
          <a:srcRect l="78056" t="29801"/>
          <a:stretch/>
        </p:blipFill>
        <p:spPr>
          <a:xfrm>
            <a:off x="3029190" y="3444735"/>
            <a:ext cx="791150" cy="480762"/>
          </a:xfrm>
          <a:prstGeom prst="rect">
            <a:avLst/>
          </a:prstGeom>
          <a:noFill/>
          <a:ln>
            <a:noFill/>
          </a:ln>
        </p:spPr>
      </p:pic>
      <p:pic>
        <p:nvPicPr>
          <p:cNvPr id="469" name="Google Shape;469;p26"/>
          <p:cNvPicPr preferRelativeResize="0"/>
          <p:nvPr/>
        </p:nvPicPr>
        <p:blipFill rotWithShape="1">
          <a:blip r:embed="rId5">
            <a:alphaModFix/>
          </a:blip>
          <a:srcRect/>
          <a:stretch/>
        </p:blipFill>
        <p:spPr>
          <a:xfrm>
            <a:off x="2921714" y="4007134"/>
            <a:ext cx="876422" cy="51442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fade">
                                      <p:cBhvr>
                                        <p:cTn id="7" dur="500"/>
                                        <p:tgtEl>
                                          <p:spTgt spid="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27"/>
          <p:cNvSpPr/>
          <p:nvPr/>
        </p:nvSpPr>
        <p:spPr>
          <a:xfrm>
            <a:off x="457200" y="1636419"/>
            <a:ext cx="11277600" cy="3834548"/>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5" name="Google Shape;475;p27"/>
          <p:cNvSpPr txBox="1"/>
          <p:nvPr/>
        </p:nvSpPr>
        <p:spPr>
          <a:xfrm>
            <a:off x="704850" y="800073"/>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Reglas de Decisión</a:t>
            </a:r>
            <a:endParaRPr sz="3200">
              <a:solidFill>
                <a:srgbClr val="7F7F7F"/>
              </a:solidFill>
              <a:latin typeface="Arial"/>
              <a:ea typeface="Arial"/>
              <a:cs typeface="Arial"/>
              <a:sym typeface="Arial"/>
            </a:endParaRPr>
          </a:p>
        </p:txBody>
      </p:sp>
      <p:sp>
        <p:nvSpPr>
          <p:cNvPr id="476" name="Google Shape;476;p27"/>
          <p:cNvSpPr txBox="1"/>
          <p:nvPr/>
        </p:nvSpPr>
        <p:spPr>
          <a:xfrm>
            <a:off x="704851" y="1866005"/>
            <a:ext cx="10782300"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Arial"/>
                <a:ea typeface="Arial"/>
                <a:cs typeface="Arial"/>
                <a:sym typeface="Arial"/>
              </a:rPr>
              <a:t>Una de las cosas más importante que debemos definir en nuestro plan de análisis es establecer las reglas de decisión para </a:t>
            </a:r>
            <a:r>
              <a:rPr lang="es-ES" sz="1800" b="1">
                <a:solidFill>
                  <a:schemeClr val="lt1"/>
                </a:solidFill>
                <a:latin typeface="Arial"/>
                <a:ea typeface="Arial"/>
                <a:cs typeface="Arial"/>
                <a:sym typeface="Arial"/>
              </a:rPr>
              <a:t>rechazar la hipótesis nula o no-rechazarla</a:t>
            </a:r>
            <a:r>
              <a:rPr lang="es-ES" sz="1800">
                <a:solidFill>
                  <a:schemeClr val="lt1"/>
                </a:solidFill>
                <a:latin typeface="Arial"/>
                <a:ea typeface="Arial"/>
                <a:cs typeface="Arial"/>
                <a:sym typeface="Arial"/>
              </a:rPr>
              <a:t>, para ser utilizado en nuestra evaluación de los resultados. En la práctica esto puede ser especificado de dos formas:</a:t>
            </a:r>
            <a:endParaRPr/>
          </a:p>
          <a:p>
            <a:pPr marL="0" marR="0" lvl="0" indent="0" algn="just" rtl="0">
              <a:spcBef>
                <a:spcPts val="0"/>
              </a:spcBef>
              <a:spcAft>
                <a:spcPts val="0"/>
              </a:spcAft>
              <a:buNone/>
            </a:pPr>
            <a:endParaRPr sz="1800">
              <a:solidFill>
                <a:schemeClr val="lt1"/>
              </a:solidFill>
              <a:latin typeface="Arial"/>
              <a:ea typeface="Arial"/>
              <a:cs typeface="Arial"/>
              <a:sym typeface="Arial"/>
            </a:endParaRPr>
          </a:p>
          <a:p>
            <a:pPr marL="0" marR="0" lvl="0" indent="0" algn="just" rtl="0">
              <a:spcBef>
                <a:spcPts val="0"/>
              </a:spcBef>
              <a:spcAft>
                <a:spcPts val="0"/>
              </a:spcAft>
              <a:buNone/>
            </a:pPr>
            <a:r>
              <a:rPr lang="es-ES" sz="1800" b="1">
                <a:solidFill>
                  <a:schemeClr val="lt1"/>
                </a:solidFill>
                <a:latin typeface="Arial"/>
                <a:ea typeface="Arial"/>
                <a:cs typeface="Arial"/>
                <a:sym typeface="Arial"/>
              </a:rPr>
              <a:t>Método del valor crítico</a:t>
            </a:r>
            <a:r>
              <a:rPr lang="es-ES" sz="1800">
                <a:solidFill>
                  <a:schemeClr val="lt1"/>
                </a:solidFill>
                <a:latin typeface="Arial"/>
                <a:ea typeface="Arial"/>
                <a:cs typeface="Arial"/>
                <a:sym typeface="Arial"/>
              </a:rPr>
              <a:t>: es un conjunto de valores para el estadístico de prueba. Si cae dentro de esos valores, no podemos rechazar la hipótesis nula. Y los valores fuera de la región de aceptación caen dentro de la región de rechazo. Si nuestra estadística de prueba termina aquí, rechazamos el valor nulo. Entonces podemos decir que rechazamos la hipótesis nula en el nivel de significancia α.</a:t>
            </a:r>
            <a:endParaRPr/>
          </a:p>
          <a:p>
            <a:pPr marL="0" marR="0" lvl="0" indent="0" algn="just" rtl="0">
              <a:spcBef>
                <a:spcPts val="0"/>
              </a:spcBef>
              <a:spcAft>
                <a:spcPts val="0"/>
              </a:spcAft>
              <a:buNone/>
            </a:pPr>
            <a:endParaRPr sz="1800">
              <a:solidFill>
                <a:schemeClr val="lt1"/>
              </a:solidFill>
              <a:latin typeface="Arial"/>
              <a:ea typeface="Arial"/>
              <a:cs typeface="Arial"/>
              <a:sym typeface="Arial"/>
            </a:endParaRPr>
          </a:p>
          <a:p>
            <a:pPr marL="0" marR="0" lvl="0" indent="0" algn="just" rtl="0">
              <a:spcBef>
                <a:spcPts val="0"/>
              </a:spcBef>
              <a:spcAft>
                <a:spcPts val="0"/>
              </a:spcAft>
              <a:buNone/>
            </a:pPr>
            <a:r>
              <a:rPr lang="es-ES" sz="1800" b="1">
                <a:solidFill>
                  <a:schemeClr val="lt1"/>
                </a:solidFill>
                <a:latin typeface="Arial"/>
                <a:ea typeface="Arial"/>
                <a:cs typeface="Arial"/>
                <a:sym typeface="Arial"/>
              </a:rPr>
              <a:t>Valor-P</a:t>
            </a:r>
            <a:r>
              <a:rPr lang="es-ES" sz="1800">
                <a:solidFill>
                  <a:schemeClr val="lt1"/>
                </a:solidFill>
                <a:latin typeface="Arial"/>
                <a:ea typeface="Arial"/>
                <a:cs typeface="Arial"/>
                <a:sym typeface="Arial"/>
              </a:rPr>
              <a:t>: mide la importancia de la evidencia en apoyo de la hipótesis nula. Es la probabilidad de observar el estadístico de prueba con la suposición de que el valor nulo es verdadero. Si el valor p es menor que el nivel de significación (nuestro umbral), rechazamos la hipótesis nula.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5"/>
                                        </p:tgtEl>
                                        <p:attrNameLst>
                                          <p:attrName>style.visibility</p:attrName>
                                        </p:attrNameLst>
                                      </p:cBhvr>
                                      <p:to>
                                        <p:strVal val="visible"/>
                                      </p:to>
                                    </p:set>
                                    <p:animEffect transition="in" filter="fade">
                                      <p:cBhvr>
                                        <p:cTn id="7" dur="500"/>
                                        <p:tgtEl>
                                          <p:spTgt spid="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28"/>
          <p:cNvSpPr/>
          <p:nvPr/>
        </p:nvSpPr>
        <p:spPr>
          <a:xfrm>
            <a:off x="1786759" y="3088361"/>
            <a:ext cx="8618482" cy="3332116"/>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82" name="Google Shape;482;p28"/>
          <p:cNvSpPr/>
          <p:nvPr/>
        </p:nvSpPr>
        <p:spPr>
          <a:xfrm>
            <a:off x="479394" y="997929"/>
            <a:ext cx="11255406" cy="1842865"/>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3" name="Google Shape;483;p28"/>
          <p:cNvSpPr txBox="1"/>
          <p:nvPr/>
        </p:nvSpPr>
        <p:spPr>
          <a:xfrm>
            <a:off x="704850" y="75928"/>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Método del Valor Crítico</a:t>
            </a:r>
            <a:endParaRPr sz="3200">
              <a:solidFill>
                <a:srgbClr val="7F7F7F"/>
              </a:solidFill>
              <a:latin typeface="Arial"/>
              <a:ea typeface="Arial"/>
              <a:cs typeface="Arial"/>
              <a:sym typeface="Arial"/>
            </a:endParaRPr>
          </a:p>
        </p:txBody>
      </p:sp>
      <p:sp>
        <p:nvSpPr>
          <p:cNvPr id="484" name="Google Shape;484;p28"/>
          <p:cNvSpPr txBox="1"/>
          <p:nvPr/>
        </p:nvSpPr>
        <p:spPr>
          <a:xfrm>
            <a:off x="700898" y="1183337"/>
            <a:ext cx="10791825" cy="147728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Arial"/>
                <a:ea typeface="Arial"/>
                <a:cs typeface="Arial"/>
                <a:sym typeface="Arial"/>
              </a:rPr>
              <a:t>El </a:t>
            </a:r>
            <a:r>
              <a:rPr lang="es-ES" sz="1800" b="1" dirty="0">
                <a:solidFill>
                  <a:schemeClr val="lt1"/>
                </a:solidFill>
                <a:latin typeface="Arial"/>
                <a:ea typeface="Arial"/>
                <a:cs typeface="Arial"/>
                <a:sym typeface="Arial"/>
              </a:rPr>
              <a:t>método del valor crítico </a:t>
            </a:r>
            <a:r>
              <a:rPr lang="es-ES" sz="1800" dirty="0">
                <a:solidFill>
                  <a:schemeClr val="lt1"/>
                </a:solidFill>
                <a:latin typeface="Arial"/>
                <a:ea typeface="Arial"/>
                <a:cs typeface="Arial"/>
                <a:sym typeface="Arial"/>
              </a:rPr>
              <a:t>compara el valor del estadístico de prueba Z para los valores críticos que dividen la distribución normal en regiones de rechazo y no rechazo.</a:t>
            </a:r>
            <a:endParaRPr lang="es-ES" dirty="0">
              <a:solidFill>
                <a:schemeClr val="lt1"/>
              </a:solidFill>
            </a:endParaRPr>
          </a:p>
          <a:p>
            <a:pPr marL="0" marR="0" lvl="0" indent="0" algn="l" rtl="0">
              <a:spcBef>
                <a:spcPts val="0"/>
              </a:spcBef>
              <a:spcAft>
                <a:spcPts val="0"/>
              </a:spcAft>
              <a:buNone/>
            </a:pPr>
            <a:endParaRPr sz="1800">
              <a:solidFill>
                <a:schemeClr val="lt1"/>
              </a:solidFill>
              <a:latin typeface="Arial"/>
              <a:ea typeface="Arial"/>
              <a:cs typeface="Arial"/>
              <a:sym typeface="Arial"/>
            </a:endParaRPr>
          </a:p>
          <a:p>
            <a:pPr marL="0" marR="0" lvl="0" indent="0" algn="l" rtl="0">
              <a:spcBef>
                <a:spcPts val="0"/>
              </a:spcBef>
              <a:spcAft>
                <a:spcPts val="0"/>
              </a:spcAft>
              <a:buNone/>
            </a:pPr>
            <a:r>
              <a:rPr lang="es-ES" sz="1800" dirty="0">
                <a:solidFill>
                  <a:schemeClr val="lt1"/>
                </a:solidFill>
                <a:latin typeface="Arial"/>
                <a:ea typeface="Arial"/>
                <a:cs typeface="Arial"/>
                <a:sym typeface="Arial"/>
              </a:rPr>
              <a:t>Los valores críticos se expresan como valores Z estandarizados que están determinados por el nivel de significancia. Los valores críticos son determinados por el investigador en la planeación del análisis.</a:t>
            </a:r>
            <a:endParaRPr dirty="0">
              <a:solidFill>
                <a:schemeClr val="lt1"/>
              </a:solidFill>
            </a:endParaRPr>
          </a:p>
        </p:txBody>
      </p:sp>
      <p:grpSp>
        <p:nvGrpSpPr>
          <p:cNvPr id="485" name="Google Shape;485;p28"/>
          <p:cNvGrpSpPr/>
          <p:nvPr/>
        </p:nvGrpSpPr>
        <p:grpSpPr>
          <a:xfrm>
            <a:off x="3183276" y="3244612"/>
            <a:ext cx="5825447" cy="3019613"/>
            <a:chOff x="2946583" y="2814941"/>
            <a:chExt cx="5825447" cy="3019613"/>
          </a:xfrm>
        </p:grpSpPr>
        <p:pic>
          <p:nvPicPr>
            <p:cNvPr id="486" name="Google Shape;486;p28"/>
            <p:cNvPicPr preferRelativeResize="0"/>
            <p:nvPr/>
          </p:nvPicPr>
          <p:blipFill rotWithShape="1">
            <a:blip r:embed="rId3">
              <a:alphaModFix/>
            </a:blip>
            <a:srcRect/>
            <a:stretch/>
          </p:blipFill>
          <p:spPr>
            <a:xfrm>
              <a:off x="3575962" y="2814941"/>
              <a:ext cx="5040075" cy="2602252"/>
            </a:xfrm>
            <a:prstGeom prst="rect">
              <a:avLst/>
            </a:prstGeom>
            <a:noFill/>
            <a:ln>
              <a:noFill/>
            </a:ln>
          </p:spPr>
        </p:pic>
        <p:cxnSp>
          <p:nvCxnSpPr>
            <p:cNvPr id="487" name="Google Shape;487;p28"/>
            <p:cNvCxnSpPr/>
            <p:nvPr/>
          </p:nvCxnSpPr>
          <p:spPr>
            <a:xfrm rot="10800000">
              <a:off x="4617156" y="5241478"/>
              <a:ext cx="0" cy="351429"/>
            </a:xfrm>
            <a:prstGeom prst="straightConnector1">
              <a:avLst/>
            </a:prstGeom>
            <a:noFill/>
            <a:ln w="9525" cap="flat" cmpd="sng">
              <a:solidFill>
                <a:schemeClr val="dk1"/>
              </a:solidFill>
              <a:prstDash val="solid"/>
              <a:miter lim="800000"/>
              <a:headEnd type="none" w="sm" len="sm"/>
              <a:tailEnd type="triangle" w="med" len="med"/>
            </a:ln>
          </p:spPr>
        </p:cxnSp>
        <p:sp>
          <p:nvSpPr>
            <p:cNvPr id="488" name="Google Shape;488;p28"/>
            <p:cNvSpPr txBox="1"/>
            <p:nvPr/>
          </p:nvSpPr>
          <p:spPr>
            <a:xfrm>
              <a:off x="4204135" y="5649888"/>
              <a:ext cx="792076" cy="184666"/>
            </a:xfrm>
            <a:prstGeom prst="rect">
              <a:avLst/>
            </a:prstGeom>
            <a:blipFill rotWithShape="1">
              <a:blip r:embed="rId4">
                <a:alphaModFix/>
              </a:blip>
              <a:stretch>
                <a:fillRect l="-4614" r="-4613" b="-1333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cxnSp>
          <p:nvCxnSpPr>
            <p:cNvPr id="489" name="Google Shape;489;p28"/>
            <p:cNvCxnSpPr/>
            <p:nvPr/>
          </p:nvCxnSpPr>
          <p:spPr>
            <a:xfrm rot="10800000">
              <a:off x="7401968" y="5241478"/>
              <a:ext cx="0" cy="351429"/>
            </a:xfrm>
            <a:prstGeom prst="straightConnector1">
              <a:avLst/>
            </a:prstGeom>
            <a:noFill/>
            <a:ln w="9525" cap="flat" cmpd="sng">
              <a:solidFill>
                <a:schemeClr val="dk1"/>
              </a:solidFill>
              <a:prstDash val="solid"/>
              <a:miter lim="800000"/>
              <a:headEnd type="none" w="sm" len="sm"/>
              <a:tailEnd type="triangle" w="med" len="med"/>
            </a:ln>
          </p:spPr>
        </p:cxnSp>
        <p:sp>
          <p:nvSpPr>
            <p:cNvPr id="490" name="Google Shape;490;p28"/>
            <p:cNvSpPr txBox="1"/>
            <p:nvPr/>
          </p:nvSpPr>
          <p:spPr>
            <a:xfrm>
              <a:off x="6988947" y="5649888"/>
              <a:ext cx="792076" cy="184666"/>
            </a:xfrm>
            <a:prstGeom prst="rect">
              <a:avLst/>
            </a:prstGeom>
            <a:blipFill rotWithShape="1">
              <a:blip r:embed="rId5">
                <a:alphaModFix/>
              </a:blip>
              <a:stretch>
                <a:fillRect l="-4614" r="-4613" b="-1333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cxnSp>
          <p:nvCxnSpPr>
            <p:cNvPr id="491" name="Google Shape;491;p28"/>
            <p:cNvCxnSpPr/>
            <p:nvPr/>
          </p:nvCxnSpPr>
          <p:spPr>
            <a:xfrm>
              <a:off x="3961424" y="4590576"/>
              <a:ext cx="299156" cy="291300"/>
            </a:xfrm>
            <a:prstGeom prst="straightConnector1">
              <a:avLst/>
            </a:prstGeom>
            <a:noFill/>
            <a:ln w="9525" cap="flat" cmpd="sng">
              <a:solidFill>
                <a:schemeClr val="dk1"/>
              </a:solidFill>
              <a:prstDash val="solid"/>
              <a:miter lim="800000"/>
              <a:headEnd type="none" w="sm" len="sm"/>
              <a:tailEnd type="triangle" w="med" len="med"/>
            </a:ln>
          </p:spPr>
        </p:cxnSp>
        <p:sp>
          <p:nvSpPr>
            <p:cNvPr id="492" name="Google Shape;492;p28"/>
            <p:cNvSpPr txBox="1"/>
            <p:nvPr/>
          </p:nvSpPr>
          <p:spPr>
            <a:xfrm>
              <a:off x="2946583" y="4100420"/>
              <a:ext cx="125875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a:solidFill>
                    <a:schemeClr val="dk1"/>
                  </a:solidFill>
                  <a:latin typeface="Calibri"/>
                  <a:ea typeface="Calibri"/>
                  <a:cs typeface="Calibri"/>
                  <a:sym typeface="Calibri"/>
                </a:rPr>
                <a:t>Región de rechazo o crítica</a:t>
              </a:r>
              <a:endParaRPr sz="1200">
                <a:solidFill>
                  <a:schemeClr val="dk1"/>
                </a:solidFill>
                <a:latin typeface="Calibri"/>
                <a:ea typeface="Calibri"/>
                <a:cs typeface="Calibri"/>
                <a:sym typeface="Calibri"/>
              </a:endParaRPr>
            </a:p>
          </p:txBody>
        </p:sp>
        <p:cxnSp>
          <p:nvCxnSpPr>
            <p:cNvPr id="493" name="Google Shape;493;p28"/>
            <p:cNvCxnSpPr/>
            <p:nvPr/>
          </p:nvCxnSpPr>
          <p:spPr>
            <a:xfrm flipH="1">
              <a:off x="7678730" y="4458504"/>
              <a:ext cx="307931" cy="390722"/>
            </a:xfrm>
            <a:prstGeom prst="straightConnector1">
              <a:avLst/>
            </a:prstGeom>
            <a:noFill/>
            <a:ln w="9525" cap="flat" cmpd="sng">
              <a:solidFill>
                <a:schemeClr val="dk1"/>
              </a:solidFill>
              <a:prstDash val="solid"/>
              <a:miter lim="800000"/>
              <a:headEnd type="none" w="sm" len="sm"/>
              <a:tailEnd type="triangle" w="med" len="med"/>
            </a:ln>
          </p:spPr>
        </p:cxnSp>
        <p:sp>
          <p:nvSpPr>
            <p:cNvPr id="494" name="Google Shape;494;p28"/>
            <p:cNvSpPr txBox="1"/>
            <p:nvPr/>
          </p:nvSpPr>
          <p:spPr>
            <a:xfrm>
              <a:off x="7513272" y="3970132"/>
              <a:ext cx="125875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a:solidFill>
                    <a:schemeClr val="dk1"/>
                  </a:solidFill>
                  <a:latin typeface="Calibri"/>
                  <a:ea typeface="Calibri"/>
                  <a:cs typeface="Calibri"/>
                  <a:sym typeface="Calibri"/>
                </a:rPr>
                <a:t>Región de rechazo o crítica</a:t>
              </a:r>
              <a:endParaRPr sz="1200">
                <a:solidFill>
                  <a:schemeClr val="dk1"/>
                </a:solidFill>
                <a:latin typeface="Calibri"/>
                <a:ea typeface="Calibri"/>
                <a:cs typeface="Calibri"/>
                <a:sym typeface="Calibri"/>
              </a:endParaRPr>
            </a:p>
          </p:txBody>
        </p:sp>
        <p:sp>
          <p:nvSpPr>
            <p:cNvPr id="495" name="Google Shape;495;p28"/>
            <p:cNvSpPr txBox="1"/>
            <p:nvPr/>
          </p:nvSpPr>
          <p:spPr>
            <a:xfrm>
              <a:off x="5485632" y="3812173"/>
              <a:ext cx="968047"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a:solidFill>
                    <a:schemeClr val="dk1"/>
                  </a:solidFill>
                  <a:latin typeface="Calibri"/>
                  <a:ea typeface="Calibri"/>
                  <a:cs typeface="Calibri"/>
                  <a:sym typeface="Calibri"/>
                </a:rPr>
                <a:t>Región de no-rechazo</a:t>
              </a:r>
              <a:endParaRPr/>
            </a:p>
            <a:p>
              <a:pPr marL="0" marR="0" lvl="0" indent="0" algn="ctr" rtl="0">
                <a:spcBef>
                  <a:spcPts val="0"/>
                </a:spcBef>
                <a:spcAft>
                  <a:spcPts val="0"/>
                </a:spcAft>
                <a:buNone/>
              </a:pPr>
              <a:r>
                <a:rPr lang="es-ES" sz="1200">
                  <a:solidFill>
                    <a:schemeClr val="dk1"/>
                  </a:solidFill>
                  <a:latin typeface="Calibri"/>
                  <a:ea typeface="Calibri"/>
                  <a:cs typeface="Calibri"/>
                  <a:sym typeface="Calibri"/>
                </a:rPr>
                <a:t>95%</a:t>
              </a:r>
              <a:endParaRPr sz="12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3"/>
                                        </p:tgtEl>
                                        <p:attrNameLst>
                                          <p:attrName>style.visibility</p:attrName>
                                        </p:attrNameLst>
                                      </p:cBhvr>
                                      <p:to>
                                        <p:strVal val="visible"/>
                                      </p:to>
                                    </p:set>
                                    <p:animEffect transition="in" filter="fade">
                                      <p:cBhvr>
                                        <p:cTn id="7" dur="500"/>
                                        <p:tgtEl>
                                          <p:spTgt spid="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1" name="Google Shape;501;p29"/>
          <p:cNvSpPr/>
          <p:nvPr/>
        </p:nvSpPr>
        <p:spPr>
          <a:xfrm>
            <a:off x="733425" y="1259413"/>
            <a:ext cx="10782300" cy="4111702"/>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0" name="Google Shape;500;p29"/>
          <p:cNvSpPr/>
          <p:nvPr/>
        </p:nvSpPr>
        <p:spPr>
          <a:xfrm>
            <a:off x="5625334" y="1362450"/>
            <a:ext cx="5741932" cy="3890752"/>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ES" sz="1800" dirty="0">
                <a:solidFill>
                  <a:schemeClr val="lt1"/>
                </a:solidFill>
                <a:latin typeface="Calibri"/>
                <a:ea typeface="Calibri"/>
                <a:cs typeface="Calibri"/>
              </a:rPr>
              <a:t>&lt;&lt;&lt;</a:t>
            </a:r>
            <a:endParaRPr sz="1800" dirty="0">
              <a:solidFill>
                <a:schemeClr val="lt1"/>
              </a:solidFill>
              <a:latin typeface="Calibri"/>
              <a:ea typeface="Calibri"/>
              <a:cs typeface="Calibri"/>
              <a:sym typeface="Calibri"/>
            </a:endParaRPr>
          </a:p>
        </p:txBody>
      </p:sp>
      <p:sp>
        <p:nvSpPr>
          <p:cNvPr id="502" name="Google Shape;502;p29"/>
          <p:cNvSpPr txBox="1"/>
          <p:nvPr/>
        </p:nvSpPr>
        <p:spPr>
          <a:xfrm>
            <a:off x="704851" y="332338"/>
            <a:ext cx="10782300" cy="586745"/>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Valor-p</a:t>
            </a:r>
            <a:endParaRPr sz="3200">
              <a:solidFill>
                <a:srgbClr val="7F7F7F"/>
              </a:solidFill>
              <a:latin typeface="Arial"/>
              <a:ea typeface="Arial"/>
              <a:cs typeface="Arial"/>
              <a:sym typeface="Arial"/>
            </a:endParaRPr>
          </a:p>
        </p:txBody>
      </p:sp>
      <p:sp>
        <p:nvSpPr>
          <p:cNvPr id="3" name="CuadroTexto 2">
            <a:extLst>
              <a:ext uri="{FF2B5EF4-FFF2-40B4-BE49-F238E27FC236}">
                <a16:creationId xmlns:a16="http://schemas.microsoft.com/office/drawing/2014/main" id="{61E9C5B9-23DD-2AA3-337D-9B57A451CDE4}"/>
              </a:ext>
            </a:extLst>
          </p:cNvPr>
          <p:cNvSpPr txBox="1"/>
          <p:nvPr/>
        </p:nvSpPr>
        <p:spPr>
          <a:xfrm>
            <a:off x="990954" y="2153621"/>
            <a:ext cx="443203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1800" dirty="0">
                <a:solidFill>
                  <a:srgbClr val="FFFFFF"/>
                </a:solidFill>
                <a:latin typeface="Calibri"/>
                <a:ea typeface="Source Sans Pro"/>
                <a:cs typeface="Calibri"/>
              </a:rPr>
              <a:t>El uso del valor p para determinar el rechazo o el no rechazo es otro método de la prueba de hipótesis. El valor p es la </a:t>
            </a:r>
            <a:r>
              <a:rPr lang="es-ES" sz="1800" b="1" dirty="0">
                <a:solidFill>
                  <a:srgbClr val="FFFFFF"/>
                </a:solidFill>
                <a:latin typeface="Calibri"/>
                <a:ea typeface="Source Sans Pro"/>
                <a:cs typeface="Calibri"/>
              </a:rPr>
              <a:t>probabilidad de obtener un estadístico de prueba igual o más extremo que el resultado muestral</a:t>
            </a:r>
            <a:r>
              <a:rPr lang="es-ES" sz="1800" dirty="0">
                <a:solidFill>
                  <a:srgbClr val="FFFFFF"/>
                </a:solidFill>
                <a:latin typeface="Calibri"/>
                <a:ea typeface="Source Sans Pro"/>
                <a:cs typeface="Calibri"/>
              </a:rPr>
              <a:t>, dado que la hipótesis nula </a:t>
            </a:r>
            <a:r>
              <a:rPr lang="es-ES" sz="1800" i="1" dirty="0">
                <a:solidFill>
                  <a:srgbClr val="FFFFFF"/>
                </a:solidFill>
                <a:latin typeface="Calibri"/>
                <a:ea typeface="Cambria Math"/>
                <a:cs typeface="Calibri"/>
              </a:rPr>
              <a:t>H0</a:t>
            </a:r>
            <a:r>
              <a:rPr lang="es-ES" sz="1800" dirty="0">
                <a:solidFill>
                  <a:srgbClr val="FFFFFF"/>
                </a:solidFill>
                <a:latin typeface="Calibri"/>
                <a:ea typeface="Source Sans Pro"/>
                <a:cs typeface="Calibri"/>
              </a:rPr>
              <a:t> es verdadera. Al valor p también se le conoce como el </a:t>
            </a:r>
            <a:r>
              <a:rPr lang="es-ES" sz="1800" b="1" dirty="0">
                <a:solidFill>
                  <a:srgbClr val="FFFFFF"/>
                </a:solidFill>
                <a:latin typeface="Calibri"/>
                <a:ea typeface="Source Sans Pro"/>
                <a:cs typeface="Calibri"/>
              </a:rPr>
              <a:t>nivel de significancia observado</a:t>
            </a:r>
            <a:r>
              <a:rPr lang="es-ES" sz="1800" dirty="0">
                <a:solidFill>
                  <a:srgbClr val="FFFFFF"/>
                </a:solidFill>
                <a:latin typeface="Calibri"/>
                <a:ea typeface="Source Sans Pro"/>
                <a:cs typeface="Calibri"/>
              </a:rPr>
              <a:t>.</a:t>
            </a:r>
            <a:endParaRPr lang="es-ES" sz="1800" dirty="0">
              <a:latin typeface="Calibri"/>
              <a:cs typeface="Calibri"/>
            </a:endParaRPr>
          </a:p>
        </p:txBody>
      </p:sp>
      <p:pic>
        <p:nvPicPr>
          <p:cNvPr id="4" name="Imagen 3" descr="Diagrama, Histograma&#10;&#10;Descripción generada automáticamente">
            <a:extLst>
              <a:ext uri="{FF2B5EF4-FFF2-40B4-BE49-F238E27FC236}">
                <a16:creationId xmlns:a16="http://schemas.microsoft.com/office/drawing/2014/main" id="{72EAADB1-9625-4EA0-2708-739EB419AB2D}"/>
              </a:ext>
            </a:extLst>
          </p:cNvPr>
          <p:cNvPicPr>
            <a:picLocks noChangeAspect="1"/>
          </p:cNvPicPr>
          <p:nvPr/>
        </p:nvPicPr>
        <p:blipFill>
          <a:blip r:embed="rId3"/>
          <a:stretch>
            <a:fillRect/>
          </a:stretch>
        </p:blipFill>
        <p:spPr>
          <a:xfrm>
            <a:off x="5748338" y="1538288"/>
            <a:ext cx="5486400" cy="3543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2"/>
                                        </p:tgtEl>
                                        <p:attrNameLst>
                                          <p:attrName>style.visibility</p:attrName>
                                        </p:attrNameLst>
                                      </p:cBhvr>
                                      <p:to>
                                        <p:strVal val="visible"/>
                                      </p:to>
                                    </p:set>
                                    <p:animEffect transition="in" filter="fade">
                                      <p:cBhvr>
                                        <p:cTn id="7" dur="500"/>
                                        <p:tgtEl>
                                          <p:spTgt spid="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9" name="Google Shape;549;p30"/>
          <p:cNvSpPr/>
          <p:nvPr/>
        </p:nvSpPr>
        <p:spPr>
          <a:xfrm>
            <a:off x="1219200" y="1154638"/>
            <a:ext cx="9563100" cy="4173346"/>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8" name="Google Shape;548;p30"/>
          <p:cNvSpPr/>
          <p:nvPr/>
        </p:nvSpPr>
        <p:spPr>
          <a:xfrm>
            <a:off x="1377915" y="1785815"/>
            <a:ext cx="9264720" cy="3371753"/>
          </a:xfrm>
          <a:prstGeom prst="roundRect">
            <a:avLst>
              <a:gd name="adj" fmla="val 2971"/>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595959"/>
              </a:solidFill>
              <a:latin typeface="Calibri"/>
              <a:ea typeface="Calibri"/>
              <a:cs typeface="Calibri"/>
              <a:sym typeface="Calibri"/>
            </a:endParaRPr>
          </a:p>
        </p:txBody>
      </p:sp>
      <p:sp>
        <p:nvSpPr>
          <p:cNvPr id="550" name="Google Shape;550;p30"/>
          <p:cNvSpPr txBox="1"/>
          <p:nvPr/>
        </p:nvSpPr>
        <p:spPr>
          <a:xfrm>
            <a:off x="704850" y="75928"/>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Valor-p</a:t>
            </a:r>
            <a:endParaRPr sz="3200">
              <a:solidFill>
                <a:srgbClr val="7F7F7F"/>
              </a:solidFill>
              <a:latin typeface="Arial"/>
              <a:ea typeface="Arial"/>
              <a:cs typeface="Arial"/>
              <a:sym typeface="Arial"/>
            </a:endParaRPr>
          </a:p>
        </p:txBody>
      </p:sp>
      <p:sp>
        <p:nvSpPr>
          <p:cNvPr id="551" name="Google Shape;551;p30"/>
          <p:cNvSpPr txBox="1"/>
          <p:nvPr/>
        </p:nvSpPr>
        <p:spPr>
          <a:xfrm>
            <a:off x="1381126" y="1285719"/>
            <a:ext cx="10772775" cy="378857"/>
          </a:xfrm>
          <a:prstGeom prst="rect">
            <a:avLst/>
          </a:prstGeom>
          <a:blipFill rotWithShape="1">
            <a:blip r:embed="rId3">
              <a:alphaModFix/>
            </a:blip>
            <a:stretch>
              <a:fillRect l="-507" t="-9999" b="-2666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52" name="Google Shape;552;p30"/>
          <p:cNvSpPr txBox="1"/>
          <p:nvPr/>
        </p:nvSpPr>
        <p:spPr>
          <a:xfrm>
            <a:off x="1975902" y="2225457"/>
            <a:ext cx="7840980" cy="923328"/>
          </a:xfrm>
          <a:prstGeom prst="rect">
            <a:avLst/>
          </a:prstGeom>
          <a:blipFill rotWithShape="1">
            <a:blip r:embed="rId4">
              <a:alphaModFix/>
            </a:blip>
            <a:stretch>
              <a:fillRect l="-620" t="-3288" b="-921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53" name="Google Shape;553;p30"/>
          <p:cNvSpPr txBox="1"/>
          <p:nvPr/>
        </p:nvSpPr>
        <p:spPr>
          <a:xfrm>
            <a:off x="1975903" y="3699962"/>
            <a:ext cx="8272998" cy="923328"/>
          </a:xfrm>
          <a:prstGeom prst="rect">
            <a:avLst/>
          </a:prstGeom>
          <a:blipFill rotWithShape="1">
            <a:blip r:embed="rId5">
              <a:alphaModFix/>
            </a:blip>
            <a:stretch>
              <a:fillRect l="-1177" t="-3288" r="-1104" b="-921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0"/>
                                        </p:tgtEl>
                                        <p:attrNameLst>
                                          <p:attrName>style.visibility</p:attrName>
                                        </p:attrNameLst>
                                      </p:cBhvr>
                                      <p:to>
                                        <p:strVal val="visible"/>
                                      </p:to>
                                    </p:set>
                                    <p:animEffect transition="in" filter="fade">
                                      <p:cBhvr>
                                        <p:cTn id="7" dur="500"/>
                                        <p:tgtEl>
                                          <p:spTgt spid="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31"/>
          <p:cNvSpPr/>
          <p:nvPr/>
        </p:nvSpPr>
        <p:spPr>
          <a:xfrm>
            <a:off x="3111062" y="4006378"/>
            <a:ext cx="5969876" cy="2070875"/>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p31"/>
          <p:cNvSpPr/>
          <p:nvPr/>
        </p:nvSpPr>
        <p:spPr>
          <a:xfrm>
            <a:off x="457200" y="1324775"/>
            <a:ext cx="11277600" cy="2293412"/>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0" name="Google Shape;560;p31"/>
          <p:cNvSpPr txBox="1"/>
          <p:nvPr/>
        </p:nvSpPr>
        <p:spPr>
          <a:xfrm>
            <a:off x="704850" y="265115"/>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Decisión de Aceptación o No Rechazo</a:t>
            </a:r>
            <a:endParaRPr sz="3200">
              <a:solidFill>
                <a:srgbClr val="7F7F7F"/>
              </a:solidFill>
              <a:latin typeface="Arial"/>
              <a:ea typeface="Arial"/>
              <a:cs typeface="Arial"/>
              <a:sym typeface="Arial"/>
            </a:endParaRPr>
          </a:p>
        </p:txBody>
      </p:sp>
      <p:sp>
        <p:nvSpPr>
          <p:cNvPr id="561" name="Google Shape;561;p31"/>
          <p:cNvSpPr txBox="1"/>
          <p:nvPr/>
        </p:nvSpPr>
        <p:spPr>
          <a:xfrm>
            <a:off x="704851" y="1455856"/>
            <a:ext cx="10782300" cy="20313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prueba tiene uno de dos resultados: aceptamos la hipótesis nula o la rechazamos. Sin embargo, la mayoría de los estadísticos prefieren decir que </a:t>
            </a:r>
            <a:r>
              <a:rPr lang="es-ES" sz="1800" b="1">
                <a:solidFill>
                  <a:schemeClr val="lt1"/>
                </a:solidFill>
                <a:latin typeface="Calibri"/>
                <a:ea typeface="Calibri"/>
                <a:cs typeface="Calibri"/>
                <a:sym typeface="Calibri"/>
              </a:rPr>
              <a:t>rechazan el valor nulo</a:t>
            </a:r>
            <a:r>
              <a:rPr lang="es-ES" sz="1800">
                <a:solidFill>
                  <a:schemeClr val="lt1"/>
                </a:solidFill>
                <a:latin typeface="Calibri"/>
                <a:ea typeface="Calibri"/>
                <a:cs typeface="Calibri"/>
                <a:sym typeface="Calibri"/>
              </a:rPr>
              <a:t>, o </a:t>
            </a:r>
            <a:r>
              <a:rPr lang="es-ES" sz="1800" b="1">
                <a:solidFill>
                  <a:schemeClr val="lt1"/>
                </a:solidFill>
                <a:latin typeface="Calibri"/>
                <a:ea typeface="Calibri"/>
                <a:cs typeface="Calibri"/>
                <a:sym typeface="Calibri"/>
              </a:rPr>
              <a:t>no-lo-rechazan</a:t>
            </a:r>
            <a:r>
              <a:rPr lang="es-ES" sz="1800">
                <a:solidFill>
                  <a:schemeClr val="lt1"/>
                </a:solidFill>
                <a:latin typeface="Calibri"/>
                <a:ea typeface="Calibri"/>
                <a:cs typeface="Calibri"/>
                <a:sym typeface="Calibri"/>
              </a:rPr>
              <a:t>, en lugar de aceptarlo.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La idea detrás es que decir que aceptamos la hipótesis nula significa que la consideramos verdadera, mientras que decir que no la rechazamos significa que no encontramos que los datos fueran lo suficientemente persuasivos para seleccionar la alternativa sobre la nula. Debido a que estamos realizando una prueba probabilística, siempre hay una pequeña posibilidad de equivocarse, y esta redacción diferente cubre eso.</a:t>
            </a:r>
            <a:endParaRPr/>
          </a:p>
        </p:txBody>
      </p:sp>
      <p:pic>
        <p:nvPicPr>
          <p:cNvPr id="562" name="Google Shape;562;p31" descr="Will COVID-19 Affect College Admission Decisions?"/>
          <p:cNvPicPr preferRelativeResize="0"/>
          <p:nvPr/>
        </p:nvPicPr>
        <p:blipFill rotWithShape="1">
          <a:blip r:embed="rId3">
            <a:alphaModFix/>
          </a:blip>
          <a:srcRect/>
          <a:stretch/>
        </p:blipFill>
        <p:spPr>
          <a:xfrm>
            <a:off x="3481387" y="4135147"/>
            <a:ext cx="5229225" cy="1781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0"/>
                                        </p:tgtEl>
                                        <p:attrNameLst>
                                          <p:attrName>style.visibility</p:attrName>
                                        </p:attrNameLst>
                                      </p:cBhvr>
                                      <p:to>
                                        <p:strVal val="visible"/>
                                      </p:to>
                                    </p:set>
                                    <p:animEffect transition="in" filter="fade">
                                      <p:cBhvr>
                                        <p:cTn id="7" dur="500"/>
                                        <p:tgtEl>
                                          <p:spTgt spid="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32"/>
          <p:cNvSpPr/>
          <p:nvPr/>
        </p:nvSpPr>
        <p:spPr>
          <a:xfrm>
            <a:off x="457200" y="1854133"/>
            <a:ext cx="11277600" cy="3388427"/>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8" name="Google Shape;568;p32"/>
          <p:cNvSpPr txBox="1"/>
          <p:nvPr/>
        </p:nvSpPr>
        <p:spPr>
          <a:xfrm>
            <a:off x="704850" y="800073"/>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Errores</a:t>
            </a:r>
            <a:endParaRPr sz="3200">
              <a:solidFill>
                <a:srgbClr val="7F7F7F"/>
              </a:solidFill>
              <a:latin typeface="Arial"/>
              <a:ea typeface="Arial"/>
              <a:cs typeface="Arial"/>
              <a:sym typeface="Arial"/>
            </a:endParaRPr>
          </a:p>
        </p:txBody>
      </p:sp>
      <p:sp>
        <p:nvSpPr>
          <p:cNvPr id="569" name="Google Shape;569;p32"/>
          <p:cNvSpPr txBox="1"/>
          <p:nvPr/>
        </p:nvSpPr>
        <p:spPr>
          <a:xfrm>
            <a:off x="704851" y="2083719"/>
            <a:ext cx="10782300"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Cuando realizamos una prueba de hipótesis, hay un par de cosas que podrían salir mal. Hay dos tipos de errores, que por diseño no se pueden evitar, y debemos ser conscientes de que estos errores existen. Estos son los errores </a:t>
            </a:r>
            <a:r>
              <a:rPr lang="es-ES" sz="1800" b="1">
                <a:solidFill>
                  <a:schemeClr val="lt1"/>
                </a:solidFill>
                <a:latin typeface="Calibri"/>
                <a:ea typeface="Calibri"/>
                <a:cs typeface="Calibri"/>
                <a:sym typeface="Calibri"/>
              </a:rPr>
              <a:t>tipo I</a:t>
            </a:r>
            <a:r>
              <a:rPr lang="es-ES" sz="1800">
                <a:solidFill>
                  <a:schemeClr val="lt1"/>
                </a:solidFill>
                <a:latin typeface="Calibri"/>
                <a:ea typeface="Calibri"/>
                <a:cs typeface="Calibri"/>
                <a:sym typeface="Calibri"/>
              </a:rPr>
              <a:t> y </a:t>
            </a:r>
            <a:r>
              <a:rPr lang="es-ES" sz="1800" b="1">
                <a:solidFill>
                  <a:schemeClr val="lt1"/>
                </a:solidFill>
                <a:latin typeface="Calibri"/>
                <a:ea typeface="Calibri"/>
                <a:cs typeface="Calibri"/>
                <a:sym typeface="Calibri"/>
              </a:rPr>
              <a:t>tipo II</a:t>
            </a:r>
            <a:r>
              <a:rPr lang="es-ES" sz="1800">
                <a:solidFill>
                  <a:schemeClr val="lt1"/>
                </a:solidFill>
                <a:latin typeface="Calibri"/>
                <a:ea typeface="Calibri"/>
                <a:cs typeface="Calibri"/>
                <a:sym typeface="Calibri"/>
              </a:rPr>
              <a:t>.</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un mundo ideal, deberíamos siempre rechazar la hipótesis nula cuando es falsa, y no deberíamos rechazarla cuando en verdad es verdadera. Pero hay dos escenarios que pueden ocurrir, cada uno de ellos resultará en un error. Brevemente,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Error Tipo I </a:t>
            </a:r>
            <a:r>
              <a:rPr lang="es-ES" sz="1800">
                <a:solidFill>
                  <a:schemeClr val="lt1"/>
                </a:solidFill>
                <a:latin typeface="Calibri"/>
                <a:ea typeface="Calibri"/>
                <a:cs typeface="Calibri"/>
                <a:sym typeface="Calibri"/>
              </a:rPr>
              <a:t>ocurre cuando rechazamos una hipótesis nula que era verdadera.</a:t>
            </a: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b="1">
                <a:solidFill>
                  <a:schemeClr val="lt1"/>
                </a:solidFill>
                <a:latin typeface="Calibri"/>
                <a:ea typeface="Calibri"/>
                <a:cs typeface="Calibri"/>
                <a:sym typeface="Calibri"/>
              </a:rPr>
              <a:t>Error Tipo II </a:t>
            </a:r>
            <a:r>
              <a:rPr lang="es-ES" sz="1800">
                <a:solidFill>
                  <a:schemeClr val="lt1"/>
                </a:solidFill>
                <a:latin typeface="Calibri"/>
                <a:ea typeface="Calibri"/>
                <a:cs typeface="Calibri"/>
                <a:sym typeface="Calibri"/>
              </a:rPr>
              <a:t>ocurre cuando fallamos en rechazar una hipótesis nula que era falsa.</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8"/>
                                        </p:tgtEl>
                                        <p:attrNameLst>
                                          <p:attrName>style.visibility</p:attrName>
                                        </p:attrNameLst>
                                      </p:cBhvr>
                                      <p:to>
                                        <p:strVal val="visible"/>
                                      </p:to>
                                    </p:set>
                                    <p:animEffect transition="in" filter="fade">
                                      <p:cBhvr>
                                        <p:cTn id="7" dur="500"/>
                                        <p:tgtEl>
                                          <p:spTgt spid="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33"/>
          <p:cNvSpPr/>
          <p:nvPr/>
        </p:nvSpPr>
        <p:spPr>
          <a:xfrm>
            <a:off x="6368472" y="1703385"/>
            <a:ext cx="5470628" cy="4325940"/>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75" name="Google Shape;575;p33"/>
          <p:cNvSpPr/>
          <p:nvPr/>
        </p:nvSpPr>
        <p:spPr>
          <a:xfrm>
            <a:off x="-390197" y="1132345"/>
            <a:ext cx="8351783" cy="5228674"/>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6" name="Google Shape;576;p33"/>
          <p:cNvSpPr txBox="1"/>
          <p:nvPr/>
        </p:nvSpPr>
        <p:spPr>
          <a:xfrm>
            <a:off x="712400" y="269856"/>
            <a:ext cx="10263600" cy="1008000"/>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Errores</a:t>
            </a:r>
            <a:endParaRPr sz="3200">
              <a:solidFill>
                <a:srgbClr val="7F7F7F"/>
              </a:solidFill>
              <a:latin typeface="Arial"/>
              <a:ea typeface="Arial"/>
              <a:cs typeface="Arial"/>
              <a:sym typeface="Arial"/>
            </a:endParaRPr>
          </a:p>
        </p:txBody>
      </p:sp>
      <p:sp>
        <p:nvSpPr>
          <p:cNvPr id="577" name="Google Shape;577;p33"/>
          <p:cNvSpPr txBox="1"/>
          <p:nvPr/>
        </p:nvSpPr>
        <p:spPr>
          <a:xfrm>
            <a:off x="219405" y="1395881"/>
            <a:ext cx="7305565" cy="4878765"/>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800"/>
              <a:buFont typeface="Noto Sans Symbols"/>
              <a:buChar char="⮚"/>
            </a:pPr>
            <a:r>
              <a:rPr lang="es-ES" sz="1800" dirty="0">
                <a:solidFill>
                  <a:schemeClr val="lt1"/>
                </a:solidFill>
                <a:latin typeface="Calibri"/>
                <a:cs typeface="Calibri"/>
                <a:sym typeface="Arial"/>
              </a:rPr>
              <a:t>Desde una perspectiva estadística, la </a:t>
            </a:r>
            <a:r>
              <a:rPr lang="es-ES" sz="1800" b="1" dirty="0">
                <a:solidFill>
                  <a:schemeClr val="lt1"/>
                </a:solidFill>
                <a:latin typeface="Calibri"/>
                <a:cs typeface="Calibri"/>
                <a:sym typeface="Arial"/>
              </a:rPr>
              <a:t>probabilidad de rechazar una hipótesis nula que es verdadera se denota como 𝜶</a:t>
            </a:r>
            <a:r>
              <a:rPr lang="es-ES" sz="1800" dirty="0">
                <a:solidFill>
                  <a:schemeClr val="lt1"/>
                </a:solidFill>
                <a:latin typeface="Calibri"/>
                <a:cs typeface="Calibri"/>
                <a:sym typeface="Arial"/>
              </a:rPr>
              <a:t>. La probabilidad de cometer un error de Tipo II se denota como 𝛽.</a:t>
            </a:r>
            <a:endParaRPr dirty="0">
              <a:solidFill>
                <a:schemeClr val="lt1"/>
              </a:solidFill>
              <a:latin typeface="Calibri"/>
              <a:cs typeface="Calibri"/>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cs typeface="Calibri"/>
              <a:sym typeface="Arial"/>
            </a:endParaRPr>
          </a:p>
          <a:p>
            <a:pPr marL="285750" marR="0" lvl="0" indent="-285750" algn="just" rtl="0">
              <a:spcBef>
                <a:spcPts val="0"/>
              </a:spcBef>
              <a:spcAft>
                <a:spcPts val="0"/>
              </a:spcAft>
              <a:buClr>
                <a:schemeClr val="lt1"/>
              </a:buClr>
              <a:buSzPts val="1800"/>
              <a:buFont typeface="Noto Sans Symbols"/>
              <a:buChar char="⮚"/>
            </a:pPr>
            <a:r>
              <a:rPr lang="es-ES" sz="1800" dirty="0">
                <a:solidFill>
                  <a:schemeClr val="lt1"/>
                </a:solidFill>
                <a:latin typeface="Calibri"/>
                <a:cs typeface="Calibri"/>
                <a:sym typeface="Arial"/>
              </a:rPr>
              <a:t>El valor 𝜶, también conocido como el </a:t>
            </a:r>
            <a:r>
              <a:rPr lang="es-ES" sz="1800" b="1" dirty="0">
                <a:solidFill>
                  <a:schemeClr val="lt1"/>
                </a:solidFill>
                <a:latin typeface="Calibri"/>
                <a:cs typeface="Calibri"/>
                <a:sym typeface="Arial"/>
              </a:rPr>
              <a:t>nivel de significancia</a:t>
            </a:r>
            <a:r>
              <a:rPr lang="es-ES" sz="1800" dirty="0">
                <a:solidFill>
                  <a:schemeClr val="lt1"/>
                </a:solidFill>
                <a:latin typeface="Calibri"/>
                <a:cs typeface="Calibri"/>
                <a:sym typeface="Arial"/>
              </a:rPr>
              <a:t>, lo establecemos nosotros.</a:t>
            </a:r>
            <a:endParaRPr dirty="0">
              <a:solidFill>
                <a:schemeClr val="lt1"/>
              </a:solidFill>
              <a:latin typeface="Calibri"/>
              <a:cs typeface="Calibri"/>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cs typeface="Calibri"/>
              <a:sym typeface="Arial"/>
            </a:endParaRPr>
          </a:p>
          <a:p>
            <a:pPr marL="285750" indent="-285750" algn="just">
              <a:buClr>
                <a:schemeClr val="lt1"/>
              </a:buClr>
              <a:buSzPts val="1800"/>
              <a:buFont typeface="Noto Sans Symbols"/>
              <a:buChar char="⮚"/>
            </a:pPr>
            <a:r>
              <a:rPr lang="es-ES" sz="1800" dirty="0">
                <a:solidFill>
                  <a:schemeClr val="lt1"/>
                </a:solidFill>
                <a:latin typeface="Calibri"/>
                <a:cs typeface="Calibri"/>
                <a:sym typeface="Arial"/>
              </a:rPr>
              <a:t>El complemento de</a:t>
            </a:r>
            <a:r>
              <a:rPr lang="es-ES" sz="1800" dirty="0">
                <a:solidFill>
                  <a:schemeClr val="lt1"/>
                </a:solidFill>
                <a:latin typeface="Calibri"/>
                <a:cs typeface="Calibri"/>
              </a:rPr>
              <a:t> </a:t>
            </a:r>
            <a:r>
              <a:rPr lang="es-ES" sz="1800" dirty="0">
                <a:solidFill>
                  <a:schemeClr val="lt1"/>
                </a:solidFill>
                <a:latin typeface="Calibri"/>
                <a:cs typeface="Calibri"/>
                <a:sym typeface="Arial"/>
              </a:rPr>
              <a:t> la probabilidad de un error tipo II se conoce como </a:t>
            </a:r>
            <a:r>
              <a:rPr lang="es-ES" sz="1800" b="1" dirty="0">
                <a:solidFill>
                  <a:schemeClr val="lt1"/>
                </a:solidFill>
                <a:latin typeface="Calibri"/>
                <a:cs typeface="Calibri"/>
                <a:sym typeface="Arial"/>
              </a:rPr>
              <a:t>potencia de una prueba estadística</a:t>
            </a:r>
            <a:r>
              <a:rPr lang="es-ES" sz="1800" dirty="0">
                <a:solidFill>
                  <a:schemeClr val="lt1"/>
                </a:solidFill>
                <a:latin typeface="Calibri"/>
                <a:cs typeface="Calibri"/>
                <a:sym typeface="Arial"/>
              </a:rPr>
              <a:t>. Es la probabilidad de rechazar la hipótesis nula cuando es falsa.</a:t>
            </a:r>
            <a:endParaRPr dirty="0">
              <a:solidFill>
                <a:schemeClr val="lt1"/>
              </a:solidFill>
              <a:latin typeface="Calibri"/>
              <a:cs typeface="Calibri"/>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cs typeface="Calibri"/>
              <a:sym typeface="Arial"/>
            </a:endParaRPr>
          </a:p>
          <a:p>
            <a:pPr marL="285750" marR="0" lvl="0" indent="-285750" algn="just" rtl="0">
              <a:spcBef>
                <a:spcPts val="0"/>
              </a:spcBef>
              <a:spcAft>
                <a:spcPts val="0"/>
              </a:spcAft>
              <a:buClr>
                <a:schemeClr val="lt1"/>
              </a:buClr>
              <a:buSzPts val="1800"/>
              <a:buFont typeface="Noto Sans Symbols"/>
              <a:buChar char="⮚"/>
            </a:pPr>
            <a:r>
              <a:rPr lang="es-ES" sz="1800" dirty="0">
                <a:solidFill>
                  <a:schemeClr val="lt1"/>
                </a:solidFill>
                <a:latin typeface="Calibri"/>
                <a:cs typeface="Calibri"/>
                <a:sym typeface="Arial"/>
              </a:rPr>
              <a:t>El valor 𝜶 más común es 0.05, lo que significa que estamos dispuestos a aceptar una probabilidad del 5 % de que podamos rechazar incorrectamente la hipótesis nula. Por supuesto, si estamos lidiando con procesos extremadamente críticos, puede decidir reducir 𝜶 a algo así como 0.01, lo que significaría que solo está dispuesto a aceptar un 1% de probabilidad de rechazar incorrectamente la hipótesis nula.</a:t>
            </a:r>
            <a:endParaRPr dirty="0">
              <a:solidFill>
                <a:schemeClr val="lt1"/>
              </a:solidFill>
              <a:latin typeface="Calibri"/>
              <a:cs typeface="Calibri"/>
            </a:endParaRPr>
          </a:p>
        </p:txBody>
      </p:sp>
      <p:sp>
        <p:nvSpPr>
          <p:cNvPr id="578" name="Google Shape;578;p33"/>
          <p:cNvSpPr/>
          <p:nvPr/>
        </p:nvSpPr>
        <p:spPr>
          <a:xfrm>
            <a:off x="8846164" y="2739663"/>
            <a:ext cx="1399822" cy="1399822"/>
          </a:xfrm>
          <a:prstGeom prst="rect">
            <a:avLst/>
          </a:prstGeom>
          <a:gradFill>
            <a:gsLst>
              <a:gs pos="0">
                <a:srgbClr val="548135"/>
              </a:gs>
              <a:gs pos="100000">
                <a:srgbClr val="E1EFD8"/>
              </a:gs>
            </a:gsLst>
            <a:lin ang="13500000" scaled="0"/>
          </a:gra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dk1"/>
                </a:solidFill>
                <a:latin typeface="Calibri"/>
                <a:ea typeface="Calibri"/>
                <a:cs typeface="Calibri"/>
                <a:sym typeface="Calibri"/>
              </a:rPr>
              <a:t>Decisión Correcta</a:t>
            </a:r>
            <a:endParaRPr/>
          </a:p>
        </p:txBody>
      </p:sp>
      <p:sp>
        <p:nvSpPr>
          <p:cNvPr id="579" name="Google Shape;579;p33"/>
          <p:cNvSpPr/>
          <p:nvPr/>
        </p:nvSpPr>
        <p:spPr>
          <a:xfrm>
            <a:off x="10245986" y="2739663"/>
            <a:ext cx="1399822" cy="1399822"/>
          </a:xfrm>
          <a:prstGeom prst="rect">
            <a:avLst/>
          </a:prstGeom>
          <a:blipFill rotWithShape="1">
            <a:blip r:embed="rId3">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0" name="Google Shape;580;p33"/>
          <p:cNvSpPr/>
          <p:nvPr/>
        </p:nvSpPr>
        <p:spPr>
          <a:xfrm>
            <a:off x="8846163" y="4139485"/>
            <a:ext cx="1399822" cy="1399822"/>
          </a:xfrm>
          <a:prstGeom prst="rect">
            <a:avLst/>
          </a:prstGeom>
          <a:blipFill rotWithShape="1">
            <a:blip r:embed="rId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1" name="Google Shape;581;p33"/>
          <p:cNvSpPr/>
          <p:nvPr/>
        </p:nvSpPr>
        <p:spPr>
          <a:xfrm>
            <a:off x="10245986" y="4139485"/>
            <a:ext cx="1399822" cy="1399822"/>
          </a:xfrm>
          <a:prstGeom prst="rect">
            <a:avLst/>
          </a:prstGeom>
          <a:gradFill>
            <a:gsLst>
              <a:gs pos="0">
                <a:srgbClr val="548135"/>
              </a:gs>
              <a:gs pos="100000">
                <a:srgbClr val="E1EFD8"/>
              </a:gs>
            </a:gsLst>
            <a:lin ang="13500000" scaled="0"/>
          </a:gra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dk1"/>
                </a:solidFill>
                <a:latin typeface="Calibri"/>
                <a:ea typeface="Calibri"/>
                <a:cs typeface="Calibri"/>
                <a:sym typeface="Calibri"/>
              </a:rPr>
              <a:t>Decisión Correcta</a:t>
            </a:r>
            <a:endParaRPr/>
          </a:p>
        </p:txBody>
      </p:sp>
      <p:sp>
        <p:nvSpPr>
          <p:cNvPr id="582" name="Google Shape;582;p33"/>
          <p:cNvSpPr txBox="1"/>
          <p:nvPr/>
        </p:nvSpPr>
        <p:spPr>
          <a:xfrm>
            <a:off x="9243668" y="2047384"/>
            <a:ext cx="20102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dk1"/>
                </a:solidFill>
                <a:latin typeface="Calibri"/>
                <a:ea typeface="Calibri"/>
                <a:cs typeface="Calibri"/>
                <a:sym typeface="Calibri"/>
              </a:rPr>
              <a:t>Condiciones Reales</a:t>
            </a:r>
            <a:endParaRPr/>
          </a:p>
        </p:txBody>
      </p:sp>
      <p:sp>
        <p:nvSpPr>
          <p:cNvPr id="583" name="Google Shape;583;p33"/>
          <p:cNvSpPr txBox="1"/>
          <p:nvPr/>
        </p:nvSpPr>
        <p:spPr>
          <a:xfrm rot="-5400000">
            <a:off x="6856027" y="3929495"/>
            <a:ext cx="25804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dk1"/>
                </a:solidFill>
                <a:latin typeface="Calibri"/>
                <a:ea typeface="Calibri"/>
                <a:cs typeface="Calibri"/>
                <a:sym typeface="Calibri"/>
              </a:rPr>
              <a:t>Conclusiones Estadísticas</a:t>
            </a:r>
            <a:endParaRPr/>
          </a:p>
        </p:txBody>
      </p:sp>
      <p:sp>
        <p:nvSpPr>
          <p:cNvPr id="584" name="Google Shape;584;p33"/>
          <p:cNvSpPr txBox="1"/>
          <p:nvPr/>
        </p:nvSpPr>
        <p:spPr>
          <a:xfrm rot="1365">
            <a:off x="8176211" y="4259301"/>
            <a:ext cx="755700" cy="1050000"/>
          </a:xfrm>
          <a:prstGeom prst="rect">
            <a:avLst/>
          </a:prstGeom>
          <a:blipFill rotWithShape="1">
            <a:blip r:embed="rId5">
              <a:alphaModFix/>
            </a:blip>
            <a:stretch>
              <a:fillRect l="-2325" r="-11626" b="-17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5" name="Google Shape;585;p33"/>
          <p:cNvSpPr txBox="1"/>
          <p:nvPr/>
        </p:nvSpPr>
        <p:spPr>
          <a:xfrm>
            <a:off x="10410599" y="2410401"/>
            <a:ext cx="1099905" cy="307777"/>
          </a:xfrm>
          <a:prstGeom prst="rect">
            <a:avLst/>
          </a:prstGeom>
          <a:blipFill rotWithShape="1">
            <a:blip r:embed="rId6">
              <a:alphaModFix/>
            </a:blip>
            <a:stretch>
              <a:fillRect t="-3919" b="-196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6" name="Google Shape;586;p33"/>
          <p:cNvSpPr txBox="1"/>
          <p:nvPr/>
        </p:nvSpPr>
        <p:spPr>
          <a:xfrm>
            <a:off x="8263289" y="2865925"/>
            <a:ext cx="653400" cy="1129200"/>
          </a:xfrm>
          <a:prstGeom prst="rect">
            <a:avLst/>
          </a:prstGeom>
          <a:blipFill rotWithShape="1">
            <a:blip r:embed="rId7">
              <a:alphaModFix/>
            </a:blip>
            <a:stretch>
              <a:fillRect l="-2325" r="-11626" b="-153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87" name="Google Shape;587;p33"/>
          <p:cNvSpPr txBox="1"/>
          <p:nvPr/>
        </p:nvSpPr>
        <p:spPr>
          <a:xfrm>
            <a:off x="8809432" y="2434788"/>
            <a:ext cx="1426239" cy="307777"/>
          </a:xfrm>
          <a:prstGeom prst="rect">
            <a:avLst/>
          </a:prstGeom>
          <a:blipFill rotWithShape="1">
            <a:blip r:embed="rId8">
              <a:alphaModFix/>
            </a:blip>
            <a:stretch>
              <a:fillRect t="-3919" b="-196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76"/>
                                        </p:tgtEl>
                                        <p:attrNameLst>
                                          <p:attrName>style.visibility</p:attrName>
                                        </p:attrNameLst>
                                      </p:cBhvr>
                                      <p:to>
                                        <p:strVal val="visible"/>
                                      </p:to>
                                    </p:set>
                                    <p:animEffect transition="in" filter="fade">
                                      <p:cBhvr>
                                        <p:cTn id="7" dur="500"/>
                                        <p:tgtEl>
                                          <p:spTgt spid="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34"/>
          <p:cNvSpPr/>
          <p:nvPr/>
        </p:nvSpPr>
        <p:spPr>
          <a:xfrm>
            <a:off x="7362825" y="1709262"/>
            <a:ext cx="3971925" cy="4325940"/>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93" name="Google Shape;593;p34"/>
          <p:cNvSpPr/>
          <p:nvPr/>
        </p:nvSpPr>
        <p:spPr>
          <a:xfrm>
            <a:off x="-390197" y="2644789"/>
            <a:ext cx="6921259" cy="2652193"/>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4" name="Google Shape;594;p34"/>
          <p:cNvSpPr txBox="1"/>
          <p:nvPr/>
        </p:nvSpPr>
        <p:spPr>
          <a:xfrm>
            <a:off x="744785" y="1615242"/>
            <a:ext cx="10378617"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Errores</a:t>
            </a:r>
            <a:endParaRPr sz="3200">
              <a:solidFill>
                <a:srgbClr val="7F7F7F"/>
              </a:solidFill>
              <a:latin typeface="Arial"/>
              <a:ea typeface="Arial"/>
              <a:cs typeface="Arial"/>
              <a:sym typeface="Arial"/>
            </a:endParaRPr>
          </a:p>
        </p:txBody>
      </p:sp>
      <p:sp>
        <p:nvSpPr>
          <p:cNvPr id="595" name="Google Shape;595;p34"/>
          <p:cNvSpPr txBox="1"/>
          <p:nvPr/>
        </p:nvSpPr>
        <p:spPr>
          <a:xfrm>
            <a:off x="744786" y="2955222"/>
            <a:ext cx="5126247" cy="2031325"/>
          </a:xfrm>
          <a:prstGeom prst="rect">
            <a:avLst/>
          </a:prstGeom>
          <a:blipFill rotWithShape="1">
            <a:blip r:embed="rId3">
              <a:alphaModFix/>
            </a:blip>
            <a:stretch>
              <a:fillRect l="-950" b="-390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96" name="Google Shape;596;p34"/>
          <p:cNvSpPr/>
          <p:nvPr/>
        </p:nvSpPr>
        <p:spPr>
          <a:xfrm>
            <a:off x="8333208" y="2730138"/>
            <a:ext cx="1399822" cy="1399822"/>
          </a:xfrm>
          <a:prstGeom prst="rect">
            <a:avLst/>
          </a:prstGeom>
          <a:gradFill>
            <a:gsLst>
              <a:gs pos="0">
                <a:srgbClr val="548135"/>
              </a:gs>
              <a:gs pos="100000">
                <a:srgbClr val="E1EFD8"/>
              </a:gs>
            </a:gsLst>
            <a:lin ang="13500000" scaled="0"/>
          </a:gra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dk1"/>
                </a:solidFill>
                <a:latin typeface="Calibri"/>
                <a:ea typeface="Calibri"/>
                <a:cs typeface="Calibri"/>
                <a:sym typeface="Calibri"/>
              </a:rPr>
              <a:t>Decisión Correcta</a:t>
            </a:r>
            <a:endParaRPr/>
          </a:p>
        </p:txBody>
      </p:sp>
      <p:sp>
        <p:nvSpPr>
          <p:cNvPr id="597" name="Google Shape;597;p34"/>
          <p:cNvSpPr/>
          <p:nvPr/>
        </p:nvSpPr>
        <p:spPr>
          <a:xfrm>
            <a:off x="9733030" y="2730138"/>
            <a:ext cx="1399822" cy="1399822"/>
          </a:xfrm>
          <a:prstGeom prst="rect">
            <a:avLst/>
          </a:prstGeom>
          <a:blipFill rotWithShape="1">
            <a:blip r:embed="rId4">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98" name="Google Shape;598;p34"/>
          <p:cNvSpPr/>
          <p:nvPr/>
        </p:nvSpPr>
        <p:spPr>
          <a:xfrm>
            <a:off x="8333207" y="4129960"/>
            <a:ext cx="1399822" cy="1399822"/>
          </a:xfrm>
          <a:prstGeom prst="rect">
            <a:avLst/>
          </a:prstGeom>
          <a:blipFill rotWithShape="1">
            <a:blip r:embed="rId5">
              <a:alphaModFix/>
            </a:blip>
            <a:stretch>
              <a:fillRect/>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599" name="Google Shape;599;p34"/>
          <p:cNvSpPr/>
          <p:nvPr/>
        </p:nvSpPr>
        <p:spPr>
          <a:xfrm>
            <a:off x="9733030" y="4129960"/>
            <a:ext cx="1399822" cy="1399822"/>
          </a:xfrm>
          <a:prstGeom prst="rect">
            <a:avLst/>
          </a:prstGeom>
          <a:gradFill>
            <a:gsLst>
              <a:gs pos="0">
                <a:srgbClr val="548135"/>
              </a:gs>
              <a:gs pos="100000">
                <a:srgbClr val="E1EFD8"/>
              </a:gs>
            </a:gsLst>
            <a:lin ang="13500000" scaled="0"/>
          </a:gra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dk1"/>
                </a:solidFill>
                <a:latin typeface="Calibri"/>
                <a:ea typeface="Calibri"/>
                <a:cs typeface="Calibri"/>
                <a:sym typeface="Calibri"/>
              </a:rPr>
              <a:t>Decisión Correcta</a:t>
            </a:r>
            <a:endParaRPr/>
          </a:p>
        </p:txBody>
      </p:sp>
      <p:sp>
        <p:nvSpPr>
          <p:cNvPr id="600" name="Google Shape;600;p34"/>
          <p:cNvSpPr txBox="1"/>
          <p:nvPr/>
        </p:nvSpPr>
        <p:spPr>
          <a:xfrm>
            <a:off x="8730712" y="2037859"/>
            <a:ext cx="20102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dk1"/>
                </a:solidFill>
                <a:latin typeface="Calibri"/>
                <a:ea typeface="Calibri"/>
                <a:cs typeface="Calibri"/>
                <a:sym typeface="Calibri"/>
              </a:rPr>
              <a:t>Condiciones Reales</a:t>
            </a:r>
            <a:endParaRPr/>
          </a:p>
        </p:txBody>
      </p:sp>
      <p:sp>
        <p:nvSpPr>
          <p:cNvPr id="601" name="Google Shape;601;p34"/>
          <p:cNvSpPr txBox="1"/>
          <p:nvPr/>
        </p:nvSpPr>
        <p:spPr>
          <a:xfrm rot="-5400000">
            <a:off x="6343071" y="3919970"/>
            <a:ext cx="25804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dk1"/>
                </a:solidFill>
                <a:latin typeface="Calibri"/>
                <a:ea typeface="Calibri"/>
                <a:cs typeface="Calibri"/>
                <a:sym typeface="Calibri"/>
              </a:rPr>
              <a:t>Conclusiones Estadísticas</a:t>
            </a:r>
            <a:endParaRPr/>
          </a:p>
        </p:txBody>
      </p:sp>
      <p:sp>
        <p:nvSpPr>
          <p:cNvPr id="602" name="Google Shape;602;p34"/>
          <p:cNvSpPr txBox="1"/>
          <p:nvPr/>
        </p:nvSpPr>
        <p:spPr>
          <a:xfrm>
            <a:off x="9897643" y="2400876"/>
            <a:ext cx="1099905" cy="307777"/>
          </a:xfrm>
          <a:prstGeom prst="rect">
            <a:avLst/>
          </a:prstGeom>
          <a:blipFill rotWithShape="1">
            <a:blip r:embed="rId6">
              <a:alphaModFix/>
            </a:blip>
            <a:stretch>
              <a:fillRect t="-3919" b="-196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603" name="Google Shape;603;p34"/>
          <p:cNvSpPr txBox="1"/>
          <p:nvPr/>
        </p:nvSpPr>
        <p:spPr>
          <a:xfrm>
            <a:off x="8296476" y="2425263"/>
            <a:ext cx="1426239" cy="307777"/>
          </a:xfrm>
          <a:prstGeom prst="rect">
            <a:avLst/>
          </a:prstGeom>
          <a:blipFill rotWithShape="1">
            <a:blip r:embed="rId7">
              <a:alphaModFix/>
            </a:blip>
            <a:stretch>
              <a:fillRect t="-3919" b="-196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604" name="Google Shape;604;p34"/>
          <p:cNvSpPr txBox="1"/>
          <p:nvPr/>
        </p:nvSpPr>
        <p:spPr>
          <a:xfrm rot="1365">
            <a:off x="7666700" y="4276238"/>
            <a:ext cx="755700" cy="1050000"/>
          </a:xfrm>
          <a:prstGeom prst="rect">
            <a:avLst/>
          </a:prstGeom>
          <a:blipFill rotWithShape="1">
            <a:blip r:embed="rId8">
              <a:alphaModFix/>
            </a:blip>
            <a:stretch>
              <a:fillRect l="-2329" r="-11619" b="-172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605" name="Google Shape;605;p34"/>
          <p:cNvSpPr txBox="1"/>
          <p:nvPr/>
        </p:nvSpPr>
        <p:spPr>
          <a:xfrm>
            <a:off x="7753778" y="2882863"/>
            <a:ext cx="653400" cy="1129200"/>
          </a:xfrm>
          <a:prstGeom prst="rect">
            <a:avLst/>
          </a:prstGeom>
          <a:blipFill rotWithShape="1">
            <a:blip r:embed="rId9">
              <a:alphaModFix/>
            </a:blip>
            <a:stretch>
              <a:fillRect l="-2329" r="-11619" b="-153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4"/>
                                        </p:tgtEl>
                                        <p:attrNameLst>
                                          <p:attrName>style.visibility</p:attrName>
                                        </p:attrNameLst>
                                      </p:cBhvr>
                                      <p:to>
                                        <p:strVal val="visible"/>
                                      </p:to>
                                    </p:set>
                                    <p:animEffect transition="in" filter="fade">
                                      <p:cBhvr>
                                        <p:cTn id="7" dur="5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35"/>
          <p:cNvSpPr/>
          <p:nvPr/>
        </p:nvSpPr>
        <p:spPr>
          <a:xfrm>
            <a:off x="457200" y="1477050"/>
            <a:ext cx="11277600" cy="4506655"/>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1" name="Google Shape;611;p35"/>
          <p:cNvSpPr txBox="1"/>
          <p:nvPr/>
        </p:nvSpPr>
        <p:spPr>
          <a:xfrm>
            <a:off x="704850" y="58390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Ejemplos</a:t>
            </a:r>
            <a:endParaRPr sz="3200">
              <a:solidFill>
                <a:srgbClr val="7F7F7F"/>
              </a:solidFill>
              <a:latin typeface="Arial"/>
              <a:ea typeface="Arial"/>
              <a:cs typeface="Arial"/>
              <a:sym typeface="Arial"/>
            </a:endParaRPr>
          </a:p>
        </p:txBody>
      </p:sp>
      <p:sp>
        <p:nvSpPr>
          <p:cNvPr id="612" name="Google Shape;612;p35"/>
          <p:cNvSpPr txBox="1"/>
          <p:nvPr/>
        </p:nvSpPr>
        <p:spPr>
          <a:xfrm>
            <a:off x="704851" y="1693763"/>
            <a:ext cx="10782299" cy="3970318"/>
          </a:xfrm>
          <a:prstGeom prst="rect">
            <a:avLst/>
          </a:prstGeom>
          <a:blipFill rotWithShape="1">
            <a:blip r:embed="rId3">
              <a:alphaModFix/>
            </a:blip>
            <a:stretch>
              <a:fillRect l="-508" t="-920" r="-55" b="-153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11"/>
                                        </p:tgtEl>
                                        <p:attrNameLst>
                                          <p:attrName>style.visibility</p:attrName>
                                        </p:attrNameLst>
                                      </p:cBhvr>
                                      <p:to>
                                        <p:strVal val="visible"/>
                                      </p:to>
                                    </p:set>
                                    <p:animEffect transition="in" filter="fade">
                                      <p:cBhvr>
                                        <p:cTn id="7" dur="500"/>
                                        <p:tgtEl>
                                          <p:spTgt spid="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36"/>
          <p:cNvSpPr/>
          <p:nvPr/>
        </p:nvSpPr>
        <p:spPr>
          <a:xfrm>
            <a:off x="457200" y="1477050"/>
            <a:ext cx="11277600" cy="4458529"/>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8" name="Google Shape;618;p36"/>
          <p:cNvSpPr txBox="1"/>
          <p:nvPr/>
        </p:nvSpPr>
        <p:spPr>
          <a:xfrm>
            <a:off x="704850" y="58390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Ejemplos</a:t>
            </a:r>
            <a:endParaRPr sz="3200">
              <a:solidFill>
                <a:srgbClr val="7F7F7F"/>
              </a:solidFill>
              <a:latin typeface="Arial"/>
              <a:ea typeface="Arial"/>
              <a:cs typeface="Arial"/>
              <a:sym typeface="Arial"/>
            </a:endParaRPr>
          </a:p>
        </p:txBody>
      </p:sp>
      <p:sp>
        <p:nvSpPr>
          <p:cNvPr id="619" name="Google Shape;619;p36"/>
          <p:cNvSpPr txBox="1"/>
          <p:nvPr/>
        </p:nvSpPr>
        <p:spPr>
          <a:xfrm>
            <a:off x="704851" y="1693763"/>
            <a:ext cx="10492538" cy="3970318"/>
          </a:xfrm>
          <a:prstGeom prst="rect">
            <a:avLst/>
          </a:prstGeom>
          <a:blipFill rotWithShape="1">
            <a:blip r:embed="rId3">
              <a:alphaModFix/>
            </a:blip>
            <a:stretch>
              <a:fillRect l="-522" t="-920" r="-463" b="-153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18"/>
                                        </p:tgtEl>
                                        <p:attrNameLst>
                                          <p:attrName>style.visibility</p:attrName>
                                        </p:attrNameLst>
                                      </p:cBhvr>
                                      <p:to>
                                        <p:strVal val="visible"/>
                                      </p:to>
                                    </p:set>
                                    <p:animEffect transition="in" filter="fade">
                                      <p:cBhvr>
                                        <p:cTn id="7" dur="500"/>
                                        <p:tgtEl>
                                          <p:spTgt spid="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37"/>
          <p:cNvSpPr/>
          <p:nvPr/>
        </p:nvSpPr>
        <p:spPr>
          <a:xfrm>
            <a:off x="457200" y="1477050"/>
            <a:ext cx="11277600" cy="4113853"/>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5" name="Google Shape;625;p37"/>
          <p:cNvSpPr txBox="1"/>
          <p:nvPr/>
        </p:nvSpPr>
        <p:spPr>
          <a:xfrm>
            <a:off x="704850" y="583902"/>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Ejemplos</a:t>
            </a:r>
            <a:endParaRPr sz="3200">
              <a:solidFill>
                <a:srgbClr val="7F7F7F"/>
              </a:solidFill>
              <a:latin typeface="Arial"/>
              <a:ea typeface="Arial"/>
              <a:cs typeface="Arial"/>
              <a:sym typeface="Arial"/>
            </a:endParaRPr>
          </a:p>
        </p:txBody>
      </p:sp>
      <p:sp>
        <p:nvSpPr>
          <p:cNvPr id="626" name="Google Shape;626;p37"/>
          <p:cNvSpPr txBox="1"/>
          <p:nvPr/>
        </p:nvSpPr>
        <p:spPr>
          <a:xfrm>
            <a:off x="704851" y="1693763"/>
            <a:ext cx="10604833"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Arial"/>
                <a:ea typeface="Arial"/>
                <a:cs typeface="Arial"/>
                <a:sym typeface="Arial"/>
              </a:rPr>
              <a:t>Un </a:t>
            </a:r>
            <a:r>
              <a:rPr lang="es-ES" sz="1800">
                <a:solidFill>
                  <a:schemeClr val="lt1"/>
                </a:solidFill>
                <a:latin typeface="Calibri"/>
                <a:ea typeface="Calibri"/>
                <a:cs typeface="Calibri"/>
                <a:sym typeface="Calibri"/>
              </a:rPr>
              <a:t>determinado</a:t>
            </a:r>
            <a:r>
              <a:rPr lang="es-ES" sz="1800">
                <a:solidFill>
                  <a:schemeClr val="lt1"/>
                </a:solidFill>
                <a:latin typeface="Arial"/>
                <a:ea typeface="Arial"/>
                <a:cs typeface="Arial"/>
                <a:sym typeface="Arial"/>
              </a:rPr>
              <a:t> fármaco experimental afirma tener una tasa de curación de, al menos, el 75 % para los hombres con cáncer de próstata. Describa los errores tipo I y tipo II en su contexto. ¿Cuál error es más grave?</a:t>
            </a:r>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a:p>
            <a:pPr marL="285750" marR="0" lvl="0" indent="-285750" algn="l" rtl="0">
              <a:spcBef>
                <a:spcPts val="0"/>
              </a:spcBef>
              <a:spcAft>
                <a:spcPts val="0"/>
              </a:spcAft>
              <a:buClr>
                <a:schemeClr val="lt1"/>
              </a:buClr>
              <a:buSzPts val="1800"/>
              <a:buFont typeface="Arial"/>
              <a:buChar char="•"/>
            </a:pPr>
            <a:r>
              <a:rPr lang="es-ES" sz="1800" b="1">
                <a:solidFill>
                  <a:schemeClr val="lt1"/>
                </a:solidFill>
                <a:latin typeface="Arial"/>
                <a:ea typeface="Arial"/>
                <a:cs typeface="Arial"/>
                <a:sym typeface="Arial"/>
              </a:rPr>
              <a:t>Error tipo I</a:t>
            </a:r>
            <a:r>
              <a:rPr lang="es-ES" sz="1800">
                <a:solidFill>
                  <a:schemeClr val="lt1"/>
                </a:solidFill>
                <a:latin typeface="Arial"/>
                <a:ea typeface="Arial"/>
                <a:cs typeface="Arial"/>
                <a:sym typeface="Arial"/>
              </a:rPr>
              <a:t>: Un paciente con cáncer cree que la tasa de curación del fármaco es inferior al 75 %, cuando en realidad es de, al menos, el 75 %.</a:t>
            </a:r>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a:p>
            <a:pPr marL="285750" marR="0" lvl="0" indent="-285750" algn="l" rtl="0">
              <a:spcBef>
                <a:spcPts val="0"/>
              </a:spcBef>
              <a:spcAft>
                <a:spcPts val="0"/>
              </a:spcAft>
              <a:buClr>
                <a:schemeClr val="lt1"/>
              </a:buClr>
              <a:buSzPts val="1800"/>
              <a:buFont typeface="Arial"/>
              <a:buChar char="•"/>
            </a:pPr>
            <a:r>
              <a:rPr lang="es-ES" sz="1800" b="1">
                <a:solidFill>
                  <a:schemeClr val="lt1"/>
                </a:solidFill>
                <a:latin typeface="Arial"/>
                <a:ea typeface="Arial"/>
                <a:cs typeface="Arial"/>
                <a:sym typeface="Arial"/>
              </a:rPr>
              <a:t>Error tipo II</a:t>
            </a:r>
            <a:r>
              <a:rPr lang="es-ES" sz="1800">
                <a:solidFill>
                  <a:schemeClr val="lt1"/>
                </a:solidFill>
                <a:latin typeface="Arial"/>
                <a:ea typeface="Arial"/>
                <a:cs typeface="Arial"/>
                <a:sym typeface="Arial"/>
              </a:rPr>
              <a:t>: Un paciente con cáncer cree que el fármaco experimental tiene un índice de curación de, al menos, el 75 % cuando su índice de curación es inferior al 75 %.</a:t>
            </a:r>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a:p>
            <a:pPr marL="0" marR="0" lvl="0" indent="0" algn="l" rtl="0">
              <a:spcBef>
                <a:spcPts val="0"/>
              </a:spcBef>
              <a:spcAft>
                <a:spcPts val="0"/>
              </a:spcAft>
              <a:buNone/>
            </a:pPr>
            <a:r>
              <a:rPr lang="es-ES" sz="1800">
                <a:solidFill>
                  <a:schemeClr val="lt1"/>
                </a:solidFill>
                <a:latin typeface="Arial"/>
                <a:ea typeface="Arial"/>
                <a:cs typeface="Arial"/>
                <a:sym typeface="Arial"/>
              </a:rPr>
              <a:t>En este escenario, el error tipo II contiene la consecuencia más grave. Si un paciente cree que el fármaco funciona, al menos, el 75 % de las veces, lo más probable es que esto influya en la elección del paciente (y del médico) sobre la conveniencia de utilizar el fármaco como opción de tratamiento.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25"/>
                                        </p:tgtEl>
                                        <p:attrNameLst>
                                          <p:attrName>style.visibility</p:attrName>
                                        </p:attrNameLst>
                                      </p:cBhvr>
                                      <p:to>
                                        <p:strVal val="visible"/>
                                      </p:to>
                                    </p:set>
                                    <p:animEffect transition="in" filter="fade">
                                      <p:cBhvr>
                                        <p:cTn id="7" dur="500"/>
                                        <p:tgtEl>
                                          <p:spTgt spid="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8"/>
          <p:cNvSpPr/>
          <p:nvPr/>
        </p:nvSpPr>
        <p:spPr>
          <a:xfrm>
            <a:off x="7584858" y="787950"/>
            <a:ext cx="4006410" cy="5438220"/>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632" name="Google Shape;632;p38"/>
          <p:cNvSpPr/>
          <p:nvPr/>
        </p:nvSpPr>
        <p:spPr>
          <a:xfrm>
            <a:off x="-100552" y="1911500"/>
            <a:ext cx="7261991" cy="4233027"/>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3" name="Google Shape;633;p38"/>
          <p:cNvSpPr txBox="1"/>
          <p:nvPr/>
        </p:nvSpPr>
        <p:spPr>
          <a:xfrm>
            <a:off x="742950" y="700911"/>
            <a:ext cx="612687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Nunca Aceptar una Hipótesis</a:t>
            </a:r>
            <a:endParaRPr sz="3200">
              <a:solidFill>
                <a:srgbClr val="7F7F7F"/>
              </a:solidFill>
              <a:latin typeface="Arial"/>
              <a:ea typeface="Arial"/>
              <a:cs typeface="Arial"/>
              <a:sym typeface="Arial"/>
            </a:endParaRPr>
          </a:p>
        </p:txBody>
      </p:sp>
      <p:sp>
        <p:nvSpPr>
          <p:cNvPr id="634" name="Google Shape;634;p38"/>
          <p:cNvSpPr txBox="1"/>
          <p:nvPr/>
        </p:nvSpPr>
        <p:spPr>
          <a:xfrm>
            <a:off x="742950" y="2262998"/>
            <a:ext cx="6126875"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Uno de los errores más comunes que cometen las personas cuando trabajan con pruebas de hipótesis ocurre cuando hablan de </a:t>
            </a:r>
            <a:r>
              <a:rPr lang="es-ES" sz="1800" b="1">
                <a:solidFill>
                  <a:schemeClr val="lt1"/>
                </a:solidFill>
                <a:latin typeface="Calibri"/>
                <a:ea typeface="Calibri"/>
                <a:cs typeface="Calibri"/>
                <a:sym typeface="Calibri"/>
              </a:rPr>
              <a:t>“aceptar” la hipótesis nula</a:t>
            </a:r>
            <a:r>
              <a:rPr lang="es-ES" sz="1800">
                <a:solidFill>
                  <a:schemeClr val="lt1"/>
                </a:solidFill>
                <a:latin typeface="Calibri"/>
                <a:ea typeface="Calibri"/>
                <a:cs typeface="Calibri"/>
                <a:sym typeface="Calibri"/>
              </a:rPr>
              <a:t>. Y la razón por la que esto es un error es </a:t>
            </a:r>
            <a:r>
              <a:rPr lang="es-ES" sz="1800" b="1">
                <a:solidFill>
                  <a:schemeClr val="lt1"/>
                </a:solidFill>
                <a:latin typeface="Calibri"/>
                <a:ea typeface="Calibri"/>
                <a:cs typeface="Calibri"/>
                <a:sym typeface="Calibri"/>
              </a:rPr>
              <a:t>que nunca aceptamos una hipótesis cuando trabajamos con estadísticas de muestra</a:t>
            </a:r>
            <a:r>
              <a:rPr lang="es-ES" sz="1800">
                <a:solidFill>
                  <a:schemeClr val="lt1"/>
                </a:solidFill>
                <a:latin typeface="Calibri"/>
                <a:ea typeface="Calibri"/>
                <a:cs typeface="Calibri"/>
                <a:sym typeface="Calibri"/>
              </a:rPr>
              <a:t>, ya que siempre existe la posibilidad de que se demuestre que estamos equivocados una vez que se recopilan más datos.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Esto es similar al sistema de justicia de los EE. UU. ya que </a:t>
            </a:r>
            <a:r>
              <a:rPr lang="es-ES" sz="1800" b="1">
                <a:solidFill>
                  <a:schemeClr val="lt1"/>
                </a:solidFill>
                <a:latin typeface="Calibri"/>
                <a:ea typeface="Calibri"/>
                <a:cs typeface="Calibri"/>
                <a:sym typeface="Calibri"/>
              </a:rPr>
              <a:t>nunca se prueba la inocencia de un acusado</a:t>
            </a:r>
            <a:r>
              <a:rPr lang="es-ES" sz="1800">
                <a:solidFill>
                  <a:schemeClr val="lt1"/>
                </a:solidFill>
                <a:latin typeface="Calibri"/>
                <a:ea typeface="Calibri"/>
                <a:cs typeface="Calibri"/>
                <a:sym typeface="Calibri"/>
              </a:rPr>
              <a:t>. En cambio, se prueba que un acusado es culpable, más allá de una duda razonable. En lugar de aceptar la hipótesis nula, la </a:t>
            </a:r>
            <a:r>
              <a:rPr lang="es-ES" sz="1800" b="1">
                <a:solidFill>
                  <a:schemeClr val="lt1"/>
                </a:solidFill>
                <a:latin typeface="Calibri"/>
                <a:ea typeface="Calibri"/>
                <a:cs typeface="Calibri"/>
                <a:sym typeface="Calibri"/>
              </a:rPr>
              <a:t>rechazamos o no-la-rechazamos</a:t>
            </a:r>
            <a:r>
              <a:rPr lang="es-ES" sz="1800">
                <a:solidFill>
                  <a:schemeClr val="lt1"/>
                </a:solidFill>
                <a:latin typeface="Calibri"/>
                <a:ea typeface="Calibri"/>
                <a:cs typeface="Calibri"/>
                <a:sym typeface="Calibri"/>
              </a:rPr>
              <a:t>.</a:t>
            </a:r>
            <a:endParaRPr/>
          </a:p>
        </p:txBody>
      </p:sp>
      <p:pic>
        <p:nvPicPr>
          <p:cNvPr id="635" name="Google Shape;635;p38"/>
          <p:cNvPicPr preferRelativeResize="0"/>
          <p:nvPr/>
        </p:nvPicPr>
        <p:blipFill rotWithShape="1">
          <a:blip r:embed="rId3">
            <a:alphaModFix/>
          </a:blip>
          <a:srcRect l="19292" r="13131"/>
          <a:stretch/>
        </p:blipFill>
        <p:spPr>
          <a:xfrm>
            <a:off x="7915049" y="1031673"/>
            <a:ext cx="3346028" cy="48637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3"/>
                                        </p:tgtEl>
                                        <p:attrNameLst>
                                          <p:attrName>style.visibility</p:attrName>
                                        </p:attrNameLst>
                                      </p:cBhvr>
                                      <p:to>
                                        <p:strVal val="visible"/>
                                      </p:to>
                                    </p:set>
                                    <p:animEffect transition="in" filter="fade">
                                      <p:cBhvr>
                                        <p:cTn id="7" dur="500"/>
                                        <p:tgtEl>
                                          <p:spTgt spid="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39"/>
          <p:cNvSpPr/>
          <p:nvPr/>
        </p:nvSpPr>
        <p:spPr>
          <a:xfrm>
            <a:off x="457200" y="2118717"/>
            <a:ext cx="10637520" cy="3075900"/>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1" name="Google Shape;641;p39"/>
          <p:cNvSpPr txBox="1"/>
          <p:nvPr/>
        </p:nvSpPr>
        <p:spPr>
          <a:xfrm>
            <a:off x="704850" y="1053504"/>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Incrementando Poder Estadístico del Test</a:t>
            </a:r>
            <a:endParaRPr sz="3200">
              <a:solidFill>
                <a:srgbClr val="7F7F7F"/>
              </a:solidFill>
              <a:latin typeface="Arial"/>
              <a:ea typeface="Arial"/>
              <a:cs typeface="Arial"/>
              <a:sym typeface="Arial"/>
            </a:endParaRPr>
          </a:p>
        </p:txBody>
      </p:sp>
      <p:sp>
        <p:nvSpPr>
          <p:cNvPr id="642" name="Google Shape;642;p39"/>
          <p:cNvSpPr txBox="1"/>
          <p:nvPr/>
        </p:nvSpPr>
        <p:spPr>
          <a:xfrm>
            <a:off x="704850" y="2364005"/>
            <a:ext cx="10115549" cy="2585323"/>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chemeClr val="lt1"/>
              </a:buClr>
              <a:buSzPts val="1800"/>
            </a:pPr>
            <a:r>
              <a:rPr lang="es-ES" sz="1800" dirty="0">
                <a:solidFill>
                  <a:schemeClr val="lt1"/>
                </a:solidFill>
                <a:latin typeface="Calibri"/>
                <a:ea typeface="Calibri"/>
                <a:cs typeface="Calibri"/>
                <a:sym typeface="Calibri"/>
              </a:rPr>
              <a:t>Obviamente, nuestro objetivo cuando trabajamos con pruebas de hipótesis es rechazar correctamente, o no rechazar, la hipótesis nula. La forma en que mejoramos nuestras posibilidades de éxito es aumentando el poder de la prueba. Definido, </a:t>
            </a:r>
            <a:r>
              <a:rPr lang="es-ES" sz="1800" b="1" dirty="0">
                <a:solidFill>
                  <a:schemeClr val="lt1"/>
                </a:solidFill>
                <a:latin typeface="Calibri"/>
                <a:ea typeface="Calibri"/>
                <a:cs typeface="Calibri"/>
                <a:sym typeface="Calibri"/>
              </a:rPr>
              <a:t>el poder es la probabilidad de que identifiquemos un efecto significativo cuando realmente existe</a:t>
            </a:r>
            <a:r>
              <a:rPr lang="es-ES" sz="1800" dirty="0">
                <a:solidFill>
                  <a:schemeClr val="lt1"/>
                </a:solidFill>
                <a:latin typeface="Calibri"/>
                <a:ea typeface="Calibri"/>
                <a:cs typeface="Calibri"/>
                <a:sym typeface="Calibri"/>
              </a:rPr>
              <a:t>.</a:t>
            </a:r>
            <a:endParaRPr lang="es-ES" dirty="0"/>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R="0" lvl="0" algn="just" rtl="0">
              <a:spcBef>
                <a:spcPts val="0"/>
              </a:spcBef>
              <a:spcAft>
                <a:spcPts val="0"/>
              </a:spcAft>
              <a:buClr>
                <a:schemeClr val="lt1"/>
              </a:buClr>
              <a:buSzPts val="1800"/>
            </a:pPr>
            <a:r>
              <a:rPr lang="es-ES" sz="1800" dirty="0">
                <a:solidFill>
                  <a:schemeClr val="lt1"/>
                </a:solidFill>
                <a:latin typeface="Calibri"/>
                <a:ea typeface="Calibri"/>
                <a:cs typeface="Calibri"/>
                <a:sym typeface="Calibri"/>
              </a:rPr>
              <a:t>Hay varios factores que influyen en el poder de una prueba. El primer factor, y sobre el que tenemos más control, es el </a:t>
            </a:r>
            <a:r>
              <a:rPr lang="es-ES" sz="1800" b="1" dirty="0">
                <a:solidFill>
                  <a:schemeClr val="lt1"/>
                </a:solidFill>
                <a:latin typeface="Calibri"/>
                <a:ea typeface="Calibri"/>
                <a:cs typeface="Calibri"/>
                <a:sym typeface="Calibri"/>
              </a:rPr>
              <a:t>tamaño de la muestra</a:t>
            </a:r>
            <a:r>
              <a:rPr lang="es-ES" sz="1800" dirty="0">
                <a:solidFill>
                  <a:schemeClr val="lt1"/>
                </a:solidFill>
                <a:latin typeface="Calibri"/>
                <a:ea typeface="Calibri"/>
                <a:cs typeface="Calibri"/>
                <a:sym typeface="Calibri"/>
              </a:rPr>
              <a:t>. A medida que aumenta el tamaño de nuestra muestra, también lo hace el poder de la prueba. Esto significa que nuestra probabilidad de rechazar correctamente la hipótesis nula también aumenta.</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1"/>
                                        </p:tgtEl>
                                        <p:attrNameLst>
                                          <p:attrName>style.visibility</p:attrName>
                                        </p:attrNameLst>
                                      </p:cBhvr>
                                      <p:to>
                                        <p:strVal val="visible"/>
                                      </p:to>
                                    </p:set>
                                    <p:animEffect transition="in" filter="fade">
                                      <p:cBhvr>
                                        <p:cTn id="7" dur="500"/>
                                        <p:tgtEl>
                                          <p:spTgt spid="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40"/>
          <p:cNvSpPr/>
          <p:nvPr/>
        </p:nvSpPr>
        <p:spPr>
          <a:xfrm>
            <a:off x="457200" y="2151820"/>
            <a:ext cx="11277600" cy="3013737"/>
          </a:xfrm>
          <a:prstGeom prst="roundRect">
            <a:avLst>
              <a:gd name="adj" fmla="val 2971"/>
            </a:avLst>
          </a:prstGeom>
          <a:gradFill>
            <a:gsLst>
              <a:gs pos="0">
                <a:srgbClr val="541543"/>
              </a:gs>
              <a:gs pos="50000">
                <a:srgbClr val="792062"/>
              </a:gs>
              <a:gs pos="100000">
                <a:srgbClr val="91277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8" name="Google Shape;648;p40"/>
          <p:cNvSpPr txBox="1"/>
          <p:nvPr/>
        </p:nvSpPr>
        <p:spPr>
          <a:xfrm>
            <a:off x="704850" y="2504526"/>
            <a:ext cx="10476496" cy="2308324"/>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Con pruebas de hipótesis, a menudo intentamos determinar si existen diferencias entre dos poblaciones. Por ejemplo, podemos querer comparar cómo la velocidad de corte afecta el diámetro de un agujero perforado. Si la diferencia entre los diámetros reales es grande, la potencia de nuestra prueba aumenta. Pero, si las diferencias entre los diámetros reales son pequeñas, nuestra potencia disminuye.</a:t>
            </a:r>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Finalmente, la variabilidad en la población general también afecta el poder de nuestra prueba de hipótesis. Específicamente, a medida que aumenta la variabilidad en nuestro proceso, la potencia disminuye, pero a medida que disminuye la variabilidad en nuestro proceso, nuestra potencia aumenta.</a:t>
            </a:r>
            <a:endParaRPr/>
          </a:p>
        </p:txBody>
      </p:sp>
      <p:sp>
        <p:nvSpPr>
          <p:cNvPr id="649" name="Google Shape;649;p40"/>
          <p:cNvSpPr txBox="1"/>
          <p:nvPr/>
        </p:nvSpPr>
        <p:spPr>
          <a:xfrm>
            <a:off x="704850" y="1053504"/>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Incrementando Poder Estadístico del Test</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9"/>
                                        </p:tgtEl>
                                        <p:attrNameLst>
                                          <p:attrName>style.visibility</p:attrName>
                                        </p:attrNameLst>
                                      </p:cBhvr>
                                      <p:to>
                                        <p:strVal val="visible"/>
                                      </p:to>
                                    </p:set>
                                    <p:animEffect transition="in" filter="fade">
                                      <p:cBhvr>
                                        <p:cTn id="7" dur="500"/>
                                        <p:tgtEl>
                                          <p:spTgt spid="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41"/>
          <p:cNvSpPr/>
          <p:nvPr/>
        </p:nvSpPr>
        <p:spPr>
          <a:xfrm>
            <a:off x="3076575" y="159604"/>
            <a:ext cx="6019800" cy="6426320"/>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pic>
        <p:nvPicPr>
          <p:cNvPr id="655" name="Google Shape;655;p41"/>
          <p:cNvPicPr preferRelativeResize="0"/>
          <p:nvPr/>
        </p:nvPicPr>
        <p:blipFill rotWithShape="1">
          <a:blip r:embed="rId3">
            <a:alphaModFix/>
          </a:blip>
          <a:srcRect/>
          <a:stretch/>
        </p:blipFill>
        <p:spPr>
          <a:xfrm>
            <a:off x="3206408" y="316448"/>
            <a:ext cx="5737567" cy="622432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42"/>
          <p:cNvSpPr/>
          <p:nvPr/>
        </p:nvSpPr>
        <p:spPr>
          <a:xfrm>
            <a:off x="2984938" y="159604"/>
            <a:ext cx="6006662" cy="6412646"/>
          </a:xfrm>
          <a:prstGeom prst="roundRect">
            <a:avLst>
              <a:gd name="adj" fmla="val 2971"/>
            </a:avLst>
          </a:prstGeom>
          <a:solidFill>
            <a:schemeClr val="lt1"/>
          </a:solidFill>
          <a:ln w="38100" cap="flat" cmpd="sng">
            <a:solidFill>
              <a:srgbClr val="8B2E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pic>
        <p:nvPicPr>
          <p:cNvPr id="661" name="Google Shape;661;p42"/>
          <p:cNvPicPr preferRelativeResize="0"/>
          <p:nvPr/>
        </p:nvPicPr>
        <p:blipFill rotWithShape="1">
          <a:blip r:embed="rId3">
            <a:alphaModFix/>
          </a:blip>
          <a:srcRect/>
          <a:stretch/>
        </p:blipFill>
        <p:spPr>
          <a:xfrm>
            <a:off x="3295635" y="211884"/>
            <a:ext cx="5467365" cy="628102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43"/>
          <p:cNvSpPr/>
          <p:nvPr/>
        </p:nvSpPr>
        <p:spPr>
          <a:xfrm>
            <a:off x="-749030" y="3132234"/>
            <a:ext cx="7964307" cy="894946"/>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67" name="Google Shape;667;p43"/>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67"/>
                                        </p:tgtEl>
                                        <p:attrNameLst>
                                          <p:attrName>style.visibility</p:attrName>
                                        </p:attrNameLst>
                                      </p:cBhvr>
                                      <p:to>
                                        <p:strVal val="visible"/>
                                      </p:to>
                                    </p:set>
                                    <p:animEffect transition="in" filter="fade">
                                      <p:cBhvr>
                                        <p:cTn id="7" dur="500"/>
                                        <p:tgtEl>
                                          <p:spTgt spid="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44"/>
          <p:cNvSpPr txBox="1"/>
          <p:nvPr/>
        </p:nvSpPr>
        <p:spPr>
          <a:xfrm>
            <a:off x="462603" y="29249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b="0" i="0" u="none" strike="noStrike" cap="none">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2"/>
                                        </p:tgtEl>
                                        <p:attrNameLst>
                                          <p:attrName>style.visibility</p:attrName>
                                        </p:attrNameLst>
                                      </p:cBhvr>
                                      <p:to>
                                        <p:strVal val="visible"/>
                                      </p:to>
                                    </p:set>
                                    <p:animEffect transition="in" filter="fade">
                                      <p:cBhvr>
                                        <p:cTn id="7" dur="500"/>
                                        <p:tgtEl>
                                          <p:spTgt spid="6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3183</Words>
  <Application>Microsoft Office PowerPoint</Application>
  <PresentationFormat>Panorámica</PresentationFormat>
  <Paragraphs>294</Paragraphs>
  <Slides>44</Slides>
  <Notes>44</Notes>
  <HiddenSlides>0</HiddenSlides>
  <MMClips>0</MMClips>
  <ScaleCrop>false</ScaleCrop>
  <HeadingPairs>
    <vt:vector size="4" baseType="variant">
      <vt:variant>
        <vt:lpstr>Tema</vt:lpstr>
      </vt:variant>
      <vt:variant>
        <vt:i4>2</vt:i4>
      </vt:variant>
      <vt:variant>
        <vt:lpstr>Títulos de diapositiva</vt:lpstr>
      </vt:variant>
      <vt:variant>
        <vt:i4>44</vt:i4>
      </vt:variant>
    </vt:vector>
  </HeadingPairs>
  <TitlesOfParts>
    <vt:vector size="46" baseType="lpstr">
      <vt:lpstr>Tema de Office</vt:lpstr>
      <vt:lpstr>1_Tema de Office</vt:lpstr>
      <vt:lpstr>Prueba de Hipótesis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 de Hipótesis </dc:title>
  <dc:creator>Kibernum</dc:creator>
  <cp:lastModifiedBy>kibernum</cp:lastModifiedBy>
  <cp:revision>102</cp:revision>
  <dcterms:created xsi:type="dcterms:W3CDTF">2023-01-03T12:28:26Z</dcterms:created>
  <dcterms:modified xsi:type="dcterms:W3CDTF">2025-09-26T11:52:07Z</dcterms:modified>
</cp:coreProperties>
</file>