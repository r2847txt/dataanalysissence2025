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712" r:id="rId5"/>
  </p:sldMasterIdLst>
  <p:notesMasterIdLst>
    <p:notesMasterId r:id="rId29"/>
  </p:notesMasterIdLst>
  <p:sldIdLst>
    <p:sldId id="562" r:id="rId6"/>
    <p:sldId id="269" r:id="rId7"/>
    <p:sldId id="271" r:id="rId8"/>
    <p:sldId id="645" r:id="rId9"/>
    <p:sldId id="768" r:id="rId10"/>
    <p:sldId id="771" r:id="rId11"/>
    <p:sldId id="764" r:id="rId12"/>
    <p:sldId id="781" r:id="rId13"/>
    <p:sldId id="765" r:id="rId14"/>
    <p:sldId id="772" r:id="rId15"/>
    <p:sldId id="774" r:id="rId16"/>
    <p:sldId id="776" r:id="rId17"/>
    <p:sldId id="782" r:id="rId18"/>
    <p:sldId id="783" r:id="rId19"/>
    <p:sldId id="732" r:id="rId20"/>
    <p:sldId id="777" r:id="rId21"/>
    <p:sldId id="785" r:id="rId22"/>
    <p:sldId id="786" r:id="rId23"/>
    <p:sldId id="770" r:id="rId24"/>
    <p:sldId id="787" r:id="rId25"/>
    <p:sldId id="788" r:id="rId26"/>
    <p:sldId id="789" r:id="rId27"/>
    <p:sldId id="790" r:id="rId28"/>
  </p:sldIdLst>
  <p:sldSz cx="12192000" cy="6858000"/>
  <p:notesSz cx="6858000" cy="9144000"/>
  <p:defaultTextStyle>
    <a:defPPr>
      <a:defRPr lang="es-ES_tradnl"/>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3275"/>
    <a:srgbClr val="F8F8F8"/>
    <a:srgbClr val="98C340"/>
    <a:srgbClr val="FD0075"/>
    <a:srgbClr val="F6A120"/>
    <a:srgbClr val="F9F8EC"/>
    <a:srgbClr val="E9EAEC"/>
    <a:srgbClr val="078CAE"/>
    <a:srgbClr val="8DB8FE"/>
    <a:srgbClr val="EDE9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25DB9E-FDE8-D61D-FCC8-081161E57E44}" v="4" dt="2025-09-26T11:50:11.3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391" autoAdjust="0"/>
    <p:restoredTop sz="96395" autoAdjust="0"/>
  </p:normalViewPr>
  <p:slideViewPr>
    <p:cSldViewPr snapToGrid="0">
      <p:cViewPr varScale="1">
        <p:scale>
          <a:sx n="61" d="100"/>
          <a:sy n="61" d="100"/>
        </p:scale>
        <p:origin x="78" y="1170"/>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6/11/relationships/changesInfo" Target="changesInfos/changesInfo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raya Salazar" userId="S::soraya.salazar@kibernumacademy.com::fdf00a5c-f577-43dc-8064-9968cad83607" providerId="AD" clId="Web-{F925DB9E-FDE8-D61D-FCC8-081161E57E44}"/>
    <pc:docChg chg="modSld">
      <pc:chgData name="Soraya Salazar" userId="S::soraya.salazar@kibernumacademy.com::fdf00a5c-f577-43dc-8064-9968cad83607" providerId="AD" clId="Web-{F925DB9E-FDE8-D61D-FCC8-081161E57E44}" dt="2025-09-26T11:50:11.357" v="1"/>
      <pc:docMkLst>
        <pc:docMk/>
      </pc:docMkLst>
      <pc:sldChg chg="delSp modSp">
        <pc:chgData name="Soraya Salazar" userId="S::soraya.salazar@kibernumacademy.com::fdf00a5c-f577-43dc-8064-9968cad83607" providerId="AD" clId="Web-{F925DB9E-FDE8-D61D-FCC8-081161E57E44}" dt="2025-09-26T11:50:11.357" v="1"/>
        <pc:sldMkLst>
          <pc:docMk/>
          <pc:sldMk cId="1998777028" sldId="562"/>
        </pc:sldMkLst>
        <pc:spChg chg="del">
          <ac:chgData name="Soraya Salazar" userId="S::soraya.salazar@kibernumacademy.com::fdf00a5c-f577-43dc-8064-9968cad83607" providerId="AD" clId="Web-{F925DB9E-FDE8-D61D-FCC8-081161E57E44}" dt="2025-09-26T11:50:11.357" v="1"/>
          <ac:spMkLst>
            <pc:docMk/>
            <pc:sldMk cId="1998777028" sldId="562"/>
            <ac:spMk id="9" creationId="{00000000-0000-0000-0000-000000000000}"/>
          </ac:spMkLst>
        </pc:spChg>
        <pc:spChg chg="mod">
          <ac:chgData name="Soraya Salazar" userId="S::soraya.salazar@kibernumacademy.com::fdf00a5c-f577-43dc-8064-9968cad83607" providerId="AD" clId="Web-{F925DB9E-FDE8-D61D-FCC8-081161E57E44}" dt="2025-09-26T11:50:06.545" v="0" actId="20577"/>
          <ac:spMkLst>
            <pc:docMk/>
            <pc:sldMk cId="1998777028" sldId="562"/>
            <ac:spMk id="10" creationId="{00000000-0000-0000-0000-000000000000}"/>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3.jpeg"/></Relationships>
</file>

<file path=ppt/diagrams/_rels/drawing1.xml.rels><?xml version="1.0" encoding="UTF-8" standalone="yes"?>
<Relationships xmlns="http://schemas.openxmlformats.org/package/2006/relationships"><Relationship Id="rId1" Type="http://schemas.openxmlformats.org/officeDocument/2006/relationships/image" Target="../media/image3.jpe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D86C9B3-8CA1-4316-B2A8-C2AB3E5202A1}"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s-CL"/>
        </a:p>
      </dgm:t>
    </dgm:pt>
    <dgm:pt modelId="{ACF776B3-81F4-49B8-996C-E0E8971CB28A}">
      <dgm:prSet phldrT="[Texto]" phldr="1"/>
      <dgm:spPr/>
      <dgm:t>
        <a:bodyPr/>
        <a:lstStyle/>
        <a:p>
          <a:endParaRPr lang="es-CL" dirty="0"/>
        </a:p>
      </dgm:t>
    </dgm:pt>
    <dgm:pt modelId="{41C4E4EE-2324-4FF1-BA78-4882005C9586}" type="sibTrans" cxnId="{5A64C6AC-4807-4DC4-9F2C-89D66A8AD3CD}">
      <dgm:prSet/>
      <dgm:spPr>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dgm:spPr>
      <dgm:t>
        <a:bodyPr/>
        <a:lstStyle/>
        <a:p>
          <a:endParaRPr lang="es-CL"/>
        </a:p>
      </dgm:t>
    </dgm:pt>
    <dgm:pt modelId="{5FCC59EC-C1F9-4CEA-A4DE-8BD900E35E09}" type="parTrans" cxnId="{5A64C6AC-4807-4DC4-9F2C-89D66A8AD3CD}">
      <dgm:prSet/>
      <dgm:spPr/>
      <dgm:t>
        <a:bodyPr/>
        <a:lstStyle/>
        <a:p>
          <a:endParaRPr lang="es-CL"/>
        </a:p>
      </dgm:t>
    </dgm:pt>
    <dgm:pt modelId="{79CAE2F2-FABA-47D8-982E-5CB4A395EF22}" type="pres">
      <dgm:prSet presAssocID="{BD86C9B3-8CA1-4316-B2A8-C2AB3E5202A1}" presName="Name0" presStyleCnt="0">
        <dgm:presLayoutVars>
          <dgm:chMax val="7"/>
          <dgm:chPref val="7"/>
          <dgm:dir/>
        </dgm:presLayoutVars>
      </dgm:prSet>
      <dgm:spPr/>
    </dgm:pt>
    <dgm:pt modelId="{013A5190-13DA-4A06-B419-25DE0FAB7E44}" type="pres">
      <dgm:prSet presAssocID="{BD86C9B3-8CA1-4316-B2A8-C2AB3E5202A1}" presName="Name1" presStyleCnt="0"/>
      <dgm:spPr/>
    </dgm:pt>
    <dgm:pt modelId="{8D925382-CBF4-430D-82BE-B8BB91879A49}" type="pres">
      <dgm:prSet presAssocID="{41C4E4EE-2324-4FF1-BA78-4882005C9586}" presName="picture_1" presStyleCnt="0"/>
      <dgm:spPr/>
    </dgm:pt>
    <dgm:pt modelId="{CE843430-6A5D-49F2-8E4D-AF5FF0C06A1E}" type="pres">
      <dgm:prSet presAssocID="{41C4E4EE-2324-4FF1-BA78-4882005C9586}" presName="pictureRepeatNode" presStyleLbl="alignImgPlace1" presStyleIdx="0" presStyleCnt="1" custScaleX="133164" custScaleY="133164" custLinFactNeighborX="13819" custLinFactNeighborY="-3712"/>
      <dgm:spPr/>
    </dgm:pt>
    <dgm:pt modelId="{4D1A0FA8-12E9-4E0B-B90F-BFECD1796557}" type="pres">
      <dgm:prSet presAssocID="{ACF776B3-81F4-49B8-996C-E0E8971CB28A}" presName="text_1" presStyleLbl="node1" presStyleIdx="0" presStyleCnt="0" custFlipHor="1" custScaleX="5764" custScaleY="23463" custLinFactY="76911" custLinFactNeighborX="48144" custLinFactNeighborY="100000">
        <dgm:presLayoutVars>
          <dgm:bulletEnabled val="1"/>
        </dgm:presLayoutVars>
      </dgm:prSet>
      <dgm:spPr/>
    </dgm:pt>
  </dgm:ptLst>
  <dgm:cxnLst>
    <dgm:cxn modelId="{5B738359-CF87-4D17-AA4D-AA83AFE3F907}" type="presOf" srcId="{41C4E4EE-2324-4FF1-BA78-4882005C9586}" destId="{CE843430-6A5D-49F2-8E4D-AF5FF0C06A1E}" srcOrd="0" destOrd="0" presId="urn:microsoft.com/office/officeart/2008/layout/CircularPictureCallout"/>
    <dgm:cxn modelId="{657E2791-CA4B-40FB-90BF-78812BF2A593}" type="presOf" srcId="{BD86C9B3-8CA1-4316-B2A8-C2AB3E5202A1}" destId="{79CAE2F2-FABA-47D8-982E-5CB4A395EF22}" srcOrd="0" destOrd="0" presId="urn:microsoft.com/office/officeart/2008/layout/CircularPictureCallout"/>
    <dgm:cxn modelId="{5A64C6AC-4807-4DC4-9F2C-89D66A8AD3CD}" srcId="{BD86C9B3-8CA1-4316-B2A8-C2AB3E5202A1}" destId="{ACF776B3-81F4-49B8-996C-E0E8971CB28A}" srcOrd="0" destOrd="0" parTransId="{5FCC59EC-C1F9-4CEA-A4DE-8BD900E35E09}" sibTransId="{41C4E4EE-2324-4FF1-BA78-4882005C9586}"/>
    <dgm:cxn modelId="{13E97CFA-3B17-4F06-A16C-1BAE7169EB0A}" type="presOf" srcId="{ACF776B3-81F4-49B8-996C-E0E8971CB28A}" destId="{4D1A0FA8-12E9-4E0B-B90F-BFECD1796557}" srcOrd="0" destOrd="0" presId="urn:microsoft.com/office/officeart/2008/layout/CircularPictureCallout"/>
    <dgm:cxn modelId="{D705EB29-DDF4-4415-9FE9-BC5F828FF238}" type="presParOf" srcId="{79CAE2F2-FABA-47D8-982E-5CB4A395EF22}" destId="{013A5190-13DA-4A06-B419-25DE0FAB7E44}" srcOrd="0" destOrd="0" presId="urn:microsoft.com/office/officeart/2008/layout/CircularPictureCallout"/>
    <dgm:cxn modelId="{1F943456-73C0-4688-ADD0-958A0DE02B92}" type="presParOf" srcId="{013A5190-13DA-4A06-B419-25DE0FAB7E44}" destId="{8D925382-CBF4-430D-82BE-B8BB91879A49}" srcOrd="0" destOrd="0" presId="urn:microsoft.com/office/officeart/2008/layout/CircularPictureCallout"/>
    <dgm:cxn modelId="{29D11D95-0058-49A1-964D-AFA35907B414}" type="presParOf" srcId="{8D925382-CBF4-430D-82BE-B8BB91879A49}" destId="{CE843430-6A5D-49F2-8E4D-AF5FF0C06A1E}" srcOrd="0" destOrd="0" presId="urn:microsoft.com/office/officeart/2008/layout/CircularPictureCallout"/>
    <dgm:cxn modelId="{6BC5FF22-5F5A-4683-BE56-58E9A0F6C169}" type="presParOf" srcId="{013A5190-13DA-4A06-B419-25DE0FAB7E44}" destId="{4D1A0FA8-12E9-4E0B-B90F-BFECD1796557}" srcOrd="1" destOrd="0" presId="urn:microsoft.com/office/officeart/2008/layout/CircularPictureCallou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843430-6A5D-49F2-8E4D-AF5FF0C06A1E}">
      <dsp:nvSpPr>
        <dsp:cNvPr id="0" name=""/>
        <dsp:cNvSpPr/>
      </dsp:nvSpPr>
      <dsp:spPr>
        <a:xfrm>
          <a:off x="1250239" y="0"/>
          <a:ext cx="3524500" cy="3524500"/>
        </a:xfrm>
        <a:prstGeom prst="ellipse">
          <a:avLst/>
        </a:prstGeom>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l="-25000" r="-25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1A0FA8-12E9-4E0B-B90F-BFECD1796557}">
      <dsp:nvSpPr>
        <dsp:cNvPr id="0" name=""/>
        <dsp:cNvSpPr/>
      </dsp:nvSpPr>
      <dsp:spPr>
        <a:xfrm flipH="1">
          <a:off x="3413435" y="3516041"/>
          <a:ext cx="97637" cy="20493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222250">
            <a:lnSpc>
              <a:spcPct val="90000"/>
            </a:lnSpc>
            <a:spcBef>
              <a:spcPct val="0"/>
            </a:spcBef>
            <a:spcAft>
              <a:spcPct val="35000"/>
            </a:spcAft>
            <a:buNone/>
          </a:pPr>
          <a:endParaRPr lang="es-CL" sz="500" kern="1200" dirty="0"/>
        </a:p>
      </dsp:txBody>
      <dsp:txXfrm>
        <a:off x="3413435" y="3516041"/>
        <a:ext cx="97637" cy="204931"/>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s-ES_tradn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B214ECDC-27AA-4BAE-B04E-533364742B70}" type="datetimeFigureOut">
              <a:rPr lang="es-ES_tradnl"/>
              <a:pPr>
                <a:defRPr/>
              </a:pPr>
              <a:t>26/09/2025</a:t>
            </a:fld>
            <a:endParaRPr lang="es-ES_tradn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s-ES_tradnl" noProof="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noProof="0"/>
              <a:t>Editar el estilo de texto del patrón</a:t>
            </a:r>
          </a:p>
          <a:p>
            <a:pPr lvl="1"/>
            <a:r>
              <a:rPr lang="es-ES" noProof="0"/>
              <a:t>Segundo nivel</a:t>
            </a:r>
          </a:p>
          <a:p>
            <a:pPr lvl="2"/>
            <a:r>
              <a:rPr lang="es-ES" noProof="0"/>
              <a:t>Tercer nivel</a:t>
            </a:r>
          </a:p>
          <a:p>
            <a:pPr lvl="3"/>
            <a:r>
              <a:rPr lang="es-ES" noProof="0"/>
              <a:t>Cuarto nivel</a:t>
            </a:r>
          </a:p>
          <a:p>
            <a:pPr lvl="4"/>
            <a:r>
              <a:rPr lang="es-ES" noProof="0"/>
              <a:t>Quinto nivel</a:t>
            </a:r>
            <a:endParaRPr lang="es-ES_tradnl" noProof="0"/>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s-ES_tradn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61DC0F2-0470-49B2-BD20-1BE6BAB0CFEB}"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a:defRPr/>
            </a:pPr>
            <a:fld id="{723CE86C-1FAA-476E-8610-6CF612D82F6D}"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17FDA0F7-3317-4A90-85A9-784F1E0F6A0E}" type="slidenum">
              <a:rPr lang="es-ES_tradnl" altLang="es-CL"/>
              <a:pPr/>
              <a:t>‹Nº›</a:t>
            </a:fld>
            <a:endParaRPr lang="es-ES_tradnl" altLang="es-CL"/>
          </a:p>
        </p:txBody>
      </p:sp>
    </p:spTree>
    <p:extLst>
      <p:ext uri="{BB962C8B-B14F-4D97-AF65-F5344CB8AC3E}">
        <p14:creationId xmlns:p14="http://schemas.microsoft.com/office/powerpoint/2010/main" val="2693723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E95A1AB2-ABDE-4AA7-B0BA-B4771DBF257E}"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35CBBCA2-D1A3-4B4D-AC73-9D069169A434}" type="slidenum">
              <a:rPr lang="es-ES_tradnl" altLang="es-CL"/>
              <a:pPr/>
              <a:t>‹Nº›</a:t>
            </a:fld>
            <a:endParaRPr lang="es-ES_tradnl" altLang="es-CL"/>
          </a:p>
        </p:txBody>
      </p:sp>
    </p:spTree>
    <p:extLst>
      <p:ext uri="{BB962C8B-B14F-4D97-AF65-F5344CB8AC3E}">
        <p14:creationId xmlns:p14="http://schemas.microsoft.com/office/powerpoint/2010/main" val="2546720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a:defRPr/>
            </a:pPr>
            <a:fld id="{096A1A31-6B2F-42D4-9D8B-250D0522AC84}"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4248B1C2-5544-4117-B964-FFA2790965CB}" type="slidenum">
              <a:rPr lang="es-ES_tradnl" altLang="es-CL"/>
              <a:pPr/>
              <a:t>‹Nº›</a:t>
            </a:fld>
            <a:endParaRPr lang="es-ES_tradnl" altLang="es-CL"/>
          </a:p>
        </p:txBody>
      </p:sp>
    </p:spTree>
    <p:extLst>
      <p:ext uri="{BB962C8B-B14F-4D97-AF65-F5344CB8AC3E}">
        <p14:creationId xmlns:p14="http://schemas.microsoft.com/office/powerpoint/2010/main" val="42447216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a:defRPr/>
            </a:pPr>
            <a:fld id="{5CC90434-FF42-4568-BAFD-14D07093E120}"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81203834-0EF4-4D06-A8D3-876274F5BE0F}" type="slidenum">
              <a:rPr lang="es-ES_tradnl" altLang="es-CL"/>
              <a:pPr/>
              <a:t>‹Nº›</a:t>
            </a:fld>
            <a:endParaRPr lang="es-ES_tradnl" altLang="es-CL"/>
          </a:p>
        </p:txBody>
      </p:sp>
    </p:spTree>
    <p:extLst>
      <p:ext uri="{BB962C8B-B14F-4D97-AF65-F5344CB8AC3E}">
        <p14:creationId xmlns:p14="http://schemas.microsoft.com/office/powerpoint/2010/main" val="9397230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a:defRPr/>
            </a:pPr>
            <a:fld id="{3AE415DC-2033-47BD-86E8-F874CF6E7C58}" type="datetimeFigureOut">
              <a:rPr lang="es-ES_tradnl"/>
              <a:pPr>
                <a:defRPr/>
              </a:pPr>
              <a:t>26/09/2025</a:t>
            </a:fld>
            <a:endParaRPr lang="es-ES_tradnl"/>
          </a:p>
        </p:txBody>
      </p:sp>
      <p:sp>
        <p:nvSpPr>
          <p:cNvPr id="8" name="Marcador de pie de página 4"/>
          <p:cNvSpPr>
            <a:spLocks noGrp="1"/>
          </p:cNvSpPr>
          <p:nvPr>
            <p:ph type="ftr" sz="quarter" idx="11"/>
          </p:nvPr>
        </p:nvSpPr>
        <p:spPr/>
        <p:txBody>
          <a:bodyPr/>
          <a:lstStyle>
            <a:lvl1pPr>
              <a:defRPr/>
            </a:lvl1pPr>
          </a:lstStyle>
          <a:p>
            <a:pPr>
              <a:defRPr/>
            </a:pPr>
            <a:endParaRPr lang="es-ES_tradnl"/>
          </a:p>
        </p:txBody>
      </p:sp>
      <p:sp>
        <p:nvSpPr>
          <p:cNvPr id="9" name="Marcador de número de diapositiva 5"/>
          <p:cNvSpPr>
            <a:spLocks noGrp="1"/>
          </p:cNvSpPr>
          <p:nvPr>
            <p:ph type="sldNum" sz="quarter" idx="12"/>
          </p:nvPr>
        </p:nvSpPr>
        <p:spPr/>
        <p:txBody>
          <a:bodyPr/>
          <a:lstStyle>
            <a:lvl1pPr>
              <a:defRPr/>
            </a:lvl1pPr>
          </a:lstStyle>
          <a:p>
            <a:fld id="{6A3AF083-3250-4136-BEB9-7AF9A938BA7A}" type="slidenum">
              <a:rPr lang="es-ES_tradnl" altLang="es-CL"/>
              <a:pPr/>
              <a:t>‹Nº›</a:t>
            </a:fld>
            <a:endParaRPr lang="es-ES_tradnl" altLang="es-CL"/>
          </a:p>
        </p:txBody>
      </p:sp>
    </p:spTree>
    <p:extLst>
      <p:ext uri="{BB962C8B-B14F-4D97-AF65-F5344CB8AC3E}">
        <p14:creationId xmlns:p14="http://schemas.microsoft.com/office/powerpoint/2010/main" val="3192155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a:defRPr/>
            </a:pPr>
            <a:fld id="{688908FD-EE54-425E-B52D-A5E77FE0F4E1}" type="datetimeFigureOut">
              <a:rPr lang="es-ES_tradnl"/>
              <a:pPr>
                <a:defRPr/>
              </a:pPr>
              <a:t>26/09/2025</a:t>
            </a:fld>
            <a:endParaRPr lang="es-ES_tradnl"/>
          </a:p>
        </p:txBody>
      </p:sp>
      <p:sp>
        <p:nvSpPr>
          <p:cNvPr id="4" name="Marcador de pie de página 4"/>
          <p:cNvSpPr>
            <a:spLocks noGrp="1"/>
          </p:cNvSpPr>
          <p:nvPr>
            <p:ph type="ftr" sz="quarter" idx="11"/>
          </p:nvPr>
        </p:nvSpPr>
        <p:spPr/>
        <p:txBody>
          <a:bodyPr/>
          <a:lstStyle>
            <a:lvl1pPr>
              <a:defRPr/>
            </a:lvl1pPr>
          </a:lstStyle>
          <a:p>
            <a:pPr>
              <a:defRPr/>
            </a:pPr>
            <a:endParaRPr lang="es-ES_tradnl"/>
          </a:p>
        </p:txBody>
      </p:sp>
      <p:sp>
        <p:nvSpPr>
          <p:cNvPr id="5" name="Marcador de número de diapositiva 5"/>
          <p:cNvSpPr>
            <a:spLocks noGrp="1"/>
          </p:cNvSpPr>
          <p:nvPr>
            <p:ph type="sldNum" sz="quarter" idx="12"/>
          </p:nvPr>
        </p:nvSpPr>
        <p:spPr/>
        <p:txBody>
          <a:bodyPr/>
          <a:lstStyle>
            <a:lvl1pPr>
              <a:defRPr/>
            </a:lvl1pPr>
          </a:lstStyle>
          <a:p>
            <a:fld id="{59C4D746-ECE6-4F12-9BD7-02F1A03DE9BC}" type="slidenum">
              <a:rPr lang="es-ES_tradnl" altLang="es-CL"/>
              <a:pPr/>
              <a:t>‹Nº›</a:t>
            </a:fld>
            <a:endParaRPr lang="es-ES_tradnl" altLang="es-CL"/>
          </a:p>
        </p:txBody>
      </p:sp>
    </p:spTree>
    <p:extLst>
      <p:ext uri="{BB962C8B-B14F-4D97-AF65-F5344CB8AC3E}">
        <p14:creationId xmlns:p14="http://schemas.microsoft.com/office/powerpoint/2010/main" val="1155446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a:defRPr/>
            </a:pPr>
            <a:fld id="{454B1D3B-28B6-43FE-A4A1-ACF50A9182C7}" type="datetimeFigureOut">
              <a:rPr lang="es-ES_tradnl"/>
              <a:pPr>
                <a:defRPr/>
              </a:pPr>
              <a:t>26/09/2025</a:t>
            </a:fld>
            <a:endParaRPr lang="es-ES_tradnl"/>
          </a:p>
        </p:txBody>
      </p:sp>
      <p:sp>
        <p:nvSpPr>
          <p:cNvPr id="3" name="Marcador de pie de página 4"/>
          <p:cNvSpPr>
            <a:spLocks noGrp="1"/>
          </p:cNvSpPr>
          <p:nvPr>
            <p:ph type="ftr" sz="quarter" idx="11"/>
          </p:nvPr>
        </p:nvSpPr>
        <p:spPr/>
        <p:txBody>
          <a:bodyPr/>
          <a:lstStyle>
            <a:lvl1pPr>
              <a:defRPr/>
            </a:lvl1pPr>
          </a:lstStyle>
          <a:p>
            <a:pPr>
              <a:defRPr/>
            </a:pPr>
            <a:endParaRPr lang="es-ES_tradnl"/>
          </a:p>
        </p:txBody>
      </p:sp>
      <p:sp>
        <p:nvSpPr>
          <p:cNvPr id="4" name="Marcador de número de diapositiva 5"/>
          <p:cNvSpPr>
            <a:spLocks noGrp="1"/>
          </p:cNvSpPr>
          <p:nvPr>
            <p:ph type="sldNum" sz="quarter" idx="12"/>
          </p:nvPr>
        </p:nvSpPr>
        <p:spPr/>
        <p:txBody>
          <a:bodyPr/>
          <a:lstStyle>
            <a:lvl1pPr>
              <a:defRPr/>
            </a:lvl1pPr>
          </a:lstStyle>
          <a:p>
            <a:fld id="{546EC160-BB17-4C5C-A913-243CEE97784F}" type="slidenum">
              <a:rPr lang="es-ES_tradnl" altLang="es-CL"/>
              <a:pPr/>
              <a:t>‹Nº›</a:t>
            </a:fld>
            <a:endParaRPr lang="es-ES_tradnl" altLang="es-CL"/>
          </a:p>
        </p:txBody>
      </p:sp>
    </p:spTree>
    <p:extLst>
      <p:ext uri="{BB962C8B-B14F-4D97-AF65-F5344CB8AC3E}">
        <p14:creationId xmlns:p14="http://schemas.microsoft.com/office/powerpoint/2010/main" val="29216657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022D298C-5E21-4FDC-838E-33C54A0835BE}"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F01B316F-FC05-4AA9-8B17-611F2B66785A}" type="slidenum">
              <a:rPr lang="es-ES_tradnl" altLang="es-CL"/>
              <a:pPr/>
              <a:t>‹Nº›</a:t>
            </a:fld>
            <a:endParaRPr lang="es-ES_tradnl" altLang="es-CL"/>
          </a:p>
        </p:txBody>
      </p:sp>
    </p:spTree>
    <p:extLst>
      <p:ext uri="{BB962C8B-B14F-4D97-AF65-F5344CB8AC3E}">
        <p14:creationId xmlns:p14="http://schemas.microsoft.com/office/powerpoint/2010/main" val="1524700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a:defRPr/>
            </a:pPr>
            <a:fld id="{A65492E0-A143-485F-B68F-8CC91249D59B}" type="datetimeFigureOut">
              <a:rPr lang="es-ES_tradnl"/>
              <a:pPr>
                <a:defRPr/>
              </a:pPr>
              <a:t>26/09/2025</a:t>
            </a:fld>
            <a:endParaRPr lang="es-ES_tradnl"/>
          </a:p>
        </p:txBody>
      </p:sp>
      <p:sp>
        <p:nvSpPr>
          <p:cNvPr id="6" name="Marcador de pie de página 4"/>
          <p:cNvSpPr>
            <a:spLocks noGrp="1"/>
          </p:cNvSpPr>
          <p:nvPr>
            <p:ph type="ftr" sz="quarter" idx="11"/>
          </p:nvPr>
        </p:nvSpPr>
        <p:spPr/>
        <p:txBody>
          <a:bodyPr/>
          <a:lstStyle>
            <a:lvl1pPr>
              <a:defRPr/>
            </a:lvl1pPr>
          </a:lstStyle>
          <a:p>
            <a:pPr>
              <a:defRPr/>
            </a:pPr>
            <a:endParaRPr lang="es-ES_tradnl"/>
          </a:p>
        </p:txBody>
      </p:sp>
      <p:sp>
        <p:nvSpPr>
          <p:cNvPr id="7" name="Marcador de número de diapositiva 5"/>
          <p:cNvSpPr>
            <a:spLocks noGrp="1"/>
          </p:cNvSpPr>
          <p:nvPr>
            <p:ph type="sldNum" sz="quarter" idx="12"/>
          </p:nvPr>
        </p:nvSpPr>
        <p:spPr/>
        <p:txBody>
          <a:bodyPr/>
          <a:lstStyle>
            <a:lvl1pPr>
              <a:defRPr/>
            </a:lvl1pPr>
          </a:lstStyle>
          <a:p>
            <a:fld id="{EDC192D6-CB19-4D76-BAD3-1D4E4EA927D1}" type="slidenum">
              <a:rPr lang="es-ES_tradnl" altLang="es-CL"/>
              <a:pPr/>
              <a:t>‹Nº›</a:t>
            </a:fld>
            <a:endParaRPr lang="es-ES_tradnl" altLang="es-CL"/>
          </a:p>
        </p:txBody>
      </p:sp>
    </p:spTree>
    <p:extLst>
      <p:ext uri="{BB962C8B-B14F-4D97-AF65-F5344CB8AC3E}">
        <p14:creationId xmlns:p14="http://schemas.microsoft.com/office/powerpoint/2010/main" val="1631019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4C38D573-BBF9-4466-8100-20705A6765C2}"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64F13FBE-C0B8-4F7C-B7BE-9681116FC5EC}" type="slidenum">
              <a:rPr lang="es-ES_tradnl" altLang="es-CL"/>
              <a:pPr/>
              <a:t>‹Nº›</a:t>
            </a:fld>
            <a:endParaRPr lang="es-ES_tradnl" altLang="es-CL"/>
          </a:p>
        </p:txBody>
      </p:sp>
    </p:spTree>
    <p:extLst>
      <p:ext uri="{BB962C8B-B14F-4D97-AF65-F5344CB8AC3E}">
        <p14:creationId xmlns:p14="http://schemas.microsoft.com/office/powerpoint/2010/main" val="1856682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a:defRPr/>
            </a:pPr>
            <a:fld id="{A3C05822-3120-4BF7-B215-1DFE2C6DC6A3}" type="datetimeFigureOut">
              <a:rPr lang="es-ES_tradnl"/>
              <a:pPr>
                <a:defRPr/>
              </a:pPr>
              <a:t>26/09/2025</a:t>
            </a:fld>
            <a:endParaRPr lang="es-ES_tradnl"/>
          </a:p>
        </p:txBody>
      </p:sp>
      <p:sp>
        <p:nvSpPr>
          <p:cNvPr id="5" name="Marcador de pie de página 4"/>
          <p:cNvSpPr>
            <a:spLocks noGrp="1"/>
          </p:cNvSpPr>
          <p:nvPr>
            <p:ph type="ftr" sz="quarter" idx="11"/>
          </p:nvPr>
        </p:nvSpPr>
        <p:spPr/>
        <p:txBody>
          <a:bodyPr/>
          <a:lstStyle>
            <a:lvl1pPr>
              <a:defRPr/>
            </a:lvl1pPr>
          </a:lstStyle>
          <a:p>
            <a:pPr>
              <a:defRPr/>
            </a:pPr>
            <a:endParaRPr lang="es-ES_tradnl"/>
          </a:p>
        </p:txBody>
      </p:sp>
      <p:sp>
        <p:nvSpPr>
          <p:cNvPr id="6" name="Marcador de número de diapositiva 5"/>
          <p:cNvSpPr>
            <a:spLocks noGrp="1"/>
          </p:cNvSpPr>
          <p:nvPr>
            <p:ph type="sldNum" sz="quarter" idx="12"/>
          </p:nvPr>
        </p:nvSpPr>
        <p:spPr/>
        <p:txBody>
          <a:bodyPr/>
          <a:lstStyle>
            <a:lvl1pPr>
              <a:defRPr/>
            </a:lvl1pPr>
          </a:lstStyle>
          <a:p>
            <a:fld id="{F19D8483-F2FB-4D92-932B-BB90B8B7CC0E}" type="slidenum">
              <a:rPr lang="es-ES_tradnl" altLang="es-CL"/>
              <a:pPr/>
              <a:t>‹Nº›</a:t>
            </a:fld>
            <a:endParaRPr lang="es-ES_tradnl" altLang="es-CL"/>
          </a:p>
        </p:txBody>
      </p:sp>
    </p:spTree>
    <p:extLst>
      <p:ext uri="{BB962C8B-B14F-4D97-AF65-F5344CB8AC3E}">
        <p14:creationId xmlns:p14="http://schemas.microsoft.com/office/powerpoint/2010/main" val="34557498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ES_tradnl"/>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723CE86C-1FAA-476E-8610-6CF612D82F6D}"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17FDA0F7-3317-4A90-85A9-784F1E0F6A0E}"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0273344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E95A1AB2-ABDE-4AA7-B0BA-B4771DBF257E}"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35CBBCA2-D1A3-4B4D-AC73-9D069169A434}"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359951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96A1A31-6B2F-42D4-9D8B-250D0522AC84}"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4248B1C2-5544-4117-B964-FFA2790965CB}"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9426688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CC90434-FF42-4568-BAFD-14D07093E120}"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81203834-0EF4-4D06-A8D3-876274F5BE0F}"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536450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endParaRPr lang="es-ES_tradnl"/>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AE415DC-2033-47BD-86E8-F874CF6E7C58}"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8"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A3AF083-3250-4136-BEB9-7AF9A938BA7A}"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41522705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88908FD-EE54-425E-B52D-A5E77FE0F4E1}"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9C4D746-ECE6-4F12-9BD7-02F1A03DE9BC}"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425622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54B1D3B-28B6-43FE-A4A1-ACF50A9182C7}"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546EC160-BB17-4C5C-A913-243CEE97784F}"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3042125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22D298C-5E21-4FDC-838E-33C54A0835BE}"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01B316F-FC05-4AA9-8B17-611F2B66785A}"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5491071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ES_tradnl"/>
          </a:p>
        </p:txBody>
      </p:sp>
      <p:sp>
        <p:nvSpPr>
          <p:cNvPr id="3" name="Marcador de posición de imagen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s-ES_tradnl" noProof="0"/>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65492E0-A143-485F-B68F-8CC91249D59B}"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EDC192D6-CB19-4D76-BAD3-1D4E4EA927D1}"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1904311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C38D573-BBF9-4466-8100-20705A6765C2}"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64F13FBE-C0B8-4F7C-B7BE-9681116FC5EC}"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0385818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ES_tradnl"/>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Marcador de fecha 3"/>
          <p:cNvSpPr>
            <a:spLocks noGrp="1"/>
          </p:cNvSpPr>
          <p:nvPr>
            <p:ph type="dt" sz="half" idx="10"/>
          </p:nvPr>
        </p:nvSpPr>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A3C05822-3120-4BF7-B215-1DFE2C6DC6A3}"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11"/>
          </p:nvPr>
        </p:nvSpPr>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12"/>
          </p:nvPr>
        </p:nvSpPr>
        <p:spPr/>
        <p:txBody>
          <a:bodyPr/>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19D8483-F2FB-4D92-932B-BB90B8B7CC0E}"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25044591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40F057B8-E3CD-456E-9A46-2B8B20AF9933}" type="datetimeFigureOut">
              <a:rPr lang="es-ES_tradnl"/>
              <a:pPr>
                <a:defRPr/>
              </a:pPr>
              <a:t>26/09/2025</a:t>
            </a:fld>
            <a:endParaRPr lang="es-ES_tradnl"/>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s-ES_tradnl"/>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F59D94CD-8797-4F90-8E76-E70F46B730A3}" type="slidenum">
              <a:rPr lang="es-ES_tradnl" altLang="es-CL"/>
              <a:pPr/>
              <a:t>‹Nº›</a:t>
            </a:fld>
            <a:endParaRPr lang="es-ES_tradnl" altLang="es-CL"/>
          </a:p>
        </p:txBody>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t="-1000" b="-1000"/>
          </a:stretch>
        </a:blipFill>
        <a:effectLst/>
      </p:bgPr>
    </p:bg>
    <p:spTree>
      <p:nvGrpSpPr>
        <p:cNvPr id="1" name=""/>
        <p:cNvGrpSpPr/>
        <p:nvPr/>
      </p:nvGrpSpPr>
      <p:grpSpPr>
        <a:xfrm>
          <a:off x="0" y="0"/>
          <a:ext cx="0" cy="0"/>
          <a:chOff x="0" y="0"/>
          <a:chExt cx="0" cy="0"/>
        </a:xfrm>
      </p:grpSpPr>
      <p:sp>
        <p:nvSpPr>
          <p:cNvPr id="1026" name="Marcador de título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s-ES" altLang="en-US"/>
              <a:t>Haga clic para modificar el estilo de título del patrón</a:t>
            </a:r>
            <a:endParaRPr lang="es-ES_tradnl" altLang="en-US"/>
          </a:p>
        </p:txBody>
      </p:sp>
      <p:sp>
        <p:nvSpPr>
          <p:cNvPr id="1027" name="Marcador de texto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s-ES" altLang="en-US"/>
              <a:t>Editar el estilo de texto del patrón</a:t>
            </a:r>
          </a:p>
          <a:p>
            <a:pPr lvl="1"/>
            <a:r>
              <a:rPr lang="es-ES" altLang="en-US"/>
              <a:t>Segundo nivel</a:t>
            </a:r>
          </a:p>
          <a:p>
            <a:pPr lvl="2"/>
            <a:r>
              <a:rPr lang="es-ES" altLang="en-US"/>
              <a:t>Tercer nivel</a:t>
            </a:r>
          </a:p>
          <a:p>
            <a:pPr lvl="3"/>
            <a:r>
              <a:rPr lang="es-ES" altLang="en-US"/>
              <a:t>Cuarto nivel</a:t>
            </a:r>
          </a:p>
          <a:p>
            <a:pPr lvl="4"/>
            <a:r>
              <a:rPr lang="es-ES" altLang="en-US"/>
              <a:t>Quinto nivel</a:t>
            </a:r>
            <a:endParaRPr lang="es-ES_tradnl" altLang="en-U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0F057B8-E3CD-456E-9A46-2B8B20AF9933}" type="datetimeFigureOut">
              <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26/09/2025</a:t>
            </a:fld>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s-ES_tradnl"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tabLst/>
              <a:defRPr/>
            </a:pPr>
            <a:fld id="{F59D94CD-8797-4F90-8E76-E70F46B730A3}" type="slidenum">
              <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‹Nº›</a:t>
            </a:fld>
            <a:endParaRPr kumimoji="0" lang="es-ES_tradnl" altLang="es-CL" sz="1200" b="0" i="0" u="none" strike="noStrike" kern="1200" cap="none" spc="0" normalizeH="0" baseline="0" noProof="0">
              <a:ln>
                <a:noFill/>
              </a:ln>
              <a:solidFill>
                <a:srgbClr val="898989"/>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1977074172"/>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Patrón de fondo&#10;&#10;Descripción generada automáticamente con confianza baja">
            <a:extLst>
              <a:ext uri="{FF2B5EF4-FFF2-40B4-BE49-F238E27FC236}">
                <a16:creationId xmlns:a16="http://schemas.microsoft.com/office/drawing/2014/main" id="{89BB7D2C-520F-A6A8-1317-6FED65880B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7037762"/>
          </a:xfrm>
          <a:prstGeom prst="rect">
            <a:avLst/>
          </a:prstGeom>
        </p:spPr>
      </p:pic>
      <p:sp>
        <p:nvSpPr>
          <p:cNvPr id="6" name="Rectangle: Rounded Corners 22">
            <a:extLst>
              <a:ext uri="{FF2B5EF4-FFF2-40B4-BE49-F238E27FC236}">
                <a16:creationId xmlns:a16="http://schemas.microsoft.com/office/drawing/2014/main" id="{100F0B21-F305-84E0-FC1E-67639502205C}"/>
              </a:ext>
            </a:extLst>
          </p:cNvPr>
          <p:cNvSpPr/>
          <p:nvPr/>
        </p:nvSpPr>
        <p:spPr>
          <a:xfrm>
            <a:off x="4063854" y="3631473"/>
            <a:ext cx="7308567" cy="1497875"/>
          </a:xfrm>
          <a:prstGeom prst="roundRect">
            <a:avLst>
              <a:gd name="adj" fmla="val 7874"/>
            </a:avLst>
          </a:prstGeom>
          <a:solidFill>
            <a:schemeClr val="tx1">
              <a:alpha val="76000"/>
            </a:schemeClr>
          </a:solidFill>
          <a:ln>
            <a:noFill/>
            <a:prstDash val="lgDash"/>
          </a:ln>
          <a:effectLst/>
        </p:spPr>
        <p:style>
          <a:lnRef idx="2">
            <a:schemeClr val="accent1">
              <a:shade val="50000"/>
            </a:schemeClr>
          </a:lnRef>
          <a:fillRef idx="1">
            <a:schemeClr val="accent1"/>
          </a:fillRef>
          <a:effectRef idx="0">
            <a:schemeClr val="accent1"/>
          </a:effectRef>
          <a:fontRef idx="minor">
            <a:schemeClr val="lt1"/>
          </a:fontRef>
        </p:style>
        <p:txBody>
          <a:bodyPr rIns="540000" anchor="ctr"/>
          <a:lstStyle>
            <a:defPPr>
              <a:defRPr lang="es-ES_tradnl"/>
            </a:defPPr>
            <a:lvl1pPr algn="l" rtl="0" eaLnBrk="0" fontAlgn="base" hangingPunct="0">
              <a:spcBef>
                <a:spcPct val="0"/>
              </a:spcBef>
              <a:spcAft>
                <a:spcPct val="0"/>
              </a:spcAft>
              <a:defRPr kern="1200">
                <a:solidFill>
                  <a:schemeClr val="lt1"/>
                </a:solidFill>
                <a:latin typeface="+mn-lt"/>
                <a:ea typeface="+mn-ea"/>
                <a:cs typeface="+mn-cs"/>
              </a:defRPr>
            </a:lvl1pPr>
            <a:lvl2pPr marL="457200" algn="l" rtl="0" eaLnBrk="0" fontAlgn="base" hangingPunct="0">
              <a:spcBef>
                <a:spcPct val="0"/>
              </a:spcBef>
              <a:spcAft>
                <a:spcPct val="0"/>
              </a:spcAft>
              <a:defRPr kern="1200">
                <a:solidFill>
                  <a:schemeClr val="lt1"/>
                </a:solidFill>
                <a:latin typeface="+mn-lt"/>
                <a:ea typeface="+mn-ea"/>
                <a:cs typeface="+mn-cs"/>
              </a:defRPr>
            </a:lvl2pPr>
            <a:lvl3pPr marL="914400" algn="l" rtl="0" eaLnBrk="0" fontAlgn="base" hangingPunct="0">
              <a:spcBef>
                <a:spcPct val="0"/>
              </a:spcBef>
              <a:spcAft>
                <a:spcPct val="0"/>
              </a:spcAft>
              <a:defRPr kern="1200">
                <a:solidFill>
                  <a:schemeClr val="lt1"/>
                </a:solidFill>
                <a:latin typeface="+mn-lt"/>
                <a:ea typeface="+mn-ea"/>
                <a:cs typeface="+mn-cs"/>
              </a:defRPr>
            </a:lvl3pPr>
            <a:lvl4pPr marL="1371600" algn="l" rtl="0" eaLnBrk="0" fontAlgn="base" hangingPunct="0">
              <a:spcBef>
                <a:spcPct val="0"/>
              </a:spcBef>
              <a:spcAft>
                <a:spcPct val="0"/>
              </a:spcAft>
              <a:defRPr kern="1200">
                <a:solidFill>
                  <a:schemeClr val="lt1"/>
                </a:solidFill>
                <a:latin typeface="+mn-lt"/>
                <a:ea typeface="+mn-ea"/>
                <a:cs typeface="+mn-cs"/>
              </a:defRPr>
            </a:lvl4pPr>
            <a:lvl5pPr marL="1828800" algn="l" rtl="0" eaLnBrk="0" fontAlgn="base" hangingPunct="0">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endParaRPr lang="en-US" sz="2800" b="1" dirty="0"/>
          </a:p>
        </p:txBody>
      </p:sp>
      <p:sp>
        <p:nvSpPr>
          <p:cNvPr id="8" name="Título 1"/>
          <p:cNvSpPr>
            <a:spLocks noGrp="1"/>
          </p:cNvSpPr>
          <p:nvPr>
            <p:ph type="ctrTitle"/>
          </p:nvPr>
        </p:nvSpPr>
        <p:spPr>
          <a:xfrm>
            <a:off x="4211532" y="3678892"/>
            <a:ext cx="7013209" cy="1403036"/>
          </a:xfrm>
        </p:spPr>
        <p:txBody>
          <a:bodyPr rtlCol="0">
            <a:noAutofit/>
          </a:bodyPr>
          <a:lstStyle/>
          <a:p>
            <a:pPr algn="l" eaLnBrk="1" fontAlgn="auto" hangingPunct="1">
              <a:spcAft>
                <a:spcPts val="0"/>
              </a:spcAft>
              <a:defRPr/>
            </a:pPr>
            <a:r>
              <a:rPr lang="es-ES" sz="4800" b="1" dirty="0">
                <a:solidFill>
                  <a:schemeClr val="bg1"/>
                </a:solidFill>
                <a:latin typeface="Arial" panose="020B0604020202020204" pitchFamily="34" charset="0"/>
                <a:cs typeface="Arial" panose="020B0604020202020204" pitchFamily="34" charset="0"/>
              </a:rPr>
              <a:t>Teorema Límite Central</a:t>
            </a:r>
            <a:br>
              <a:rPr lang="es-ES" sz="4800" b="1" dirty="0">
                <a:solidFill>
                  <a:schemeClr val="bg1"/>
                </a:solidFill>
                <a:latin typeface="Arial" panose="020B0604020202020204" pitchFamily="34" charset="0"/>
                <a:cs typeface="Arial" panose="020B0604020202020204" pitchFamily="34" charset="0"/>
              </a:rPr>
            </a:br>
            <a:endParaRPr lang="es-ES_tradnl" sz="2800" b="1" dirty="0">
              <a:solidFill>
                <a:schemeClr val="bg1"/>
              </a:solidFill>
              <a:latin typeface="Arial" panose="020B0604020202020204" pitchFamily="34" charset="0"/>
              <a:cs typeface="Arial" panose="020B0604020202020204" pitchFamily="34" charset="0"/>
            </a:endParaRPr>
          </a:p>
        </p:txBody>
      </p:sp>
      <p:sp>
        <p:nvSpPr>
          <p:cNvPr id="10" name="Google Shape;92;p1"/>
          <p:cNvSpPr txBox="1"/>
          <p:nvPr/>
        </p:nvSpPr>
        <p:spPr>
          <a:xfrm>
            <a:off x="4349642" y="3112199"/>
            <a:ext cx="7022779" cy="400069"/>
          </a:xfrm>
          <a:prstGeom prst="rect">
            <a:avLst/>
          </a:prstGeom>
          <a:noFill/>
          <a:ln>
            <a:noFill/>
          </a:ln>
        </p:spPr>
        <p:txBody>
          <a:bodyPr spcFirstLastPara="1" wrap="square" lIns="91425" tIns="45700" rIns="91425" bIns="45700" anchor="t" anchorCtr="0">
            <a:spAutoFit/>
          </a:bodyPr>
          <a:lstStyle/>
          <a:p>
            <a:pPr marL="0" marR="0" lvl="0" indent="0" defTabSz="914400" eaLnBrk="0" fontAlgn="base" latinLnBrk="0" hangingPunct="0">
              <a:lnSpc>
                <a:spcPct val="100000"/>
              </a:lnSpc>
              <a:spcBef>
                <a:spcPts val="0"/>
              </a:spcBef>
              <a:spcAft>
                <a:spcPts val="0"/>
              </a:spcAft>
              <a:buClrTx/>
              <a:buSzTx/>
              <a:buFontTx/>
              <a:buNone/>
              <a:tabLst/>
              <a:defRPr/>
            </a:pPr>
            <a:r>
              <a:rPr kumimoji="0" lang="es-ES" sz="2000" b="1" i="0" u="none" strike="noStrike" kern="1200" cap="none" spc="0" normalizeH="0" baseline="0" noProof="0" dirty="0">
                <a:ln>
                  <a:noFill/>
                </a:ln>
                <a:solidFill>
                  <a:prstClr val="white"/>
                </a:solidFill>
                <a:effectLst/>
                <a:uLnTx/>
                <a:uFillTx/>
                <a:latin typeface="Arial"/>
                <a:cs typeface="Arial"/>
              </a:rPr>
              <a:t> Inferencia Estadística</a:t>
            </a:r>
            <a:endParaRPr kumimoji="0" sz="2000" b="0" i="0" u="none" strike="noStrike" kern="1200" cap="none" spc="0" normalizeH="0" baseline="0" noProof="0" dirty="0">
              <a:ln>
                <a:noFill/>
              </a:ln>
              <a:solidFill>
                <a:prstClr val="white"/>
              </a:solidFill>
              <a:effectLst/>
              <a:uLnTx/>
              <a:uFillTx/>
              <a:latin typeface="Arial"/>
              <a:ea typeface="Calibri"/>
              <a:cs typeface="Arial"/>
              <a:sym typeface="Calibri"/>
            </a:endParaRPr>
          </a:p>
        </p:txBody>
      </p:sp>
    </p:spTree>
    <p:extLst>
      <p:ext uri="{BB962C8B-B14F-4D97-AF65-F5344CB8AC3E}">
        <p14:creationId xmlns:p14="http://schemas.microsoft.com/office/powerpoint/2010/main" val="1998777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anim calcmode="lin" valueType="num">
                                      <p:cBhvr>
                                        <p:cTn id="8" dur="500" fill="hold"/>
                                        <p:tgtEl>
                                          <p:spTgt spid="8"/>
                                        </p:tgtEl>
                                        <p:attrNameLst>
                                          <p:attrName>ppt_x</p:attrName>
                                        </p:attrNameLst>
                                      </p:cBhvr>
                                      <p:tavLst>
                                        <p:tav tm="0">
                                          <p:val>
                                            <p:strVal val="#ppt_x"/>
                                          </p:val>
                                        </p:tav>
                                        <p:tav tm="100000">
                                          <p:val>
                                            <p:strVal val="#ppt_x"/>
                                          </p:val>
                                        </p:tav>
                                      </p:tavLst>
                                    </p:anim>
                                    <p:anim calcmode="lin" valueType="num">
                                      <p:cBhvr>
                                        <p:cTn id="9" dur="5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15"/>
          <p:cNvSpPr/>
          <p:nvPr/>
        </p:nvSpPr>
        <p:spPr>
          <a:xfrm>
            <a:off x="5982789" y="-551793"/>
            <a:ext cx="4850674" cy="5864022"/>
          </a:xfrm>
          <a:prstGeom prst="roundRect">
            <a:avLst>
              <a:gd name="adj" fmla="val 2778"/>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4" name="Título 1"/>
          <p:cNvSpPr txBox="1">
            <a:spLocks/>
          </p:cNvSpPr>
          <p:nvPr/>
        </p:nvSpPr>
        <p:spPr bwMode="auto">
          <a:xfrm>
            <a:off x="462687" y="469681"/>
            <a:ext cx="5293474"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ctr" eaLnBrk="1" fontAlgn="auto" hangingPunct="1">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Objetivos de Aprendizaje</a:t>
            </a:r>
          </a:p>
        </p:txBody>
      </p:sp>
      <p:sp>
        <p:nvSpPr>
          <p:cNvPr id="6" name="CuadroTexto 5"/>
          <p:cNvSpPr txBox="1"/>
          <p:nvPr/>
        </p:nvSpPr>
        <p:spPr>
          <a:xfrm>
            <a:off x="6184980" y="1659284"/>
            <a:ext cx="4324289" cy="3170099"/>
          </a:xfrm>
          <a:prstGeom prst="rect">
            <a:avLst/>
          </a:prstGeom>
          <a:noFill/>
        </p:spPr>
        <p:txBody>
          <a:bodyPr wrap="square" rtlCol="0">
            <a:spAutoFit/>
          </a:bodyPr>
          <a:lstStyle/>
          <a:p>
            <a:pPr marL="342900" indent="-342900" algn="just">
              <a:buFont typeface="Wingdings" panose="05000000000000000000" pitchFamily="2" charset="2"/>
              <a:buChar char="Ø"/>
              <a:defRPr>
                <a:solidFill>
                  <a:srgbClr val="FFFFFF"/>
                </a:solidFill>
              </a:defRPr>
            </a:pPr>
            <a:r>
              <a:rPr lang="es-ES" sz="2000" dirty="0">
                <a:latin typeface="+mn-lt"/>
                <a:ea typeface="Open Sans" pitchFamily="2" charset="0"/>
                <a:cs typeface="Open Sans" pitchFamily="2" charset="0"/>
              </a:rPr>
              <a:t>Utiliza los conceptos básicos de estadística Inferencial.</a:t>
            </a:r>
          </a:p>
          <a:p>
            <a:pPr marL="342900" indent="-342900" algn="just">
              <a:buFont typeface="Wingdings" panose="05000000000000000000" pitchFamily="2" charset="2"/>
              <a:buChar char="Ø"/>
              <a:defRPr>
                <a:solidFill>
                  <a:srgbClr val="FFFFFF"/>
                </a:solidFill>
              </a:defRPr>
            </a:pPr>
            <a:endParaRPr lang="es-ES" sz="2000" dirty="0">
              <a:latin typeface="+mn-lt"/>
              <a:ea typeface="Open Sans" pitchFamily="2" charset="0"/>
              <a:cs typeface="Open Sans" pitchFamily="2" charset="0"/>
            </a:endParaRPr>
          </a:p>
          <a:p>
            <a:pPr marL="342900" indent="-342900" algn="just">
              <a:buFont typeface="Wingdings" panose="05000000000000000000" pitchFamily="2" charset="2"/>
              <a:buChar char="Ø"/>
              <a:defRPr>
                <a:solidFill>
                  <a:srgbClr val="FFFFFF"/>
                </a:solidFill>
              </a:defRPr>
            </a:pPr>
            <a:r>
              <a:rPr lang="es-ES" sz="2000" dirty="0">
                <a:latin typeface="+mn-lt"/>
                <a:ea typeface="Open Sans" pitchFamily="2" charset="0"/>
                <a:cs typeface="Open Sans" pitchFamily="2" charset="0"/>
              </a:rPr>
              <a:t>Explicar ley de los grandes números.</a:t>
            </a:r>
          </a:p>
          <a:p>
            <a:pPr marL="342900" indent="-342900" algn="just">
              <a:buFont typeface="Wingdings" panose="05000000000000000000" pitchFamily="2" charset="2"/>
              <a:buChar char="Ø"/>
              <a:defRPr>
                <a:solidFill>
                  <a:srgbClr val="FFFFFF"/>
                </a:solidFill>
              </a:defRPr>
            </a:pPr>
            <a:endParaRPr lang="es-ES" sz="2000" dirty="0">
              <a:latin typeface="+mn-lt"/>
              <a:ea typeface="Open Sans" pitchFamily="2" charset="0"/>
              <a:cs typeface="Open Sans" pitchFamily="2" charset="0"/>
            </a:endParaRPr>
          </a:p>
          <a:p>
            <a:pPr marL="342900" indent="-342900" algn="just">
              <a:buFont typeface="Wingdings" panose="05000000000000000000" pitchFamily="2" charset="2"/>
              <a:buChar char="Ø"/>
              <a:defRPr>
                <a:solidFill>
                  <a:srgbClr val="FFFFFF"/>
                </a:solidFill>
              </a:defRPr>
            </a:pPr>
            <a:r>
              <a:rPr lang="es-ES" sz="2000" dirty="0">
                <a:latin typeface="+mn-lt"/>
                <a:ea typeface="Open Sans" pitchFamily="2" charset="0"/>
                <a:cs typeface="Open Sans" pitchFamily="2" charset="0"/>
              </a:rPr>
              <a:t>Explicar Teorema Límite Central.</a:t>
            </a:r>
          </a:p>
          <a:p>
            <a:pPr marL="342900" indent="-342900" algn="just">
              <a:buFont typeface="Wingdings" panose="05000000000000000000" pitchFamily="2" charset="2"/>
              <a:buChar char="Ø"/>
              <a:defRPr>
                <a:solidFill>
                  <a:srgbClr val="FFFFFF"/>
                </a:solidFill>
              </a:defRPr>
            </a:pPr>
            <a:endParaRPr lang="es-ES" sz="2000" dirty="0">
              <a:latin typeface="+mn-lt"/>
              <a:ea typeface="Open Sans" pitchFamily="2" charset="0"/>
              <a:cs typeface="Open Sans" pitchFamily="2" charset="0"/>
            </a:endParaRPr>
          </a:p>
          <a:p>
            <a:pPr marL="342900" indent="-342900" algn="just">
              <a:buFont typeface="Wingdings" panose="05000000000000000000" pitchFamily="2" charset="2"/>
              <a:buChar char="Ø"/>
              <a:defRPr>
                <a:solidFill>
                  <a:srgbClr val="FFFFFF"/>
                </a:solidFill>
              </a:defRPr>
            </a:pPr>
            <a:r>
              <a:rPr lang="es-ES" sz="2000" dirty="0">
                <a:latin typeface="+mn-lt"/>
                <a:ea typeface="Open Sans" pitchFamily="2" charset="0"/>
                <a:cs typeface="Open Sans" pitchFamily="2" charset="0"/>
              </a:rPr>
              <a:t>Realizar cálculos de  probabilidad utilizando la distribución muestral para resolver un problema.</a:t>
            </a:r>
          </a:p>
        </p:txBody>
      </p:sp>
      <p:graphicFrame>
        <p:nvGraphicFramePr>
          <p:cNvPr id="5" name="Diagrama 4">
            <a:extLst>
              <a:ext uri="{FF2B5EF4-FFF2-40B4-BE49-F238E27FC236}">
                <a16:creationId xmlns:a16="http://schemas.microsoft.com/office/drawing/2014/main" id="{76DA5601-9A99-7640-C9D2-BA554A55B661}"/>
              </a:ext>
            </a:extLst>
          </p:cNvPr>
          <p:cNvGraphicFramePr/>
          <p:nvPr>
            <p:extLst>
              <p:ext uri="{D42A27DB-BD31-4B8C-83A1-F6EECF244321}">
                <p14:modId xmlns:p14="http://schemas.microsoft.com/office/powerpoint/2010/main" val="622351042"/>
              </p:ext>
            </p:extLst>
          </p:nvPr>
        </p:nvGraphicFramePr>
        <p:xfrm>
          <a:off x="236059" y="1659284"/>
          <a:ext cx="5293474" cy="372097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430025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p:cNvSpPr txBox="1">
            <a:spLocks/>
          </p:cNvSpPr>
          <p:nvPr/>
        </p:nvSpPr>
        <p:spPr bwMode="auto">
          <a:xfrm>
            <a:off x="1162050" y="1607482"/>
            <a:ext cx="10782300" cy="1008062"/>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spcAft>
                <a:spcPts val="0"/>
              </a:spcAft>
              <a:defRPr/>
            </a:pPr>
            <a:r>
              <a:rPr lang="es-ES" sz="3200" dirty="0">
                <a:solidFill>
                  <a:schemeClr val="bg1">
                    <a:lumMod val="50000"/>
                  </a:schemeClr>
                </a:solidFill>
                <a:latin typeface="Arial"/>
                <a:cs typeface="Arial"/>
              </a:rPr>
              <a:t>Contenido</a:t>
            </a:r>
          </a:p>
        </p:txBody>
      </p:sp>
      <p:sp>
        <p:nvSpPr>
          <p:cNvPr id="5" name="Rectángulo redondeado 14">
            <a:extLst>
              <a:ext uri="{FF2B5EF4-FFF2-40B4-BE49-F238E27FC236}">
                <a16:creationId xmlns:a16="http://schemas.microsoft.com/office/drawing/2014/main" id="{62C19520-3C27-97A1-FA66-919E66ACD2AC}"/>
              </a:ext>
            </a:extLst>
          </p:cNvPr>
          <p:cNvSpPr/>
          <p:nvPr/>
        </p:nvSpPr>
        <p:spPr>
          <a:xfrm>
            <a:off x="-365760" y="2507592"/>
            <a:ext cx="6918960" cy="1512616"/>
          </a:xfrm>
          <a:prstGeom prst="roundRect">
            <a:avLst>
              <a:gd name="adj" fmla="val 4466"/>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7" name="CuadroTexto 6">
            <a:extLst>
              <a:ext uri="{FF2B5EF4-FFF2-40B4-BE49-F238E27FC236}">
                <a16:creationId xmlns:a16="http://schemas.microsoft.com/office/drawing/2014/main" id="{93DA603D-4F38-4477-ABCF-7D9BF773DD97}"/>
              </a:ext>
            </a:extLst>
          </p:cNvPr>
          <p:cNvSpPr txBox="1"/>
          <p:nvPr/>
        </p:nvSpPr>
        <p:spPr>
          <a:xfrm>
            <a:off x="1227909" y="2802235"/>
            <a:ext cx="4850674" cy="1015663"/>
          </a:xfrm>
          <a:prstGeom prst="rect">
            <a:avLst/>
          </a:prstGeom>
          <a:noFill/>
        </p:spPr>
        <p:txBody>
          <a:bodyPr wrap="square" rtlCol="0">
            <a:spAutoFit/>
          </a:bodyPr>
          <a:lstStyle/>
          <a:p>
            <a:pPr marL="342900" indent="-342900" algn="just">
              <a:buFont typeface="+mj-lt"/>
              <a:buAutoNum type="arabicPeriod"/>
              <a:defRPr>
                <a:solidFill>
                  <a:srgbClr val="FFFFFF"/>
                </a:solidFill>
              </a:defRPr>
            </a:pPr>
            <a:r>
              <a:rPr lang="es-ES" sz="2000" dirty="0"/>
              <a:t>Ley de los grandes números</a:t>
            </a:r>
          </a:p>
          <a:p>
            <a:pPr marL="342900" indent="-342900" algn="just">
              <a:buFont typeface="+mj-lt"/>
              <a:buAutoNum type="arabicPeriod"/>
              <a:defRPr>
                <a:solidFill>
                  <a:srgbClr val="FFFFFF"/>
                </a:solidFill>
              </a:defRPr>
            </a:pPr>
            <a:r>
              <a:rPr lang="es-ES" sz="2000" dirty="0"/>
              <a:t>Teorema del Límite Central.</a:t>
            </a:r>
          </a:p>
          <a:p>
            <a:pPr marL="342900" indent="-342900" algn="just">
              <a:buFont typeface="+mj-lt"/>
              <a:buAutoNum type="arabicPeriod"/>
              <a:defRPr>
                <a:solidFill>
                  <a:srgbClr val="FFFFFF"/>
                </a:solidFill>
              </a:defRPr>
            </a:pPr>
            <a:r>
              <a:rPr lang="es-ES" sz="2000" dirty="0"/>
              <a:t>Distribución </a:t>
            </a:r>
            <a:r>
              <a:rPr lang="es-ES" sz="2000" dirty="0" err="1"/>
              <a:t>muestral</a:t>
            </a:r>
            <a:r>
              <a:rPr lang="es-ES" sz="2000" dirty="0"/>
              <a:t>.</a:t>
            </a:r>
          </a:p>
        </p:txBody>
      </p:sp>
      <p:sp>
        <p:nvSpPr>
          <p:cNvPr id="2" name="Elipse 1">
            <a:extLst>
              <a:ext uri="{FF2B5EF4-FFF2-40B4-BE49-F238E27FC236}">
                <a16:creationId xmlns:a16="http://schemas.microsoft.com/office/drawing/2014/main" id="{882F76E7-2B9E-F258-B204-17385204028B}"/>
              </a:ext>
            </a:extLst>
          </p:cNvPr>
          <p:cNvSpPr/>
          <p:nvPr/>
        </p:nvSpPr>
        <p:spPr>
          <a:xfrm>
            <a:off x="7933422" y="1395816"/>
            <a:ext cx="3524500" cy="3524500"/>
          </a:xfrm>
          <a:prstGeom prst="ellipse">
            <a:avLst/>
          </a:prstGeom>
          <a:blipFill rotWithShape="1">
            <a:blip r:embed="rId2" cstate="print">
              <a:extLst>
                <a:ext uri="{28A0092B-C50C-407E-A947-70E740481C1C}">
                  <a14:useLocalDpi xmlns:a14="http://schemas.microsoft.com/office/drawing/2010/main" val="0"/>
                </a:ext>
              </a:extLst>
            </a:blip>
            <a:srcRect/>
            <a:stretch>
              <a:fillRect l="-25000" r="-25000"/>
            </a:stretch>
          </a:blipFill>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s-CL"/>
          </a:p>
        </p:txBody>
      </p:sp>
    </p:spTree>
    <p:extLst>
      <p:ext uri="{BB962C8B-B14F-4D97-AF65-F5344CB8AC3E}">
        <p14:creationId xmlns:p14="http://schemas.microsoft.com/office/powerpoint/2010/main" val="556158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fill="hold"/>
                                        <p:tgtEl>
                                          <p:spTgt spid="4"/>
                                        </p:tgtEl>
                                        <p:attrNameLst>
                                          <p:attrName>ppt_x</p:attrName>
                                        </p:attrNameLst>
                                      </p:cBhvr>
                                      <p:tavLst>
                                        <p:tav tm="0">
                                          <p:val>
                                            <p:strVal val="#ppt_x"/>
                                          </p:val>
                                        </p:tav>
                                        <p:tav tm="100000">
                                          <p:val>
                                            <p:strVal val="#ppt_x"/>
                                          </p:val>
                                        </p:tav>
                                      </p:tavLst>
                                    </p:anim>
                                    <p:anim calcmode="lin" valueType="num">
                                      <p:cBhvr>
                                        <p:cTn id="9" dur="5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1227365" y="3551985"/>
            <a:ext cx="6349093"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Ley de los Grandes Números</a:t>
            </a:r>
          </a:p>
        </p:txBody>
      </p:sp>
    </p:spTree>
    <p:extLst>
      <p:ext uri="{BB962C8B-B14F-4D97-AF65-F5344CB8AC3E}">
        <p14:creationId xmlns:p14="http://schemas.microsoft.com/office/powerpoint/2010/main" val="344981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457200" y="2046515"/>
            <a:ext cx="11277600" cy="3300548"/>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765811" y="1091122"/>
            <a:ext cx="10782300" cy="58612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Ley de los Grandes Números</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6" name="Rectángulo redondeado 5"/>
          <p:cNvSpPr/>
          <p:nvPr/>
        </p:nvSpPr>
        <p:spPr>
          <a:xfrm>
            <a:off x="2259874" y="2420983"/>
            <a:ext cx="7672252" cy="2569027"/>
          </a:xfrm>
          <a:prstGeom prst="roundRect">
            <a:avLst>
              <a:gd name="adj" fmla="val 2971"/>
            </a:avLst>
          </a:prstGeom>
          <a:solidFill>
            <a:schemeClr val="bg1"/>
          </a:solidFill>
          <a:ln>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CuadroTexto 8">
            <a:extLst>
              <a:ext uri="{FF2B5EF4-FFF2-40B4-BE49-F238E27FC236}">
                <a16:creationId xmlns:a16="http://schemas.microsoft.com/office/drawing/2014/main" id="{C746CFDD-6FC3-5AA7-5C1D-362E2C5244F1}"/>
              </a:ext>
            </a:extLst>
          </p:cNvPr>
          <p:cNvSpPr txBox="1"/>
          <p:nvPr/>
        </p:nvSpPr>
        <p:spPr>
          <a:xfrm>
            <a:off x="2791098" y="2573403"/>
            <a:ext cx="6609804" cy="2246769"/>
          </a:xfrm>
          <a:prstGeom prst="rect">
            <a:avLst/>
          </a:prstGeom>
          <a:noFill/>
          <a:ln>
            <a:noFill/>
          </a:ln>
        </p:spPr>
        <p:txBody>
          <a:bodyPr wrap="square" lIns="91440" tIns="45720" rIns="91440" bIns="45720" rtlCol="0" anchor="t">
            <a:spAutoFit/>
          </a:bodyPr>
          <a:lstStyle/>
          <a:p>
            <a:pPr algn="just"/>
            <a:r>
              <a:rPr lang="es-ES" sz="2000" dirty="0">
                <a:solidFill>
                  <a:schemeClr val="tx1">
                    <a:lumMod val="65000"/>
                    <a:lumOff val="35000"/>
                  </a:schemeClr>
                </a:solidFill>
                <a:latin typeface="+mn-lt"/>
                <a:ea typeface="Source Sans Pro"/>
              </a:rPr>
              <a:t>La ley de los grandes números es un teorema fundamental de la teoría de la probabilidad que establece que, </a:t>
            </a:r>
            <a:r>
              <a:rPr lang="es-ES" sz="2000" b="1" dirty="0">
                <a:solidFill>
                  <a:schemeClr val="tx1">
                    <a:lumMod val="65000"/>
                    <a:lumOff val="35000"/>
                  </a:schemeClr>
                </a:solidFill>
                <a:latin typeface="+mn-lt"/>
                <a:ea typeface="Source Sans Pro"/>
              </a:rPr>
              <a:t>a medida que el tamaño de una muestra aleatoria aumenta, la media de la muestra se acerca cada vez más a la media poblacional</a:t>
            </a:r>
            <a:r>
              <a:rPr lang="es-ES" sz="2000" dirty="0">
                <a:solidFill>
                  <a:schemeClr val="tx1">
                    <a:lumMod val="65000"/>
                    <a:lumOff val="35000"/>
                  </a:schemeClr>
                </a:solidFill>
                <a:latin typeface="+mn-lt"/>
                <a:ea typeface="Source Sans Pro"/>
              </a:rPr>
              <a:t>. En otras palabras, a medida que se realizan más observaciones, la probabilidad de que la media de la muestra difiera significativamente de la media poblacional disminuye.</a:t>
            </a:r>
          </a:p>
        </p:txBody>
      </p:sp>
    </p:spTree>
    <p:extLst>
      <p:ext uri="{BB962C8B-B14F-4D97-AF65-F5344CB8AC3E}">
        <p14:creationId xmlns:p14="http://schemas.microsoft.com/office/powerpoint/2010/main" val="1007741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89691" y="1243195"/>
            <a:ext cx="12481691" cy="4800553"/>
          </a:xfrm>
          <a:prstGeom prst="roundRect">
            <a:avLst>
              <a:gd name="adj" fmla="val 2971"/>
            </a:avLst>
          </a:prstGeom>
          <a:solidFill>
            <a:srgbClr val="9832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7658644" y="2107474"/>
            <a:ext cx="4207329" cy="3039292"/>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704850" y="424589"/>
            <a:ext cx="10782300" cy="696686"/>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Ley de los Grandes Números</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04850" y="1516324"/>
            <a:ext cx="6627767" cy="4278094"/>
          </a:xfrm>
          <a:prstGeom prst="rect">
            <a:avLst/>
          </a:prstGeom>
          <a:noFill/>
          <a:ln>
            <a:noFill/>
          </a:ln>
        </p:spPr>
        <p:txBody>
          <a:bodyPr wrap="square" lIns="91440" tIns="45720" rIns="91440" bIns="45720" rtlCol="0" anchor="t">
            <a:spAutoFit/>
          </a:bodyPr>
          <a:lstStyle/>
          <a:p>
            <a:pPr algn="just"/>
            <a:r>
              <a:rPr lang="es-ES" sz="1600" dirty="0">
                <a:solidFill>
                  <a:schemeClr val="bg1"/>
                </a:solidFill>
                <a:latin typeface="+mn-lt"/>
                <a:ea typeface="Source Sans Pro"/>
              </a:rPr>
              <a:t>Un ejemplo de la ley de los grandes números es lanzar una moneda justa varias veces. Si lanzamos la moneda muchas veces, esperamos que la proporción de veces que la moneda cae cara se acerque a 0,5 a medida que aumenta el número de lanzamientos.</a:t>
            </a:r>
          </a:p>
          <a:p>
            <a:pPr algn="just"/>
            <a:endParaRPr lang="es-ES" sz="1600" dirty="0">
              <a:solidFill>
                <a:schemeClr val="bg1"/>
              </a:solidFill>
              <a:latin typeface="+mn-lt"/>
              <a:ea typeface="Source Sans Pro"/>
            </a:endParaRPr>
          </a:p>
          <a:p>
            <a:pPr algn="just"/>
            <a:r>
              <a:rPr lang="es-ES" sz="1600" dirty="0">
                <a:solidFill>
                  <a:schemeClr val="bg1"/>
                </a:solidFill>
                <a:latin typeface="+mn-lt"/>
                <a:ea typeface="Source Sans Pro"/>
              </a:rPr>
              <a:t>Por ejemplo, si lanzamos la moneda 10 veces, es posible que obtengamos 6 caras y 4 cruces, lo que equivale a una proporción del 60% de caras. Sin embargo, si lanzamos la moneda 100 veces, es más probable que obtengamos una proporción más cercana al 50% de caras, como 52 caras y 48 cruces. Si lanzamos la moneda 1000 veces, es aún más probable que la proporción se acerque al 50%, por ejemplo, 502 caras y 498 cruces.</a:t>
            </a:r>
          </a:p>
          <a:p>
            <a:pPr algn="just"/>
            <a:endParaRPr lang="es-ES" sz="1600" dirty="0">
              <a:solidFill>
                <a:schemeClr val="bg1"/>
              </a:solidFill>
              <a:latin typeface="+mn-lt"/>
              <a:ea typeface="Source Sans Pro"/>
            </a:endParaRPr>
          </a:p>
          <a:p>
            <a:pPr algn="just"/>
            <a:r>
              <a:rPr lang="es-ES" sz="1600" dirty="0">
                <a:solidFill>
                  <a:schemeClr val="bg1"/>
                </a:solidFill>
                <a:latin typeface="+mn-lt"/>
                <a:ea typeface="Source Sans Pro"/>
              </a:rPr>
              <a:t>A medida que se lanzan la moneda más veces, la proporción de caras se acerca cada vez más a 0,5, lo que ilustra la ley de los grandes números. En otras palabras, cuanto mayor sea el número de lanzamientos, más se acercará la proporción de caras a la probabilidad verdadera de obtener una cara al lanzar una moneda justa, que es del 50%.</a:t>
            </a:r>
          </a:p>
        </p:txBody>
      </p:sp>
      <p:pic>
        <p:nvPicPr>
          <p:cNvPr id="5" name="Picture 2" descr="Compartimos y aprendemos: Propuesta de Práctica Pedagógica: Jugando con ...">
            <a:extLst>
              <a:ext uri="{FF2B5EF4-FFF2-40B4-BE49-F238E27FC236}">
                <a16:creationId xmlns:a16="http://schemas.microsoft.com/office/drawing/2014/main" id="{255B56DC-D6B3-BA20-7AA5-03C4E99716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3694"/>
          <a:stretch/>
        </p:blipFill>
        <p:spPr bwMode="auto">
          <a:xfrm>
            <a:off x="7822155" y="2241556"/>
            <a:ext cx="3858851" cy="278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0309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1014248" y="2617077"/>
            <a:ext cx="10163504" cy="2988338"/>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1014248" y="1396933"/>
            <a:ext cx="10163504" cy="825696"/>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219198" y="342873"/>
            <a:ext cx="10267951"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Ley de los Grandes Números</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1219199" y="1626519"/>
            <a:ext cx="10267951" cy="400110"/>
          </a:xfrm>
          <a:prstGeom prst="rect">
            <a:avLst/>
          </a:prstGeom>
          <a:noFill/>
          <a:ln>
            <a:noFill/>
          </a:ln>
        </p:spPr>
        <p:txBody>
          <a:bodyPr wrap="square" lIns="91440" tIns="45720" rIns="91440" bIns="45720" rtlCol="0" anchor="t">
            <a:spAutoFit/>
          </a:bodyPr>
          <a:lstStyle/>
          <a:p>
            <a:pPr algn="just"/>
            <a:r>
              <a:rPr lang="es-ES" sz="2000" dirty="0">
                <a:solidFill>
                  <a:schemeClr val="bg1"/>
                </a:solidFill>
                <a:latin typeface="+mn-lt"/>
                <a:ea typeface="Source Sans Pro"/>
              </a:rPr>
              <a:t>Este experimento lo podemos comprobar con Python:</a:t>
            </a:r>
          </a:p>
        </p:txBody>
      </p:sp>
      <p:pic>
        <p:nvPicPr>
          <p:cNvPr id="4" name="Imagen 3">
            <a:extLst>
              <a:ext uri="{FF2B5EF4-FFF2-40B4-BE49-F238E27FC236}">
                <a16:creationId xmlns:a16="http://schemas.microsoft.com/office/drawing/2014/main" id="{77B85A19-F0A5-4DC5-C71A-51E63E40C01E}"/>
              </a:ext>
            </a:extLst>
          </p:cNvPr>
          <p:cNvPicPr>
            <a:picLocks noChangeAspect="1"/>
          </p:cNvPicPr>
          <p:nvPr/>
        </p:nvPicPr>
        <p:blipFill>
          <a:blip r:embed="rId2"/>
          <a:stretch>
            <a:fillRect/>
          </a:stretch>
        </p:blipFill>
        <p:spPr>
          <a:xfrm>
            <a:off x="1133083" y="2753569"/>
            <a:ext cx="4899080" cy="2779218"/>
          </a:xfrm>
          <a:prstGeom prst="rect">
            <a:avLst/>
          </a:prstGeom>
        </p:spPr>
      </p:pic>
      <p:pic>
        <p:nvPicPr>
          <p:cNvPr id="7" name="Imagen 6">
            <a:extLst>
              <a:ext uri="{FF2B5EF4-FFF2-40B4-BE49-F238E27FC236}">
                <a16:creationId xmlns:a16="http://schemas.microsoft.com/office/drawing/2014/main" id="{13CE968D-9BCB-87EC-5A82-39944592794A}"/>
              </a:ext>
            </a:extLst>
          </p:cNvPr>
          <p:cNvPicPr>
            <a:picLocks noChangeAspect="1"/>
          </p:cNvPicPr>
          <p:nvPr/>
        </p:nvPicPr>
        <p:blipFill>
          <a:blip r:embed="rId3"/>
          <a:stretch>
            <a:fillRect/>
          </a:stretch>
        </p:blipFill>
        <p:spPr>
          <a:xfrm>
            <a:off x="6150998" y="2976466"/>
            <a:ext cx="4866066" cy="2098825"/>
          </a:xfrm>
          <a:prstGeom prst="rect">
            <a:avLst/>
          </a:prstGeom>
        </p:spPr>
      </p:pic>
    </p:spTree>
    <p:extLst>
      <p:ext uri="{BB962C8B-B14F-4D97-AF65-F5344CB8AC3E}">
        <p14:creationId xmlns:p14="http://schemas.microsoft.com/office/powerpoint/2010/main" val="961517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1584959" y="3264602"/>
            <a:ext cx="9893481"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600" dirty="0">
                <a:solidFill>
                  <a:schemeClr val="bg1">
                    <a:lumMod val="50000"/>
                  </a:schemeClr>
                </a:solidFill>
                <a:latin typeface="Arial" panose="020B0604020202020204" pitchFamily="34" charset="0"/>
                <a:cs typeface="Arial" panose="020B0604020202020204" pitchFamily="34" charset="0"/>
              </a:rPr>
              <a:t>Teorema del Límite Central</a:t>
            </a:r>
          </a:p>
        </p:txBody>
      </p:sp>
    </p:spTree>
    <p:extLst>
      <p:ext uri="{BB962C8B-B14F-4D97-AF65-F5344CB8AC3E}">
        <p14:creationId xmlns:p14="http://schemas.microsoft.com/office/powerpoint/2010/main" val="2179423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6580804" y="2168005"/>
            <a:ext cx="5384560" cy="2464484"/>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410451" y="896984"/>
            <a:ext cx="6214238" cy="5164182"/>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6757851" y="896984"/>
            <a:ext cx="5138058" cy="603809"/>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Teorema del Límite Central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6891094" y="2402002"/>
            <a:ext cx="4763979" cy="1754326"/>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El teorema del límite central (TLC) es un teorema fundamental en estadística que establece que, bajo ciertas condiciones, </a:t>
            </a:r>
            <a:r>
              <a:rPr lang="es-ES" b="1" dirty="0">
                <a:solidFill>
                  <a:schemeClr val="bg1"/>
                </a:solidFill>
                <a:latin typeface="+mn-lt"/>
                <a:ea typeface="Source Sans Pro"/>
              </a:rPr>
              <a:t>la distribución de las medias muestrales se aproxima a una distribución normal a medida que el tamaño de la muestra aumenta</a:t>
            </a:r>
            <a:r>
              <a:rPr lang="es-ES" dirty="0">
                <a:solidFill>
                  <a:schemeClr val="bg1"/>
                </a:solidFill>
                <a:latin typeface="+mn-lt"/>
                <a:ea typeface="Source Sans Pro"/>
              </a:rPr>
              <a:t>.</a:t>
            </a:r>
            <a:endParaRPr lang="es-ES"/>
          </a:p>
        </p:txBody>
      </p:sp>
      <p:pic>
        <p:nvPicPr>
          <p:cNvPr id="4" name="Picture 2">
            <a:extLst>
              <a:ext uri="{FF2B5EF4-FFF2-40B4-BE49-F238E27FC236}">
                <a16:creationId xmlns:a16="http://schemas.microsoft.com/office/drawing/2014/main" id="{8E5E0258-C7D7-E5C6-4A97-0919240236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4610" y="1163640"/>
            <a:ext cx="5425920" cy="4069440"/>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88BA7DE0-6F9A-7DBD-A830-5349103F5738}"/>
              </a:ext>
            </a:extLst>
          </p:cNvPr>
          <p:cNvSpPr txBox="1"/>
          <p:nvPr/>
        </p:nvSpPr>
        <p:spPr>
          <a:xfrm>
            <a:off x="517468" y="5416290"/>
            <a:ext cx="6017622" cy="461665"/>
          </a:xfrm>
          <a:prstGeom prst="rect">
            <a:avLst/>
          </a:prstGeom>
          <a:solidFill>
            <a:schemeClr val="bg1">
              <a:lumMod val="95000"/>
            </a:schemeClr>
          </a:solidFill>
          <a:ln>
            <a:solidFill>
              <a:schemeClr val="bg1">
                <a:lumMod val="85000"/>
              </a:schemeClr>
            </a:solidFill>
          </a:ln>
        </p:spPr>
        <p:txBody>
          <a:bodyPr wrap="square">
            <a:spAutoFit/>
          </a:bodyPr>
          <a:lstStyle/>
          <a:p>
            <a:pPr algn="just"/>
            <a:r>
              <a:rPr lang="es-CL" sz="1200" dirty="0">
                <a:solidFill>
                  <a:schemeClr val="tx1">
                    <a:lumMod val="65000"/>
                    <a:lumOff val="35000"/>
                  </a:schemeClr>
                </a:solidFill>
              </a:rPr>
              <a:t>Fuente:</a:t>
            </a:r>
          </a:p>
          <a:p>
            <a:pPr algn="just"/>
            <a:r>
              <a:rPr lang="es-CL" sz="1200" dirty="0">
                <a:solidFill>
                  <a:schemeClr val="tx1">
                    <a:lumMod val="65000"/>
                    <a:lumOff val="35000"/>
                  </a:schemeClr>
                </a:solidFill>
              </a:rPr>
              <a:t>https://towardsdatascience.com/central-limit-theorem-simulation-with-python-c80f8d3a6755</a:t>
            </a:r>
          </a:p>
        </p:txBody>
      </p:sp>
    </p:spTree>
    <p:extLst>
      <p:ext uri="{BB962C8B-B14F-4D97-AF65-F5344CB8AC3E}">
        <p14:creationId xmlns:p14="http://schemas.microsoft.com/office/powerpoint/2010/main" val="1462487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ángulo redondeado 5"/>
          <p:cNvSpPr/>
          <p:nvPr/>
        </p:nvSpPr>
        <p:spPr>
          <a:xfrm>
            <a:off x="457200" y="2046515"/>
            <a:ext cx="11277600" cy="3300548"/>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704850" y="964902"/>
            <a:ext cx="10782300"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Teorema del Límite Central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7" name="Rectángulo redondeado 6"/>
          <p:cNvSpPr/>
          <p:nvPr/>
        </p:nvSpPr>
        <p:spPr>
          <a:xfrm>
            <a:off x="692331" y="2255520"/>
            <a:ext cx="10807337" cy="2882538"/>
          </a:xfrm>
          <a:prstGeom prst="roundRect">
            <a:avLst>
              <a:gd name="adj" fmla="val 2971"/>
            </a:avLst>
          </a:prstGeom>
          <a:solidFill>
            <a:schemeClr val="bg1"/>
          </a:solidFill>
          <a:ln>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CuadroTexto 8">
            <a:extLst>
              <a:ext uri="{FF2B5EF4-FFF2-40B4-BE49-F238E27FC236}">
                <a16:creationId xmlns:a16="http://schemas.microsoft.com/office/drawing/2014/main" id="{C746CFDD-6FC3-5AA7-5C1D-362E2C5244F1}"/>
              </a:ext>
            </a:extLst>
          </p:cNvPr>
          <p:cNvSpPr txBox="1"/>
          <p:nvPr/>
        </p:nvSpPr>
        <p:spPr>
          <a:xfrm>
            <a:off x="784471" y="2404127"/>
            <a:ext cx="10623056" cy="2585323"/>
          </a:xfrm>
          <a:prstGeom prst="rect">
            <a:avLst/>
          </a:prstGeom>
          <a:noFill/>
          <a:ln>
            <a:noFill/>
          </a:ln>
        </p:spPr>
        <p:txBody>
          <a:bodyPr wrap="square" lIns="91440" tIns="45720" rIns="91440" bIns="45720" rtlCol="0" anchor="t">
            <a:spAutoFit/>
          </a:bodyPr>
          <a:lstStyle/>
          <a:p>
            <a:pPr algn="just"/>
            <a:r>
              <a:rPr lang="es-ES" dirty="0">
                <a:solidFill>
                  <a:schemeClr val="tx1">
                    <a:lumMod val="65000"/>
                    <a:lumOff val="35000"/>
                  </a:schemeClr>
                </a:solidFill>
                <a:latin typeface="+mn-lt"/>
                <a:ea typeface="Source Sans Pro"/>
              </a:rPr>
              <a:t>El teorema del límite central es importante en estadística porque </a:t>
            </a:r>
            <a:r>
              <a:rPr lang="es-ES" b="1" dirty="0">
                <a:solidFill>
                  <a:schemeClr val="tx1">
                    <a:lumMod val="65000"/>
                    <a:lumOff val="35000"/>
                  </a:schemeClr>
                </a:solidFill>
                <a:latin typeface="+mn-lt"/>
                <a:ea typeface="Source Sans Pro"/>
              </a:rPr>
              <a:t>permite hacer inferencias sobre la media o la proporción de una población a partir de una muestra aleatoria</a:t>
            </a:r>
            <a:r>
              <a:rPr lang="es-ES" dirty="0">
                <a:solidFill>
                  <a:schemeClr val="tx1">
                    <a:lumMod val="65000"/>
                    <a:lumOff val="35000"/>
                  </a:schemeClr>
                </a:solidFill>
                <a:latin typeface="+mn-lt"/>
                <a:ea typeface="Source Sans Pro"/>
              </a:rPr>
              <a:t>. Debido a que la distribución normal es bien conocida y fácilmente interpretable, el TLC permite hacer estimaciones y cálculos precisos sobre una población a partir de una muestra.</a:t>
            </a:r>
            <a:endParaRPr lang="es-ES"/>
          </a:p>
          <a:p>
            <a:pPr marL="285750" indent="-285750" algn="just">
              <a:buFont typeface="Wingdings" panose="05000000000000000000" pitchFamily="2" charset="2"/>
              <a:buChar char="Ø"/>
            </a:pPr>
            <a:endParaRPr lang="es-ES" dirty="0">
              <a:solidFill>
                <a:schemeClr val="tx1">
                  <a:lumMod val="65000"/>
                  <a:lumOff val="35000"/>
                </a:schemeClr>
              </a:solidFill>
              <a:latin typeface="+mn-lt"/>
              <a:ea typeface="Source Sans Pro"/>
            </a:endParaRPr>
          </a:p>
          <a:p>
            <a:pPr algn="just"/>
            <a:r>
              <a:rPr lang="es-ES" dirty="0">
                <a:solidFill>
                  <a:schemeClr val="tx1">
                    <a:lumMod val="65000"/>
                    <a:lumOff val="35000"/>
                  </a:schemeClr>
                </a:solidFill>
                <a:latin typeface="+mn-lt"/>
                <a:ea typeface="Source Sans Pro"/>
              </a:rPr>
              <a:t>Es importante tener en cuenta que el teorema del límite central se aplica solo si se cumplen ciertas condiciones, como la aleatoriedad de la muestra y la independencia de las observaciones. Además, en algunos casos, puede ser necesario usar una corrección si el tamaño de la muestra es pequeño o la distribución de probabilidad de la población es muy asimétrica.</a:t>
            </a:r>
            <a:endParaRPr lang="es-ES" dirty="0">
              <a:solidFill>
                <a:schemeClr val="tx1">
                  <a:lumMod val="65000"/>
                  <a:lumOff val="35000"/>
                </a:schemeClr>
              </a:solidFill>
              <a:latin typeface="+mn-lt"/>
              <a:ea typeface="Source Sans Pro"/>
              <a:cs typeface="Calibri" panose="020F0502020204030204"/>
            </a:endParaRPr>
          </a:p>
        </p:txBody>
      </p:sp>
    </p:spTree>
    <p:extLst>
      <p:ext uri="{BB962C8B-B14F-4D97-AF65-F5344CB8AC3E}">
        <p14:creationId xmlns:p14="http://schemas.microsoft.com/office/powerpoint/2010/main" val="1258056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1062447" y="2509010"/>
            <a:ext cx="9980022" cy="3221416"/>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78377" y="1135588"/>
            <a:ext cx="12357463" cy="1008063"/>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062446" y="362306"/>
            <a:ext cx="10230144" cy="595899"/>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Teorema del Límite Central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1062446" y="1319937"/>
            <a:ext cx="10049692" cy="646331"/>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Independiente de la distribución original, la distribución de los promedios de todas las posibles muestras de tamaño n será siempre de tipo normal.</a:t>
            </a:r>
          </a:p>
        </p:txBody>
      </p:sp>
      <p:pic>
        <p:nvPicPr>
          <p:cNvPr id="5" name="Picture 2">
            <a:extLst>
              <a:ext uri="{FF2B5EF4-FFF2-40B4-BE49-F238E27FC236}">
                <a16:creationId xmlns:a16="http://schemas.microsoft.com/office/drawing/2014/main" id="{852DC0A2-9EE9-85D5-0A40-2114378D2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4840" y="2648106"/>
            <a:ext cx="6553200" cy="2943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8484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298569" y="1147399"/>
            <a:ext cx="12716991" cy="5016137"/>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905691" y="513805"/>
            <a:ext cx="10354493" cy="500677"/>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Teorema del Límite Central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5" name="Rectángulo redondeado 4"/>
          <p:cNvSpPr/>
          <p:nvPr/>
        </p:nvSpPr>
        <p:spPr>
          <a:xfrm>
            <a:off x="578571" y="1336700"/>
            <a:ext cx="11038663" cy="4585128"/>
          </a:xfrm>
          <a:prstGeom prst="roundRect">
            <a:avLst>
              <a:gd name="adj" fmla="val 2971"/>
            </a:avLst>
          </a:prstGeom>
          <a:solidFill>
            <a:schemeClr val="bg1"/>
          </a:solidFill>
          <a:ln>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mc:AlternateContent xmlns:mc="http://schemas.openxmlformats.org/markup-compatibility/2006" xmlns:a14="http://schemas.microsoft.com/office/drawing/2010/main">
        <mc:Choice Requires="a14">
          <p:sp>
            <p:nvSpPr>
              <p:cNvPr id="9" name="CuadroTexto 8">
                <a:extLst>
                  <a:ext uri="{FF2B5EF4-FFF2-40B4-BE49-F238E27FC236}">
                    <a16:creationId xmlns:a16="http://schemas.microsoft.com/office/drawing/2014/main" id="{C746CFDD-6FC3-5AA7-5C1D-362E2C5244F1}"/>
                  </a:ext>
                </a:extLst>
              </p:cNvPr>
              <p:cNvSpPr txBox="1"/>
              <p:nvPr/>
            </p:nvSpPr>
            <p:spPr>
              <a:xfrm>
                <a:off x="983525" y="1604062"/>
                <a:ext cx="10215698" cy="4050404"/>
              </a:xfrm>
              <a:prstGeom prst="rect">
                <a:avLst/>
              </a:prstGeom>
              <a:noFill/>
              <a:ln>
                <a:noFill/>
              </a:ln>
            </p:spPr>
            <p:txBody>
              <a:bodyPr wrap="square" lIns="91440" tIns="45720" rIns="91440" bIns="45720" rtlCol="0" anchor="t">
                <a:spAutoFit/>
              </a:bodyPr>
              <a:lstStyle/>
              <a:p>
                <a:pPr algn="just"/>
                <a:r>
                  <a:rPr lang="es-ES" b="1" dirty="0">
                    <a:solidFill>
                      <a:schemeClr val="tx1">
                        <a:lumMod val="65000"/>
                        <a:lumOff val="35000"/>
                      </a:schemeClr>
                    </a:solidFill>
                    <a:latin typeface="+mn-lt"/>
                    <a:ea typeface="Source Sans Pro"/>
                  </a:rPr>
                  <a:t>TEOREMA:</a:t>
                </a:r>
              </a:p>
              <a:p>
                <a:pPr algn="just"/>
                <a:endParaRPr lang="es-ES" dirty="0">
                  <a:solidFill>
                    <a:schemeClr val="tx1">
                      <a:lumMod val="65000"/>
                      <a:lumOff val="35000"/>
                    </a:schemeClr>
                  </a:solidFill>
                  <a:latin typeface="+mn-lt"/>
                  <a:ea typeface="Source Sans Pro"/>
                </a:endParaRPr>
              </a:p>
              <a:p>
                <a:pPr algn="just"/>
                <a:r>
                  <a:rPr lang="es-ES" dirty="0">
                    <a:solidFill>
                      <a:schemeClr val="tx1">
                        <a:lumMod val="65000"/>
                        <a:lumOff val="35000"/>
                      </a:schemeClr>
                    </a:solidFill>
                    <a:latin typeface="+mn-lt"/>
                    <a:ea typeface="Source Sans Pro"/>
                  </a:rPr>
                  <a:t>Sea </a:t>
                </a:r>
                <a14:m>
                  <m:oMath xmlns:m="http://schemas.openxmlformats.org/officeDocument/2006/math">
                    <m:sSub>
                      <m:sSubPr>
                        <m:ctrlPr>
                          <a:rPr lang="es-CL" sz="1800" b="0" i="1" smtClean="0">
                            <a:solidFill>
                              <a:schemeClr val="tx1">
                                <a:lumMod val="65000"/>
                                <a:lumOff val="35000"/>
                              </a:schemeClr>
                            </a:solidFill>
                            <a:latin typeface="Cambria Math" panose="02040503050406030204" pitchFamily="18" charset="0"/>
                          </a:rPr>
                        </m:ctrlPr>
                      </m:sSubPr>
                      <m:e>
                        <m:r>
                          <a:rPr lang="es-CL" sz="1800" b="0" i="1" smtClean="0">
                            <a:solidFill>
                              <a:schemeClr val="tx1">
                                <a:lumMod val="65000"/>
                                <a:lumOff val="35000"/>
                              </a:schemeClr>
                            </a:solidFill>
                            <a:latin typeface="Cambria Math" panose="02040503050406030204" pitchFamily="18" charset="0"/>
                          </a:rPr>
                          <m:t>𝑋</m:t>
                        </m:r>
                      </m:e>
                      <m:sub>
                        <m:r>
                          <a:rPr lang="es-CL" sz="1800" b="0" i="1" smtClean="0">
                            <a:solidFill>
                              <a:schemeClr val="tx1">
                                <a:lumMod val="65000"/>
                                <a:lumOff val="35000"/>
                              </a:schemeClr>
                            </a:solidFill>
                            <a:latin typeface="Cambria Math" panose="02040503050406030204" pitchFamily="18" charset="0"/>
                          </a:rPr>
                          <m:t>1</m:t>
                        </m:r>
                      </m:sub>
                    </m:sSub>
                  </m:oMath>
                </a14:m>
                <a:r>
                  <a:rPr lang="es-ES" dirty="0">
                    <a:solidFill>
                      <a:schemeClr val="tx1">
                        <a:lumMod val="65000"/>
                        <a:lumOff val="35000"/>
                      </a:schemeClr>
                    </a:solidFill>
                    <a:latin typeface="+mn-lt"/>
                    <a:ea typeface="Source Sans Pro"/>
                  </a:rPr>
                  <a:t>, </a:t>
                </a:r>
                <a14:m>
                  <m:oMath xmlns:m="http://schemas.openxmlformats.org/officeDocument/2006/math">
                    <m:sSub>
                      <m:sSubPr>
                        <m:ctrlPr>
                          <a:rPr lang="es-CL" i="1">
                            <a:solidFill>
                              <a:schemeClr val="tx1">
                                <a:lumMod val="65000"/>
                                <a:lumOff val="35000"/>
                              </a:schemeClr>
                            </a:solidFill>
                            <a:latin typeface="Cambria Math" panose="02040503050406030204" pitchFamily="18" charset="0"/>
                          </a:rPr>
                        </m:ctrlPr>
                      </m:sSubPr>
                      <m:e>
                        <m:r>
                          <a:rPr lang="es-CL" i="1">
                            <a:solidFill>
                              <a:schemeClr val="tx1">
                                <a:lumMod val="65000"/>
                                <a:lumOff val="35000"/>
                              </a:schemeClr>
                            </a:solidFill>
                            <a:latin typeface="Cambria Math" panose="02040503050406030204" pitchFamily="18" charset="0"/>
                          </a:rPr>
                          <m:t>𝑋</m:t>
                        </m:r>
                      </m:e>
                      <m:sub>
                        <m:r>
                          <a:rPr lang="es-CL" b="0" i="1" smtClean="0">
                            <a:solidFill>
                              <a:schemeClr val="tx1">
                                <a:lumMod val="65000"/>
                                <a:lumOff val="35000"/>
                              </a:schemeClr>
                            </a:solidFill>
                            <a:latin typeface="Cambria Math" panose="02040503050406030204" pitchFamily="18" charset="0"/>
                          </a:rPr>
                          <m:t>2</m:t>
                        </m:r>
                      </m:sub>
                    </m:sSub>
                  </m:oMath>
                </a14:m>
                <a:r>
                  <a:rPr lang="es-ES" dirty="0">
                    <a:solidFill>
                      <a:schemeClr val="tx1">
                        <a:lumMod val="65000"/>
                        <a:lumOff val="35000"/>
                      </a:schemeClr>
                    </a:solidFill>
                    <a:latin typeface="+mn-lt"/>
                    <a:ea typeface="Source Sans Pro"/>
                  </a:rPr>
                  <a:t>,…, </a:t>
                </a:r>
                <a14:m>
                  <m:oMath xmlns:m="http://schemas.openxmlformats.org/officeDocument/2006/math">
                    <m:sSub>
                      <m:sSubPr>
                        <m:ctrlPr>
                          <a:rPr lang="es-CL" i="1">
                            <a:solidFill>
                              <a:schemeClr val="tx1">
                                <a:lumMod val="65000"/>
                                <a:lumOff val="35000"/>
                              </a:schemeClr>
                            </a:solidFill>
                            <a:latin typeface="Cambria Math" panose="02040503050406030204" pitchFamily="18" charset="0"/>
                          </a:rPr>
                        </m:ctrlPr>
                      </m:sSubPr>
                      <m:e>
                        <m:r>
                          <a:rPr lang="es-CL" i="1">
                            <a:solidFill>
                              <a:schemeClr val="tx1">
                                <a:lumMod val="65000"/>
                                <a:lumOff val="35000"/>
                              </a:schemeClr>
                            </a:solidFill>
                            <a:latin typeface="Cambria Math" panose="02040503050406030204" pitchFamily="18" charset="0"/>
                          </a:rPr>
                          <m:t>𝑋</m:t>
                        </m:r>
                      </m:e>
                      <m:sub>
                        <m:r>
                          <a:rPr lang="es-CL" b="0" i="1" smtClean="0">
                            <a:solidFill>
                              <a:schemeClr val="tx1">
                                <a:lumMod val="65000"/>
                                <a:lumOff val="35000"/>
                              </a:schemeClr>
                            </a:solidFill>
                            <a:latin typeface="Cambria Math" panose="02040503050406030204" pitchFamily="18" charset="0"/>
                          </a:rPr>
                          <m:t>𝑛</m:t>
                        </m:r>
                      </m:sub>
                    </m:sSub>
                  </m:oMath>
                </a14:m>
                <a:r>
                  <a:rPr lang="es-ES" dirty="0">
                    <a:solidFill>
                      <a:schemeClr val="tx1">
                        <a:lumMod val="65000"/>
                        <a:lumOff val="35000"/>
                      </a:schemeClr>
                    </a:solidFill>
                    <a:latin typeface="+mn-lt"/>
                    <a:ea typeface="Source Sans Pro"/>
                  </a:rPr>
                  <a:t> un conjunto de variables aleatorias, independientes e idénticamente distribuidas de una distribución con medias 𝜇 y varianza </a:t>
                </a:r>
                <a14:m>
                  <m:oMath xmlns:m="http://schemas.openxmlformats.org/officeDocument/2006/math">
                    <m:sSup>
                      <m:sSupPr>
                        <m:ctrlPr>
                          <a:rPr lang="es-CL" i="1">
                            <a:solidFill>
                              <a:schemeClr val="tx1">
                                <a:lumMod val="65000"/>
                                <a:lumOff val="35000"/>
                              </a:schemeClr>
                            </a:solidFill>
                            <a:latin typeface="Cambria Math" panose="02040503050406030204" pitchFamily="18" charset="0"/>
                          </a:rPr>
                        </m:ctrlPr>
                      </m:sSupPr>
                      <m:e>
                        <m:r>
                          <a:rPr lang="es-CL" i="1">
                            <a:solidFill>
                              <a:schemeClr val="tx1">
                                <a:lumMod val="65000"/>
                                <a:lumOff val="35000"/>
                              </a:schemeClr>
                            </a:solidFill>
                            <a:latin typeface="Cambria Math" panose="02040503050406030204" pitchFamily="18" charset="0"/>
                            <a:ea typeface="Cambria Math" panose="02040503050406030204" pitchFamily="18" charset="0"/>
                          </a:rPr>
                          <m:t>𝜎</m:t>
                        </m:r>
                      </m:e>
                      <m:sup>
                        <m:r>
                          <a:rPr lang="es-CL" i="1">
                            <a:solidFill>
                              <a:schemeClr val="tx1">
                                <a:lumMod val="65000"/>
                                <a:lumOff val="35000"/>
                              </a:schemeClr>
                            </a:solidFill>
                            <a:latin typeface="Cambria Math" panose="02040503050406030204" pitchFamily="18" charset="0"/>
                          </a:rPr>
                          <m:t>2</m:t>
                        </m:r>
                      </m:sup>
                    </m:sSup>
                    <m:r>
                      <a:rPr lang="es-CL" i="1">
                        <a:solidFill>
                          <a:schemeClr val="tx1">
                            <a:lumMod val="65000"/>
                            <a:lumOff val="35000"/>
                          </a:schemeClr>
                        </a:solidFill>
                        <a:latin typeface="Cambria Math" panose="02040503050406030204" pitchFamily="18" charset="0"/>
                      </a:rPr>
                      <m:t> </m:t>
                    </m:r>
                  </m:oMath>
                </a14:m>
                <a:r>
                  <a:rPr lang="es-ES" dirty="0">
                    <a:solidFill>
                      <a:schemeClr val="tx1">
                        <a:lumMod val="65000"/>
                        <a:lumOff val="35000"/>
                      </a:schemeClr>
                    </a:solidFill>
                    <a:latin typeface="+mn-lt"/>
                    <a:ea typeface="Source Sans Pro"/>
                  </a:rPr>
                  <a:t>≠ 0</a:t>
                </a:r>
              </a:p>
              <a:p>
                <a:pPr algn="just"/>
                <a:endParaRPr lang="es-ES" dirty="0">
                  <a:solidFill>
                    <a:schemeClr val="tx1">
                      <a:lumMod val="65000"/>
                      <a:lumOff val="35000"/>
                    </a:schemeClr>
                  </a:solidFill>
                  <a:latin typeface="+mn-lt"/>
                  <a:ea typeface="Source Sans Pro"/>
                </a:endParaRPr>
              </a:p>
              <a:p>
                <a:pPr algn="just"/>
                <a:r>
                  <a:rPr lang="es-ES" dirty="0">
                    <a:solidFill>
                      <a:schemeClr val="tx1">
                        <a:lumMod val="65000"/>
                        <a:lumOff val="35000"/>
                      </a:schemeClr>
                    </a:solidFill>
                    <a:latin typeface="+mn-lt"/>
                    <a:ea typeface="Source Sans Pro"/>
                  </a:rPr>
                  <a:t>Entonces, si n es suficientemente grande, la variable aleatoria:</a:t>
                </a:r>
              </a:p>
              <a:p>
                <a:pPr algn="just"/>
                <a:endParaRPr lang="es-ES" dirty="0">
                  <a:solidFill>
                    <a:schemeClr val="tx1">
                      <a:lumMod val="65000"/>
                      <a:lumOff val="35000"/>
                    </a:schemeClr>
                  </a:solidFill>
                  <a:latin typeface="+mn-lt"/>
                  <a:ea typeface="Source Sans Pro"/>
                </a:endParaRPr>
              </a:p>
              <a:p>
                <a:pPr algn="just"/>
                <a14:m>
                  <m:oMathPara xmlns:m="http://schemas.openxmlformats.org/officeDocument/2006/math">
                    <m:oMathParaPr>
                      <m:jc m:val="centerGroup"/>
                    </m:oMathParaPr>
                    <m:oMath xmlns:m="http://schemas.openxmlformats.org/officeDocument/2006/math">
                      <m:acc>
                        <m:accPr>
                          <m:chr m:val="̅"/>
                          <m:ctrlPr>
                            <a:rPr lang="es-CL" sz="1800" b="1" i="1" smtClean="0">
                              <a:solidFill>
                                <a:schemeClr val="tx1">
                                  <a:lumMod val="65000"/>
                                  <a:lumOff val="35000"/>
                                </a:schemeClr>
                              </a:solidFill>
                              <a:latin typeface="Cambria Math" panose="02040503050406030204" pitchFamily="18" charset="0"/>
                            </a:rPr>
                          </m:ctrlPr>
                        </m:accPr>
                        <m:e>
                          <m:r>
                            <a:rPr lang="es-CL" sz="1800" b="1" i="1" smtClean="0">
                              <a:solidFill>
                                <a:schemeClr val="tx1">
                                  <a:lumMod val="65000"/>
                                  <a:lumOff val="35000"/>
                                </a:schemeClr>
                              </a:solidFill>
                              <a:latin typeface="Cambria Math" panose="02040503050406030204" pitchFamily="18" charset="0"/>
                            </a:rPr>
                            <m:t>𝑿</m:t>
                          </m:r>
                        </m:e>
                      </m:acc>
                      <m:r>
                        <a:rPr lang="es-CL" sz="1800" b="1" i="1" smtClean="0">
                          <a:solidFill>
                            <a:schemeClr val="tx1">
                              <a:lumMod val="65000"/>
                              <a:lumOff val="35000"/>
                            </a:schemeClr>
                          </a:solidFill>
                          <a:latin typeface="Cambria Math" panose="02040503050406030204" pitchFamily="18" charset="0"/>
                        </a:rPr>
                        <m:t>=</m:t>
                      </m:r>
                      <m:f>
                        <m:fPr>
                          <m:ctrlPr>
                            <a:rPr lang="es-CL" sz="1800" b="1" i="1" smtClean="0">
                              <a:solidFill>
                                <a:schemeClr val="tx1">
                                  <a:lumMod val="65000"/>
                                  <a:lumOff val="35000"/>
                                </a:schemeClr>
                              </a:solidFill>
                              <a:latin typeface="Cambria Math" panose="02040503050406030204" pitchFamily="18" charset="0"/>
                            </a:rPr>
                          </m:ctrlPr>
                        </m:fPr>
                        <m:num>
                          <m:r>
                            <a:rPr lang="es-CL" sz="1800" b="1" i="1" smtClean="0">
                              <a:solidFill>
                                <a:schemeClr val="tx1">
                                  <a:lumMod val="65000"/>
                                  <a:lumOff val="35000"/>
                                </a:schemeClr>
                              </a:solidFill>
                              <a:latin typeface="Cambria Math" panose="02040503050406030204" pitchFamily="18" charset="0"/>
                            </a:rPr>
                            <m:t>𝟏</m:t>
                          </m:r>
                        </m:num>
                        <m:den>
                          <m:r>
                            <a:rPr lang="es-CL" sz="1800" b="1" i="1" smtClean="0">
                              <a:solidFill>
                                <a:schemeClr val="tx1">
                                  <a:lumMod val="65000"/>
                                  <a:lumOff val="35000"/>
                                </a:schemeClr>
                              </a:solidFill>
                              <a:latin typeface="Cambria Math" panose="02040503050406030204" pitchFamily="18" charset="0"/>
                            </a:rPr>
                            <m:t>𝒏</m:t>
                          </m:r>
                        </m:den>
                      </m:f>
                      <m:nary>
                        <m:naryPr>
                          <m:chr m:val="∑"/>
                          <m:ctrlPr>
                            <a:rPr lang="es-CL" sz="1800" b="1" i="1" smtClean="0">
                              <a:solidFill>
                                <a:schemeClr val="tx1">
                                  <a:lumMod val="65000"/>
                                  <a:lumOff val="35000"/>
                                </a:schemeClr>
                              </a:solidFill>
                              <a:latin typeface="Cambria Math" panose="02040503050406030204" pitchFamily="18" charset="0"/>
                            </a:rPr>
                          </m:ctrlPr>
                        </m:naryPr>
                        <m:sub>
                          <m:r>
                            <m:rPr>
                              <m:brk m:alnAt="23"/>
                            </m:rPr>
                            <a:rPr lang="es-CL" sz="1800" b="1" i="1" smtClean="0">
                              <a:solidFill>
                                <a:schemeClr val="tx1">
                                  <a:lumMod val="65000"/>
                                  <a:lumOff val="35000"/>
                                </a:schemeClr>
                              </a:solidFill>
                              <a:latin typeface="Cambria Math" panose="02040503050406030204" pitchFamily="18" charset="0"/>
                            </a:rPr>
                            <m:t>𝒊</m:t>
                          </m:r>
                          <m:r>
                            <a:rPr lang="es-CL" sz="1800" b="1" i="1" smtClean="0">
                              <a:solidFill>
                                <a:schemeClr val="tx1">
                                  <a:lumMod val="65000"/>
                                  <a:lumOff val="35000"/>
                                </a:schemeClr>
                              </a:solidFill>
                              <a:latin typeface="Cambria Math" panose="02040503050406030204" pitchFamily="18" charset="0"/>
                            </a:rPr>
                            <m:t>=</m:t>
                          </m:r>
                          <m:r>
                            <a:rPr lang="es-CL" sz="1800" b="1" i="1" smtClean="0">
                              <a:solidFill>
                                <a:schemeClr val="tx1">
                                  <a:lumMod val="65000"/>
                                  <a:lumOff val="35000"/>
                                </a:schemeClr>
                              </a:solidFill>
                              <a:latin typeface="Cambria Math" panose="02040503050406030204" pitchFamily="18" charset="0"/>
                            </a:rPr>
                            <m:t>𝟏</m:t>
                          </m:r>
                        </m:sub>
                        <m:sup>
                          <m:r>
                            <a:rPr lang="es-CL" sz="1800" b="1" i="1" smtClean="0">
                              <a:solidFill>
                                <a:schemeClr val="tx1">
                                  <a:lumMod val="65000"/>
                                  <a:lumOff val="35000"/>
                                </a:schemeClr>
                              </a:solidFill>
                              <a:latin typeface="Cambria Math" panose="02040503050406030204" pitchFamily="18" charset="0"/>
                            </a:rPr>
                            <m:t>𝒏</m:t>
                          </m:r>
                        </m:sup>
                        <m:e>
                          <m:sSub>
                            <m:sSubPr>
                              <m:ctrlPr>
                                <a:rPr lang="es-CL" sz="1800" b="1" i="1" smtClean="0">
                                  <a:solidFill>
                                    <a:schemeClr val="tx1">
                                      <a:lumMod val="65000"/>
                                      <a:lumOff val="35000"/>
                                    </a:schemeClr>
                                  </a:solidFill>
                                  <a:latin typeface="Cambria Math" panose="02040503050406030204" pitchFamily="18" charset="0"/>
                                </a:rPr>
                              </m:ctrlPr>
                            </m:sSubPr>
                            <m:e>
                              <m:r>
                                <a:rPr lang="es-CL" sz="1800" b="1" i="1" smtClean="0">
                                  <a:solidFill>
                                    <a:schemeClr val="tx1">
                                      <a:lumMod val="65000"/>
                                      <a:lumOff val="35000"/>
                                    </a:schemeClr>
                                  </a:solidFill>
                                  <a:latin typeface="Cambria Math" panose="02040503050406030204" pitchFamily="18" charset="0"/>
                                </a:rPr>
                                <m:t>𝑿</m:t>
                              </m:r>
                            </m:e>
                            <m:sub>
                              <m:r>
                                <a:rPr lang="es-CL" sz="1800" b="1" i="1" smtClean="0">
                                  <a:solidFill>
                                    <a:schemeClr val="tx1">
                                      <a:lumMod val="65000"/>
                                      <a:lumOff val="35000"/>
                                    </a:schemeClr>
                                  </a:solidFill>
                                  <a:latin typeface="Cambria Math" panose="02040503050406030204" pitchFamily="18" charset="0"/>
                                </a:rPr>
                                <m:t>𝒊</m:t>
                              </m:r>
                            </m:sub>
                          </m:sSub>
                        </m:e>
                      </m:nary>
                    </m:oMath>
                  </m:oMathPara>
                </a14:m>
                <a:endParaRPr lang="es-ES" b="1" dirty="0">
                  <a:solidFill>
                    <a:schemeClr val="tx1">
                      <a:lumMod val="65000"/>
                      <a:lumOff val="35000"/>
                    </a:schemeClr>
                  </a:solidFill>
                  <a:latin typeface="+mn-lt"/>
                  <a:ea typeface="Source Sans Pro"/>
                </a:endParaRPr>
              </a:p>
              <a:p>
                <a:pPr algn="just"/>
                <a:endParaRPr lang="es-ES" dirty="0">
                  <a:solidFill>
                    <a:schemeClr val="tx1">
                      <a:lumMod val="65000"/>
                      <a:lumOff val="35000"/>
                    </a:schemeClr>
                  </a:solidFill>
                  <a:latin typeface="+mn-lt"/>
                  <a:ea typeface="Source Sans Pro"/>
                </a:endParaRPr>
              </a:p>
              <a:p>
                <a:pPr algn="just"/>
                <a:r>
                  <a:rPr lang="es-ES" dirty="0">
                    <a:solidFill>
                      <a:schemeClr val="tx1">
                        <a:lumMod val="65000"/>
                        <a:lumOff val="35000"/>
                      </a:schemeClr>
                    </a:solidFill>
                    <a:latin typeface="+mn-lt"/>
                    <a:ea typeface="Source Sans Pro"/>
                  </a:rPr>
                  <a:t>Tiene aproximadamente una distribución normal con:</a:t>
                </a:r>
              </a:p>
              <a:p>
                <a:pPr marL="285750" indent="-285750" algn="just">
                  <a:buFont typeface="Arial" panose="020B0604020202020204" pitchFamily="34" charset="0"/>
                  <a:buChar char="•"/>
                </a:pPr>
                <a:endParaRPr lang="es-ES" dirty="0">
                  <a:solidFill>
                    <a:schemeClr val="tx1">
                      <a:lumMod val="65000"/>
                      <a:lumOff val="35000"/>
                    </a:schemeClr>
                  </a:solidFill>
                  <a:latin typeface="+mn-lt"/>
                  <a:ea typeface="Source Sans Pro"/>
                </a:endParaRPr>
              </a:p>
              <a:p>
                <a:pPr algn="ctr"/>
                <a14:m>
                  <m:oMath xmlns:m="http://schemas.openxmlformats.org/officeDocument/2006/math">
                    <m:sSub>
                      <m:sSubPr>
                        <m:ctrlPr>
                          <a:rPr lang="es-CL" sz="1800" b="1" i="1" smtClean="0">
                            <a:solidFill>
                              <a:schemeClr val="tx1">
                                <a:lumMod val="65000"/>
                                <a:lumOff val="35000"/>
                              </a:schemeClr>
                            </a:solidFill>
                            <a:latin typeface="Cambria Math" panose="02040503050406030204" pitchFamily="18" charset="0"/>
                          </a:rPr>
                        </m:ctrlPr>
                      </m:sSubPr>
                      <m:e>
                        <m:r>
                          <a:rPr lang="es-CL" sz="1800" b="1" i="1" smtClean="0">
                            <a:solidFill>
                              <a:schemeClr val="tx1">
                                <a:lumMod val="65000"/>
                                <a:lumOff val="35000"/>
                              </a:schemeClr>
                            </a:solidFill>
                            <a:latin typeface="Cambria Math" panose="02040503050406030204" pitchFamily="18" charset="0"/>
                            <a:ea typeface="Cambria Math" panose="02040503050406030204" pitchFamily="18" charset="0"/>
                          </a:rPr>
                          <m:t>𝝁</m:t>
                        </m:r>
                      </m:e>
                      <m:sub>
                        <m:acc>
                          <m:accPr>
                            <m:chr m:val="̅"/>
                            <m:ctrlPr>
                              <a:rPr lang="es-CL" sz="1800" b="1" i="1" smtClean="0">
                                <a:solidFill>
                                  <a:schemeClr val="tx1">
                                    <a:lumMod val="65000"/>
                                    <a:lumOff val="35000"/>
                                  </a:schemeClr>
                                </a:solidFill>
                                <a:latin typeface="Cambria Math" panose="02040503050406030204" pitchFamily="18" charset="0"/>
                              </a:rPr>
                            </m:ctrlPr>
                          </m:accPr>
                          <m:e>
                            <m:r>
                              <a:rPr lang="es-CL" sz="1800" b="1" i="1" smtClean="0">
                                <a:solidFill>
                                  <a:schemeClr val="tx1">
                                    <a:lumMod val="65000"/>
                                    <a:lumOff val="35000"/>
                                  </a:schemeClr>
                                </a:solidFill>
                                <a:latin typeface="Cambria Math" panose="02040503050406030204" pitchFamily="18" charset="0"/>
                              </a:rPr>
                              <m:t>𝑿</m:t>
                            </m:r>
                          </m:e>
                        </m:acc>
                      </m:sub>
                    </m:sSub>
                    <m:r>
                      <a:rPr lang="es-CL" sz="1800" b="1" i="1" smtClean="0">
                        <a:solidFill>
                          <a:schemeClr val="tx1">
                            <a:lumMod val="65000"/>
                            <a:lumOff val="35000"/>
                          </a:schemeClr>
                        </a:solidFill>
                        <a:latin typeface="Cambria Math" panose="02040503050406030204" pitchFamily="18" charset="0"/>
                      </a:rPr>
                      <m:t>=</m:t>
                    </m:r>
                    <m:r>
                      <a:rPr lang="es-CL" sz="1800" b="1" i="1" smtClean="0">
                        <a:solidFill>
                          <a:schemeClr val="tx1">
                            <a:lumMod val="65000"/>
                            <a:lumOff val="35000"/>
                          </a:schemeClr>
                        </a:solidFill>
                        <a:latin typeface="Cambria Math" panose="02040503050406030204" pitchFamily="18" charset="0"/>
                        <a:ea typeface="Cambria Math" panose="02040503050406030204" pitchFamily="18" charset="0"/>
                      </a:rPr>
                      <m:t>𝝁</m:t>
                    </m:r>
                  </m:oMath>
                </a14:m>
                <a:r>
                  <a:rPr lang="es-CL" sz="1800" b="1" dirty="0">
                    <a:solidFill>
                      <a:schemeClr val="tx1">
                        <a:lumMod val="65000"/>
                        <a:lumOff val="35000"/>
                      </a:schemeClr>
                    </a:solidFill>
                    <a:latin typeface="+mn-lt"/>
                  </a:rPr>
                  <a:t>       y       </a:t>
                </a:r>
                <a14:m>
                  <m:oMath xmlns:m="http://schemas.openxmlformats.org/officeDocument/2006/math">
                    <m:sSubSup>
                      <m:sSubSupPr>
                        <m:ctrlPr>
                          <a:rPr lang="es-CL" sz="1800" b="1" i="1" smtClean="0">
                            <a:solidFill>
                              <a:schemeClr val="tx1">
                                <a:lumMod val="65000"/>
                                <a:lumOff val="35000"/>
                              </a:schemeClr>
                            </a:solidFill>
                            <a:latin typeface="Cambria Math" panose="02040503050406030204" pitchFamily="18" charset="0"/>
                          </a:rPr>
                        </m:ctrlPr>
                      </m:sSubSupPr>
                      <m:e>
                        <m:r>
                          <a:rPr lang="es-CL" sz="1800" b="1" i="1" smtClean="0">
                            <a:solidFill>
                              <a:schemeClr val="tx1">
                                <a:lumMod val="65000"/>
                                <a:lumOff val="35000"/>
                              </a:schemeClr>
                            </a:solidFill>
                            <a:latin typeface="Cambria Math" panose="02040503050406030204" pitchFamily="18" charset="0"/>
                            <a:ea typeface="Cambria Math" panose="02040503050406030204" pitchFamily="18" charset="0"/>
                          </a:rPr>
                          <m:t>𝝈</m:t>
                        </m:r>
                      </m:e>
                      <m:sub>
                        <m:acc>
                          <m:accPr>
                            <m:chr m:val="̅"/>
                            <m:ctrlPr>
                              <a:rPr lang="es-CL" sz="1800" b="1" i="1" smtClean="0">
                                <a:solidFill>
                                  <a:schemeClr val="tx1">
                                    <a:lumMod val="65000"/>
                                    <a:lumOff val="35000"/>
                                  </a:schemeClr>
                                </a:solidFill>
                                <a:latin typeface="Cambria Math" panose="02040503050406030204" pitchFamily="18" charset="0"/>
                              </a:rPr>
                            </m:ctrlPr>
                          </m:accPr>
                          <m:e>
                            <m:r>
                              <a:rPr lang="es-CL" sz="1800" b="1" i="1" smtClean="0">
                                <a:solidFill>
                                  <a:schemeClr val="tx1">
                                    <a:lumMod val="65000"/>
                                    <a:lumOff val="35000"/>
                                  </a:schemeClr>
                                </a:solidFill>
                                <a:latin typeface="Cambria Math" panose="02040503050406030204" pitchFamily="18" charset="0"/>
                              </a:rPr>
                              <m:t>𝑿</m:t>
                            </m:r>
                          </m:e>
                        </m:acc>
                      </m:sub>
                      <m:sup>
                        <m:r>
                          <a:rPr lang="es-CL" sz="1800" b="1" i="1" smtClean="0">
                            <a:solidFill>
                              <a:schemeClr val="tx1">
                                <a:lumMod val="65000"/>
                                <a:lumOff val="35000"/>
                              </a:schemeClr>
                            </a:solidFill>
                            <a:latin typeface="Cambria Math" panose="02040503050406030204" pitchFamily="18" charset="0"/>
                          </a:rPr>
                          <m:t>𝟐</m:t>
                        </m:r>
                      </m:sup>
                    </m:sSubSup>
                    <m:r>
                      <a:rPr lang="es-CL" sz="1800" b="1" i="1" smtClean="0">
                        <a:solidFill>
                          <a:schemeClr val="tx1">
                            <a:lumMod val="65000"/>
                            <a:lumOff val="35000"/>
                          </a:schemeClr>
                        </a:solidFill>
                        <a:latin typeface="Cambria Math" panose="02040503050406030204" pitchFamily="18" charset="0"/>
                      </a:rPr>
                      <m:t>=</m:t>
                    </m:r>
                    <m:f>
                      <m:fPr>
                        <m:ctrlPr>
                          <a:rPr lang="es-CL" sz="1800" b="1" i="1" smtClean="0">
                            <a:solidFill>
                              <a:schemeClr val="tx1">
                                <a:lumMod val="65000"/>
                                <a:lumOff val="35000"/>
                              </a:schemeClr>
                            </a:solidFill>
                            <a:latin typeface="Cambria Math" panose="02040503050406030204" pitchFamily="18" charset="0"/>
                          </a:rPr>
                        </m:ctrlPr>
                      </m:fPr>
                      <m:num>
                        <m:sSup>
                          <m:sSupPr>
                            <m:ctrlPr>
                              <a:rPr lang="es-CL" sz="1800" b="1" i="1" smtClean="0">
                                <a:solidFill>
                                  <a:schemeClr val="tx1">
                                    <a:lumMod val="65000"/>
                                    <a:lumOff val="35000"/>
                                  </a:schemeClr>
                                </a:solidFill>
                                <a:latin typeface="Cambria Math" panose="02040503050406030204" pitchFamily="18" charset="0"/>
                              </a:rPr>
                            </m:ctrlPr>
                          </m:sSupPr>
                          <m:e>
                            <m:r>
                              <a:rPr lang="es-CL" sz="1800" b="1" i="1" smtClean="0">
                                <a:solidFill>
                                  <a:schemeClr val="tx1">
                                    <a:lumMod val="65000"/>
                                    <a:lumOff val="35000"/>
                                  </a:schemeClr>
                                </a:solidFill>
                                <a:latin typeface="Cambria Math" panose="02040503050406030204" pitchFamily="18" charset="0"/>
                                <a:ea typeface="Cambria Math" panose="02040503050406030204" pitchFamily="18" charset="0"/>
                              </a:rPr>
                              <m:t>𝝈</m:t>
                            </m:r>
                          </m:e>
                          <m:sup>
                            <m:r>
                              <a:rPr lang="es-CL" sz="1800" b="1" i="1" smtClean="0">
                                <a:solidFill>
                                  <a:schemeClr val="tx1">
                                    <a:lumMod val="65000"/>
                                    <a:lumOff val="35000"/>
                                  </a:schemeClr>
                                </a:solidFill>
                                <a:latin typeface="Cambria Math" panose="02040503050406030204" pitchFamily="18" charset="0"/>
                              </a:rPr>
                              <m:t>𝟐</m:t>
                            </m:r>
                          </m:sup>
                        </m:sSup>
                      </m:num>
                      <m:den>
                        <m:r>
                          <a:rPr lang="es-CL" sz="1800" b="1" i="1" smtClean="0">
                            <a:solidFill>
                              <a:schemeClr val="tx1">
                                <a:lumMod val="65000"/>
                                <a:lumOff val="35000"/>
                              </a:schemeClr>
                            </a:solidFill>
                            <a:latin typeface="Cambria Math" panose="02040503050406030204" pitchFamily="18" charset="0"/>
                          </a:rPr>
                          <m:t>𝒏</m:t>
                        </m:r>
                      </m:den>
                    </m:f>
                  </m:oMath>
                </a14:m>
                <a:endParaRPr lang="es-ES" b="1" dirty="0">
                  <a:solidFill>
                    <a:schemeClr val="bg1"/>
                  </a:solidFill>
                  <a:latin typeface="+mn-lt"/>
                  <a:ea typeface="Source Sans Pro"/>
                </a:endParaRPr>
              </a:p>
            </p:txBody>
          </p:sp>
        </mc:Choice>
        <mc:Fallback xmlns="">
          <p:sp>
            <p:nvSpPr>
              <p:cNvPr id="9" name="CuadroTexto 8">
                <a:extLst>
                  <a:ext uri="{FF2B5EF4-FFF2-40B4-BE49-F238E27FC236}">
                    <a16:creationId xmlns:a16="http://schemas.microsoft.com/office/drawing/2014/main" id="{C746CFDD-6FC3-5AA7-5C1D-362E2C5244F1}"/>
                  </a:ext>
                </a:extLst>
              </p:cNvPr>
              <p:cNvSpPr txBox="1">
                <a:spLocks noRot="1" noChangeAspect="1" noMove="1" noResize="1" noEditPoints="1" noAdjustHandles="1" noChangeArrowheads="1" noChangeShapeType="1" noTextEdit="1"/>
              </p:cNvSpPr>
              <p:nvPr/>
            </p:nvSpPr>
            <p:spPr>
              <a:xfrm>
                <a:off x="983525" y="1604062"/>
                <a:ext cx="10215698" cy="4050404"/>
              </a:xfrm>
              <a:prstGeom prst="rect">
                <a:avLst/>
              </a:prstGeom>
              <a:blipFill>
                <a:blip r:embed="rId2"/>
                <a:stretch>
                  <a:fillRect l="-477" t="-752" r="-537" b="-301"/>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2090953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p:cNvSpPr txBox="1">
            <a:spLocks/>
          </p:cNvSpPr>
          <p:nvPr/>
        </p:nvSpPr>
        <p:spPr bwMode="auto">
          <a:xfrm>
            <a:off x="731520" y="411726"/>
            <a:ext cx="10878094" cy="505098"/>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2" name="Rectángulo redondeado 1"/>
          <p:cNvSpPr/>
          <p:nvPr/>
        </p:nvSpPr>
        <p:spPr>
          <a:xfrm>
            <a:off x="457199" y="1008061"/>
            <a:ext cx="11277601" cy="3659733"/>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CuadroTexto 8">
            <a:extLst>
              <a:ext uri="{FF2B5EF4-FFF2-40B4-BE49-F238E27FC236}">
                <a16:creationId xmlns:a16="http://schemas.microsoft.com/office/drawing/2014/main" id="{C746CFDD-6FC3-5AA7-5C1D-362E2C5244F1}"/>
              </a:ext>
            </a:extLst>
          </p:cNvPr>
          <p:cNvSpPr txBox="1"/>
          <p:nvPr/>
        </p:nvSpPr>
        <p:spPr>
          <a:xfrm>
            <a:off x="731520" y="1630625"/>
            <a:ext cx="3596641" cy="2031325"/>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Imagina que tienes una empresa que vende productos en línea y quieres analizar el número de ventas por día. Durante un mes, has estado registrando el número de ventas diarias y has obtenido </a:t>
            </a:r>
            <a:r>
              <a:rPr lang="es-ES" b="1" dirty="0">
                <a:solidFill>
                  <a:schemeClr val="bg1"/>
                </a:solidFill>
                <a:latin typeface="+mn-lt"/>
                <a:ea typeface="Source Sans Pro"/>
              </a:rPr>
              <a:t>los siguientes resultados:</a:t>
            </a:r>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4578251" y="1227219"/>
            <a:ext cx="6936393" cy="3221416"/>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7" name="Rectángulo redondeado 1">
            <a:extLst>
              <a:ext uri="{FF2B5EF4-FFF2-40B4-BE49-F238E27FC236}">
                <a16:creationId xmlns:a16="http://schemas.microsoft.com/office/drawing/2014/main" id="{2487968D-EA1D-4F20-7D41-8FB7962EC6F8}"/>
              </a:ext>
            </a:extLst>
          </p:cNvPr>
          <p:cNvSpPr/>
          <p:nvPr/>
        </p:nvSpPr>
        <p:spPr>
          <a:xfrm>
            <a:off x="457200" y="4913354"/>
            <a:ext cx="11277600" cy="825595"/>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8" name="CuadroTexto 7">
            <a:extLst>
              <a:ext uri="{FF2B5EF4-FFF2-40B4-BE49-F238E27FC236}">
                <a16:creationId xmlns:a16="http://schemas.microsoft.com/office/drawing/2014/main" id="{3BACCCC3-3190-3912-F14D-379F7F2816CD}"/>
              </a:ext>
            </a:extLst>
          </p:cNvPr>
          <p:cNvSpPr txBox="1"/>
          <p:nvPr/>
        </p:nvSpPr>
        <p:spPr>
          <a:xfrm>
            <a:off x="731520" y="4984551"/>
            <a:ext cx="10783124" cy="646331"/>
          </a:xfrm>
          <a:prstGeom prst="rect">
            <a:avLst/>
          </a:prstGeom>
          <a:noFill/>
          <a:ln>
            <a:noFill/>
          </a:ln>
        </p:spPr>
        <p:txBody>
          <a:bodyPr wrap="square" lIns="91440" tIns="45720" rIns="91440" bIns="45720" rtlCol="0" anchor="t">
            <a:spAutoFit/>
          </a:bodyPr>
          <a:lstStyle/>
          <a:p>
            <a:pPr algn="just"/>
            <a:r>
              <a:rPr lang="es-ES" b="1" dirty="0">
                <a:solidFill>
                  <a:schemeClr val="bg1"/>
                </a:solidFill>
                <a:latin typeface="+mn-lt"/>
                <a:ea typeface="Source Sans Pro"/>
              </a:rPr>
              <a:t>Puedes calcular la media de ventas diarias para este período de 10 días, que es:</a:t>
            </a:r>
          </a:p>
          <a:p>
            <a:pPr algn="just"/>
            <a:r>
              <a:rPr lang="es-ES" dirty="0">
                <a:solidFill>
                  <a:schemeClr val="bg1"/>
                </a:solidFill>
                <a:latin typeface="+mn-lt"/>
                <a:ea typeface="Source Sans Pro"/>
              </a:rPr>
              <a:t>(10 + 12 + 9 + 11 + 13 + 8 + 14 + 10 + 9 + 11) / 10 = 11 ventas por día.</a:t>
            </a:r>
          </a:p>
        </p:txBody>
      </p:sp>
      <p:pic>
        <p:nvPicPr>
          <p:cNvPr id="6" name="Imagen 5">
            <a:extLst>
              <a:ext uri="{FF2B5EF4-FFF2-40B4-BE49-F238E27FC236}">
                <a16:creationId xmlns:a16="http://schemas.microsoft.com/office/drawing/2014/main" id="{02DCC853-B0F7-7D23-0D93-4A84FE0E389D}"/>
              </a:ext>
            </a:extLst>
          </p:cNvPr>
          <p:cNvPicPr>
            <a:picLocks noChangeAspect="1"/>
          </p:cNvPicPr>
          <p:nvPr/>
        </p:nvPicPr>
        <p:blipFill>
          <a:blip r:embed="rId2"/>
          <a:stretch>
            <a:fillRect/>
          </a:stretch>
        </p:blipFill>
        <p:spPr>
          <a:xfrm>
            <a:off x="6879231" y="1472780"/>
            <a:ext cx="4502327" cy="2562460"/>
          </a:xfrm>
          <a:prstGeom prst="rect">
            <a:avLst/>
          </a:prstGeom>
        </p:spPr>
      </p:pic>
      <p:sp>
        <p:nvSpPr>
          <p:cNvPr id="4" name="CuadroTexto 3">
            <a:extLst>
              <a:ext uri="{FF2B5EF4-FFF2-40B4-BE49-F238E27FC236}">
                <a16:creationId xmlns:a16="http://schemas.microsoft.com/office/drawing/2014/main" id="{50D60D63-AF8B-9A46-91C0-0C677DD47D08}"/>
              </a:ext>
            </a:extLst>
          </p:cNvPr>
          <p:cNvSpPr txBox="1"/>
          <p:nvPr/>
        </p:nvSpPr>
        <p:spPr>
          <a:xfrm>
            <a:off x="4673664" y="1630625"/>
            <a:ext cx="2205567" cy="2246769"/>
          </a:xfrm>
          <a:prstGeom prst="rect">
            <a:avLst/>
          </a:prstGeom>
          <a:noFill/>
        </p:spPr>
        <p:txBody>
          <a:bodyPr wrap="square">
            <a:spAutoFit/>
          </a:bodyPr>
          <a:lstStyle/>
          <a:p>
            <a:r>
              <a:rPr lang="es-ES" sz="1400" dirty="0">
                <a:latin typeface="Consolas" panose="020B0609020204030204" pitchFamily="49" charset="0"/>
              </a:rPr>
              <a:t>Día 1: 10 ventas</a:t>
            </a:r>
          </a:p>
          <a:p>
            <a:r>
              <a:rPr lang="es-ES" sz="1400" dirty="0">
                <a:latin typeface="Consolas" panose="020B0609020204030204" pitchFamily="49" charset="0"/>
              </a:rPr>
              <a:t>Día 2: 12 ventas</a:t>
            </a:r>
          </a:p>
          <a:p>
            <a:r>
              <a:rPr lang="es-ES" sz="1400" dirty="0">
                <a:latin typeface="Consolas" panose="020B0609020204030204" pitchFamily="49" charset="0"/>
              </a:rPr>
              <a:t>Día 3: 9 ventas</a:t>
            </a:r>
          </a:p>
          <a:p>
            <a:r>
              <a:rPr lang="es-ES" sz="1400" dirty="0">
                <a:latin typeface="Consolas" panose="020B0609020204030204" pitchFamily="49" charset="0"/>
              </a:rPr>
              <a:t>Día 4: 11 ventas</a:t>
            </a:r>
          </a:p>
          <a:p>
            <a:r>
              <a:rPr lang="es-ES" sz="1400" dirty="0">
                <a:latin typeface="Consolas" panose="020B0609020204030204" pitchFamily="49" charset="0"/>
              </a:rPr>
              <a:t>Día 5: 13 ventas</a:t>
            </a:r>
          </a:p>
          <a:p>
            <a:r>
              <a:rPr lang="es-ES" sz="1400" dirty="0">
                <a:latin typeface="Consolas" panose="020B0609020204030204" pitchFamily="49" charset="0"/>
              </a:rPr>
              <a:t>Día 6: 8 ventas</a:t>
            </a:r>
          </a:p>
          <a:p>
            <a:r>
              <a:rPr lang="es-ES" sz="1400" dirty="0">
                <a:latin typeface="Consolas" panose="020B0609020204030204" pitchFamily="49" charset="0"/>
              </a:rPr>
              <a:t>Día 7: 14 ventas</a:t>
            </a:r>
          </a:p>
          <a:p>
            <a:r>
              <a:rPr lang="es-ES" sz="1400" dirty="0">
                <a:latin typeface="Consolas" panose="020B0609020204030204" pitchFamily="49" charset="0"/>
              </a:rPr>
              <a:t>Día 8: 10 ventas</a:t>
            </a:r>
          </a:p>
          <a:p>
            <a:r>
              <a:rPr lang="es-ES" sz="1400" dirty="0">
                <a:latin typeface="Consolas" panose="020B0609020204030204" pitchFamily="49" charset="0"/>
              </a:rPr>
              <a:t>Día 9: 9 ventas</a:t>
            </a:r>
          </a:p>
          <a:p>
            <a:r>
              <a:rPr lang="es-ES" sz="1400" dirty="0">
                <a:latin typeface="Consolas" panose="020B0609020204030204" pitchFamily="49" charset="0"/>
              </a:rPr>
              <a:t>Día 10: 11 ventas</a:t>
            </a:r>
          </a:p>
        </p:txBody>
      </p:sp>
    </p:spTree>
    <p:extLst>
      <p:ext uri="{BB962C8B-B14F-4D97-AF65-F5344CB8AC3E}">
        <p14:creationId xmlns:p14="http://schemas.microsoft.com/office/powerpoint/2010/main" val="1199397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465909" y="1138742"/>
            <a:ext cx="11277600" cy="4800503"/>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5935469" y="1332331"/>
            <a:ext cx="5606143" cy="4380665"/>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878156" y="461241"/>
            <a:ext cx="10782300" cy="456559"/>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25756" y="1335821"/>
            <a:ext cx="5047837" cy="4524315"/>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El teorema del límite central establece que, en una muestra grande de observaciones independientes de una misma variable aleatoria, la distribución de la media muestral se aproxima a una distribución normal, independientemente de la distribución original. En otras palabras, si tomamos muestras de tamaño suficientemente grande de las ventas diarias, la distribución de las medias muestrales se parecerá cada vez más a una distribución normal, incluso si la distribución original de las ventas diarias no es normal.</a:t>
            </a:r>
          </a:p>
          <a:p>
            <a:pPr algn="just"/>
            <a:endParaRPr lang="es-ES" dirty="0">
              <a:solidFill>
                <a:schemeClr val="bg1"/>
              </a:solidFill>
              <a:latin typeface="+mn-lt"/>
              <a:ea typeface="Source Sans Pro"/>
            </a:endParaRPr>
          </a:p>
          <a:p>
            <a:pPr algn="just"/>
            <a:r>
              <a:rPr lang="es-ES" dirty="0">
                <a:solidFill>
                  <a:schemeClr val="bg1"/>
                </a:solidFill>
                <a:latin typeface="+mn-lt"/>
                <a:ea typeface="Source Sans Pro"/>
              </a:rPr>
              <a:t>Así que, si tomamos muchas muestras de tamaño suficientemente grande de las ventas diarias, la distribución de las medias muestrales se aproximará a una distribución normal.</a:t>
            </a:r>
          </a:p>
        </p:txBody>
      </p:sp>
      <p:pic>
        <p:nvPicPr>
          <p:cNvPr id="4" name="Imagen 3">
            <a:extLst>
              <a:ext uri="{FF2B5EF4-FFF2-40B4-BE49-F238E27FC236}">
                <a16:creationId xmlns:a16="http://schemas.microsoft.com/office/drawing/2014/main" id="{F5AADCB7-BFCB-AB5E-C6C2-630723211307}"/>
              </a:ext>
            </a:extLst>
          </p:cNvPr>
          <p:cNvPicPr>
            <a:picLocks noChangeAspect="1"/>
          </p:cNvPicPr>
          <p:nvPr/>
        </p:nvPicPr>
        <p:blipFill>
          <a:blip r:embed="rId2"/>
          <a:stretch>
            <a:fillRect/>
          </a:stretch>
        </p:blipFill>
        <p:spPr>
          <a:xfrm>
            <a:off x="6261347" y="2240223"/>
            <a:ext cx="4758444" cy="2699436"/>
          </a:xfrm>
          <a:prstGeom prst="rect">
            <a:avLst/>
          </a:prstGeom>
        </p:spPr>
      </p:pic>
    </p:spTree>
    <p:extLst>
      <p:ext uri="{BB962C8B-B14F-4D97-AF65-F5344CB8AC3E}">
        <p14:creationId xmlns:p14="http://schemas.microsoft.com/office/powerpoint/2010/main" val="31517565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487680" y="2043371"/>
            <a:ext cx="10622280" cy="2317314"/>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9" name="CuadroTexto 8">
            <a:extLst>
              <a:ext uri="{FF2B5EF4-FFF2-40B4-BE49-F238E27FC236}">
                <a16:creationId xmlns:a16="http://schemas.microsoft.com/office/drawing/2014/main" id="{C746CFDD-6FC3-5AA7-5C1D-362E2C5244F1}"/>
              </a:ext>
            </a:extLst>
          </p:cNvPr>
          <p:cNvSpPr txBox="1"/>
          <p:nvPr/>
        </p:nvSpPr>
        <p:spPr>
          <a:xfrm>
            <a:off x="801189" y="2373452"/>
            <a:ext cx="8987245" cy="1754326"/>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Podemos entonces utilizar esta distribución normal para hacer inferencias estadísticas y para responder preguntas como "¿Cuál es la probabilidad de tener menos de 9 ventas en un día determinado?"</a:t>
            </a:r>
            <a:endParaRPr lang="es-ES"/>
          </a:p>
          <a:p>
            <a:pPr marL="285750" indent="-285750" algn="just">
              <a:buFont typeface="Wingdings" panose="05000000000000000000" pitchFamily="2" charset="2"/>
              <a:buChar char="Ø"/>
            </a:pPr>
            <a:endParaRPr lang="es-ES" dirty="0">
              <a:solidFill>
                <a:schemeClr val="bg1"/>
              </a:solidFill>
              <a:latin typeface="+mn-lt"/>
              <a:ea typeface="Source Sans Pro"/>
            </a:endParaRPr>
          </a:p>
          <a:p>
            <a:pPr algn="just"/>
            <a:r>
              <a:rPr lang="es-ES" dirty="0">
                <a:solidFill>
                  <a:schemeClr val="bg1"/>
                </a:solidFill>
                <a:latin typeface="+mn-lt"/>
                <a:ea typeface="Source Sans Pro"/>
              </a:rPr>
              <a:t>Por lo tanto, el teorema del límite central es una herramienta valiosa para hacer inferencias estadísticas y para entender mejor la distribución de una variable aleatoria.</a:t>
            </a:r>
            <a:endParaRPr lang="es-ES" dirty="0">
              <a:solidFill>
                <a:schemeClr val="bg1"/>
              </a:solidFill>
              <a:latin typeface="+mn-lt"/>
              <a:ea typeface="Source Sans Pro"/>
              <a:cs typeface="Calibri" panose="020F0502020204030204"/>
            </a:endParaRPr>
          </a:p>
        </p:txBody>
      </p:sp>
      <p:sp>
        <p:nvSpPr>
          <p:cNvPr id="5" name="Título 1">
            <a:extLst>
              <a:ext uri="{FF2B5EF4-FFF2-40B4-BE49-F238E27FC236}">
                <a16:creationId xmlns:a16="http://schemas.microsoft.com/office/drawing/2014/main" id="{B28B3DCB-34FE-E29C-8D2B-5495ADE4CD10}"/>
              </a:ext>
            </a:extLst>
          </p:cNvPr>
          <p:cNvSpPr txBox="1">
            <a:spLocks/>
          </p:cNvSpPr>
          <p:nvPr/>
        </p:nvSpPr>
        <p:spPr bwMode="auto">
          <a:xfrm>
            <a:off x="801189" y="1435862"/>
            <a:ext cx="10685961" cy="582219"/>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0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29048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6750424" y="1617238"/>
            <a:ext cx="5018913" cy="712894"/>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16" name="Rectángulo redondeado 4">
            <a:extLst>
              <a:ext uri="{FF2B5EF4-FFF2-40B4-BE49-F238E27FC236}">
                <a16:creationId xmlns:a16="http://schemas.microsoft.com/office/drawing/2014/main" id="{EEF64A50-BFC1-6219-5B5B-FB92BB3A07A2}"/>
              </a:ext>
            </a:extLst>
          </p:cNvPr>
          <p:cNvSpPr/>
          <p:nvPr/>
        </p:nvSpPr>
        <p:spPr>
          <a:xfrm>
            <a:off x="445030" y="374167"/>
            <a:ext cx="6457950" cy="6187998"/>
          </a:xfrm>
          <a:prstGeom prst="roundRect">
            <a:avLst>
              <a:gd name="adj" fmla="val 2971"/>
            </a:avLst>
          </a:prstGeom>
          <a:solidFill>
            <a:schemeClr val="bg1"/>
          </a:solidFill>
          <a:ln w="381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7403863" y="832689"/>
            <a:ext cx="3565509" cy="513696"/>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362265" y="1742852"/>
            <a:ext cx="2366682" cy="461665"/>
          </a:xfrm>
          <a:prstGeom prst="rect">
            <a:avLst/>
          </a:prstGeom>
          <a:noFill/>
          <a:ln>
            <a:noFill/>
          </a:ln>
        </p:spPr>
        <p:txBody>
          <a:bodyPr wrap="square" lIns="91440" tIns="45720" rIns="91440" bIns="45720" rtlCol="0" anchor="t">
            <a:spAutoFit/>
          </a:bodyPr>
          <a:lstStyle/>
          <a:p>
            <a:pPr algn="ctr"/>
            <a:r>
              <a:rPr lang="es-ES" sz="2400" dirty="0">
                <a:solidFill>
                  <a:schemeClr val="bg1"/>
                </a:solidFill>
                <a:latin typeface="+mn-lt"/>
                <a:ea typeface="Source Sans Pro"/>
              </a:rPr>
              <a:t>Código Python.</a:t>
            </a:r>
          </a:p>
        </p:txBody>
      </p:sp>
      <p:pic>
        <p:nvPicPr>
          <p:cNvPr id="5" name="Imagen 4">
            <a:extLst>
              <a:ext uri="{FF2B5EF4-FFF2-40B4-BE49-F238E27FC236}">
                <a16:creationId xmlns:a16="http://schemas.microsoft.com/office/drawing/2014/main" id="{2DF14F2B-2859-4A8B-7CEE-47763076D949}"/>
              </a:ext>
            </a:extLst>
          </p:cNvPr>
          <p:cNvPicPr>
            <a:picLocks noChangeAspect="1"/>
          </p:cNvPicPr>
          <p:nvPr/>
        </p:nvPicPr>
        <p:blipFill>
          <a:blip r:embed="rId2"/>
          <a:stretch>
            <a:fillRect/>
          </a:stretch>
        </p:blipFill>
        <p:spPr>
          <a:xfrm>
            <a:off x="709288" y="1168399"/>
            <a:ext cx="5946041" cy="5164290"/>
          </a:xfrm>
          <a:prstGeom prst="rect">
            <a:avLst/>
          </a:prstGeom>
        </p:spPr>
      </p:pic>
      <p:pic>
        <p:nvPicPr>
          <p:cNvPr id="7" name="Imagen 6">
            <a:extLst>
              <a:ext uri="{FF2B5EF4-FFF2-40B4-BE49-F238E27FC236}">
                <a16:creationId xmlns:a16="http://schemas.microsoft.com/office/drawing/2014/main" id="{15BC4A03-FD59-FD6B-6452-54ED63A4DB75}"/>
              </a:ext>
            </a:extLst>
          </p:cNvPr>
          <p:cNvPicPr>
            <a:picLocks noChangeAspect="1"/>
          </p:cNvPicPr>
          <p:nvPr/>
        </p:nvPicPr>
        <p:blipFill>
          <a:blip r:embed="rId3"/>
          <a:stretch>
            <a:fillRect/>
          </a:stretch>
        </p:blipFill>
        <p:spPr>
          <a:xfrm>
            <a:off x="700984" y="600439"/>
            <a:ext cx="5946041" cy="501017"/>
          </a:xfrm>
          <a:prstGeom prst="rect">
            <a:avLst/>
          </a:prstGeom>
        </p:spPr>
      </p:pic>
    </p:spTree>
    <p:extLst>
      <p:ext uri="{BB962C8B-B14F-4D97-AF65-F5344CB8AC3E}">
        <p14:creationId xmlns:p14="http://schemas.microsoft.com/office/powerpoint/2010/main" val="3631454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redondeado 1"/>
          <p:cNvSpPr/>
          <p:nvPr/>
        </p:nvSpPr>
        <p:spPr>
          <a:xfrm>
            <a:off x="457200" y="1591311"/>
            <a:ext cx="11277600" cy="3735233"/>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765811" y="579861"/>
            <a:ext cx="10782300" cy="624656"/>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 2</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04851" y="1692456"/>
            <a:ext cx="10782300" cy="1200329"/>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Supongamos que estás interesado en estudiar el tiempo que tarda una persona promedio en completar una prueba de matemáticas en línea. Realizas un experimento en el que haces que 100 personas diferentes tomen la prueba y registras el tiempo que tardan en completarla. Supongamos que los tiempos que obtuviste son los siguientes:</a:t>
            </a:r>
          </a:p>
        </p:txBody>
      </p:sp>
      <p:sp>
        <p:nvSpPr>
          <p:cNvPr id="4" name="Rectángulo redondeado 4">
            <a:extLst>
              <a:ext uri="{FF2B5EF4-FFF2-40B4-BE49-F238E27FC236}">
                <a16:creationId xmlns:a16="http://schemas.microsoft.com/office/drawing/2014/main" id="{0E36A2ED-B4B1-CF5A-EA4D-65F63B4A16A5}"/>
              </a:ext>
            </a:extLst>
          </p:cNvPr>
          <p:cNvSpPr/>
          <p:nvPr/>
        </p:nvSpPr>
        <p:spPr>
          <a:xfrm>
            <a:off x="700978" y="2998327"/>
            <a:ext cx="10772734" cy="2131698"/>
          </a:xfrm>
          <a:prstGeom prst="roundRect">
            <a:avLst>
              <a:gd name="adj" fmla="val 2971"/>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6" name="CuadroTexto 5">
            <a:extLst>
              <a:ext uri="{FF2B5EF4-FFF2-40B4-BE49-F238E27FC236}">
                <a16:creationId xmlns:a16="http://schemas.microsoft.com/office/drawing/2014/main" id="{F28883DA-BF40-2817-B429-14CC83FED94D}"/>
              </a:ext>
            </a:extLst>
          </p:cNvPr>
          <p:cNvSpPr txBox="1"/>
          <p:nvPr/>
        </p:nvSpPr>
        <p:spPr>
          <a:xfrm>
            <a:off x="3540408" y="3212447"/>
            <a:ext cx="4271354" cy="1754326"/>
          </a:xfrm>
          <a:prstGeom prst="rect">
            <a:avLst/>
          </a:prstGeom>
          <a:noFill/>
        </p:spPr>
        <p:txBody>
          <a:bodyPr wrap="square">
            <a:spAutoFit/>
          </a:bodyPr>
          <a:lstStyle/>
          <a:p>
            <a:r>
              <a:rPr lang="es-CL" sz="1200" dirty="0"/>
              <a:t>[90.2, 89.5, 92.1, 88.6, 91.3, 89.8, 90.5, 91.9, 89.2, 92.5, 88.7,</a:t>
            </a:r>
          </a:p>
          <a:p>
            <a:r>
              <a:rPr lang="es-CL" sz="1200" dirty="0"/>
              <a:t>       90.1, 91.8, 89.9, 91.2, 90.8, 88.3, 92. , 90.7, 89.1, 91.6, 89.7,</a:t>
            </a:r>
          </a:p>
          <a:p>
            <a:r>
              <a:rPr lang="es-CL" sz="1200" dirty="0"/>
              <a:t>       90.3, 91.1, 90.6, 89.8, 92.2, 89.6, 90.4, 91.7, 90. , 88.9, 92.3,</a:t>
            </a:r>
          </a:p>
          <a:p>
            <a:r>
              <a:rPr lang="es-CL" sz="1200" dirty="0"/>
              <a:t>       89.4, 91. , 90.9, 88.5, 92.4, 89.3, 91.4, 91.5, 88.8, 90.6, 92.6,</a:t>
            </a:r>
          </a:p>
          <a:p>
            <a:r>
              <a:rPr lang="es-CL" sz="1200" dirty="0"/>
              <a:t>       91.2, 90.2, 89.1, 92.1, 89.5, 91.9, 90.3, 88.7, 92.5, 90.8, 89.6,</a:t>
            </a:r>
          </a:p>
          <a:p>
            <a:r>
              <a:rPr lang="es-CL" sz="1200" dirty="0"/>
              <a:t>       91.6, 89.8, 91.1, 90.5, 89.9, 91.8, 90.4, 89.7, 91. , 92.2, 88.9,</a:t>
            </a:r>
          </a:p>
          <a:p>
            <a:r>
              <a:rPr lang="es-CL" sz="1200" dirty="0"/>
              <a:t>       91.7, 90. , 89.2, 92.3, 90.7, 91.4, 91.5, 88.6, 92.4, 89.4, 90.1,</a:t>
            </a:r>
          </a:p>
          <a:p>
            <a:r>
              <a:rPr lang="es-CL" sz="1200" dirty="0"/>
              <a:t>       91.2, 90.6, 88.3, 92. , 89.3, 91.3, 91.6, 88.8, 90.6, 92.6, 91.1,</a:t>
            </a:r>
          </a:p>
          <a:p>
            <a:r>
              <a:rPr lang="es-CL" sz="1200" dirty="0"/>
              <a:t>       89.8, 90.2, 92.5, 91.9, 90.5, 89.9, 91.8, 88.7, 91.6, 90.3, 90. ]</a:t>
            </a:r>
          </a:p>
        </p:txBody>
      </p:sp>
    </p:spTree>
    <p:extLst>
      <p:ext uri="{BB962C8B-B14F-4D97-AF65-F5344CB8AC3E}">
        <p14:creationId xmlns:p14="http://schemas.microsoft.com/office/powerpoint/2010/main" val="4054548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704850" y="1611871"/>
            <a:ext cx="10782300" cy="4787584"/>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113211" y="991150"/>
            <a:ext cx="12418422" cy="369332"/>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704850" y="248367"/>
            <a:ext cx="10782300" cy="491394"/>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Ejemplo 2</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704851" y="991150"/>
            <a:ext cx="10782300" cy="369332"/>
          </a:xfrm>
          <a:prstGeom prst="rect">
            <a:avLst/>
          </a:prstGeom>
          <a:noFill/>
          <a:ln>
            <a:noFill/>
          </a:ln>
        </p:spPr>
        <p:txBody>
          <a:bodyPr wrap="square" lIns="91440" tIns="45720" rIns="91440" bIns="45720" rtlCol="0" anchor="t">
            <a:spAutoFit/>
          </a:bodyPr>
          <a:lstStyle/>
          <a:p>
            <a:pPr algn="just"/>
            <a:r>
              <a:rPr lang="es-ES" dirty="0">
                <a:solidFill>
                  <a:schemeClr val="bg1"/>
                </a:solidFill>
                <a:latin typeface="+mn-lt"/>
                <a:ea typeface="Source Sans Pro"/>
              </a:rPr>
              <a:t>Obtenemos el siguiente resultado en Python:</a:t>
            </a:r>
          </a:p>
        </p:txBody>
      </p:sp>
      <p:pic>
        <p:nvPicPr>
          <p:cNvPr id="5" name="Imagen 4">
            <a:extLst>
              <a:ext uri="{FF2B5EF4-FFF2-40B4-BE49-F238E27FC236}">
                <a16:creationId xmlns:a16="http://schemas.microsoft.com/office/drawing/2014/main" id="{0BABF81C-6509-674B-C701-855C0139A0E4}"/>
              </a:ext>
            </a:extLst>
          </p:cNvPr>
          <p:cNvPicPr>
            <a:picLocks noChangeAspect="1"/>
          </p:cNvPicPr>
          <p:nvPr/>
        </p:nvPicPr>
        <p:blipFill>
          <a:blip r:embed="rId2"/>
          <a:stretch>
            <a:fillRect/>
          </a:stretch>
        </p:blipFill>
        <p:spPr>
          <a:xfrm>
            <a:off x="951089" y="2843714"/>
            <a:ext cx="4499783" cy="2552699"/>
          </a:xfrm>
          <a:prstGeom prst="rect">
            <a:avLst/>
          </a:prstGeom>
        </p:spPr>
      </p:pic>
      <p:pic>
        <p:nvPicPr>
          <p:cNvPr id="6" name="Imagen 5">
            <a:extLst>
              <a:ext uri="{FF2B5EF4-FFF2-40B4-BE49-F238E27FC236}">
                <a16:creationId xmlns:a16="http://schemas.microsoft.com/office/drawing/2014/main" id="{E965E0A4-4805-C3A6-F17D-0AE6F49F6D46}"/>
              </a:ext>
            </a:extLst>
          </p:cNvPr>
          <p:cNvPicPr>
            <a:picLocks noChangeAspect="1"/>
          </p:cNvPicPr>
          <p:nvPr/>
        </p:nvPicPr>
        <p:blipFill>
          <a:blip r:embed="rId3"/>
          <a:stretch>
            <a:fillRect/>
          </a:stretch>
        </p:blipFill>
        <p:spPr>
          <a:xfrm>
            <a:off x="5641398" y="1860870"/>
            <a:ext cx="5470903" cy="4260716"/>
          </a:xfrm>
          <a:prstGeom prst="rect">
            <a:avLst/>
          </a:prstGeom>
        </p:spPr>
      </p:pic>
    </p:spTree>
    <p:extLst>
      <p:ext uri="{BB962C8B-B14F-4D97-AF65-F5344CB8AC3E}">
        <p14:creationId xmlns:p14="http://schemas.microsoft.com/office/powerpoint/2010/main" val="4178946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1600200" y="1333500"/>
            <a:ext cx="8991600" cy="5010150"/>
          </a:xfrm>
          <a:prstGeom prst="roundRect">
            <a:avLst>
              <a:gd name="adj" fmla="val 2971"/>
            </a:avLst>
          </a:prstGeom>
          <a:solidFill>
            <a:srgbClr val="F8F8F8"/>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3" name="Título 1"/>
          <p:cNvSpPr txBox="1">
            <a:spLocks/>
          </p:cNvSpPr>
          <p:nvPr/>
        </p:nvSpPr>
        <p:spPr bwMode="auto">
          <a:xfrm>
            <a:off x="1515035" y="209770"/>
            <a:ext cx="7403086" cy="1008062"/>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Teorema del Límite Central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pic>
        <p:nvPicPr>
          <p:cNvPr id="2" name="Picture 4" descr="La duda en la cabeza | Descargar Iconos gratis">
            <a:extLst>
              <a:ext uri="{FF2B5EF4-FFF2-40B4-BE49-F238E27FC236}">
                <a16:creationId xmlns:a16="http://schemas.microsoft.com/office/drawing/2014/main" id="{E792600C-475C-2C6C-61BE-97529271D31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4297" t="9401" r="13767"/>
          <a:stretch/>
        </p:blipFill>
        <p:spPr bwMode="auto">
          <a:xfrm>
            <a:off x="6510187" y="2603413"/>
            <a:ext cx="3563980" cy="3478124"/>
          </a:xfrm>
          <a:prstGeom prst="rect">
            <a:avLst/>
          </a:prstGeom>
          <a:noFill/>
          <a:effectLst>
            <a:softEdge rad="63500"/>
          </a:effectLst>
          <a:extLst>
            <a:ext uri="{909E8E84-426E-40DD-AFC4-6F175D3DCCD1}">
              <a14:hiddenFill xmlns:a14="http://schemas.microsoft.com/office/drawing/2010/main">
                <a:solidFill>
                  <a:srgbClr val="FFFFFF"/>
                </a:solidFill>
              </a14:hiddenFill>
            </a:ext>
          </a:extLst>
        </p:spPr>
      </p:pic>
      <p:sp>
        <p:nvSpPr>
          <p:cNvPr id="5" name="Bocadillo: rectángulo con esquinas redondeadas 4">
            <a:extLst>
              <a:ext uri="{FF2B5EF4-FFF2-40B4-BE49-F238E27FC236}">
                <a16:creationId xmlns:a16="http://schemas.microsoft.com/office/drawing/2014/main" id="{FF825174-E447-96F9-82AB-81DA20CB5A24}"/>
              </a:ext>
            </a:extLst>
          </p:cNvPr>
          <p:cNvSpPr/>
          <p:nvPr/>
        </p:nvSpPr>
        <p:spPr>
          <a:xfrm>
            <a:off x="2175254" y="1564836"/>
            <a:ext cx="4888919" cy="1181146"/>
          </a:xfrm>
          <a:prstGeom prst="wedgeRoundRectCallout">
            <a:avLst>
              <a:gd name="adj1" fmla="val 51001"/>
              <a:gd name="adj2" fmla="val 106804"/>
              <a:gd name="adj3" fmla="val 16667"/>
            </a:avLst>
          </a:prstGeom>
          <a:ln w="28575">
            <a:solidFill>
              <a:schemeClr val="bg2">
                <a:lumMod val="75000"/>
              </a:schemeClr>
            </a:solidFill>
          </a:ln>
        </p:spPr>
        <p:style>
          <a:lnRef idx="2">
            <a:schemeClr val="accent2"/>
          </a:lnRef>
          <a:fillRef idx="1">
            <a:schemeClr val="lt1"/>
          </a:fillRef>
          <a:effectRef idx="0">
            <a:schemeClr val="accent2"/>
          </a:effectRef>
          <a:fontRef idx="minor">
            <a:schemeClr val="dk1"/>
          </a:fontRef>
        </p:style>
        <p:txBody>
          <a:bodyPr lIns="91440" tIns="45720" rIns="91440" bIns="45720" rtlCol="0" anchor="ctr"/>
          <a:lstStyle/>
          <a:p>
            <a:pPr algn="ctr"/>
            <a:r>
              <a:rPr lang="es-CL" dirty="0">
                <a:solidFill>
                  <a:schemeClr val="tx1">
                    <a:lumMod val="65000"/>
                    <a:lumOff val="35000"/>
                  </a:schemeClr>
                </a:solidFill>
              </a:rPr>
              <a:t>¿Y esto funciona si tomo muestras que se distribuyen con otras distribuciones?</a:t>
            </a:r>
          </a:p>
          <a:p>
            <a:pPr algn="ctr"/>
            <a:r>
              <a:rPr lang="es-CL" dirty="0">
                <a:solidFill>
                  <a:schemeClr val="tx1">
                    <a:lumMod val="65000"/>
                    <a:lumOff val="35000"/>
                  </a:schemeClr>
                </a:solidFill>
              </a:rPr>
              <a:t>por ejemplo, una exponencial</a:t>
            </a:r>
            <a:endParaRPr lang="es-CL">
              <a:solidFill>
                <a:schemeClr val="tx1">
                  <a:lumMod val="65000"/>
                  <a:lumOff val="35000"/>
                </a:schemeClr>
              </a:solidFill>
              <a:ea typeface="Calibri"/>
              <a:cs typeface="Calibri"/>
            </a:endParaRPr>
          </a:p>
        </p:txBody>
      </p:sp>
    </p:spTree>
    <p:extLst>
      <p:ext uri="{BB962C8B-B14F-4D97-AF65-F5344CB8AC3E}">
        <p14:creationId xmlns:p14="http://schemas.microsoft.com/office/powerpoint/2010/main" val="554561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1622612" y="2002891"/>
            <a:ext cx="9000563" cy="4465709"/>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0" y="1273950"/>
            <a:ext cx="12192000" cy="535779"/>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a:p>
        </p:txBody>
      </p:sp>
      <p:sp>
        <p:nvSpPr>
          <p:cNvPr id="3" name="Título 1"/>
          <p:cNvSpPr txBox="1">
            <a:spLocks/>
          </p:cNvSpPr>
          <p:nvPr/>
        </p:nvSpPr>
        <p:spPr bwMode="auto">
          <a:xfrm>
            <a:off x="1748118" y="603154"/>
            <a:ext cx="9640421" cy="552721"/>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Teorema del Límite Central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1748118" y="1355356"/>
            <a:ext cx="9739031" cy="369332"/>
          </a:xfrm>
          <a:prstGeom prst="rect">
            <a:avLst/>
          </a:prstGeom>
          <a:noFill/>
          <a:ln>
            <a:noFill/>
          </a:ln>
        </p:spPr>
        <p:txBody>
          <a:bodyPr wrap="square" lIns="91440" tIns="45720" rIns="91440" bIns="45720" rtlCol="0" anchor="t">
            <a:spAutoFit/>
          </a:bodyPr>
          <a:lstStyle/>
          <a:p>
            <a:r>
              <a:rPr lang="es-ES" dirty="0">
                <a:solidFill>
                  <a:schemeClr val="bg1"/>
                </a:solidFill>
                <a:latin typeface="+mn-lt"/>
                <a:ea typeface="Source Sans Pro"/>
              </a:rPr>
              <a:t>Tomemos números aleatorios de una distribución exponencial.</a:t>
            </a:r>
          </a:p>
        </p:txBody>
      </p:sp>
      <p:pic>
        <p:nvPicPr>
          <p:cNvPr id="4" name="Imagen 3">
            <a:extLst>
              <a:ext uri="{FF2B5EF4-FFF2-40B4-BE49-F238E27FC236}">
                <a16:creationId xmlns:a16="http://schemas.microsoft.com/office/drawing/2014/main" id="{8B438ED3-BC53-92D6-6BFD-CB93275387CA}"/>
              </a:ext>
            </a:extLst>
          </p:cNvPr>
          <p:cNvPicPr>
            <a:picLocks noChangeAspect="1"/>
          </p:cNvPicPr>
          <p:nvPr/>
        </p:nvPicPr>
        <p:blipFill>
          <a:blip r:embed="rId2"/>
          <a:stretch>
            <a:fillRect/>
          </a:stretch>
        </p:blipFill>
        <p:spPr>
          <a:xfrm>
            <a:off x="4248150" y="3850550"/>
            <a:ext cx="3695700" cy="2362200"/>
          </a:xfrm>
          <a:prstGeom prst="rect">
            <a:avLst/>
          </a:prstGeom>
        </p:spPr>
      </p:pic>
      <p:grpSp>
        <p:nvGrpSpPr>
          <p:cNvPr id="6" name="Grupo 5">
            <a:extLst>
              <a:ext uri="{FF2B5EF4-FFF2-40B4-BE49-F238E27FC236}">
                <a16:creationId xmlns:a16="http://schemas.microsoft.com/office/drawing/2014/main" id="{94107741-6818-0868-2C43-695B1953B7A8}"/>
              </a:ext>
            </a:extLst>
          </p:cNvPr>
          <p:cNvGrpSpPr/>
          <p:nvPr/>
        </p:nvGrpSpPr>
        <p:grpSpPr>
          <a:xfrm>
            <a:off x="3786766" y="2241143"/>
            <a:ext cx="4594578" cy="1133566"/>
            <a:chOff x="3646312" y="1614312"/>
            <a:chExt cx="4594578" cy="1133566"/>
          </a:xfrm>
        </p:grpSpPr>
        <p:sp>
          <p:nvSpPr>
            <p:cNvPr id="7" name="Rectángulo 6">
              <a:extLst>
                <a:ext uri="{FF2B5EF4-FFF2-40B4-BE49-F238E27FC236}">
                  <a16:creationId xmlns:a16="http://schemas.microsoft.com/office/drawing/2014/main" id="{9E5D14E5-3883-4FAA-4520-38D809C38F38}"/>
                </a:ext>
              </a:extLst>
            </p:cNvPr>
            <p:cNvSpPr/>
            <p:nvPr/>
          </p:nvSpPr>
          <p:spPr>
            <a:xfrm>
              <a:off x="3646312" y="1614312"/>
              <a:ext cx="4594578" cy="1133566"/>
            </a:xfrm>
            <a:prstGeom prst="rect">
              <a:avLst/>
            </a:prstGeom>
            <a:solidFill>
              <a:srgbClr val="2525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8" name="Imagen 7">
              <a:extLst>
                <a:ext uri="{FF2B5EF4-FFF2-40B4-BE49-F238E27FC236}">
                  <a16:creationId xmlns:a16="http://schemas.microsoft.com/office/drawing/2014/main" id="{8554411E-DFB5-5CFA-5CE1-03C92CFAE003}"/>
                </a:ext>
              </a:extLst>
            </p:cNvPr>
            <p:cNvPicPr>
              <a:picLocks noChangeAspect="1"/>
            </p:cNvPicPr>
            <p:nvPr/>
          </p:nvPicPr>
          <p:blipFill>
            <a:blip r:embed="rId3"/>
            <a:stretch>
              <a:fillRect/>
            </a:stretch>
          </p:blipFill>
          <p:spPr>
            <a:xfrm>
              <a:off x="3774017" y="1706780"/>
              <a:ext cx="4363059" cy="609685"/>
            </a:xfrm>
            <a:prstGeom prst="rect">
              <a:avLst/>
            </a:prstGeom>
          </p:spPr>
        </p:pic>
        <p:pic>
          <p:nvPicPr>
            <p:cNvPr id="12" name="Imagen 11">
              <a:extLst>
                <a:ext uri="{FF2B5EF4-FFF2-40B4-BE49-F238E27FC236}">
                  <a16:creationId xmlns:a16="http://schemas.microsoft.com/office/drawing/2014/main" id="{8C850DA6-425C-5732-2869-575E17BA352D}"/>
                </a:ext>
              </a:extLst>
            </p:cNvPr>
            <p:cNvPicPr>
              <a:picLocks noChangeAspect="1"/>
            </p:cNvPicPr>
            <p:nvPr/>
          </p:nvPicPr>
          <p:blipFill>
            <a:blip r:embed="rId4"/>
            <a:stretch>
              <a:fillRect/>
            </a:stretch>
          </p:blipFill>
          <p:spPr>
            <a:xfrm>
              <a:off x="3774017" y="2316465"/>
              <a:ext cx="4274916" cy="431413"/>
            </a:xfrm>
            <a:prstGeom prst="rect">
              <a:avLst/>
            </a:prstGeom>
          </p:spPr>
        </p:pic>
      </p:grpSp>
    </p:spTree>
    <p:extLst>
      <p:ext uri="{BB962C8B-B14F-4D97-AF65-F5344CB8AC3E}">
        <p14:creationId xmlns:p14="http://schemas.microsoft.com/office/powerpoint/2010/main" val="5700293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ángulo redondeado 4">
            <a:extLst>
              <a:ext uri="{FF2B5EF4-FFF2-40B4-BE49-F238E27FC236}">
                <a16:creationId xmlns:a16="http://schemas.microsoft.com/office/drawing/2014/main" id="{EEF64A50-BFC1-6219-5B5B-FB92BB3A07A2}"/>
              </a:ext>
            </a:extLst>
          </p:cNvPr>
          <p:cNvSpPr/>
          <p:nvPr/>
        </p:nvSpPr>
        <p:spPr>
          <a:xfrm>
            <a:off x="704850" y="2726656"/>
            <a:ext cx="10782300" cy="3480282"/>
          </a:xfrm>
          <a:prstGeom prst="roundRect">
            <a:avLst>
              <a:gd name="adj" fmla="val 2971"/>
            </a:avLst>
          </a:prstGeom>
          <a:solidFill>
            <a:schemeClr val="bg1"/>
          </a:solidFill>
          <a:ln w="38100">
            <a:solidFill>
              <a:srgbClr val="98327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CL" sz="1800" dirty="0"/>
          </a:p>
        </p:txBody>
      </p:sp>
      <p:sp>
        <p:nvSpPr>
          <p:cNvPr id="2" name="Rectángulo redondeado 1"/>
          <p:cNvSpPr/>
          <p:nvPr/>
        </p:nvSpPr>
        <p:spPr>
          <a:xfrm>
            <a:off x="704850" y="1303725"/>
            <a:ext cx="10782300" cy="1175741"/>
          </a:xfrm>
          <a:prstGeom prst="roundRect">
            <a:avLst>
              <a:gd name="adj" fmla="val 2971"/>
            </a:avLst>
          </a:prstGeom>
          <a:gradFill flip="none" rotWithShape="1">
            <a:gsLst>
              <a:gs pos="0">
                <a:srgbClr val="983275">
                  <a:shade val="30000"/>
                  <a:satMod val="115000"/>
                </a:srgbClr>
              </a:gs>
              <a:gs pos="50000">
                <a:srgbClr val="983275">
                  <a:shade val="67500"/>
                  <a:satMod val="115000"/>
                </a:srgbClr>
              </a:gs>
              <a:gs pos="100000">
                <a:srgbClr val="983275">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3" name="Título 1"/>
          <p:cNvSpPr txBox="1">
            <a:spLocks/>
          </p:cNvSpPr>
          <p:nvPr/>
        </p:nvSpPr>
        <p:spPr bwMode="auto">
          <a:xfrm>
            <a:off x="1123406" y="634865"/>
            <a:ext cx="10363744" cy="516708"/>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algn="just" eaLnBrk="1" fontAlgn="auto" hangingPunct="1">
              <a:lnSpc>
                <a:spcPct val="150000"/>
              </a:lnSpc>
              <a:spcAft>
                <a:spcPts val="0"/>
              </a:spcAft>
              <a:defRPr/>
            </a:pPr>
            <a:r>
              <a:rPr lang="es-ES" sz="3200" dirty="0">
                <a:solidFill>
                  <a:schemeClr val="bg1">
                    <a:lumMod val="50000"/>
                  </a:schemeClr>
                </a:solidFill>
                <a:latin typeface="Arial" panose="020B0604020202020204" pitchFamily="34" charset="0"/>
                <a:cs typeface="Arial" panose="020B0604020202020204" pitchFamily="34" charset="0"/>
              </a:rPr>
              <a:t>Teorema del Límite Central</a:t>
            </a:r>
            <a:endParaRPr lang="es-MX" sz="3200" dirty="0">
              <a:solidFill>
                <a:schemeClr val="bg1">
                  <a:lumMod val="50000"/>
                </a:schemeClr>
              </a:solidFill>
              <a:latin typeface="Arial" panose="020B0604020202020204" pitchFamily="34" charset="0"/>
              <a:cs typeface="Arial" panose="020B0604020202020204" pitchFamily="34" charset="0"/>
            </a:endParaRPr>
          </a:p>
        </p:txBody>
      </p:sp>
      <p:sp>
        <p:nvSpPr>
          <p:cNvPr id="9" name="CuadroTexto 8">
            <a:extLst>
              <a:ext uri="{FF2B5EF4-FFF2-40B4-BE49-F238E27FC236}">
                <a16:creationId xmlns:a16="http://schemas.microsoft.com/office/drawing/2014/main" id="{C746CFDD-6FC3-5AA7-5C1D-362E2C5244F1}"/>
              </a:ext>
            </a:extLst>
          </p:cNvPr>
          <p:cNvSpPr txBox="1"/>
          <p:nvPr/>
        </p:nvSpPr>
        <p:spPr>
          <a:xfrm>
            <a:off x="1123406" y="1429930"/>
            <a:ext cx="9916526" cy="923330"/>
          </a:xfrm>
          <a:prstGeom prst="rect">
            <a:avLst/>
          </a:prstGeom>
          <a:noFill/>
          <a:ln>
            <a:noFill/>
          </a:ln>
        </p:spPr>
        <p:txBody>
          <a:bodyPr wrap="square" lIns="91440" tIns="45720" rIns="91440" bIns="45720" rtlCol="0" anchor="t">
            <a:spAutoFit/>
          </a:bodyPr>
          <a:lstStyle/>
          <a:p>
            <a:r>
              <a:rPr lang="es-ES" dirty="0">
                <a:solidFill>
                  <a:schemeClr val="bg1"/>
                </a:solidFill>
                <a:latin typeface="+mn-lt"/>
                <a:ea typeface="Source Sans Pro"/>
              </a:rPr>
              <a:t>Ahora tomemos una muestra aleatoria de tamaño 100 y calculemos el promedio. Repitamos esto 5000 veces y almacenémoslo en un listado con todos los promedios muestrales. Por último, visualicemos un histograma de los promedios muestrales.</a:t>
            </a:r>
          </a:p>
        </p:txBody>
      </p:sp>
      <p:grpSp>
        <p:nvGrpSpPr>
          <p:cNvPr id="4" name="Grupo 3">
            <a:extLst>
              <a:ext uri="{FF2B5EF4-FFF2-40B4-BE49-F238E27FC236}">
                <a16:creationId xmlns:a16="http://schemas.microsoft.com/office/drawing/2014/main" id="{0415FD59-2881-D341-E26C-74C6BB3A5D62}"/>
              </a:ext>
            </a:extLst>
          </p:cNvPr>
          <p:cNvGrpSpPr/>
          <p:nvPr/>
        </p:nvGrpSpPr>
        <p:grpSpPr>
          <a:xfrm>
            <a:off x="1199802" y="3219022"/>
            <a:ext cx="5406472" cy="2073258"/>
            <a:chOff x="3155772" y="1747033"/>
            <a:chExt cx="5406472" cy="2073258"/>
          </a:xfrm>
        </p:grpSpPr>
        <p:sp>
          <p:nvSpPr>
            <p:cNvPr id="7" name="Rectángulo 6">
              <a:extLst>
                <a:ext uri="{FF2B5EF4-FFF2-40B4-BE49-F238E27FC236}">
                  <a16:creationId xmlns:a16="http://schemas.microsoft.com/office/drawing/2014/main" id="{4EA060FA-36B3-B749-DACD-DF4CC6ACEF71}"/>
                </a:ext>
              </a:extLst>
            </p:cNvPr>
            <p:cNvSpPr/>
            <p:nvPr/>
          </p:nvSpPr>
          <p:spPr>
            <a:xfrm>
              <a:off x="3155772" y="1747033"/>
              <a:ext cx="5406471" cy="2073258"/>
            </a:xfrm>
            <a:prstGeom prst="rect">
              <a:avLst/>
            </a:prstGeom>
            <a:solidFill>
              <a:srgbClr val="2525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8" name="Imagen 7">
              <a:extLst>
                <a:ext uri="{FF2B5EF4-FFF2-40B4-BE49-F238E27FC236}">
                  <a16:creationId xmlns:a16="http://schemas.microsoft.com/office/drawing/2014/main" id="{D003A592-1B58-98A0-17DC-F976249B679F}"/>
                </a:ext>
              </a:extLst>
            </p:cNvPr>
            <p:cNvPicPr>
              <a:picLocks noChangeAspect="1"/>
            </p:cNvPicPr>
            <p:nvPr/>
          </p:nvPicPr>
          <p:blipFill>
            <a:blip r:embed="rId2"/>
            <a:stretch>
              <a:fillRect/>
            </a:stretch>
          </p:blipFill>
          <p:spPr>
            <a:xfrm>
              <a:off x="3195134" y="1778311"/>
              <a:ext cx="5367110" cy="1073422"/>
            </a:xfrm>
            <a:prstGeom prst="rect">
              <a:avLst/>
            </a:prstGeom>
          </p:spPr>
        </p:pic>
        <p:pic>
          <p:nvPicPr>
            <p:cNvPr id="10" name="Imagen 9">
              <a:extLst>
                <a:ext uri="{FF2B5EF4-FFF2-40B4-BE49-F238E27FC236}">
                  <a16:creationId xmlns:a16="http://schemas.microsoft.com/office/drawing/2014/main" id="{306E0AFB-EC88-4EA1-40AB-E918CAE00B44}"/>
                </a:ext>
              </a:extLst>
            </p:cNvPr>
            <p:cNvPicPr>
              <a:picLocks noChangeAspect="1"/>
            </p:cNvPicPr>
            <p:nvPr/>
          </p:nvPicPr>
          <p:blipFill>
            <a:blip r:embed="rId3"/>
            <a:stretch>
              <a:fillRect/>
            </a:stretch>
          </p:blipFill>
          <p:spPr>
            <a:xfrm>
              <a:off x="3195134" y="2851733"/>
              <a:ext cx="3992837" cy="900824"/>
            </a:xfrm>
            <a:prstGeom prst="rect">
              <a:avLst/>
            </a:prstGeom>
          </p:spPr>
        </p:pic>
      </p:grpSp>
      <p:pic>
        <p:nvPicPr>
          <p:cNvPr id="12" name="Imagen 11">
            <a:extLst>
              <a:ext uri="{FF2B5EF4-FFF2-40B4-BE49-F238E27FC236}">
                <a16:creationId xmlns:a16="http://schemas.microsoft.com/office/drawing/2014/main" id="{C7632624-5940-3E19-1E6B-521AF15B486E}"/>
              </a:ext>
            </a:extLst>
          </p:cNvPr>
          <p:cNvPicPr>
            <a:picLocks noChangeAspect="1"/>
          </p:cNvPicPr>
          <p:nvPr/>
        </p:nvPicPr>
        <p:blipFill>
          <a:blip r:embed="rId4"/>
          <a:stretch>
            <a:fillRect/>
          </a:stretch>
        </p:blipFill>
        <p:spPr>
          <a:xfrm>
            <a:off x="7296607" y="3219022"/>
            <a:ext cx="3743325" cy="2495550"/>
          </a:xfrm>
          <a:prstGeom prst="rect">
            <a:avLst/>
          </a:prstGeom>
        </p:spPr>
      </p:pic>
    </p:spTree>
    <p:extLst>
      <p:ext uri="{BB962C8B-B14F-4D97-AF65-F5344CB8AC3E}">
        <p14:creationId xmlns:p14="http://schemas.microsoft.com/office/powerpoint/2010/main" val="276270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anim calcmode="lin" valueType="num">
                                      <p:cBhvr>
                                        <p:cTn id="8" dur="500" fill="hold"/>
                                        <p:tgtEl>
                                          <p:spTgt spid="3"/>
                                        </p:tgtEl>
                                        <p:attrNameLst>
                                          <p:attrName>ppt_x</p:attrName>
                                        </p:attrNameLst>
                                      </p:cBhvr>
                                      <p:tavLst>
                                        <p:tav tm="0">
                                          <p:val>
                                            <p:strVal val="#ppt_x"/>
                                          </p:val>
                                        </p:tav>
                                        <p:tav tm="100000">
                                          <p:val>
                                            <p:strVal val="#ppt_x"/>
                                          </p:val>
                                        </p:tav>
                                      </p:tavLst>
                                    </p:anim>
                                    <p:anim calcmode="lin" valueType="num">
                                      <p:cBhvr>
                                        <p:cTn id="9" dur="5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ángulo redondeado 8"/>
          <p:cNvSpPr/>
          <p:nvPr/>
        </p:nvSpPr>
        <p:spPr>
          <a:xfrm>
            <a:off x="-749030" y="3132234"/>
            <a:ext cx="7964307" cy="894946"/>
          </a:xfrm>
          <a:prstGeom prst="roundRect">
            <a:avLst>
              <a:gd name="adj" fmla="val 2778"/>
            </a:avLst>
          </a:prstGeom>
          <a:gradFill flip="none" rotWithShape="1">
            <a:gsLst>
              <a:gs pos="0">
                <a:srgbClr val="732C61">
                  <a:shade val="30000"/>
                  <a:satMod val="115000"/>
                </a:srgbClr>
              </a:gs>
              <a:gs pos="50000">
                <a:srgbClr val="732C61">
                  <a:shade val="67500"/>
                  <a:satMod val="115000"/>
                </a:srgbClr>
              </a:gs>
              <a:gs pos="100000">
                <a:srgbClr val="732C61">
                  <a:shade val="100000"/>
                  <a:satMod val="115000"/>
                </a:srgb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s-ES_tradnl"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ítulo 1"/>
          <p:cNvSpPr txBox="1">
            <a:spLocks/>
          </p:cNvSpPr>
          <p:nvPr/>
        </p:nvSpPr>
        <p:spPr bwMode="auto">
          <a:xfrm>
            <a:off x="2768633" y="2835053"/>
            <a:ext cx="4446644" cy="1489308"/>
          </a:xfrm>
          <a:prstGeom prst="rect">
            <a:avLst/>
          </a:prstGeom>
          <a:noFill/>
          <a:ln>
            <a:noFill/>
          </a:ln>
        </p:spPr>
        <p:txBody>
          <a:bodyPr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s-ES" sz="3600" b="0"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Dudas y consultas</a:t>
            </a:r>
          </a:p>
        </p:txBody>
      </p:sp>
    </p:spTree>
    <p:extLst>
      <p:ext uri="{BB962C8B-B14F-4D97-AF65-F5344CB8AC3E}">
        <p14:creationId xmlns:p14="http://schemas.microsoft.com/office/powerpoint/2010/main" val="270149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p:cNvSpPr txBox="1">
            <a:spLocks/>
          </p:cNvSpPr>
          <p:nvPr/>
        </p:nvSpPr>
        <p:spPr bwMode="auto">
          <a:xfrm>
            <a:off x="462603" y="2924969"/>
            <a:ext cx="10782300" cy="1008062"/>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s-ES" sz="3600" b="0" i="0" u="none" strike="noStrike" kern="1200" cap="none" spc="0" normalizeH="0" baseline="0" noProof="0" dirty="0">
                <a:ln>
                  <a:noFill/>
                </a:ln>
                <a:solidFill>
                  <a:prstClr val="white">
                    <a:lumMod val="50000"/>
                  </a:prstClr>
                </a:solidFill>
                <a:effectLst/>
                <a:uLnTx/>
                <a:uFillTx/>
                <a:latin typeface="Arial" panose="020B0604020202020204" pitchFamily="34" charset="0"/>
                <a:ea typeface="Source Sans Pro"/>
                <a:cs typeface="Arial" panose="020B0604020202020204" pitchFamily="34" charset="0"/>
              </a:rPr>
              <a:t>Fin presentación</a:t>
            </a:r>
          </a:p>
        </p:txBody>
      </p:sp>
    </p:spTree>
    <p:extLst>
      <p:ext uri="{BB962C8B-B14F-4D97-AF65-F5344CB8AC3E}">
        <p14:creationId xmlns:p14="http://schemas.microsoft.com/office/powerpoint/2010/main" val="328785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5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EC9CD3420DD7C44287EDEB9C6D6708D7" ma:contentTypeVersion="15" ma:contentTypeDescription="Crear nuevo documento." ma:contentTypeScope="" ma:versionID="f7a9dcde27c9264a09c73004259269f1">
  <xsd:schema xmlns:xsd="http://www.w3.org/2001/XMLSchema" xmlns:xs="http://www.w3.org/2001/XMLSchema" xmlns:p="http://schemas.microsoft.com/office/2006/metadata/properties" xmlns:ns2="470d2f17-52cb-407b-8136-5e632d1cee08" xmlns:ns3="6171001b-fa9d-409b-8713-8b6a17935d68" targetNamespace="http://schemas.microsoft.com/office/2006/metadata/properties" ma:root="true" ma:fieldsID="674b5fe278d71baa753a58252eaf8fe3" ns2:_="" ns3:_="">
    <xsd:import namespace="470d2f17-52cb-407b-8136-5e632d1cee08"/>
    <xsd:import namespace="6171001b-fa9d-409b-8713-8b6a17935d6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TaxCatchAll" minOccurs="0"/>
                <xsd:element ref="ns2:MediaServiceGenerationTime" minOccurs="0"/>
                <xsd:element ref="ns2:MediaServiceEventHashCode" minOccurs="0"/>
                <xsd:element ref="ns2:lcf76f155ced4ddcb4097134ff3c332f" minOccurs="0"/>
                <xsd:element ref="ns2:MediaServiceOCR"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70d2f17-52cb-407b-8136-5e632d1cee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5ecad781-11e1-4240-b729-e370ca3e03e9"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171001b-fa9d-409b-8713-8b6a17935d68" elementFormDefault="qualified">
    <xsd:import namespace="http://schemas.microsoft.com/office/2006/documentManagement/types"/>
    <xsd:import namespace="http://schemas.microsoft.com/office/infopath/2007/PartnerControls"/>
    <xsd:element name="TaxCatchAll" ma:index="12" nillable="true" ma:displayName="Taxonomy Catch All Column" ma:hidden="true" ma:list="{626c5a85-e9ed-4a7d-a8f2-1ac62c4b72da}" ma:internalName="TaxCatchAll" ma:showField="CatchAllData" ma:web="6171001b-fa9d-409b-8713-8b6a17935d68">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6171001b-fa9d-409b-8713-8b6a17935d68"/>
    <lcf76f155ced4ddcb4097134ff3c332f xmlns="470d2f17-52cb-407b-8136-5e632d1cee0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D405DB1-990F-4DDD-81A1-478BCA203F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70d2f17-52cb-407b-8136-5e632d1cee08"/>
    <ds:schemaRef ds:uri="6171001b-fa9d-409b-8713-8b6a17935d6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E26BDBF-E58D-4DAC-8738-D11056BF4C72}">
  <ds:schemaRefs>
    <ds:schemaRef ds:uri="http://purl.org/dc/terms/"/>
    <ds:schemaRef ds:uri="470d2f17-52cb-407b-8136-5e632d1cee08"/>
    <ds:schemaRef ds:uri="http://schemas.microsoft.com/office/infopath/2007/PartnerControls"/>
    <ds:schemaRef ds:uri="http://purl.org/dc/elements/1.1/"/>
    <ds:schemaRef ds:uri="http://schemas.microsoft.com/office/2006/documentManagement/types"/>
    <ds:schemaRef ds:uri="6171001b-fa9d-409b-8713-8b6a17935d68"/>
    <ds:schemaRef ds:uri="http://purl.org/dc/dcmitype/"/>
    <ds:schemaRef ds:uri="http://schemas.openxmlformats.org/package/2006/metadata/core-properties"/>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89B05674-0616-4E66-A9FD-3C514085E5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8452</TotalTime>
  <Words>1335</Words>
  <Application>Microsoft Office PowerPoint</Application>
  <PresentationFormat>Panorámica</PresentationFormat>
  <Paragraphs>96</Paragraphs>
  <Slides>23</Slides>
  <Notes>0</Notes>
  <HiddenSlides>0</HiddenSlides>
  <MMClips>0</MMClips>
  <ScaleCrop>false</ScaleCrop>
  <HeadingPairs>
    <vt:vector size="4" baseType="variant">
      <vt:variant>
        <vt:lpstr>Tema</vt:lpstr>
      </vt:variant>
      <vt:variant>
        <vt:i4>2</vt:i4>
      </vt:variant>
      <vt:variant>
        <vt:lpstr>Títulos de diapositiva</vt:lpstr>
      </vt:variant>
      <vt:variant>
        <vt:i4>23</vt:i4>
      </vt:variant>
    </vt:vector>
  </HeadingPairs>
  <TitlesOfParts>
    <vt:vector size="25" baseType="lpstr">
      <vt:lpstr>Tema de Office</vt:lpstr>
      <vt:lpstr>1_Tema de Office</vt:lpstr>
      <vt:lpstr>Teorema Límite Central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Kibernum</dc:creator>
  <cp:lastModifiedBy>Diseño ITA</cp:lastModifiedBy>
  <cp:revision>289</cp:revision>
  <dcterms:created xsi:type="dcterms:W3CDTF">2023-01-03T12:28:26Z</dcterms:created>
  <dcterms:modified xsi:type="dcterms:W3CDTF">2025-09-26T11:50:14Z</dcterms:modified>
</cp:coreProperties>
</file>