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40" roundtripDataSignature="AMtx7mh/mtTY57Aeg46hQfmBHpy3p1J06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5B8914D-D588-8E5B-6DB9-ABA4285F06E6}" v="4" dt="2025-09-26T11:49:59.31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0" d="100"/>
          <a:sy n="60" d="100"/>
        </p:scale>
        <p:origin x="78" y="10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customschemas.google.com/relationships/presentationmetadata" Target="metadata"/><Relationship Id="rId45"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46"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oraya Salazar" userId="S::soraya.salazar@kibernumacademy.com::fdf00a5c-f577-43dc-8064-9968cad83607" providerId="AD" clId="Web-{F5B8914D-D588-8E5B-6DB9-ABA4285F06E6}"/>
    <pc:docChg chg="modSld">
      <pc:chgData name="Soraya Salazar" userId="S::soraya.salazar@kibernumacademy.com::fdf00a5c-f577-43dc-8064-9968cad83607" providerId="AD" clId="Web-{F5B8914D-D588-8E5B-6DB9-ABA4285F06E6}" dt="2025-09-26T11:49:59.314" v="1"/>
      <pc:docMkLst>
        <pc:docMk/>
      </pc:docMkLst>
      <pc:sldChg chg="delSp modSp">
        <pc:chgData name="Soraya Salazar" userId="S::soraya.salazar@kibernumacademy.com::fdf00a5c-f577-43dc-8064-9968cad83607" providerId="AD" clId="Web-{F5B8914D-D588-8E5B-6DB9-ABA4285F06E6}" dt="2025-09-26T11:49:59.314" v="1"/>
        <pc:sldMkLst>
          <pc:docMk/>
          <pc:sldMk cId="0" sldId="256"/>
        </pc:sldMkLst>
        <pc:spChg chg="del">
          <ac:chgData name="Soraya Salazar" userId="S::soraya.salazar@kibernumacademy.com::fdf00a5c-f577-43dc-8064-9968cad83607" providerId="AD" clId="Web-{F5B8914D-D588-8E5B-6DB9-ABA4285F06E6}" dt="2025-09-26T11:49:59.314" v="1"/>
          <ac:spMkLst>
            <pc:docMk/>
            <pc:sldMk cId="0" sldId="256"/>
            <ac:spMk id="91" creationId="{00000000-0000-0000-0000-000000000000}"/>
          </ac:spMkLst>
        </pc:spChg>
        <pc:spChg chg="mod">
          <ac:chgData name="Soraya Salazar" userId="S::soraya.salazar@kibernumacademy.com::fdf00a5c-f577-43dc-8064-9968cad83607" providerId="AD" clId="Web-{F5B8914D-D588-8E5B-6DB9-ABA4285F06E6}" dt="2025-09-26T11:49:55.626" v="0" actId="20577"/>
          <ac:spMkLst>
            <pc:docMk/>
            <pc:sldMk cId="0" sldId="256"/>
            <ac:spMk id="92"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s-ES" sz="1200" b="0" i="0" u="none" strike="noStrike" cap="none">
                <a:solidFill>
                  <a:schemeClr val="dk1"/>
                </a:solidFill>
                <a:latin typeface="Calibri"/>
                <a:ea typeface="Calibri"/>
                <a:cs typeface="Calibri"/>
                <a:sym typeface="Calibri"/>
              </a:rPr>
              <a:t>‹Nº›</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86" name="Google Shape;8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95" name="Google Shape;95;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6" name="Google Shape;106;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7" name="Google Shape;107;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E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15" name="Google Shape;115;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20" name="Google Shape;120;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29" name="Google Shape;129;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37" name="Google Shape;137;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46" name="Google Shape;146;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53" name="Google Shape;153;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62" name="Google Shape;162;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69" name="Google Shape;169;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76" name="Google Shape;176;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81" name="Google Shape;181;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88" name="Google Shape;188;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97" name="Google Shape;197;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04" name="Google Shape;204;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p1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17" name="Google Shape;217;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29" name="Google Shape;229;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1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41" name="Google Shape;241;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p2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48" name="Google Shape;248;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p2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60" name="Google Shape;260;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p2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65" name="Google Shape;265;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p2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72" name="Google Shape;272;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Google Shape;297;p2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98" name="Google Shape;298;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p2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06" name="Google Shape;306;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
        <p:cNvGrpSpPr/>
        <p:nvPr/>
      </p:nvGrpSpPr>
      <p:grpSpPr>
        <a:xfrm>
          <a:off x="0" y="0"/>
          <a:ext cx="0" cy="0"/>
          <a:chOff x="0" y="0"/>
          <a:chExt cx="0" cy="0"/>
        </a:xfrm>
      </p:grpSpPr>
      <p:sp>
        <p:nvSpPr>
          <p:cNvPr id="314" name="Google Shape;314;p2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15" name="Google Shape;315;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0"/>
        <p:cNvGrpSpPr/>
        <p:nvPr/>
      </p:nvGrpSpPr>
      <p:grpSpPr>
        <a:xfrm>
          <a:off x="0" y="0"/>
          <a:ext cx="0" cy="0"/>
          <a:chOff x="0" y="0"/>
          <a:chExt cx="0" cy="0"/>
        </a:xfrm>
      </p:grpSpPr>
      <p:sp>
        <p:nvSpPr>
          <p:cNvPr id="321" name="Google Shape;321;p2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22" name="Google Shape;322;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p2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29" name="Google Shape;329;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Google Shape;335;p2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36" name="Google Shape;336;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3"/>
        <p:cNvGrpSpPr/>
        <p:nvPr/>
      </p:nvGrpSpPr>
      <p:grpSpPr>
        <a:xfrm>
          <a:off x="0" y="0"/>
          <a:ext cx="0" cy="0"/>
          <a:chOff x="0" y="0"/>
          <a:chExt cx="0" cy="0"/>
        </a:xfrm>
      </p:grpSpPr>
      <p:sp>
        <p:nvSpPr>
          <p:cNvPr id="344" name="Google Shape;344;p3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45" name="Google Shape;345;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4"/>
        <p:cNvGrpSpPr/>
        <p:nvPr/>
      </p:nvGrpSpPr>
      <p:grpSpPr>
        <a:xfrm>
          <a:off x="0" y="0"/>
          <a:ext cx="0" cy="0"/>
          <a:chOff x="0" y="0"/>
          <a:chExt cx="0" cy="0"/>
        </a:xfrm>
      </p:grpSpPr>
      <p:sp>
        <p:nvSpPr>
          <p:cNvPr id="355" name="Google Shape;355;p3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56" name="Google Shape;356;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1"/>
        <p:cNvGrpSpPr/>
        <p:nvPr/>
      </p:nvGrpSpPr>
      <p:grpSpPr>
        <a:xfrm>
          <a:off x="0" y="0"/>
          <a:ext cx="0" cy="0"/>
          <a:chOff x="0" y="0"/>
          <a:chExt cx="0" cy="0"/>
        </a:xfrm>
      </p:grpSpPr>
      <p:sp>
        <p:nvSpPr>
          <p:cNvPr id="362" name="Google Shape;362;p3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63" name="Google Shape;363;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0"/>
        <p:cNvGrpSpPr/>
        <p:nvPr/>
      </p:nvGrpSpPr>
      <p:grpSpPr>
        <a:xfrm>
          <a:off x="0" y="0"/>
          <a:ext cx="0" cy="0"/>
          <a:chOff x="0" y="0"/>
          <a:chExt cx="0" cy="0"/>
        </a:xfrm>
      </p:grpSpPr>
      <p:sp>
        <p:nvSpPr>
          <p:cNvPr id="371" name="Google Shape;371;p3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72" name="Google Shape;372;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7"/>
        <p:cNvGrpSpPr/>
        <p:nvPr/>
      </p:nvGrpSpPr>
      <p:grpSpPr>
        <a:xfrm>
          <a:off x="0" y="0"/>
          <a:ext cx="0" cy="0"/>
          <a:chOff x="0" y="0"/>
          <a:chExt cx="0" cy="0"/>
        </a:xfrm>
      </p:grpSpPr>
      <p:sp>
        <p:nvSpPr>
          <p:cNvPr id="378" name="Google Shape;378;p3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360"/>
              </a:spcBef>
              <a:spcAft>
                <a:spcPts val="0"/>
              </a:spcAft>
              <a:buClr>
                <a:schemeClr val="dk1"/>
              </a:buClr>
              <a:buSzPts val="1200"/>
              <a:buFont typeface="Calibri"/>
              <a:buNone/>
            </a:pPr>
            <a:endParaRPr/>
          </a:p>
        </p:txBody>
      </p:sp>
      <p:sp>
        <p:nvSpPr>
          <p:cNvPr id="379" name="Google Shape;379;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4"/>
        <p:cNvGrpSpPr/>
        <p:nvPr/>
      </p:nvGrpSpPr>
      <p:grpSpPr>
        <a:xfrm>
          <a:off x="0" y="0"/>
          <a:ext cx="0" cy="0"/>
          <a:chOff x="0" y="0"/>
          <a:chExt cx="0" cy="0"/>
        </a:xfrm>
      </p:grpSpPr>
      <p:sp>
        <p:nvSpPr>
          <p:cNvPr id="385" name="Google Shape;385;p3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360"/>
              </a:spcBef>
              <a:spcAft>
                <a:spcPts val="0"/>
              </a:spcAft>
              <a:buClr>
                <a:schemeClr val="dk1"/>
              </a:buClr>
              <a:buSzPts val="1200"/>
              <a:buFont typeface="Calibri"/>
              <a:buNone/>
            </a:pPr>
            <a:endParaRPr/>
          </a:p>
        </p:txBody>
      </p:sp>
      <p:sp>
        <p:nvSpPr>
          <p:cNvPr id="386" name="Google Shape;386;p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iapositiva de título" type="title">
  <p:cSld name="TITLE">
    <p:spTree>
      <p:nvGrpSpPr>
        <p:cNvPr id="1" name="Shape 15"/>
        <p:cNvGrpSpPr/>
        <p:nvPr/>
      </p:nvGrpSpPr>
      <p:grpSpPr>
        <a:xfrm>
          <a:off x="0" y="0"/>
          <a:ext cx="0" cy="0"/>
          <a:chOff x="0" y="0"/>
          <a:chExt cx="0" cy="0"/>
        </a:xfrm>
      </p:grpSpPr>
      <p:sp>
        <p:nvSpPr>
          <p:cNvPr id="16" name="Google Shape;16;p37"/>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sz="60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7" name="Google Shape;17;p37"/>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3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b="0" i="0" u="none" strike="noStrike" cap="none">
                <a:solidFill>
                  <a:srgbClr val="898989"/>
                </a:solidFill>
                <a:latin typeface="Calibri"/>
                <a:ea typeface="Calibri"/>
                <a:cs typeface="Calibri"/>
                <a:sym typeface="Calibri"/>
              </a:defRPr>
            </a:lvl1pPr>
            <a:lvl2pPr marL="0" lvl="1" indent="0" algn="r">
              <a:spcBef>
                <a:spcPts val="0"/>
              </a:spcBef>
              <a:spcAft>
                <a:spcPts val="0"/>
              </a:spcAft>
              <a:buNone/>
              <a:defRPr sz="1200" b="0" i="0" u="none" strike="noStrike" cap="none">
                <a:solidFill>
                  <a:srgbClr val="898989"/>
                </a:solidFill>
                <a:latin typeface="Calibri"/>
                <a:ea typeface="Calibri"/>
                <a:cs typeface="Calibri"/>
                <a:sym typeface="Calibri"/>
              </a:defRPr>
            </a:lvl2pPr>
            <a:lvl3pPr marL="0" lvl="2" indent="0" algn="r">
              <a:spcBef>
                <a:spcPts val="0"/>
              </a:spcBef>
              <a:spcAft>
                <a:spcPts val="0"/>
              </a:spcAft>
              <a:buNone/>
              <a:defRPr sz="1200" b="0" i="0" u="none" strike="noStrike" cap="none">
                <a:solidFill>
                  <a:srgbClr val="898989"/>
                </a:solidFill>
                <a:latin typeface="Calibri"/>
                <a:ea typeface="Calibri"/>
                <a:cs typeface="Calibri"/>
                <a:sym typeface="Calibri"/>
              </a:defRPr>
            </a:lvl3pPr>
            <a:lvl4pPr marL="0" lvl="3" indent="0" algn="r">
              <a:spcBef>
                <a:spcPts val="0"/>
              </a:spcBef>
              <a:spcAft>
                <a:spcPts val="0"/>
              </a:spcAft>
              <a:buNone/>
              <a:defRPr sz="1200" b="0" i="0" u="none" strike="noStrike" cap="none">
                <a:solidFill>
                  <a:srgbClr val="898989"/>
                </a:solidFill>
                <a:latin typeface="Calibri"/>
                <a:ea typeface="Calibri"/>
                <a:cs typeface="Calibri"/>
                <a:sym typeface="Calibri"/>
              </a:defRPr>
            </a:lvl4pPr>
            <a:lvl5pPr marL="0" lvl="4" indent="0" algn="r">
              <a:spcBef>
                <a:spcPts val="0"/>
              </a:spcBef>
              <a:spcAft>
                <a:spcPts val="0"/>
              </a:spcAft>
              <a:buNone/>
              <a:defRPr sz="1200" b="0" i="0" u="none" strike="noStrike" cap="none">
                <a:solidFill>
                  <a:srgbClr val="898989"/>
                </a:solidFill>
                <a:latin typeface="Calibri"/>
                <a:ea typeface="Calibri"/>
                <a:cs typeface="Calibri"/>
                <a:sym typeface="Calibri"/>
              </a:defRPr>
            </a:lvl5pPr>
            <a:lvl6pPr marL="0" lvl="5" indent="0" algn="r">
              <a:spcBef>
                <a:spcPts val="0"/>
              </a:spcBef>
              <a:spcAft>
                <a:spcPts val="0"/>
              </a:spcAft>
              <a:buNone/>
              <a:defRPr sz="1200" b="0" i="0" u="none" strike="noStrike" cap="none">
                <a:solidFill>
                  <a:srgbClr val="898989"/>
                </a:solidFill>
                <a:latin typeface="Calibri"/>
                <a:ea typeface="Calibri"/>
                <a:cs typeface="Calibri"/>
                <a:sym typeface="Calibri"/>
              </a:defRPr>
            </a:lvl6pPr>
            <a:lvl7pPr marL="0" lvl="6" indent="0" algn="r">
              <a:spcBef>
                <a:spcPts val="0"/>
              </a:spcBef>
              <a:spcAft>
                <a:spcPts val="0"/>
              </a:spcAft>
              <a:buNone/>
              <a:defRPr sz="1200" b="0" i="0" u="none" strike="noStrike" cap="none">
                <a:solidFill>
                  <a:srgbClr val="898989"/>
                </a:solidFill>
                <a:latin typeface="Calibri"/>
                <a:ea typeface="Calibri"/>
                <a:cs typeface="Calibri"/>
                <a:sym typeface="Calibri"/>
              </a:defRPr>
            </a:lvl7pPr>
            <a:lvl8pPr marL="0" lvl="7" indent="0" algn="r">
              <a:spcBef>
                <a:spcPts val="0"/>
              </a:spcBef>
              <a:spcAft>
                <a:spcPts val="0"/>
              </a:spcAft>
              <a:buNone/>
              <a:defRPr sz="1200" b="0" i="0" u="none" strike="noStrike" cap="none">
                <a:solidFill>
                  <a:srgbClr val="898989"/>
                </a:solidFill>
                <a:latin typeface="Calibri"/>
                <a:ea typeface="Calibri"/>
                <a:cs typeface="Calibri"/>
                <a:sym typeface="Calibri"/>
              </a:defRPr>
            </a:lvl8pPr>
            <a:lvl9pPr marL="0" lvl="8" indent="0" algn="r">
              <a:spcBef>
                <a:spcPts val="0"/>
              </a:spcBef>
              <a:spcAft>
                <a:spcPts val="0"/>
              </a:spcAft>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21"/>
        <p:cNvGrpSpPr/>
        <p:nvPr/>
      </p:nvGrpSpPr>
      <p:grpSpPr>
        <a:xfrm>
          <a:off x="0" y="0"/>
          <a:ext cx="0" cy="0"/>
          <a:chOff x="0" y="0"/>
          <a:chExt cx="0" cy="0"/>
        </a:xfrm>
      </p:grpSpPr>
      <p:sp>
        <p:nvSpPr>
          <p:cNvPr id="22" name="Google Shape;22;p3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23" name="Google Shape;23;p3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3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3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3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Encabezado de sección" type="secHead">
  <p:cSld name="SECTION_HEADER">
    <p:spTree>
      <p:nvGrpSpPr>
        <p:cNvPr id="1" name="Shape 27"/>
        <p:cNvGrpSpPr/>
        <p:nvPr/>
      </p:nvGrpSpPr>
      <p:grpSpPr>
        <a:xfrm>
          <a:off x="0" y="0"/>
          <a:ext cx="0" cy="0"/>
          <a:chOff x="0" y="0"/>
          <a:chExt cx="0" cy="0"/>
        </a:xfrm>
      </p:grpSpPr>
      <p:sp>
        <p:nvSpPr>
          <p:cNvPr id="28" name="Google Shape;28;p39"/>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60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29" name="Google Shape;29;p39"/>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0" name="Google Shape;30;p3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3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3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os objetos" type="twoObj">
  <p:cSld name="TWO_OBJECTS">
    <p:spTree>
      <p:nvGrpSpPr>
        <p:cNvPr id="1" name="Shape 33"/>
        <p:cNvGrpSpPr/>
        <p:nvPr/>
      </p:nvGrpSpPr>
      <p:grpSpPr>
        <a:xfrm>
          <a:off x="0" y="0"/>
          <a:ext cx="0" cy="0"/>
          <a:chOff x="0" y="0"/>
          <a:chExt cx="0" cy="0"/>
        </a:xfrm>
      </p:grpSpPr>
      <p:sp>
        <p:nvSpPr>
          <p:cNvPr id="34" name="Google Shape;34;p4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35" name="Google Shape;35;p40"/>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40"/>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4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4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4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ación" type="twoTxTwoObj">
  <p:cSld name="TWO_OBJECTS_WITH_TEXT">
    <p:spTree>
      <p:nvGrpSpPr>
        <p:cNvPr id="1" name="Shape 40"/>
        <p:cNvGrpSpPr/>
        <p:nvPr/>
      </p:nvGrpSpPr>
      <p:grpSpPr>
        <a:xfrm>
          <a:off x="0" y="0"/>
          <a:ext cx="0" cy="0"/>
          <a:chOff x="0" y="0"/>
          <a:chExt cx="0" cy="0"/>
        </a:xfrm>
      </p:grpSpPr>
      <p:sp>
        <p:nvSpPr>
          <p:cNvPr id="41" name="Google Shape;41;p41"/>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42" name="Google Shape;42;p41"/>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41"/>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41"/>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41"/>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4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4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4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olo el título" type="titleOnly">
  <p:cSld name="TITLE_ONLY">
    <p:spTree>
      <p:nvGrpSpPr>
        <p:cNvPr id="1" name="Shape 49"/>
        <p:cNvGrpSpPr/>
        <p:nvPr/>
      </p:nvGrpSpPr>
      <p:grpSpPr>
        <a:xfrm>
          <a:off x="0" y="0"/>
          <a:ext cx="0" cy="0"/>
          <a:chOff x="0" y="0"/>
          <a:chExt cx="0" cy="0"/>
        </a:xfrm>
      </p:grpSpPr>
      <p:sp>
        <p:nvSpPr>
          <p:cNvPr id="50" name="Google Shape;50;p4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51" name="Google Shape;51;p4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4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4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En blanco" type="blank">
  <p:cSld name="BLANK">
    <p:spTree>
      <p:nvGrpSpPr>
        <p:cNvPr id="1" name="Shape 54"/>
        <p:cNvGrpSpPr/>
        <p:nvPr/>
      </p:nvGrpSpPr>
      <p:grpSpPr>
        <a:xfrm>
          <a:off x="0" y="0"/>
          <a:ext cx="0" cy="0"/>
          <a:chOff x="0" y="0"/>
          <a:chExt cx="0" cy="0"/>
        </a:xfrm>
      </p:grpSpPr>
      <p:sp>
        <p:nvSpPr>
          <p:cNvPr id="55" name="Google Shape;55;p4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4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4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ido con título" type="objTx">
  <p:cSld name="OBJECT_WITH_CAPTION_TEXT">
    <p:spTree>
      <p:nvGrpSpPr>
        <p:cNvPr id="1" name="Shape 58"/>
        <p:cNvGrpSpPr/>
        <p:nvPr/>
      </p:nvGrpSpPr>
      <p:grpSpPr>
        <a:xfrm>
          <a:off x="0" y="0"/>
          <a:ext cx="0" cy="0"/>
          <a:chOff x="0" y="0"/>
          <a:chExt cx="0" cy="0"/>
        </a:xfrm>
      </p:grpSpPr>
      <p:sp>
        <p:nvSpPr>
          <p:cNvPr id="59" name="Google Shape;59;p4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32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60" name="Google Shape;60;p4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4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4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4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4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Imagen con título" type="picTx">
  <p:cSld name="PICTURE_WITH_CAPTION_TEXT">
    <p:spTree>
      <p:nvGrpSpPr>
        <p:cNvPr id="1" name="Shape 65"/>
        <p:cNvGrpSpPr/>
        <p:nvPr/>
      </p:nvGrpSpPr>
      <p:grpSpPr>
        <a:xfrm>
          <a:off x="0" y="0"/>
          <a:ext cx="0" cy="0"/>
          <a:chOff x="0" y="0"/>
          <a:chExt cx="0" cy="0"/>
        </a:xfrm>
      </p:grpSpPr>
      <p:sp>
        <p:nvSpPr>
          <p:cNvPr id="66" name="Google Shape;66;p4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32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67" name="Google Shape;67;p45"/>
          <p:cNvSpPr>
            <a:spLocks noGrp="1"/>
          </p:cNvSpPr>
          <p:nvPr>
            <p:ph type="pic" idx="2"/>
          </p:nvPr>
        </p:nvSpPr>
        <p:spPr>
          <a:xfrm>
            <a:off x="5183188" y="987425"/>
            <a:ext cx="6172200" cy="4873625"/>
          </a:xfrm>
          <a:prstGeom prst="rect">
            <a:avLst/>
          </a:prstGeom>
          <a:noFill/>
          <a:ln>
            <a:noFill/>
          </a:ln>
        </p:spPr>
      </p:sp>
      <p:sp>
        <p:nvSpPr>
          <p:cNvPr id="68" name="Google Shape;68;p4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4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4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4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72"/>
        <p:cNvGrpSpPr/>
        <p:nvPr/>
      </p:nvGrpSpPr>
      <p:grpSpPr>
        <a:xfrm>
          <a:off x="0" y="0"/>
          <a:ext cx="0" cy="0"/>
          <a:chOff x="0" y="0"/>
          <a:chExt cx="0" cy="0"/>
        </a:xfrm>
      </p:grpSpPr>
      <p:sp>
        <p:nvSpPr>
          <p:cNvPr id="73" name="Google Shape;73;p4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74" name="Google Shape;74;p4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4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4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4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VERTICAL_TITLE_AND_VERTICAL_TEXT">
    <p:spTree>
      <p:nvGrpSpPr>
        <p:cNvPr id="1" name="Shape 78"/>
        <p:cNvGrpSpPr/>
        <p:nvPr/>
      </p:nvGrpSpPr>
      <p:grpSpPr>
        <a:xfrm>
          <a:off x="0" y="0"/>
          <a:ext cx="0" cy="0"/>
          <a:chOff x="0" y="0"/>
          <a:chExt cx="0" cy="0"/>
        </a:xfrm>
      </p:grpSpPr>
      <p:sp>
        <p:nvSpPr>
          <p:cNvPr id="79" name="Google Shape;79;p4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80" name="Google Shape;80;p4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4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4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4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3">
            <a:alphaModFix/>
          </a:blip>
          <a:stretch>
            <a:fillRect/>
          </a:stretch>
        </a:blipFill>
        <a:effectLst/>
      </p:bgPr>
    </p:bg>
    <p:spTree>
      <p:nvGrpSpPr>
        <p:cNvPr id="1" name="Shape 9"/>
        <p:cNvGrpSpPr/>
        <p:nvPr/>
      </p:nvGrpSpPr>
      <p:grpSpPr>
        <a:xfrm>
          <a:off x="0" y="0"/>
          <a:ext cx="0" cy="0"/>
          <a:chOff x="0" y="0"/>
          <a:chExt cx="0" cy="0"/>
        </a:xfrm>
      </p:grpSpPr>
      <p:sp>
        <p:nvSpPr>
          <p:cNvPr id="10" name="Google Shape;10;p3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1pPr>
            <a:lvl2pPr marR="0" lvl="1"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2pPr>
            <a:lvl3pPr marR="0" lvl="2"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3pPr>
            <a:lvl4pPr marR="0" lvl="3"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4pPr>
            <a:lvl5pPr marR="0" lvl="4"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5pPr>
            <a:lvl6pPr marR="0" lvl="5"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6pPr>
            <a:lvl7pPr marR="0" lvl="6"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7pPr>
            <a:lvl8pPr marR="0" lvl="7"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8pPr>
            <a:lvl9pPr marR="0" lvl="8"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9pPr>
          </a:lstStyle>
          <a:p>
            <a:endParaRPr/>
          </a:p>
        </p:txBody>
      </p:sp>
      <p:sp>
        <p:nvSpPr>
          <p:cNvPr id="11" name="Google Shape;11;p3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3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3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3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spcAft>
                <a:spcPts val="0"/>
              </a:spcAft>
              <a:buNone/>
              <a:defRPr sz="1200" b="0" i="0" u="none" strike="noStrike" cap="none">
                <a:solidFill>
                  <a:srgbClr val="898989"/>
                </a:solidFill>
                <a:latin typeface="Calibri"/>
                <a:ea typeface="Calibri"/>
                <a:cs typeface="Calibri"/>
                <a:sym typeface="Calibri"/>
              </a:defRPr>
            </a:lvl1pPr>
            <a:lvl2pPr marL="0" marR="0" lvl="1" indent="0" algn="r" rtl="0">
              <a:spcBef>
                <a:spcPts val="0"/>
              </a:spcBef>
              <a:spcAft>
                <a:spcPts val="0"/>
              </a:spcAft>
              <a:buNone/>
              <a:defRPr sz="1200" b="0" i="0" u="none" strike="noStrike" cap="none">
                <a:solidFill>
                  <a:srgbClr val="898989"/>
                </a:solidFill>
                <a:latin typeface="Calibri"/>
                <a:ea typeface="Calibri"/>
                <a:cs typeface="Calibri"/>
                <a:sym typeface="Calibri"/>
              </a:defRPr>
            </a:lvl2pPr>
            <a:lvl3pPr marL="0" marR="0" lvl="2" indent="0" algn="r" rtl="0">
              <a:spcBef>
                <a:spcPts val="0"/>
              </a:spcBef>
              <a:spcAft>
                <a:spcPts val="0"/>
              </a:spcAft>
              <a:buNone/>
              <a:defRPr sz="1200" b="0" i="0" u="none" strike="noStrike" cap="none">
                <a:solidFill>
                  <a:srgbClr val="898989"/>
                </a:solidFill>
                <a:latin typeface="Calibri"/>
                <a:ea typeface="Calibri"/>
                <a:cs typeface="Calibri"/>
                <a:sym typeface="Calibri"/>
              </a:defRPr>
            </a:lvl3pPr>
            <a:lvl4pPr marL="0" marR="0" lvl="3" indent="0" algn="r" rtl="0">
              <a:spcBef>
                <a:spcPts val="0"/>
              </a:spcBef>
              <a:spcAft>
                <a:spcPts val="0"/>
              </a:spcAft>
              <a:buNone/>
              <a:defRPr sz="1200" b="0" i="0" u="none" strike="noStrike" cap="none">
                <a:solidFill>
                  <a:srgbClr val="898989"/>
                </a:solidFill>
                <a:latin typeface="Calibri"/>
                <a:ea typeface="Calibri"/>
                <a:cs typeface="Calibri"/>
                <a:sym typeface="Calibri"/>
              </a:defRPr>
            </a:lvl4pPr>
            <a:lvl5pPr marL="0" marR="0" lvl="4" indent="0" algn="r" rtl="0">
              <a:spcBef>
                <a:spcPts val="0"/>
              </a:spcBef>
              <a:spcAft>
                <a:spcPts val="0"/>
              </a:spcAft>
              <a:buNone/>
              <a:defRPr sz="1200" b="0" i="0" u="none" strike="noStrike" cap="none">
                <a:solidFill>
                  <a:srgbClr val="898989"/>
                </a:solidFill>
                <a:latin typeface="Calibri"/>
                <a:ea typeface="Calibri"/>
                <a:cs typeface="Calibri"/>
                <a:sym typeface="Calibri"/>
              </a:defRPr>
            </a:lvl5pPr>
            <a:lvl6pPr marL="0" marR="0" lvl="5" indent="0" algn="r" rtl="0">
              <a:spcBef>
                <a:spcPts val="0"/>
              </a:spcBef>
              <a:spcAft>
                <a:spcPts val="0"/>
              </a:spcAft>
              <a:buNone/>
              <a:defRPr sz="1200" b="0" i="0" u="none" strike="noStrike" cap="none">
                <a:solidFill>
                  <a:srgbClr val="898989"/>
                </a:solidFill>
                <a:latin typeface="Calibri"/>
                <a:ea typeface="Calibri"/>
                <a:cs typeface="Calibri"/>
                <a:sym typeface="Calibri"/>
              </a:defRPr>
            </a:lvl6pPr>
            <a:lvl7pPr marL="0" marR="0" lvl="6" indent="0" algn="r" rtl="0">
              <a:spcBef>
                <a:spcPts val="0"/>
              </a:spcBef>
              <a:spcAft>
                <a:spcPts val="0"/>
              </a:spcAft>
              <a:buNone/>
              <a:defRPr sz="1200" b="0" i="0" u="none" strike="noStrike" cap="none">
                <a:solidFill>
                  <a:srgbClr val="898989"/>
                </a:solidFill>
                <a:latin typeface="Calibri"/>
                <a:ea typeface="Calibri"/>
                <a:cs typeface="Calibri"/>
                <a:sym typeface="Calibri"/>
              </a:defRPr>
            </a:lvl7pPr>
            <a:lvl8pPr marL="0" marR="0" lvl="7" indent="0" algn="r" rtl="0">
              <a:spcBef>
                <a:spcPts val="0"/>
              </a:spcBef>
              <a:spcAft>
                <a:spcPts val="0"/>
              </a:spcAft>
              <a:buNone/>
              <a:defRPr sz="1200" b="0" i="0" u="none" strike="noStrike" cap="none">
                <a:solidFill>
                  <a:srgbClr val="898989"/>
                </a:solidFill>
                <a:latin typeface="Calibri"/>
                <a:ea typeface="Calibri"/>
                <a:cs typeface="Calibri"/>
                <a:sym typeface="Calibri"/>
              </a:defRPr>
            </a:lvl8pPr>
            <a:lvl9pPr marL="0" marR="0" lvl="8" indent="0" algn="r" rtl="0">
              <a:spcBef>
                <a:spcPts val="0"/>
              </a:spcBef>
              <a:spcAft>
                <a:spcPts val="0"/>
              </a:spcAft>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pic>
        <p:nvPicPr>
          <p:cNvPr id="88" name="Google Shape;88;p1" descr="Un conjunto de letras negras en un fondo blanco&#10;&#10;Descripción generada automáticamente con confianza media"/>
          <p:cNvPicPr preferRelativeResize="0"/>
          <p:nvPr/>
        </p:nvPicPr>
        <p:blipFill rotWithShape="1">
          <a:blip r:embed="rId3">
            <a:alphaModFix/>
          </a:blip>
          <a:srcRect/>
          <a:stretch/>
        </p:blipFill>
        <p:spPr>
          <a:xfrm>
            <a:off x="0" y="0"/>
            <a:ext cx="12192000" cy="7037762"/>
          </a:xfrm>
          <a:prstGeom prst="rect">
            <a:avLst/>
          </a:prstGeom>
          <a:noFill/>
          <a:ln>
            <a:noFill/>
          </a:ln>
        </p:spPr>
      </p:pic>
      <p:sp>
        <p:nvSpPr>
          <p:cNvPr id="89" name="Google Shape;89;p1"/>
          <p:cNvSpPr/>
          <p:nvPr/>
        </p:nvSpPr>
        <p:spPr>
          <a:xfrm>
            <a:off x="4063854" y="3570514"/>
            <a:ext cx="7308567" cy="1759132"/>
          </a:xfrm>
          <a:prstGeom prst="roundRect">
            <a:avLst>
              <a:gd name="adj" fmla="val 7874"/>
            </a:avLst>
          </a:prstGeom>
          <a:solidFill>
            <a:schemeClr val="dk1">
              <a:alpha val="75686"/>
            </a:schemeClr>
          </a:solidFill>
          <a:ln>
            <a:noFill/>
          </a:ln>
        </p:spPr>
        <p:txBody>
          <a:bodyPr spcFirstLastPara="1" wrap="square" lIns="91425" tIns="45700" rIns="540000" bIns="45700" anchor="ctr" anchorCtr="0">
            <a:noAutofit/>
          </a:bodyPr>
          <a:lstStyle/>
          <a:p>
            <a:pPr marL="0" marR="0" lvl="0" indent="0" algn="ctr" rtl="0">
              <a:spcBef>
                <a:spcPts val="0"/>
              </a:spcBef>
              <a:spcAft>
                <a:spcPts val="0"/>
              </a:spcAft>
              <a:buNone/>
            </a:pPr>
            <a:endParaRPr sz="2800" b="1" i="0" u="none" strike="noStrike" cap="none">
              <a:solidFill>
                <a:schemeClr val="lt1"/>
              </a:solidFill>
              <a:latin typeface="Calibri"/>
              <a:ea typeface="Calibri"/>
              <a:cs typeface="Calibri"/>
              <a:sym typeface="Calibri"/>
            </a:endParaRPr>
          </a:p>
        </p:txBody>
      </p:sp>
      <p:sp>
        <p:nvSpPr>
          <p:cNvPr id="90" name="Google Shape;90;p1"/>
          <p:cNvSpPr txBox="1">
            <a:spLocks noGrp="1"/>
          </p:cNvSpPr>
          <p:nvPr>
            <p:ph type="ctrTitle"/>
          </p:nvPr>
        </p:nvSpPr>
        <p:spPr>
          <a:xfrm>
            <a:off x="4116345" y="3748562"/>
            <a:ext cx="6792686" cy="1403036"/>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None/>
            </a:pPr>
            <a:r>
              <a:rPr lang="es-ES" sz="4800" b="1">
                <a:solidFill>
                  <a:schemeClr val="lt1"/>
                </a:solidFill>
                <a:latin typeface="Arial"/>
                <a:ea typeface="Arial"/>
                <a:cs typeface="Arial"/>
                <a:sym typeface="Arial"/>
              </a:rPr>
              <a:t> Muestra y Muestreo</a:t>
            </a:r>
            <a:br>
              <a:rPr lang="es-ES" sz="4800" b="1">
                <a:solidFill>
                  <a:schemeClr val="lt1"/>
                </a:solidFill>
                <a:latin typeface="Arial"/>
                <a:ea typeface="Arial"/>
                <a:cs typeface="Arial"/>
                <a:sym typeface="Arial"/>
              </a:rPr>
            </a:br>
            <a:endParaRPr sz="2800" b="1">
              <a:solidFill>
                <a:schemeClr val="lt1"/>
              </a:solidFill>
              <a:latin typeface="Arial"/>
              <a:ea typeface="Arial"/>
              <a:cs typeface="Arial"/>
              <a:sym typeface="Arial"/>
            </a:endParaRPr>
          </a:p>
        </p:txBody>
      </p:sp>
      <p:sp>
        <p:nvSpPr>
          <p:cNvPr id="92" name="Google Shape;92;p1"/>
          <p:cNvSpPr txBox="1"/>
          <p:nvPr/>
        </p:nvSpPr>
        <p:spPr>
          <a:xfrm>
            <a:off x="4349642" y="3112199"/>
            <a:ext cx="7022779" cy="40006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FFFF"/>
              </a:buClr>
              <a:buSzPts val="2000"/>
              <a:buFont typeface="Arial"/>
              <a:buNone/>
            </a:pPr>
            <a:r>
              <a:rPr lang="es-ES" sz="2000" b="1" i="0" u="none" strike="noStrike" cap="none">
                <a:solidFill>
                  <a:srgbClr val="FFFFFF"/>
                </a:solidFill>
                <a:latin typeface="Arial"/>
                <a:ea typeface="Arial"/>
                <a:cs typeface="Arial"/>
                <a:sym typeface="Arial"/>
              </a:rPr>
              <a:t> Inferencia Estadística</a:t>
            </a:r>
            <a:endParaRPr sz="20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90"/>
                                        </p:tgtEl>
                                        <p:attrNameLst>
                                          <p:attrName>style.visibility</p:attrName>
                                        </p:attrNameLst>
                                      </p:cBhvr>
                                      <p:to>
                                        <p:strVal val="visible"/>
                                      </p:to>
                                    </p:set>
                                    <p:animEffect transition="in" filter="fade">
                                      <p:cBhvr>
                                        <p:cTn id="7" dur="500"/>
                                        <p:tgtEl>
                                          <p:spTgt spid="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2"/>
          <p:cNvSpPr/>
          <p:nvPr/>
        </p:nvSpPr>
        <p:spPr>
          <a:xfrm>
            <a:off x="6068291" y="-551793"/>
            <a:ext cx="4860966" cy="5594848"/>
          </a:xfrm>
          <a:prstGeom prst="roundRect">
            <a:avLst>
              <a:gd name="adj" fmla="val 2778"/>
            </a:avLst>
          </a:prstGeom>
          <a:gradFill>
            <a:gsLst>
              <a:gs pos="0">
                <a:srgbClr val="58751F"/>
              </a:gs>
              <a:gs pos="50000">
                <a:srgbClr val="81AB2C"/>
              </a:gs>
              <a:gs pos="100000">
                <a:srgbClr val="9BCC36"/>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8" name="Google Shape;98;p2"/>
          <p:cNvSpPr txBox="1"/>
          <p:nvPr/>
        </p:nvSpPr>
        <p:spPr>
          <a:xfrm>
            <a:off x="722810" y="469681"/>
            <a:ext cx="4934211" cy="1008062"/>
          </a:xfrm>
          <a:prstGeom prst="rect">
            <a:avLst/>
          </a:prstGeom>
          <a:noFill/>
          <a:ln>
            <a:noFill/>
          </a:ln>
        </p:spPr>
        <p:txBody>
          <a:bodyPr spcFirstLastPara="1" wrap="square" lIns="91425" tIns="45700" rIns="91425" bIns="45700" anchor="ctr" anchorCtr="0">
            <a:noAutofit/>
          </a:bodyPr>
          <a:lstStyle/>
          <a:p>
            <a:pPr marL="0" marR="0" lvl="0" indent="0" algn="just" rtl="0">
              <a:lnSpc>
                <a:spcPct val="90000"/>
              </a:lnSpc>
              <a:spcBef>
                <a:spcPts val="0"/>
              </a:spcBef>
              <a:spcAft>
                <a:spcPts val="0"/>
              </a:spcAft>
              <a:buNone/>
            </a:pPr>
            <a:r>
              <a:rPr lang="es-ES" sz="3200">
                <a:solidFill>
                  <a:srgbClr val="7F7F7F"/>
                </a:solidFill>
                <a:latin typeface="Arial"/>
                <a:ea typeface="Arial"/>
                <a:cs typeface="Arial"/>
                <a:sym typeface="Arial"/>
              </a:rPr>
              <a:t>Objetivos de Aprendizaje</a:t>
            </a:r>
            <a:endParaRPr sz="3200">
              <a:solidFill>
                <a:srgbClr val="7F7F7F"/>
              </a:solidFill>
              <a:latin typeface="Arial"/>
              <a:ea typeface="Arial"/>
              <a:cs typeface="Arial"/>
              <a:sym typeface="Arial"/>
            </a:endParaRPr>
          </a:p>
        </p:txBody>
      </p:sp>
      <p:sp>
        <p:nvSpPr>
          <p:cNvPr id="99" name="Google Shape;99;p2"/>
          <p:cNvSpPr txBox="1"/>
          <p:nvPr/>
        </p:nvSpPr>
        <p:spPr>
          <a:xfrm>
            <a:off x="6336629" y="1946746"/>
            <a:ext cx="4324289" cy="2554545"/>
          </a:xfrm>
          <a:prstGeom prst="rect">
            <a:avLst/>
          </a:prstGeom>
          <a:noFill/>
          <a:ln>
            <a:noFill/>
          </a:ln>
        </p:spPr>
        <p:txBody>
          <a:bodyPr spcFirstLastPara="1" wrap="square" lIns="91425" tIns="45700" rIns="91425" bIns="45700" anchor="t" anchorCtr="0">
            <a:spAutoFit/>
          </a:bodyPr>
          <a:lstStyle/>
          <a:p>
            <a:pPr marL="342900" marR="0" lvl="0" indent="-342900" algn="just" rtl="0">
              <a:spcBef>
                <a:spcPts val="0"/>
              </a:spcBef>
              <a:spcAft>
                <a:spcPts val="0"/>
              </a:spcAft>
              <a:buClr>
                <a:srgbClr val="FFFFFF"/>
              </a:buClr>
              <a:buSzPts val="2000"/>
              <a:buFont typeface="Noto Sans Symbols"/>
              <a:buChar char="⮚"/>
            </a:pPr>
            <a:r>
              <a:rPr lang="es-ES" sz="2000">
                <a:solidFill>
                  <a:srgbClr val="FFFFFF"/>
                </a:solidFill>
                <a:latin typeface="Calibri"/>
                <a:ea typeface="Calibri"/>
                <a:cs typeface="Calibri"/>
                <a:sym typeface="Calibri"/>
              </a:rPr>
              <a:t>Utiliza los conceptos básicos de estadística Inferencial.</a:t>
            </a:r>
            <a:endParaRPr/>
          </a:p>
          <a:p>
            <a:pPr marL="342900" marR="0" lvl="0" indent="-215900" algn="just" rtl="0">
              <a:spcBef>
                <a:spcPts val="0"/>
              </a:spcBef>
              <a:spcAft>
                <a:spcPts val="0"/>
              </a:spcAft>
              <a:buClr>
                <a:srgbClr val="FFFFFF"/>
              </a:buClr>
              <a:buSzPts val="2000"/>
              <a:buFont typeface="Noto Sans Symbols"/>
              <a:buNone/>
            </a:pPr>
            <a:endParaRPr sz="2000">
              <a:solidFill>
                <a:schemeClr val="dk1"/>
              </a:solidFill>
              <a:latin typeface="Calibri"/>
              <a:ea typeface="Calibri"/>
              <a:cs typeface="Calibri"/>
              <a:sym typeface="Calibri"/>
            </a:endParaRPr>
          </a:p>
          <a:p>
            <a:pPr marL="342900" marR="0" lvl="0" indent="-342900" algn="just" rtl="0">
              <a:spcBef>
                <a:spcPts val="0"/>
              </a:spcBef>
              <a:spcAft>
                <a:spcPts val="0"/>
              </a:spcAft>
              <a:buClr>
                <a:srgbClr val="FFFFFF"/>
              </a:buClr>
              <a:buSzPts val="2000"/>
              <a:buFont typeface="Noto Sans Symbols"/>
              <a:buChar char="⮚"/>
            </a:pPr>
            <a:r>
              <a:rPr lang="es-ES" sz="2000">
                <a:solidFill>
                  <a:srgbClr val="FFFFFF"/>
                </a:solidFill>
                <a:latin typeface="Calibri"/>
                <a:ea typeface="Calibri"/>
                <a:cs typeface="Calibri"/>
                <a:sym typeface="Calibri"/>
              </a:rPr>
              <a:t>Reconocer técnicas de muestreo.</a:t>
            </a:r>
            <a:endParaRPr/>
          </a:p>
          <a:p>
            <a:pPr marL="342900" marR="0" lvl="0" indent="-215900" algn="just" rtl="0">
              <a:spcBef>
                <a:spcPts val="0"/>
              </a:spcBef>
              <a:spcAft>
                <a:spcPts val="0"/>
              </a:spcAft>
              <a:buClr>
                <a:srgbClr val="FFFFFF"/>
              </a:buClr>
              <a:buSzPts val="2000"/>
              <a:buFont typeface="Noto Sans Symbols"/>
              <a:buNone/>
            </a:pPr>
            <a:endParaRPr sz="2000">
              <a:solidFill>
                <a:schemeClr val="dk1"/>
              </a:solidFill>
              <a:latin typeface="Calibri"/>
              <a:ea typeface="Calibri"/>
              <a:cs typeface="Calibri"/>
              <a:sym typeface="Calibri"/>
            </a:endParaRPr>
          </a:p>
          <a:p>
            <a:pPr marL="342900" marR="0" lvl="0" indent="-342900" algn="just" rtl="0">
              <a:spcBef>
                <a:spcPts val="0"/>
              </a:spcBef>
              <a:spcAft>
                <a:spcPts val="0"/>
              </a:spcAft>
              <a:buClr>
                <a:srgbClr val="FFFFFF"/>
              </a:buClr>
              <a:buSzPts val="2000"/>
              <a:buFont typeface="Noto Sans Symbols"/>
              <a:buChar char="⮚"/>
            </a:pPr>
            <a:r>
              <a:rPr lang="es-ES" sz="2000">
                <a:solidFill>
                  <a:srgbClr val="FFFFFF"/>
                </a:solidFill>
                <a:latin typeface="Calibri"/>
                <a:ea typeface="Calibri"/>
                <a:cs typeface="Calibri"/>
                <a:sym typeface="Calibri"/>
              </a:rPr>
              <a:t>Realizar  cálculos  de  probabilidad  utilizando  la distribución muestral para resolver un problema.</a:t>
            </a:r>
            <a:endParaRPr/>
          </a:p>
        </p:txBody>
      </p:sp>
      <p:grpSp>
        <p:nvGrpSpPr>
          <p:cNvPr id="100" name="Google Shape;100;p2"/>
          <p:cNvGrpSpPr/>
          <p:nvPr/>
        </p:nvGrpSpPr>
        <p:grpSpPr>
          <a:xfrm>
            <a:off x="1216330" y="1659284"/>
            <a:ext cx="3524500" cy="3720972"/>
            <a:chOff x="980271" y="0"/>
            <a:chExt cx="3524500" cy="3720972"/>
          </a:xfrm>
        </p:grpSpPr>
        <p:sp>
          <p:nvSpPr>
            <p:cNvPr id="101" name="Google Shape;101;p2"/>
            <p:cNvSpPr/>
            <p:nvPr/>
          </p:nvSpPr>
          <p:spPr>
            <a:xfrm>
              <a:off x="980271" y="0"/>
              <a:ext cx="3524500" cy="3524500"/>
            </a:xfrm>
            <a:prstGeom prst="ellipse">
              <a:avLst/>
            </a:prstGeom>
            <a:blipFill rotWithShape="1">
              <a:blip r:embed="rId3">
                <a:alphaModFix/>
              </a:blip>
              <a:stretch>
                <a:fillRect l="-24998" r="-24998"/>
              </a:stretch>
            </a:blip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2"/>
            <p:cNvSpPr/>
            <p:nvPr/>
          </p:nvSpPr>
          <p:spPr>
            <a:xfrm flipH="1">
              <a:off x="3413435" y="3516041"/>
              <a:ext cx="97637" cy="204931"/>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2"/>
            <p:cNvSpPr txBox="1"/>
            <p:nvPr/>
          </p:nvSpPr>
          <p:spPr>
            <a:xfrm>
              <a:off x="3413435" y="3516041"/>
              <a:ext cx="97637" cy="204931"/>
            </a:xfrm>
            <a:prstGeom prst="rect">
              <a:avLst/>
            </a:prstGeom>
            <a:noFill/>
            <a:ln>
              <a:noFill/>
            </a:ln>
          </p:spPr>
          <p:txBody>
            <a:bodyPr spcFirstLastPara="1" wrap="square" lIns="0" tIns="0" rIns="0" bIns="0" anchor="b" anchorCtr="0">
              <a:noAutofit/>
            </a:bodyPr>
            <a:lstStyle/>
            <a:p>
              <a:pPr marL="0" marR="0" lvl="0" indent="0" algn="ctr" rtl="0">
                <a:lnSpc>
                  <a:spcPct val="90000"/>
                </a:lnSpc>
                <a:spcBef>
                  <a:spcPts val="0"/>
                </a:spcBef>
                <a:spcAft>
                  <a:spcPts val="0"/>
                </a:spcAft>
                <a:buNone/>
              </a:pPr>
              <a:endParaRPr sz="500">
                <a:solidFill>
                  <a:schemeClr val="lt1"/>
                </a:solidFill>
                <a:latin typeface="Calibri"/>
                <a:ea typeface="Calibri"/>
                <a:cs typeface="Calibri"/>
                <a:sym typeface="Calibri"/>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98"/>
                                        </p:tgtEl>
                                        <p:attrNameLst>
                                          <p:attrName>style.visibility</p:attrName>
                                        </p:attrNameLst>
                                      </p:cBhvr>
                                      <p:to>
                                        <p:strVal val="visible"/>
                                      </p:to>
                                    </p:set>
                                    <p:animEffect transition="in" filter="fade">
                                      <p:cBhvr>
                                        <p:cTn id="7" dur="500"/>
                                        <p:tgtEl>
                                          <p:spTgt spid="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3"/>
          <p:cNvSpPr txBox="1"/>
          <p:nvPr/>
        </p:nvSpPr>
        <p:spPr>
          <a:xfrm>
            <a:off x="1364192" y="1607482"/>
            <a:ext cx="4984357" cy="1008062"/>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None/>
            </a:pPr>
            <a:r>
              <a:rPr lang="es-ES" sz="3200">
                <a:solidFill>
                  <a:srgbClr val="7F7F7F"/>
                </a:solidFill>
                <a:latin typeface="Arial"/>
                <a:ea typeface="Arial"/>
                <a:cs typeface="Arial"/>
                <a:sym typeface="Arial"/>
              </a:rPr>
              <a:t>Contenido:</a:t>
            </a:r>
            <a:endParaRPr/>
          </a:p>
        </p:txBody>
      </p:sp>
      <p:sp>
        <p:nvSpPr>
          <p:cNvPr id="110" name="Google Shape;110;p3"/>
          <p:cNvSpPr/>
          <p:nvPr/>
        </p:nvSpPr>
        <p:spPr>
          <a:xfrm>
            <a:off x="-360225" y="2507601"/>
            <a:ext cx="6913500" cy="1711200"/>
          </a:xfrm>
          <a:prstGeom prst="roundRect">
            <a:avLst>
              <a:gd name="adj" fmla="val 4466"/>
            </a:avLst>
          </a:prstGeom>
          <a:gradFill>
            <a:gsLst>
              <a:gs pos="0">
                <a:srgbClr val="58751F"/>
              </a:gs>
              <a:gs pos="50000">
                <a:srgbClr val="81AB2C"/>
              </a:gs>
              <a:gs pos="100000">
                <a:srgbClr val="9BCC36"/>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1" name="Google Shape;111;p3"/>
          <p:cNvSpPr txBox="1"/>
          <p:nvPr/>
        </p:nvSpPr>
        <p:spPr>
          <a:xfrm>
            <a:off x="1364192" y="2798331"/>
            <a:ext cx="4348500" cy="1108200"/>
          </a:xfrm>
          <a:prstGeom prst="rect">
            <a:avLst/>
          </a:prstGeom>
          <a:noFill/>
          <a:ln>
            <a:noFill/>
          </a:ln>
        </p:spPr>
        <p:txBody>
          <a:bodyPr spcFirstLastPara="1" wrap="square" lIns="91425" tIns="45700" rIns="91425" bIns="45700" anchor="t" anchorCtr="0">
            <a:spAutoFit/>
          </a:bodyPr>
          <a:lstStyle/>
          <a:p>
            <a:pPr marL="342900" marR="0" lvl="0" indent="-342900" algn="just" rtl="0">
              <a:lnSpc>
                <a:spcPct val="115000"/>
              </a:lnSpc>
              <a:spcBef>
                <a:spcPts val="0"/>
              </a:spcBef>
              <a:spcAft>
                <a:spcPts val="0"/>
              </a:spcAft>
              <a:buClr>
                <a:srgbClr val="FFFFFF"/>
              </a:buClr>
              <a:buSzPts val="2000"/>
              <a:buFont typeface="Calibri"/>
              <a:buAutoNum type="arabicPeriod"/>
            </a:pPr>
            <a:r>
              <a:rPr lang="es-ES" sz="2000">
                <a:solidFill>
                  <a:srgbClr val="FFFFFF"/>
                </a:solidFill>
                <a:latin typeface="Calibri"/>
                <a:ea typeface="Calibri"/>
                <a:cs typeface="Calibri"/>
                <a:sym typeface="Calibri"/>
              </a:rPr>
              <a:t>Muestreo.</a:t>
            </a:r>
            <a:endParaRPr sz="2000">
              <a:solidFill>
                <a:schemeClr val="dk1"/>
              </a:solidFill>
              <a:latin typeface="Calibri"/>
              <a:ea typeface="Calibri"/>
              <a:cs typeface="Calibri"/>
              <a:sym typeface="Calibri"/>
            </a:endParaRPr>
          </a:p>
          <a:p>
            <a:pPr marL="342900" marR="0" lvl="0" indent="-342900" algn="just" rtl="0">
              <a:lnSpc>
                <a:spcPct val="115000"/>
              </a:lnSpc>
              <a:spcBef>
                <a:spcPts val="0"/>
              </a:spcBef>
              <a:spcAft>
                <a:spcPts val="0"/>
              </a:spcAft>
              <a:buClr>
                <a:srgbClr val="FFFFFF"/>
              </a:buClr>
              <a:buSzPts val="2000"/>
              <a:buFont typeface="Calibri"/>
              <a:buAutoNum type="arabicPeriod"/>
            </a:pPr>
            <a:r>
              <a:rPr lang="es-ES" sz="2000">
                <a:solidFill>
                  <a:srgbClr val="FFFFFF"/>
                </a:solidFill>
                <a:latin typeface="Calibri"/>
                <a:ea typeface="Calibri"/>
                <a:cs typeface="Calibri"/>
                <a:sym typeface="Calibri"/>
              </a:rPr>
              <a:t>Tamaño Muestral.</a:t>
            </a:r>
            <a:endParaRPr sz="2000">
              <a:solidFill>
                <a:schemeClr val="dk1"/>
              </a:solidFill>
              <a:latin typeface="Calibri"/>
              <a:ea typeface="Calibri"/>
              <a:cs typeface="Calibri"/>
              <a:sym typeface="Calibri"/>
            </a:endParaRPr>
          </a:p>
          <a:p>
            <a:pPr marL="342900" marR="0" lvl="0" indent="-342900" algn="just" rtl="0">
              <a:lnSpc>
                <a:spcPct val="115000"/>
              </a:lnSpc>
              <a:spcBef>
                <a:spcPts val="0"/>
              </a:spcBef>
              <a:spcAft>
                <a:spcPts val="0"/>
              </a:spcAft>
              <a:buClr>
                <a:srgbClr val="FFFFFF"/>
              </a:buClr>
              <a:buSzPts val="2000"/>
              <a:buFont typeface="Calibri"/>
              <a:buAutoNum type="arabicPeriod"/>
            </a:pPr>
            <a:r>
              <a:rPr lang="es-ES" sz="2000">
                <a:solidFill>
                  <a:srgbClr val="FFFFFF"/>
                </a:solidFill>
                <a:latin typeface="Calibri"/>
                <a:ea typeface="Calibri"/>
                <a:cs typeface="Calibri"/>
                <a:sym typeface="Calibri"/>
              </a:rPr>
              <a:t>Tipos de Muestreo.</a:t>
            </a:r>
            <a:endParaRPr sz="2000">
              <a:solidFill>
                <a:schemeClr val="dk1"/>
              </a:solidFill>
              <a:latin typeface="Calibri"/>
              <a:ea typeface="Calibri"/>
              <a:cs typeface="Calibri"/>
              <a:sym typeface="Calibri"/>
            </a:endParaRPr>
          </a:p>
        </p:txBody>
      </p:sp>
      <p:sp>
        <p:nvSpPr>
          <p:cNvPr id="112" name="Google Shape;112;p3"/>
          <p:cNvSpPr/>
          <p:nvPr/>
        </p:nvSpPr>
        <p:spPr>
          <a:xfrm>
            <a:off x="7933422" y="1395816"/>
            <a:ext cx="3524500" cy="3524500"/>
          </a:xfrm>
          <a:prstGeom prst="ellipse">
            <a:avLst/>
          </a:prstGeom>
          <a:blipFill rotWithShape="1">
            <a:blip r:embed="rId3">
              <a:alphaModFix/>
            </a:blip>
            <a:stretch>
              <a:fillRect l="-24998" r="-24998"/>
            </a:stretch>
          </a:blipFill>
          <a:ln w="12700" cap="flat" cmpd="sng">
            <a:solidFill>
              <a:schemeClr val="lt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9"/>
                                        </p:tgtEl>
                                        <p:attrNameLst>
                                          <p:attrName>style.visibility</p:attrName>
                                        </p:attrNameLst>
                                      </p:cBhvr>
                                      <p:to>
                                        <p:strVal val="visible"/>
                                      </p:to>
                                    </p:set>
                                    <p:animEffect transition="in" filter="fade">
                                      <p:cBhvr>
                                        <p:cTn id="7" dur="500"/>
                                        <p:tgtEl>
                                          <p:spTgt spid="1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4"/>
          <p:cNvSpPr txBox="1"/>
          <p:nvPr/>
        </p:nvSpPr>
        <p:spPr>
          <a:xfrm>
            <a:off x="870313" y="3517151"/>
            <a:ext cx="3823607" cy="1008062"/>
          </a:xfrm>
          <a:prstGeom prst="rect">
            <a:avLst/>
          </a:prstGeom>
          <a:noFill/>
          <a:ln>
            <a:noFill/>
          </a:ln>
        </p:spPr>
        <p:txBody>
          <a:bodyPr spcFirstLastPara="1" wrap="square" lIns="91425" tIns="45700" rIns="91425" bIns="45700" anchor="ctr" anchorCtr="0">
            <a:noAutofit/>
          </a:bodyPr>
          <a:lstStyle/>
          <a:p>
            <a:pPr marL="0" marR="0" lvl="0" indent="0" algn="ctr" rtl="0">
              <a:lnSpc>
                <a:spcPct val="150000"/>
              </a:lnSpc>
              <a:spcBef>
                <a:spcPts val="0"/>
              </a:spcBef>
              <a:spcAft>
                <a:spcPts val="0"/>
              </a:spcAft>
              <a:buNone/>
            </a:pPr>
            <a:r>
              <a:rPr lang="es-ES" sz="3600">
                <a:solidFill>
                  <a:srgbClr val="7F7F7F"/>
                </a:solidFill>
                <a:latin typeface="Arial"/>
                <a:ea typeface="Arial"/>
                <a:cs typeface="Arial"/>
                <a:sym typeface="Arial"/>
              </a:rPr>
              <a:t>Muestreo</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17"/>
                                        </p:tgtEl>
                                        <p:attrNameLst>
                                          <p:attrName>style.visibility</p:attrName>
                                        </p:attrNameLst>
                                      </p:cBhvr>
                                      <p:to>
                                        <p:strVal val="visible"/>
                                      </p:to>
                                    </p:set>
                                    <p:animEffect transition="in" filter="fade">
                                      <p:cBhvr>
                                        <p:cTn id="7" dur="500"/>
                                        <p:tgtEl>
                                          <p:spTgt spid="1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5"/>
          <p:cNvSpPr/>
          <p:nvPr/>
        </p:nvSpPr>
        <p:spPr>
          <a:xfrm>
            <a:off x="914400" y="1142173"/>
            <a:ext cx="10363200" cy="4847147"/>
          </a:xfrm>
          <a:prstGeom prst="roundRect">
            <a:avLst>
              <a:gd name="adj" fmla="val 2971"/>
            </a:avLst>
          </a:prstGeom>
          <a:solidFill>
            <a:schemeClr val="lt1"/>
          </a:solidFill>
          <a:ln w="38100" cap="flat" cmpd="sng">
            <a:solidFill>
              <a:srgbClr val="98C3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123" name="Google Shape;123;p5"/>
          <p:cNvSpPr txBox="1"/>
          <p:nvPr/>
        </p:nvSpPr>
        <p:spPr>
          <a:xfrm>
            <a:off x="914400" y="67055"/>
            <a:ext cx="10276114" cy="1008062"/>
          </a:xfrm>
          <a:prstGeom prst="rect">
            <a:avLst/>
          </a:prstGeom>
          <a:noFill/>
          <a:ln>
            <a:noFill/>
          </a:ln>
        </p:spPr>
        <p:txBody>
          <a:bodyPr spcFirstLastPara="1" wrap="square" lIns="91425" tIns="45700" rIns="91425" bIns="45700" anchor="ctr" anchorCtr="0">
            <a:noAutofit/>
          </a:bodyPr>
          <a:lstStyle/>
          <a:p>
            <a:pPr marL="0" marR="0" lvl="0" indent="0" algn="just" rtl="0">
              <a:lnSpc>
                <a:spcPct val="150000"/>
              </a:lnSpc>
              <a:spcBef>
                <a:spcPts val="0"/>
              </a:spcBef>
              <a:spcAft>
                <a:spcPts val="0"/>
              </a:spcAft>
              <a:buNone/>
            </a:pPr>
            <a:r>
              <a:rPr lang="es-ES" sz="3200">
                <a:solidFill>
                  <a:srgbClr val="7F7F7F"/>
                </a:solidFill>
                <a:latin typeface="Arial"/>
                <a:ea typeface="Arial"/>
                <a:cs typeface="Arial"/>
                <a:sym typeface="Arial"/>
              </a:rPr>
              <a:t>Muestra Poblacional</a:t>
            </a:r>
            <a:endParaRPr sz="3200">
              <a:solidFill>
                <a:srgbClr val="7F7F7F"/>
              </a:solidFill>
              <a:latin typeface="Arial"/>
              <a:ea typeface="Arial"/>
              <a:cs typeface="Arial"/>
              <a:sym typeface="Arial"/>
            </a:endParaRPr>
          </a:p>
        </p:txBody>
      </p:sp>
      <p:pic>
        <p:nvPicPr>
          <p:cNvPr id="124" name="Google Shape;124;p5"/>
          <p:cNvPicPr preferRelativeResize="0"/>
          <p:nvPr/>
        </p:nvPicPr>
        <p:blipFill rotWithShape="1">
          <a:blip r:embed="rId3">
            <a:alphaModFix/>
          </a:blip>
          <a:srcRect t="5968" r="11213" b="26908"/>
          <a:stretch/>
        </p:blipFill>
        <p:spPr>
          <a:xfrm>
            <a:off x="1224844" y="1357488"/>
            <a:ext cx="9742311" cy="4143022"/>
          </a:xfrm>
          <a:prstGeom prst="rect">
            <a:avLst/>
          </a:prstGeom>
          <a:noFill/>
          <a:ln>
            <a:noFill/>
          </a:ln>
        </p:spPr>
      </p:pic>
      <p:sp>
        <p:nvSpPr>
          <p:cNvPr id="125" name="Google Shape;125;p5"/>
          <p:cNvSpPr txBox="1"/>
          <p:nvPr/>
        </p:nvSpPr>
        <p:spPr>
          <a:xfrm>
            <a:off x="3508746" y="5500510"/>
            <a:ext cx="1100173"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a:solidFill>
                  <a:srgbClr val="7F7F7F"/>
                </a:solidFill>
                <a:latin typeface="Calibri"/>
                <a:ea typeface="Calibri"/>
                <a:cs typeface="Calibri"/>
                <a:sym typeface="Calibri"/>
              </a:rPr>
              <a:t>Población</a:t>
            </a:r>
            <a:endParaRPr/>
          </a:p>
        </p:txBody>
      </p:sp>
      <p:sp>
        <p:nvSpPr>
          <p:cNvPr id="126" name="Google Shape;126;p5"/>
          <p:cNvSpPr txBox="1"/>
          <p:nvPr/>
        </p:nvSpPr>
        <p:spPr>
          <a:xfrm>
            <a:off x="8856132" y="4578791"/>
            <a:ext cx="1336632" cy="36929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a:solidFill>
                  <a:srgbClr val="7F7F7F"/>
                </a:solidFill>
                <a:latin typeface="Calibri"/>
                <a:ea typeface="Calibri"/>
                <a:cs typeface="Calibri"/>
                <a:sym typeface="Calibri"/>
              </a:rPr>
              <a:t>Muestra</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23"/>
                                        </p:tgtEl>
                                        <p:attrNameLst>
                                          <p:attrName>style.visibility</p:attrName>
                                        </p:attrNameLst>
                                      </p:cBhvr>
                                      <p:to>
                                        <p:strVal val="visible"/>
                                      </p:to>
                                    </p:set>
                                    <p:animEffect transition="in" filter="fade">
                                      <p:cBhvr>
                                        <p:cTn id="7" dur="500"/>
                                        <p:tgtEl>
                                          <p:spTgt spid="1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pic>
        <p:nvPicPr>
          <p:cNvPr id="131" name="Google Shape;131;p6" descr="Patrón de fondo"/>
          <p:cNvPicPr preferRelativeResize="0"/>
          <p:nvPr/>
        </p:nvPicPr>
        <p:blipFill rotWithShape="1">
          <a:blip r:embed="rId3">
            <a:alphaModFix/>
          </a:blip>
          <a:srcRect/>
          <a:stretch/>
        </p:blipFill>
        <p:spPr>
          <a:xfrm>
            <a:off x="0" y="0"/>
            <a:ext cx="12192000" cy="6858001"/>
          </a:xfrm>
          <a:prstGeom prst="rect">
            <a:avLst/>
          </a:prstGeom>
          <a:noFill/>
          <a:ln>
            <a:noFill/>
          </a:ln>
        </p:spPr>
      </p:pic>
      <p:sp>
        <p:nvSpPr>
          <p:cNvPr id="132" name="Google Shape;132;p6"/>
          <p:cNvSpPr/>
          <p:nvPr/>
        </p:nvSpPr>
        <p:spPr>
          <a:xfrm>
            <a:off x="-186333" y="1913212"/>
            <a:ext cx="9957350" cy="3692763"/>
          </a:xfrm>
          <a:prstGeom prst="roundRect">
            <a:avLst>
              <a:gd name="adj" fmla="val 2971"/>
            </a:avLst>
          </a:prstGeom>
          <a:gradFill>
            <a:gsLst>
              <a:gs pos="0">
                <a:srgbClr val="58751F"/>
              </a:gs>
              <a:gs pos="50000">
                <a:srgbClr val="81AB2C"/>
              </a:gs>
              <a:gs pos="100000">
                <a:srgbClr val="9BCC36"/>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3" name="Google Shape;133;p6"/>
          <p:cNvSpPr txBox="1"/>
          <p:nvPr/>
        </p:nvSpPr>
        <p:spPr>
          <a:xfrm>
            <a:off x="1647372" y="2189932"/>
            <a:ext cx="7122160" cy="3139321"/>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chemeClr val="lt1"/>
                </a:solidFill>
                <a:latin typeface="Calibri"/>
                <a:ea typeface="Calibri"/>
                <a:cs typeface="Calibri"/>
                <a:sym typeface="Calibri"/>
              </a:rPr>
              <a:t>Los términos </a:t>
            </a:r>
            <a:r>
              <a:rPr lang="es-ES" sz="1800" b="1">
                <a:solidFill>
                  <a:schemeClr val="lt1"/>
                </a:solidFill>
                <a:latin typeface="Calibri"/>
                <a:ea typeface="Calibri"/>
                <a:cs typeface="Calibri"/>
                <a:sym typeface="Calibri"/>
              </a:rPr>
              <a:t>población </a:t>
            </a:r>
            <a:r>
              <a:rPr lang="es-ES" sz="1800">
                <a:solidFill>
                  <a:schemeClr val="lt1"/>
                </a:solidFill>
                <a:latin typeface="Calibri"/>
                <a:ea typeface="Calibri"/>
                <a:cs typeface="Calibri"/>
                <a:sym typeface="Calibri"/>
              </a:rPr>
              <a:t>( o universo ) y </a:t>
            </a:r>
            <a:r>
              <a:rPr lang="es-ES" sz="1800" b="1">
                <a:solidFill>
                  <a:schemeClr val="lt1"/>
                </a:solidFill>
                <a:latin typeface="Calibri"/>
                <a:ea typeface="Calibri"/>
                <a:cs typeface="Calibri"/>
                <a:sym typeface="Calibri"/>
              </a:rPr>
              <a:t>muestra </a:t>
            </a:r>
            <a:r>
              <a:rPr lang="es-ES" sz="1800">
                <a:solidFill>
                  <a:schemeClr val="lt1"/>
                </a:solidFill>
                <a:latin typeface="Calibri"/>
                <a:ea typeface="Calibri"/>
                <a:cs typeface="Calibri"/>
                <a:sym typeface="Calibri"/>
              </a:rPr>
              <a:t>son términos </a:t>
            </a:r>
            <a:r>
              <a:rPr lang="es-ES" sz="1800" b="1">
                <a:solidFill>
                  <a:schemeClr val="lt1"/>
                </a:solidFill>
                <a:latin typeface="Calibri"/>
                <a:ea typeface="Calibri"/>
                <a:cs typeface="Calibri"/>
                <a:sym typeface="Calibri"/>
              </a:rPr>
              <a:t>relativos</a:t>
            </a:r>
            <a:r>
              <a:rPr lang="es-ES" sz="1800">
                <a:solidFill>
                  <a:schemeClr val="lt1"/>
                </a:solidFill>
                <a:latin typeface="Calibri"/>
                <a:ea typeface="Calibri"/>
                <a:cs typeface="Calibri"/>
                <a:sym typeface="Calibri"/>
              </a:rPr>
              <a:t>. </a:t>
            </a:r>
            <a:endParaRPr sz="1800">
              <a:solidFill>
                <a:schemeClr val="lt1"/>
              </a:solidFill>
              <a:latin typeface="Calibri"/>
              <a:ea typeface="Calibri"/>
              <a:cs typeface="Calibri"/>
              <a:sym typeface="Calibri"/>
            </a:endParaRPr>
          </a:p>
          <a:p>
            <a:pPr marL="0" marR="0" lvl="0" indent="0" algn="just" rtl="0">
              <a:spcBef>
                <a:spcPts val="0"/>
              </a:spcBef>
              <a:spcAft>
                <a:spcPts val="0"/>
              </a:spcAft>
              <a:buNone/>
            </a:pPr>
            <a:endParaRPr sz="1800">
              <a:solidFill>
                <a:schemeClr val="lt1"/>
              </a:solidFill>
              <a:latin typeface="Calibri"/>
              <a:ea typeface="Calibri"/>
              <a:cs typeface="Calibri"/>
              <a:sym typeface="Calibri"/>
            </a:endParaRPr>
          </a:p>
          <a:p>
            <a:pPr marL="0" marR="0" lvl="0" indent="0" algn="just" rtl="0">
              <a:spcBef>
                <a:spcPts val="0"/>
              </a:spcBef>
              <a:spcAft>
                <a:spcPts val="0"/>
              </a:spcAft>
              <a:buNone/>
            </a:pPr>
            <a:r>
              <a:rPr lang="es-ES" sz="1800">
                <a:solidFill>
                  <a:schemeClr val="lt1"/>
                </a:solidFill>
                <a:latin typeface="Calibri"/>
                <a:ea typeface="Calibri"/>
                <a:cs typeface="Calibri"/>
                <a:sym typeface="Calibri"/>
              </a:rPr>
              <a:t>La </a:t>
            </a:r>
            <a:r>
              <a:rPr lang="es-ES" sz="1800" b="1">
                <a:solidFill>
                  <a:schemeClr val="lt1"/>
                </a:solidFill>
                <a:latin typeface="Calibri"/>
                <a:ea typeface="Calibri"/>
                <a:cs typeface="Calibri"/>
                <a:sym typeface="Calibri"/>
              </a:rPr>
              <a:t>población</a:t>
            </a:r>
            <a:r>
              <a:rPr lang="es-ES" sz="1800">
                <a:solidFill>
                  <a:schemeClr val="lt1"/>
                </a:solidFill>
                <a:latin typeface="Calibri"/>
                <a:ea typeface="Calibri"/>
                <a:cs typeface="Calibri"/>
                <a:sym typeface="Calibri"/>
              </a:rPr>
              <a:t> es el </a:t>
            </a:r>
            <a:r>
              <a:rPr lang="es-ES" sz="1800" b="1">
                <a:solidFill>
                  <a:schemeClr val="lt1"/>
                </a:solidFill>
                <a:latin typeface="Calibri"/>
                <a:ea typeface="Calibri"/>
                <a:cs typeface="Calibri"/>
                <a:sym typeface="Calibri"/>
              </a:rPr>
              <a:t>conjunto de elementos (sujetos, objetos o indicadores) que presentan determinada característica o propiedad en común</a:t>
            </a:r>
            <a:r>
              <a:rPr lang="es-ES" sz="1800">
                <a:solidFill>
                  <a:schemeClr val="lt1"/>
                </a:solidFill>
                <a:latin typeface="Calibri"/>
                <a:ea typeface="Calibri"/>
                <a:cs typeface="Calibri"/>
                <a:sym typeface="Calibri"/>
              </a:rPr>
              <a:t>, que el investigador quiere analizar al realizar la investigación y que satisfacen un conjunto predeterminado de criterios establecidos (definidos) por el analista. Es decir, son </a:t>
            </a:r>
            <a:r>
              <a:rPr lang="es-ES" sz="1800" b="1">
                <a:solidFill>
                  <a:schemeClr val="lt1"/>
                </a:solidFill>
                <a:latin typeface="Calibri"/>
                <a:ea typeface="Calibri"/>
                <a:cs typeface="Calibri"/>
                <a:sym typeface="Calibri"/>
              </a:rPr>
              <a:t>los “casos” investigados</a:t>
            </a:r>
            <a:r>
              <a:rPr lang="es-ES" sz="1800">
                <a:solidFill>
                  <a:schemeClr val="lt1"/>
                </a:solidFill>
                <a:latin typeface="Calibri"/>
                <a:ea typeface="Calibri"/>
                <a:cs typeface="Calibri"/>
                <a:sym typeface="Calibri"/>
              </a:rPr>
              <a:t>, que pueden ser personas, animales, registros de cualquier tipo, muestras de laboratorios, etc., pero que son siempre </a:t>
            </a:r>
            <a:r>
              <a:rPr lang="es-ES" sz="1800" b="1">
                <a:solidFill>
                  <a:schemeClr val="lt1"/>
                </a:solidFill>
                <a:latin typeface="Calibri"/>
                <a:ea typeface="Calibri"/>
                <a:cs typeface="Calibri"/>
                <a:sym typeface="Calibri"/>
              </a:rPr>
              <a:t>elementos que comparten una determinada característica predefinida por el investigador</a:t>
            </a:r>
            <a:r>
              <a:rPr lang="es-ES" sz="1800">
                <a:solidFill>
                  <a:schemeClr val="lt1"/>
                </a:solidFill>
                <a:latin typeface="Calibri"/>
                <a:ea typeface="Calibri"/>
                <a:cs typeface="Calibri"/>
                <a:sym typeface="Calibri"/>
              </a:rPr>
              <a:t>, en base a la cual se agrupan en una determinada población. </a:t>
            </a:r>
            <a:endParaRPr/>
          </a:p>
        </p:txBody>
      </p:sp>
      <p:sp>
        <p:nvSpPr>
          <p:cNvPr id="134" name="Google Shape;134;p6"/>
          <p:cNvSpPr txBox="1"/>
          <p:nvPr/>
        </p:nvSpPr>
        <p:spPr>
          <a:xfrm>
            <a:off x="1647372" y="905150"/>
            <a:ext cx="9342847" cy="1008062"/>
          </a:xfrm>
          <a:prstGeom prst="rect">
            <a:avLst/>
          </a:prstGeom>
          <a:noFill/>
          <a:ln>
            <a:noFill/>
          </a:ln>
        </p:spPr>
        <p:txBody>
          <a:bodyPr spcFirstLastPara="1" wrap="square" lIns="91425" tIns="45700" rIns="91425" bIns="45700" anchor="ctr" anchorCtr="0">
            <a:noAutofit/>
          </a:bodyPr>
          <a:lstStyle/>
          <a:p>
            <a:pPr marL="0" marR="0" lvl="0" indent="0" algn="just" rtl="0">
              <a:lnSpc>
                <a:spcPct val="150000"/>
              </a:lnSpc>
              <a:spcBef>
                <a:spcPts val="0"/>
              </a:spcBef>
              <a:spcAft>
                <a:spcPts val="0"/>
              </a:spcAft>
              <a:buNone/>
            </a:pPr>
            <a:r>
              <a:rPr lang="es-ES" sz="3200">
                <a:solidFill>
                  <a:srgbClr val="7F7F7F"/>
                </a:solidFill>
                <a:latin typeface="Arial"/>
                <a:ea typeface="Arial"/>
                <a:cs typeface="Arial"/>
                <a:sym typeface="Arial"/>
              </a:rPr>
              <a:t>Población</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34"/>
                                        </p:tgtEl>
                                        <p:attrNameLst>
                                          <p:attrName>style.visibility</p:attrName>
                                        </p:attrNameLst>
                                      </p:cBhvr>
                                      <p:to>
                                        <p:strVal val="visible"/>
                                      </p:to>
                                    </p:set>
                                    <p:animEffect transition="in" filter="fade">
                                      <p:cBhvr>
                                        <p:cTn id="7" dur="500"/>
                                        <p:tgtEl>
                                          <p:spTgt spid="1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7"/>
          <p:cNvSpPr/>
          <p:nvPr/>
        </p:nvSpPr>
        <p:spPr>
          <a:xfrm>
            <a:off x="-1124699" y="1805274"/>
            <a:ext cx="8525860" cy="3356526"/>
          </a:xfrm>
          <a:prstGeom prst="roundRect">
            <a:avLst>
              <a:gd name="adj" fmla="val 2971"/>
            </a:avLst>
          </a:prstGeom>
          <a:gradFill>
            <a:gsLst>
              <a:gs pos="0">
                <a:srgbClr val="58751F"/>
              </a:gs>
              <a:gs pos="50000">
                <a:srgbClr val="81AB2C"/>
              </a:gs>
              <a:gs pos="100000">
                <a:srgbClr val="9BCC36"/>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0" name="Google Shape;140;p7"/>
          <p:cNvSpPr txBox="1"/>
          <p:nvPr/>
        </p:nvSpPr>
        <p:spPr>
          <a:xfrm>
            <a:off x="737867" y="1949205"/>
            <a:ext cx="6435443" cy="3139321"/>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chemeClr val="lt1"/>
                </a:solidFill>
                <a:latin typeface="Calibri"/>
                <a:ea typeface="Calibri"/>
                <a:cs typeface="Calibri"/>
                <a:sym typeface="Calibri"/>
              </a:rPr>
              <a:t>El analista debe definir precisamente los criterios que permitan decidir, ante cada caso o elemento, si pertenece o no a la población investigada, es decir, debe determinar estrictamente el marco muestral o los límites de la población.</a:t>
            </a:r>
            <a:endParaRPr/>
          </a:p>
          <a:p>
            <a:pPr marL="0" marR="0" lvl="0" indent="0" algn="just" rtl="0">
              <a:spcBef>
                <a:spcPts val="0"/>
              </a:spcBef>
              <a:spcAft>
                <a:spcPts val="0"/>
              </a:spcAft>
              <a:buNone/>
            </a:pPr>
            <a:endParaRPr sz="1800">
              <a:solidFill>
                <a:schemeClr val="lt1"/>
              </a:solidFill>
              <a:latin typeface="Calibri"/>
              <a:ea typeface="Calibri"/>
              <a:cs typeface="Calibri"/>
              <a:sym typeface="Calibri"/>
            </a:endParaRPr>
          </a:p>
          <a:p>
            <a:pPr marL="0" marR="0" lvl="0" indent="0" algn="just" rtl="0">
              <a:spcBef>
                <a:spcPts val="0"/>
              </a:spcBef>
              <a:spcAft>
                <a:spcPts val="0"/>
              </a:spcAft>
              <a:buNone/>
            </a:pPr>
            <a:r>
              <a:rPr lang="es-ES" sz="1800">
                <a:solidFill>
                  <a:schemeClr val="lt1"/>
                </a:solidFill>
                <a:latin typeface="Calibri"/>
                <a:ea typeface="Calibri"/>
                <a:cs typeface="Calibri"/>
                <a:sym typeface="Calibri"/>
              </a:rPr>
              <a:t>Cuando el tamaño de la población es </a:t>
            </a:r>
            <a:r>
              <a:rPr lang="es-ES" sz="1800" b="1">
                <a:solidFill>
                  <a:schemeClr val="lt1"/>
                </a:solidFill>
                <a:latin typeface="Calibri"/>
                <a:ea typeface="Calibri"/>
                <a:cs typeface="Calibri"/>
                <a:sym typeface="Calibri"/>
              </a:rPr>
              <a:t>muy grande</a:t>
            </a:r>
            <a:r>
              <a:rPr lang="es-ES" sz="1800">
                <a:solidFill>
                  <a:schemeClr val="lt1"/>
                </a:solidFill>
                <a:latin typeface="Calibri"/>
                <a:ea typeface="Calibri"/>
                <a:cs typeface="Calibri"/>
                <a:sym typeface="Calibri"/>
              </a:rPr>
              <a:t>, la investigación no se realiza en toda su extensión , sino en un </a:t>
            </a:r>
            <a:r>
              <a:rPr lang="es-ES" sz="1800" b="1">
                <a:solidFill>
                  <a:schemeClr val="lt1"/>
                </a:solidFill>
                <a:latin typeface="Calibri"/>
                <a:ea typeface="Calibri"/>
                <a:cs typeface="Calibri"/>
                <a:sym typeface="Calibri"/>
              </a:rPr>
              <a:t>subconjunto</a:t>
            </a:r>
            <a:r>
              <a:rPr lang="es-ES" sz="1800">
                <a:solidFill>
                  <a:schemeClr val="lt1"/>
                </a:solidFill>
                <a:latin typeface="Calibri"/>
                <a:ea typeface="Calibri"/>
                <a:cs typeface="Calibri"/>
                <a:sym typeface="Calibri"/>
              </a:rPr>
              <a:t> o parte de ella, denominada muestra, y después </a:t>
            </a:r>
            <a:r>
              <a:rPr lang="es-ES" sz="1800" b="1">
                <a:solidFill>
                  <a:schemeClr val="lt1"/>
                </a:solidFill>
                <a:latin typeface="Calibri"/>
                <a:ea typeface="Calibri"/>
                <a:cs typeface="Calibri"/>
                <a:sym typeface="Calibri"/>
              </a:rPr>
              <a:t>se generalizan los hallazgos</a:t>
            </a:r>
            <a:r>
              <a:rPr lang="es-ES" sz="1800">
                <a:solidFill>
                  <a:schemeClr val="lt1"/>
                </a:solidFill>
                <a:latin typeface="Calibri"/>
                <a:ea typeface="Calibri"/>
                <a:cs typeface="Calibri"/>
                <a:sym typeface="Calibri"/>
              </a:rPr>
              <a:t> obtenidos a toda la población.</a:t>
            </a:r>
            <a:endParaRPr/>
          </a:p>
          <a:p>
            <a:pPr marL="0" marR="0" lvl="0" indent="0" algn="just" rtl="0">
              <a:spcBef>
                <a:spcPts val="0"/>
              </a:spcBef>
              <a:spcAft>
                <a:spcPts val="0"/>
              </a:spcAft>
              <a:buNone/>
            </a:pPr>
            <a:endParaRPr sz="1800">
              <a:solidFill>
                <a:schemeClr val="lt1"/>
              </a:solidFill>
              <a:latin typeface="Calibri"/>
              <a:ea typeface="Calibri"/>
              <a:cs typeface="Calibri"/>
              <a:sym typeface="Calibri"/>
            </a:endParaRPr>
          </a:p>
          <a:p>
            <a:pPr marL="0" marR="0" lvl="0" indent="0" algn="just" rtl="0">
              <a:spcBef>
                <a:spcPts val="0"/>
              </a:spcBef>
              <a:spcAft>
                <a:spcPts val="0"/>
              </a:spcAft>
              <a:buNone/>
            </a:pPr>
            <a:r>
              <a:rPr lang="es-ES" sz="1800">
                <a:solidFill>
                  <a:schemeClr val="lt1"/>
                </a:solidFill>
                <a:latin typeface="Calibri"/>
                <a:ea typeface="Calibri"/>
                <a:cs typeface="Calibri"/>
                <a:sym typeface="Calibri"/>
              </a:rPr>
              <a:t>La muestra debe ser representativa de la población.</a:t>
            </a:r>
            <a:endParaRPr/>
          </a:p>
        </p:txBody>
      </p:sp>
      <p:sp>
        <p:nvSpPr>
          <p:cNvPr id="141" name="Google Shape;141;p7"/>
          <p:cNvSpPr txBox="1"/>
          <p:nvPr/>
        </p:nvSpPr>
        <p:spPr>
          <a:xfrm>
            <a:off x="737867" y="941143"/>
            <a:ext cx="10782300" cy="1008062"/>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r>
              <a:rPr lang="es-ES" sz="3200">
                <a:solidFill>
                  <a:srgbClr val="7F7F7F"/>
                </a:solidFill>
                <a:latin typeface="Arial"/>
                <a:ea typeface="Arial"/>
                <a:cs typeface="Arial"/>
                <a:sym typeface="Arial"/>
              </a:rPr>
              <a:t>Muestra Poblacional</a:t>
            </a:r>
            <a:endParaRPr sz="3200">
              <a:solidFill>
                <a:srgbClr val="7F7F7F"/>
              </a:solidFill>
              <a:latin typeface="Arial"/>
              <a:ea typeface="Arial"/>
              <a:cs typeface="Arial"/>
              <a:sym typeface="Arial"/>
            </a:endParaRPr>
          </a:p>
        </p:txBody>
      </p:sp>
      <p:sp>
        <p:nvSpPr>
          <p:cNvPr id="142" name="Google Shape;142;p7"/>
          <p:cNvSpPr/>
          <p:nvPr/>
        </p:nvSpPr>
        <p:spPr>
          <a:xfrm>
            <a:off x="7520152" y="1672675"/>
            <a:ext cx="4455538" cy="3703366"/>
          </a:xfrm>
          <a:prstGeom prst="roundRect">
            <a:avLst>
              <a:gd name="adj" fmla="val 2971"/>
            </a:avLst>
          </a:prstGeom>
          <a:solidFill>
            <a:schemeClr val="lt1"/>
          </a:solidFill>
          <a:ln w="38100" cap="flat" cmpd="sng">
            <a:solidFill>
              <a:srgbClr val="98C3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pic>
        <p:nvPicPr>
          <p:cNvPr id="143" name="Google Shape;143;p7"/>
          <p:cNvPicPr preferRelativeResize="0"/>
          <p:nvPr/>
        </p:nvPicPr>
        <p:blipFill rotWithShape="1">
          <a:blip r:embed="rId3">
            <a:alphaModFix/>
          </a:blip>
          <a:srcRect l="2580" t="1128"/>
          <a:stretch/>
        </p:blipFill>
        <p:spPr>
          <a:xfrm>
            <a:off x="7738952" y="1901922"/>
            <a:ext cx="4017937" cy="3296142"/>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41"/>
                                        </p:tgtEl>
                                        <p:attrNameLst>
                                          <p:attrName>style.visibility</p:attrName>
                                        </p:attrNameLst>
                                      </p:cBhvr>
                                      <p:to>
                                        <p:strVal val="visible"/>
                                      </p:to>
                                    </p:set>
                                    <p:animEffect transition="in" filter="fade">
                                      <p:cBhvr>
                                        <p:cTn id="7" dur="500"/>
                                        <p:tgtEl>
                                          <p:spTgt spid="1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8"/>
          <p:cNvSpPr/>
          <p:nvPr/>
        </p:nvSpPr>
        <p:spPr>
          <a:xfrm>
            <a:off x="5365022" y="1509027"/>
            <a:ext cx="6004560" cy="3509554"/>
          </a:xfrm>
          <a:prstGeom prst="roundRect">
            <a:avLst>
              <a:gd name="adj" fmla="val 2971"/>
            </a:avLst>
          </a:prstGeom>
          <a:gradFill>
            <a:gsLst>
              <a:gs pos="0">
                <a:srgbClr val="58751F"/>
              </a:gs>
              <a:gs pos="50000">
                <a:srgbClr val="81AB2C"/>
              </a:gs>
              <a:gs pos="100000">
                <a:srgbClr val="9BCC36"/>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9" name="Google Shape;149;p8"/>
          <p:cNvSpPr txBox="1"/>
          <p:nvPr/>
        </p:nvSpPr>
        <p:spPr>
          <a:xfrm>
            <a:off x="5643697" y="1857681"/>
            <a:ext cx="5390291" cy="286232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chemeClr val="lt1"/>
                </a:solidFill>
                <a:latin typeface="Calibri"/>
                <a:ea typeface="Calibri"/>
                <a:cs typeface="Calibri"/>
                <a:sym typeface="Calibri"/>
              </a:rPr>
              <a:t>La muestra es el </a:t>
            </a:r>
            <a:r>
              <a:rPr lang="es-ES" sz="1800" b="1">
                <a:solidFill>
                  <a:schemeClr val="lt1"/>
                </a:solidFill>
                <a:latin typeface="Calibri"/>
                <a:ea typeface="Calibri"/>
                <a:cs typeface="Calibri"/>
                <a:sym typeface="Calibri"/>
              </a:rPr>
              <a:t>subconjunto</a:t>
            </a:r>
            <a:r>
              <a:rPr lang="es-ES" sz="1800">
                <a:solidFill>
                  <a:schemeClr val="lt1"/>
                </a:solidFill>
                <a:latin typeface="Calibri"/>
                <a:ea typeface="Calibri"/>
                <a:cs typeface="Calibri"/>
                <a:sym typeface="Calibri"/>
              </a:rPr>
              <a:t> de la población donde se efectúa o lleva a cabo la investigación con la finalidad de </a:t>
            </a:r>
            <a:r>
              <a:rPr lang="es-ES" sz="1800" b="1">
                <a:solidFill>
                  <a:schemeClr val="lt1"/>
                </a:solidFill>
                <a:latin typeface="Calibri"/>
                <a:ea typeface="Calibri"/>
                <a:cs typeface="Calibri"/>
                <a:sym typeface="Calibri"/>
              </a:rPr>
              <a:t>generalizar</a:t>
            </a:r>
            <a:r>
              <a:rPr lang="es-ES" sz="1800">
                <a:solidFill>
                  <a:schemeClr val="lt1"/>
                </a:solidFill>
                <a:latin typeface="Calibri"/>
                <a:ea typeface="Calibri"/>
                <a:cs typeface="Calibri"/>
                <a:sym typeface="Calibri"/>
              </a:rPr>
              <a:t> posteriormente los resultados a toda la población. </a:t>
            </a:r>
            <a:endParaRPr/>
          </a:p>
          <a:p>
            <a:pPr marL="0" marR="0" lvl="0" indent="0" algn="just" rtl="0">
              <a:spcBef>
                <a:spcPts val="0"/>
              </a:spcBef>
              <a:spcAft>
                <a:spcPts val="0"/>
              </a:spcAft>
              <a:buNone/>
            </a:pPr>
            <a:endParaRPr sz="1800">
              <a:solidFill>
                <a:schemeClr val="lt1"/>
              </a:solidFill>
              <a:latin typeface="Calibri"/>
              <a:ea typeface="Calibri"/>
              <a:cs typeface="Calibri"/>
              <a:sym typeface="Calibri"/>
            </a:endParaRPr>
          </a:p>
          <a:p>
            <a:pPr marL="0" marR="0" lvl="0" indent="0" algn="just" rtl="0">
              <a:spcBef>
                <a:spcPts val="0"/>
              </a:spcBef>
              <a:spcAft>
                <a:spcPts val="0"/>
              </a:spcAft>
              <a:buNone/>
            </a:pPr>
            <a:r>
              <a:rPr lang="es-ES" sz="1800">
                <a:solidFill>
                  <a:schemeClr val="lt1"/>
                </a:solidFill>
                <a:latin typeface="Calibri"/>
                <a:ea typeface="Calibri"/>
                <a:cs typeface="Calibri"/>
                <a:sym typeface="Calibri"/>
              </a:rPr>
              <a:t>Para que dicha generalización sea lícita, la muestra debe poseer </a:t>
            </a:r>
            <a:r>
              <a:rPr lang="es-ES" sz="1800" b="1">
                <a:solidFill>
                  <a:schemeClr val="lt1"/>
                </a:solidFill>
                <a:latin typeface="Calibri"/>
                <a:ea typeface="Calibri"/>
                <a:cs typeface="Calibri"/>
                <a:sym typeface="Calibri"/>
              </a:rPr>
              <a:t>las mismas (o muy similares) características básicas (relevantes) de la población investigada</a:t>
            </a:r>
            <a:r>
              <a:rPr lang="es-ES" sz="1800">
                <a:solidFill>
                  <a:schemeClr val="lt1"/>
                </a:solidFill>
                <a:latin typeface="Calibri"/>
                <a:ea typeface="Calibri"/>
                <a:cs typeface="Calibri"/>
                <a:sym typeface="Calibri"/>
              </a:rPr>
              <a:t>, es decir, debe ser </a:t>
            </a:r>
            <a:r>
              <a:rPr lang="es-ES" sz="1800" b="1">
                <a:solidFill>
                  <a:schemeClr val="lt1"/>
                </a:solidFill>
                <a:latin typeface="Calibri"/>
                <a:ea typeface="Calibri"/>
                <a:cs typeface="Calibri"/>
                <a:sym typeface="Calibri"/>
              </a:rPr>
              <a:t>representativa</a:t>
            </a:r>
            <a:r>
              <a:rPr lang="es-ES" sz="1800">
                <a:solidFill>
                  <a:schemeClr val="lt1"/>
                </a:solidFill>
                <a:latin typeface="Calibri"/>
                <a:ea typeface="Calibri"/>
                <a:cs typeface="Calibri"/>
                <a:sym typeface="Calibri"/>
              </a:rPr>
              <a:t> de la población. </a:t>
            </a:r>
            <a:endParaRPr/>
          </a:p>
        </p:txBody>
      </p:sp>
      <p:sp>
        <p:nvSpPr>
          <p:cNvPr id="150" name="Google Shape;150;p8"/>
          <p:cNvSpPr txBox="1"/>
          <p:nvPr/>
        </p:nvSpPr>
        <p:spPr>
          <a:xfrm>
            <a:off x="1027611" y="1509027"/>
            <a:ext cx="10355035" cy="1008062"/>
          </a:xfrm>
          <a:prstGeom prst="rect">
            <a:avLst/>
          </a:prstGeom>
          <a:noFill/>
          <a:ln>
            <a:noFill/>
          </a:ln>
        </p:spPr>
        <p:txBody>
          <a:bodyPr spcFirstLastPara="1" wrap="square" lIns="91425" tIns="45700" rIns="91425" bIns="45700" anchor="ctr" anchorCtr="0">
            <a:noAutofit/>
          </a:bodyPr>
          <a:lstStyle/>
          <a:p>
            <a:pPr marL="0" marR="0" lvl="0" indent="0" algn="just" rtl="0">
              <a:lnSpc>
                <a:spcPct val="100000"/>
              </a:lnSpc>
              <a:spcBef>
                <a:spcPts val="0"/>
              </a:spcBef>
              <a:spcAft>
                <a:spcPts val="0"/>
              </a:spcAft>
              <a:buNone/>
            </a:pPr>
            <a:r>
              <a:rPr lang="es-ES" sz="3200">
                <a:solidFill>
                  <a:srgbClr val="7F7F7F"/>
                </a:solidFill>
                <a:latin typeface="Arial"/>
                <a:ea typeface="Arial"/>
                <a:cs typeface="Arial"/>
                <a:sym typeface="Arial"/>
              </a:rPr>
              <a:t>Muestra Poblacional</a:t>
            </a:r>
            <a:endParaRPr sz="3200">
              <a:solidFill>
                <a:srgbClr val="7F7F7F"/>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50"/>
                                        </p:tgtEl>
                                        <p:attrNameLst>
                                          <p:attrName>style.visibility</p:attrName>
                                        </p:attrNameLst>
                                      </p:cBhvr>
                                      <p:to>
                                        <p:strVal val="visible"/>
                                      </p:to>
                                    </p:set>
                                    <p:animEffect transition="in" filter="fade">
                                      <p:cBhvr>
                                        <p:cTn id="7" dur="500"/>
                                        <p:tgtEl>
                                          <p:spTgt spid="1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9"/>
          <p:cNvSpPr/>
          <p:nvPr/>
        </p:nvSpPr>
        <p:spPr>
          <a:xfrm>
            <a:off x="-330926" y="2316480"/>
            <a:ext cx="7677658" cy="2551611"/>
          </a:xfrm>
          <a:prstGeom prst="roundRect">
            <a:avLst>
              <a:gd name="adj" fmla="val 2971"/>
            </a:avLst>
          </a:prstGeom>
          <a:gradFill>
            <a:gsLst>
              <a:gs pos="0">
                <a:srgbClr val="58751F"/>
              </a:gs>
              <a:gs pos="50000">
                <a:srgbClr val="81AB2C"/>
              </a:gs>
              <a:gs pos="100000">
                <a:srgbClr val="9BCC36"/>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6" name="Google Shape;156;p9"/>
          <p:cNvSpPr txBox="1"/>
          <p:nvPr/>
        </p:nvSpPr>
        <p:spPr>
          <a:xfrm>
            <a:off x="737867" y="2531764"/>
            <a:ext cx="6435443" cy="2031325"/>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chemeClr val="lt1"/>
              </a:buClr>
              <a:buSzPts val="1800"/>
              <a:buFont typeface="Noto Sans Symbols"/>
              <a:buChar char="⮚"/>
            </a:pPr>
            <a:r>
              <a:rPr lang="es-ES" sz="1800">
                <a:solidFill>
                  <a:schemeClr val="lt1"/>
                </a:solidFill>
                <a:latin typeface="Calibri"/>
                <a:ea typeface="Calibri"/>
                <a:cs typeface="Calibri"/>
                <a:sym typeface="Calibri"/>
              </a:rPr>
              <a:t>Si </a:t>
            </a:r>
            <a:r>
              <a:rPr lang="es-ES" sz="1800" b="1">
                <a:solidFill>
                  <a:schemeClr val="lt1"/>
                </a:solidFill>
                <a:latin typeface="Calibri"/>
                <a:ea typeface="Calibri"/>
                <a:cs typeface="Calibri"/>
                <a:sym typeface="Calibri"/>
              </a:rPr>
              <a:t>N</a:t>
            </a:r>
            <a:r>
              <a:rPr lang="es-ES" sz="1800">
                <a:solidFill>
                  <a:schemeClr val="lt1"/>
                </a:solidFill>
                <a:latin typeface="Calibri"/>
                <a:ea typeface="Calibri"/>
                <a:cs typeface="Calibri"/>
                <a:sym typeface="Calibri"/>
              </a:rPr>
              <a:t> es el tamaño de la población y </a:t>
            </a:r>
            <a:r>
              <a:rPr lang="es-ES" sz="1800" b="1">
                <a:solidFill>
                  <a:schemeClr val="lt1"/>
                </a:solidFill>
                <a:latin typeface="Calibri"/>
                <a:ea typeface="Calibri"/>
                <a:cs typeface="Calibri"/>
                <a:sym typeface="Calibri"/>
              </a:rPr>
              <a:t>n</a:t>
            </a:r>
            <a:r>
              <a:rPr lang="es-ES" sz="1800">
                <a:solidFill>
                  <a:schemeClr val="lt1"/>
                </a:solidFill>
                <a:latin typeface="Calibri"/>
                <a:ea typeface="Calibri"/>
                <a:cs typeface="Calibri"/>
                <a:sym typeface="Calibri"/>
              </a:rPr>
              <a:t> el tamaño de la muestra, siendo </a:t>
            </a:r>
            <a:r>
              <a:rPr lang="es-ES" sz="1800" b="1">
                <a:solidFill>
                  <a:schemeClr val="lt1"/>
                </a:solidFill>
                <a:latin typeface="Calibri"/>
                <a:ea typeface="Calibri"/>
                <a:cs typeface="Calibri"/>
                <a:sym typeface="Calibri"/>
              </a:rPr>
              <a:t>N</a:t>
            </a:r>
            <a:r>
              <a:rPr lang="es-ES" sz="1800">
                <a:solidFill>
                  <a:schemeClr val="lt1"/>
                </a:solidFill>
                <a:latin typeface="Calibri"/>
                <a:ea typeface="Calibri"/>
                <a:cs typeface="Calibri"/>
                <a:sym typeface="Calibri"/>
              </a:rPr>
              <a:t> suficientemente </a:t>
            </a:r>
            <a:r>
              <a:rPr lang="es-ES" sz="1800" b="1">
                <a:solidFill>
                  <a:schemeClr val="lt1"/>
                </a:solidFill>
                <a:latin typeface="Calibri"/>
                <a:ea typeface="Calibri"/>
                <a:cs typeface="Calibri"/>
                <a:sym typeface="Calibri"/>
              </a:rPr>
              <a:t>grande</a:t>
            </a:r>
            <a:r>
              <a:rPr lang="es-ES" sz="1800">
                <a:solidFill>
                  <a:schemeClr val="lt1"/>
                </a:solidFill>
                <a:latin typeface="Calibri"/>
                <a:ea typeface="Calibri"/>
                <a:cs typeface="Calibri"/>
                <a:sym typeface="Calibri"/>
              </a:rPr>
              <a:t>, pueden extraerse un cierto número de muestras </a:t>
            </a:r>
            <a:r>
              <a:rPr lang="es-ES" sz="1800" b="1">
                <a:solidFill>
                  <a:schemeClr val="lt1"/>
                </a:solidFill>
                <a:latin typeface="Calibri"/>
                <a:ea typeface="Calibri"/>
                <a:cs typeface="Calibri"/>
                <a:sym typeface="Calibri"/>
              </a:rPr>
              <a:t>distintas</a:t>
            </a:r>
            <a:r>
              <a:rPr lang="es-ES" sz="1800">
                <a:solidFill>
                  <a:schemeClr val="lt1"/>
                </a:solidFill>
                <a:latin typeface="Calibri"/>
                <a:ea typeface="Calibri"/>
                <a:cs typeface="Calibri"/>
                <a:sym typeface="Calibri"/>
              </a:rPr>
              <a:t> de tamaño </a:t>
            </a:r>
            <a:r>
              <a:rPr lang="es-ES" sz="1800" b="1">
                <a:solidFill>
                  <a:schemeClr val="lt1"/>
                </a:solidFill>
                <a:latin typeface="Calibri"/>
                <a:ea typeface="Calibri"/>
                <a:cs typeface="Calibri"/>
                <a:sym typeface="Calibri"/>
              </a:rPr>
              <a:t>n</a:t>
            </a:r>
            <a:r>
              <a:rPr lang="es-ES" sz="1800">
                <a:solidFill>
                  <a:schemeClr val="lt1"/>
                </a:solidFill>
                <a:latin typeface="Calibri"/>
                <a:ea typeface="Calibri"/>
                <a:cs typeface="Calibri"/>
                <a:sym typeface="Calibri"/>
              </a:rPr>
              <a:t>. </a:t>
            </a:r>
            <a:endParaRPr sz="1800">
              <a:solidFill>
                <a:schemeClr val="lt1"/>
              </a:solidFill>
              <a:latin typeface="Calibri"/>
              <a:ea typeface="Calibri"/>
              <a:cs typeface="Calibri"/>
              <a:sym typeface="Calibri"/>
            </a:endParaRPr>
          </a:p>
          <a:p>
            <a:pPr marL="285750" marR="0" lvl="0" indent="-171450" algn="l" rtl="0">
              <a:spcBef>
                <a:spcPts val="0"/>
              </a:spcBef>
              <a:spcAft>
                <a:spcPts val="0"/>
              </a:spcAft>
              <a:buClr>
                <a:schemeClr val="dk1"/>
              </a:buClr>
              <a:buSzPts val="1800"/>
              <a:buFont typeface="Noto Sans Symbols"/>
              <a:buNone/>
            </a:pPr>
            <a:endParaRPr sz="1800">
              <a:solidFill>
                <a:schemeClr val="lt1"/>
              </a:solidFill>
              <a:latin typeface="Calibri"/>
              <a:ea typeface="Calibri"/>
              <a:cs typeface="Calibri"/>
              <a:sym typeface="Calibri"/>
            </a:endParaRPr>
          </a:p>
          <a:p>
            <a:pPr marL="285750" marR="0" lvl="0" indent="-285750" algn="l" rtl="0">
              <a:spcBef>
                <a:spcPts val="0"/>
              </a:spcBef>
              <a:spcAft>
                <a:spcPts val="0"/>
              </a:spcAft>
              <a:buClr>
                <a:schemeClr val="lt1"/>
              </a:buClr>
              <a:buSzPts val="1800"/>
              <a:buFont typeface="Noto Sans Symbols"/>
              <a:buChar char="⮚"/>
            </a:pPr>
            <a:r>
              <a:rPr lang="es-ES" sz="1800">
                <a:solidFill>
                  <a:schemeClr val="lt1"/>
                </a:solidFill>
                <a:latin typeface="Calibri"/>
                <a:ea typeface="Calibri"/>
                <a:cs typeface="Calibri"/>
                <a:sym typeface="Calibri"/>
              </a:rPr>
              <a:t>Si en cambio </a:t>
            </a:r>
            <a:r>
              <a:rPr lang="es-ES" sz="1800" b="1">
                <a:solidFill>
                  <a:schemeClr val="lt1"/>
                </a:solidFill>
                <a:latin typeface="Calibri"/>
                <a:ea typeface="Calibri"/>
                <a:cs typeface="Calibri"/>
                <a:sym typeface="Calibri"/>
              </a:rPr>
              <a:t>N</a:t>
            </a:r>
            <a:r>
              <a:rPr lang="es-ES" sz="1800">
                <a:solidFill>
                  <a:schemeClr val="lt1"/>
                </a:solidFill>
                <a:latin typeface="Calibri"/>
                <a:ea typeface="Calibri"/>
                <a:cs typeface="Calibri"/>
                <a:sym typeface="Calibri"/>
              </a:rPr>
              <a:t> es un número </a:t>
            </a:r>
            <a:r>
              <a:rPr lang="es-ES" sz="1800" b="1">
                <a:solidFill>
                  <a:schemeClr val="lt1"/>
                </a:solidFill>
                <a:latin typeface="Calibri"/>
                <a:ea typeface="Calibri"/>
                <a:cs typeface="Calibri"/>
                <a:sym typeface="Calibri"/>
              </a:rPr>
              <a:t>pequeño</a:t>
            </a:r>
            <a:r>
              <a:rPr lang="es-ES" sz="1800">
                <a:solidFill>
                  <a:schemeClr val="lt1"/>
                </a:solidFill>
                <a:latin typeface="Calibri"/>
                <a:ea typeface="Calibri"/>
                <a:cs typeface="Calibri"/>
                <a:sym typeface="Calibri"/>
              </a:rPr>
              <a:t> (por ejemplo, 30 o 40 casos), convendrá </a:t>
            </a:r>
            <a:r>
              <a:rPr lang="es-ES" sz="1800" b="1">
                <a:solidFill>
                  <a:schemeClr val="lt1"/>
                </a:solidFill>
                <a:latin typeface="Calibri"/>
                <a:ea typeface="Calibri"/>
                <a:cs typeface="Calibri"/>
                <a:sym typeface="Calibri"/>
              </a:rPr>
              <a:t>analizar directamente a toda la población</a:t>
            </a:r>
            <a:r>
              <a:rPr lang="es-ES" sz="1800">
                <a:solidFill>
                  <a:schemeClr val="lt1"/>
                </a:solidFill>
                <a:latin typeface="Calibri"/>
                <a:ea typeface="Calibri"/>
                <a:cs typeface="Calibri"/>
                <a:sym typeface="Calibri"/>
              </a:rPr>
              <a:t>, es decir, no extraer una muestra o subconjunto. </a:t>
            </a:r>
            <a:endParaRPr/>
          </a:p>
        </p:txBody>
      </p:sp>
      <p:sp>
        <p:nvSpPr>
          <p:cNvPr id="157" name="Google Shape;157;p9"/>
          <p:cNvSpPr txBox="1"/>
          <p:nvPr/>
        </p:nvSpPr>
        <p:spPr>
          <a:xfrm>
            <a:off x="1132114" y="1420592"/>
            <a:ext cx="10355036" cy="1008062"/>
          </a:xfrm>
          <a:prstGeom prst="rect">
            <a:avLst/>
          </a:prstGeom>
          <a:noFill/>
          <a:ln>
            <a:noFill/>
          </a:ln>
        </p:spPr>
        <p:txBody>
          <a:bodyPr spcFirstLastPara="1" wrap="square" lIns="91425" tIns="45700" rIns="91425" bIns="45700" anchor="ctr" anchorCtr="0">
            <a:noAutofit/>
          </a:bodyPr>
          <a:lstStyle/>
          <a:p>
            <a:pPr marL="0" marR="0" lvl="0" indent="0" algn="just" rtl="0">
              <a:lnSpc>
                <a:spcPct val="100000"/>
              </a:lnSpc>
              <a:spcBef>
                <a:spcPts val="0"/>
              </a:spcBef>
              <a:spcAft>
                <a:spcPts val="0"/>
              </a:spcAft>
              <a:buNone/>
            </a:pPr>
            <a:r>
              <a:rPr lang="es-ES" sz="2800">
                <a:solidFill>
                  <a:srgbClr val="7F7F7F"/>
                </a:solidFill>
                <a:latin typeface="Arial"/>
                <a:ea typeface="Arial"/>
                <a:cs typeface="Arial"/>
                <a:sym typeface="Arial"/>
              </a:rPr>
              <a:t>Muestra Poblacional</a:t>
            </a:r>
            <a:endParaRPr sz="2800">
              <a:solidFill>
                <a:srgbClr val="7F7F7F"/>
              </a:solidFill>
              <a:latin typeface="Arial"/>
              <a:ea typeface="Arial"/>
              <a:cs typeface="Arial"/>
              <a:sym typeface="Arial"/>
            </a:endParaRPr>
          </a:p>
        </p:txBody>
      </p:sp>
      <p:sp>
        <p:nvSpPr>
          <p:cNvPr id="158" name="Google Shape;158;p9"/>
          <p:cNvSpPr/>
          <p:nvPr/>
        </p:nvSpPr>
        <p:spPr>
          <a:xfrm>
            <a:off x="7520152" y="1672675"/>
            <a:ext cx="4455538" cy="3703366"/>
          </a:xfrm>
          <a:prstGeom prst="roundRect">
            <a:avLst>
              <a:gd name="adj" fmla="val 2971"/>
            </a:avLst>
          </a:prstGeom>
          <a:solidFill>
            <a:schemeClr val="lt1"/>
          </a:solidFill>
          <a:ln w="38100" cap="flat" cmpd="sng">
            <a:solidFill>
              <a:srgbClr val="98C3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pic>
        <p:nvPicPr>
          <p:cNvPr id="159" name="Google Shape;159;p9" descr="Sample size: A practical introdution"/>
          <p:cNvPicPr preferRelativeResize="0"/>
          <p:nvPr/>
        </p:nvPicPr>
        <p:blipFill rotWithShape="1">
          <a:blip r:embed="rId3">
            <a:alphaModFix/>
          </a:blip>
          <a:srcRect/>
          <a:stretch/>
        </p:blipFill>
        <p:spPr>
          <a:xfrm>
            <a:off x="7604745" y="2049770"/>
            <a:ext cx="4286351" cy="3000446"/>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57"/>
                                        </p:tgtEl>
                                        <p:attrNameLst>
                                          <p:attrName>style.visibility</p:attrName>
                                        </p:attrNameLst>
                                      </p:cBhvr>
                                      <p:to>
                                        <p:strVal val="visible"/>
                                      </p:to>
                                    </p:set>
                                    <p:animEffect transition="in" filter="fade">
                                      <p:cBhvr>
                                        <p:cTn id="7" dur="500"/>
                                        <p:tgtEl>
                                          <p:spTgt spid="1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10"/>
          <p:cNvSpPr/>
          <p:nvPr/>
        </p:nvSpPr>
        <p:spPr>
          <a:xfrm>
            <a:off x="-299545" y="2280661"/>
            <a:ext cx="11571890" cy="3199207"/>
          </a:xfrm>
          <a:prstGeom prst="roundRect">
            <a:avLst>
              <a:gd name="adj" fmla="val 2971"/>
            </a:avLst>
          </a:prstGeom>
          <a:gradFill>
            <a:gsLst>
              <a:gs pos="0">
                <a:srgbClr val="58751F"/>
              </a:gs>
              <a:gs pos="50000">
                <a:srgbClr val="81AB2C"/>
              </a:gs>
              <a:gs pos="100000">
                <a:srgbClr val="9BCC36"/>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5" name="Google Shape;165;p10"/>
          <p:cNvSpPr txBox="1"/>
          <p:nvPr/>
        </p:nvSpPr>
        <p:spPr>
          <a:xfrm>
            <a:off x="394284" y="2434308"/>
            <a:ext cx="10499688" cy="2862282"/>
          </a:xfrm>
          <a:prstGeom prst="rect">
            <a:avLst/>
          </a:prstGeom>
          <a:noFill/>
          <a:ln>
            <a:noFill/>
          </a:ln>
        </p:spPr>
        <p:txBody>
          <a:bodyPr spcFirstLastPara="1" wrap="square" lIns="91425" tIns="45700" rIns="91425" bIns="45700" anchor="t" anchorCtr="0">
            <a:spAutoFit/>
          </a:bodyPr>
          <a:lstStyle/>
          <a:p>
            <a:pPr marL="285750" indent="-285750" algn="just">
              <a:buClr>
                <a:schemeClr val="lt1"/>
              </a:buClr>
              <a:buSzPts val="1800"/>
              <a:buFont typeface="Noto Sans Symbols"/>
              <a:buChar char="⮚"/>
            </a:pPr>
            <a:r>
              <a:rPr lang="es-ES" sz="1800" dirty="0">
                <a:solidFill>
                  <a:schemeClr val="lt1"/>
                </a:solidFill>
                <a:latin typeface="Calibri"/>
                <a:ea typeface="Calibri"/>
                <a:cs typeface="Calibri"/>
                <a:sym typeface="Calibri"/>
              </a:rPr>
              <a:t>La </a:t>
            </a:r>
            <a:r>
              <a:rPr lang="es-ES" sz="1800" b="1" dirty="0">
                <a:solidFill>
                  <a:schemeClr val="lt1"/>
                </a:solidFill>
                <a:latin typeface="Calibri"/>
                <a:ea typeface="Calibri"/>
                <a:cs typeface="Calibri"/>
                <a:sym typeface="Calibri"/>
              </a:rPr>
              <a:t>unidad de observación </a:t>
            </a:r>
            <a:r>
              <a:rPr lang="es-ES" sz="1800" dirty="0">
                <a:solidFill>
                  <a:schemeClr val="lt1"/>
                </a:solidFill>
                <a:latin typeface="Calibri"/>
                <a:ea typeface="Calibri"/>
                <a:cs typeface="Calibri"/>
                <a:sym typeface="Calibri"/>
              </a:rPr>
              <a:t>es cada uno de los elementos (sujetos, objetos o indicadores) que integran la población, y en los que se analizarán las variables investigadas. </a:t>
            </a:r>
            <a:endParaRPr lang="es-ES" sz="1800">
              <a:solidFill>
                <a:schemeClr val="lt1"/>
              </a:solidFill>
              <a:latin typeface="Calibri"/>
              <a:ea typeface="Calibri"/>
              <a:cs typeface="Calibri"/>
              <a:sym typeface="Calibri"/>
            </a:endParaRPr>
          </a:p>
          <a:p>
            <a:pPr marL="285750" marR="0" lvl="0" indent="-285750" algn="just">
              <a:spcBef>
                <a:spcPts val="0"/>
              </a:spcBef>
              <a:spcAft>
                <a:spcPts val="0"/>
              </a:spcAft>
              <a:buClr>
                <a:schemeClr val="lt1"/>
              </a:buClr>
              <a:buSzPts val="1800"/>
              <a:buFont typeface="Noto Sans Symbols"/>
              <a:buChar char="⮚"/>
            </a:pPr>
            <a:endParaRPr lang="es-ES" sz="1800" dirty="0">
              <a:solidFill>
                <a:schemeClr val="lt1"/>
              </a:solidFill>
              <a:latin typeface="Calibri"/>
              <a:ea typeface="Calibri"/>
              <a:cs typeface="Calibri"/>
            </a:endParaRPr>
          </a:p>
          <a:p>
            <a:pPr marL="285750" indent="-285750" algn="just">
              <a:buClr>
                <a:schemeClr val="lt1"/>
              </a:buClr>
              <a:buSzPts val="1800"/>
              <a:buFont typeface="Noto Sans Symbols"/>
              <a:buChar char="⮚"/>
            </a:pPr>
            <a:r>
              <a:rPr lang="es-ES" sz="1800" dirty="0">
                <a:solidFill>
                  <a:schemeClr val="lt1"/>
                </a:solidFill>
                <a:latin typeface="Calibri"/>
                <a:ea typeface="Calibri"/>
                <a:cs typeface="Calibri"/>
                <a:sym typeface="Calibri"/>
              </a:rPr>
              <a:t>La </a:t>
            </a:r>
            <a:r>
              <a:rPr lang="es-ES" sz="1800" b="1" dirty="0">
                <a:solidFill>
                  <a:schemeClr val="lt1"/>
                </a:solidFill>
                <a:latin typeface="Calibri"/>
                <a:ea typeface="Calibri"/>
                <a:cs typeface="Calibri"/>
                <a:sym typeface="Calibri"/>
              </a:rPr>
              <a:t>unidad de muestreo o de análisis </a:t>
            </a:r>
            <a:r>
              <a:rPr lang="es-ES" sz="1800" dirty="0">
                <a:solidFill>
                  <a:schemeClr val="lt1"/>
                </a:solidFill>
                <a:latin typeface="Calibri"/>
                <a:ea typeface="Calibri"/>
                <a:cs typeface="Calibri"/>
                <a:sym typeface="Calibri"/>
              </a:rPr>
              <a:t>es el elemento utilizado para seleccionar la muestra, es decir, cada uno de los elementos que integran la muestra. </a:t>
            </a:r>
            <a:endParaRPr sz="1800">
              <a:solidFill>
                <a:schemeClr val="lt1"/>
              </a:solidFill>
              <a:latin typeface="Calibri"/>
              <a:ea typeface="Calibri"/>
              <a:cs typeface="Calibri"/>
              <a:sym typeface="Calibri"/>
            </a:endParaRPr>
          </a:p>
          <a:p>
            <a:pPr marL="285750" indent="-285750" algn="just">
              <a:buClr>
                <a:schemeClr val="lt1"/>
              </a:buClr>
              <a:buSzPts val="1800"/>
              <a:buFont typeface="Noto Sans Symbols"/>
              <a:buChar char="⮚"/>
            </a:pPr>
            <a:endParaRPr lang="es-ES" sz="1800" dirty="0">
              <a:solidFill>
                <a:schemeClr val="lt1"/>
              </a:solidFill>
              <a:latin typeface="Calibri"/>
              <a:ea typeface="Calibri"/>
              <a:cs typeface="Calibri"/>
              <a:sym typeface="Calibri"/>
            </a:endParaRPr>
          </a:p>
          <a:p>
            <a:pPr marL="285750" indent="-285750" algn="just">
              <a:buClr>
                <a:schemeClr val="lt1"/>
              </a:buClr>
              <a:buSzPts val="1800"/>
              <a:buFont typeface="Noto Sans Symbols"/>
              <a:buChar char="⮚"/>
            </a:pPr>
            <a:r>
              <a:rPr lang="es-ES" sz="1800" dirty="0">
                <a:solidFill>
                  <a:schemeClr val="lt1"/>
                </a:solidFill>
                <a:latin typeface="Calibri"/>
                <a:ea typeface="Calibri"/>
                <a:cs typeface="Calibri"/>
                <a:sym typeface="Calibri"/>
              </a:rPr>
              <a:t>Por lo general, la  unidad de observación (poblacional) y la unidad de análisis (muestral) son la misma, pero hay casos en que no: si se desea investigar el maltrato familiar de los menores, y no hay modo de seleccionar directamente las unidades de observación (los menores maltratados), se seleccionan las unidades de análisis (los hogares o casas donde habitan los menores maltratados) para poder llegar a ellos. </a:t>
            </a:r>
            <a:endParaRPr/>
          </a:p>
        </p:txBody>
      </p:sp>
      <p:sp>
        <p:nvSpPr>
          <p:cNvPr id="166" name="Google Shape;166;p10"/>
          <p:cNvSpPr txBox="1"/>
          <p:nvPr/>
        </p:nvSpPr>
        <p:spPr>
          <a:xfrm>
            <a:off x="783770" y="1272600"/>
            <a:ext cx="10251507" cy="1008062"/>
          </a:xfrm>
          <a:prstGeom prst="rect">
            <a:avLst/>
          </a:prstGeom>
          <a:noFill/>
          <a:ln>
            <a:noFill/>
          </a:ln>
        </p:spPr>
        <p:txBody>
          <a:bodyPr spcFirstLastPara="1" wrap="square" lIns="91425" tIns="45700" rIns="91425" bIns="45700" anchor="ctr" anchorCtr="0">
            <a:noAutofit/>
          </a:bodyPr>
          <a:lstStyle/>
          <a:p>
            <a:pPr marL="0" marR="0" lvl="0" indent="0" algn="l" rtl="0">
              <a:lnSpc>
                <a:spcPct val="150000"/>
              </a:lnSpc>
              <a:spcBef>
                <a:spcPts val="0"/>
              </a:spcBef>
              <a:spcAft>
                <a:spcPts val="0"/>
              </a:spcAft>
              <a:buNone/>
            </a:pPr>
            <a:r>
              <a:rPr lang="es-ES" sz="3200">
                <a:solidFill>
                  <a:srgbClr val="7F7F7F"/>
                </a:solidFill>
                <a:latin typeface="Arial"/>
                <a:ea typeface="Arial"/>
                <a:cs typeface="Arial"/>
                <a:sym typeface="Arial"/>
              </a:rPr>
              <a:t>Unidad de Observación y de Muestreo</a:t>
            </a:r>
            <a:endParaRPr sz="3200">
              <a:solidFill>
                <a:srgbClr val="7F7F7F"/>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66"/>
                                        </p:tgtEl>
                                        <p:attrNameLst>
                                          <p:attrName>style.visibility</p:attrName>
                                        </p:attrNameLst>
                                      </p:cBhvr>
                                      <p:to>
                                        <p:strVal val="visible"/>
                                      </p:to>
                                    </p:set>
                                    <p:animEffect transition="in" filter="fade">
                                      <p:cBhvr>
                                        <p:cTn id="7" dur="500"/>
                                        <p:tgtEl>
                                          <p:spTgt spid="1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p11"/>
          <p:cNvSpPr/>
          <p:nvPr/>
        </p:nvSpPr>
        <p:spPr>
          <a:xfrm>
            <a:off x="-261257" y="1166485"/>
            <a:ext cx="11150871" cy="4249605"/>
          </a:xfrm>
          <a:prstGeom prst="roundRect">
            <a:avLst>
              <a:gd name="adj" fmla="val 2971"/>
            </a:avLst>
          </a:prstGeom>
          <a:gradFill>
            <a:gsLst>
              <a:gs pos="0">
                <a:srgbClr val="58751F"/>
              </a:gs>
              <a:gs pos="50000">
                <a:srgbClr val="81AB2C"/>
              </a:gs>
              <a:gs pos="100000">
                <a:srgbClr val="9BCC36"/>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2" name="Google Shape;172;p11"/>
          <p:cNvSpPr txBox="1"/>
          <p:nvPr/>
        </p:nvSpPr>
        <p:spPr>
          <a:xfrm>
            <a:off x="791570" y="1416933"/>
            <a:ext cx="9190086" cy="3693278"/>
          </a:xfrm>
          <a:prstGeom prst="rect">
            <a:avLst/>
          </a:prstGeom>
          <a:noFill/>
          <a:ln>
            <a:noFill/>
          </a:ln>
        </p:spPr>
        <p:txBody>
          <a:bodyPr spcFirstLastPara="1" wrap="square" lIns="91425" tIns="45700" rIns="91425" bIns="45700" anchor="t" anchorCtr="0">
            <a:spAutoFit/>
          </a:bodyPr>
          <a:lstStyle/>
          <a:p>
            <a:pPr marR="0" lvl="0" algn="just" rtl="0">
              <a:spcBef>
                <a:spcPts val="0"/>
              </a:spcBef>
              <a:spcAft>
                <a:spcPts val="0"/>
              </a:spcAft>
              <a:buClr>
                <a:schemeClr val="lt1"/>
              </a:buClr>
              <a:buSzPts val="1800"/>
            </a:pPr>
            <a:r>
              <a:rPr lang="es-ES" sz="1800" dirty="0">
                <a:solidFill>
                  <a:schemeClr val="lt1"/>
                </a:solidFill>
                <a:latin typeface="Calibri"/>
                <a:ea typeface="Calibri"/>
                <a:cs typeface="Calibri"/>
                <a:sym typeface="Calibri"/>
              </a:rPr>
              <a:t>Permite profundizar más el análisis de las variables involucradas en el fenómeno investigado permite mayor control de dichas variables.</a:t>
            </a:r>
            <a:endParaRPr lang="es-ES" dirty="0">
              <a:solidFill>
                <a:schemeClr val="lt1"/>
              </a:solidFill>
            </a:endParaRPr>
          </a:p>
          <a:p>
            <a:pPr marL="0" marR="0" lvl="0" indent="0" algn="just" rtl="0">
              <a:spcBef>
                <a:spcPts val="0"/>
              </a:spcBef>
              <a:spcAft>
                <a:spcPts val="0"/>
              </a:spcAft>
              <a:buNone/>
            </a:pPr>
            <a:endParaRPr sz="1800">
              <a:solidFill>
                <a:schemeClr val="lt1"/>
              </a:solidFill>
              <a:latin typeface="Calibri"/>
              <a:ea typeface="Calibri"/>
              <a:cs typeface="Calibri"/>
              <a:sym typeface="Calibri"/>
            </a:endParaRPr>
          </a:p>
          <a:p>
            <a:pPr marL="0" marR="0" lvl="0" indent="0" algn="just" rtl="0">
              <a:spcBef>
                <a:spcPts val="0"/>
              </a:spcBef>
              <a:spcAft>
                <a:spcPts val="0"/>
              </a:spcAft>
              <a:buNone/>
            </a:pPr>
            <a:r>
              <a:rPr lang="es-ES" sz="1800" b="1" dirty="0">
                <a:solidFill>
                  <a:schemeClr val="lt1"/>
                </a:solidFill>
                <a:latin typeface="Calibri"/>
                <a:ea typeface="Calibri"/>
                <a:cs typeface="Calibri"/>
                <a:sym typeface="Calibri"/>
              </a:rPr>
              <a:t>¿Por qué calcular el tamaño de la muestra?</a:t>
            </a:r>
            <a:endParaRPr>
              <a:solidFill>
                <a:schemeClr val="lt1"/>
              </a:solidFill>
            </a:endParaRPr>
          </a:p>
          <a:p>
            <a:pPr marL="285750" marR="0" lvl="0" indent="-285750" algn="just" rtl="0">
              <a:spcBef>
                <a:spcPts val="0"/>
              </a:spcBef>
              <a:spcAft>
                <a:spcPts val="0"/>
              </a:spcAft>
              <a:buClr>
                <a:schemeClr val="lt1"/>
              </a:buClr>
              <a:buSzPts val="1800"/>
              <a:buFont typeface="Arial"/>
              <a:buChar char="•"/>
            </a:pPr>
            <a:r>
              <a:rPr lang="es-ES" sz="1800" dirty="0">
                <a:solidFill>
                  <a:schemeClr val="lt1"/>
                </a:solidFill>
                <a:latin typeface="Calibri"/>
                <a:ea typeface="Calibri"/>
                <a:cs typeface="Calibri"/>
                <a:sym typeface="Calibri"/>
              </a:rPr>
              <a:t>Una muestra puede estudiarse con mayor rapidez que una población.</a:t>
            </a:r>
            <a:endParaRPr>
              <a:solidFill>
                <a:schemeClr val="lt1"/>
              </a:solidFill>
            </a:endParaRPr>
          </a:p>
          <a:p>
            <a:pPr marL="285750" marR="0" lvl="0" indent="-285750" algn="just" rtl="0">
              <a:spcBef>
                <a:spcPts val="0"/>
              </a:spcBef>
              <a:spcAft>
                <a:spcPts val="0"/>
              </a:spcAft>
              <a:buClr>
                <a:schemeClr val="lt1"/>
              </a:buClr>
              <a:buSzPts val="1800"/>
              <a:buFont typeface="Arial"/>
              <a:buChar char="•"/>
            </a:pPr>
            <a:r>
              <a:rPr lang="es-ES" sz="1800" dirty="0">
                <a:solidFill>
                  <a:schemeClr val="lt1"/>
                </a:solidFill>
                <a:latin typeface="Calibri"/>
                <a:ea typeface="Calibri"/>
                <a:cs typeface="Calibri"/>
                <a:sym typeface="Calibri"/>
              </a:rPr>
              <a:t>El estudio de una muestra es menos costoso.</a:t>
            </a:r>
            <a:endParaRPr>
              <a:solidFill>
                <a:schemeClr val="lt1"/>
              </a:solidFill>
            </a:endParaRPr>
          </a:p>
          <a:p>
            <a:pPr marL="285750" marR="0" lvl="0" indent="-285750" algn="just" rtl="0">
              <a:spcBef>
                <a:spcPts val="0"/>
              </a:spcBef>
              <a:spcAft>
                <a:spcPts val="0"/>
              </a:spcAft>
              <a:buClr>
                <a:schemeClr val="lt1"/>
              </a:buClr>
              <a:buSzPts val="1800"/>
              <a:buFont typeface="Arial"/>
              <a:buChar char="•"/>
            </a:pPr>
            <a:r>
              <a:rPr lang="es-ES" sz="1800" dirty="0">
                <a:solidFill>
                  <a:schemeClr val="lt1"/>
                </a:solidFill>
                <a:latin typeface="Calibri"/>
                <a:ea typeface="Calibri"/>
                <a:cs typeface="Calibri"/>
                <a:sym typeface="Calibri"/>
              </a:rPr>
              <a:t>Toma menos tiempo el estudio a realizar.</a:t>
            </a:r>
            <a:endParaRPr>
              <a:solidFill>
                <a:schemeClr val="lt1"/>
              </a:solidFill>
            </a:endParaRPr>
          </a:p>
          <a:p>
            <a:pPr marL="285750" marR="0" lvl="0" indent="-285750" algn="just" rtl="0">
              <a:spcBef>
                <a:spcPts val="0"/>
              </a:spcBef>
              <a:spcAft>
                <a:spcPts val="0"/>
              </a:spcAft>
              <a:buClr>
                <a:schemeClr val="lt1"/>
              </a:buClr>
              <a:buSzPts val="1800"/>
              <a:buFont typeface="Arial"/>
              <a:buChar char="•"/>
            </a:pPr>
            <a:r>
              <a:rPr lang="es-ES" sz="1800" dirty="0">
                <a:solidFill>
                  <a:schemeClr val="lt1"/>
                </a:solidFill>
                <a:latin typeface="Calibri"/>
                <a:ea typeface="Calibri"/>
                <a:cs typeface="Calibri"/>
                <a:sym typeface="Calibri"/>
              </a:rPr>
              <a:t>Los resultados son más precisos.</a:t>
            </a:r>
            <a:endParaRPr>
              <a:solidFill>
                <a:schemeClr val="lt1"/>
              </a:solidFill>
            </a:endParaRPr>
          </a:p>
          <a:p>
            <a:pPr marL="0" marR="0" lvl="0" indent="0" algn="just" rtl="0">
              <a:spcBef>
                <a:spcPts val="0"/>
              </a:spcBef>
              <a:spcAft>
                <a:spcPts val="0"/>
              </a:spcAft>
              <a:buNone/>
            </a:pPr>
            <a:endParaRPr sz="1800">
              <a:solidFill>
                <a:schemeClr val="lt1"/>
              </a:solidFill>
              <a:latin typeface="Calibri"/>
              <a:ea typeface="Calibri"/>
              <a:cs typeface="Calibri"/>
              <a:sym typeface="Calibri"/>
            </a:endParaRPr>
          </a:p>
          <a:p>
            <a:pPr marL="0" marR="0" lvl="0" indent="0" algn="just" rtl="0">
              <a:spcBef>
                <a:spcPts val="0"/>
              </a:spcBef>
              <a:spcAft>
                <a:spcPts val="0"/>
              </a:spcAft>
              <a:buNone/>
            </a:pPr>
            <a:r>
              <a:rPr lang="es-ES" sz="1800" b="1" dirty="0">
                <a:solidFill>
                  <a:schemeClr val="lt1"/>
                </a:solidFill>
                <a:latin typeface="Calibri"/>
                <a:ea typeface="Calibri"/>
                <a:cs typeface="Calibri"/>
                <a:sym typeface="Calibri"/>
              </a:rPr>
              <a:t>¿Cuándo calcular el tamaño de la muestra?</a:t>
            </a:r>
            <a:endParaRPr>
              <a:solidFill>
                <a:schemeClr val="lt1"/>
              </a:solidFill>
            </a:endParaRPr>
          </a:p>
          <a:p>
            <a:pPr marL="285750" marR="0" lvl="0" indent="-285750" algn="just" rtl="0">
              <a:spcBef>
                <a:spcPts val="0"/>
              </a:spcBef>
              <a:spcAft>
                <a:spcPts val="0"/>
              </a:spcAft>
              <a:buClr>
                <a:schemeClr val="lt1"/>
              </a:buClr>
              <a:buSzPts val="1800"/>
              <a:buFont typeface="Arial"/>
              <a:buChar char="•"/>
            </a:pPr>
            <a:r>
              <a:rPr lang="es-ES" sz="1800" dirty="0">
                <a:solidFill>
                  <a:schemeClr val="lt1"/>
                </a:solidFill>
                <a:latin typeface="Calibri"/>
                <a:ea typeface="Calibri"/>
                <a:cs typeface="Calibri"/>
                <a:sym typeface="Calibri"/>
              </a:rPr>
              <a:t>Cuando no se puede estudiar toda la población.</a:t>
            </a:r>
            <a:endParaRPr>
              <a:solidFill>
                <a:schemeClr val="lt1"/>
              </a:solidFill>
            </a:endParaRPr>
          </a:p>
          <a:p>
            <a:pPr marL="285750" marR="0" lvl="0" indent="-285750" algn="just" rtl="0">
              <a:spcBef>
                <a:spcPts val="0"/>
              </a:spcBef>
              <a:spcAft>
                <a:spcPts val="0"/>
              </a:spcAft>
              <a:buClr>
                <a:schemeClr val="lt1"/>
              </a:buClr>
              <a:buSzPts val="1800"/>
              <a:buFont typeface="Arial"/>
              <a:buChar char="•"/>
            </a:pPr>
            <a:r>
              <a:rPr lang="es-ES" sz="1800" dirty="0">
                <a:solidFill>
                  <a:schemeClr val="lt1"/>
                </a:solidFill>
                <a:latin typeface="Calibri"/>
                <a:ea typeface="Calibri"/>
                <a:cs typeface="Calibri"/>
                <a:sym typeface="Calibri"/>
              </a:rPr>
              <a:t>Cuando se quieren estudiar dos o más grupos y establecer diferencias.</a:t>
            </a:r>
            <a:endParaRPr>
              <a:solidFill>
                <a:schemeClr val="lt1"/>
              </a:solidFill>
            </a:endParaRPr>
          </a:p>
          <a:p>
            <a:pPr marL="285750" marR="0" lvl="0" indent="-285750" algn="just" rtl="0">
              <a:spcBef>
                <a:spcPts val="0"/>
              </a:spcBef>
              <a:spcAft>
                <a:spcPts val="0"/>
              </a:spcAft>
              <a:buClr>
                <a:schemeClr val="lt1"/>
              </a:buClr>
              <a:buSzPts val="1800"/>
              <a:buFont typeface="Arial"/>
              <a:buChar char="•"/>
            </a:pPr>
            <a:r>
              <a:rPr lang="es-ES" sz="1800" dirty="0">
                <a:solidFill>
                  <a:schemeClr val="lt1"/>
                </a:solidFill>
                <a:latin typeface="Calibri"/>
                <a:ea typeface="Calibri"/>
                <a:cs typeface="Calibri"/>
                <a:sym typeface="Calibri"/>
              </a:rPr>
              <a:t>Cuando se quieren estimar parámetros, prevalencia, promedio, porcentaje y tasas.</a:t>
            </a:r>
            <a:endParaRPr>
              <a:solidFill>
                <a:schemeClr val="lt1"/>
              </a:solidFill>
            </a:endParaRPr>
          </a:p>
        </p:txBody>
      </p:sp>
      <p:sp>
        <p:nvSpPr>
          <p:cNvPr id="173" name="Google Shape;173;p11"/>
          <p:cNvSpPr txBox="1"/>
          <p:nvPr/>
        </p:nvSpPr>
        <p:spPr>
          <a:xfrm>
            <a:off x="1009740" y="466062"/>
            <a:ext cx="4250237" cy="700422"/>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r>
              <a:rPr lang="es-ES" sz="3200">
                <a:solidFill>
                  <a:srgbClr val="7F7F7F"/>
                </a:solidFill>
                <a:latin typeface="Arial"/>
                <a:ea typeface="Arial"/>
                <a:cs typeface="Arial"/>
                <a:sym typeface="Arial"/>
              </a:rPr>
              <a:t>Ventajas del Muestreo</a:t>
            </a:r>
            <a:endParaRPr sz="3200">
              <a:solidFill>
                <a:srgbClr val="7F7F7F"/>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73"/>
                                        </p:tgtEl>
                                        <p:attrNameLst>
                                          <p:attrName>style.visibility</p:attrName>
                                        </p:attrNameLst>
                                      </p:cBhvr>
                                      <p:to>
                                        <p:strVal val="visible"/>
                                      </p:to>
                                    </p:set>
                                    <p:animEffect transition="in" filter="fade">
                                      <p:cBhvr>
                                        <p:cTn id="7" dur="500"/>
                                        <p:tgtEl>
                                          <p:spTgt spid="1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12"/>
          <p:cNvSpPr txBox="1"/>
          <p:nvPr/>
        </p:nvSpPr>
        <p:spPr>
          <a:xfrm>
            <a:off x="1410244" y="3255894"/>
            <a:ext cx="4058739" cy="1008062"/>
          </a:xfrm>
          <a:prstGeom prst="rect">
            <a:avLst/>
          </a:prstGeom>
          <a:noFill/>
          <a:ln>
            <a:noFill/>
          </a:ln>
        </p:spPr>
        <p:txBody>
          <a:bodyPr spcFirstLastPara="1" wrap="square" lIns="91425" tIns="45700" rIns="91425" bIns="45700" anchor="ctr" anchorCtr="0">
            <a:noAutofit/>
          </a:bodyPr>
          <a:lstStyle/>
          <a:p>
            <a:pPr marL="0" marR="0" lvl="0" indent="0" algn="just" rtl="0">
              <a:lnSpc>
                <a:spcPct val="150000"/>
              </a:lnSpc>
              <a:spcBef>
                <a:spcPts val="0"/>
              </a:spcBef>
              <a:spcAft>
                <a:spcPts val="0"/>
              </a:spcAft>
              <a:buNone/>
            </a:pPr>
            <a:r>
              <a:rPr lang="es-ES" sz="3600">
                <a:solidFill>
                  <a:srgbClr val="7F7F7F"/>
                </a:solidFill>
                <a:latin typeface="Arial"/>
                <a:ea typeface="Arial"/>
                <a:cs typeface="Arial"/>
                <a:sym typeface="Arial"/>
              </a:rPr>
              <a:t>Tamaño Muestral</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78"/>
                                        </p:tgtEl>
                                        <p:attrNameLst>
                                          <p:attrName>style.visibility</p:attrName>
                                        </p:attrNameLst>
                                      </p:cBhvr>
                                      <p:to>
                                        <p:strVal val="visible"/>
                                      </p:to>
                                    </p:set>
                                    <p:animEffect transition="in" filter="fade">
                                      <p:cBhvr>
                                        <p:cTn id="7" dur="500"/>
                                        <p:tgtEl>
                                          <p:spTgt spid="1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13"/>
          <p:cNvSpPr/>
          <p:nvPr/>
        </p:nvSpPr>
        <p:spPr>
          <a:xfrm>
            <a:off x="-758779" y="1267541"/>
            <a:ext cx="12254638" cy="4488825"/>
          </a:xfrm>
          <a:prstGeom prst="roundRect">
            <a:avLst>
              <a:gd name="adj" fmla="val 2971"/>
            </a:avLst>
          </a:prstGeom>
          <a:gradFill>
            <a:gsLst>
              <a:gs pos="0">
                <a:srgbClr val="58751F"/>
              </a:gs>
              <a:gs pos="50000">
                <a:srgbClr val="81AB2C"/>
              </a:gs>
              <a:gs pos="100000">
                <a:srgbClr val="9BCC36"/>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84" name="Google Shape;184;p13"/>
          <p:cNvSpPr txBox="1"/>
          <p:nvPr/>
        </p:nvSpPr>
        <p:spPr>
          <a:xfrm>
            <a:off x="1030353" y="1491837"/>
            <a:ext cx="10148711" cy="4031873"/>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600">
                <a:solidFill>
                  <a:schemeClr val="lt1"/>
                </a:solidFill>
                <a:latin typeface="Calibri"/>
                <a:ea typeface="Calibri"/>
                <a:cs typeface="Calibri"/>
                <a:sym typeface="Calibri"/>
              </a:rPr>
              <a:t>El tamaño muestral se determina en función de varios factores, como el objetivo del estudio, la variabilidad de los datos, el nivel de confianza deseado y el margen de error permitido. </a:t>
            </a:r>
            <a:endParaRPr sz="1600">
              <a:solidFill>
                <a:schemeClr val="lt1"/>
              </a:solidFill>
              <a:latin typeface="Calibri"/>
              <a:ea typeface="Calibri"/>
              <a:cs typeface="Calibri"/>
              <a:sym typeface="Calibri"/>
            </a:endParaRPr>
          </a:p>
          <a:p>
            <a:pPr marL="0" marR="0" lvl="0" indent="0" algn="just" rtl="0">
              <a:spcBef>
                <a:spcPts val="0"/>
              </a:spcBef>
              <a:spcAft>
                <a:spcPts val="0"/>
              </a:spcAft>
              <a:buNone/>
            </a:pPr>
            <a:endParaRPr sz="1600">
              <a:solidFill>
                <a:schemeClr val="lt1"/>
              </a:solidFill>
              <a:latin typeface="Calibri"/>
              <a:ea typeface="Calibri"/>
              <a:cs typeface="Calibri"/>
              <a:sym typeface="Calibri"/>
            </a:endParaRPr>
          </a:p>
          <a:p>
            <a:pPr marL="0" marR="0" lvl="0" indent="0" algn="just" rtl="0">
              <a:spcBef>
                <a:spcPts val="0"/>
              </a:spcBef>
              <a:spcAft>
                <a:spcPts val="0"/>
              </a:spcAft>
              <a:buNone/>
            </a:pPr>
            <a:r>
              <a:rPr lang="es-ES" sz="1600">
                <a:solidFill>
                  <a:schemeClr val="lt1"/>
                </a:solidFill>
                <a:latin typeface="Calibri"/>
                <a:ea typeface="Calibri"/>
                <a:cs typeface="Calibri"/>
                <a:sym typeface="Calibri"/>
              </a:rPr>
              <a:t>A continuación, se describen los pasos generales para determinar el tamaño muestral:</a:t>
            </a:r>
            <a:endParaRPr/>
          </a:p>
          <a:p>
            <a:pPr marL="0" marR="0" lvl="0" indent="0" algn="just" rtl="0">
              <a:spcBef>
                <a:spcPts val="0"/>
              </a:spcBef>
              <a:spcAft>
                <a:spcPts val="0"/>
              </a:spcAft>
              <a:buNone/>
            </a:pPr>
            <a:endParaRPr sz="1600">
              <a:solidFill>
                <a:schemeClr val="lt1"/>
              </a:solidFill>
              <a:latin typeface="Calibri"/>
              <a:ea typeface="Calibri"/>
              <a:cs typeface="Calibri"/>
              <a:sym typeface="Calibri"/>
            </a:endParaRPr>
          </a:p>
          <a:p>
            <a:pPr marL="0" marR="0" lvl="0" indent="0" algn="just" rtl="0">
              <a:spcBef>
                <a:spcPts val="0"/>
              </a:spcBef>
              <a:spcAft>
                <a:spcPts val="0"/>
              </a:spcAft>
              <a:buNone/>
            </a:pPr>
            <a:r>
              <a:rPr lang="es-ES" sz="1600" b="1">
                <a:solidFill>
                  <a:schemeClr val="lt1"/>
                </a:solidFill>
                <a:latin typeface="Calibri"/>
                <a:ea typeface="Calibri"/>
                <a:cs typeface="Calibri"/>
                <a:sym typeface="Calibri"/>
              </a:rPr>
              <a:t>Definir el objetivo del estudio</a:t>
            </a:r>
            <a:r>
              <a:rPr lang="es-ES" sz="1600">
                <a:solidFill>
                  <a:schemeClr val="lt1"/>
                </a:solidFill>
                <a:latin typeface="Calibri"/>
                <a:ea typeface="Calibri"/>
                <a:cs typeface="Calibri"/>
                <a:sym typeface="Calibri"/>
              </a:rPr>
              <a:t>: El objetivo del estudio debe ser claro y específico. Es importante saber qué se quiere medir o evaluar y qué resultados se esperan obtener.</a:t>
            </a:r>
            <a:endParaRPr/>
          </a:p>
          <a:p>
            <a:pPr marL="0" marR="0" lvl="0" indent="0" algn="just" rtl="0">
              <a:spcBef>
                <a:spcPts val="0"/>
              </a:spcBef>
              <a:spcAft>
                <a:spcPts val="0"/>
              </a:spcAft>
              <a:buNone/>
            </a:pPr>
            <a:endParaRPr sz="1600">
              <a:solidFill>
                <a:schemeClr val="lt1"/>
              </a:solidFill>
              <a:latin typeface="Calibri"/>
              <a:ea typeface="Calibri"/>
              <a:cs typeface="Calibri"/>
              <a:sym typeface="Calibri"/>
            </a:endParaRPr>
          </a:p>
          <a:p>
            <a:pPr marL="0" marR="0" lvl="0" indent="0" algn="just" rtl="0">
              <a:spcBef>
                <a:spcPts val="0"/>
              </a:spcBef>
              <a:spcAft>
                <a:spcPts val="0"/>
              </a:spcAft>
              <a:buNone/>
            </a:pPr>
            <a:r>
              <a:rPr lang="es-ES" sz="1600" b="1">
                <a:solidFill>
                  <a:schemeClr val="lt1"/>
                </a:solidFill>
                <a:latin typeface="Calibri"/>
                <a:ea typeface="Calibri"/>
                <a:cs typeface="Calibri"/>
                <a:sym typeface="Calibri"/>
              </a:rPr>
              <a:t>Identificar la población</a:t>
            </a:r>
            <a:r>
              <a:rPr lang="es-ES" sz="1600">
                <a:solidFill>
                  <a:schemeClr val="lt1"/>
                </a:solidFill>
                <a:latin typeface="Calibri"/>
                <a:ea typeface="Calibri"/>
                <a:cs typeface="Calibri"/>
                <a:sym typeface="Calibri"/>
              </a:rPr>
              <a:t>: Es importante definir claramente la población a la que se quiere generalizar los resultados. La población puede ser un grupo de personas, objetos o eventos que comparten características similares.</a:t>
            </a:r>
            <a:endParaRPr/>
          </a:p>
          <a:p>
            <a:pPr marL="0" marR="0" lvl="0" indent="0" algn="just" rtl="0">
              <a:spcBef>
                <a:spcPts val="0"/>
              </a:spcBef>
              <a:spcAft>
                <a:spcPts val="0"/>
              </a:spcAft>
              <a:buNone/>
            </a:pPr>
            <a:endParaRPr sz="1600">
              <a:solidFill>
                <a:schemeClr val="lt1"/>
              </a:solidFill>
              <a:latin typeface="Calibri"/>
              <a:ea typeface="Calibri"/>
              <a:cs typeface="Calibri"/>
              <a:sym typeface="Calibri"/>
            </a:endParaRPr>
          </a:p>
          <a:p>
            <a:pPr marL="0" marR="0" lvl="0" indent="0" algn="just" rtl="0">
              <a:spcBef>
                <a:spcPts val="0"/>
              </a:spcBef>
              <a:spcAft>
                <a:spcPts val="0"/>
              </a:spcAft>
              <a:buNone/>
            </a:pPr>
            <a:r>
              <a:rPr lang="es-ES" sz="1600" b="1">
                <a:solidFill>
                  <a:schemeClr val="lt1"/>
                </a:solidFill>
                <a:latin typeface="Calibri"/>
                <a:ea typeface="Calibri"/>
                <a:cs typeface="Calibri"/>
                <a:sym typeface="Calibri"/>
              </a:rPr>
              <a:t>Determinar el nivel de confianza</a:t>
            </a:r>
            <a:r>
              <a:rPr lang="es-ES" sz="1600">
                <a:solidFill>
                  <a:schemeClr val="lt1"/>
                </a:solidFill>
                <a:latin typeface="Calibri"/>
                <a:ea typeface="Calibri"/>
                <a:cs typeface="Calibri"/>
                <a:sym typeface="Calibri"/>
              </a:rPr>
              <a:t>: El nivel de confianza es la probabilidad de que los resultados obtenidos en la muestra sean representativos de la población. El nivel de confianza se expresa en porcentaje y se suele fijar en un 95% o un 99%.</a:t>
            </a:r>
            <a:endParaRPr/>
          </a:p>
          <a:p>
            <a:pPr marL="0" marR="0" lvl="0" indent="0" algn="just" rtl="0">
              <a:spcBef>
                <a:spcPts val="0"/>
              </a:spcBef>
              <a:spcAft>
                <a:spcPts val="0"/>
              </a:spcAft>
              <a:buNone/>
            </a:pPr>
            <a:endParaRPr sz="1600">
              <a:solidFill>
                <a:schemeClr val="lt1"/>
              </a:solidFill>
              <a:latin typeface="Calibri"/>
              <a:ea typeface="Calibri"/>
              <a:cs typeface="Calibri"/>
              <a:sym typeface="Calibri"/>
            </a:endParaRPr>
          </a:p>
          <a:p>
            <a:pPr marL="0" marR="0" lvl="0" indent="0" algn="just" rtl="0">
              <a:spcBef>
                <a:spcPts val="0"/>
              </a:spcBef>
              <a:spcAft>
                <a:spcPts val="0"/>
              </a:spcAft>
              <a:buNone/>
            </a:pPr>
            <a:r>
              <a:rPr lang="es-ES" sz="1600" b="1">
                <a:solidFill>
                  <a:schemeClr val="lt1"/>
                </a:solidFill>
                <a:latin typeface="Calibri"/>
                <a:ea typeface="Calibri"/>
                <a:cs typeface="Calibri"/>
                <a:sym typeface="Calibri"/>
              </a:rPr>
              <a:t>Establecer el margen de error</a:t>
            </a:r>
            <a:r>
              <a:rPr lang="es-ES" sz="1600">
                <a:solidFill>
                  <a:schemeClr val="lt1"/>
                </a:solidFill>
                <a:latin typeface="Calibri"/>
                <a:ea typeface="Calibri"/>
                <a:cs typeface="Calibri"/>
                <a:sym typeface="Calibri"/>
              </a:rPr>
              <a:t>: El margen de error es la cantidad de variabilidad que se permite en los resultados. Se expresa en porcentaje y suele estar entre el 2% y el 5%.</a:t>
            </a:r>
            <a:endParaRPr/>
          </a:p>
        </p:txBody>
      </p:sp>
      <p:sp>
        <p:nvSpPr>
          <p:cNvPr id="185" name="Google Shape;185;p13"/>
          <p:cNvSpPr txBox="1"/>
          <p:nvPr/>
        </p:nvSpPr>
        <p:spPr>
          <a:xfrm>
            <a:off x="1030353" y="665569"/>
            <a:ext cx="7937277" cy="593612"/>
          </a:xfrm>
          <a:prstGeom prst="rect">
            <a:avLst/>
          </a:prstGeom>
          <a:noFill/>
          <a:ln>
            <a:noFill/>
          </a:ln>
        </p:spPr>
        <p:txBody>
          <a:bodyPr spcFirstLastPara="1" wrap="square" lIns="91425" tIns="45700" rIns="91425" bIns="45700" anchor="ctr" anchorCtr="0">
            <a:noAutofit/>
          </a:bodyPr>
          <a:lstStyle/>
          <a:p>
            <a:pPr marL="0" marR="0" lvl="0" indent="0" algn="just" rtl="0">
              <a:lnSpc>
                <a:spcPct val="100000"/>
              </a:lnSpc>
              <a:spcBef>
                <a:spcPts val="0"/>
              </a:spcBef>
              <a:spcAft>
                <a:spcPts val="0"/>
              </a:spcAft>
              <a:buNone/>
            </a:pPr>
            <a:r>
              <a:rPr lang="es-ES" sz="3200">
                <a:solidFill>
                  <a:srgbClr val="7F7F7F"/>
                </a:solidFill>
                <a:latin typeface="Arial"/>
                <a:ea typeface="Arial"/>
                <a:cs typeface="Arial"/>
                <a:sym typeface="Arial"/>
              </a:rPr>
              <a:t>Determinando el Tamaño de la Muestra</a:t>
            </a:r>
            <a:endParaRPr sz="3200">
              <a:solidFill>
                <a:srgbClr val="7F7F7F"/>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85"/>
                                        </p:tgtEl>
                                        <p:attrNameLst>
                                          <p:attrName>style.visibility</p:attrName>
                                        </p:attrNameLst>
                                      </p:cBhvr>
                                      <p:to>
                                        <p:strVal val="visible"/>
                                      </p:to>
                                    </p:set>
                                    <p:animEffect transition="in" filter="fade">
                                      <p:cBhvr>
                                        <p:cTn id="7" dur="500"/>
                                        <p:tgtEl>
                                          <p:spTgt spid="1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1" name="Google Shape;191;p14"/>
          <p:cNvSpPr/>
          <p:nvPr/>
        </p:nvSpPr>
        <p:spPr>
          <a:xfrm>
            <a:off x="457200" y="1051922"/>
            <a:ext cx="11277600" cy="5363161"/>
          </a:xfrm>
          <a:prstGeom prst="roundRect">
            <a:avLst>
              <a:gd name="adj" fmla="val 2971"/>
            </a:avLst>
          </a:prstGeom>
          <a:gradFill>
            <a:gsLst>
              <a:gs pos="0">
                <a:srgbClr val="58751F"/>
              </a:gs>
              <a:gs pos="50000">
                <a:srgbClr val="81AB2C"/>
              </a:gs>
              <a:gs pos="100000">
                <a:srgbClr val="9BCC36"/>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2" name="Google Shape;192;p14"/>
          <p:cNvSpPr txBox="1"/>
          <p:nvPr/>
        </p:nvSpPr>
        <p:spPr>
          <a:xfrm>
            <a:off x="661306" y="365343"/>
            <a:ext cx="10782300" cy="599618"/>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r>
              <a:rPr lang="es-ES" sz="3200">
                <a:solidFill>
                  <a:srgbClr val="7F7F7F"/>
                </a:solidFill>
                <a:latin typeface="Arial"/>
                <a:ea typeface="Arial"/>
                <a:cs typeface="Arial"/>
                <a:sym typeface="Arial"/>
              </a:rPr>
              <a:t>Determinando el Tamaño de la Muestra</a:t>
            </a:r>
            <a:endParaRPr sz="3200">
              <a:solidFill>
                <a:srgbClr val="7F7F7F"/>
              </a:solidFill>
              <a:latin typeface="Arial"/>
              <a:ea typeface="Arial"/>
              <a:cs typeface="Arial"/>
              <a:sym typeface="Arial"/>
            </a:endParaRPr>
          </a:p>
        </p:txBody>
      </p:sp>
      <p:sp>
        <p:nvSpPr>
          <p:cNvPr id="193" name="Google Shape;193;p14"/>
          <p:cNvSpPr txBox="1"/>
          <p:nvPr/>
        </p:nvSpPr>
        <p:spPr>
          <a:xfrm>
            <a:off x="662123" y="1114289"/>
            <a:ext cx="10867753" cy="584775"/>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600">
                <a:solidFill>
                  <a:schemeClr val="lt1"/>
                </a:solidFill>
                <a:latin typeface="Calibri"/>
                <a:ea typeface="Calibri"/>
                <a:cs typeface="Calibri"/>
                <a:sym typeface="Calibri"/>
              </a:rPr>
              <a:t>Una vez que se han determinado el nivel de confianza y el margen de error, se puede utilizar una fórmula estadística para calcular el tamaño muestral necesario. La fórmula varía según el tipo de variable y el conocimiento de parámetros de la población.</a:t>
            </a:r>
            <a:endParaRPr sz="1800">
              <a:solidFill>
                <a:schemeClr val="lt1"/>
              </a:solidFill>
              <a:latin typeface="Calibri"/>
              <a:ea typeface="Calibri"/>
              <a:cs typeface="Calibri"/>
              <a:sym typeface="Calibri"/>
            </a:endParaRPr>
          </a:p>
        </p:txBody>
      </p:sp>
      <p:sp>
        <p:nvSpPr>
          <p:cNvPr id="190" name="Google Shape;190;p14"/>
          <p:cNvSpPr/>
          <p:nvPr/>
        </p:nvSpPr>
        <p:spPr>
          <a:xfrm>
            <a:off x="656945" y="1969779"/>
            <a:ext cx="10856340" cy="4281953"/>
          </a:xfrm>
          <a:prstGeom prst="roundRect">
            <a:avLst>
              <a:gd name="adj" fmla="val 2971"/>
            </a:avLst>
          </a:prstGeom>
          <a:solidFill>
            <a:schemeClr val="lt1"/>
          </a:solidFill>
          <a:ln w="38100" cap="flat" cmpd="sng">
            <a:no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pic>
        <p:nvPicPr>
          <p:cNvPr id="194" name="Google Shape;194;p14"/>
          <p:cNvPicPr preferRelativeResize="0"/>
          <p:nvPr/>
        </p:nvPicPr>
        <p:blipFill rotWithShape="1">
          <a:blip r:embed="rId3">
            <a:alphaModFix/>
          </a:blip>
          <a:srcRect l="541"/>
          <a:stretch/>
        </p:blipFill>
        <p:spPr>
          <a:xfrm>
            <a:off x="2678965" y="2126920"/>
            <a:ext cx="6572813" cy="4006412"/>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92"/>
                                        </p:tgtEl>
                                        <p:attrNameLst>
                                          <p:attrName>style.visibility</p:attrName>
                                        </p:attrNameLst>
                                      </p:cBhvr>
                                      <p:to>
                                        <p:strVal val="visible"/>
                                      </p:to>
                                    </p:set>
                                    <p:animEffect transition="in" filter="fade">
                                      <p:cBhvr>
                                        <p:cTn id="7" dur="500"/>
                                        <p:tgtEl>
                                          <p:spTgt spid="1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15"/>
          <p:cNvSpPr/>
          <p:nvPr/>
        </p:nvSpPr>
        <p:spPr>
          <a:xfrm>
            <a:off x="704850" y="997386"/>
            <a:ext cx="10782300" cy="5183218"/>
          </a:xfrm>
          <a:prstGeom prst="roundRect">
            <a:avLst>
              <a:gd name="adj" fmla="val 2971"/>
            </a:avLst>
          </a:prstGeom>
          <a:gradFill>
            <a:gsLst>
              <a:gs pos="0">
                <a:srgbClr val="58751F"/>
              </a:gs>
              <a:gs pos="50000">
                <a:srgbClr val="81AB2C"/>
              </a:gs>
              <a:gs pos="100000">
                <a:srgbClr val="9BCC36"/>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0" name="Google Shape;200;p15"/>
          <p:cNvSpPr txBox="1"/>
          <p:nvPr/>
        </p:nvSpPr>
        <p:spPr>
          <a:xfrm>
            <a:off x="1021646" y="1100495"/>
            <a:ext cx="10146464" cy="5080109"/>
          </a:xfrm>
          <a:prstGeom prst="rect">
            <a:avLst/>
          </a:prstGeom>
          <a:blipFill rotWithShape="1">
            <a:blip r:embed="rId3">
              <a:alphaModFix/>
            </a:blip>
            <a:stretch>
              <a:fillRect l="-540" t="-719" r="-480"/>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ES" sz="1800">
                <a:latin typeface="Calibri"/>
                <a:ea typeface="Calibri"/>
                <a:cs typeface="Calibri"/>
                <a:sym typeface="Calibri"/>
              </a:rPr>
              <a:t> </a:t>
            </a:r>
            <a:endParaRPr/>
          </a:p>
        </p:txBody>
      </p:sp>
      <p:sp>
        <p:nvSpPr>
          <p:cNvPr id="201" name="Google Shape;201;p15"/>
          <p:cNvSpPr txBox="1"/>
          <p:nvPr/>
        </p:nvSpPr>
        <p:spPr>
          <a:xfrm>
            <a:off x="1021646" y="154688"/>
            <a:ext cx="10465504" cy="1008062"/>
          </a:xfrm>
          <a:prstGeom prst="rect">
            <a:avLst/>
          </a:prstGeom>
          <a:noFill/>
          <a:ln>
            <a:noFill/>
          </a:ln>
        </p:spPr>
        <p:txBody>
          <a:bodyPr spcFirstLastPara="1" wrap="square" lIns="91425" tIns="45700" rIns="91425" bIns="45700" anchor="ctr" anchorCtr="0">
            <a:noAutofit/>
          </a:bodyPr>
          <a:lstStyle/>
          <a:p>
            <a:pPr marL="0" marR="0" lvl="0" indent="0" algn="just" rtl="0">
              <a:lnSpc>
                <a:spcPct val="100000"/>
              </a:lnSpc>
              <a:spcBef>
                <a:spcPts val="0"/>
              </a:spcBef>
              <a:spcAft>
                <a:spcPts val="0"/>
              </a:spcAft>
              <a:buNone/>
            </a:pPr>
            <a:r>
              <a:rPr lang="es-ES" sz="3200">
                <a:solidFill>
                  <a:srgbClr val="7F7F7F"/>
                </a:solidFill>
                <a:latin typeface="Calibri"/>
                <a:ea typeface="Calibri"/>
                <a:cs typeface="Calibri"/>
                <a:sym typeface="Calibri"/>
              </a:rPr>
              <a:t>Determinando el Tamaño de una Muestra</a:t>
            </a:r>
            <a:endParaRPr sz="3200">
              <a:solidFill>
                <a:srgbClr val="7F7F7F"/>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01"/>
                                        </p:tgtEl>
                                        <p:attrNameLst>
                                          <p:attrName>style.visibility</p:attrName>
                                        </p:attrNameLst>
                                      </p:cBhvr>
                                      <p:to>
                                        <p:strVal val="visible"/>
                                      </p:to>
                                    </p:set>
                                    <p:animEffect transition="in" filter="fade">
                                      <p:cBhvr>
                                        <p:cTn id="7" dur="500"/>
                                        <p:tgtEl>
                                          <p:spTgt spid="2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16"/>
          <p:cNvSpPr/>
          <p:nvPr/>
        </p:nvSpPr>
        <p:spPr>
          <a:xfrm>
            <a:off x="4138549" y="2220923"/>
            <a:ext cx="4141076" cy="2684396"/>
          </a:xfrm>
          <a:prstGeom prst="roundRect">
            <a:avLst>
              <a:gd name="adj" fmla="val 2971"/>
            </a:avLst>
          </a:prstGeom>
          <a:solidFill>
            <a:schemeClr val="lt1"/>
          </a:solidFill>
          <a:ln w="38100" cap="flat" cmpd="sng">
            <a:solidFill>
              <a:srgbClr val="98C3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207" name="Google Shape;207;p16"/>
          <p:cNvSpPr/>
          <p:nvPr/>
        </p:nvSpPr>
        <p:spPr>
          <a:xfrm>
            <a:off x="457200" y="991918"/>
            <a:ext cx="11277600" cy="1006537"/>
          </a:xfrm>
          <a:prstGeom prst="roundRect">
            <a:avLst>
              <a:gd name="adj" fmla="val 2971"/>
            </a:avLst>
          </a:prstGeom>
          <a:gradFill>
            <a:gsLst>
              <a:gs pos="0">
                <a:srgbClr val="58751F"/>
              </a:gs>
              <a:gs pos="50000">
                <a:srgbClr val="81AB2C"/>
              </a:gs>
              <a:gs pos="100000">
                <a:srgbClr val="9BCC36"/>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8" name="Google Shape;208;p16"/>
          <p:cNvSpPr txBox="1"/>
          <p:nvPr/>
        </p:nvSpPr>
        <p:spPr>
          <a:xfrm>
            <a:off x="598318" y="314024"/>
            <a:ext cx="10782300" cy="660337"/>
          </a:xfrm>
          <a:prstGeom prst="rect">
            <a:avLst/>
          </a:prstGeom>
          <a:noFill/>
          <a:ln>
            <a:noFill/>
          </a:ln>
        </p:spPr>
        <p:txBody>
          <a:bodyPr spcFirstLastPara="1" wrap="square" lIns="91425" tIns="45700" rIns="91425" bIns="45700" anchor="ctr" anchorCtr="0">
            <a:noAutofit/>
          </a:bodyPr>
          <a:lstStyle/>
          <a:p>
            <a:pPr marL="0" marR="0" lvl="0" indent="0" algn="just" rtl="0">
              <a:lnSpc>
                <a:spcPct val="150000"/>
              </a:lnSpc>
              <a:spcBef>
                <a:spcPts val="0"/>
              </a:spcBef>
              <a:spcAft>
                <a:spcPts val="0"/>
              </a:spcAft>
              <a:buNone/>
            </a:pPr>
            <a:r>
              <a:rPr lang="es-ES" sz="3200">
                <a:solidFill>
                  <a:srgbClr val="7F7F7F"/>
                </a:solidFill>
                <a:latin typeface="Arial"/>
                <a:ea typeface="Arial"/>
                <a:cs typeface="Arial"/>
                <a:sym typeface="Arial"/>
              </a:rPr>
              <a:t>Determinando el Tamaño de la Muestra</a:t>
            </a:r>
            <a:endParaRPr sz="3200">
              <a:solidFill>
                <a:srgbClr val="7F7F7F"/>
              </a:solidFill>
              <a:latin typeface="Arial"/>
              <a:ea typeface="Arial"/>
              <a:cs typeface="Arial"/>
              <a:sym typeface="Arial"/>
            </a:endParaRPr>
          </a:p>
        </p:txBody>
      </p:sp>
      <p:sp>
        <p:nvSpPr>
          <p:cNvPr id="209" name="Google Shape;209;p16"/>
          <p:cNvSpPr txBox="1"/>
          <p:nvPr/>
        </p:nvSpPr>
        <p:spPr>
          <a:xfrm>
            <a:off x="598318" y="1128709"/>
            <a:ext cx="11029950" cy="830997"/>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600">
                <a:solidFill>
                  <a:schemeClr val="lt1"/>
                </a:solidFill>
                <a:latin typeface="Calibri"/>
                <a:ea typeface="Calibri"/>
                <a:cs typeface="Calibri"/>
                <a:sym typeface="Calibri"/>
              </a:rPr>
              <a:t>Por ejemplo, si se quiere estimar la proporción de personas que usan un determinado servicio en una ciudad, con un nivel de confianza del 95% y un margen de error del 5%, y se estima que la proporción es del 50%, entonces la fórmula para calcular el tamaño de muestra sería:</a:t>
            </a:r>
            <a:endParaRPr sz="1800">
              <a:solidFill>
                <a:schemeClr val="lt1"/>
              </a:solidFill>
              <a:latin typeface="Arial"/>
              <a:ea typeface="Arial"/>
              <a:cs typeface="Arial"/>
              <a:sym typeface="Arial"/>
            </a:endParaRPr>
          </a:p>
        </p:txBody>
      </p:sp>
      <p:sp>
        <p:nvSpPr>
          <p:cNvPr id="210" name="Google Shape;210;p16"/>
          <p:cNvSpPr txBox="1"/>
          <p:nvPr/>
        </p:nvSpPr>
        <p:spPr>
          <a:xfrm>
            <a:off x="3581728" y="2531131"/>
            <a:ext cx="5254717" cy="625428"/>
          </a:xfrm>
          <a:prstGeom prst="rect">
            <a:avLst/>
          </a:pr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ES" sz="1800">
                <a:latin typeface="Calibri"/>
                <a:ea typeface="Calibri"/>
                <a:cs typeface="Calibri"/>
                <a:sym typeface="Calibri"/>
              </a:rPr>
              <a:t> </a:t>
            </a:r>
            <a:endParaRPr/>
          </a:p>
        </p:txBody>
      </p:sp>
      <p:sp>
        <p:nvSpPr>
          <p:cNvPr id="211" name="Google Shape;211;p16"/>
          <p:cNvSpPr txBox="1"/>
          <p:nvPr/>
        </p:nvSpPr>
        <p:spPr>
          <a:xfrm>
            <a:off x="3553400" y="3376779"/>
            <a:ext cx="5254717" cy="625492"/>
          </a:xfrm>
          <a:prstGeom prst="rect">
            <a:avLst/>
          </a:pr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ES" sz="1800">
                <a:latin typeface="Calibri"/>
                <a:ea typeface="Calibri"/>
                <a:cs typeface="Calibri"/>
                <a:sym typeface="Calibri"/>
              </a:rPr>
              <a:t> </a:t>
            </a:r>
            <a:endParaRPr/>
          </a:p>
        </p:txBody>
      </p:sp>
      <p:sp>
        <p:nvSpPr>
          <p:cNvPr id="212" name="Google Shape;212;p16"/>
          <p:cNvSpPr txBox="1"/>
          <p:nvPr/>
        </p:nvSpPr>
        <p:spPr>
          <a:xfrm>
            <a:off x="3553400" y="4315123"/>
            <a:ext cx="5254717" cy="307777"/>
          </a:xfrm>
          <a:prstGeom prst="rect">
            <a:avLst/>
          </a:prstGeom>
          <a:blipFill rotWithShape="1">
            <a:blip r:embed="rId5">
              <a:alphaModFix/>
            </a:blip>
            <a:stretch>
              <a:fillRect b="-5999"/>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ES" sz="1800">
                <a:latin typeface="Calibri"/>
                <a:ea typeface="Calibri"/>
                <a:cs typeface="Calibri"/>
                <a:sym typeface="Calibri"/>
              </a:rPr>
              <a:t> </a:t>
            </a:r>
            <a:endParaRPr/>
          </a:p>
        </p:txBody>
      </p:sp>
      <p:sp>
        <p:nvSpPr>
          <p:cNvPr id="213" name="Google Shape;213;p16"/>
          <p:cNvSpPr/>
          <p:nvPr/>
        </p:nvSpPr>
        <p:spPr>
          <a:xfrm>
            <a:off x="457200" y="5155576"/>
            <a:ext cx="11277600" cy="1044927"/>
          </a:xfrm>
          <a:prstGeom prst="roundRect">
            <a:avLst>
              <a:gd name="adj" fmla="val 2971"/>
            </a:avLst>
          </a:prstGeom>
          <a:gradFill>
            <a:gsLst>
              <a:gs pos="0">
                <a:srgbClr val="58751F"/>
              </a:gs>
              <a:gs pos="50000">
                <a:srgbClr val="81AB2C"/>
              </a:gs>
              <a:gs pos="100000">
                <a:srgbClr val="9BCC36"/>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4" name="Google Shape;214;p16"/>
          <p:cNvSpPr txBox="1"/>
          <p:nvPr/>
        </p:nvSpPr>
        <p:spPr>
          <a:xfrm>
            <a:off x="598318" y="5275478"/>
            <a:ext cx="11029950" cy="830997"/>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600">
                <a:solidFill>
                  <a:schemeClr val="lt1"/>
                </a:solidFill>
                <a:latin typeface="Calibri"/>
                <a:ea typeface="Calibri"/>
                <a:cs typeface="Calibri"/>
                <a:sym typeface="Calibri"/>
              </a:rPr>
              <a:t>Por lo tanto, se necesitaría una muestra de al menos 385 personas para estimar la proporción con un nivel de confianza del 95% y un margen de error del 5%. Es importante tener en cuenta que, si la proporción estimada es menor o mayor que el 50%, el tamaño de muestra necesario podría ser mayor o menor que el ejemplo mencionado.</a:t>
            </a:r>
            <a:endParaRPr sz="1800">
              <a:solidFill>
                <a:schemeClr val="lt1"/>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08"/>
                                        </p:tgtEl>
                                        <p:attrNameLst>
                                          <p:attrName>style.visibility</p:attrName>
                                        </p:attrNameLst>
                                      </p:cBhvr>
                                      <p:to>
                                        <p:strVal val="visible"/>
                                      </p:to>
                                    </p:set>
                                    <p:animEffect transition="in" filter="fade">
                                      <p:cBhvr>
                                        <p:cTn id="7" dur="500"/>
                                        <p:tgtEl>
                                          <p:spTgt spid="2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sp>
        <p:nvSpPr>
          <p:cNvPr id="219" name="Google Shape;219;p17"/>
          <p:cNvSpPr/>
          <p:nvPr/>
        </p:nvSpPr>
        <p:spPr>
          <a:xfrm>
            <a:off x="560615" y="2333625"/>
            <a:ext cx="11179627" cy="3959590"/>
          </a:xfrm>
          <a:prstGeom prst="roundRect">
            <a:avLst>
              <a:gd name="adj" fmla="val 2971"/>
            </a:avLst>
          </a:prstGeom>
          <a:solidFill>
            <a:schemeClr val="lt1"/>
          </a:solidFill>
          <a:ln w="38100" cap="flat" cmpd="sng">
            <a:solidFill>
              <a:srgbClr val="98C3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220" name="Google Shape;220;p17"/>
          <p:cNvSpPr/>
          <p:nvPr/>
        </p:nvSpPr>
        <p:spPr>
          <a:xfrm>
            <a:off x="457200" y="1240134"/>
            <a:ext cx="11277600" cy="726826"/>
          </a:xfrm>
          <a:prstGeom prst="roundRect">
            <a:avLst>
              <a:gd name="adj" fmla="val 2971"/>
            </a:avLst>
          </a:prstGeom>
          <a:gradFill>
            <a:gsLst>
              <a:gs pos="0">
                <a:srgbClr val="58751F"/>
              </a:gs>
              <a:gs pos="50000">
                <a:srgbClr val="81AB2C"/>
              </a:gs>
              <a:gs pos="100000">
                <a:srgbClr val="9BCC36"/>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1" name="Google Shape;221;p17"/>
          <p:cNvSpPr txBox="1"/>
          <p:nvPr/>
        </p:nvSpPr>
        <p:spPr>
          <a:xfrm>
            <a:off x="651582" y="327739"/>
            <a:ext cx="10782300" cy="726035"/>
          </a:xfrm>
          <a:prstGeom prst="rect">
            <a:avLst/>
          </a:prstGeom>
          <a:noFill/>
          <a:ln>
            <a:noFill/>
          </a:ln>
        </p:spPr>
        <p:txBody>
          <a:bodyPr spcFirstLastPara="1" wrap="square" lIns="91425" tIns="45700" rIns="91425" bIns="45700" anchor="ctr" anchorCtr="0">
            <a:noAutofit/>
          </a:bodyPr>
          <a:lstStyle/>
          <a:p>
            <a:pPr marL="0" marR="0" lvl="0" indent="0" algn="just" rtl="0">
              <a:lnSpc>
                <a:spcPct val="150000"/>
              </a:lnSpc>
              <a:spcBef>
                <a:spcPts val="0"/>
              </a:spcBef>
              <a:spcAft>
                <a:spcPts val="0"/>
              </a:spcAft>
              <a:buNone/>
            </a:pPr>
            <a:r>
              <a:rPr lang="es-ES" sz="3200">
                <a:solidFill>
                  <a:srgbClr val="7F7F7F"/>
                </a:solidFill>
                <a:latin typeface="Arial"/>
                <a:ea typeface="Arial"/>
                <a:cs typeface="Arial"/>
                <a:sym typeface="Arial"/>
              </a:rPr>
              <a:t>Determinando el Tamaño de la Muestra</a:t>
            </a:r>
            <a:endParaRPr sz="3200">
              <a:solidFill>
                <a:srgbClr val="7F7F7F"/>
              </a:solidFill>
              <a:latin typeface="Arial"/>
              <a:ea typeface="Arial"/>
              <a:cs typeface="Arial"/>
              <a:sym typeface="Arial"/>
            </a:endParaRPr>
          </a:p>
        </p:txBody>
      </p:sp>
      <p:sp>
        <p:nvSpPr>
          <p:cNvPr id="222" name="Google Shape;222;p17"/>
          <p:cNvSpPr txBox="1"/>
          <p:nvPr/>
        </p:nvSpPr>
        <p:spPr>
          <a:xfrm>
            <a:off x="651582" y="1286948"/>
            <a:ext cx="11029949" cy="646331"/>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chemeClr val="lt1"/>
                </a:solidFill>
                <a:latin typeface="Calibri"/>
                <a:ea typeface="Calibri"/>
                <a:cs typeface="Calibri"/>
                <a:sym typeface="Calibri"/>
              </a:rPr>
              <a:t>Para determinar el tamaño de muestra necesario para </a:t>
            </a:r>
            <a:r>
              <a:rPr lang="es-ES" sz="1800" b="1">
                <a:solidFill>
                  <a:schemeClr val="lt1"/>
                </a:solidFill>
                <a:latin typeface="Calibri"/>
                <a:ea typeface="Calibri"/>
                <a:cs typeface="Calibri"/>
                <a:sym typeface="Calibri"/>
              </a:rPr>
              <a:t>estimar una proporción con población finita (conocida)</a:t>
            </a:r>
            <a:r>
              <a:rPr lang="es-ES" sz="1800">
                <a:solidFill>
                  <a:schemeClr val="lt1"/>
                </a:solidFill>
                <a:latin typeface="Calibri"/>
                <a:ea typeface="Calibri"/>
                <a:cs typeface="Calibri"/>
                <a:sym typeface="Calibri"/>
              </a:rPr>
              <a:t>, se utiliza la siguiente fórmula:</a:t>
            </a:r>
            <a:endParaRPr/>
          </a:p>
        </p:txBody>
      </p:sp>
      <p:sp>
        <p:nvSpPr>
          <p:cNvPr id="225" name="Google Shape;225;p17"/>
          <p:cNvSpPr txBox="1"/>
          <p:nvPr/>
        </p:nvSpPr>
        <p:spPr>
          <a:xfrm>
            <a:off x="751116" y="3323642"/>
            <a:ext cx="6207578" cy="2585283"/>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dirty="0">
                <a:solidFill>
                  <a:schemeClr val="tx1">
                    <a:lumMod val="75000"/>
                    <a:lumOff val="25000"/>
                  </a:schemeClr>
                </a:solidFill>
                <a:latin typeface="Calibri"/>
                <a:ea typeface="Calibri"/>
                <a:cs typeface="Calibri"/>
                <a:sym typeface="Calibri"/>
              </a:rPr>
              <a:t>Donde:</a:t>
            </a:r>
            <a:endParaRPr lang="es-ES" dirty="0">
              <a:solidFill>
                <a:schemeClr val="tx1">
                  <a:lumMod val="75000"/>
                  <a:lumOff val="25000"/>
                </a:schemeClr>
              </a:solidFill>
            </a:endParaRPr>
          </a:p>
          <a:p>
            <a:pPr marL="0" marR="0" lvl="0" indent="0" algn="just" rtl="0">
              <a:spcBef>
                <a:spcPts val="0"/>
              </a:spcBef>
              <a:spcAft>
                <a:spcPts val="0"/>
              </a:spcAft>
              <a:buNone/>
            </a:pPr>
            <a:endParaRPr sz="1800" dirty="0">
              <a:solidFill>
                <a:schemeClr val="tx1">
                  <a:lumMod val="75000"/>
                  <a:lumOff val="25000"/>
                </a:schemeClr>
              </a:solidFill>
              <a:latin typeface="Calibri"/>
              <a:ea typeface="Calibri"/>
              <a:cs typeface="Calibri"/>
            </a:endParaRPr>
          </a:p>
          <a:p>
            <a:pPr marR="0" lvl="0" algn="just" rtl="0">
              <a:spcBef>
                <a:spcPts val="0"/>
              </a:spcBef>
              <a:spcAft>
                <a:spcPts val="0"/>
              </a:spcAft>
              <a:buClr>
                <a:schemeClr val="lt1"/>
              </a:buClr>
              <a:buSzPts val="1800"/>
            </a:pPr>
            <a:r>
              <a:rPr lang="es-ES" sz="1800" b="1" dirty="0">
                <a:solidFill>
                  <a:schemeClr val="tx1">
                    <a:lumMod val="75000"/>
                    <a:lumOff val="25000"/>
                  </a:schemeClr>
                </a:solidFill>
                <a:latin typeface="Calibri"/>
                <a:ea typeface="Calibri"/>
                <a:cs typeface="Calibri"/>
                <a:sym typeface="Calibri"/>
              </a:rPr>
              <a:t>n</a:t>
            </a:r>
            <a:r>
              <a:rPr lang="es-ES" sz="1800" dirty="0">
                <a:solidFill>
                  <a:schemeClr val="tx1">
                    <a:lumMod val="75000"/>
                    <a:lumOff val="25000"/>
                  </a:schemeClr>
                </a:solidFill>
                <a:latin typeface="Calibri"/>
                <a:ea typeface="Calibri"/>
                <a:cs typeface="Calibri"/>
                <a:sym typeface="Calibri"/>
              </a:rPr>
              <a:t> = tamaño muestral.</a:t>
            </a:r>
            <a:endParaRPr sz="1800" dirty="0">
              <a:solidFill>
                <a:schemeClr val="tx1">
                  <a:lumMod val="75000"/>
                  <a:lumOff val="25000"/>
                </a:schemeClr>
              </a:solidFill>
              <a:latin typeface="Calibri"/>
              <a:ea typeface="Calibri"/>
              <a:cs typeface="Calibri"/>
            </a:endParaRPr>
          </a:p>
          <a:p>
            <a:pPr marR="0" lvl="0" algn="just" rtl="0">
              <a:spcBef>
                <a:spcPts val="0"/>
              </a:spcBef>
              <a:spcAft>
                <a:spcPts val="0"/>
              </a:spcAft>
              <a:buClr>
                <a:schemeClr val="lt1"/>
              </a:buClr>
              <a:buSzPts val="1800"/>
            </a:pPr>
            <a:r>
              <a:rPr lang="es-ES" sz="1800" b="1" dirty="0">
                <a:solidFill>
                  <a:schemeClr val="tx1">
                    <a:lumMod val="75000"/>
                    <a:lumOff val="25000"/>
                  </a:schemeClr>
                </a:solidFill>
                <a:latin typeface="Calibri"/>
                <a:ea typeface="Calibri"/>
                <a:cs typeface="Calibri"/>
                <a:sym typeface="Calibri"/>
              </a:rPr>
              <a:t>N</a:t>
            </a:r>
            <a:r>
              <a:rPr lang="es-ES" sz="1800" dirty="0">
                <a:solidFill>
                  <a:schemeClr val="tx1">
                    <a:lumMod val="75000"/>
                    <a:lumOff val="25000"/>
                  </a:schemeClr>
                </a:solidFill>
                <a:latin typeface="Calibri"/>
                <a:ea typeface="Calibri"/>
                <a:cs typeface="Calibri"/>
                <a:sym typeface="Calibri"/>
              </a:rPr>
              <a:t> = tamaño población o universo.</a:t>
            </a:r>
            <a:endParaRPr sz="1800" dirty="0">
              <a:solidFill>
                <a:schemeClr val="tx1">
                  <a:lumMod val="75000"/>
                  <a:lumOff val="25000"/>
                </a:schemeClr>
              </a:solidFill>
              <a:latin typeface="Calibri"/>
              <a:ea typeface="Calibri"/>
              <a:cs typeface="Calibri"/>
            </a:endParaRPr>
          </a:p>
          <a:p>
            <a:pPr marR="0" lvl="0" algn="just" rtl="0">
              <a:spcBef>
                <a:spcPts val="0"/>
              </a:spcBef>
              <a:spcAft>
                <a:spcPts val="0"/>
              </a:spcAft>
              <a:buClr>
                <a:schemeClr val="lt1"/>
              </a:buClr>
              <a:buSzPts val="1800"/>
            </a:pPr>
            <a:r>
              <a:rPr lang="es-ES" sz="1800" b="1" dirty="0">
                <a:solidFill>
                  <a:schemeClr val="tx1">
                    <a:lumMod val="75000"/>
                    <a:lumOff val="25000"/>
                  </a:schemeClr>
                </a:solidFill>
                <a:latin typeface="Calibri"/>
                <a:ea typeface="Calibri"/>
                <a:cs typeface="Calibri"/>
                <a:sym typeface="Calibri"/>
              </a:rPr>
              <a:t>Z</a:t>
            </a:r>
            <a:r>
              <a:rPr lang="es-ES" sz="1800" dirty="0">
                <a:solidFill>
                  <a:schemeClr val="tx1">
                    <a:lumMod val="75000"/>
                    <a:lumOff val="25000"/>
                  </a:schemeClr>
                </a:solidFill>
                <a:latin typeface="Calibri"/>
                <a:ea typeface="Calibri"/>
                <a:cs typeface="Calibri"/>
                <a:sym typeface="Calibri"/>
              </a:rPr>
              <a:t> = valor crítico de la distribución normal estándar para el nivel de confianza seleccionado.</a:t>
            </a:r>
            <a:endParaRPr sz="1800" dirty="0">
              <a:solidFill>
                <a:schemeClr val="tx1">
                  <a:lumMod val="75000"/>
                  <a:lumOff val="25000"/>
                </a:schemeClr>
              </a:solidFill>
              <a:latin typeface="Calibri"/>
              <a:ea typeface="Calibri"/>
              <a:cs typeface="Calibri"/>
            </a:endParaRPr>
          </a:p>
          <a:p>
            <a:pPr marR="0" lvl="0" algn="just" rtl="0">
              <a:spcBef>
                <a:spcPts val="0"/>
              </a:spcBef>
              <a:spcAft>
                <a:spcPts val="0"/>
              </a:spcAft>
              <a:buClr>
                <a:schemeClr val="lt1"/>
              </a:buClr>
              <a:buSzPts val="1800"/>
            </a:pPr>
            <a:r>
              <a:rPr lang="es-ES" sz="1800" b="1" dirty="0">
                <a:solidFill>
                  <a:schemeClr val="tx1">
                    <a:lumMod val="75000"/>
                    <a:lumOff val="25000"/>
                  </a:schemeClr>
                </a:solidFill>
                <a:latin typeface="Calibri"/>
                <a:ea typeface="Calibri"/>
                <a:cs typeface="Calibri"/>
                <a:sym typeface="Calibri"/>
              </a:rPr>
              <a:t>p</a:t>
            </a:r>
            <a:r>
              <a:rPr lang="es-ES" sz="1800" dirty="0">
                <a:solidFill>
                  <a:schemeClr val="tx1">
                    <a:lumMod val="75000"/>
                    <a:lumOff val="25000"/>
                  </a:schemeClr>
                </a:solidFill>
                <a:latin typeface="Calibri"/>
                <a:ea typeface="Calibri"/>
                <a:cs typeface="Calibri"/>
                <a:sym typeface="Calibri"/>
              </a:rPr>
              <a:t> = proporción de la población con la característica que se está estudiando. (Si no se conoce, se utiliza un valor estimado)</a:t>
            </a:r>
            <a:endParaRPr dirty="0">
              <a:solidFill>
                <a:schemeClr val="tx1">
                  <a:lumMod val="75000"/>
                  <a:lumOff val="25000"/>
                </a:schemeClr>
              </a:solidFill>
            </a:endParaRPr>
          </a:p>
          <a:p>
            <a:pPr marR="0" lvl="0" algn="just" rtl="0">
              <a:spcBef>
                <a:spcPts val="0"/>
              </a:spcBef>
              <a:spcAft>
                <a:spcPts val="0"/>
              </a:spcAft>
              <a:buClr>
                <a:schemeClr val="lt1"/>
              </a:buClr>
              <a:buSzPts val="1800"/>
            </a:pPr>
            <a:r>
              <a:rPr lang="es-ES" sz="1800" b="1" dirty="0">
                <a:solidFill>
                  <a:schemeClr val="tx1">
                    <a:lumMod val="75000"/>
                    <a:lumOff val="25000"/>
                  </a:schemeClr>
                </a:solidFill>
                <a:latin typeface="Calibri"/>
                <a:ea typeface="Calibri"/>
                <a:cs typeface="Calibri"/>
                <a:sym typeface="Calibri"/>
              </a:rPr>
              <a:t>e</a:t>
            </a:r>
            <a:r>
              <a:rPr lang="es-ES" sz="1800" dirty="0">
                <a:solidFill>
                  <a:schemeClr val="tx1">
                    <a:lumMod val="75000"/>
                    <a:lumOff val="25000"/>
                  </a:schemeClr>
                </a:solidFill>
                <a:latin typeface="Calibri"/>
                <a:ea typeface="Calibri"/>
                <a:cs typeface="Calibri"/>
                <a:sym typeface="Calibri"/>
              </a:rPr>
              <a:t> = margen de error.</a:t>
            </a:r>
            <a:endParaRPr sz="1800" dirty="0">
              <a:solidFill>
                <a:schemeClr val="tx1">
                  <a:lumMod val="75000"/>
                  <a:lumOff val="25000"/>
                </a:schemeClr>
              </a:solidFill>
              <a:latin typeface="Calibri"/>
              <a:ea typeface="Calibri"/>
              <a:cs typeface="Calibri"/>
            </a:endParaRPr>
          </a:p>
        </p:txBody>
      </p:sp>
      <p:sp>
        <p:nvSpPr>
          <p:cNvPr id="226" name="Google Shape;226;p17"/>
          <p:cNvSpPr txBox="1"/>
          <p:nvPr/>
        </p:nvSpPr>
        <p:spPr>
          <a:xfrm>
            <a:off x="3327634" y="2519985"/>
            <a:ext cx="4870896" cy="680058"/>
          </a:xfrm>
          <a:prstGeom prst="rect">
            <a:avLst/>
          </a:pr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ES" sz="1800">
                <a:latin typeface="Calibri"/>
                <a:ea typeface="Calibri"/>
                <a:cs typeface="Calibri"/>
                <a:sym typeface="Calibri"/>
              </a:rPr>
              <a:t> </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21"/>
                                        </p:tgtEl>
                                        <p:attrNameLst>
                                          <p:attrName>style.visibility</p:attrName>
                                        </p:attrNameLst>
                                      </p:cBhvr>
                                      <p:to>
                                        <p:strVal val="visible"/>
                                      </p:to>
                                    </p:set>
                                    <p:animEffect transition="in" filter="fade">
                                      <p:cBhvr>
                                        <p:cTn id="7" dur="500"/>
                                        <p:tgtEl>
                                          <p:spTgt spid="2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30"/>
        <p:cNvGrpSpPr/>
        <p:nvPr/>
      </p:nvGrpSpPr>
      <p:grpSpPr>
        <a:xfrm>
          <a:off x="0" y="0"/>
          <a:ext cx="0" cy="0"/>
          <a:chOff x="0" y="0"/>
          <a:chExt cx="0" cy="0"/>
        </a:xfrm>
      </p:grpSpPr>
      <p:sp>
        <p:nvSpPr>
          <p:cNvPr id="231" name="Google Shape;231;p18"/>
          <p:cNvSpPr/>
          <p:nvPr/>
        </p:nvSpPr>
        <p:spPr>
          <a:xfrm>
            <a:off x="2561944" y="2329038"/>
            <a:ext cx="7068112" cy="2166762"/>
          </a:xfrm>
          <a:prstGeom prst="roundRect">
            <a:avLst>
              <a:gd name="adj" fmla="val 2971"/>
            </a:avLst>
          </a:prstGeom>
          <a:solidFill>
            <a:schemeClr val="lt1"/>
          </a:solidFill>
          <a:ln w="38100" cap="flat" cmpd="sng">
            <a:solidFill>
              <a:srgbClr val="98C3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232" name="Google Shape;232;p18"/>
          <p:cNvSpPr/>
          <p:nvPr/>
        </p:nvSpPr>
        <p:spPr>
          <a:xfrm>
            <a:off x="457200" y="991918"/>
            <a:ext cx="11277600" cy="954453"/>
          </a:xfrm>
          <a:prstGeom prst="roundRect">
            <a:avLst>
              <a:gd name="adj" fmla="val 2971"/>
            </a:avLst>
          </a:prstGeom>
          <a:gradFill>
            <a:gsLst>
              <a:gs pos="0">
                <a:srgbClr val="58751F"/>
              </a:gs>
              <a:gs pos="50000">
                <a:srgbClr val="81AB2C"/>
              </a:gs>
              <a:gs pos="100000">
                <a:srgbClr val="9BCC36"/>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33" name="Google Shape;233;p18"/>
          <p:cNvSpPr txBox="1"/>
          <p:nvPr/>
        </p:nvSpPr>
        <p:spPr>
          <a:xfrm>
            <a:off x="457199" y="182360"/>
            <a:ext cx="9026979" cy="640822"/>
          </a:xfrm>
          <a:prstGeom prst="rect">
            <a:avLst/>
          </a:prstGeom>
          <a:noFill/>
          <a:ln>
            <a:noFill/>
          </a:ln>
        </p:spPr>
        <p:txBody>
          <a:bodyPr spcFirstLastPara="1" wrap="square" lIns="91425" tIns="45700" rIns="91425" bIns="45700" anchor="ctr" anchorCtr="0">
            <a:noAutofit/>
          </a:bodyPr>
          <a:lstStyle/>
          <a:p>
            <a:pPr marL="0" marR="0" lvl="0" indent="0" algn="just" rtl="0">
              <a:lnSpc>
                <a:spcPct val="150000"/>
              </a:lnSpc>
              <a:spcBef>
                <a:spcPts val="0"/>
              </a:spcBef>
              <a:spcAft>
                <a:spcPts val="0"/>
              </a:spcAft>
              <a:buNone/>
            </a:pPr>
            <a:r>
              <a:rPr lang="es-ES" sz="3200">
                <a:solidFill>
                  <a:srgbClr val="7F7F7F"/>
                </a:solidFill>
                <a:latin typeface="Arial"/>
                <a:ea typeface="Arial"/>
                <a:cs typeface="Arial"/>
                <a:sym typeface="Arial"/>
              </a:rPr>
              <a:t>Determinando el Tamaño de la Muestra</a:t>
            </a:r>
            <a:endParaRPr sz="3200">
              <a:solidFill>
                <a:srgbClr val="7F7F7F"/>
              </a:solidFill>
              <a:latin typeface="Arial"/>
              <a:ea typeface="Arial"/>
              <a:cs typeface="Arial"/>
              <a:sym typeface="Arial"/>
            </a:endParaRPr>
          </a:p>
        </p:txBody>
      </p:sp>
      <p:sp>
        <p:nvSpPr>
          <p:cNvPr id="234" name="Google Shape;234;p18"/>
          <p:cNvSpPr txBox="1"/>
          <p:nvPr/>
        </p:nvSpPr>
        <p:spPr>
          <a:xfrm>
            <a:off x="704850" y="1068422"/>
            <a:ext cx="10782300" cy="830956"/>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600" dirty="0">
                <a:solidFill>
                  <a:schemeClr val="lt1"/>
                </a:solidFill>
                <a:latin typeface="Calibri"/>
                <a:ea typeface="Calibri"/>
                <a:cs typeface="Calibri"/>
                <a:sym typeface="Calibri"/>
              </a:rPr>
              <a:t>Por ejemplo, si se quiere estimar la media de la edad de los estudiantes universitarios en una ciudad con un nivel de confianza del 95% y un margen de error de 2 años, y se estima que la desviación estándar es de 5 años, entonces la fórmula para calcular el tamaño de muestra sería:</a:t>
            </a:r>
            <a:endParaRPr dirty="0"/>
          </a:p>
        </p:txBody>
      </p:sp>
      <p:sp>
        <p:nvSpPr>
          <p:cNvPr id="237" name="Google Shape;237;p18"/>
          <p:cNvSpPr/>
          <p:nvPr/>
        </p:nvSpPr>
        <p:spPr>
          <a:xfrm>
            <a:off x="457200" y="4878467"/>
            <a:ext cx="11277600" cy="1311318"/>
          </a:xfrm>
          <a:prstGeom prst="roundRect">
            <a:avLst>
              <a:gd name="adj" fmla="val 2971"/>
            </a:avLst>
          </a:prstGeom>
          <a:gradFill>
            <a:gsLst>
              <a:gs pos="0">
                <a:srgbClr val="58751F"/>
              </a:gs>
              <a:gs pos="50000">
                <a:srgbClr val="81AB2C"/>
              </a:gs>
              <a:gs pos="100000">
                <a:srgbClr val="9BCC36"/>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38" name="Google Shape;238;p18"/>
          <p:cNvSpPr txBox="1"/>
          <p:nvPr/>
        </p:nvSpPr>
        <p:spPr>
          <a:xfrm>
            <a:off x="704850" y="4995517"/>
            <a:ext cx="10782300" cy="830956"/>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600" dirty="0">
                <a:solidFill>
                  <a:schemeClr val="lt1"/>
                </a:solidFill>
                <a:latin typeface="Calibri"/>
                <a:ea typeface="Calibri"/>
                <a:cs typeface="Calibri"/>
                <a:sym typeface="Calibri"/>
              </a:rPr>
              <a:t>Por lo tanto, se necesitaría una muestra de al menos 25 estudiantes universitarios para estimar la media de la edad con un nivel de confianza del 95% y un margen de error de 2 años. Si no se conoce la desviación estándar de la población, se puede utilizar una estimación conservadora (por ejemplo, s = 10), lo que aumentaría el tamaño de muestra necesario </a:t>
            </a:r>
            <a:r>
              <a:rPr lang="es-ES" sz="1600">
                <a:solidFill>
                  <a:schemeClr val="lt1"/>
                </a:solidFill>
                <a:latin typeface="Calibri"/>
                <a:ea typeface="Calibri"/>
                <a:cs typeface="Calibri"/>
                <a:sym typeface="Calibri"/>
              </a:rPr>
              <a:t>a alrededor de 97.</a:t>
            </a:r>
            <a:endParaRPr dirty="0"/>
          </a:p>
        </p:txBody>
      </p:sp>
      <p:pic>
        <p:nvPicPr>
          <p:cNvPr id="3" name="Imagen 2">
            <a:extLst>
              <a:ext uri="{FF2B5EF4-FFF2-40B4-BE49-F238E27FC236}">
                <a16:creationId xmlns:a16="http://schemas.microsoft.com/office/drawing/2014/main" id="{5ECA9F73-1983-4BE4-94E3-48AC352D0D36}"/>
              </a:ext>
            </a:extLst>
          </p:cNvPr>
          <p:cNvPicPr>
            <a:picLocks noChangeAspect="1"/>
          </p:cNvPicPr>
          <p:nvPr/>
        </p:nvPicPr>
        <p:blipFill>
          <a:blip r:embed="rId3"/>
          <a:stretch>
            <a:fillRect/>
          </a:stretch>
        </p:blipFill>
        <p:spPr>
          <a:xfrm>
            <a:off x="4196585" y="2632983"/>
            <a:ext cx="3798829" cy="122378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33"/>
                                        </p:tgtEl>
                                        <p:attrNameLst>
                                          <p:attrName>style.visibility</p:attrName>
                                        </p:attrNameLst>
                                      </p:cBhvr>
                                      <p:to>
                                        <p:strVal val="visible"/>
                                      </p:to>
                                    </p:set>
                                    <p:animEffect transition="in" filter="fade">
                                      <p:cBhvr>
                                        <p:cTn id="7" dur="500"/>
                                        <p:tgtEl>
                                          <p:spTgt spid="2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3" name="Google Shape;243;p19"/>
          <p:cNvSpPr/>
          <p:nvPr/>
        </p:nvSpPr>
        <p:spPr>
          <a:xfrm>
            <a:off x="704850" y="1175953"/>
            <a:ext cx="10782300" cy="4906219"/>
          </a:xfrm>
          <a:prstGeom prst="roundRect">
            <a:avLst>
              <a:gd name="adj" fmla="val 2971"/>
            </a:avLst>
          </a:prstGeom>
          <a:gradFill>
            <a:gsLst>
              <a:gs pos="0">
                <a:srgbClr val="58751F"/>
              </a:gs>
              <a:gs pos="50000">
                <a:srgbClr val="81AB2C"/>
              </a:gs>
              <a:gs pos="100000">
                <a:srgbClr val="9BCC36"/>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44" name="Google Shape;244;p19"/>
          <p:cNvSpPr txBox="1"/>
          <p:nvPr/>
        </p:nvSpPr>
        <p:spPr>
          <a:xfrm>
            <a:off x="1021645" y="1331316"/>
            <a:ext cx="10148711" cy="4803110"/>
          </a:xfrm>
          <a:prstGeom prst="rect">
            <a:avLst/>
          </a:prstGeom>
          <a:blipFill rotWithShape="1">
            <a:blip r:embed="rId3">
              <a:alphaModFix/>
            </a:blip>
            <a:stretch>
              <a:fillRect l="-540" t="-633"/>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ES" sz="1800">
                <a:latin typeface="Calibri"/>
                <a:ea typeface="Calibri"/>
                <a:cs typeface="Calibri"/>
                <a:sym typeface="Calibri"/>
              </a:rPr>
              <a:t> </a:t>
            </a:r>
            <a:endParaRPr/>
          </a:p>
        </p:txBody>
      </p:sp>
      <p:sp>
        <p:nvSpPr>
          <p:cNvPr id="245" name="Google Shape;245;p19"/>
          <p:cNvSpPr txBox="1"/>
          <p:nvPr/>
        </p:nvSpPr>
        <p:spPr>
          <a:xfrm>
            <a:off x="1021645" y="546870"/>
            <a:ext cx="10465505" cy="629083"/>
          </a:xfrm>
          <a:prstGeom prst="rect">
            <a:avLst/>
          </a:prstGeom>
          <a:noFill/>
          <a:ln>
            <a:noFill/>
          </a:ln>
        </p:spPr>
        <p:txBody>
          <a:bodyPr spcFirstLastPara="1" wrap="square" lIns="91425" tIns="45700" rIns="91425" bIns="45700" anchor="ctr" anchorCtr="0">
            <a:noAutofit/>
          </a:bodyPr>
          <a:lstStyle/>
          <a:p>
            <a:pPr marL="0" marR="0" lvl="0" indent="0" algn="just" rtl="0">
              <a:lnSpc>
                <a:spcPct val="100000"/>
              </a:lnSpc>
              <a:spcBef>
                <a:spcPts val="0"/>
              </a:spcBef>
              <a:spcAft>
                <a:spcPts val="0"/>
              </a:spcAft>
              <a:buNone/>
            </a:pPr>
            <a:r>
              <a:rPr lang="es-ES" sz="3200">
                <a:solidFill>
                  <a:srgbClr val="7F7F7F"/>
                </a:solidFill>
                <a:latin typeface="Arial"/>
                <a:ea typeface="Arial"/>
                <a:cs typeface="Arial"/>
                <a:sym typeface="Arial"/>
              </a:rPr>
              <a:t>Determinando el Tamaño de la Muestra</a:t>
            </a:r>
            <a:endParaRPr sz="3200">
              <a:solidFill>
                <a:srgbClr val="7F7F7F"/>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45"/>
                                        </p:tgtEl>
                                        <p:attrNameLst>
                                          <p:attrName>style.visibility</p:attrName>
                                        </p:attrNameLst>
                                      </p:cBhvr>
                                      <p:to>
                                        <p:strVal val="visible"/>
                                      </p:to>
                                    </p:set>
                                    <p:animEffect transition="in" filter="fade">
                                      <p:cBhvr>
                                        <p:cTn id="7" dur="500"/>
                                        <p:tgtEl>
                                          <p:spTgt spid="2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sp>
        <p:nvSpPr>
          <p:cNvPr id="250" name="Google Shape;250;p20"/>
          <p:cNvSpPr/>
          <p:nvPr/>
        </p:nvSpPr>
        <p:spPr>
          <a:xfrm>
            <a:off x="6594490" y="2990779"/>
            <a:ext cx="4141076" cy="1375954"/>
          </a:xfrm>
          <a:prstGeom prst="roundRect">
            <a:avLst>
              <a:gd name="adj" fmla="val 2971"/>
            </a:avLst>
          </a:prstGeom>
          <a:solidFill>
            <a:schemeClr val="lt1"/>
          </a:solidFill>
          <a:ln w="38100" cap="flat" cmpd="sng">
            <a:solidFill>
              <a:srgbClr val="98C3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251" name="Google Shape;251;p20"/>
          <p:cNvSpPr/>
          <p:nvPr/>
        </p:nvSpPr>
        <p:spPr>
          <a:xfrm>
            <a:off x="1396641" y="2194559"/>
            <a:ext cx="4506687" cy="2968394"/>
          </a:xfrm>
          <a:prstGeom prst="roundRect">
            <a:avLst>
              <a:gd name="adj" fmla="val 2971"/>
            </a:avLst>
          </a:prstGeom>
          <a:gradFill>
            <a:gsLst>
              <a:gs pos="0">
                <a:srgbClr val="58751F"/>
              </a:gs>
              <a:gs pos="50000">
                <a:srgbClr val="81AB2C"/>
              </a:gs>
              <a:gs pos="100000">
                <a:srgbClr val="9BCC36"/>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52" name="Google Shape;252;p20"/>
          <p:cNvSpPr txBox="1"/>
          <p:nvPr/>
        </p:nvSpPr>
        <p:spPr>
          <a:xfrm>
            <a:off x="1409700" y="1428921"/>
            <a:ext cx="10782300" cy="645213"/>
          </a:xfrm>
          <a:prstGeom prst="rect">
            <a:avLst/>
          </a:prstGeom>
          <a:noFill/>
          <a:ln>
            <a:noFill/>
          </a:ln>
        </p:spPr>
        <p:txBody>
          <a:bodyPr spcFirstLastPara="1" wrap="square" lIns="91425" tIns="45700" rIns="91425" bIns="45700" anchor="ctr" anchorCtr="0">
            <a:noAutofit/>
          </a:bodyPr>
          <a:lstStyle/>
          <a:p>
            <a:pPr marL="0" marR="0" lvl="0" indent="0" algn="just" rtl="0">
              <a:lnSpc>
                <a:spcPct val="150000"/>
              </a:lnSpc>
              <a:spcBef>
                <a:spcPts val="0"/>
              </a:spcBef>
              <a:spcAft>
                <a:spcPts val="0"/>
              </a:spcAft>
              <a:buNone/>
            </a:pPr>
            <a:r>
              <a:rPr lang="es-ES" sz="3200">
                <a:solidFill>
                  <a:srgbClr val="7F7F7F"/>
                </a:solidFill>
                <a:latin typeface="Arial"/>
                <a:ea typeface="Arial"/>
                <a:cs typeface="Arial"/>
                <a:sym typeface="Arial"/>
              </a:rPr>
              <a:t>Determinando el Tamaño de la Muestra</a:t>
            </a:r>
            <a:endParaRPr sz="3200">
              <a:solidFill>
                <a:srgbClr val="7F7F7F"/>
              </a:solidFill>
              <a:latin typeface="Arial"/>
              <a:ea typeface="Arial"/>
              <a:cs typeface="Arial"/>
              <a:sym typeface="Arial"/>
            </a:endParaRPr>
          </a:p>
        </p:txBody>
      </p:sp>
      <p:sp>
        <p:nvSpPr>
          <p:cNvPr id="253" name="Google Shape;253;p20"/>
          <p:cNvSpPr txBox="1"/>
          <p:nvPr/>
        </p:nvSpPr>
        <p:spPr>
          <a:xfrm>
            <a:off x="1688810" y="2678008"/>
            <a:ext cx="3580200" cy="2031325"/>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chemeClr val="lt1"/>
                </a:solidFill>
                <a:latin typeface="Calibri"/>
                <a:ea typeface="Calibri"/>
                <a:cs typeface="Calibri"/>
                <a:sym typeface="Calibri"/>
              </a:rPr>
              <a:t>Como se puede apreciar, el nivel de confianza corresponde a una puntuación Z.</a:t>
            </a:r>
            <a:endParaRPr/>
          </a:p>
          <a:p>
            <a:pPr marL="0" marR="0" lvl="0" indent="0" algn="just" rtl="0">
              <a:spcBef>
                <a:spcPts val="0"/>
              </a:spcBef>
              <a:spcAft>
                <a:spcPts val="0"/>
              </a:spcAft>
              <a:buNone/>
            </a:pPr>
            <a:r>
              <a:rPr lang="es-ES" sz="1800">
                <a:solidFill>
                  <a:schemeClr val="lt1"/>
                </a:solidFill>
                <a:latin typeface="Calibri"/>
                <a:ea typeface="Calibri"/>
                <a:cs typeface="Calibri"/>
                <a:sym typeface="Calibri"/>
              </a:rPr>
              <a:t>Este es un valor constante necesario para la ecuación. Conviene conocer algunas puntuaciones Z para los niveles de confianza más comunes:</a:t>
            </a:r>
            <a:endParaRPr/>
          </a:p>
        </p:txBody>
      </p:sp>
      <p:sp>
        <p:nvSpPr>
          <p:cNvPr id="254" name="Google Shape;254;p20"/>
          <p:cNvSpPr txBox="1"/>
          <p:nvPr/>
        </p:nvSpPr>
        <p:spPr>
          <a:xfrm>
            <a:off x="7324089" y="3295649"/>
            <a:ext cx="2681877" cy="840230"/>
          </a:xfrm>
          <a:prstGeom prst="rect">
            <a:avLst/>
          </a:prstGeom>
          <a:noFill/>
          <a:ln>
            <a:noFill/>
          </a:ln>
        </p:spPr>
        <p:txBody>
          <a:bodyPr spcFirstLastPara="1" wrap="square" lIns="91425" tIns="45700" rIns="91425" bIns="45700" anchor="t" anchorCtr="0">
            <a:spAutoFit/>
          </a:bodyPr>
          <a:lstStyle/>
          <a:p>
            <a:pPr marL="0" marR="0" lvl="0" indent="0" algn="l" rtl="0">
              <a:lnSpc>
                <a:spcPct val="90000"/>
              </a:lnSpc>
              <a:spcBef>
                <a:spcPts val="0"/>
              </a:spcBef>
              <a:spcAft>
                <a:spcPts val="0"/>
              </a:spcAft>
              <a:buNone/>
            </a:pPr>
            <a:r>
              <a:rPr lang="es-ES" sz="1800">
                <a:solidFill>
                  <a:srgbClr val="595959"/>
                </a:solidFill>
                <a:latin typeface="Calibri"/>
                <a:ea typeface="Calibri"/>
                <a:cs typeface="Calibri"/>
                <a:sym typeface="Calibri"/>
              </a:rPr>
              <a:t>90%                       Z = 1.645</a:t>
            </a:r>
            <a:endParaRPr/>
          </a:p>
          <a:p>
            <a:pPr marL="0" marR="0" lvl="0" indent="0" algn="l" rtl="0">
              <a:lnSpc>
                <a:spcPct val="90000"/>
              </a:lnSpc>
              <a:spcBef>
                <a:spcPts val="0"/>
              </a:spcBef>
              <a:spcAft>
                <a:spcPts val="0"/>
              </a:spcAft>
              <a:buNone/>
            </a:pPr>
            <a:r>
              <a:rPr lang="es-ES" sz="1800">
                <a:solidFill>
                  <a:srgbClr val="595959"/>
                </a:solidFill>
                <a:latin typeface="Calibri"/>
                <a:ea typeface="Calibri"/>
                <a:cs typeface="Calibri"/>
                <a:sym typeface="Calibri"/>
              </a:rPr>
              <a:t>95%                       Z = 1.96</a:t>
            </a:r>
            <a:endParaRPr sz="1800">
              <a:solidFill>
                <a:srgbClr val="595959"/>
              </a:solidFill>
              <a:latin typeface="Calibri"/>
              <a:ea typeface="Calibri"/>
              <a:cs typeface="Calibri"/>
              <a:sym typeface="Calibri"/>
            </a:endParaRPr>
          </a:p>
          <a:p>
            <a:pPr marL="0" marR="0" lvl="0" indent="0" algn="l" rtl="0">
              <a:lnSpc>
                <a:spcPct val="90000"/>
              </a:lnSpc>
              <a:spcBef>
                <a:spcPts val="0"/>
              </a:spcBef>
              <a:spcAft>
                <a:spcPts val="0"/>
              </a:spcAft>
              <a:buNone/>
            </a:pPr>
            <a:r>
              <a:rPr lang="es-ES" sz="1800">
                <a:solidFill>
                  <a:srgbClr val="595959"/>
                </a:solidFill>
                <a:latin typeface="Calibri"/>
                <a:ea typeface="Calibri"/>
                <a:cs typeface="Calibri"/>
                <a:sym typeface="Calibri"/>
              </a:rPr>
              <a:t>99%                       Z = 2.576</a:t>
            </a:r>
            <a:endParaRPr sz="1800">
              <a:solidFill>
                <a:srgbClr val="595959"/>
              </a:solidFill>
              <a:latin typeface="Calibri"/>
              <a:ea typeface="Calibri"/>
              <a:cs typeface="Calibri"/>
              <a:sym typeface="Calibri"/>
            </a:endParaRPr>
          </a:p>
        </p:txBody>
      </p:sp>
      <p:cxnSp>
        <p:nvCxnSpPr>
          <p:cNvPr id="255" name="Google Shape;255;p20"/>
          <p:cNvCxnSpPr/>
          <p:nvPr/>
        </p:nvCxnSpPr>
        <p:spPr>
          <a:xfrm>
            <a:off x="7922522" y="3465269"/>
            <a:ext cx="983848" cy="0"/>
          </a:xfrm>
          <a:prstGeom prst="straightConnector1">
            <a:avLst/>
          </a:prstGeom>
          <a:noFill/>
          <a:ln w="9525" cap="flat" cmpd="sng">
            <a:solidFill>
              <a:srgbClr val="98C340"/>
            </a:solidFill>
            <a:prstDash val="solid"/>
            <a:miter lim="800000"/>
            <a:headEnd type="none" w="sm" len="sm"/>
            <a:tailEnd type="triangle" w="med" len="med"/>
          </a:ln>
        </p:spPr>
      </p:cxnSp>
      <p:cxnSp>
        <p:nvCxnSpPr>
          <p:cNvPr id="256" name="Google Shape;256;p20"/>
          <p:cNvCxnSpPr/>
          <p:nvPr/>
        </p:nvCxnSpPr>
        <p:spPr>
          <a:xfrm>
            <a:off x="7912947" y="3706119"/>
            <a:ext cx="983848" cy="0"/>
          </a:xfrm>
          <a:prstGeom prst="straightConnector1">
            <a:avLst/>
          </a:prstGeom>
          <a:noFill/>
          <a:ln w="9525" cap="flat" cmpd="sng">
            <a:solidFill>
              <a:srgbClr val="98C340"/>
            </a:solidFill>
            <a:prstDash val="solid"/>
            <a:miter lim="800000"/>
            <a:headEnd type="none" w="sm" len="sm"/>
            <a:tailEnd type="triangle" w="med" len="med"/>
          </a:ln>
        </p:spPr>
      </p:cxnSp>
      <p:cxnSp>
        <p:nvCxnSpPr>
          <p:cNvPr id="257" name="Google Shape;257;p20"/>
          <p:cNvCxnSpPr/>
          <p:nvPr/>
        </p:nvCxnSpPr>
        <p:spPr>
          <a:xfrm>
            <a:off x="7912947" y="3964910"/>
            <a:ext cx="983848" cy="0"/>
          </a:xfrm>
          <a:prstGeom prst="straightConnector1">
            <a:avLst/>
          </a:prstGeom>
          <a:noFill/>
          <a:ln w="9525" cap="flat" cmpd="sng">
            <a:solidFill>
              <a:srgbClr val="98C340"/>
            </a:solidFill>
            <a:prstDash val="solid"/>
            <a:miter lim="800000"/>
            <a:headEnd type="none" w="sm" len="sm"/>
            <a:tailEnd type="triangl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52"/>
                                        </p:tgtEl>
                                        <p:attrNameLst>
                                          <p:attrName>style.visibility</p:attrName>
                                        </p:attrNameLst>
                                      </p:cBhvr>
                                      <p:to>
                                        <p:strVal val="visible"/>
                                      </p:to>
                                    </p:set>
                                    <p:animEffect transition="in" filter="fade">
                                      <p:cBhvr>
                                        <p:cTn id="7" dur="500"/>
                                        <p:tgtEl>
                                          <p:spTgt spid="2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61"/>
        <p:cNvGrpSpPr/>
        <p:nvPr/>
      </p:nvGrpSpPr>
      <p:grpSpPr>
        <a:xfrm>
          <a:off x="0" y="0"/>
          <a:ext cx="0" cy="0"/>
          <a:chOff x="0" y="0"/>
          <a:chExt cx="0" cy="0"/>
        </a:xfrm>
      </p:grpSpPr>
      <p:sp>
        <p:nvSpPr>
          <p:cNvPr id="262" name="Google Shape;262;p21"/>
          <p:cNvSpPr txBox="1"/>
          <p:nvPr/>
        </p:nvSpPr>
        <p:spPr>
          <a:xfrm>
            <a:off x="1462496" y="3352755"/>
            <a:ext cx="4476750" cy="1008062"/>
          </a:xfrm>
          <a:prstGeom prst="rect">
            <a:avLst/>
          </a:prstGeom>
          <a:noFill/>
          <a:ln>
            <a:noFill/>
          </a:ln>
        </p:spPr>
        <p:txBody>
          <a:bodyPr spcFirstLastPara="1" wrap="square" lIns="91425" tIns="45700" rIns="91425" bIns="45700" anchor="ctr" anchorCtr="0">
            <a:noAutofit/>
          </a:bodyPr>
          <a:lstStyle/>
          <a:p>
            <a:pPr marL="0" marR="0" lvl="0" indent="0" algn="just" rtl="0">
              <a:lnSpc>
                <a:spcPct val="100000"/>
              </a:lnSpc>
              <a:spcBef>
                <a:spcPts val="0"/>
              </a:spcBef>
              <a:spcAft>
                <a:spcPts val="0"/>
              </a:spcAft>
              <a:buNone/>
            </a:pPr>
            <a:r>
              <a:rPr lang="es-ES" sz="3600">
                <a:solidFill>
                  <a:srgbClr val="7F7F7F"/>
                </a:solidFill>
                <a:latin typeface="Arial"/>
                <a:ea typeface="Arial"/>
                <a:cs typeface="Arial"/>
                <a:sym typeface="Arial"/>
              </a:rPr>
              <a:t>Tipos de Muestreo</a:t>
            </a:r>
            <a:endParaRPr sz="3600">
              <a:solidFill>
                <a:srgbClr val="7F7F7F"/>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62"/>
                                        </p:tgtEl>
                                        <p:attrNameLst>
                                          <p:attrName>style.visibility</p:attrName>
                                        </p:attrNameLst>
                                      </p:cBhvr>
                                      <p:to>
                                        <p:strVal val="visible"/>
                                      </p:to>
                                    </p:set>
                                    <p:animEffect transition="in" filter="fade">
                                      <p:cBhvr>
                                        <p:cTn id="7" dur="500"/>
                                        <p:tgtEl>
                                          <p:spTgt spid="2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66"/>
        <p:cNvGrpSpPr/>
        <p:nvPr/>
      </p:nvGrpSpPr>
      <p:grpSpPr>
        <a:xfrm>
          <a:off x="0" y="0"/>
          <a:ext cx="0" cy="0"/>
          <a:chOff x="0" y="0"/>
          <a:chExt cx="0" cy="0"/>
        </a:xfrm>
      </p:grpSpPr>
      <p:sp>
        <p:nvSpPr>
          <p:cNvPr id="267" name="Google Shape;267;p22"/>
          <p:cNvSpPr/>
          <p:nvPr/>
        </p:nvSpPr>
        <p:spPr>
          <a:xfrm>
            <a:off x="1340576" y="2203422"/>
            <a:ext cx="9405801" cy="2812715"/>
          </a:xfrm>
          <a:prstGeom prst="roundRect">
            <a:avLst>
              <a:gd name="adj" fmla="val 2971"/>
            </a:avLst>
          </a:prstGeom>
          <a:gradFill>
            <a:gsLst>
              <a:gs pos="0">
                <a:srgbClr val="58751F"/>
              </a:gs>
              <a:gs pos="50000">
                <a:srgbClr val="81AB2C"/>
              </a:gs>
              <a:gs pos="100000">
                <a:srgbClr val="9BCC36"/>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8" name="Google Shape;268;p22"/>
          <p:cNvSpPr txBox="1"/>
          <p:nvPr/>
        </p:nvSpPr>
        <p:spPr>
          <a:xfrm>
            <a:off x="1657370" y="2407721"/>
            <a:ext cx="8644870" cy="2308324"/>
          </a:xfrm>
          <a:prstGeom prst="rect">
            <a:avLst/>
          </a:prstGeom>
          <a:noFill/>
          <a:ln>
            <a:noFill/>
          </a:ln>
        </p:spPr>
        <p:txBody>
          <a:bodyPr spcFirstLastPara="1" wrap="square" lIns="91425" tIns="45700" rIns="91425" bIns="45700" anchor="t" anchorCtr="0">
            <a:spAutoFit/>
          </a:bodyPr>
          <a:lstStyle/>
          <a:p>
            <a:pPr algn="just"/>
            <a:r>
              <a:rPr lang="es-ES" sz="1800" dirty="0">
                <a:solidFill>
                  <a:schemeClr val="lt1"/>
                </a:solidFill>
                <a:latin typeface="Calibri"/>
                <a:ea typeface="Calibri"/>
                <a:cs typeface="Calibri"/>
                <a:sym typeface="Calibri"/>
              </a:rPr>
              <a:t>La representatividad de la muestra tiene que ver, entonces, con que ésta posea aproximadamente las mismas características básicas que posee la población. Y esto, a su vez, tiene que ver con la manera de seleccionar u obtener la muestra (es decir, con los procedimientos de extracción de la muestra ) y con el tamaño de la muestra. </a:t>
            </a:r>
            <a:endParaRPr sz="1800">
              <a:solidFill>
                <a:schemeClr val="lt1"/>
              </a:solidFill>
              <a:latin typeface="Calibri"/>
              <a:ea typeface="Calibri"/>
              <a:cs typeface="Calibri"/>
              <a:sym typeface="Calibri"/>
            </a:endParaRPr>
          </a:p>
          <a:p>
            <a:pPr marL="0" marR="0" lvl="0" indent="0" algn="just" rtl="0">
              <a:spcBef>
                <a:spcPts val="0"/>
              </a:spcBef>
              <a:spcAft>
                <a:spcPts val="0"/>
              </a:spcAft>
              <a:buNone/>
            </a:pPr>
            <a:endParaRPr sz="1800">
              <a:solidFill>
                <a:schemeClr val="lt1"/>
              </a:solidFill>
              <a:latin typeface="Calibri"/>
              <a:ea typeface="Calibri"/>
              <a:cs typeface="Calibri"/>
              <a:sym typeface="Calibri"/>
            </a:endParaRPr>
          </a:p>
          <a:p>
            <a:pPr marL="0" marR="0" lvl="0" indent="0" algn="just" rtl="0">
              <a:spcBef>
                <a:spcPts val="0"/>
              </a:spcBef>
              <a:spcAft>
                <a:spcPts val="0"/>
              </a:spcAft>
              <a:buNone/>
            </a:pPr>
            <a:r>
              <a:rPr lang="es-ES" sz="1800" dirty="0">
                <a:solidFill>
                  <a:schemeClr val="lt1"/>
                </a:solidFill>
                <a:latin typeface="Calibri"/>
                <a:ea typeface="Calibri"/>
                <a:cs typeface="Calibri"/>
                <a:sym typeface="Calibri"/>
              </a:rPr>
              <a:t>Distintos procedimientos de obtención de muestras definen distintos tipos de muestreo.</a:t>
            </a:r>
            <a:endParaRPr sz="1800" dirty="0">
              <a:solidFill>
                <a:schemeClr val="lt1"/>
              </a:solidFill>
            </a:endParaRPr>
          </a:p>
          <a:p>
            <a:pPr marL="0" marR="0" lvl="0" indent="0" algn="just" rtl="0">
              <a:spcBef>
                <a:spcPts val="0"/>
              </a:spcBef>
              <a:spcAft>
                <a:spcPts val="0"/>
              </a:spcAft>
              <a:buNone/>
            </a:pPr>
            <a:endParaRPr sz="1800">
              <a:solidFill>
                <a:schemeClr val="lt1"/>
              </a:solidFill>
              <a:latin typeface="Calibri"/>
              <a:ea typeface="Calibri"/>
              <a:cs typeface="Calibri"/>
              <a:sym typeface="Calibri"/>
            </a:endParaRPr>
          </a:p>
          <a:p>
            <a:pPr algn="just"/>
            <a:r>
              <a:rPr lang="es-ES" sz="1800" dirty="0">
                <a:solidFill>
                  <a:schemeClr val="lt1"/>
                </a:solidFill>
                <a:latin typeface="Calibri"/>
                <a:ea typeface="Calibri"/>
                <a:cs typeface="Calibri"/>
                <a:sym typeface="Calibri"/>
              </a:rPr>
              <a:t>En general, los muestreos se califican en </a:t>
            </a:r>
            <a:r>
              <a:rPr lang="es-ES" sz="1800" b="1" dirty="0">
                <a:solidFill>
                  <a:schemeClr val="lt1"/>
                </a:solidFill>
                <a:latin typeface="Calibri"/>
                <a:ea typeface="Calibri"/>
                <a:cs typeface="Calibri"/>
                <a:sym typeface="Calibri"/>
              </a:rPr>
              <a:t>probabilísticos</a:t>
            </a:r>
            <a:r>
              <a:rPr lang="es-ES" sz="1800" dirty="0">
                <a:solidFill>
                  <a:schemeClr val="lt1"/>
                </a:solidFill>
                <a:latin typeface="Calibri"/>
                <a:ea typeface="Calibri"/>
                <a:cs typeface="Calibri"/>
                <a:sym typeface="Calibri"/>
              </a:rPr>
              <a:t> y </a:t>
            </a:r>
            <a:r>
              <a:rPr lang="es-ES" sz="1800" b="1" dirty="0">
                <a:solidFill>
                  <a:schemeClr val="lt1"/>
                </a:solidFill>
                <a:latin typeface="Calibri"/>
                <a:ea typeface="Calibri"/>
                <a:cs typeface="Calibri"/>
                <a:sym typeface="Calibri"/>
              </a:rPr>
              <a:t>no probabilísticos</a:t>
            </a:r>
            <a:r>
              <a:rPr lang="es-ES" sz="1800" dirty="0">
                <a:solidFill>
                  <a:schemeClr val="lt1"/>
                </a:solidFill>
                <a:latin typeface="Calibri"/>
                <a:ea typeface="Calibri"/>
                <a:cs typeface="Calibri"/>
                <a:sym typeface="Calibri"/>
              </a:rPr>
              <a:t>. </a:t>
            </a:r>
            <a:endParaRPr/>
          </a:p>
        </p:txBody>
      </p:sp>
      <p:sp>
        <p:nvSpPr>
          <p:cNvPr id="269" name="Google Shape;269;p22"/>
          <p:cNvSpPr txBox="1"/>
          <p:nvPr/>
        </p:nvSpPr>
        <p:spPr>
          <a:xfrm>
            <a:off x="1657370" y="1125692"/>
            <a:ext cx="9829780" cy="1008062"/>
          </a:xfrm>
          <a:prstGeom prst="rect">
            <a:avLst/>
          </a:prstGeom>
          <a:noFill/>
          <a:ln>
            <a:noFill/>
          </a:ln>
        </p:spPr>
        <p:txBody>
          <a:bodyPr spcFirstLastPara="1" wrap="square" lIns="91425" tIns="45700" rIns="91425" bIns="45700" anchor="ctr" anchorCtr="0">
            <a:noAutofit/>
          </a:bodyPr>
          <a:lstStyle/>
          <a:p>
            <a:pPr marL="0" marR="0" lvl="0" indent="0" algn="just" rtl="0">
              <a:lnSpc>
                <a:spcPct val="100000"/>
              </a:lnSpc>
              <a:spcBef>
                <a:spcPts val="0"/>
              </a:spcBef>
              <a:spcAft>
                <a:spcPts val="0"/>
              </a:spcAft>
              <a:buNone/>
            </a:pPr>
            <a:r>
              <a:rPr lang="es-ES" sz="3200">
                <a:solidFill>
                  <a:srgbClr val="7F7F7F"/>
                </a:solidFill>
                <a:latin typeface="Arial"/>
                <a:ea typeface="Arial"/>
                <a:cs typeface="Arial"/>
                <a:sym typeface="Arial"/>
              </a:rPr>
              <a:t>Tipos de Muestreo</a:t>
            </a:r>
            <a:endParaRPr sz="3200">
              <a:solidFill>
                <a:srgbClr val="7F7F7F"/>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69"/>
                                        </p:tgtEl>
                                        <p:attrNameLst>
                                          <p:attrName>style.visibility</p:attrName>
                                        </p:attrNameLst>
                                      </p:cBhvr>
                                      <p:to>
                                        <p:strVal val="visible"/>
                                      </p:to>
                                    </p:set>
                                    <p:animEffect transition="in" filter="fade">
                                      <p:cBhvr>
                                        <p:cTn id="7" dur="500"/>
                                        <p:tgtEl>
                                          <p:spTgt spid="2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3"/>
        <p:cNvGrpSpPr/>
        <p:nvPr/>
      </p:nvGrpSpPr>
      <p:grpSpPr>
        <a:xfrm>
          <a:off x="0" y="0"/>
          <a:ext cx="0" cy="0"/>
          <a:chOff x="0" y="0"/>
          <a:chExt cx="0" cy="0"/>
        </a:xfrm>
      </p:grpSpPr>
      <p:sp>
        <p:nvSpPr>
          <p:cNvPr id="274" name="Google Shape;274;p23"/>
          <p:cNvSpPr/>
          <p:nvPr/>
        </p:nvSpPr>
        <p:spPr>
          <a:xfrm>
            <a:off x="1444688" y="917542"/>
            <a:ext cx="9249356" cy="5178459"/>
          </a:xfrm>
          <a:prstGeom prst="roundRect">
            <a:avLst>
              <a:gd name="adj" fmla="val 2971"/>
            </a:avLst>
          </a:prstGeom>
          <a:solidFill>
            <a:schemeClr val="lt1"/>
          </a:solidFill>
          <a:ln w="38100" cap="flat" cmpd="sng">
            <a:solidFill>
              <a:srgbClr val="98C3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275" name="Google Shape;275;p23"/>
          <p:cNvSpPr txBox="1"/>
          <p:nvPr/>
        </p:nvSpPr>
        <p:spPr>
          <a:xfrm>
            <a:off x="1865999" y="367621"/>
            <a:ext cx="6409509" cy="549921"/>
          </a:xfrm>
          <a:prstGeom prst="rect">
            <a:avLst/>
          </a:prstGeom>
          <a:noFill/>
          <a:ln>
            <a:noFill/>
          </a:ln>
        </p:spPr>
        <p:txBody>
          <a:bodyPr spcFirstLastPara="1" wrap="square" lIns="91425" tIns="45700" rIns="91425" bIns="45700" anchor="ctr" anchorCtr="0">
            <a:noAutofit/>
          </a:bodyPr>
          <a:lstStyle/>
          <a:p>
            <a:pPr marL="0" marR="0" lvl="0" indent="0" algn="just" rtl="0">
              <a:lnSpc>
                <a:spcPct val="100000"/>
              </a:lnSpc>
              <a:spcBef>
                <a:spcPts val="0"/>
              </a:spcBef>
              <a:spcAft>
                <a:spcPts val="0"/>
              </a:spcAft>
              <a:buNone/>
            </a:pPr>
            <a:r>
              <a:rPr lang="es-ES" sz="3200">
                <a:solidFill>
                  <a:srgbClr val="7F7F7F"/>
                </a:solidFill>
                <a:latin typeface="Arial"/>
                <a:ea typeface="Arial"/>
                <a:cs typeface="Arial"/>
                <a:sym typeface="Arial"/>
              </a:rPr>
              <a:t>Tipos de Muestreo</a:t>
            </a:r>
            <a:endParaRPr sz="3200">
              <a:solidFill>
                <a:srgbClr val="7F7F7F"/>
              </a:solidFill>
              <a:latin typeface="Arial"/>
              <a:ea typeface="Arial"/>
              <a:cs typeface="Arial"/>
              <a:sym typeface="Arial"/>
            </a:endParaRPr>
          </a:p>
        </p:txBody>
      </p:sp>
      <p:sp>
        <p:nvSpPr>
          <p:cNvPr id="276" name="Google Shape;276;p23"/>
          <p:cNvSpPr/>
          <p:nvPr/>
        </p:nvSpPr>
        <p:spPr>
          <a:xfrm>
            <a:off x="1931101" y="1580197"/>
            <a:ext cx="2733832" cy="954067"/>
          </a:xfrm>
          <a:prstGeom prst="rect">
            <a:avLst/>
          </a:prstGeom>
          <a:solidFill>
            <a:srgbClr val="F2F2F2"/>
          </a:solidFill>
          <a:ln w="9525" cap="flat" cmpd="sng">
            <a:solidFill>
              <a:srgbClr val="D8D8D8"/>
            </a:solidFill>
            <a:prstDash val="solid"/>
            <a:round/>
            <a:headEnd type="none" w="sm" len="sm"/>
            <a:tailEnd type="none" w="sm" len="sm"/>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rgbClr val="000000"/>
              </a:buClr>
              <a:buSzPts val="1800"/>
              <a:buFont typeface="Calibri"/>
              <a:buNone/>
            </a:pPr>
            <a:r>
              <a:rPr lang="es-ES" sz="1400">
                <a:solidFill>
                  <a:srgbClr val="595959"/>
                </a:solidFill>
                <a:latin typeface="Calibri"/>
                <a:ea typeface="Calibri"/>
                <a:cs typeface="Calibri"/>
                <a:sym typeface="Calibri"/>
              </a:rPr>
              <a:t>T</a:t>
            </a:r>
            <a:r>
              <a:rPr lang="es-ES" sz="1400" u="none" strike="noStrike" cap="none">
                <a:solidFill>
                  <a:srgbClr val="595959"/>
                </a:solidFill>
                <a:latin typeface="Calibri"/>
                <a:ea typeface="Calibri"/>
                <a:cs typeface="Calibri"/>
                <a:sym typeface="Calibri"/>
              </a:rPr>
              <a:t>odos y cada uno de los elementos que integran la población tienen la misma probabilidad conocida de ser seleccionados.</a:t>
            </a:r>
            <a:endParaRPr sz="1400" u="none" strike="noStrike" cap="none">
              <a:solidFill>
                <a:srgbClr val="595959"/>
              </a:solidFill>
              <a:latin typeface="Calibri"/>
              <a:ea typeface="Calibri"/>
              <a:cs typeface="Calibri"/>
              <a:sym typeface="Calibri"/>
            </a:endParaRPr>
          </a:p>
        </p:txBody>
      </p:sp>
      <p:sp>
        <p:nvSpPr>
          <p:cNvPr id="277" name="Google Shape;277;p23"/>
          <p:cNvSpPr/>
          <p:nvPr/>
        </p:nvSpPr>
        <p:spPr>
          <a:xfrm>
            <a:off x="2021771" y="4423546"/>
            <a:ext cx="2643162" cy="738623"/>
          </a:xfrm>
          <a:prstGeom prst="rect">
            <a:avLst/>
          </a:prstGeom>
          <a:solidFill>
            <a:srgbClr val="F2F2F2"/>
          </a:solidFill>
          <a:ln w="9525" cap="flat" cmpd="sng">
            <a:solidFill>
              <a:srgbClr val="D8D8D8"/>
            </a:solidFill>
            <a:prstDash val="solid"/>
            <a:round/>
            <a:headEnd type="none" w="sm" len="sm"/>
            <a:tailEnd type="none" w="sm" len="sm"/>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rgbClr val="000000"/>
              </a:buClr>
              <a:buSzPts val="1800"/>
              <a:buFont typeface="Calibri"/>
              <a:buNone/>
            </a:pPr>
            <a:r>
              <a:rPr lang="es-ES" sz="1400" b="0" i="0" u="none" strike="noStrike" cap="none">
                <a:solidFill>
                  <a:srgbClr val="595959"/>
                </a:solidFill>
                <a:latin typeface="Calibri"/>
                <a:ea typeface="Calibri"/>
                <a:cs typeface="Calibri"/>
                <a:sym typeface="Calibri"/>
              </a:rPr>
              <a:t>Cuando </a:t>
            </a:r>
            <a:r>
              <a:rPr lang="es-ES" sz="1400" b="1" i="0" u="none" strike="noStrike" cap="none">
                <a:solidFill>
                  <a:srgbClr val="595959"/>
                </a:solidFill>
                <a:latin typeface="Calibri"/>
                <a:ea typeface="Calibri"/>
                <a:cs typeface="Calibri"/>
                <a:sym typeface="Calibri"/>
              </a:rPr>
              <a:t>no todos</a:t>
            </a:r>
            <a:r>
              <a:rPr lang="es-ES" sz="1400" b="0" i="0" u="none" strike="noStrike" cap="none">
                <a:solidFill>
                  <a:srgbClr val="595959"/>
                </a:solidFill>
                <a:latin typeface="Calibri"/>
                <a:ea typeface="Calibri"/>
                <a:cs typeface="Calibri"/>
                <a:sym typeface="Calibri"/>
              </a:rPr>
              <a:t> tienen la misma posibilidad de ser elegidos, o esta, probabilidad </a:t>
            </a:r>
            <a:r>
              <a:rPr lang="es-ES" sz="1400" b="1" i="0" u="none" strike="noStrike" cap="none">
                <a:solidFill>
                  <a:srgbClr val="595959"/>
                </a:solidFill>
                <a:latin typeface="Calibri"/>
                <a:ea typeface="Calibri"/>
                <a:cs typeface="Calibri"/>
                <a:sym typeface="Calibri"/>
              </a:rPr>
              <a:t>no se conoce.</a:t>
            </a:r>
            <a:endParaRPr sz="1400" b="0" i="0" u="none" strike="noStrike" cap="none">
              <a:solidFill>
                <a:srgbClr val="595959"/>
              </a:solidFill>
              <a:latin typeface="Calibri"/>
              <a:ea typeface="Calibri"/>
              <a:cs typeface="Calibri"/>
              <a:sym typeface="Calibri"/>
            </a:endParaRPr>
          </a:p>
        </p:txBody>
      </p:sp>
      <p:sp>
        <p:nvSpPr>
          <p:cNvPr id="278" name="Google Shape;278;p23"/>
          <p:cNvSpPr/>
          <p:nvPr/>
        </p:nvSpPr>
        <p:spPr>
          <a:xfrm>
            <a:off x="5070754" y="1660884"/>
            <a:ext cx="1828799" cy="759236"/>
          </a:xfrm>
          <a:prstGeom prst="rect">
            <a:avLst/>
          </a:prstGeom>
          <a:solidFill>
            <a:srgbClr val="98C34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s-ES" sz="1800" b="1">
                <a:solidFill>
                  <a:schemeClr val="lt1"/>
                </a:solidFill>
                <a:latin typeface="Calibri"/>
                <a:ea typeface="Calibri"/>
                <a:cs typeface="Calibri"/>
                <a:sym typeface="Calibri"/>
              </a:rPr>
              <a:t>Probabilístico (Aleatorio)</a:t>
            </a:r>
            <a:endParaRPr/>
          </a:p>
        </p:txBody>
      </p:sp>
      <p:sp>
        <p:nvSpPr>
          <p:cNvPr id="279" name="Google Shape;279;p23"/>
          <p:cNvSpPr/>
          <p:nvPr/>
        </p:nvSpPr>
        <p:spPr>
          <a:xfrm>
            <a:off x="8163910" y="1123586"/>
            <a:ext cx="1727200" cy="350837"/>
          </a:xfrm>
          <a:prstGeom prst="roundRect">
            <a:avLst>
              <a:gd name="adj" fmla="val 16667"/>
            </a:avLst>
          </a:prstGeom>
          <a:solidFill>
            <a:schemeClr val="lt1"/>
          </a:solidFill>
          <a:ln w="12700" cap="flat" cmpd="sng">
            <a:solidFill>
              <a:srgbClr val="98C3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s-ES" sz="1400">
                <a:solidFill>
                  <a:schemeClr val="dk1"/>
                </a:solidFill>
                <a:latin typeface="Calibri"/>
                <a:ea typeface="Calibri"/>
                <a:cs typeface="Calibri"/>
                <a:sym typeface="Calibri"/>
              </a:rPr>
              <a:t>Aleatorio Simple</a:t>
            </a:r>
            <a:endParaRPr/>
          </a:p>
        </p:txBody>
      </p:sp>
      <p:sp>
        <p:nvSpPr>
          <p:cNvPr id="280" name="Google Shape;280;p23"/>
          <p:cNvSpPr/>
          <p:nvPr/>
        </p:nvSpPr>
        <p:spPr>
          <a:xfrm>
            <a:off x="8561023" y="1690431"/>
            <a:ext cx="1727200" cy="350837"/>
          </a:xfrm>
          <a:prstGeom prst="roundRect">
            <a:avLst>
              <a:gd name="adj" fmla="val 16667"/>
            </a:avLst>
          </a:prstGeom>
          <a:solidFill>
            <a:schemeClr val="lt1"/>
          </a:solidFill>
          <a:ln w="12700" cap="flat" cmpd="sng">
            <a:solidFill>
              <a:srgbClr val="98C3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s-ES" sz="1400">
                <a:solidFill>
                  <a:schemeClr val="dk1"/>
                </a:solidFill>
                <a:latin typeface="Calibri"/>
                <a:ea typeface="Calibri"/>
                <a:cs typeface="Calibri"/>
                <a:sym typeface="Calibri"/>
              </a:rPr>
              <a:t>Sistemático</a:t>
            </a:r>
            <a:endParaRPr/>
          </a:p>
        </p:txBody>
      </p:sp>
      <p:sp>
        <p:nvSpPr>
          <p:cNvPr id="281" name="Google Shape;281;p23"/>
          <p:cNvSpPr/>
          <p:nvPr/>
        </p:nvSpPr>
        <p:spPr>
          <a:xfrm>
            <a:off x="8651334" y="2183427"/>
            <a:ext cx="1727200" cy="350837"/>
          </a:xfrm>
          <a:prstGeom prst="roundRect">
            <a:avLst>
              <a:gd name="adj" fmla="val 16667"/>
            </a:avLst>
          </a:prstGeom>
          <a:solidFill>
            <a:schemeClr val="lt1"/>
          </a:solidFill>
          <a:ln w="12700" cap="flat" cmpd="sng">
            <a:solidFill>
              <a:srgbClr val="98C3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s-ES" sz="1400">
                <a:solidFill>
                  <a:schemeClr val="dk1"/>
                </a:solidFill>
                <a:latin typeface="Calibri"/>
                <a:ea typeface="Calibri"/>
                <a:cs typeface="Calibri"/>
                <a:sym typeface="Calibri"/>
              </a:rPr>
              <a:t>Estratificado</a:t>
            </a:r>
            <a:endParaRPr/>
          </a:p>
        </p:txBody>
      </p:sp>
      <p:sp>
        <p:nvSpPr>
          <p:cNvPr id="282" name="Google Shape;282;p23"/>
          <p:cNvSpPr/>
          <p:nvPr/>
        </p:nvSpPr>
        <p:spPr>
          <a:xfrm>
            <a:off x="8163910" y="2750272"/>
            <a:ext cx="1727200" cy="350837"/>
          </a:xfrm>
          <a:prstGeom prst="roundRect">
            <a:avLst>
              <a:gd name="adj" fmla="val 16667"/>
            </a:avLst>
          </a:prstGeom>
          <a:solidFill>
            <a:schemeClr val="lt1"/>
          </a:solidFill>
          <a:ln w="12700" cap="flat" cmpd="sng">
            <a:solidFill>
              <a:srgbClr val="98C3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s-ES" sz="1400">
                <a:solidFill>
                  <a:schemeClr val="dk1"/>
                </a:solidFill>
                <a:latin typeface="Calibri"/>
                <a:ea typeface="Calibri"/>
                <a:cs typeface="Calibri"/>
                <a:sym typeface="Calibri"/>
              </a:rPr>
              <a:t>Por Conglomerado</a:t>
            </a:r>
            <a:endParaRPr/>
          </a:p>
        </p:txBody>
      </p:sp>
      <p:cxnSp>
        <p:nvCxnSpPr>
          <p:cNvPr id="283" name="Google Shape;283;p23"/>
          <p:cNvCxnSpPr>
            <a:stCxn id="278" idx="3"/>
            <a:endCxn id="279" idx="1"/>
          </p:cNvCxnSpPr>
          <p:nvPr/>
        </p:nvCxnSpPr>
        <p:spPr>
          <a:xfrm rot="10800000" flipH="1">
            <a:off x="6899553" y="1298902"/>
            <a:ext cx="1264500" cy="741600"/>
          </a:xfrm>
          <a:prstGeom prst="straightConnector1">
            <a:avLst/>
          </a:prstGeom>
          <a:noFill/>
          <a:ln w="9525" cap="flat" cmpd="sng">
            <a:solidFill>
              <a:schemeClr val="dk1"/>
            </a:solidFill>
            <a:prstDash val="solid"/>
            <a:miter lim="800000"/>
            <a:headEnd type="none" w="sm" len="sm"/>
            <a:tailEnd type="triangle" w="med" len="med"/>
          </a:ln>
        </p:spPr>
      </p:cxnSp>
      <p:cxnSp>
        <p:nvCxnSpPr>
          <p:cNvPr id="284" name="Google Shape;284;p23"/>
          <p:cNvCxnSpPr>
            <a:stCxn id="278" idx="3"/>
            <a:endCxn id="280" idx="1"/>
          </p:cNvCxnSpPr>
          <p:nvPr/>
        </p:nvCxnSpPr>
        <p:spPr>
          <a:xfrm rot="10800000" flipH="1">
            <a:off x="6899553" y="1865902"/>
            <a:ext cx="1661400" cy="174600"/>
          </a:xfrm>
          <a:prstGeom prst="straightConnector1">
            <a:avLst/>
          </a:prstGeom>
          <a:noFill/>
          <a:ln w="9525" cap="flat" cmpd="sng">
            <a:solidFill>
              <a:schemeClr val="dk1"/>
            </a:solidFill>
            <a:prstDash val="solid"/>
            <a:miter lim="800000"/>
            <a:headEnd type="none" w="sm" len="sm"/>
            <a:tailEnd type="triangle" w="med" len="med"/>
          </a:ln>
        </p:spPr>
      </p:cxnSp>
      <p:cxnSp>
        <p:nvCxnSpPr>
          <p:cNvPr id="285" name="Google Shape;285;p23"/>
          <p:cNvCxnSpPr>
            <a:stCxn id="278" idx="3"/>
            <a:endCxn id="281" idx="1"/>
          </p:cNvCxnSpPr>
          <p:nvPr/>
        </p:nvCxnSpPr>
        <p:spPr>
          <a:xfrm>
            <a:off x="6899553" y="2040502"/>
            <a:ext cx="1751700" cy="318300"/>
          </a:xfrm>
          <a:prstGeom prst="straightConnector1">
            <a:avLst/>
          </a:prstGeom>
          <a:noFill/>
          <a:ln>
            <a:noFill/>
          </a:ln>
        </p:spPr>
      </p:cxnSp>
      <p:cxnSp>
        <p:nvCxnSpPr>
          <p:cNvPr id="286" name="Google Shape;286;p23"/>
          <p:cNvCxnSpPr>
            <a:stCxn id="278" idx="3"/>
            <a:endCxn id="282" idx="1"/>
          </p:cNvCxnSpPr>
          <p:nvPr/>
        </p:nvCxnSpPr>
        <p:spPr>
          <a:xfrm>
            <a:off x="6899553" y="2040502"/>
            <a:ext cx="1264500" cy="885300"/>
          </a:xfrm>
          <a:prstGeom prst="straightConnector1">
            <a:avLst/>
          </a:prstGeom>
          <a:noFill/>
          <a:ln w="9525" cap="flat" cmpd="sng">
            <a:solidFill>
              <a:schemeClr val="dk1"/>
            </a:solidFill>
            <a:prstDash val="solid"/>
            <a:miter lim="800000"/>
            <a:headEnd type="none" w="sm" len="sm"/>
            <a:tailEnd type="triangle" w="med" len="med"/>
          </a:ln>
        </p:spPr>
      </p:cxnSp>
      <p:sp>
        <p:nvSpPr>
          <p:cNvPr id="287" name="Google Shape;287;p23"/>
          <p:cNvSpPr/>
          <p:nvPr/>
        </p:nvSpPr>
        <p:spPr>
          <a:xfrm>
            <a:off x="5070754" y="4414677"/>
            <a:ext cx="1828799" cy="759236"/>
          </a:xfrm>
          <a:prstGeom prst="rect">
            <a:avLst/>
          </a:prstGeom>
          <a:solidFill>
            <a:srgbClr val="FF505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s-ES" sz="1800" b="1">
                <a:solidFill>
                  <a:schemeClr val="lt1"/>
                </a:solidFill>
                <a:latin typeface="Calibri"/>
                <a:ea typeface="Calibri"/>
                <a:cs typeface="Calibri"/>
                <a:sym typeface="Calibri"/>
              </a:rPr>
              <a:t>No Probabilístico</a:t>
            </a:r>
            <a:endParaRPr/>
          </a:p>
        </p:txBody>
      </p:sp>
      <p:sp>
        <p:nvSpPr>
          <p:cNvPr id="288" name="Google Shape;288;p23"/>
          <p:cNvSpPr/>
          <p:nvPr/>
        </p:nvSpPr>
        <p:spPr>
          <a:xfrm>
            <a:off x="8163910" y="3877379"/>
            <a:ext cx="1727200" cy="350837"/>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s-ES" sz="1400">
                <a:solidFill>
                  <a:schemeClr val="dk1"/>
                </a:solidFill>
                <a:latin typeface="Calibri"/>
                <a:ea typeface="Calibri"/>
                <a:cs typeface="Calibri"/>
                <a:sym typeface="Calibri"/>
              </a:rPr>
              <a:t>Por cuotas</a:t>
            </a:r>
            <a:endParaRPr/>
          </a:p>
        </p:txBody>
      </p:sp>
      <p:sp>
        <p:nvSpPr>
          <p:cNvPr id="289" name="Google Shape;289;p23"/>
          <p:cNvSpPr/>
          <p:nvPr/>
        </p:nvSpPr>
        <p:spPr>
          <a:xfrm>
            <a:off x="8561023" y="4444224"/>
            <a:ext cx="1727200" cy="350837"/>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s-ES" sz="1400">
                <a:solidFill>
                  <a:schemeClr val="dk1"/>
                </a:solidFill>
                <a:latin typeface="Calibri"/>
                <a:ea typeface="Calibri"/>
                <a:cs typeface="Calibri"/>
                <a:sym typeface="Calibri"/>
              </a:rPr>
              <a:t>Accidental</a:t>
            </a:r>
            <a:endParaRPr/>
          </a:p>
        </p:txBody>
      </p:sp>
      <p:sp>
        <p:nvSpPr>
          <p:cNvPr id="290" name="Google Shape;290;p23"/>
          <p:cNvSpPr/>
          <p:nvPr/>
        </p:nvSpPr>
        <p:spPr>
          <a:xfrm>
            <a:off x="8651334" y="4937220"/>
            <a:ext cx="1727200" cy="350837"/>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s-ES" sz="1400">
                <a:solidFill>
                  <a:schemeClr val="dk1"/>
                </a:solidFill>
                <a:latin typeface="Calibri"/>
                <a:ea typeface="Calibri"/>
                <a:cs typeface="Calibri"/>
                <a:sym typeface="Calibri"/>
              </a:rPr>
              <a:t>Por conveniencia</a:t>
            </a:r>
            <a:endParaRPr/>
          </a:p>
        </p:txBody>
      </p:sp>
      <p:sp>
        <p:nvSpPr>
          <p:cNvPr id="291" name="Google Shape;291;p23"/>
          <p:cNvSpPr/>
          <p:nvPr/>
        </p:nvSpPr>
        <p:spPr>
          <a:xfrm>
            <a:off x="8163910" y="5504065"/>
            <a:ext cx="1727200" cy="350837"/>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s-ES" sz="1400">
                <a:solidFill>
                  <a:schemeClr val="dk1"/>
                </a:solidFill>
                <a:latin typeface="Calibri"/>
                <a:ea typeface="Calibri"/>
                <a:cs typeface="Calibri"/>
                <a:sym typeface="Calibri"/>
              </a:rPr>
              <a:t>Bola de nieve</a:t>
            </a:r>
            <a:endParaRPr/>
          </a:p>
        </p:txBody>
      </p:sp>
      <p:cxnSp>
        <p:nvCxnSpPr>
          <p:cNvPr id="292" name="Google Shape;292;p23"/>
          <p:cNvCxnSpPr>
            <a:stCxn id="287" idx="3"/>
            <a:endCxn id="288" idx="1"/>
          </p:cNvCxnSpPr>
          <p:nvPr/>
        </p:nvCxnSpPr>
        <p:spPr>
          <a:xfrm rot="10800000" flipH="1">
            <a:off x="6899553" y="4052695"/>
            <a:ext cx="1264500" cy="741600"/>
          </a:xfrm>
          <a:prstGeom prst="straightConnector1">
            <a:avLst/>
          </a:prstGeom>
          <a:noFill/>
          <a:ln w="9525" cap="flat" cmpd="sng">
            <a:solidFill>
              <a:schemeClr val="dk1"/>
            </a:solidFill>
            <a:prstDash val="solid"/>
            <a:miter lim="800000"/>
            <a:headEnd type="none" w="sm" len="sm"/>
            <a:tailEnd type="triangle" w="med" len="med"/>
          </a:ln>
        </p:spPr>
      </p:cxnSp>
      <p:cxnSp>
        <p:nvCxnSpPr>
          <p:cNvPr id="293" name="Google Shape;293;p23"/>
          <p:cNvCxnSpPr>
            <a:stCxn id="287" idx="3"/>
            <a:endCxn id="289" idx="1"/>
          </p:cNvCxnSpPr>
          <p:nvPr/>
        </p:nvCxnSpPr>
        <p:spPr>
          <a:xfrm rot="10800000" flipH="1">
            <a:off x="6899553" y="4619695"/>
            <a:ext cx="1661400" cy="174600"/>
          </a:xfrm>
          <a:prstGeom prst="straightConnector1">
            <a:avLst/>
          </a:prstGeom>
          <a:noFill/>
          <a:ln w="9525" cap="flat" cmpd="sng">
            <a:solidFill>
              <a:schemeClr val="dk1"/>
            </a:solidFill>
            <a:prstDash val="solid"/>
            <a:miter lim="800000"/>
            <a:headEnd type="none" w="sm" len="sm"/>
            <a:tailEnd type="triangle" w="med" len="med"/>
          </a:ln>
        </p:spPr>
      </p:cxnSp>
      <p:cxnSp>
        <p:nvCxnSpPr>
          <p:cNvPr id="294" name="Google Shape;294;p23"/>
          <p:cNvCxnSpPr>
            <a:stCxn id="287" idx="3"/>
            <a:endCxn id="290" idx="1"/>
          </p:cNvCxnSpPr>
          <p:nvPr/>
        </p:nvCxnSpPr>
        <p:spPr>
          <a:xfrm>
            <a:off x="6899553" y="4794295"/>
            <a:ext cx="1751700" cy="318300"/>
          </a:xfrm>
          <a:prstGeom prst="straightConnector1">
            <a:avLst/>
          </a:prstGeom>
          <a:noFill/>
          <a:ln w="9525" cap="flat" cmpd="sng">
            <a:solidFill>
              <a:schemeClr val="dk1"/>
            </a:solidFill>
            <a:prstDash val="solid"/>
            <a:miter lim="800000"/>
            <a:headEnd type="none" w="sm" len="sm"/>
            <a:tailEnd type="triangle" w="med" len="med"/>
          </a:ln>
        </p:spPr>
      </p:cxnSp>
      <p:cxnSp>
        <p:nvCxnSpPr>
          <p:cNvPr id="295" name="Google Shape;295;p23"/>
          <p:cNvCxnSpPr>
            <a:stCxn id="287" idx="3"/>
            <a:endCxn id="291" idx="1"/>
          </p:cNvCxnSpPr>
          <p:nvPr/>
        </p:nvCxnSpPr>
        <p:spPr>
          <a:xfrm>
            <a:off x="6899553" y="4794295"/>
            <a:ext cx="1264500" cy="885300"/>
          </a:xfrm>
          <a:prstGeom prst="straightConnector1">
            <a:avLst/>
          </a:prstGeom>
          <a:noFill/>
          <a:ln w="9525" cap="flat" cmpd="sng">
            <a:solidFill>
              <a:schemeClr val="dk1"/>
            </a:solidFill>
            <a:prstDash val="solid"/>
            <a:miter lim="800000"/>
            <a:headEnd type="none" w="sm" len="sm"/>
            <a:tailEnd type="triangl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75"/>
                                        </p:tgtEl>
                                        <p:attrNameLst>
                                          <p:attrName>style.visibility</p:attrName>
                                        </p:attrNameLst>
                                      </p:cBhvr>
                                      <p:to>
                                        <p:strVal val="visible"/>
                                      </p:to>
                                    </p:set>
                                    <p:animEffect transition="in" filter="fade">
                                      <p:cBhvr>
                                        <p:cTn id="7" dur="500"/>
                                        <p:tgtEl>
                                          <p:spTgt spid="2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99"/>
        <p:cNvGrpSpPr/>
        <p:nvPr/>
      </p:nvGrpSpPr>
      <p:grpSpPr>
        <a:xfrm>
          <a:off x="0" y="0"/>
          <a:ext cx="0" cy="0"/>
          <a:chOff x="0" y="0"/>
          <a:chExt cx="0" cy="0"/>
        </a:xfrm>
      </p:grpSpPr>
      <p:pic>
        <p:nvPicPr>
          <p:cNvPr id="300" name="Google Shape;300;p24" descr="Patrón de fondo"/>
          <p:cNvPicPr preferRelativeResize="0"/>
          <p:nvPr/>
        </p:nvPicPr>
        <p:blipFill rotWithShape="1">
          <a:blip r:embed="rId3">
            <a:alphaModFix/>
          </a:blip>
          <a:srcRect/>
          <a:stretch/>
        </p:blipFill>
        <p:spPr>
          <a:xfrm>
            <a:off x="0" y="-1"/>
            <a:ext cx="12192000" cy="6858001"/>
          </a:xfrm>
          <a:prstGeom prst="rect">
            <a:avLst/>
          </a:prstGeom>
          <a:noFill/>
          <a:ln>
            <a:noFill/>
          </a:ln>
        </p:spPr>
      </p:pic>
      <p:sp>
        <p:nvSpPr>
          <p:cNvPr id="301" name="Google Shape;301;p24"/>
          <p:cNvSpPr/>
          <p:nvPr/>
        </p:nvSpPr>
        <p:spPr>
          <a:xfrm>
            <a:off x="-177625" y="2209904"/>
            <a:ext cx="11411682" cy="2658188"/>
          </a:xfrm>
          <a:prstGeom prst="roundRect">
            <a:avLst>
              <a:gd name="adj" fmla="val 2971"/>
            </a:avLst>
          </a:prstGeom>
          <a:gradFill>
            <a:gsLst>
              <a:gs pos="0">
                <a:srgbClr val="58751F"/>
              </a:gs>
              <a:gs pos="50000">
                <a:srgbClr val="81AB2C"/>
              </a:gs>
              <a:gs pos="100000">
                <a:srgbClr val="9BCC36"/>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02" name="Google Shape;302;p24"/>
          <p:cNvSpPr txBox="1"/>
          <p:nvPr/>
        </p:nvSpPr>
        <p:spPr>
          <a:xfrm>
            <a:off x="958893" y="2496737"/>
            <a:ext cx="9298853" cy="2031325"/>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chemeClr val="lt1"/>
                </a:solidFill>
                <a:latin typeface="Calibri"/>
                <a:ea typeface="Calibri"/>
                <a:cs typeface="Calibri"/>
                <a:sym typeface="Calibri"/>
              </a:rPr>
              <a:t>Pese a que nunca hay garantías absolutas de representatividad, en los muestreos probabilísticos el error de muestreo, es decir, el margen de error o riesgo de equivocarse al generalizar los resultados obtenidos en la muestra a toda la población, puede calcularse. Este margen de error </a:t>
            </a:r>
            <a:r>
              <a:rPr lang="es-ES" sz="1800" b="1">
                <a:solidFill>
                  <a:schemeClr val="lt1"/>
                </a:solidFill>
                <a:latin typeface="Calibri"/>
                <a:ea typeface="Calibri"/>
                <a:cs typeface="Calibri"/>
                <a:sym typeface="Calibri"/>
              </a:rPr>
              <a:t>(“desviación estándar”) </a:t>
            </a:r>
            <a:r>
              <a:rPr lang="es-ES" sz="1800">
                <a:solidFill>
                  <a:schemeClr val="lt1"/>
                </a:solidFill>
                <a:latin typeface="Calibri"/>
                <a:ea typeface="Calibri"/>
                <a:cs typeface="Calibri"/>
                <a:sym typeface="Calibri"/>
              </a:rPr>
              <a:t>se define de antemano. </a:t>
            </a:r>
            <a:endParaRPr/>
          </a:p>
          <a:p>
            <a:pPr marL="0" marR="0" lvl="0" indent="0" algn="just" rtl="0">
              <a:spcBef>
                <a:spcPts val="0"/>
              </a:spcBef>
              <a:spcAft>
                <a:spcPts val="0"/>
              </a:spcAft>
              <a:buNone/>
            </a:pPr>
            <a:endParaRPr sz="1800">
              <a:solidFill>
                <a:schemeClr val="lt1"/>
              </a:solidFill>
              <a:latin typeface="Calibri"/>
              <a:ea typeface="Calibri"/>
              <a:cs typeface="Calibri"/>
              <a:sym typeface="Calibri"/>
            </a:endParaRPr>
          </a:p>
          <a:p>
            <a:pPr marL="0" marR="0" lvl="0" indent="0" algn="just" rtl="0">
              <a:spcBef>
                <a:spcPts val="0"/>
              </a:spcBef>
              <a:spcAft>
                <a:spcPts val="0"/>
              </a:spcAft>
              <a:buNone/>
            </a:pPr>
            <a:r>
              <a:rPr lang="es-ES" sz="1800">
                <a:solidFill>
                  <a:schemeClr val="lt1"/>
                </a:solidFill>
                <a:latin typeface="Calibri"/>
                <a:ea typeface="Calibri"/>
                <a:cs typeface="Calibri"/>
                <a:sym typeface="Calibri"/>
              </a:rPr>
              <a:t>En los muestreos no probabilísticos el margen de error se desconoce, y por ende, no puede calcularse. </a:t>
            </a:r>
            <a:endParaRPr sz="1800">
              <a:solidFill>
                <a:schemeClr val="lt1"/>
              </a:solidFill>
              <a:latin typeface="Calibri"/>
              <a:ea typeface="Calibri"/>
              <a:cs typeface="Calibri"/>
              <a:sym typeface="Calibri"/>
            </a:endParaRPr>
          </a:p>
        </p:txBody>
      </p:sp>
      <p:sp>
        <p:nvSpPr>
          <p:cNvPr id="303" name="Google Shape;303;p24"/>
          <p:cNvSpPr txBox="1"/>
          <p:nvPr/>
        </p:nvSpPr>
        <p:spPr>
          <a:xfrm>
            <a:off x="958893" y="1310095"/>
            <a:ext cx="10147489" cy="1008062"/>
          </a:xfrm>
          <a:prstGeom prst="rect">
            <a:avLst/>
          </a:prstGeom>
          <a:noFill/>
          <a:ln>
            <a:noFill/>
          </a:ln>
        </p:spPr>
        <p:txBody>
          <a:bodyPr spcFirstLastPara="1" wrap="square" lIns="91425" tIns="45700" rIns="91425" bIns="45700" anchor="ctr" anchorCtr="0">
            <a:noAutofit/>
          </a:bodyPr>
          <a:lstStyle/>
          <a:p>
            <a:pPr marL="0" marR="0" lvl="0" indent="0" algn="just" rtl="0">
              <a:lnSpc>
                <a:spcPct val="100000"/>
              </a:lnSpc>
              <a:spcBef>
                <a:spcPts val="0"/>
              </a:spcBef>
              <a:spcAft>
                <a:spcPts val="0"/>
              </a:spcAft>
              <a:buNone/>
            </a:pPr>
            <a:r>
              <a:rPr lang="es-ES" sz="3200">
                <a:solidFill>
                  <a:srgbClr val="7F7F7F"/>
                </a:solidFill>
                <a:latin typeface="Arial"/>
                <a:ea typeface="Arial"/>
                <a:cs typeface="Arial"/>
                <a:sym typeface="Arial"/>
              </a:rPr>
              <a:t>Muestreo Probabilístico</a:t>
            </a:r>
            <a:endParaRPr sz="3200">
              <a:solidFill>
                <a:srgbClr val="7F7F7F"/>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03"/>
                                        </p:tgtEl>
                                        <p:attrNameLst>
                                          <p:attrName>style.visibility</p:attrName>
                                        </p:attrNameLst>
                                      </p:cBhvr>
                                      <p:to>
                                        <p:strVal val="visible"/>
                                      </p:to>
                                    </p:set>
                                    <p:animEffect transition="in" filter="fade">
                                      <p:cBhvr>
                                        <p:cTn id="7" dur="500"/>
                                        <p:tgtEl>
                                          <p:spTgt spid="3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07"/>
        <p:cNvGrpSpPr/>
        <p:nvPr/>
      </p:nvGrpSpPr>
      <p:grpSpPr>
        <a:xfrm>
          <a:off x="0" y="0"/>
          <a:ext cx="0" cy="0"/>
          <a:chOff x="0" y="0"/>
          <a:chExt cx="0" cy="0"/>
        </a:xfrm>
      </p:grpSpPr>
      <p:sp>
        <p:nvSpPr>
          <p:cNvPr id="308" name="Google Shape;308;p25"/>
          <p:cNvSpPr/>
          <p:nvPr/>
        </p:nvSpPr>
        <p:spPr>
          <a:xfrm>
            <a:off x="7315200" y="2068182"/>
            <a:ext cx="3934106" cy="3418218"/>
          </a:xfrm>
          <a:prstGeom prst="roundRect">
            <a:avLst>
              <a:gd name="adj" fmla="val 2971"/>
            </a:avLst>
          </a:prstGeom>
          <a:solidFill>
            <a:schemeClr val="lt1"/>
          </a:solidFill>
          <a:ln w="38100" cap="flat" cmpd="sng">
            <a:solidFill>
              <a:srgbClr val="98C3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309" name="Google Shape;309;p25"/>
          <p:cNvSpPr/>
          <p:nvPr/>
        </p:nvSpPr>
        <p:spPr>
          <a:xfrm>
            <a:off x="-609600" y="1987250"/>
            <a:ext cx="7219950" cy="3580082"/>
          </a:xfrm>
          <a:prstGeom prst="roundRect">
            <a:avLst>
              <a:gd name="adj" fmla="val 2971"/>
            </a:avLst>
          </a:prstGeom>
          <a:gradFill>
            <a:gsLst>
              <a:gs pos="0">
                <a:srgbClr val="58751F"/>
              </a:gs>
              <a:gs pos="50000">
                <a:srgbClr val="81AB2C"/>
              </a:gs>
              <a:gs pos="100000">
                <a:srgbClr val="9BCC36"/>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10" name="Google Shape;310;p25"/>
          <p:cNvSpPr txBox="1"/>
          <p:nvPr/>
        </p:nvSpPr>
        <p:spPr>
          <a:xfrm>
            <a:off x="704850" y="909084"/>
            <a:ext cx="10544456" cy="1008062"/>
          </a:xfrm>
          <a:prstGeom prst="rect">
            <a:avLst/>
          </a:prstGeom>
          <a:noFill/>
          <a:ln>
            <a:noFill/>
          </a:ln>
        </p:spPr>
        <p:txBody>
          <a:bodyPr spcFirstLastPara="1" wrap="square" lIns="91425" tIns="45700" rIns="91425" bIns="45700" anchor="ctr" anchorCtr="0">
            <a:noAutofit/>
          </a:bodyPr>
          <a:lstStyle/>
          <a:p>
            <a:pPr marL="0" marR="0" lvl="0" indent="0" algn="just" rtl="0">
              <a:lnSpc>
                <a:spcPct val="150000"/>
              </a:lnSpc>
              <a:spcBef>
                <a:spcPts val="0"/>
              </a:spcBef>
              <a:spcAft>
                <a:spcPts val="0"/>
              </a:spcAft>
              <a:buNone/>
            </a:pPr>
            <a:r>
              <a:rPr lang="es-ES" sz="3200">
                <a:solidFill>
                  <a:srgbClr val="7F7F7F"/>
                </a:solidFill>
                <a:latin typeface="Arial"/>
                <a:ea typeface="Arial"/>
                <a:cs typeface="Arial"/>
                <a:sym typeface="Arial"/>
              </a:rPr>
              <a:t>Muestreo Aleatorio Simple</a:t>
            </a:r>
            <a:endParaRPr sz="3200">
              <a:solidFill>
                <a:srgbClr val="7F7F7F"/>
              </a:solidFill>
              <a:latin typeface="Arial"/>
              <a:ea typeface="Arial"/>
              <a:cs typeface="Arial"/>
              <a:sym typeface="Arial"/>
            </a:endParaRPr>
          </a:p>
        </p:txBody>
      </p:sp>
      <p:sp>
        <p:nvSpPr>
          <p:cNvPr id="311" name="Google Shape;311;p25"/>
          <p:cNvSpPr txBox="1"/>
          <p:nvPr/>
        </p:nvSpPr>
        <p:spPr>
          <a:xfrm>
            <a:off x="704850" y="2224537"/>
            <a:ext cx="5530487" cy="3139321"/>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chemeClr val="lt1"/>
                </a:solidFill>
                <a:latin typeface="Calibri"/>
                <a:ea typeface="Calibri"/>
                <a:cs typeface="Calibri"/>
                <a:sym typeface="Calibri"/>
              </a:rPr>
              <a:t>Cada uno de los elementos o unidades de la población tiene aquí </a:t>
            </a:r>
            <a:r>
              <a:rPr lang="es-ES" sz="1800" b="1">
                <a:solidFill>
                  <a:schemeClr val="lt1"/>
                </a:solidFill>
                <a:latin typeface="Calibri"/>
                <a:ea typeface="Calibri"/>
                <a:cs typeface="Calibri"/>
                <a:sym typeface="Calibri"/>
              </a:rPr>
              <a:t>la misma probabilidad conocida de ser seleccionado</a:t>
            </a:r>
            <a:r>
              <a:rPr lang="es-ES" sz="1800">
                <a:solidFill>
                  <a:schemeClr val="lt1"/>
                </a:solidFill>
                <a:latin typeface="Calibri"/>
                <a:ea typeface="Calibri"/>
                <a:cs typeface="Calibri"/>
                <a:sym typeface="Calibri"/>
              </a:rPr>
              <a:t>, y esto se logra mediante la </a:t>
            </a:r>
            <a:r>
              <a:rPr lang="es-ES" sz="1800" b="1">
                <a:solidFill>
                  <a:schemeClr val="lt1"/>
                </a:solidFill>
                <a:latin typeface="Calibri"/>
                <a:ea typeface="Calibri"/>
                <a:cs typeface="Calibri"/>
                <a:sym typeface="Calibri"/>
              </a:rPr>
              <a:t>selección al azar</a:t>
            </a:r>
            <a:r>
              <a:rPr lang="es-ES" sz="1800">
                <a:solidFill>
                  <a:schemeClr val="lt1"/>
                </a:solidFill>
                <a:latin typeface="Calibri"/>
                <a:ea typeface="Calibri"/>
                <a:cs typeface="Calibri"/>
                <a:sym typeface="Calibri"/>
              </a:rPr>
              <a:t> de dichos elementos. </a:t>
            </a:r>
            <a:endParaRPr/>
          </a:p>
          <a:p>
            <a:pPr marL="0" marR="0" lvl="0" indent="0" algn="just" rtl="0">
              <a:spcBef>
                <a:spcPts val="0"/>
              </a:spcBef>
              <a:spcAft>
                <a:spcPts val="0"/>
              </a:spcAft>
              <a:buNone/>
            </a:pPr>
            <a:endParaRPr sz="1800">
              <a:solidFill>
                <a:schemeClr val="lt1"/>
              </a:solidFill>
              <a:latin typeface="Calibri"/>
              <a:ea typeface="Calibri"/>
              <a:cs typeface="Calibri"/>
              <a:sym typeface="Calibri"/>
            </a:endParaRPr>
          </a:p>
          <a:p>
            <a:pPr marL="0" marR="0" lvl="0" indent="0" algn="just" rtl="0">
              <a:spcBef>
                <a:spcPts val="0"/>
              </a:spcBef>
              <a:spcAft>
                <a:spcPts val="0"/>
              </a:spcAft>
              <a:buNone/>
            </a:pPr>
            <a:r>
              <a:rPr lang="es-ES" sz="1800">
                <a:solidFill>
                  <a:schemeClr val="lt1"/>
                </a:solidFill>
                <a:latin typeface="Calibri"/>
                <a:ea typeface="Calibri"/>
                <a:cs typeface="Calibri"/>
                <a:sym typeface="Calibri"/>
              </a:rPr>
              <a:t>Se confecciona primero un </a:t>
            </a:r>
            <a:r>
              <a:rPr lang="es-ES" sz="1800" b="1">
                <a:solidFill>
                  <a:schemeClr val="lt1"/>
                </a:solidFill>
                <a:latin typeface="Calibri"/>
                <a:ea typeface="Calibri"/>
                <a:cs typeface="Calibri"/>
                <a:sym typeface="Calibri"/>
              </a:rPr>
              <a:t>listado numerando correlativamente todas las unidades de la población </a:t>
            </a:r>
            <a:r>
              <a:rPr lang="es-ES" sz="1800">
                <a:solidFill>
                  <a:schemeClr val="lt1"/>
                </a:solidFill>
                <a:latin typeface="Calibri"/>
                <a:ea typeface="Calibri"/>
                <a:cs typeface="Calibri"/>
                <a:sym typeface="Calibri"/>
              </a:rPr>
              <a:t>(denominada “</a:t>
            </a:r>
            <a:r>
              <a:rPr lang="es-ES" sz="1800" b="1">
                <a:solidFill>
                  <a:schemeClr val="lt1"/>
                </a:solidFill>
                <a:latin typeface="Calibri"/>
                <a:ea typeface="Calibri"/>
                <a:cs typeface="Calibri"/>
                <a:sym typeface="Calibri"/>
              </a:rPr>
              <a:t>marco muestral</a:t>
            </a:r>
            <a:r>
              <a:rPr lang="es-ES" sz="1800">
                <a:solidFill>
                  <a:schemeClr val="lt1"/>
                </a:solidFill>
                <a:latin typeface="Calibri"/>
                <a:ea typeface="Calibri"/>
                <a:cs typeface="Calibri"/>
                <a:sym typeface="Calibri"/>
              </a:rPr>
              <a:t>”), para lo cual es necesario, previamente, haber </a:t>
            </a:r>
            <a:r>
              <a:rPr lang="es-ES" sz="1800" b="1">
                <a:solidFill>
                  <a:schemeClr val="lt1"/>
                </a:solidFill>
                <a:latin typeface="Calibri"/>
                <a:ea typeface="Calibri"/>
                <a:cs typeface="Calibri"/>
                <a:sym typeface="Calibri"/>
              </a:rPr>
              <a:t>definido correctamente la población</a:t>
            </a:r>
            <a:r>
              <a:rPr lang="es-ES" sz="1800">
                <a:solidFill>
                  <a:schemeClr val="lt1"/>
                </a:solidFill>
                <a:latin typeface="Calibri"/>
                <a:ea typeface="Calibri"/>
                <a:cs typeface="Calibri"/>
                <a:sym typeface="Calibri"/>
              </a:rPr>
              <a:t> (es decir, haberla delimitado de un modo estricto y concreto). </a:t>
            </a:r>
            <a:endParaRPr/>
          </a:p>
        </p:txBody>
      </p:sp>
      <p:pic>
        <p:nvPicPr>
          <p:cNvPr id="312" name="Google Shape;312;p25"/>
          <p:cNvPicPr preferRelativeResize="0"/>
          <p:nvPr/>
        </p:nvPicPr>
        <p:blipFill rotWithShape="1">
          <a:blip r:embed="rId3">
            <a:alphaModFix/>
          </a:blip>
          <a:srcRect/>
          <a:stretch/>
        </p:blipFill>
        <p:spPr>
          <a:xfrm>
            <a:off x="7526156" y="2208390"/>
            <a:ext cx="3588415" cy="305576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10"/>
                                        </p:tgtEl>
                                        <p:attrNameLst>
                                          <p:attrName>style.visibility</p:attrName>
                                        </p:attrNameLst>
                                      </p:cBhvr>
                                      <p:to>
                                        <p:strVal val="visible"/>
                                      </p:to>
                                    </p:set>
                                    <p:animEffect transition="in" filter="fade">
                                      <p:cBhvr>
                                        <p:cTn id="7" dur="500"/>
                                        <p:tgtEl>
                                          <p:spTgt spid="3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16"/>
        <p:cNvGrpSpPr/>
        <p:nvPr/>
      </p:nvGrpSpPr>
      <p:grpSpPr>
        <a:xfrm>
          <a:off x="0" y="0"/>
          <a:ext cx="0" cy="0"/>
          <a:chOff x="0" y="0"/>
          <a:chExt cx="0" cy="0"/>
        </a:xfrm>
      </p:grpSpPr>
      <p:sp>
        <p:nvSpPr>
          <p:cNvPr id="317" name="Google Shape;317;p26"/>
          <p:cNvSpPr/>
          <p:nvPr/>
        </p:nvSpPr>
        <p:spPr>
          <a:xfrm>
            <a:off x="466165" y="1452281"/>
            <a:ext cx="11277600" cy="4141695"/>
          </a:xfrm>
          <a:prstGeom prst="roundRect">
            <a:avLst>
              <a:gd name="adj" fmla="val 2971"/>
            </a:avLst>
          </a:prstGeom>
          <a:gradFill>
            <a:gsLst>
              <a:gs pos="0">
                <a:srgbClr val="58751F"/>
              </a:gs>
              <a:gs pos="50000">
                <a:srgbClr val="81AB2C"/>
              </a:gs>
              <a:gs pos="100000">
                <a:srgbClr val="9BCC36"/>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18" name="Google Shape;318;p26"/>
          <p:cNvSpPr txBox="1"/>
          <p:nvPr/>
        </p:nvSpPr>
        <p:spPr>
          <a:xfrm>
            <a:off x="787213" y="816631"/>
            <a:ext cx="10782300" cy="569715"/>
          </a:xfrm>
          <a:prstGeom prst="rect">
            <a:avLst/>
          </a:prstGeom>
          <a:noFill/>
          <a:ln>
            <a:noFill/>
          </a:ln>
        </p:spPr>
        <p:txBody>
          <a:bodyPr spcFirstLastPara="1" wrap="square" lIns="91425" tIns="45700" rIns="91425" bIns="45700" anchor="ctr" anchorCtr="0">
            <a:noAutofit/>
          </a:bodyPr>
          <a:lstStyle/>
          <a:p>
            <a:pPr marL="0" marR="0" lvl="0" indent="0" algn="just" rtl="0">
              <a:lnSpc>
                <a:spcPct val="150000"/>
              </a:lnSpc>
              <a:spcBef>
                <a:spcPts val="0"/>
              </a:spcBef>
              <a:spcAft>
                <a:spcPts val="0"/>
              </a:spcAft>
              <a:buNone/>
            </a:pPr>
            <a:r>
              <a:rPr lang="es-ES" sz="3200">
                <a:solidFill>
                  <a:srgbClr val="7F7F7F"/>
                </a:solidFill>
                <a:latin typeface="Arial"/>
                <a:ea typeface="Arial"/>
                <a:cs typeface="Arial"/>
                <a:sym typeface="Arial"/>
              </a:rPr>
              <a:t>Muestreo Aleatorio Simple</a:t>
            </a:r>
            <a:endParaRPr sz="3200">
              <a:solidFill>
                <a:srgbClr val="7F7F7F"/>
              </a:solidFill>
              <a:latin typeface="Arial"/>
              <a:ea typeface="Arial"/>
              <a:cs typeface="Arial"/>
              <a:sym typeface="Arial"/>
            </a:endParaRPr>
          </a:p>
        </p:txBody>
      </p:sp>
      <p:sp>
        <p:nvSpPr>
          <p:cNvPr id="319" name="Google Shape;319;p26"/>
          <p:cNvSpPr txBox="1"/>
          <p:nvPr/>
        </p:nvSpPr>
        <p:spPr>
          <a:xfrm>
            <a:off x="787213" y="1612724"/>
            <a:ext cx="10635503" cy="3754874"/>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2000" b="1">
                <a:solidFill>
                  <a:schemeClr val="lt1"/>
                </a:solidFill>
                <a:latin typeface="Calibri"/>
                <a:ea typeface="Calibri"/>
                <a:cs typeface="Calibri"/>
                <a:sym typeface="Calibri"/>
              </a:rPr>
              <a:t>Ventajas </a:t>
            </a:r>
            <a:endParaRPr sz="2000" b="1">
              <a:solidFill>
                <a:schemeClr val="lt1"/>
              </a:solidFill>
              <a:latin typeface="Calibri"/>
              <a:ea typeface="Calibri"/>
              <a:cs typeface="Calibri"/>
              <a:sym typeface="Calibri"/>
            </a:endParaRPr>
          </a:p>
          <a:p>
            <a:pPr marL="0" marR="0" lvl="0" indent="0" algn="just" rtl="0">
              <a:spcBef>
                <a:spcPts val="0"/>
              </a:spcBef>
              <a:spcAft>
                <a:spcPts val="0"/>
              </a:spcAft>
              <a:buNone/>
            </a:pPr>
            <a:endParaRPr sz="2000" b="1">
              <a:solidFill>
                <a:schemeClr val="lt1"/>
              </a:solidFill>
              <a:latin typeface="Calibri"/>
              <a:ea typeface="Calibri"/>
              <a:cs typeface="Calibri"/>
              <a:sym typeface="Calibri"/>
            </a:endParaRPr>
          </a:p>
          <a:p>
            <a:pPr marL="285750" marR="0" lvl="0" indent="-285750" algn="just" rtl="0">
              <a:spcBef>
                <a:spcPts val="0"/>
              </a:spcBef>
              <a:spcAft>
                <a:spcPts val="0"/>
              </a:spcAft>
              <a:buClr>
                <a:schemeClr val="lt1"/>
              </a:buClr>
              <a:buSzPts val="2000"/>
              <a:buFont typeface="Arial"/>
              <a:buChar char="•"/>
            </a:pPr>
            <a:r>
              <a:rPr lang="es-ES" sz="2000">
                <a:solidFill>
                  <a:schemeClr val="lt1"/>
                </a:solidFill>
                <a:latin typeface="Calibri"/>
                <a:ea typeface="Calibri"/>
                <a:cs typeface="Calibri"/>
                <a:sym typeface="Calibri"/>
              </a:rPr>
              <a:t>La simpleza de su procedimiento y el bajo costo.</a:t>
            </a:r>
            <a:endParaRPr/>
          </a:p>
          <a:p>
            <a:pPr marL="285750" marR="0" lvl="0" indent="-285750" algn="just" rtl="0">
              <a:spcBef>
                <a:spcPts val="0"/>
              </a:spcBef>
              <a:spcAft>
                <a:spcPts val="0"/>
              </a:spcAft>
              <a:buClr>
                <a:schemeClr val="lt1"/>
              </a:buClr>
              <a:buSzPts val="2000"/>
              <a:buFont typeface="Arial"/>
              <a:buChar char="•"/>
            </a:pPr>
            <a:r>
              <a:rPr lang="es-ES" sz="2000">
                <a:solidFill>
                  <a:schemeClr val="lt1"/>
                </a:solidFill>
                <a:latin typeface="Calibri"/>
                <a:ea typeface="Calibri"/>
                <a:cs typeface="Calibri"/>
                <a:sym typeface="Calibri"/>
              </a:rPr>
              <a:t>No es necesario dividir la población en subgrupos ni tomar ningún otro paso adicional antes de seleccionar miembros de la población al azar.</a:t>
            </a:r>
            <a:endParaRPr/>
          </a:p>
          <a:p>
            <a:pPr marL="0" marR="0" lvl="0" indent="0" algn="just" rtl="0">
              <a:spcBef>
                <a:spcPts val="0"/>
              </a:spcBef>
              <a:spcAft>
                <a:spcPts val="0"/>
              </a:spcAft>
              <a:buNone/>
            </a:pPr>
            <a:endParaRPr sz="2000" b="1">
              <a:solidFill>
                <a:schemeClr val="lt1"/>
              </a:solidFill>
              <a:latin typeface="Calibri"/>
              <a:ea typeface="Calibri"/>
              <a:cs typeface="Calibri"/>
              <a:sym typeface="Calibri"/>
            </a:endParaRPr>
          </a:p>
          <a:p>
            <a:pPr marL="0" marR="0" lvl="0" indent="0" algn="just" rtl="0">
              <a:spcBef>
                <a:spcPts val="0"/>
              </a:spcBef>
              <a:spcAft>
                <a:spcPts val="0"/>
              </a:spcAft>
              <a:buNone/>
            </a:pPr>
            <a:r>
              <a:rPr lang="es-ES" sz="2000" b="1">
                <a:solidFill>
                  <a:schemeClr val="lt1"/>
                </a:solidFill>
                <a:latin typeface="Calibri"/>
                <a:ea typeface="Calibri"/>
                <a:cs typeface="Calibri"/>
                <a:sym typeface="Calibri"/>
              </a:rPr>
              <a:t>Desventajas</a:t>
            </a:r>
            <a:endParaRPr/>
          </a:p>
          <a:p>
            <a:pPr marL="0" marR="0" lvl="0" indent="0" algn="just" rtl="0">
              <a:spcBef>
                <a:spcPts val="0"/>
              </a:spcBef>
              <a:spcAft>
                <a:spcPts val="0"/>
              </a:spcAft>
              <a:buNone/>
            </a:pPr>
            <a:endParaRPr sz="2000" b="1">
              <a:solidFill>
                <a:schemeClr val="lt1"/>
              </a:solidFill>
              <a:latin typeface="Calibri"/>
              <a:ea typeface="Calibri"/>
              <a:cs typeface="Calibri"/>
              <a:sym typeface="Calibri"/>
            </a:endParaRPr>
          </a:p>
          <a:p>
            <a:pPr marL="285750" marR="0" lvl="0" indent="-285750" algn="just" rtl="0">
              <a:spcBef>
                <a:spcPts val="0"/>
              </a:spcBef>
              <a:spcAft>
                <a:spcPts val="0"/>
              </a:spcAft>
              <a:buClr>
                <a:schemeClr val="lt1"/>
              </a:buClr>
              <a:buSzPts val="2000"/>
              <a:buFont typeface="Arial"/>
              <a:buChar char="•"/>
            </a:pPr>
            <a:r>
              <a:rPr lang="es-ES" sz="2000">
                <a:solidFill>
                  <a:schemeClr val="lt1"/>
                </a:solidFill>
                <a:latin typeface="Calibri"/>
                <a:ea typeface="Calibri"/>
                <a:cs typeface="Calibri"/>
                <a:sym typeface="Calibri"/>
              </a:rPr>
              <a:t>No puede usarse cuando la población es demasiada grande, o potencialmente infinita.</a:t>
            </a:r>
            <a:endParaRPr/>
          </a:p>
          <a:p>
            <a:pPr marL="285750" marR="0" lvl="0" indent="-285750" algn="just" rtl="0">
              <a:spcBef>
                <a:spcPts val="0"/>
              </a:spcBef>
              <a:spcAft>
                <a:spcPts val="0"/>
              </a:spcAft>
              <a:buClr>
                <a:schemeClr val="lt1"/>
              </a:buClr>
              <a:buSzPts val="2000"/>
              <a:buFont typeface="Arial"/>
              <a:buChar char="•"/>
            </a:pPr>
            <a:r>
              <a:rPr lang="es-ES" sz="2000">
                <a:solidFill>
                  <a:schemeClr val="lt1"/>
                </a:solidFill>
                <a:latin typeface="Calibri"/>
                <a:ea typeface="Calibri"/>
                <a:cs typeface="Calibri"/>
                <a:sym typeface="Calibri"/>
              </a:rPr>
              <a:t>No es posible confeccionar el listado numerado de todas las unidades (es decir, el marco o estructura muestral).</a:t>
            </a:r>
            <a:endParaRPr/>
          </a:p>
          <a:p>
            <a:pPr marL="285750" marR="0" lvl="0" indent="-285750" algn="just" rtl="0">
              <a:spcBef>
                <a:spcPts val="0"/>
              </a:spcBef>
              <a:spcAft>
                <a:spcPts val="0"/>
              </a:spcAft>
              <a:buClr>
                <a:schemeClr val="lt1"/>
              </a:buClr>
              <a:buSzPts val="2000"/>
              <a:buFont typeface="Arial"/>
              <a:buChar char="•"/>
            </a:pPr>
            <a:r>
              <a:rPr lang="es-ES" sz="2000">
                <a:solidFill>
                  <a:schemeClr val="lt1"/>
                </a:solidFill>
                <a:latin typeface="Calibri"/>
                <a:ea typeface="Calibri"/>
                <a:cs typeface="Calibri"/>
                <a:sym typeface="Calibri"/>
              </a:rPr>
              <a:t>Además, dependiendo del tamaño de la población, puede tornarse un método muy lento.</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18"/>
                                        </p:tgtEl>
                                        <p:attrNameLst>
                                          <p:attrName>style.visibility</p:attrName>
                                        </p:attrNameLst>
                                      </p:cBhvr>
                                      <p:to>
                                        <p:strVal val="visible"/>
                                      </p:to>
                                    </p:set>
                                    <p:animEffect transition="in" filter="fade">
                                      <p:cBhvr>
                                        <p:cTn id="7" dur="500"/>
                                        <p:tgtEl>
                                          <p:spTgt spid="3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23"/>
        <p:cNvGrpSpPr/>
        <p:nvPr/>
      </p:nvGrpSpPr>
      <p:grpSpPr>
        <a:xfrm>
          <a:off x="0" y="0"/>
          <a:ext cx="0" cy="0"/>
          <a:chOff x="0" y="0"/>
          <a:chExt cx="0" cy="0"/>
        </a:xfrm>
      </p:grpSpPr>
      <p:sp>
        <p:nvSpPr>
          <p:cNvPr id="324" name="Google Shape;324;p27"/>
          <p:cNvSpPr/>
          <p:nvPr/>
        </p:nvSpPr>
        <p:spPr>
          <a:xfrm>
            <a:off x="704850" y="1317439"/>
            <a:ext cx="10782300" cy="4453046"/>
          </a:xfrm>
          <a:prstGeom prst="roundRect">
            <a:avLst>
              <a:gd name="adj" fmla="val 2971"/>
            </a:avLst>
          </a:prstGeom>
          <a:gradFill>
            <a:gsLst>
              <a:gs pos="0">
                <a:srgbClr val="58751F"/>
              </a:gs>
              <a:gs pos="50000">
                <a:srgbClr val="81AB2C"/>
              </a:gs>
              <a:gs pos="100000">
                <a:srgbClr val="9BCC36"/>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25" name="Google Shape;325;p27"/>
          <p:cNvSpPr txBox="1"/>
          <p:nvPr/>
        </p:nvSpPr>
        <p:spPr>
          <a:xfrm>
            <a:off x="1021645" y="1558803"/>
            <a:ext cx="10142744" cy="3970318"/>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chemeClr val="lt1"/>
                </a:solidFill>
                <a:latin typeface="Calibri"/>
                <a:ea typeface="Calibri"/>
                <a:cs typeface="Calibri"/>
                <a:sym typeface="Calibri"/>
              </a:rPr>
              <a:t>El </a:t>
            </a:r>
            <a:r>
              <a:rPr lang="es-ES" sz="1800" b="1">
                <a:solidFill>
                  <a:schemeClr val="lt1"/>
                </a:solidFill>
                <a:latin typeface="Calibri"/>
                <a:ea typeface="Calibri"/>
                <a:cs typeface="Calibri"/>
                <a:sym typeface="Calibri"/>
              </a:rPr>
              <a:t>muestreo sistemático </a:t>
            </a:r>
            <a:r>
              <a:rPr lang="es-ES" sz="1800">
                <a:solidFill>
                  <a:schemeClr val="lt1"/>
                </a:solidFill>
                <a:latin typeface="Calibri"/>
                <a:ea typeface="Calibri"/>
                <a:cs typeface="Calibri"/>
                <a:sym typeface="Calibri"/>
              </a:rPr>
              <a:t>es un método de </a:t>
            </a:r>
            <a:r>
              <a:rPr lang="es-ES" sz="1800" b="1">
                <a:solidFill>
                  <a:schemeClr val="lt1"/>
                </a:solidFill>
                <a:latin typeface="Calibri"/>
                <a:ea typeface="Calibri"/>
                <a:cs typeface="Calibri"/>
                <a:sym typeface="Calibri"/>
              </a:rPr>
              <a:t>muestreo probabilístico </a:t>
            </a:r>
            <a:r>
              <a:rPr lang="es-ES" sz="1800">
                <a:solidFill>
                  <a:schemeClr val="lt1"/>
                </a:solidFill>
                <a:latin typeface="Calibri"/>
                <a:ea typeface="Calibri"/>
                <a:cs typeface="Calibri"/>
                <a:sym typeface="Calibri"/>
              </a:rPr>
              <a:t>en el que los elementos de una población se ordenan de manera sistemática y se seleccionan periódicamente para formar una muestra representativa.</a:t>
            </a:r>
            <a:endParaRPr/>
          </a:p>
          <a:p>
            <a:pPr marL="0" marR="0" lvl="0" indent="0" algn="just" rtl="0">
              <a:spcBef>
                <a:spcPts val="0"/>
              </a:spcBef>
              <a:spcAft>
                <a:spcPts val="0"/>
              </a:spcAft>
              <a:buNone/>
            </a:pPr>
            <a:endParaRPr sz="1800">
              <a:solidFill>
                <a:schemeClr val="lt1"/>
              </a:solidFill>
              <a:latin typeface="Calibri"/>
              <a:ea typeface="Calibri"/>
              <a:cs typeface="Calibri"/>
              <a:sym typeface="Calibri"/>
            </a:endParaRPr>
          </a:p>
          <a:p>
            <a:pPr marL="0" marR="0" lvl="0" indent="0" algn="just" rtl="0">
              <a:spcBef>
                <a:spcPts val="0"/>
              </a:spcBef>
              <a:spcAft>
                <a:spcPts val="0"/>
              </a:spcAft>
              <a:buNone/>
            </a:pPr>
            <a:r>
              <a:rPr lang="es-ES" sz="1800">
                <a:solidFill>
                  <a:schemeClr val="lt1"/>
                </a:solidFill>
                <a:latin typeface="Calibri"/>
                <a:ea typeface="Calibri"/>
                <a:cs typeface="Calibri"/>
                <a:sym typeface="Calibri"/>
              </a:rPr>
              <a:t>En el muestreo sistemático, se selecciona el primer elemento de la muestra aleatoriamente, y luego se seleccionan los elementos restantes de manera sistemática, utilizando un intervalo de muestreo que se determina dividiendo el tamaño de la población por el tamaño de la muestra deseada. Por ejemplo, si se desea una muestra de 100 elementos de una población de 1000, se seleccionaría cada décimo elemento después del primer elemento.</a:t>
            </a:r>
            <a:endParaRPr/>
          </a:p>
          <a:p>
            <a:pPr marL="0" marR="0" lvl="0" indent="0" algn="just" rtl="0">
              <a:spcBef>
                <a:spcPts val="0"/>
              </a:spcBef>
              <a:spcAft>
                <a:spcPts val="0"/>
              </a:spcAft>
              <a:buNone/>
            </a:pPr>
            <a:endParaRPr sz="1800">
              <a:solidFill>
                <a:schemeClr val="lt1"/>
              </a:solidFill>
              <a:latin typeface="Calibri"/>
              <a:ea typeface="Calibri"/>
              <a:cs typeface="Calibri"/>
              <a:sym typeface="Calibri"/>
            </a:endParaRPr>
          </a:p>
          <a:p>
            <a:pPr marL="0" marR="0" lvl="0" indent="0" algn="just" rtl="0">
              <a:spcBef>
                <a:spcPts val="0"/>
              </a:spcBef>
              <a:spcAft>
                <a:spcPts val="0"/>
              </a:spcAft>
              <a:buNone/>
            </a:pPr>
            <a:r>
              <a:rPr lang="es-ES" sz="1800">
                <a:solidFill>
                  <a:schemeClr val="lt1"/>
                </a:solidFill>
                <a:latin typeface="Calibri"/>
                <a:ea typeface="Calibri"/>
                <a:cs typeface="Calibri"/>
                <a:sym typeface="Calibri"/>
              </a:rPr>
              <a:t>Este método es útil cuando la población es grande y está ordenada, ya que permite ahorrar tiempo y recursos al no tener que revisar cada elemento individualmente. Sin embargo, es importante tener en cuenta que el muestreo sistemático puede estar sujeto a sesgos si hay patrones sistemáticos en la población que no se tienen en cuenta al seleccionar los elementos de la muestra.</a:t>
            </a:r>
            <a:endParaRPr/>
          </a:p>
        </p:txBody>
      </p:sp>
      <p:sp>
        <p:nvSpPr>
          <p:cNvPr id="326" name="Google Shape;326;p27"/>
          <p:cNvSpPr txBox="1"/>
          <p:nvPr/>
        </p:nvSpPr>
        <p:spPr>
          <a:xfrm>
            <a:off x="1021645" y="580254"/>
            <a:ext cx="9837944" cy="495821"/>
          </a:xfrm>
          <a:prstGeom prst="rect">
            <a:avLst/>
          </a:prstGeom>
          <a:noFill/>
          <a:ln>
            <a:noFill/>
          </a:ln>
        </p:spPr>
        <p:txBody>
          <a:bodyPr spcFirstLastPara="1" wrap="square" lIns="91425" tIns="45700" rIns="91425" bIns="45700" anchor="ctr" anchorCtr="0">
            <a:noAutofit/>
          </a:bodyPr>
          <a:lstStyle/>
          <a:p>
            <a:pPr marL="0" marR="0" lvl="0" indent="0" algn="just" rtl="0">
              <a:lnSpc>
                <a:spcPct val="150000"/>
              </a:lnSpc>
              <a:spcBef>
                <a:spcPts val="0"/>
              </a:spcBef>
              <a:spcAft>
                <a:spcPts val="0"/>
              </a:spcAft>
              <a:buNone/>
            </a:pPr>
            <a:r>
              <a:rPr lang="es-ES" sz="3200">
                <a:solidFill>
                  <a:srgbClr val="7F7F7F"/>
                </a:solidFill>
                <a:latin typeface="Arial"/>
                <a:ea typeface="Arial"/>
                <a:cs typeface="Arial"/>
                <a:sym typeface="Arial"/>
              </a:rPr>
              <a:t>Muestreo Sistemático</a:t>
            </a:r>
            <a:endParaRPr sz="3200">
              <a:solidFill>
                <a:srgbClr val="7F7F7F"/>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26"/>
                                        </p:tgtEl>
                                        <p:attrNameLst>
                                          <p:attrName>style.visibility</p:attrName>
                                        </p:attrNameLst>
                                      </p:cBhvr>
                                      <p:to>
                                        <p:strVal val="visible"/>
                                      </p:to>
                                    </p:set>
                                    <p:animEffect transition="in" filter="fade">
                                      <p:cBhvr>
                                        <p:cTn id="7" dur="500"/>
                                        <p:tgtEl>
                                          <p:spTgt spid="3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30"/>
        <p:cNvGrpSpPr/>
        <p:nvPr/>
      </p:nvGrpSpPr>
      <p:grpSpPr>
        <a:xfrm>
          <a:off x="0" y="0"/>
          <a:ext cx="0" cy="0"/>
          <a:chOff x="0" y="0"/>
          <a:chExt cx="0" cy="0"/>
        </a:xfrm>
      </p:grpSpPr>
      <p:sp>
        <p:nvSpPr>
          <p:cNvPr id="331" name="Google Shape;331;p28"/>
          <p:cNvSpPr/>
          <p:nvPr/>
        </p:nvSpPr>
        <p:spPr>
          <a:xfrm>
            <a:off x="704850" y="1140615"/>
            <a:ext cx="10782300" cy="4576767"/>
          </a:xfrm>
          <a:prstGeom prst="roundRect">
            <a:avLst>
              <a:gd name="adj" fmla="val 2971"/>
            </a:avLst>
          </a:prstGeom>
          <a:gradFill>
            <a:gsLst>
              <a:gs pos="0">
                <a:srgbClr val="58751F"/>
              </a:gs>
              <a:gs pos="50000">
                <a:srgbClr val="81AB2C"/>
              </a:gs>
              <a:gs pos="100000">
                <a:srgbClr val="9BCC36"/>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32" name="Google Shape;332;p28"/>
          <p:cNvSpPr txBox="1"/>
          <p:nvPr/>
        </p:nvSpPr>
        <p:spPr>
          <a:xfrm>
            <a:off x="1021645" y="1326836"/>
            <a:ext cx="10148711" cy="4247317"/>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b="1">
                <a:solidFill>
                  <a:schemeClr val="lt1"/>
                </a:solidFill>
                <a:latin typeface="Calibri"/>
                <a:ea typeface="Calibri"/>
                <a:cs typeface="Calibri"/>
                <a:sym typeface="Calibri"/>
              </a:rPr>
              <a:t>Ventajas</a:t>
            </a:r>
            <a:endParaRPr/>
          </a:p>
          <a:p>
            <a:pPr marL="285750" marR="0" lvl="0" indent="-285750" algn="just" rtl="0">
              <a:spcBef>
                <a:spcPts val="0"/>
              </a:spcBef>
              <a:spcAft>
                <a:spcPts val="0"/>
              </a:spcAft>
              <a:buClr>
                <a:schemeClr val="lt1"/>
              </a:buClr>
              <a:buSzPts val="1800"/>
              <a:buFont typeface="Arial"/>
              <a:buChar char="•"/>
            </a:pPr>
            <a:r>
              <a:rPr lang="es-ES" sz="1800">
                <a:solidFill>
                  <a:schemeClr val="lt1"/>
                </a:solidFill>
                <a:latin typeface="Calibri"/>
                <a:ea typeface="Calibri"/>
                <a:cs typeface="Calibri"/>
                <a:sym typeface="Calibri"/>
              </a:rPr>
              <a:t>Es un método relativamente sencillo y rápido de implementar.</a:t>
            </a:r>
            <a:endParaRPr/>
          </a:p>
          <a:p>
            <a:pPr marL="285750" marR="0" lvl="0" indent="-285750" algn="just" rtl="0">
              <a:spcBef>
                <a:spcPts val="0"/>
              </a:spcBef>
              <a:spcAft>
                <a:spcPts val="0"/>
              </a:spcAft>
              <a:buClr>
                <a:schemeClr val="lt1"/>
              </a:buClr>
              <a:buSzPts val="1800"/>
              <a:buFont typeface="Arial"/>
              <a:buChar char="•"/>
            </a:pPr>
            <a:r>
              <a:rPr lang="es-ES" sz="1800">
                <a:solidFill>
                  <a:schemeClr val="lt1"/>
                </a:solidFill>
                <a:latin typeface="Calibri"/>
                <a:ea typeface="Calibri"/>
                <a:cs typeface="Calibri"/>
                <a:sym typeface="Calibri"/>
              </a:rPr>
              <a:t>Puede reducir la variabilidad en la muestra y, por lo tanto, mejorar la precisión de las estimaciones.</a:t>
            </a:r>
            <a:endParaRPr/>
          </a:p>
          <a:p>
            <a:pPr marL="285750" marR="0" lvl="0" indent="-285750" algn="just" rtl="0">
              <a:spcBef>
                <a:spcPts val="0"/>
              </a:spcBef>
              <a:spcAft>
                <a:spcPts val="0"/>
              </a:spcAft>
              <a:buClr>
                <a:schemeClr val="lt1"/>
              </a:buClr>
              <a:buSzPts val="1800"/>
              <a:buFont typeface="Arial"/>
              <a:buChar char="•"/>
            </a:pPr>
            <a:r>
              <a:rPr lang="es-ES" sz="1800">
                <a:solidFill>
                  <a:schemeClr val="lt1"/>
                </a:solidFill>
                <a:latin typeface="Calibri"/>
                <a:ea typeface="Calibri"/>
                <a:cs typeface="Calibri"/>
                <a:sym typeface="Calibri"/>
              </a:rPr>
              <a:t>Es menos costoso que otros métodos de muestreo probabilístico, como el muestreo aleatorio simple.</a:t>
            </a:r>
            <a:endParaRPr/>
          </a:p>
          <a:p>
            <a:pPr marL="0" marR="0" lvl="0" indent="0" algn="just" rtl="0">
              <a:spcBef>
                <a:spcPts val="0"/>
              </a:spcBef>
              <a:spcAft>
                <a:spcPts val="0"/>
              </a:spcAft>
              <a:buNone/>
            </a:pPr>
            <a:endParaRPr sz="1800">
              <a:solidFill>
                <a:schemeClr val="lt1"/>
              </a:solidFill>
              <a:latin typeface="Calibri"/>
              <a:ea typeface="Calibri"/>
              <a:cs typeface="Calibri"/>
              <a:sym typeface="Calibri"/>
            </a:endParaRPr>
          </a:p>
          <a:p>
            <a:pPr marL="0" marR="0" lvl="0" indent="0" algn="just" rtl="0">
              <a:spcBef>
                <a:spcPts val="0"/>
              </a:spcBef>
              <a:spcAft>
                <a:spcPts val="0"/>
              </a:spcAft>
              <a:buNone/>
            </a:pPr>
            <a:r>
              <a:rPr lang="es-ES" sz="1800" b="1">
                <a:solidFill>
                  <a:schemeClr val="lt1"/>
                </a:solidFill>
                <a:latin typeface="Calibri"/>
                <a:ea typeface="Calibri"/>
                <a:cs typeface="Calibri"/>
                <a:sym typeface="Calibri"/>
              </a:rPr>
              <a:t>Desventajas</a:t>
            </a:r>
            <a:endParaRPr/>
          </a:p>
          <a:p>
            <a:pPr marL="285750" marR="0" lvl="0" indent="-285750" algn="just" rtl="0">
              <a:spcBef>
                <a:spcPts val="0"/>
              </a:spcBef>
              <a:spcAft>
                <a:spcPts val="0"/>
              </a:spcAft>
              <a:buClr>
                <a:schemeClr val="lt1"/>
              </a:buClr>
              <a:buSzPts val="1800"/>
              <a:buFont typeface="Arial"/>
              <a:buChar char="•"/>
            </a:pPr>
            <a:r>
              <a:rPr lang="es-ES" sz="1800">
                <a:solidFill>
                  <a:schemeClr val="lt1"/>
                </a:solidFill>
                <a:latin typeface="Calibri"/>
                <a:ea typeface="Calibri"/>
                <a:cs typeface="Calibri"/>
                <a:sym typeface="Calibri"/>
              </a:rPr>
              <a:t>Si hay patrones sistemáticos en la población, como ciclos o estacionalidad, el muestreo sistemático puede introducir sesgos en la muestra.</a:t>
            </a:r>
            <a:endParaRPr/>
          </a:p>
          <a:p>
            <a:pPr marL="285750" marR="0" lvl="0" indent="-285750" algn="just" rtl="0">
              <a:spcBef>
                <a:spcPts val="0"/>
              </a:spcBef>
              <a:spcAft>
                <a:spcPts val="0"/>
              </a:spcAft>
              <a:buClr>
                <a:schemeClr val="lt1"/>
              </a:buClr>
              <a:buSzPts val="1800"/>
              <a:buFont typeface="Arial"/>
              <a:buChar char="•"/>
            </a:pPr>
            <a:r>
              <a:rPr lang="es-ES" sz="1800">
                <a:solidFill>
                  <a:schemeClr val="lt1"/>
                </a:solidFill>
                <a:latin typeface="Calibri"/>
                <a:ea typeface="Calibri"/>
                <a:cs typeface="Calibri"/>
                <a:sym typeface="Calibri"/>
              </a:rPr>
              <a:t>Si la población no está ordenada, el muestreo sistemático puede ser difícil de aplicar.</a:t>
            </a:r>
            <a:endParaRPr/>
          </a:p>
          <a:p>
            <a:pPr marL="285750" marR="0" lvl="0" indent="-285750" algn="just" rtl="0">
              <a:spcBef>
                <a:spcPts val="0"/>
              </a:spcBef>
              <a:spcAft>
                <a:spcPts val="0"/>
              </a:spcAft>
              <a:buClr>
                <a:schemeClr val="lt1"/>
              </a:buClr>
              <a:buSzPts val="1800"/>
              <a:buFont typeface="Arial"/>
              <a:buChar char="•"/>
            </a:pPr>
            <a:r>
              <a:rPr lang="es-ES" sz="1800">
                <a:solidFill>
                  <a:schemeClr val="lt1"/>
                </a:solidFill>
                <a:latin typeface="Calibri"/>
                <a:ea typeface="Calibri"/>
                <a:cs typeface="Calibri"/>
                <a:sym typeface="Calibri"/>
              </a:rPr>
              <a:t>La elección del punto de partida puede tener un impacto significativo en los resultados del muestreo sistemático, y puede ser difícil determinar cuál es el mejor punto de partida.</a:t>
            </a:r>
            <a:endParaRPr/>
          </a:p>
          <a:p>
            <a:pPr marL="0" marR="0" lvl="0" indent="0" algn="just" rtl="0">
              <a:spcBef>
                <a:spcPts val="0"/>
              </a:spcBef>
              <a:spcAft>
                <a:spcPts val="0"/>
              </a:spcAft>
              <a:buNone/>
            </a:pPr>
            <a:endParaRPr sz="1800" b="1">
              <a:solidFill>
                <a:schemeClr val="lt1"/>
              </a:solidFill>
              <a:latin typeface="Calibri"/>
              <a:ea typeface="Calibri"/>
              <a:cs typeface="Calibri"/>
              <a:sym typeface="Calibri"/>
            </a:endParaRPr>
          </a:p>
          <a:p>
            <a:pPr marL="0" marR="0" lvl="0" indent="0" algn="just" rtl="0">
              <a:spcBef>
                <a:spcPts val="0"/>
              </a:spcBef>
              <a:spcAft>
                <a:spcPts val="0"/>
              </a:spcAft>
              <a:buNone/>
            </a:pPr>
            <a:r>
              <a:rPr lang="es-ES" sz="1800" b="1">
                <a:solidFill>
                  <a:schemeClr val="lt1"/>
                </a:solidFill>
                <a:latin typeface="Calibri"/>
                <a:ea typeface="Calibri"/>
                <a:cs typeface="Calibri"/>
                <a:sym typeface="Calibri"/>
              </a:rPr>
              <a:t>Caso de uso</a:t>
            </a:r>
            <a:endParaRPr/>
          </a:p>
          <a:p>
            <a:pPr marL="285750" marR="0" lvl="0" indent="-285750" algn="just" rtl="0">
              <a:spcBef>
                <a:spcPts val="0"/>
              </a:spcBef>
              <a:spcAft>
                <a:spcPts val="0"/>
              </a:spcAft>
              <a:buClr>
                <a:schemeClr val="lt1"/>
              </a:buClr>
              <a:buSzPts val="1800"/>
              <a:buFont typeface="Arial"/>
              <a:buChar char="•"/>
            </a:pPr>
            <a:r>
              <a:rPr lang="es-ES" sz="1800">
                <a:solidFill>
                  <a:schemeClr val="lt1"/>
                </a:solidFill>
                <a:latin typeface="Calibri"/>
                <a:ea typeface="Calibri"/>
                <a:cs typeface="Calibri"/>
                <a:sym typeface="Calibri"/>
              </a:rPr>
              <a:t>Se usa cuando los datos relevantes no exhiben patrones.</a:t>
            </a:r>
            <a:endParaRPr/>
          </a:p>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33" name="Google Shape;333;p28"/>
          <p:cNvSpPr txBox="1"/>
          <p:nvPr/>
        </p:nvSpPr>
        <p:spPr>
          <a:xfrm>
            <a:off x="1088571" y="154688"/>
            <a:ext cx="10081786" cy="1008062"/>
          </a:xfrm>
          <a:prstGeom prst="rect">
            <a:avLst/>
          </a:prstGeom>
          <a:noFill/>
          <a:ln>
            <a:noFill/>
          </a:ln>
        </p:spPr>
        <p:txBody>
          <a:bodyPr spcFirstLastPara="1" wrap="square" lIns="91425" tIns="45700" rIns="91425" bIns="45700" anchor="ctr" anchorCtr="0">
            <a:noAutofit/>
          </a:bodyPr>
          <a:lstStyle/>
          <a:p>
            <a:pPr marL="0" marR="0" lvl="0" indent="0" algn="just" rtl="0">
              <a:lnSpc>
                <a:spcPct val="150000"/>
              </a:lnSpc>
              <a:spcBef>
                <a:spcPts val="0"/>
              </a:spcBef>
              <a:spcAft>
                <a:spcPts val="0"/>
              </a:spcAft>
              <a:buNone/>
            </a:pPr>
            <a:r>
              <a:rPr lang="es-ES" sz="3200">
                <a:solidFill>
                  <a:srgbClr val="7F7F7F"/>
                </a:solidFill>
                <a:latin typeface="Arial"/>
                <a:ea typeface="Arial"/>
                <a:cs typeface="Arial"/>
                <a:sym typeface="Arial"/>
              </a:rPr>
              <a:t>Muestreo Sistemático</a:t>
            </a:r>
            <a:endParaRPr sz="3200">
              <a:solidFill>
                <a:srgbClr val="7F7F7F"/>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33"/>
                                        </p:tgtEl>
                                        <p:attrNameLst>
                                          <p:attrName>style.visibility</p:attrName>
                                        </p:attrNameLst>
                                      </p:cBhvr>
                                      <p:to>
                                        <p:strVal val="visible"/>
                                      </p:to>
                                    </p:set>
                                    <p:animEffect transition="in" filter="fade">
                                      <p:cBhvr>
                                        <p:cTn id="7" dur="500"/>
                                        <p:tgtEl>
                                          <p:spTgt spid="3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37"/>
        <p:cNvGrpSpPr/>
        <p:nvPr/>
      </p:nvGrpSpPr>
      <p:grpSpPr>
        <a:xfrm>
          <a:off x="0" y="0"/>
          <a:ext cx="0" cy="0"/>
          <a:chOff x="0" y="0"/>
          <a:chExt cx="0" cy="0"/>
        </a:xfrm>
      </p:grpSpPr>
      <p:sp>
        <p:nvSpPr>
          <p:cNvPr id="338" name="Google Shape;338;p29"/>
          <p:cNvSpPr/>
          <p:nvPr/>
        </p:nvSpPr>
        <p:spPr>
          <a:xfrm>
            <a:off x="7315200" y="1993437"/>
            <a:ext cx="3934106" cy="3418218"/>
          </a:xfrm>
          <a:prstGeom prst="roundRect">
            <a:avLst>
              <a:gd name="adj" fmla="val 2971"/>
            </a:avLst>
          </a:prstGeom>
          <a:solidFill>
            <a:schemeClr val="lt1"/>
          </a:solidFill>
          <a:ln w="38100" cap="flat" cmpd="sng">
            <a:solidFill>
              <a:srgbClr val="98C3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339" name="Google Shape;339;p29"/>
          <p:cNvSpPr/>
          <p:nvPr/>
        </p:nvSpPr>
        <p:spPr>
          <a:xfrm>
            <a:off x="-278604" y="1358536"/>
            <a:ext cx="7181507" cy="4615543"/>
          </a:xfrm>
          <a:prstGeom prst="roundRect">
            <a:avLst>
              <a:gd name="adj" fmla="val 2971"/>
            </a:avLst>
          </a:prstGeom>
          <a:gradFill>
            <a:gsLst>
              <a:gs pos="0">
                <a:srgbClr val="58751F"/>
              </a:gs>
              <a:gs pos="50000">
                <a:srgbClr val="81AB2C"/>
              </a:gs>
              <a:gs pos="100000">
                <a:srgbClr val="9BCC36"/>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40" name="Google Shape;340;p29"/>
          <p:cNvSpPr txBox="1"/>
          <p:nvPr/>
        </p:nvSpPr>
        <p:spPr>
          <a:xfrm>
            <a:off x="661307" y="422952"/>
            <a:ext cx="10782300" cy="1008062"/>
          </a:xfrm>
          <a:prstGeom prst="rect">
            <a:avLst/>
          </a:prstGeom>
          <a:noFill/>
          <a:ln>
            <a:noFill/>
          </a:ln>
        </p:spPr>
        <p:txBody>
          <a:bodyPr spcFirstLastPara="1" wrap="square" lIns="91425" tIns="45700" rIns="91425" bIns="45700" anchor="ctr" anchorCtr="0">
            <a:noAutofit/>
          </a:bodyPr>
          <a:lstStyle/>
          <a:p>
            <a:pPr marL="0" marR="0" lvl="0" indent="0" algn="just" rtl="0">
              <a:lnSpc>
                <a:spcPct val="150000"/>
              </a:lnSpc>
              <a:spcBef>
                <a:spcPts val="0"/>
              </a:spcBef>
              <a:spcAft>
                <a:spcPts val="0"/>
              </a:spcAft>
              <a:buNone/>
            </a:pPr>
            <a:r>
              <a:rPr lang="es-ES" sz="3200">
                <a:solidFill>
                  <a:srgbClr val="7F7F7F"/>
                </a:solidFill>
                <a:latin typeface="Arial"/>
                <a:ea typeface="Arial"/>
                <a:cs typeface="Arial"/>
                <a:sym typeface="Arial"/>
              </a:rPr>
              <a:t>Muestreo Estratificado</a:t>
            </a:r>
            <a:endParaRPr sz="3200">
              <a:solidFill>
                <a:srgbClr val="7F7F7F"/>
              </a:solidFill>
              <a:latin typeface="Arial"/>
              <a:ea typeface="Arial"/>
              <a:cs typeface="Arial"/>
              <a:sym typeface="Arial"/>
            </a:endParaRPr>
          </a:p>
        </p:txBody>
      </p:sp>
      <p:sp>
        <p:nvSpPr>
          <p:cNvPr id="341" name="Google Shape;341;p29"/>
          <p:cNvSpPr txBox="1"/>
          <p:nvPr/>
        </p:nvSpPr>
        <p:spPr>
          <a:xfrm>
            <a:off x="661307" y="1515912"/>
            <a:ext cx="5829300" cy="4278094"/>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600">
                <a:solidFill>
                  <a:schemeClr val="lt1"/>
                </a:solidFill>
                <a:latin typeface="Calibri"/>
                <a:ea typeface="Calibri"/>
                <a:cs typeface="Calibri"/>
                <a:sym typeface="Calibri"/>
              </a:rPr>
              <a:t>El muestreo estratificado es un </a:t>
            </a:r>
            <a:r>
              <a:rPr lang="es-ES" sz="1600" b="1">
                <a:solidFill>
                  <a:schemeClr val="lt1"/>
                </a:solidFill>
                <a:latin typeface="Calibri"/>
                <a:ea typeface="Calibri"/>
                <a:cs typeface="Calibri"/>
                <a:sym typeface="Calibri"/>
              </a:rPr>
              <a:t>método de muestreo probabilístico</a:t>
            </a:r>
            <a:r>
              <a:rPr lang="es-ES" sz="1600">
                <a:solidFill>
                  <a:schemeClr val="lt1"/>
                </a:solidFill>
                <a:latin typeface="Calibri"/>
                <a:ea typeface="Calibri"/>
                <a:cs typeface="Calibri"/>
                <a:sym typeface="Calibri"/>
              </a:rPr>
              <a:t> que implica la </a:t>
            </a:r>
            <a:r>
              <a:rPr lang="es-ES" sz="1600" b="1">
                <a:solidFill>
                  <a:schemeClr val="lt1"/>
                </a:solidFill>
                <a:latin typeface="Calibri"/>
                <a:ea typeface="Calibri"/>
                <a:cs typeface="Calibri"/>
                <a:sym typeface="Calibri"/>
              </a:rPr>
              <a:t>división de la población en subgrupos mutuamente exclusivos y homogéneos </a:t>
            </a:r>
            <a:r>
              <a:rPr lang="es-ES" sz="1600">
                <a:solidFill>
                  <a:schemeClr val="lt1"/>
                </a:solidFill>
                <a:latin typeface="Calibri"/>
                <a:ea typeface="Calibri"/>
                <a:cs typeface="Calibri"/>
                <a:sym typeface="Calibri"/>
              </a:rPr>
              <a:t>llamados estratos. A continuación, se selecciona una muestra aleatoria de cada estrato de acuerdo con un plan de muestreo específico.</a:t>
            </a:r>
            <a:endParaRPr/>
          </a:p>
          <a:p>
            <a:pPr marL="0" marR="0" lvl="0" indent="0" algn="just" rtl="0">
              <a:spcBef>
                <a:spcPts val="0"/>
              </a:spcBef>
              <a:spcAft>
                <a:spcPts val="0"/>
              </a:spcAft>
              <a:buNone/>
            </a:pPr>
            <a:endParaRPr sz="1600">
              <a:solidFill>
                <a:schemeClr val="lt1"/>
              </a:solidFill>
              <a:latin typeface="Calibri"/>
              <a:ea typeface="Calibri"/>
              <a:cs typeface="Calibri"/>
              <a:sym typeface="Calibri"/>
            </a:endParaRPr>
          </a:p>
          <a:p>
            <a:pPr marL="0" marR="0" lvl="0" indent="0" algn="just" rtl="0">
              <a:spcBef>
                <a:spcPts val="0"/>
              </a:spcBef>
              <a:spcAft>
                <a:spcPts val="0"/>
              </a:spcAft>
              <a:buNone/>
            </a:pPr>
            <a:r>
              <a:rPr lang="es-ES" sz="1600">
                <a:solidFill>
                  <a:schemeClr val="lt1"/>
                </a:solidFill>
                <a:latin typeface="Calibri"/>
                <a:ea typeface="Calibri"/>
                <a:cs typeface="Calibri"/>
                <a:sym typeface="Calibri"/>
              </a:rPr>
              <a:t>En el muestreo estratificado, </a:t>
            </a:r>
            <a:r>
              <a:rPr lang="es-ES" sz="1600" b="1">
                <a:solidFill>
                  <a:schemeClr val="lt1"/>
                </a:solidFill>
                <a:latin typeface="Calibri"/>
                <a:ea typeface="Calibri"/>
                <a:cs typeface="Calibri"/>
                <a:sym typeface="Calibri"/>
              </a:rPr>
              <a:t>la población se divide en estratos en función de características importantes que se cree que afectan la variable de interés</a:t>
            </a:r>
            <a:r>
              <a:rPr lang="es-ES" sz="1600">
                <a:solidFill>
                  <a:schemeClr val="lt1"/>
                </a:solidFill>
                <a:latin typeface="Calibri"/>
                <a:ea typeface="Calibri"/>
                <a:cs typeface="Calibri"/>
                <a:sym typeface="Calibri"/>
              </a:rPr>
              <a:t>. Por ejemplo, si se está llevando a cabo una encuesta sobre la satisfacción del cliente de una empresa, los estratos podrían ser los diferentes productos o servicios ofrecidos por la empresa.</a:t>
            </a:r>
            <a:endParaRPr/>
          </a:p>
          <a:p>
            <a:pPr marL="0" marR="0" lvl="0" indent="0" algn="just" rtl="0">
              <a:spcBef>
                <a:spcPts val="0"/>
              </a:spcBef>
              <a:spcAft>
                <a:spcPts val="0"/>
              </a:spcAft>
              <a:buNone/>
            </a:pPr>
            <a:endParaRPr sz="1600">
              <a:solidFill>
                <a:schemeClr val="lt1"/>
              </a:solidFill>
              <a:latin typeface="Calibri"/>
              <a:ea typeface="Calibri"/>
              <a:cs typeface="Calibri"/>
              <a:sym typeface="Calibri"/>
            </a:endParaRPr>
          </a:p>
          <a:p>
            <a:pPr marL="0" marR="0" lvl="0" indent="0" algn="just" rtl="0">
              <a:spcBef>
                <a:spcPts val="0"/>
              </a:spcBef>
              <a:spcAft>
                <a:spcPts val="0"/>
              </a:spcAft>
              <a:buNone/>
            </a:pPr>
            <a:r>
              <a:rPr lang="es-ES" sz="1600">
                <a:solidFill>
                  <a:schemeClr val="lt1"/>
                </a:solidFill>
                <a:latin typeface="Calibri"/>
                <a:ea typeface="Calibri"/>
                <a:cs typeface="Calibri"/>
                <a:sym typeface="Calibri"/>
              </a:rPr>
              <a:t>Una vez que se han identificado los estratos</a:t>
            </a:r>
            <a:r>
              <a:rPr lang="es-ES" sz="1600" b="1">
                <a:solidFill>
                  <a:schemeClr val="lt1"/>
                </a:solidFill>
                <a:latin typeface="Calibri"/>
                <a:ea typeface="Calibri"/>
                <a:cs typeface="Calibri"/>
                <a:sym typeface="Calibri"/>
              </a:rPr>
              <a:t>, se selecciona una muestra aleatoria de cada estrato</a:t>
            </a:r>
            <a:r>
              <a:rPr lang="es-ES" sz="1600">
                <a:solidFill>
                  <a:schemeClr val="lt1"/>
                </a:solidFill>
                <a:latin typeface="Calibri"/>
                <a:ea typeface="Calibri"/>
                <a:cs typeface="Calibri"/>
                <a:sym typeface="Calibri"/>
              </a:rPr>
              <a:t>. Esto asegura que cada subgrupo de la población esté representado en la muestra, lo que aumenta la precisión de las estimaciones y reduce la variabilidad.</a:t>
            </a:r>
            <a:endParaRPr/>
          </a:p>
        </p:txBody>
      </p:sp>
      <p:pic>
        <p:nvPicPr>
          <p:cNvPr id="342" name="Google Shape;342;p29"/>
          <p:cNvPicPr preferRelativeResize="0"/>
          <p:nvPr/>
        </p:nvPicPr>
        <p:blipFill rotWithShape="1">
          <a:blip r:embed="rId3">
            <a:alphaModFix/>
          </a:blip>
          <a:srcRect/>
          <a:stretch/>
        </p:blipFill>
        <p:spPr>
          <a:xfrm>
            <a:off x="7616391" y="2231785"/>
            <a:ext cx="3331723" cy="2941521"/>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40"/>
                                        </p:tgtEl>
                                        <p:attrNameLst>
                                          <p:attrName>style.visibility</p:attrName>
                                        </p:attrNameLst>
                                      </p:cBhvr>
                                      <p:to>
                                        <p:strVal val="visible"/>
                                      </p:to>
                                    </p:set>
                                    <p:animEffect transition="in" filter="fade">
                                      <p:cBhvr>
                                        <p:cTn id="7" dur="500"/>
                                        <p:tgtEl>
                                          <p:spTgt spid="3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46"/>
        <p:cNvGrpSpPr/>
        <p:nvPr/>
      </p:nvGrpSpPr>
      <p:grpSpPr>
        <a:xfrm>
          <a:off x="0" y="0"/>
          <a:ext cx="0" cy="0"/>
          <a:chOff x="0" y="0"/>
          <a:chExt cx="0" cy="0"/>
        </a:xfrm>
      </p:grpSpPr>
      <p:sp>
        <p:nvSpPr>
          <p:cNvPr id="347" name="Google Shape;347;p30"/>
          <p:cNvSpPr/>
          <p:nvPr/>
        </p:nvSpPr>
        <p:spPr>
          <a:xfrm>
            <a:off x="7602039" y="293885"/>
            <a:ext cx="3934106" cy="5085806"/>
          </a:xfrm>
          <a:prstGeom prst="roundRect">
            <a:avLst>
              <a:gd name="adj" fmla="val 2971"/>
            </a:avLst>
          </a:prstGeom>
          <a:solidFill>
            <a:schemeClr val="lt1"/>
          </a:solidFill>
          <a:ln w="38100" cap="flat" cmpd="sng">
            <a:solidFill>
              <a:srgbClr val="98C3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348" name="Google Shape;348;p30"/>
          <p:cNvSpPr/>
          <p:nvPr/>
        </p:nvSpPr>
        <p:spPr>
          <a:xfrm>
            <a:off x="-583474" y="2289467"/>
            <a:ext cx="7437120" cy="3580082"/>
          </a:xfrm>
          <a:prstGeom prst="roundRect">
            <a:avLst>
              <a:gd name="adj" fmla="val 2971"/>
            </a:avLst>
          </a:prstGeom>
          <a:gradFill>
            <a:gsLst>
              <a:gs pos="0">
                <a:srgbClr val="58751F"/>
              </a:gs>
              <a:gs pos="50000">
                <a:srgbClr val="81AB2C"/>
              </a:gs>
              <a:gs pos="100000">
                <a:srgbClr val="9BCC36"/>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49" name="Google Shape;349;p30"/>
          <p:cNvSpPr txBox="1"/>
          <p:nvPr/>
        </p:nvSpPr>
        <p:spPr>
          <a:xfrm>
            <a:off x="574222" y="919814"/>
            <a:ext cx="6279424" cy="658459"/>
          </a:xfrm>
          <a:prstGeom prst="rect">
            <a:avLst/>
          </a:prstGeom>
          <a:noFill/>
          <a:ln>
            <a:noFill/>
          </a:ln>
        </p:spPr>
        <p:txBody>
          <a:bodyPr spcFirstLastPara="1" wrap="square" lIns="91425" tIns="45700" rIns="91425" bIns="45700" anchor="ctr" anchorCtr="0">
            <a:noAutofit/>
          </a:bodyPr>
          <a:lstStyle/>
          <a:p>
            <a:pPr marL="0" marR="0" lvl="0" indent="0" algn="just" rtl="0">
              <a:lnSpc>
                <a:spcPct val="150000"/>
              </a:lnSpc>
              <a:spcBef>
                <a:spcPts val="0"/>
              </a:spcBef>
              <a:spcAft>
                <a:spcPts val="0"/>
              </a:spcAft>
              <a:buNone/>
            </a:pPr>
            <a:r>
              <a:rPr lang="es-ES" sz="3200">
                <a:solidFill>
                  <a:srgbClr val="7F7F7F"/>
                </a:solidFill>
                <a:latin typeface="Arial"/>
                <a:ea typeface="Arial"/>
                <a:cs typeface="Arial"/>
                <a:sym typeface="Arial"/>
              </a:rPr>
              <a:t>Muestreo Estratificado - Ejemplo</a:t>
            </a:r>
            <a:endParaRPr sz="3200">
              <a:solidFill>
                <a:srgbClr val="7F7F7F"/>
              </a:solidFill>
              <a:latin typeface="Arial"/>
              <a:ea typeface="Arial"/>
              <a:cs typeface="Arial"/>
              <a:sym typeface="Arial"/>
            </a:endParaRPr>
          </a:p>
        </p:txBody>
      </p:sp>
      <p:sp>
        <p:nvSpPr>
          <p:cNvPr id="350" name="Google Shape;350;p30"/>
          <p:cNvSpPr txBox="1"/>
          <p:nvPr/>
        </p:nvSpPr>
        <p:spPr>
          <a:xfrm>
            <a:off x="574222" y="2595381"/>
            <a:ext cx="5829300" cy="3139321"/>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chemeClr val="lt1"/>
                </a:solidFill>
                <a:latin typeface="Calibri"/>
                <a:ea typeface="Calibri"/>
                <a:cs typeface="Calibri"/>
                <a:sym typeface="Calibri"/>
              </a:rPr>
              <a:t>Por ejemplo, un investigador está analizando la relación entre las variables hábitos de estudio  y nivel de aprendizaje logrado. Si el investigador sospecha que la variable hábitos de estudio se comporta de manera diferente respecto de la variable nivel socioeconómico, porque supone, acertadamente o no, que los alumnos de bajo nivel socioeconómico tienen menos hábitos de estudio que los alumnos de elevado nivel socioeconómico , podría formar tres estratos o subgrupos en la población total: alumnos de bajo nivel socioeconómico, alumnos de nivel medio, y alumnos de alto nivel</a:t>
            </a:r>
            <a:endParaRPr/>
          </a:p>
        </p:txBody>
      </p:sp>
      <p:grpSp>
        <p:nvGrpSpPr>
          <p:cNvPr id="351" name="Google Shape;351;p30"/>
          <p:cNvGrpSpPr/>
          <p:nvPr/>
        </p:nvGrpSpPr>
        <p:grpSpPr>
          <a:xfrm>
            <a:off x="7762279" y="548129"/>
            <a:ext cx="3613626" cy="4577317"/>
            <a:chOff x="7194142" y="515243"/>
            <a:chExt cx="4055164" cy="4995734"/>
          </a:xfrm>
        </p:grpSpPr>
        <p:pic>
          <p:nvPicPr>
            <p:cNvPr id="352" name="Google Shape;352;p30"/>
            <p:cNvPicPr preferRelativeResize="0"/>
            <p:nvPr/>
          </p:nvPicPr>
          <p:blipFill rotWithShape="1">
            <a:blip r:embed="rId3">
              <a:alphaModFix/>
            </a:blip>
            <a:srcRect l="-1" r="589" b="6953"/>
            <a:stretch/>
          </p:blipFill>
          <p:spPr>
            <a:xfrm>
              <a:off x="7194142" y="515243"/>
              <a:ext cx="4031208" cy="4995734"/>
            </a:xfrm>
            <a:prstGeom prst="rect">
              <a:avLst/>
            </a:prstGeom>
            <a:noFill/>
            <a:ln>
              <a:noFill/>
            </a:ln>
          </p:spPr>
        </p:pic>
        <p:sp>
          <p:nvSpPr>
            <p:cNvPr id="353" name="Google Shape;353;p30"/>
            <p:cNvSpPr/>
            <p:nvPr/>
          </p:nvSpPr>
          <p:spPr>
            <a:xfrm>
              <a:off x="9911326" y="5044769"/>
              <a:ext cx="1337980" cy="453920"/>
            </a:xfrm>
            <a:prstGeom prst="rect">
              <a:avLst/>
            </a:prstGeom>
            <a:solidFill>
              <a:schemeClr val="lt1"/>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49"/>
                                        </p:tgtEl>
                                        <p:attrNameLst>
                                          <p:attrName>style.visibility</p:attrName>
                                        </p:attrNameLst>
                                      </p:cBhvr>
                                      <p:to>
                                        <p:strVal val="visible"/>
                                      </p:to>
                                    </p:set>
                                    <p:animEffect transition="in" filter="fade">
                                      <p:cBhvr>
                                        <p:cTn id="7" dur="500"/>
                                        <p:tgtEl>
                                          <p:spTgt spid="3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57"/>
        <p:cNvGrpSpPr/>
        <p:nvPr/>
      </p:nvGrpSpPr>
      <p:grpSpPr>
        <a:xfrm>
          <a:off x="0" y="0"/>
          <a:ext cx="0" cy="0"/>
          <a:chOff x="0" y="0"/>
          <a:chExt cx="0" cy="0"/>
        </a:xfrm>
      </p:grpSpPr>
      <p:sp>
        <p:nvSpPr>
          <p:cNvPr id="358" name="Google Shape;358;p31"/>
          <p:cNvSpPr/>
          <p:nvPr/>
        </p:nvSpPr>
        <p:spPr>
          <a:xfrm>
            <a:off x="457200" y="981934"/>
            <a:ext cx="11277600" cy="4617675"/>
          </a:xfrm>
          <a:prstGeom prst="roundRect">
            <a:avLst>
              <a:gd name="adj" fmla="val 2971"/>
            </a:avLst>
          </a:prstGeom>
          <a:gradFill>
            <a:gsLst>
              <a:gs pos="0">
                <a:srgbClr val="58751F"/>
              </a:gs>
              <a:gs pos="50000">
                <a:srgbClr val="81AB2C"/>
              </a:gs>
              <a:gs pos="100000">
                <a:srgbClr val="9BCC36"/>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59" name="Google Shape;359;p31"/>
          <p:cNvSpPr txBox="1"/>
          <p:nvPr/>
        </p:nvSpPr>
        <p:spPr>
          <a:xfrm>
            <a:off x="704850" y="0"/>
            <a:ext cx="10782300" cy="1008062"/>
          </a:xfrm>
          <a:prstGeom prst="rect">
            <a:avLst/>
          </a:prstGeom>
          <a:noFill/>
          <a:ln>
            <a:noFill/>
          </a:ln>
        </p:spPr>
        <p:txBody>
          <a:bodyPr spcFirstLastPara="1" wrap="square" lIns="91425" tIns="45700" rIns="91425" bIns="45700" anchor="ctr" anchorCtr="0">
            <a:noAutofit/>
          </a:bodyPr>
          <a:lstStyle/>
          <a:p>
            <a:pPr marL="0" marR="0" lvl="0" indent="0" algn="l" rtl="0">
              <a:lnSpc>
                <a:spcPct val="150000"/>
              </a:lnSpc>
              <a:spcBef>
                <a:spcPts val="0"/>
              </a:spcBef>
              <a:spcAft>
                <a:spcPts val="0"/>
              </a:spcAft>
              <a:buNone/>
            </a:pPr>
            <a:r>
              <a:rPr lang="es-ES" sz="3200">
                <a:solidFill>
                  <a:srgbClr val="7F7F7F"/>
                </a:solidFill>
                <a:latin typeface="Arial"/>
                <a:ea typeface="Arial"/>
                <a:cs typeface="Arial"/>
                <a:sym typeface="Arial"/>
              </a:rPr>
              <a:t>Muestreo Estratificado</a:t>
            </a:r>
            <a:endParaRPr sz="3200">
              <a:solidFill>
                <a:srgbClr val="7F7F7F"/>
              </a:solidFill>
              <a:latin typeface="Arial"/>
              <a:ea typeface="Arial"/>
              <a:cs typeface="Arial"/>
              <a:sym typeface="Arial"/>
            </a:endParaRPr>
          </a:p>
        </p:txBody>
      </p:sp>
      <p:sp>
        <p:nvSpPr>
          <p:cNvPr id="360" name="Google Shape;360;p31"/>
          <p:cNvSpPr txBox="1"/>
          <p:nvPr/>
        </p:nvSpPr>
        <p:spPr>
          <a:xfrm>
            <a:off x="704850" y="1144853"/>
            <a:ext cx="10782300" cy="3971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b="1">
                <a:solidFill>
                  <a:schemeClr val="lt1"/>
                </a:solidFill>
                <a:latin typeface="Calibri"/>
                <a:ea typeface="Calibri"/>
                <a:cs typeface="Calibri"/>
                <a:sym typeface="Calibri"/>
              </a:rPr>
              <a:t>Ventajas</a:t>
            </a:r>
            <a:endParaRPr>
              <a:latin typeface="Calibri"/>
              <a:ea typeface="Calibri"/>
              <a:cs typeface="Calibri"/>
              <a:sym typeface="Calibri"/>
            </a:endParaRPr>
          </a:p>
          <a:p>
            <a:pPr marL="285750" marR="0" lvl="0" indent="-285750" algn="l" rtl="0">
              <a:spcBef>
                <a:spcPts val="0"/>
              </a:spcBef>
              <a:spcAft>
                <a:spcPts val="0"/>
              </a:spcAft>
              <a:buClr>
                <a:schemeClr val="lt1"/>
              </a:buClr>
              <a:buSzPts val="1800"/>
              <a:buFont typeface="Calibri"/>
              <a:buChar char="•"/>
            </a:pPr>
            <a:r>
              <a:rPr lang="es-ES" sz="1800">
                <a:solidFill>
                  <a:schemeClr val="lt1"/>
                </a:solidFill>
                <a:latin typeface="Calibri"/>
                <a:ea typeface="Calibri"/>
                <a:cs typeface="Calibri"/>
                <a:sym typeface="Calibri"/>
              </a:rPr>
              <a:t>El muestreo estratificado puede proporcionar estimaciones más precisas y confiables que otros métodos de muestreo probabilístico, especialmente cuando la población es heterogénea.</a:t>
            </a:r>
            <a:endParaRPr>
              <a:latin typeface="Calibri"/>
              <a:ea typeface="Calibri"/>
              <a:cs typeface="Calibri"/>
              <a:sym typeface="Calibri"/>
            </a:endParaRPr>
          </a:p>
          <a:p>
            <a:pPr marL="285750" marR="0" lvl="0" indent="-285750" algn="l" rtl="0">
              <a:spcBef>
                <a:spcPts val="0"/>
              </a:spcBef>
              <a:spcAft>
                <a:spcPts val="0"/>
              </a:spcAft>
              <a:buClr>
                <a:schemeClr val="lt1"/>
              </a:buClr>
              <a:buSzPts val="1800"/>
              <a:buFont typeface="Calibri"/>
              <a:buChar char="•"/>
            </a:pPr>
            <a:r>
              <a:rPr lang="es-ES" sz="1800">
                <a:solidFill>
                  <a:schemeClr val="lt1"/>
                </a:solidFill>
                <a:latin typeface="Calibri"/>
                <a:ea typeface="Calibri"/>
                <a:cs typeface="Calibri"/>
                <a:sym typeface="Calibri"/>
              </a:rPr>
              <a:t>Permite la comparación de subgrupos dentro de la población, lo que puede ser útil en estudios que buscan identificar diferencias en la variable de interés entre diferentes grupos.</a:t>
            </a:r>
            <a:endParaRPr>
              <a:latin typeface="Calibri"/>
              <a:ea typeface="Calibri"/>
              <a:cs typeface="Calibri"/>
              <a:sym typeface="Calibri"/>
            </a:endParaRPr>
          </a:p>
          <a:p>
            <a:pPr marL="285750" marR="0" lvl="0" indent="-285750" algn="l" rtl="0">
              <a:spcBef>
                <a:spcPts val="0"/>
              </a:spcBef>
              <a:spcAft>
                <a:spcPts val="0"/>
              </a:spcAft>
              <a:buClr>
                <a:schemeClr val="lt1"/>
              </a:buClr>
              <a:buSzPts val="1800"/>
              <a:buFont typeface="Calibri"/>
              <a:buChar char="•"/>
            </a:pPr>
            <a:r>
              <a:rPr lang="es-ES" sz="1800">
                <a:solidFill>
                  <a:schemeClr val="lt1"/>
                </a:solidFill>
                <a:latin typeface="Calibri"/>
                <a:ea typeface="Calibri"/>
                <a:cs typeface="Calibri"/>
                <a:sym typeface="Calibri"/>
              </a:rPr>
              <a:t>Es más eficiente que otros métodos de muestreo probabilístico en términos de costos, ya que permite que la muestra sea más pequeña y aun así representativa.</a:t>
            </a:r>
            <a:endParaRPr>
              <a:latin typeface="Calibri"/>
              <a:ea typeface="Calibri"/>
              <a:cs typeface="Calibri"/>
              <a:sym typeface="Calibri"/>
            </a:endParaRPr>
          </a:p>
          <a:p>
            <a:pPr marL="0" marR="0" lvl="0" indent="0" algn="l" rtl="0">
              <a:spcBef>
                <a:spcPts val="0"/>
              </a:spcBef>
              <a:spcAft>
                <a:spcPts val="0"/>
              </a:spcAft>
              <a:buNone/>
            </a:pPr>
            <a:endParaRPr sz="1800" b="1">
              <a:solidFill>
                <a:schemeClr val="lt1"/>
              </a:solidFill>
              <a:latin typeface="Calibri"/>
              <a:ea typeface="Calibri"/>
              <a:cs typeface="Calibri"/>
              <a:sym typeface="Calibri"/>
            </a:endParaRPr>
          </a:p>
          <a:p>
            <a:pPr marL="0" marR="0" lvl="0" indent="0" algn="l" rtl="0">
              <a:spcBef>
                <a:spcPts val="0"/>
              </a:spcBef>
              <a:spcAft>
                <a:spcPts val="0"/>
              </a:spcAft>
              <a:buNone/>
            </a:pPr>
            <a:r>
              <a:rPr lang="es-ES" sz="1800" b="1">
                <a:solidFill>
                  <a:schemeClr val="lt1"/>
                </a:solidFill>
                <a:latin typeface="Calibri"/>
                <a:ea typeface="Calibri"/>
                <a:cs typeface="Calibri"/>
                <a:sym typeface="Calibri"/>
              </a:rPr>
              <a:t>Desventajas</a:t>
            </a:r>
            <a:endParaRPr>
              <a:latin typeface="Calibri"/>
              <a:ea typeface="Calibri"/>
              <a:cs typeface="Calibri"/>
              <a:sym typeface="Calibri"/>
            </a:endParaRPr>
          </a:p>
          <a:p>
            <a:pPr marL="285750" marR="0" lvl="0" indent="-285750" algn="l" rtl="0">
              <a:spcBef>
                <a:spcPts val="0"/>
              </a:spcBef>
              <a:spcAft>
                <a:spcPts val="0"/>
              </a:spcAft>
              <a:buClr>
                <a:schemeClr val="lt1"/>
              </a:buClr>
              <a:buSzPts val="1800"/>
              <a:buFont typeface="Calibri"/>
              <a:buChar char="•"/>
            </a:pPr>
            <a:r>
              <a:rPr lang="es-ES" sz="1800">
                <a:solidFill>
                  <a:schemeClr val="lt1"/>
                </a:solidFill>
                <a:latin typeface="Calibri"/>
                <a:ea typeface="Calibri"/>
                <a:cs typeface="Calibri"/>
                <a:sym typeface="Calibri"/>
              </a:rPr>
              <a:t>El muestreo estratificado puede ser más complejo y costoso de implementar que otros métodos de muestreo.</a:t>
            </a:r>
            <a:endParaRPr>
              <a:latin typeface="Calibri"/>
              <a:ea typeface="Calibri"/>
              <a:cs typeface="Calibri"/>
              <a:sym typeface="Calibri"/>
            </a:endParaRPr>
          </a:p>
          <a:p>
            <a:pPr marL="285750" marR="0" lvl="0" indent="-285750" algn="l" rtl="0">
              <a:spcBef>
                <a:spcPts val="0"/>
              </a:spcBef>
              <a:spcAft>
                <a:spcPts val="0"/>
              </a:spcAft>
              <a:buClr>
                <a:schemeClr val="lt1"/>
              </a:buClr>
              <a:buSzPts val="1800"/>
              <a:buFont typeface="Calibri"/>
              <a:buChar char="•"/>
            </a:pPr>
            <a:r>
              <a:rPr lang="es-ES" sz="1800">
                <a:solidFill>
                  <a:schemeClr val="lt1"/>
                </a:solidFill>
                <a:latin typeface="Calibri"/>
                <a:ea typeface="Calibri"/>
                <a:cs typeface="Calibri"/>
                <a:sym typeface="Calibri"/>
              </a:rPr>
              <a:t>La identificación y selección de los estratos puede ser un desafío y puede requerir información previa sobre la población.</a:t>
            </a:r>
            <a:endParaRPr>
              <a:latin typeface="Calibri"/>
              <a:ea typeface="Calibri"/>
              <a:cs typeface="Calibri"/>
              <a:sym typeface="Calibri"/>
            </a:endParaRPr>
          </a:p>
          <a:p>
            <a:pPr marL="285750" marR="0" lvl="0" indent="-285750" algn="l" rtl="0">
              <a:spcBef>
                <a:spcPts val="0"/>
              </a:spcBef>
              <a:spcAft>
                <a:spcPts val="0"/>
              </a:spcAft>
              <a:buClr>
                <a:schemeClr val="lt1"/>
              </a:buClr>
              <a:buSzPts val="1800"/>
              <a:buFont typeface="Calibri"/>
              <a:buChar char="•"/>
            </a:pPr>
            <a:r>
              <a:rPr lang="es-ES" sz="1800">
                <a:solidFill>
                  <a:schemeClr val="lt1"/>
                </a:solidFill>
                <a:latin typeface="Calibri"/>
                <a:ea typeface="Calibri"/>
                <a:cs typeface="Calibri"/>
                <a:sym typeface="Calibri"/>
              </a:rPr>
              <a:t>Si la estratificación se basa en variables incorrectas o mal elegidas, el muestreo estratificado puede introducir sesgos en la muestra.</a:t>
            </a:r>
            <a:endParaRPr>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59"/>
                                        </p:tgtEl>
                                        <p:attrNameLst>
                                          <p:attrName>style.visibility</p:attrName>
                                        </p:attrNameLst>
                                      </p:cBhvr>
                                      <p:to>
                                        <p:strVal val="visible"/>
                                      </p:to>
                                    </p:set>
                                    <p:animEffect transition="in" filter="fade">
                                      <p:cBhvr>
                                        <p:cTn id="7" dur="500"/>
                                        <p:tgtEl>
                                          <p:spTgt spid="3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64"/>
        <p:cNvGrpSpPr/>
        <p:nvPr/>
      </p:nvGrpSpPr>
      <p:grpSpPr>
        <a:xfrm>
          <a:off x="0" y="0"/>
          <a:ext cx="0" cy="0"/>
          <a:chOff x="0" y="0"/>
          <a:chExt cx="0" cy="0"/>
        </a:xfrm>
      </p:grpSpPr>
      <p:sp>
        <p:nvSpPr>
          <p:cNvPr id="365" name="Google Shape;365;p32"/>
          <p:cNvSpPr/>
          <p:nvPr/>
        </p:nvSpPr>
        <p:spPr>
          <a:xfrm>
            <a:off x="7468162" y="2129507"/>
            <a:ext cx="3934106" cy="3418218"/>
          </a:xfrm>
          <a:prstGeom prst="roundRect">
            <a:avLst>
              <a:gd name="adj" fmla="val 2971"/>
            </a:avLst>
          </a:prstGeom>
          <a:solidFill>
            <a:schemeClr val="lt1"/>
          </a:solidFill>
          <a:ln w="38100" cap="flat" cmpd="sng">
            <a:solidFill>
              <a:srgbClr val="98C3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366" name="Google Shape;366;p32"/>
          <p:cNvSpPr/>
          <p:nvPr/>
        </p:nvSpPr>
        <p:spPr>
          <a:xfrm>
            <a:off x="-543741" y="1804937"/>
            <a:ext cx="7219950" cy="3985719"/>
          </a:xfrm>
          <a:prstGeom prst="roundRect">
            <a:avLst>
              <a:gd name="adj" fmla="val 2971"/>
            </a:avLst>
          </a:prstGeom>
          <a:gradFill>
            <a:gsLst>
              <a:gs pos="0">
                <a:srgbClr val="58751F"/>
              </a:gs>
              <a:gs pos="50000">
                <a:srgbClr val="81AB2C"/>
              </a:gs>
              <a:gs pos="100000">
                <a:srgbClr val="9BCC36"/>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67" name="Google Shape;367;p32"/>
          <p:cNvSpPr txBox="1"/>
          <p:nvPr/>
        </p:nvSpPr>
        <p:spPr>
          <a:xfrm>
            <a:off x="317714" y="755242"/>
            <a:ext cx="10782300" cy="1008062"/>
          </a:xfrm>
          <a:prstGeom prst="rect">
            <a:avLst/>
          </a:prstGeom>
          <a:noFill/>
          <a:ln>
            <a:noFill/>
          </a:ln>
        </p:spPr>
        <p:txBody>
          <a:bodyPr spcFirstLastPara="1" wrap="square" lIns="91425" tIns="45700" rIns="91425" bIns="45700" anchor="ctr" anchorCtr="0">
            <a:noAutofit/>
          </a:bodyPr>
          <a:lstStyle/>
          <a:p>
            <a:pPr marL="0" marR="0" lvl="0" indent="0" algn="just" rtl="0">
              <a:lnSpc>
                <a:spcPct val="150000"/>
              </a:lnSpc>
              <a:spcBef>
                <a:spcPts val="0"/>
              </a:spcBef>
              <a:spcAft>
                <a:spcPts val="0"/>
              </a:spcAft>
              <a:buNone/>
            </a:pPr>
            <a:r>
              <a:rPr lang="es-ES" sz="3200">
                <a:solidFill>
                  <a:srgbClr val="7F7F7F"/>
                </a:solidFill>
                <a:latin typeface="Arial"/>
                <a:ea typeface="Arial"/>
                <a:cs typeface="Arial"/>
                <a:sym typeface="Arial"/>
              </a:rPr>
              <a:t>Muestreo por Conglomerado (clustering)</a:t>
            </a:r>
            <a:endParaRPr sz="3200">
              <a:solidFill>
                <a:srgbClr val="7F7F7F"/>
              </a:solidFill>
              <a:latin typeface="Arial"/>
              <a:ea typeface="Arial"/>
              <a:cs typeface="Arial"/>
              <a:sym typeface="Arial"/>
            </a:endParaRPr>
          </a:p>
        </p:txBody>
      </p:sp>
      <p:sp>
        <p:nvSpPr>
          <p:cNvPr id="368" name="Google Shape;368;p32"/>
          <p:cNvSpPr txBox="1"/>
          <p:nvPr/>
        </p:nvSpPr>
        <p:spPr>
          <a:xfrm>
            <a:off x="456120" y="2268956"/>
            <a:ext cx="5829300" cy="3139321"/>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chemeClr val="lt1"/>
                </a:solidFill>
                <a:latin typeface="Calibri"/>
                <a:ea typeface="Calibri"/>
                <a:cs typeface="Calibri"/>
                <a:sym typeface="Calibri"/>
              </a:rPr>
              <a:t>Es un método de muestreo probabilístico que se utiliza para poblaciones </a:t>
            </a:r>
            <a:r>
              <a:rPr lang="es-ES" sz="1800" b="1">
                <a:solidFill>
                  <a:schemeClr val="lt1"/>
                </a:solidFill>
                <a:latin typeface="Calibri"/>
                <a:ea typeface="Calibri"/>
                <a:cs typeface="Calibri"/>
                <a:sym typeface="Calibri"/>
              </a:rPr>
              <a:t>grandes y dispersas</a:t>
            </a:r>
            <a:r>
              <a:rPr lang="es-ES" sz="1800">
                <a:solidFill>
                  <a:schemeClr val="lt1"/>
                </a:solidFill>
                <a:latin typeface="Calibri"/>
                <a:ea typeface="Calibri"/>
                <a:cs typeface="Calibri"/>
                <a:sym typeface="Calibri"/>
              </a:rPr>
              <a:t>, en lugar de individuos, se seleccionan conglomerados que están agrupados de forma natural, por ejemplo: casas, cuadras, manzanas, colonias, etc. La selección de la muestra de cada conglomerado es aleatoria.</a:t>
            </a:r>
            <a:endParaRPr/>
          </a:p>
          <a:p>
            <a:pPr marL="0" marR="0" lvl="0" indent="0" algn="just" rtl="0">
              <a:spcBef>
                <a:spcPts val="0"/>
              </a:spcBef>
              <a:spcAft>
                <a:spcPts val="0"/>
              </a:spcAft>
              <a:buNone/>
            </a:pPr>
            <a:endParaRPr sz="1800">
              <a:solidFill>
                <a:schemeClr val="lt1"/>
              </a:solidFill>
              <a:latin typeface="Calibri"/>
              <a:ea typeface="Calibri"/>
              <a:cs typeface="Calibri"/>
              <a:sym typeface="Calibri"/>
            </a:endParaRPr>
          </a:p>
          <a:p>
            <a:pPr marL="0" marR="0" lvl="0" indent="0" algn="just" rtl="0">
              <a:spcBef>
                <a:spcPts val="0"/>
              </a:spcBef>
              <a:spcAft>
                <a:spcPts val="0"/>
              </a:spcAft>
              <a:buNone/>
            </a:pPr>
            <a:r>
              <a:rPr lang="es-ES" sz="1800">
                <a:solidFill>
                  <a:schemeClr val="lt1"/>
                </a:solidFill>
                <a:latin typeface="Calibri"/>
                <a:ea typeface="Calibri"/>
                <a:cs typeface="Calibri"/>
                <a:sym typeface="Calibri"/>
              </a:rPr>
              <a:t>Se selecciona en primer lugar el conglomerado más alto y a partir de este se selecciona un subgrupo. Y así sucesivamente hasta legar a las unidades de análisis. También, se denomina muestreo por etapas múltiples.</a:t>
            </a:r>
            <a:endParaRPr/>
          </a:p>
        </p:txBody>
      </p:sp>
      <p:pic>
        <p:nvPicPr>
          <p:cNvPr id="369" name="Google Shape;369;p32"/>
          <p:cNvPicPr preferRelativeResize="0"/>
          <p:nvPr/>
        </p:nvPicPr>
        <p:blipFill rotWithShape="1">
          <a:blip r:embed="rId3">
            <a:alphaModFix/>
          </a:blip>
          <a:srcRect/>
          <a:stretch/>
        </p:blipFill>
        <p:spPr>
          <a:xfrm>
            <a:off x="7617453" y="2233340"/>
            <a:ext cx="3635523" cy="3064831"/>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67"/>
                                        </p:tgtEl>
                                        <p:attrNameLst>
                                          <p:attrName>style.visibility</p:attrName>
                                        </p:attrNameLst>
                                      </p:cBhvr>
                                      <p:to>
                                        <p:strVal val="visible"/>
                                      </p:to>
                                    </p:set>
                                    <p:animEffect transition="in" filter="fade">
                                      <p:cBhvr>
                                        <p:cTn id="7" dur="500"/>
                                        <p:tgtEl>
                                          <p:spTgt spid="3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73"/>
        <p:cNvGrpSpPr/>
        <p:nvPr/>
      </p:nvGrpSpPr>
      <p:grpSpPr>
        <a:xfrm>
          <a:off x="0" y="0"/>
          <a:ext cx="0" cy="0"/>
          <a:chOff x="0" y="0"/>
          <a:chExt cx="0" cy="0"/>
        </a:xfrm>
      </p:grpSpPr>
      <p:sp>
        <p:nvSpPr>
          <p:cNvPr id="374" name="Google Shape;374;p33"/>
          <p:cNvSpPr/>
          <p:nvPr/>
        </p:nvSpPr>
        <p:spPr>
          <a:xfrm>
            <a:off x="687433" y="1288869"/>
            <a:ext cx="10782300" cy="4746171"/>
          </a:xfrm>
          <a:prstGeom prst="roundRect">
            <a:avLst>
              <a:gd name="adj" fmla="val 2971"/>
            </a:avLst>
          </a:prstGeom>
          <a:gradFill>
            <a:gsLst>
              <a:gs pos="0">
                <a:srgbClr val="58751F"/>
              </a:gs>
              <a:gs pos="50000">
                <a:srgbClr val="81AB2C"/>
              </a:gs>
              <a:gs pos="100000">
                <a:srgbClr val="9BCC36"/>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75" name="Google Shape;375;p33"/>
          <p:cNvSpPr txBox="1"/>
          <p:nvPr/>
        </p:nvSpPr>
        <p:spPr>
          <a:xfrm>
            <a:off x="1046399" y="1493676"/>
            <a:ext cx="10148711" cy="4431983"/>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600" b="1">
                <a:solidFill>
                  <a:schemeClr val="lt1"/>
                </a:solidFill>
                <a:latin typeface="Calibri"/>
                <a:ea typeface="Calibri"/>
                <a:cs typeface="Calibri"/>
                <a:sym typeface="Calibri"/>
              </a:rPr>
              <a:t>Ventajas</a:t>
            </a:r>
            <a:endParaRPr/>
          </a:p>
          <a:p>
            <a:pPr marL="285750" marR="0" lvl="0" indent="-285750" algn="just" rtl="0">
              <a:spcBef>
                <a:spcPts val="0"/>
              </a:spcBef>
              <a:spcAft>
                <a:spcPts val="0"/>
              </a:spcAft>
              <a:buClr>
                <a:schemeClr val="lt1"/>
              </a:buClr>
              <a:buSzPts val="1600"/>
              <a:buFont typeface="Arial"/>
              <a:buChar char="•"/>
            </a:pPr>
            <a:r>
              <a:rPr lang="es-ES" sz="1600">
                <a:solidFill>
                  <a:schemeClr val="lt1"/>
                </a:solidFill>
                <a:latin typeface="Calibri"/>
                <a:ea typeface="Calibri"/>
                <a:cs typeface="Calibri"/>
                <a:sym typeface="Calibri"/>
              </a:rPr>
              <a:t>El muestreo por conglomerados puede ser más eficiente que otros métodos de muestreo probabilístico, especialmente cuando la población es grande y dispersa.</a:t>
            </a:r>
            <a:endParaRPr/>
          </a:p>
          <a:p>
            <a:pPr marL="285750" marR="0" lvl="0" indent="-285750" algn="just" rtl="0">
              <a:spcBef>
                <a:spcPts val="0"/>
              </a:spcBef>
              <a:spcAft>
                <a:spcPts val="0"/>
              </a:spcAft>
              <a:buClr>
                <a:schemeClr val="lt1"/>
              </a:buClr>
              <a:buSzPts val="1600"/>
              <a:buFont typeface="Arial"/>
              <a:buChar char="•"/>
            </a:pPr>
            <a:r>
              <a:rPr lang="es-ES" sz="1600">
                <a:solidFill>
                  <a:schemeClr val="lt1"/>
                </a:solidFill>
                <a:latin typeface="Calibri"/>
                <a:ea typeface="Calibri"/>
                <a:cs typeface="Calibri"/>
                <a:sym typeface="Calibri"/>
              </a:rPr>
              <a:t>Puede ser más fácil y más práctico implementar el muestreo por conglomerados en comparación con otros métodos de muestreo probabilístico, especialmente cuando se trata de poblaciones muy grandes.</a:t>
            </a:r>
            <a:endParaRPr/>
          </a:p>
          <a:p>
            <a:pPr marL="285750" marR="0" lvl="0" indent="-285750" algn="just" rtl="0">
              <a:spcBef>
                <a:spcPts val="0"/>
              </a:spcBef>
              <a:spcAft>
                <a:spcPts val="0"/>
              </a:spcAft>
              <a:buClr>
                <a:schemeClr val="lt1"/>
              </a:buClr>
              <a:buSzPts val="1600"/>
              <a:buFont typeface="Arial"/>
              <a:buChar char="•"/>
            </a:pPr>
            <a:r>
              <a:rPr lang="es-ES" sz="1600">
                <a:solidFill>
                  <a:schemeClr val="lt1"/>
                </a:solidFill>
                <a:latin typeface="Calibri"/>
                <a:ea typeface="Calibri"/>
                <a:cs typeface="Calibri"/>
                <a:sym typeface="Calibri"/>
              </a:rPr>
              <a:t>Si los conglomerados se eligen cuidadosamente, el muestreo por conglomerados puede proporcionar estimaciones precisas y confiables.</a:t>
            </a:r>
            <a:endParaRPr/>
          </a:p>
          <a:p>
            <a:pPr marL="0" marR="0" lvl="0" indent="0" algn="just" rtl="0">
              <a:spcBef>
                <a:spcPts val="0"/>
              </a:spcBef>
              <a:spcAft>
                <a:spcPts val="0"/>
              </a:spcAft>
              <a:buNone/>
            </a:pPr>
            <a:endParaRPr sz="1600" b="1">
              <a:solidFill>
                <a:schemeClr val="lt1"/>
              </a:solidFill>
              <a:latin typeface="Calibri"/>
              <a:ea typeface="Calibri"/>
              <a:cs typeface="Calibri"/>
              <a:sym typeface="Calibri"/>
            </a:endParaRPr>
          </a:p>
          <a:p>
            <a:pPr marL="0" marR="0" lvl="0" indent="0" algn="just" rtl="0">
              <a:spcBef>
                <a:spcPts val="0"/>
              </a:spcBef>
              <a:spcAft>
                <a:spcPts val="0"/>
              </a:spcAft>
              <a:buNone/>
            </a:pPr>
            <a:r>
              <a:rPr lang="es-ES" sz="1600" b="1">
                <a:solidFill>
                  <a:schemeClr val="lt1"/>
                </a:solidFill>
                <a:latin typeface="Calibri"/>
                <a:ea typeface="Calibri"/>
                <a:cs typeface="Calibri"/>
                <a:sym typeface="Calibri"/>
              </a:rPr>
              <a:t>Desventajas</a:t>
            </a:r>
            <a:endParaRPr/>
          </a:p>
          <a:p>
            <a:pPr marL="285750" marR="0" lvl="0" indent="-285750" algn="just" rtl="0">
              <a:spcBef>
                <a:spcPts val="0"/>
              </a:spcBef>
              <a:spcAft>
                <a:spcPts val="0"/>
              </a:spcAft>
              <a:buClr>
                <a:schemeClr val="lt1"/>
              </a:buClr>
              <a:buSzPts val="1600"/>
              <a:buFont typeface="Arial"/>
              <a:buChar char="•"/>
            </a:pPr>
            <a:r>
              <a:rPr lang="es-ES" sz="1600">
                <a:solidFill>
                  <a:schemeClr val="lt1"/>
                </a:solidFill>
                <a:latin typeface="Calibri"/>
                <a:ea typeface="Calibri"/>
                <a:cs typeface="Calibri"/>
                <a:sym typeface="Calibri"/>
              </a:rPr>
              <a:t>El muestreo por conglomerados puede ser menos preciso que otros métodos de muestreo probabilístico, especialmente si los conglomerados no son heterogéneos.</a:t>
            </a:r>
            <a:endParaRPr/>
          </a:p>
          <a:p>
            <a:pPr marL="285750" marR="0" lvl="0" indent="-285750" algn="just" rtl="0">
              <a:spcBef>
                <a:spcPts val="0"/>
              </a:spcBef>
              <a:spcAft>
                <a:spcPts val="0"/>
              </a:spcAft>
              <a:buClr>
                <a:schemeClr val="lt1"/>
              </a:buClr>
              <a:buSzPts val="1600"/>
              <a:buFont typeface="Arial"/>
              <a:buChar char="•"/>
            </a:pPr>
            <a:r>
              <a:rPr lang="es-ES" sz="1600">
                <a:solidFill>
                  <a:schemeClr val="lt1"/>
                </a:solidFill>
                <a:latin typeface="Calibri"/>
                <a:ea typeface="Calibri"/>
                <a:cs typeface="Calibri"/>
                <a:sym typeface="Calibri"/>
              </a:rPr>
              <a:t>Si se eligen conglomerados inadecuados, el muestreo por conglomerados puede introducir sesgos en la muestra.</a:t>
            </a:r>
            <a:endParaRPr/>
          </a:p>
          <a:p>
            <a:pPr marL="285750" marR="0" lvl="0" indent="-285750" algn="just" rtl="0">
              <a:spcBef>
                <a:spcPts val="0"/>
              </a:spcBef>
              <a:spcAft>
                <a:spcPts val="0"/>
              </a:spcAft>
              <a:buClr>
                <a:schemeClr val="lt1"/>
              </a:buClr>
              <a:buSzPts val="1600"/>
              <a:buFont typeface="Arial"/>
              <a:buChar char="•"/>
            </a:pPr>
            <a:r>
              <a:rPr lang="es-ES" sz="1600">
                <a:solidFill>
                  <a:schemeClr val="lt1"/>
                </a:solidFill>
                <a:latin typeface="Calibri"/>
                <a:ea typeface="Calibri"/>
                <a:cs typeface="Calibri"/>
                <a:sym typeface="Calibri"/>
              </a:rPr>
              <a:t>La estimación de los errores de muestreo en el muestreo por conglomerados puede ser más complicada que en otros métodos de muestreo probabilístico.</a:t>
            </a:r>
            <a:endParaRPr/>
          </a:p>
          <a:p>
            <a:pPr marL="0" marR="0" lvl="0" indent="0" algn="just" rtl="0">
              <a:spcBef>
                <a:spcPts val="0"/>
              </a:spcBef>
              <a:spcAft>
                <a:spcPts val="0"/>
              </a:spcAft>
              <a:buNone/>
            </a:pPr>
            <a:endParaRPr sz="1600" b="1">
              <a:solidFill>
                <a:schemeClr val="lt1"/>
              </a:solidFill>
              <a:latin typeface="Calibri"/>
              <a:ea typeface="Calibri"/>
              <a:cs typeface="Calibri"/>
              <a:sym typeface="Calibri"/>
            </a:endParaRPr>
          </a:p>
          <a:p>
            <a:pPr marL="0" marR="0" lvl="0" indent="0" algn="just" rtl="0">
              <a:spcBef>
                <a:spcPts val="0"/>
              </a:spcBef>
              <a:spcAft>
                <a:spcPts val="0"/>
              </a:spcAft>
              <a:buNone/>
            </a:pPr>
            <a:r>
              <a:rPr lang="es-ES" sz="1600" b="1">
                <a:solidFill>
                  <a:schemeClr val="lt1"/>
                </a:solidFill>
                <a:latin typeface="Calibri"/>
                <a:ea typeface="Calibri"/>
                <a:cs typeface="Calibri"/>
                <a:sym typeface="Calibri"/>
              </a:rPr>
              <a:t>Caso de uso</a:t>
            </a:r>
            <a:endParaRPr/>
          </a:p>
          <a:p>
            <a:pPr marL="285750" marR="0" lvl="0" indent="-285750" algn="just" rtl="0">
              <a:spcBef>
                <a:spcPts val="0"/>
              </a:spcBef>
              <a:spcAft>
                <a:spcPts val="0"/>
              </a:spcAft>
              <a:buClr>
                <a:schemeClr val="lt1"/>
              </a:buClr>
              <a:buSzPts val="1600"/>
              <a:buFont typeface="Arial"/>
              <a:buChar char="•"/>
            </a:pPr>
            <a:r>
              <a:rPr lang="es-ES" sz="1600">
                <a:solidFill>
                  <a:schemeClr val="lt1"/>
                </a:solidFill>
                <a:latin typeface="Calibri"/>
                <a:ea typeface="Calibri"/>
                <a:cs typeface="Calibri"/>
                <a:sym typeface="Calibri"/>
              </a:rPr>
              <a:t>Se utiliza cuando todos los individuos de cada grupo pueden ser representativos de las poblaciones.</a:t>
            </a:r>
            <a:endParaRPr/>
          </a:p>
        </p:txBody>
      </p:sp>
      <p:sp>
        <p:nvSpPr>
          <p:cNvPr id="376" name="Google Shape;376;p33"/>
          <p:cNvSpPr txBox="1"/>
          <p:nvPr/>
        </p:nvSpPr>
        <p:spPr>
          <a:xfrm>
            <a:off x="996890" y="544130"/>
            <a:ext cx="10198220" cy="744739"/>
          </a:xfrm>
          <a:prstGeom prst="rect">
            <a:avLst/>
          </a:prstGeom>
          <a:noFill/>
          <a:ln>
            <a:noFill/>
          </a:ln>
        </p:spPr>
        <p:txBody>
          <a:bodyPr spcFirstLastPara="1" wrap="square" lIns="91425" tIns="45700" rIns="91425" bIns="45700" anchor="ctr" anchorCtr="0">
            <a:noAutofit/>
          </a:bodyPr>
          <a:lstStyle/>
          <a:p>
            <a:pPr marL="0" marR="0" lvl="0" indent="0" algn="just" rtl="0">
              <a:lnSpc>
                <a:spcPct val="100000"/>
              </a:lnSpc>
              <a:spcBef>
                <a:spcPts val="0"/>
              </a:spcBef>
              <a:spcAft>
                <a:spcPts val="0"/>
              </a:spcAft>
              <a:buNone/>
            </a:pPr>
            <a:r>
              <a:rPr lang="es-ES" sz="3200">
                <a:solidFill>
                  <a:srgbClr val="7F7F7F"/>
                </a:solidFill>
                <a:latin typeface="Calibri"/>
                <a:ea typeface="Calibri"/>
                <a:cs typeface="Calibri"/>
                <a:sym typeface="Calibri"/>
              </a:rPr>
              <a:t>Muestreo por Conglomerado (clustering)</a:t>
            </a:r>
            <a:endParaRPr sz="3200">
              <a:solidFill>
                <a:srgbClr val="7F7F7F"/>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76"/>
                                        </p:tgtEl>
                                        <p:attrNameLst>
                                          <p:attrName>style.visibility</p:attrName>
                                        </p:attrNameLst>
                                      </p:cBhvr>
                                      <p:to>
                                        <p:strVal val="visible"/>
                                      </p:to>
                                    </p:set>
                                    <p:animEffect transition="in" filter="fade">
                                      <p:cBhvr>
                                        <p:cTn id="7" dur="500"/>
                                        <p:tgtEl>
                                          <p:spTgt spid="3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80"/>
        <p:cNvGrpSpPr/>
        <p:nvPr/>
      </p:nvGrpSpPr>
      <p:grpSpPr>
        <a:xfrm>
          <a:off x="0" y="0"/>
          <a:ext cx="0" cy="0"/>
          <a:chOff x="0" y="0"/>
          <a:chExt cx="0" cy="0"/>
        </a:xfrm>
      </p:grpSpPr>
      <p:pic>
        <p:nvPicPr>
          <p:cNvPr id="381" name="Google Shape;381;p34" descr="Patrón de fondo"/>
          <p:cNvPicPr preferRelativeResize="0"/>
          <p:nvPr/>
        </p:nvPicPr>
        <p:blipFill rotWithShape="1">
          <a:blip r:embed="rId3">
            <a:alphaModFix/>
          </a:blip>
          <a:srcRect/>
          <a:stretch/>
        </p:blipFill>
        <p:spPr>
          <a:xfrm>
            <a:off x="0" y="0"/>
            <a:ext cx="12192000" cy="6858001"/>
          </a:xfrm>
          <a:prstGeom prst="rect">
            <a:avLst/>
          </a:prstGeom>
          <a:noFill/>
          <a:ln>
            <a:noFill/>
          </a:ln>
        </p:spPr>
      </p:pic>
      <p:sp>
        <p:nvSpPr>
          <p:cNvPr id="382" name="Google Shape;382;p34"/>
          <p:cNvSpPr/>
          <p:nvPr/>
        </p:nvSpPr>
        <p:spPr>
          <a:xfrm>
            <a:off x="-585177" y="3057041"/>
            <a:ext cx="7270376" cy="1045333"/>
          </a:xfrm>
          <a:prstGeom prst="roundRect">
            <a:avLst>
              <a:gd name="adj" fmla="val 9640"/>
            </a:avLst>
          </a:prstGeom>
          <a:gradFill>
            <a:gsLst>
              <a:gs pos="0">
                <a:srgbClr val="58751F"/>
              </a:gs>
              <a:gs pos="50000">
                <a:srgbClr val="81AB2C"/>
              </a:gs>
              <a:gs pos="100000">
                <a:srgbClr val="9BCC36"/>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Calibri"/>
              <a:buNone/>
            </a:pPr>
            <a:endParaRPr sz="1800" b="1" i="0" u="none" strike="noStrike" cap="none">
              <a:solidFill>
                <a:srgbClr val="008CAD"/>
              </a:solidFill>
              <a:latin typeface="Calibri"/>
              <a:ea typeface="Calibri"/>
              <a:cs typeface="Calibri"/>
              <a:sym typeface="Calibri"/>
            </a:endParaRPr>
          </a:p>
        </p:txBody>
      </p:sp>
      <p:sp>
        <p:nvSpPr>
          <p:cNvPr id="383" name="Google Shape;383;p34"/>
          <p:cNvSpPr txBox="1"/>
          <p:nvPr/>
        </p:nvSpPr>
        <p:spPr>
          <a:xfrm>
            <a:off x="2523704" y="2835053"/>
            <a:ext cx="4446644" cy="1489308"/>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FFFFF"/>
              </a:buClr>
              <a:buSzPts val="3600"/>
              <a:buFont typeface="Arial"/>
              <a:buNone/>
            </a:pPr>
            <a:r>
              <a:rPr lang="es-ES" sz="3600" b="0" i="0" u="none" strike="noStrike" cap="none">
                <a:solidFill>
                  <a:srgbClr val="FFFFFF"/>
                </a:solidFill>
                <a:latin typeface="Arial"/>
                <a:ea typeface="Arial"/>
                <a:cs typeface="Arial"/>
                <a:sym typeface="Arial"/>
              </a:rPr>
              <a:t>Dudas y consultas</a:t>
            </a:r>
            <a:endParaRPr sz="1800" b="0" i="0" u="none" strike="noStrike" cap="none">
              <a:solidFill>
                <a:srgbClr val="000000"/>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83"/>
                                        </p:tgtEl>
                                        <p:attrNameLst>
                                          <p:attrName>style.visibility</p:attrName>
                                        </p:attrNameLst>
                                      </p:cBhvr>
                                      <p:to>
                                        <p:strVal val="visible"/>
                                      </p:to>
                                    </p:set>
                                    <p:animEffect transition="in" filter="fade">
                                      <p:cBhvr>
                                        <p:cTn id="7" dur="500"/>
                                        <p:tgtEl>
                                          <p:spTgt spid="3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87"/>
        <p:cNvGrpSpPr/>
        <p:nvPr/>
      </p:nvGrpSpPr>
      <p:grpSpPr>
        <a:xfrm>
          <a:off x="0" y="0"/>
          <a:ext cx="0" cy="0"/>
          <a:chOff x="0" y="0"/>
          <a:chExt cx="0" cy="0"/>
        </a:xfrm>
      </p:grpSpPr>
      <p:sp>
        <p:nvSpPr>
          <p:cNvPr id="388" name="Google Shape;388;p35"/>
          <p:cNvSpPr txBox="1"/>
          <p:nvPr/>
        </p:nvSpPr>
        <p:spPr>
          <a:xfrm>
            <a:off x="704850" y="2786424"/>
            <a:ext cx="10782300" cy="1008062"/>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3600"/>
              <a:buFont typeface="Arial"/>
              <a:buNone/>
            </a:pPr>
            <a:r>
              <a:rPr lang="es-ES" sz="3600" b="0" i="0" u="none" strike="noStrike" cap="none">
                <a:solidFill>
                  <a:srgbClr val="7F7F7F"/>
                </a:solidFill>
                <a:latin typeface="Arial"/>
                <a:ea typeface="Arial"/>
                <a:cs typeface="Arial"/>
                <a:sym typeface="Arial"/>
              </a:rPr>
              <a:t>Fin Presentación</a:t>
            </a:r>
            <a:endParaRPr sz="2000" b="0" i="0" u="none" strike="noStrike" cap="none">
              <a:solidFill>
                <a:srgbClr val="000000"/>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88"/>
                                        </p:tgtEl>
                                        <p:attrNameLst>
                                          <p:attrName>style.visibility</p:attrName>
                                        </p:attrNameLst>
                                      </p:cBhvr>
                                      <p:to>
                                        <p:strVal val="visible"/>
                                      </p:to>
                                    </p:set>
                                    <p:animEffect transition="in" filter="fade">
                                      <p:cBhvr>
                                        <p:cTn id="7" dur="500"/>
                                        <p:tgtEl>
                                          <p:spTgt spid="3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2756</Words>
  <Application>Microsoft Office PowerPoint</Application>
  <PresentationFormat>Panorámica</PresentationFormat>
  <Paragraphs>195</Paragraphs>
  <Slides>35</Slides>
  <Notes>35</Notes>
  <HiddenSlides>0</HiddenSlides>
  <MMClips>0</MMClips>
  <ScaleCrop>false</ScaleCrop>
  <HeadingPairs>
    <vt:vector size="4" baseType="variant">
      <vt:variant>
        <vt:lpstr>Tema</vt:lpstr>
      </vt:variant>
      <vt:variant>
        <vt:i4>1</vt:i4>
      </vt:variant>
      <vt:variant>
        <vt:lpstr>Títulos de diapositiva</vt:lpstr>
      </vt:variant>
      <vt:variant>
        <vt:i4>35</vt:i4>
      </vt:variant>
    </vt:vector>
  </HeadingPairs>
  <TitlesOfParts>
    <vt:vector size="36" baseType="lpstr">
      <vt:lpstr>Tema de Office</vt:lpstr>
      <vt:lpstr> Muestra y Muestreo </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Muestra y Muestreo </dc:title>
  <dc:creator>Kibernum</dc:creator>
  <cp:lastModifiedBy>Diseño ITA</cp:lastModifiedBy>
  <cp:revision>45</cp:revision>
  <dcterms:created xsi:type="dcterms:W3CDTF">2023-01-03T12:28:26Z</dcterms:created>
  <dcterms:modified xsi:type="dcterms:W3CDTF">2025-09-26T11:50:06Z</dcterms:modified>
</cp:coreProperties>
</file>