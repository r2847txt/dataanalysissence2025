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12" r:id="rId5"/>
  </p:sldMasterIdLst>
  <p:notesMasterIdLst>
    <p:notesMasterId r:id="rId23"/>
  </p:notesMasterIdLst>
  <p:sldIdLst>
    <p:sldId id="562" r:id="rId6"/>
    <p:sldId id="269" r:id="rId7"/>
    <p:sldId id="271" r:id="rId8"/>
    <p:sldId id="771" r:id="rId9"/>
    <p:sldId id="795" r:id="rId10"/>
    <p:sldId id="774" r:id="rId11"/>
    <p:sldId id="776" r:id="rId12"/>
    <p:sldId id="772" r:id="rId13"/>
    <p:sldId id="768" r:id="rId14"/>
    <p:sldId id="789" r:id="rId15"/>
    <p:sldId id="790" r:id="rId16"/>
    <p:sldId id="791" r:id="rId17"/>
    <p:sldId id="792" r:id="rId18"/>
    <p:sldId id="793" r:id="rId19"/>
    <p:sldId id="794" r:id="rId20"/>
    <p:sldId id="796" r:id="rId21"/>
    <p:sldId id="797" r:id="rId22"/>
  </p:sldIdLst>
  <p:sldSz cx="12192000" cy="6858000"/>
  <p:notesSz cx="6858000" cy="9144000"/>
  <p:defaultTextStyle>
    <a:defPPr>
      <a:defRPr lang="es-ES_tradnl"/>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3275"/>
    <a:srgbClr val="F6A120"/>
    <a:srgbClr val="FD0075"/>
    <a:srgbClr val="078CAE"/>
    <a:srgbClr val="98C340"/>
    <a:srgbClr val="F9F8EC"/>
    <a:srgbClr val="E9EAEC"/>
    <a:srgbClr val="8DB8FE"/>
    <a:srgbClr val="EDE9C8"/>
    <a:srgbClr val="2525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6D25E4-02E2-A271-4AED-0BFFDB472B4A}" v="4" dt="2025-09-26T11:50:21.9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45" autoAdjust="0"/>
    <p:restoredTop sz="96395" autoAdjust="0"/>
  </p:normalViewPr>
  <p:slideViewPr>
    <p:cSldViewPr snapToGrid="0">
      <p:cViewPr varScale="1">
        <p:scale>
          <a:sx n="76" d="100"/>
          <a:sy n="76" d="100"/>
        </p:scale>
        <p:origin x="132" y="31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4F6D25E4-02E2-A271-4AED-0BFFDB472B4A}"/>
    <pc:docChg chg="modSld">
      <pc:chgData name="Soraya Salazar" userId="S::soraya.salazar@kibernumacademy.com::fdf00a5c-f577-43dc-8064-9968cad83607" providerId="AD" clId="Web-{4F6D25E4-02E2-A271-4AED-0BFFDB472B4A}" dt="2025-09-26T11:50:21.936" v="1"/>
      <pc:docMkLst>
        <pc:docMk/>
      </pc:docMkLst>
      <pc:sldChg chg="delSp modSp">
        <pc:chgData name="Soraya Salazar" userId="S::soraya.salazar@kibernumacademy.com::fdf00a5c-f577-43dc-8064-9968cad83607" providerId="AD" clId="Web-{4F6D25E4-02E2-A271-4AED-0BFFDB472B4A}" dt="2025-09-26T11:50:21.936" v="1"/>
        <pc:sldMkLst>
          <pc:docMk/>
          <pc:sldMk cId="1998777028" sldId="562"/>
        </pc:sldMkLst>
        <pc:spChg chg="del">
          <ac:chgData name="Soraya Salazar" userId="S::soraya.salazar@kibernumacademy.com::fdf00a5c-f577-43dc-8064-9968cad83607" providerId="AD" clId="Web-{4F6D25E4-02E2-A271-4AED-0BFFDB472B4A}" dt="2025-09-26T11:50:21.936" v="1"/>
          <ac:spMkLst>
            <pc:docMk/>
            <pc:sldMk cId="1998777028" sldId="562"/>
            <ac:spMk id="9" creationId="{00000000-0000-0000-0000-000000000000}"/>
          </ac:spMkLst>
        </pc:spChg>
        <pc:spChg chg="mod">
          <ac:chgData name="Soraya Salazar" userId="S::soraya.salazar@kibernumacademy.com::fdf00a5c-f577-43dc-8064-9968cad83607" providerId="AD" clId="Web-{4F6D25E4-02E2-A271-4AED-0BFFDB472B4A}" dt="2025-09-26T11:50:18.889" v="0" actId="20577"/>
          <ac:spMkLst>
            <pc:docMk/>
            <pc:sldMk cId="1998777028" sldId="562"/>
            <ac:spMk id="10" creationId="{00000000-0000-0000-0000-000000000000}"/>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3.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3.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86C9B3-8CA1-4316-B2A8-C2AB3E5202A1}"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s-CL"/>
        </a:p>
      </dgm:t>
    </dgm:pt>
    <dgm:pt modelId="{ACF776B3-81F4-49B8-996C-E0E8971CB28A}">
      <dgm:prSet phldrT="[Texto]" phldr="1"/>
      <dgm:spPr/>
      <dgm:t>
        <a:bodyPr/>
        <a:lstStyle/>
        <a:p>
          <a:endParaRPr lang="es-CL" dirty="0"/>
        </a:p>
      </dgm:t>
    </dgm:pt>
    <dgm:pt modelId="{41C4E4EE-2324-4FF1-BA78-4882005C9586}" type="sibTrans" cxnId="{5A64C6AC-4807-4DC4-9F2C-89D66A8AD3CD}">
      <dgm:prSet/>
      <dgm:spPr>
        <a:blipFill rotWithShape="1">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t>
        <a:bodyPr/>
        <a:lstStyle/>
        <a:p>
          <a:endParaRPr lang="es-CL"/>
        </a:p>
      </dgm:t>
    </dgm:pt>
    <dgm:pt modelId="{5FCC59EC-C1F9-4CEA-A4DE-8BD900E35E09}" type="parTrans" cxnId="{5A64C6AC-4807-4DC4-9F2C-89D66A8AD3CD}">
      <dgm:prSet/>
      <dgm:spPr/>
      <dgm:t>
        <a:bodyPr/>
        <a:lstStyle/>
        <a:p>
          <a:endParaRPr lang="es-CL"/>
        </a:p>
      </dgm:t>
    </dgm:pt>
    <dgm:pt modelId="{79CAE2F2-FABA-47D8-982E-5CB4A395EF22}" type="pres">
      <dgm:prSet presAssocID="{BD86C9B3-8CA1-4316-B2A8-C2AB3E5202A1}" presName="Name0" presStyleCnt="0">
        <dgm:presLayoutVars>
          <dgm:chMax val="7"/>
          <dgm:chPref val="7"/>
          <dgm:dir/>
        </dgm:presLayoutVars>
      </dgm:prSet>
      <dgm:spPr/>
    </dgm:pt>
    <dgm:pt modelId="{013A5190-13DA-4A06-B419-25DE0FAB7E44}" type="pres">
      <dgm:prSet presAssocID="{BD86C9B3-8CA1-4316-B2A8-C2AB3E5202A1}" presName="Name1" presStyleCnt="0"/>
      <dgm:spPr/>
    </dgm:pt>
    <dgm:pt modelId="{8D925382-CBF4-430D-82BE-B8BB91879A49}" type="pres">
      <dgm:prSet presAssocID="{41C4E4EE-2324-4FF1-BA78-4882005C9586}" presName="picture_1" presStyleCnt="0"/>
      <dgm:spPr/>
    </dgm:pt>
    <dgm:pt modelId="{CE843430-6A5D-49F2-8E4D-AF5FF0C06A1E}" type="pres">
      <dgm:prSet presAssocID="{41C4E4EE-2324-4FF1-BA78-4882005C9586}" presName="pictureRepeatNode" presStyleLbl="alignImgPlace1" presStyleIdx="0" presStyleCnt="1" custScaleX="133164" custScaleY="133164" custLinFactNeighborX="17438" custLinFactNeighborY="-3712"/>
      <dgm:spPr/>
    </dgm:pt>
    <dgm:pt modelId="{4D1A0FA8-12E9-4E0B-B90F-BFECD1796557}" type="pres">
      <dgm:prSet presAssocID="{ACF776B3-81F4-49B8-996C-E0E8971CB28A}" presName="text_1" presStyleLbl="node1" presStyleIdx="0" presStyleCnt="0" custFlipHor="1" custScaleX="5764" custScaleY="23463" custLinFactY="76911" custLinFactNeighborX="48144" custLinFactNeighborY="100000">
        <dgm:presLayoutVars>
          <dgm:bulletEnabled val="1"/>
        </dgm:presLayoutVars>
      </dgm:prSet>
      <dgm:spPr/>
    </dgm:pt>
  </dgm:ptLst>
  <dgm:cxnLst>
    <dgm:cxn modelId="{5B738359-CF87-4D17-AA4D-AA83AFE3F907}" type="presOf" srcId="{41C4E4EE-2324-4FF1-BA78-4882005C9586}" destId="{CE843430-6A5D-49F2-8E4D-AF5FF0C06A1E}" srcOrd="0" destOrd="0" presId="urn:microsoft.com/office/officeart/2008/layout/CircularPictureCallout"/>
    <dgm:cxn modelId="{657E2791-CA4B-40FB-90BF-78812BF2A593}" type="presOf" srcId="{BD86C9B3-8CA1-4316-B2A8-C2AB3E5202A1}" destId="{79CAE2F2-FABA-47D8-982E-5CB4A395EF22}" srcOrd="0" destOrd="0" presId="urn:microsoft.com/office/officeart/2008/layout/CircularPictureCallout"/>
    <dgm:cxn modelId="{5A64C6AC-4807-4DC4-9F2C-89D66A8AD3CD}" srcId="{BD86C9B3-8CA1-4316-B2A8-C2AB3E5202A1}" destId="{ACF776B3-81F4-49B8-996C-E0E8971CB28A}" srcOrd="0" destOrd="0" parTransId="{5FCC59EC-C1F9-4CEA-A4DE-8BD900E35E09}" sibTransId="{41C4E4EE-2324-4FF1-BA78-4882005C9586}"/>
    <dgm:cxn modelId="{13E97CFA-3B17-4F06-A16C-1BAE7169EB0A}" type="presOf" srcId="{ACF776B3-81F4-49B8-996C-E0E8971CB28A}" destId="{4D1A0FA8-12E9-4E0B-B90F-BFECD1796557}" srcOrd="0" destOrd="0" presId="urn:microsoft.com/office/officeart/2008/layout/CircularPictureCallout"/>
    <dgm:cxn modelId="{D705EB29-DDF4-4415-9FE9-BC5F828FF238}" type="presParOf" srcId="{79CAE2F2-FABA-47D8-982E-5CB4A395EF22}" destId="{013A5190-13DA-4A06-B419-25DE0FAB7E44}" srcOrd="0" destOrd="0" presId="urn:microsoft.com/office/officeart/2008/layout/CircularPictureCallout"/>
    <dgm:cxn modelId="{1F943456-73C0-4688-ADD0-958A0DE02B92}" type="presParOf" srcId="{013A5190-13DA-4A06-B419-25DE0FAB7E44}" destId="{8D925382-CBF4-430D-82BE-B8BB91879A49}" srcOrd="0" destOrd="0" presId="urn:microsoft.com/office/officeart/2008/layout/CircularPictureCallout"/>
    <dgm:cxn modelId="{29D11D95-0058-49A1-964D-AFA35907B414}" type="presParOf" srcId="{8D925382-CBF4-430D-82BE-B8BB91879A49}" destId="{CE843430-6A5D-49F2-8E4D-AF5FF0C06A1E}" srcOrd="0" destOrd="0" presId="urn:microsoft.com/office/officeart/2008/layout/CircularPictureCallout"/>
    <dgm:cxn modelId="{6BC5FF22-5F5A-4683-BE56-58E9A0F6C169}" type="presParOf" srcId="{013A5190-13DA-4A06-B419-25DE0FAB7E44}" destId="{4D1A0FA8-12E9-4E0B-B90F-BFECD1796557}" srcOrd="1" destOrd="0" presId="urn:microsoft.com/office/officeart/2008/layout/CircularPictureCallou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43430-6A5D-49F2-8E4D-AF5FF0C06A1E}">
      <dsp:nvSpPr>
        <dsp:cNvPr id="0" name=""/>
        <dsp:cNvSpPr/>
      </dsp:nvSpPr>
      <dsp:spPr>
        <a:xfrm>
          <a:off x="1346024" y="0"/>
          <a:ext cx="3524500" cy="3524500"/>
        </a:xfrm>
        <a:prstGeom prst="ellipse">
          <a:avLst/>
        </a:prstGeom>
        <a:blipFill rotWithShape="1">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D1A0FA8-12E9-4E0B-B90F-BFECD1796557}">
      <dsp:nvSpPr>
        <dsp:cNvPr id="0" name=""/>
        <dsp:cNvSpPr/>
      </dsp:nvSpPr>
      <dsp:spPr>
        <a:xfrm flipH="1">
          <a:off x="3413435" y="3516041"/>
          <a:ext cx="97637" cy="20493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222250">
            <a:lnSpc>
              <a:spcPct val="90000"/>
            </a:lnSpc>
            <a:spcBef>
              <a:spcPct val="0"/>
            </a:spcBef>
            <a:spcAft>
              <a:spcPct val="35000"/>
            </a:spcAft>
            <a:buNone/>
          </a:pPr>
          <a:endParaRPr lang="es-CL" sz="500" kern="1200" dirty="0"/>
        </a:p>
      </dsp:txBody>
      <dsp:txXfrm>
        <a:off x="3413435" y="3516041"/>
        <a:ext cx="97637" cy="204931"/>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214ECDC-27AA-4BAE-B04E-533364742B70}" type="datetimeFigureOut">
              <a:rPr lang="es-ES_tradnl"/>
              <a:pPr>
                <a:defRPr/>
              </a:pPr>
              <a:t>26/09/2025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Editar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661DC0F2-0470-49B2-BD20-1BE6BAB0CFEB}"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a:defRPr/>
            </a:pPr>
            <a:fld id="{723CE86C-1FAA-476E-8610-6CF612D82F6D}"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17FDA0F7-3317-4A90-85A9-784F1E0F6A0E}" type="slidenum">
              <a:rPr lang="es-ES_tradnl" altLang="es-CL"/>
              <a:pPr/>
              <a:t>‹Nº›</a:t>
            </a:fld>
            <a:endParaRPr lang="es-ES_tradnl" altLang="es-CL"/>
          </a:p>
        </p:txBody>
      </p:sp>
    </p:spTree>
    <p:extLst>
      <p:ext uri="{BB962C8B-B14F-4D97-AF65-F5344CB8AC3E}">
        <p14:creationId xmlns:p14="http://schemas.microsoft.com/office/powerpoint/2010/main" val="26937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E95A1AB2-ABDE-4AA7-B0BA-B4771DBF257E}"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35CBBCA2-D1A3-4B4D-AC73-9D069169A434}" type="slidenum">
              <a:rPr lang="es-ES_tradnl" altLang="es-CL"/>
              <a:pPr/>
              <a:t>‹Nº›</a:t>
            </a:fld>
            <a:endParaRPr lang="es-ES_tradnl" altLang="es-CL"/>
          </a:p>
        </p:txBody>
      </p:sp>
    </p:spTree>
    <p:extLst>
      <p:ext uri="{BB962C8B-B14F-4D97-AF65-F5344CB8AC3E}">
        <p14:creationId xmlns:p14="http://schemas.microsoft.com/office/powerpoint/2010/main" val="25467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a:defRPr/>
            </a:pPr>
            <a:fld id="{096A1A31-6B2F-42D4-9D8B-250D0522AC84}"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4248B1C2-5544-4117-B964-FFA2790965CB}" type="slidenum">
              <a:rPr lang="es-ES_tradnl" altLang="es-CL"/>
              <a:pPr/>
              <a:t>‹Nº›</a:t>
            </a:fld>
            <a:endParaRPr lang="es-ES_tradnl" altLang="es-CL"/>
          </a:p>
        </p:txBody>
      </p:sp>
    </p:spTree>
    <p:extLst>
      <p:ext uri="{BB962C8B-B14F-4D97-AF65-F5344CB8AC3E}">
        <p14:creationId xmlns:p14="http://schemas.microsoft.com/office/powerpoint/2010/main" val="4244721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a:defRPr/>
            </a:pPr>
            <a:fld id="{5CC90434-FF42-4568-BAFD-14D07093E120}"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81203834-0EF4-4D06-A8D3-876274F5BE0F}" type="slidenum">
              <a:rPr lang="es-ES_tradnl" altLang="es-CL"/>
              <a:pPr/>
              <a:t>‹Nº›</a:t>
            </a:fld>
            <a:endParaRPr lang="es-ES_tradnl" altLang="es-CL"/>
          </a:p>
        </p:txBody>
      </p:sp>
    </p:spTree>
    <p:extLst>
      <p:ext uri="{BB962C8B-B14F-4D97-AF65-F5344CB8AC3E}">
        <p14:creationId xmlns:p14="http://schemas.microsoft.com/office/powerpoint/2010/main" val="9397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a:defRPr/>
            </a:pPr>
            <a:fld id="{3AE415DC-2033-47BD-86E8-F874CF6E7C58}" type="datetimeFigureOut">
              <a:rPr lang="es-ES_tradnl"/>
              <a:pPr>
                <a:defRPr/>
              </a:pPr>
              <a:t>26/09/2025</a:t>
            </a:fld>
            <a:endParaRPr lang="es-ES_tradnl"/>
          </a:p>
        </p:txBody>
      </p:sp>
      <p:sp>
        <p:nvSpPr>
          <p:cNvPr id="8" name="Marcador de pie de página 4"/>
          <p:cNvSpPr>
            <a:spLocks noGrp="1"/>
          </p:cNvSpPr>
          <p:nvPr>
            <p:ph type="ftr" sz="quarter" idx="11"/>
          </p:nvPr>
        </p:nvSpPr>
        <p:spPr/>
        <p:txBody>
          <a:bodyPr/>
          <a:lstStyle>
            <a:lvl1pPr>
              <a:defRPr/>
            </a:lvl1pPr>
          </a:lstStyle>
          <a:p>
            <a:pPr>
              <a:defRPr/>
            </a:pPr>
            <a:endParaRPr lang="es-ES_tradnl"/>
          </a:p>
        </p:txBody>
      </p:sp>
      <p:sp>
        <p:nvSpPr>
          <p:cNvPr id="9" name="Marcador de número de diapositiva 5"/>
          <p:cNvSpPr>
            <a:spLocks noGrp="1"/>
          </p:cNvSpPr>
          <p:nvPr>
            <p:ph type="sldNum" sz="quarter" idx="12"/>
          </p:nvPr>
        </p:nvSpPr>
        <p:spPr/>
        <p:txBody>
          <a:bodyPr/>
          <a:lstStyle>
            <a:lvl1pPr>
              <a:defRPr/>
            </a:lvl1pPr>
          </a:lstStyle>
          <a:p>
            <a:fld id="{6A3AF083-3250-4136-BEB9-7AF9A938BA7A}" type="slidenum">
              <a:rPr lang="es-ES_tradnl" altLang="es-CL"/>
              <a:pPr/>
              <a:t>‹Nº›</a:t>
            </a:fld>
            <a:endParaRPr lang="es-ES_tradnl" altLang="es-CL"/>
          </a:p>
        </p:txBody>
      </p:sp>
    </p:spTree>
    <p:extLst>
      <p:ext uri="{BB962C8B-B14F-4D97-AF65-F5344CB8AC3E}">
        <p14:creationId xmlns:p14="http://schemas.microsoft.com/office/powerpoint/2010/main" val="319215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a:defRPr/>
            </a:pPr>
            <a:fld id="{688908FD-EE54-425E-B52D-A5E77FE0F4E1}" type="datetimeFigureOut">
              <a:rPr lang="es-ES_tradnl"/>
              <a:pPr>
                <a:defRPr/>
              </a:pPr>
              <a:t>26/09/2025</a:t>
            </a:fld>
            <a:endParaRPr lang="es-ES_tradnl"/>
          </a:p>
        </p:txBody>
      </p:sp>
      <p:sp>
        <p:nvSpPr>
          <p:cNvPr id="4" name="Marcador de pie de página 4"/>
          <p:cNvSpPr>
            <a:spLocks noGrp="1"/>
          </p:cNvSpPr>
          <p:nvPr>
            <p:ph type="ftr" sz="quarter" idx="11"/>
          </p:nvPr>
        </p:nvSpPr>
        <p:spPr/>
        <p:txBody>
          <a:bodyPr/>
          <a:lstStyle>
            <a:lvl1pPr>
              <a:defRPr/>
            </a:lvl1pPr>
          </a:lstStyle>
          <a:p>
            <a:pPr>
              <a:defRPr/>
            </a:pPr>
            <a:endParaRPr lang="es-ES_tradnl"/>
          </a:p>
        </p:txBody>
      </p:sp>
      <p:sp>
        <p:nvSpPr>
          <p:cNvPr id="5" name="Marcador de número de diapositiva 5"/>
          <p:cNvSpPr>
            <a:spLocks noGrp="1"/>
          </p:cNvSpPr>
          <p:nvPr>
            <p:ph type="sldNum" sz="quarter" idx="12"/>
          </p:nvPr>
        </p:nvSpPr>
        <p:spPr/>
        <p:txBody>
          <a:bodyPr/>
          <a:lstStyle>
            <a:lvl1pPr>
              <a:defRPr/>
            </a:lvl1pPr>
          </a:lstStyle>
          <a:p>
            <a:fld id="{59C4D746-ECE6-4F12-9BD7-02F1A03DE9BC}" type="slidenum">
              <a:rPr lang="es-ES_tradnl" altLang="es-CL"/>
              <a:pPr/>
              <a:t>‹Nº›</a:t>
            </a:fld>
            <a:endParaRPr lang="es-ES_tradnl" altLang="es-CL"/>
          </a:p>
        </p:txBody>
      </p:sp>
    </p:spTree>
    <p:extLst>
      <p:ext uri="{BB962C8B-B14F-4D97-AF65-F5344CB8AC3E}">
        <p14:creationId xmlns:p14="http://schemas.microsoft.com/office/powerpoint/2010/main" val="1155446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a:defRPr/>
            </a:pPr>
            <a:fld id="{454B1D3B-28B6-43FE-A4A1-ACF50A9182C7}" type="datetimeFigureOut">
              <a:rPr lang="es-ES_tradnl"/>
              <a:pPr>
                <a:defRPr/>
              </a:pPr>
              <a:t>26/09/2025</a:t>
            </a:fld>
            <a:endParaRPr lang="es-ES_tradnl"/>
          </a:p>
        </p:txBody>
      </p:sp>
      <p:sp>
        <p:nvSpPr>
          <p:cNvPr id="3" name="Marcador de pie de página 4"/>
          <p:cNvSpPr>
            <a:spLocks noGrp="1"/>
          </p:cNvSpPr>
          <p:nvPr>
            <p:ph type="ftr" sz="quarter" idx="11"/>
          </p:nvPr>
        </p:nvSpPr>
        <p:spPr/>
        <p:txBody>
          <a:bodyPr/>
          <a:lstStyle>
            <a:lvl1pPr>
              <a:defRPr/>
            </a:lvl1pPr>
          </a:lstStyle>
          <a:p>
            <a:pPr>
              <a:defRPr/>
            </a:pPr>
            <a:endParaRPr lang="es-ES_tradnl"/>
          </a:p>
        </p:txBody>
      </p:sp>
      <p:sp>
        <p:nvSpPr>
          <p:cNvPr id="4" name="Marcador de número de diapositiva 5"/>
          <p:cNvSpPr>
            <a:spLocks noGrp="1"/>
          </p:cNvSpPr>
          <p:nvPr>
            <p:ph type="sldNum" sz="quarter" idx="12"/>
          </p:nvPr>
        </p:nvSpPr>
        <p:spPr/>
        <p:txBody>
          <a:bodyPr/>
          <a:lstStyle>
            <a:lvl1pPr>
              <a:defRPr/>
            </a:lvl1pPr>
          </a:lstStyle>
          <a:p>
            <a:fld id="{546EC160-BB17-4C5C-A913-243CEE97784F}" type="slidenum">
              <a:rPr lang="es-ES_tradnl" altLang="es-CL"/>
              <a:pPr/>
              <a:t>‹Nº›</a:t>
            </a:fld>
            <a:endParaRPr lang="es-ES_tradnl" altLang="es-CL"/>
          </a:p>
        </p:txBody>
      </p:sp>
    </p:spTree>
    <p:extLst>
      <p:ext uri="{BB962C8B-B14F-4D97-AF65-F5344CB8AC3E}">
        <p14:creationId xmlns:p14="http://schemas.microsoft.com/office/powerpoint/2010/main" val="2921665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022D298C-5E21-4FDC-838E-33C54A0835BE}"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F01B316F-FC05-4AA9-8B17-611F2B66785A}" type="slidenum">
              <a:rPr lang="es-ES_tradnl" altLang="es-CL"/>
              <a:pPr/>
              <a:t>‹Nº›</a:t>
            </a:fld>
            <a:endParaRPr lang="es-ES_tradnl" altLang="es-CL"/>
          </a:p>
        </p:txBody>
      </p:sp>
    </p:spTree>
    <p:extLst>
      <p:ext uri="{BB962C8B-B14F-4D97-AF65-F5344CB8AC3E}">
        <p14:creationId xmlns:p14="http://schemas.microsoft.com/office/powerpoint/2010/main" val="1524700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A65492E0-A143-485F-B68F-8CC91249D59B}"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EDC192D6-CB19-4D76-BAD3-1D4E4EA927D1}" type="slidenum">
              <a:rPr lang="es-ES_tradnl" altLang="es-CL"/>
              <a:pPr/>
              <a:t>‹Nº›</a:t>
            </a:fld>
            <a:endParaRPr lang="es-ES_tradnl" altLang="es-CL"/>
          </a:p>
        </p:txBody>
      </p:sp>
    </p:spTree>
    <p:extLst>
      <p:ext uri="{BB962C8B-B14F-4D97-AF65-F5344CB8AC3E}">
        <p14:creationId xmlns:p14="http://schemas.microsoft.com/office/powerpoint/2010/main" val="1631019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4C38D573-BBF9-4466-8100-20705A6765C2}"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64F13FBE-C0B8-4F7C-B7BE-9681116FC5EC}" type="slidenum">
              <a:rPr lang="es-ES_tradnl" altLang="es-CL"/>
              <a:pPr/>
              <a:t>‹Nº›</a:t>
            </a:fld>
            <a:endParaRPr lang="es-ES_tradnl" altLang="es-CL"/>
          </a:p>
        </p:txBody>
      </p:sp>
    </p:spTree>
    <p:extLst>
      <p:ext uri="{BB962C8B-B14F-4D97-AF65-F5344CB8AC3E}">
        <p14:creationId xmlns:p14="http://schemas.microsoft.com/office/powerpoint/2010/main" val="1856682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A3C05822-3120-4BF7-B215-1DFE2C6DC6A3}"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F19D8483-F2FB-4D92-932B-BB90B8B7CC0E}" type="slidenum">
              <a:rPr lang="es-ES_tradnl" altLang="es-CL"/>
              <a:pPr/>
              <a:t>‹Nº›</a:t>
            </a:fld>
            <a:endParaRPr lang="es-ES_tradnl" altLang="es-CL"/>
          </a:p>
        </p:txBody>
      </p:sp>
    </p:spTree>
    <p:extLst>
      <p:ext uri="{BB962C8B-B14F-4D97-AF65-F5344CB8AC3E}">
        <p14:creationId xmlns:p14="http://schemas.microsoft.com/office/powerpoint/2010/main" val="3455749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23CE86C-1FAA-476E-8610-6CF612D82F6D}"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7FDA0F7-3317-4A90-85A9-784F1E0F6A0E}"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210812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95A1AB2-ABDE-4AA7-B0BA-B4771DBF257E}"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5CBBCA2-D1A3-4B4D-AC73-9D069169A434}"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691567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96A1A31-6B2F-42D4-9D8B-250D0522AC84}"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248B1C2-5544-4117-B964-FFA2790965CB}"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1076728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CC90434-FF42-4568-BAFD-14D07093E120}"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1203834-0EF4-4D06-A8D3-876274F5BE0F}"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1557842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AE415DC-2033-47BD-86E8-F874CF6E7C58}"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A3AF083-3250-4136-BEB9-7AF9A938BA7A}"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8969873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88908FD-EE54-425E-B52D-A5E77FE0F4E1}"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9C4D746-ECE6-4F12-9BD7-02F1A03DE9BC}"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0188268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54B1D3B-28B6-43FE-A4A1-ACF50A9182C7}"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6EC160-BB17-4C5C-A913-243CEE97784F}"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3681858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22D298C-5E21-4FDC-838E-33C54A0835BE}"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01B316F-FC05-4AA9-8B17-611F2B66785A}"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4354854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65492E0-A143-485F-B68F-8CC91249D59B}"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DC192D6-CB19-4D76-BAD3-1D4E4EA927D1}"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6972680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C38D573-BBF9-4466-8100-20705A6765C2}"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4F13FBE-C0B8-4F7C-B7BE-9681116FC5EC}"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7231233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3C05822-3120-4BF7-B215-1DFE2C6DC6A3}"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19D8483-F2FB-4D92-932B-BB90B8B7CC0E}"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579767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40F057B8-E3CD-456E-9A46-2B8B20AF9933}" type="datetimeFigureOut">
              <a:rPr lang="es-ES_tradnl"/>
              <a:pPr>
                <a:defRPr/>
              </a:pPr>
              <a:t>26/09/2025</a:t>
            </a:fld>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s-ES_tradn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F59D94CD-8797-4F90-8E76-E70F46B730A3}"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0F057B8-E3CD-456E-9A46-2B8B20AF9933}"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9D94CD-8797-4F90-8E76-E70F46B730A3}"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64232094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Patrón de fondo&#10;&#10;Descripción generada automáticamente con confianza baja">
            <a:extLst>
              <a:ext uri="{FF2B5EF4-FFF2-40B4-BE49-F238E27FC236}">
                <a16:creationId xmlns:a16="http://schemas.microsoft.com/office/drawing/2014/main" id="{89BB7D2C-520F-A6A8-1317-6FED65880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037762"/>
          </a:xfrm>
          <a:prstGeom prst="rect">
            <a:avLst/>
          </a:prstGeom>
        </p:spPr>
      </p:pic>
      <p:sp>
        <p:nvSpPr>
          <p:cNvPr id="6" name="Rectangle: Rounded Corners 22">
            <a:extLst>
              <a:ext uri="{FF2B5EF4-FFF2-40B4-BE49-F238E27FC236}">
                <a16:creationId xmlns:a16="http://schemas.microsoft.com/office/drawing/2014/main" id="{100F0B21-F305-84E0-FC1E-67639502205C}"/>
              </a:ext>
            </a:extLst>
          </p:cNvPr>
          <p:cNvSpPr/>
          <p:nvPr/>
        </p:nvSpPr>
        <p:spPr>
          <a:xfrm>
            <a:off x="4193399" y="3624420"/>
            <a:ext cx="7308567" cy="1524001"/>
          </a:xfrm>
          <a:prstGeom prst="roundRect">
            <a:avLst>
              <a:gd name="adj" fmla="val 7874"/>
            </a:avLst>
          </a:prstGeom>
          <a:solidFill>
            <a:schemeClr val="tx1">
              <a:alpha val="76000"/>
            </a:schemeClr>
          </a:solidFill>
          <a:ln>
            <a:no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Ins="540000" anchor="ctr"/>
          <a:lstStyle>
            <a:defPPr>
              <a:defRPr lang="es-ES_tradnl"/>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800" b="1" dirty="0"/>
          </a:p>
        </p:txBody>
      </p:sp>
      <p:sp>
        <p:nvSpPr>
          <p:cNvPr id="8" name="Título 1"/>
          <p:cNvSpPr>
            <a:spLocks noGrp="1"/>
          </p:cNvSpPr>
          <p:nvPr>
            <p:ph type="ctrTitle"/>
          </p:nvPr>
        </p:nvSpPr>
        <p:spPr>
          <a:xfrm>
            <a:off x="4359212" y="3684902"/>
            <a:ext cx="7013209" cy="1403036"/>
          </a:xfrm>
        </p:spPr>
        <p:txBody>
          <a:bodyPr rtlCol="0">
            <a:noAutofit/>
          </a:bodyPr>
          <a:lstStyle/>
          <a:p>
            <a:pPr algn="l" eaLnBrk="1" fontAlgn="auto" hangingPunct="1">
              <a:spcAft>
                <a:spcPts val="0"/>
              </a:spcAft>
              <a:defRPr/>
            </a:pPr>
            <a:r>
              <a:rPr lang="es-ES" sz="4800" b="1" dirty="0">
                <a:solidFill>
                  <a:schemeClr val="bg1"/>
                </a:solidFill>
                <a:latin typeface="Arial" panose="020B0604020202020204" pitchFamily="34" charset="0"/>
                <a:cs typeface="Arial" panose="020B0604020202020204" pitchFamily="34" charset="0"/>
              </a:rPr>
              <a:t>Distribución </a:t>
            </a:r>
            <a:r>
              <a:rPr lang="es-ES" sz="4800" b="1" dirty="0" err="1">
                <a:solidFill>
                  <a:schemeClr val="bg1"/>
                </a:solidFill>
                <a:latin typeface="Arial" panose="020B0604020202020204" pitchFamily="34" charset="0"/>
                <a:cs typeface="Arial" panose="020B0604020202020204" pitchFamily="34" charset="0"/>
              </a:rPr>
              <a:t>Muestral</a:t>
            </a:r>
            <a:br>
              <a:rPr lang="es-ES" sz="4800" b="1" dirty="0">
                <a:solidFill>
                  <a:schemeClr val="bg1"/>
                </a:solidFill>
                <a:latin typeface="Arial" panose="020B0604020202020204" pitchFamily="34" charset="0"/>
                <a:cs typeface="Arial" panose="020B0604020202020204" pitchFamily="34" charset="0"/>
              </a:rPr>
            </a:br>
            <a:endParaRPr lang="es-ES_tradnl" sz="2800" b="1" dirty="0">
              <a:solidFill>
                <a:schemeClr val="bg1"/>
              </a:solidFill>
              <a:latin typeface="Arial" panose="020B0604020202020204" pitchFamily="34" charset="0"/>
              <a:cs typeface="Arial" panose="020B0604020202020204" pitchFamily="34" charset="0"/>
            </a:endParaRPr>
          </a:p>
        </p:txBody>
      </p:sp>
      <p:sp>
        <p:nvSpPr>
          <p:cNvPr id="10" name="Google Shape;92;p1"/>
          <p:cNvSpPr txBox="1"/>
          <p:nvPr/>
        </p:nvSpPr>
        <p:spPr>
          <a:xfrm>
            <a:off x="4349642" y="3112199"/>
            <a:ext cx="7022779" cy="400069"/>
          </a:xfrm>
          <a:prstGeom prst="rect">
            <a:avLst/>
          </a:prstGeom>
          <a:noFill/>
          <a:ln>
            <a:noFill/>
          </a:ln>
        </p:spPr>
        <p:txBody>
          <a:bodyPr spcFirstLastPara="1" wrap="square" lIns="91425" tIns="45700" rIns="91425" bIns="45700" anchor="t" anchorCtr="0">
            <a:spAutoFit/>
          </a:bodyPr>
          <a:lstStyle/>
          <a:p>
            <a:pPr marL="0" marR="0" lvl="0" indent="0" defTabSz="914400" eaLnBrk="0" fontAlgn="base" latinLnBrk="0" hangingPunct="0">
              <a:lnSpc>
                <a:spcPct val="100000"/>
              </a:lnSpc>
              <a:spcBef>
                <a:spcPts val="0"/>
              </a:spcBef>
              <a:spcAft>
                <a:spcPts val="0"/>
              </a:spcAft>
              <a:buClrTx/>
              <a:buSzTx/>
              <a:buFontTx/>
              <a:buNone/>
              <a:tabLst/>
              <a:defRPr/>
            </a:pPr>
            <a:r>
              <a:rPr kumimoji="0" lang="es-ES" sz="2000" b="1" i="0" u="none" strike="noStrike" kern="1200" cap="none" spc="0" normalizeH="0" baseline="0" noProof="0" dirty="0">
                <a:ln>
                  <a:noFill/>
                </a:ln>
                <a:solidFill>
                  <a:prstClr val="white"/>
                </a:solidFill>
                <a:effectLst/>
                <a:uLnTx/>
                <a:uFillTx/>
                <a:latin typeface="Arial"/>
                <a:cs typeface="Arial"/>
              </a:rPr>
              <a:t> Inferencia Estadística</a:t>
            </a:r>
            <a:endParaRPr kumimoji="0" sz="2000" b="0" i="0" u="none" strike="noStrike" kern="1200" cap="none" spc="0" normalizeH="0" baseline="0" noProof="0" dirty="0">
              <a:ln>
                <a:noFill/>
              </a:ln>
              <a:solidFill>
                <a:prstClr val="white"/>
              </a:solidFill>
              <a:effectLst/>
              <a:uLnTx/>
              <a:uFillTx/>
              <a:latin typeface="Arial"/>
              <a:ea typeface="Calibri"/>
              <a:cs typeface="Arial"/>
              <a:sym typeface="Calibri"/>
            </a:endParaRPr>
          </a:p>
        </p:txBody>
      </p:sp>
    </p:spTree>
    <p:extLst>
      <p:ext uri="{BB962C8B-B14F-4D97-AF65-F5344CB8AC3E}">
        <p14:creationId xmlns:p14="http://schemas.microsoft.com/office/powerpoint/2010/main" val="199877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15"/>
          <p:cNvSpPr/>
          <p:nvPr/>
        </p:nvSpPr>
        <p:spPr>
          <a:xfrm>
            <a:off x="6068291" y="-551793"/>
            <a:ext cx="4557668" cy="5932050"/>
          </a:xfrm>
          <a:prstGeom prst="roundRect">
            <a:avLst>
              <a:gd name="adj" fmla="val 2778"/>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Título 1"/>
          <p:cNvSpPr txBox="1">
            <a:spLocks/>
          </p:cNvSpPr>
          <p:nvPr/>
        </p:nvSpPr>
        <p:spPr bwMode="auto">
          <a:xfrm>
            <a:off x="914400" y="469681"/>
            <a:ext cx="4742622"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ctr" eaLnBrk="1" fontAlgn="auto" hangingPunct="1">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Objetivos de Aprendizaje</a:t>
            </a:r>
          </a:p>
        </p:txBody>
      </p:sp>
      <p:sp>
        <p:nvSpPr>
          <p:cNvPr id="6" name="CuadroTexto 5"/>
          <p:cNvSpPr txBox="1"/>
          <p:nvPr/>
        </p:nvSpPr>
        <p:spPr>
          <a:xfrm>
            <a:off x="6310266" y="2170855"/>
            <a:ext cx="4073717" cy="1754326"/>
          </a:xfrm>
          <a:prstGeom prst="rect">
            <a:avLst/>
          </a:prstGeom>
          <a:noFill/>
        </p:spPr>
        <p:txBody>
          <a:bodyPr wrap="square" rtlCol="0">
            <a:spAutoFit/>
          </a:bodyPr>
          <a:lstStyle/>
          <a:p>
            <a:pPr marL="342900" indent="-342900" algn="just">
              <a:buFont typeface="Wingdings" panose="05000000000000000000" pitchFamily="2" charset="2"/>
              <a:buChar char="Ø"/>
              <a:defRPr>
                <a:solidFill>
                  <a:srgbClr val="FFFFFF"/>
                </a:solidFill>
              </a:defRPr>
            </a:pPr>
            <a:r>
              <a:rPr lang="es-ES" dirty="0">
                <a:latin typeface="+mn-lt"/>
                <a:ea typeface="Open Sans" pitchFamily="2" charset="0"/>
                <a:cs typeface="Open Sans" pitchFamily="2" charset="0"/>
              </a:rPr>
              <a:t>Utiliza los conceptos básicos de estadística Inferencial.</a:t>
            </a:r>
          </a:p>
          <a:p>
            <a:pPr marL="342900" indent="-342900" algn="just">
              <a:buFont typeface="Wingdings" panose="05000000000000000000" pitchFamily="2" charset="2"/>
              <a:buChar char="Ø"/>
              <a:defRPr>
                <a:solidFill>
                  <a:srgbClr val="FFFFFF"/>
                </a:solidFill>
              </a:defRPr>
            </a:pPr>
            <a:endParaRPr lang="es-ES" dirty="0">
              <a:latin typeface="+mn-lt"/>
              <a:ea typeface="Open Sans" pitchFamily="2" charset="0"/>
              <a:cs typeface="Open Sans" pitchFamily="2" charset="0"/>
            </a:endParaRPr>
          </a:p>
          <a:p>
            <a:pPr marL="342900" indent="-342900" algn="just">
              <a:buFont typeface="Wingdings" panose="05000000000000000000" pitchFamily="2" charset="2"/>
              <a:buChar char="Ø"/>
              <a:defRPr>
                <a:solidFill>
                  <a:srgbClr val="FFFFFF"/>
                </a:solidFill>
              </a:defRPr>
            </a:pPr>
            <a:r>
              <a:rPr lang="es-ES" dirty="0">
                <a:latin typeface="+mn-lt"/>
                <a:ea typeface="Open Sans" pitchFamily="2" charset="0"/>
                <a:cs typeface="Open Sans" pitchFamily="2" charset="0"/>
              </a:rPr>
              <a:t>Realizar  cálculos  de  probabilidad utilizando la distribución muestral para resolver un problema.</a:t>
            </a:r>
          </a:p>
        </p:txBody>
      </p:sp>
      <p:graphicFrame>
        <p:nvGraphicFramePr>
          <p:cNvPr id="5" name="Diagrama 4">
            <a:extLst>
              <a:ext uri="{FF2B5EF4-FFF2-40B4-BE49-F238E27FC236}">
                <a16:creationId xmlns:a16="http://schemas.microsoft.com/office/drawing/2014/main" id="{76DA5601-9A99-7640-C9D2-BA554A55B661}"/>
              </a:ext>
            </a:extLst>
          </p:cNvPr>
          <p:cNvGraphicFramePr/>
          <p:nvPr>
            <p:extLst>
              <p:ext uri="{D42A27DB-BD31-4B8C-83A1-F6EECF244321}">
                <p14:modId xmlns:p14="http://schemas.microsoft.com/office/powerpoint/2010/main" val="3595306248"/>
              </p:ext>
            </p:extLst>
          </p:nvPr>
        </p:nvGraphicFramePr>
        <p:xfrm>
          <a:off x="236059" y="1659284"/>
          <a:ext cx="5293474" cy="3720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002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bwMode="auto">
          <a:xfrm>
            <a:off x="1162050" y="1607482"/>
            <a:ext cx="10437767" cy="613204"/>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Contenido:</a:t>
            </a:r>
          </a:p>
        </p:txBody>
      </p:sp>
      <p:sp>
        <p:nvSpPr>
          <p:cNvPr id="5" name="Rectángulo redondeado 14">
            <a:extLst>
              <a:ext uri="{FF2B5EF4-FFF2-40B4-BE49-F238E27FC236}">
                <a16:creationId xmlns:a16="http://schemas.microsoft.com/office/drawing/2014/main" id="{62C19520-3C27-97A1-FA66-919E66ACD2AC}"/>
              </a:ext>
            </a:extLst>
          </p:cNvPr>
          <p:cNvSpPr/>
          <p:nvPr/>
        </p:nvSpPr>
        <p:spPr>
          <a:xfrm>
            <a:off x="-348344" y="2507592"/>
            <a:ext cx="6901543" cy="1512616"/>
          </a:xfrm>
          <a:prstGeom prst="roundRect">
            <a:avLst>
              <a:gd name="adj" fmla="val 4466"/>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7" name="CuadroTexto 6">
            <a:extLst>
              <a:ext uri="{FF2B5EF4-FFF2-40B4-BE49-F238E27FC236}">
                <a16:creationId xmlns:a16="http://schemas.microsoft.com/office/drawing/2014/main" id="{93DA603D-4F38-4477-ABCF-7D9BF773DD97}"/>
              </a:ext>
            </a:extLst>
          </p:cNvPr>
          <p:cNvSpPr txBox="1"/>
          <p:nvPr/>
        </p:nvSpPr>
        <p:spPr>
          <a:xfrm>
            <a:off x="1227909" y="2940734"/>
            <a:ext cx="4685211" cy="646331"/>
          </a:xfrm>
          <a:prstGeom prst="rect">
            <a:avLst/>
          </a:prstGeom>
          <a:noFill/>
        </p:spPr>
        <p:txBody>
          <a:bodyPr wrap="square" rtlCol="0">
            <a:spAutoFit/>
          </a:bodyPr>
          <a:lstStyle/>
          <a:p>
            <a:pPr marL="342900" indent="-342900">
              <a:buFont typeface="+mj-lt"/>
              <a:buAutoNum type="arabicPeriod"/>
              <a:defRPr>
                <a:solidFill>
                  <a:srgbClr val="FFFFFF"/>
                </a:solidFill>
              </a:defRPr>
            </a:pPr>
            <a:r>
              <a:rPr lang="es-ES" dirty="0"/>
              <a:t>Distribución muestral de medias.</a:t>
            </a:r>
          </a:p>
          <a:p>
            <a:pPr marL="342900" indent="-342900">
              <a:buFont typeface="+mj-lt"/>
              <a:buAutoNum type="arabicPeriod"/>
              <a:defRPr>
                <a:solidFill>
                  <a:srgbClr val="FFFFFF"/>
                </a:solidFill>
              </a:defRPr>
            </a:pPr>
            <a:r>
              <a:rPr lang="es-ES" dirty="0"/>
              <a:t>Distribución muestral de varianzas.</a:t>
            </a:r>
          </a:p>
        </p:txBody>
      </p:sp>
      <p:sp>
        <p:nvSpPr>
          <p:cNvPr id="2" name="Elipse 1">
            <a:extLst>
              <a:ext uri="{FF2B5EF4-FFF2-40B4-BE49-F238E27FC236}">
                <a16:creationId xmlns:a16="http://schemas.microsoft.com/office/drawing/2014/main" id="{882F76E7-2B9E-F258-B204-17385204028B}"/>
              </a:ext>
            </a:extLst>
          </p:cNvPr>
          <p:cNvSpPr/>
          <p:nvPr/>
        </p:nvSpPr>
        <p:spPr>
          <a:xfrm>
            <a:off x="7933422" y="1395816"/>
            <a:ext cx="3524500" cy="3524500"/>
          </a:xfrm>
          <a:prstGeom prst="ellipse">
            <a:avLst/>
          </a:prstGeom>
          <a:blipFill rotWithShape="1">
            <a:blip r:embed="rId2" cstate="print">
              <a:extLst>
                <a:ext uri="{28A0092B-C50C-407E-A947-70E740481C1C}">
                  <a14:useLocalDpi xmlns:a14="http://schemas.microsoft.com/office/drawing/2010/main" val="0"/>
                </a:ext>
              </a:extLst>
            </a:blip>
            <a:srcRect/>
            <a:stretch>
              <a:fillRect l="-25000" r="-25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Tree>
    <p:extLst>
      <p:ext uri="{BB962C8B-B14F-4D97-AF65-F5344CB8AC3E}">
        <p14:creationId xmlns:p14="http://schemas.microsoft.com/office/powerpoint/2010/main" val="55615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289691" y="1034189"/>
            <a:ext cx="10442684" cy="5175024"/>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704851" y="335881"/>
            <a:ext cx="10782300" cy="731520"/>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Distribución Muestral</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704851" y="1237650"/>
            <a:ext cx="9022623" cy="4801314"/>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La distribución muestral es una distribución de probabilidad que describe los posibles valores que puede tomar un estadístico (como la media, la mediana, la desviación estándar, etc.) al tomar muestras aleatorias de una población.</a:t>
            </a:r>
          </a:p>
          <a:p>
            <a:pPr algn="just"/>
            <a:endParaRPr lang="es-ES" dirty="0">
              <a:solidFill>
                <a:schemeClr val="bg1"/>
              </a:solidFill>
              <a:latin typeface="+mn-lt"/>
              <a:ea typeface="Source Sans Pro"/>
            </a:endParaRPr>
          </a:p>
          <a:p>
            <a:pPr algn="just"/>
            <a:r>
              <a:rPr lang="es-ES" dirty="0">
                <a:solidFill>
                  <a:schemeClr val="bg1"/>
                </a:solidFill>
                <a:latin typeface="+mn-lt"/>
                <a:ea typeface="Source Sans Pro"/>
              </a:rPr>
              <a:t>En otras palabras, la distribución </a:t>
            </a:r>
            <a:r>
              <a:rPr lang="es-ES" dirty="0" err="1">
                <a:solidFill>
                  <a:schemeClr val="bg1"/>
                </a:solidFill>
                <a:latin typeface="+mn-lt"/>
                <a:ea typeface="Source Sans Pro"/>
              </a:rPr>
              <a:t>muestral</a:t>
            </a:r>
            <a:r>
              <a:rPr lang="es-ES" dirty="0">
                <a:solidFill>
                  <a:schemeClr val="bg1"/>
                </a:solidFill>
                <a:latin typeface="+mn-lt"/>
                <a:ea typeface="Source Sans Pro"/>
              </a:rPr>
              <a:t> es una distribución teórica que muestra cómo se distribuyen los estadísticos de una población a través de todas las posibles muestras que se pueden extraer de esa población.</a:t>
            </a:r>
          </a:p>
          <a:p>
            <a:pPr algn="just"/>
            <a:endParaRPr lang="es-ES" dirty="0">
              <a:solidFill>
                <a:schemeClr val="bg1"/>
              </a:solidFill>
              <a:latin typeface="+mn-lt"/>
              <a:ea typeface="Source Sans Pro"/>
            </a:endParaRPr>
          </a:p>
          <a:p>
            <a:pPr algn="just"/>
            <a:r>
              <a:rPr lang="es-ES" dirty="0">
                <a:solidFill>
                  <a:schemeClr val="bg1"/>
                </a:solidFill>
                <a:latin typeface="+mn-lt"/>
                <a:ea typeface="Source Sans Pro"/>
              </a:rPr>
              <a:t>Por ejemplo, si queremos estimar la media de una población, podemos tomar muestras aleatorias de esa población y calcular la media de cada muestra. Si graficamos todas las medias de las muestras que se pueden extraer de la población, obtendremos una distribución de medias </a:t>
            </a:r>
            <a:r>
              <a:rPr lang="es-ES" dirty="0" err="1">
                <a:solidFill>
                  <a:schemeClr val="bg1"/>
                </a:solidFill>
                <a:latin typeface="+mn-lt"/>
                <a:ea typeface="Source Sans Pro"/>
              </a:rPr>
              <a:t>muestrales</a:t>
            </a:r>
            <a:r>
              <a:rPr lang="es-ES" dirty="0">
                <a:solidFill>
                  <a:schemeClr val="bg1"/>
                </a:solidFill>
                <a:latin typeface="+mn-lt"/>
                <a:ea typeface="Source Sans Pro"/>
              </a:rPr>
              <a:t>. Esta distribución de medias </a:t>
            </a:r>
            <a:r>
              <a:rPr lang="es-ES" dirty="0" err="1">
                <a:solidFill>
                  <a:schemeClr val="bg1"/>
                </a:solidFill>
                <a:latin typeface="+mn-lt"/>
                <a:ea typeface="Source Sans Pro"/>
              </a:rPr>
              <a:t>muestrales</a:t>
            </a:r>
            <a:r>
              <a:rPr lang="es-ES" dirty="0">
                <a:solidFill>
                  <a:schemeClr val="bg1"/>
                </a:solidFill>
                <a:latin typeface="+mn-lt"/>
                <a:ea typeface="Source Sans Pro"/>
              </a:rPr>
              <a:t> es la distribución </a:t>
            </a:r>
            <a:r>
              <a:rPr lang="es-ES" dirty="0" err="1">
                <a:solidFill>
                  <a:schemeClr val="bg1"/>
                </a:solidFill>
                <a:latin typeface="+mn-lt"/>
                <a:ea typeface="Source Sans Pro"/>
              </a:rPr>
              <a:t>muestral</a:t>
            </a:r>
            <a:r>
              <a:rPr lang="es-ES" dirty="0">
                <a:solidFill>
                  <a:schemeClr val="bg1"/>
                </a:solidFill>
                <a:latin typeface="+mn-lt"/>
                <a:ea typeface="Source Sans Pro"/>
              </a:rPr>
              <a:t> de la media.</a:t>
            </a:r>
          </a:p>
          <a:p>
            <a:pPr algn="just"/>
            <a:endParaRPr lang="es-ES" dirty="0">
              <a:solidFill>
                <a:schemeClr val="bg1"/>
              </a:solidFill>
              <a:latin typeface="+mn-lt"/>
              <a:ea typeface="Source Sans Pro"/>
            </a:endParaRPr>
          </a:p>
          <a:p>
            <a:pPr algn="just"/>
            <a:r>
              <a:rPr lang="es-ES" dirty="0">
                <a:solidFill>
                  <a:schemeClr val="bg1"/>
                </a:solidFill>
                <a:latin typeface="+mn-lt"/>
                <a:ea typeface="Source Sans Pro"/>
              </a:rPr>
              <a:t>En estadística, la distribución </a:t>
            </a:r>
            <a:r>
              <a:rPr lang="es-ES" dirty="0" err="1">
                <a:solidFill>
                  <a:schemeClr val="bg1"/>
                </a:solidFill>
                <a:latin typeface="+mn-lt"/>
                <a:ea typeface="Source Sans Pro"/>
              </a:rPr>
              <a:t>muestral</a:t>
            </a:r>
            <a:r>
              <a:rPr lang="es-ES" dirty="0">
                <a:solidFill>
                  <a:schemeClr val="bg1"/>
                </a:solidFill>
                <a:latin typeface="+mn-lt"/>
                <a:ea typeface="Source Sans Pro"/>
              </a:rPr>
              <a:t> sirve para </a:t>
            </a:r>
            <a:r>
              <a:rPr lang="es-ES" b="1" dirty="0">
                <a:solidFill>
                  <a:schemeClr val="bg1"/>
                </a:solidFill>
                <a:latin typeface="+mn-lt"/>
                <a:ea typeface="Source Sans Pro"/>
              </a:rPr>
              <a:t>calcular la probabilidad que se tiene de acercarse al valor del parámetro poblacional al estudiar una sola muestra</a:t>
            </a:r>
            <a:r>
              <a:rPr lang="es-ES" dirty="0">
                <a:solidFill>
                  <a:schemeClr val="bg1"/>
                </a:solidFill>
                <a:latin typeface="+mn-lt"/>
                <a:ea typeface="Source Sans Pro"/>
              </a:rPr>
              <a:t>. Asimismo, la distribución </a:t>
            </a:r>
            <a:r>
              <a:rPr lang="es-ES" dirty="0" err="1">
                <a:solidFill>
                  <a:schemeClr val="bg1"/>
                </a:solidFill>
                <a:latin typeface="+mn-lt"/>
                <a:ea typeface="Source Sans Pro"/>
              </a:rPr>
              <a:t>muestral</a:t>
            </a:r>
            <a:r>
              <a:rPr lang="es-ES" dirty="0">
                <a:solidFill>
                  <a:schemeClr val="bg1"/>
                </a:solidFill>
                <a:latin typeface="+mn-lt"/>
                <a:ea typeface="Source Sans Pro"/>
              </a:rPr>
              <a:t> permite estimar el error </a:t>
            </a:r>
            <a:r>
              <a:rPr lang="es-ES" dirty="0" err="1">
                <a:solidFill>
                  <a:schemeClr val="bg1"/>
                </a:solidFill>
                <a:latin typeface="+mn-lt"/>
                <a:ea typeface="Source Sans Pro"/>
              </a:rPr>
              <a:t>muestral</a:t>
            </a:r>
            <a:r>
              <a:rPr lang="es-ES" dirty="0">
                <a:solidFill>
                  <a:schemeClr val="bg1"/>
                </a:solidFill>
                <a:latin typeface="+mn-lt"/>
                <a:ea typeface="Source Sans Pro"/>
              </a:rPr>
              <a:t> para un tamaño de muestra dado.</a:t>
            </a:r>
          </a:p>
        </p:txBody>
      </p:sp>
    </p:spTree>
    <p:extLst>
      <p:ext uri="{BB962C8B-B14F-4D97-AF65-F5344CB8AC3E}">
        <p14:creationId xmlns:p14="http://schemas.microsoft.com/office/powerpoint/2010/main" val="366030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237440" y="1757000"/>
            <a:ext cx="10442684" cy="3005151"/>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704850" y="836023"/>
            <a:ext cx="10782300" cy="806857"/>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Distribución Muestral</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704850" y="1958205"/>
            <a:ext cx="9022623" cy="2585323"/>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La distribución muestral es importante porque nos permite </a:t>
            </a:r>
            <a:r>
              <a:rPr lang="es-ES" b="1" dirty="0">
                <a:solidFill>
                  <a:schemeClr val="bg1"/>
                </a:solidFill>
                <a:latin typeface="+mn-lt"/>
                <a:ea typeface="Source Sans Pro"/>
              </a:rPr>
              <a:t>hacer inferencias sobre la población utilizando información de la muestra</a:t>
            </a:r>
            <a:r>
              <a:rPr lang="es-ES" dirty="0">
                <a:solidFill>
                  <a:schemeClr val="bg1"/>
                </a:solidFill>
                <a:latin typeface="+mn-lt"/>
                <a:ea typeface="Source Sans Pro"/>
              </a:rPr>
              <a:t>. Al conocer la distribución muestral de un estadístico, podemos calcular intervalos de confianza, realizar pruebas de hipótesis y hacer predicciones sobre la población.</a:t>
            </a:r>
          </a:p>
          <a:p>
            <a:pPr algn="just"/>
            <a:endParaRPr lang="es-ES" dirty="0">
              <a:solidFill>
                <a:schemeClr val="bg1"/>
              </a:solidFill>
              <a:latin typeface="+mn-lt"/>
              <a:ea typeface="Source Sans Pro"/>
            </a:endParaRPr>
          </a:p>
          <a:p>
            <a:pPr algn="just"/>
            <a:r>
              <a:rPr lang="es-ES" dirty="0">
                <a:solidFill>
                  <a:schemeClr val="bg1"/>
                </a:solidFill>
                <a:latin typeface="+mn-lt"/>
                <a:ea typeface="Source Sans Pro"/>
              </a:rPr>
              <a:t>Es importante destacar que la distribución muestral depende del tamaño de la muestra y de las propiedades de la población de donde se extrae la muestra. Además, la distribución muestral de algunos estadísticos, como la media, sigue una distribución normal según el teorema del límite central, lo que facilita el análisis estadístico.</a:t>
            </a:r>
          </a:p>
        </p:txBody>
      </p:sp>
    </p:spTree>
    <p:extLst>
      <p:ext uri="{BB962C8B-B14F-4D97-AF65-F5344CB8AC3E}">
        <p14:creationId xmlns:p14="http://schemas.microsoft.com/office/powerpoint/2010/main" val="3487103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860068" y="2355121"/>
            <a:ext cx="10461075" cy="4092137"/>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457199" y="995905"/>
            <a:ext cx="11277600" cy="1234327"/>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860068" y="75928"/>
            <a:ext cx="10627082"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Distribución </a:t>
            </a:r>
            <a:r>
              <a:rPr lang="es-ES" sz="3200" dirty="0" err="1">
                <a:solidFill>
                  <a:schemeClr val="bg1">
                    <a:lumMod val="50000"/>
                  </a:schemeClr>
                </a:solidFill>
                <a:latin typeface="Arial" panose="020B0604020202020204" pitchFamily="34" charset="0"/>
                <a:cs typeface="Arial" panose="020B0604020202020204" pitchFamily="34" charset="0"/>
              </a:rPr>
              <a:t>Muestral</a:t>
            </a:r>
            <a:r>
              <a:rPr lang="es-ES" sz="3200" dirty="0">
                <a:solidFill>
                  <a:schemeClr val="bg1">
                    <a:lumMod val="50000"/>
                  </a:schemeClr>
                </a:solidFill>
                <a:latin typeface="Arial" panose="020B0604020202020204" pitchFamily="34" charset="0"/>
                <a:cs typeface="Arial" panose="020B0604020202020204" pitchFamily="34" charset="0"/>
              </a:rPr>
              <a:t> de Medias</a:t>
            </a:r>
            <a:endParaRPr lang="es-MX" sz="3200" dirty="0">
              <a:solidFill>
                <a:schemeClr val="bg1">
                  <a:lumMod val="50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746CFDD-6FC3-5AA7-5C1D-362E2C5244F1}"/>
                  </a:ext>
                </a:extLst>
              </p:cNvPr>
              <p:cNvSpPr txBox="1"/>
              <p:nvPr/>
            </p:nvSpPr>
            <p:spPr>
              <a:xfrm>
                <a:off x="860068" y="1126986"/>
                <a:ext cx="10461075" cy="923330"/>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Suponga que se han seleccionado </a:t>
                </a:r>
                <a:r>
                  <a:rPr lang="es-ES" b="1" dirty="0">
                    <a:solidFill>
                      <a:schemeClr val="bg1"/>
                    </a:solidFill>
                    <a:latin typeface="+mn-lt"/>
                    <a:ea typeface="Source Sans Pro"/>
                  </a:rPr>
                  <a:t>n</a:t>
                </a:r>
                <a:r>
                  <a:rPr lang="es-ES" dirty="0">
                    <a:solidFill>
                      <a:schemeClr val="bg1"/>
                    </a:solidFill>
                    <a:latin typeface="+mn-lt"/>
                    <a:ea typeface="Source Sans Pro"/>
                  </a:rPr>
                  <a:t> muestras aleatorias de tamaño </a:t>
                </a:r>
                <a:r>
                  <a:rPr lang="es-ES" b="1" dirty="0">
                    <a:solidFill>
                      <a:schemeClr val="bg1"/>
                    </a:solidFill>
                    <a:latin typeface="+mn-lt"/>
                    <a:ea typeface="Source Sans Pro"/>
                  </a:rPr>
                  <a:t>m</a:t>
                </a:r>
                <a:r>
                  <a:rPr lang="es-ES" dirty="0">
                    <a:solidFill>
                      <a:schemeClr val="bg1"/>
                    </a:solidFill>
                    <a:latin typeface="+mn-lt"/>
                    <a:ea typeface="Source Sans Pro"/>
                  </a:rPr>
                  <a:t> en una población grande. Se calcula la media muestral </a:t>
                </a:r>
                <a14:m>
                  <m:oMath xmlns:m="http://schemas.openxmlformats.org/officeDocument/2006/math">
                    <m:acc>
                      <m:accPr>
                        <m:chr m:val="̅"/>
                        <m:ctrlPr>
                          <a:rPr lang="es-CL" i="1" smtClean="0">
                            <a:solidFill>
                              <a:schemeClr val="bg1"/>
                            </a:solidFill>
                            <a:latin typeface="Cambria Math" panose="02040503050406030204" pitchFamily="18" charset="0"/>
                          </a:rPr>
                        </m:ctrlPr>
                      </m:accPr>
                      <m:e>
                        <m:r>
                          <a:rPr lang="es-CL" b="0" i="1" smtClean="0">
                            <a:solidFill>
                              <a:schemeClr val="bg1"/>
                            </a:solidFill>
                            <a:latin typeface="Cambria Math" panose="02040503050406030204" pitchFamily="18" charset="0"/>
                          </a:rPr>
                          <m:t>𝑋</m:t>
                        </m:r>
                      </m:e>
                    </m:acc>
                  </m:oMath>
                </a14:m>
                <a:r>
                  <a:rPr lang="es-ES" dirty="0">
                    <a:solidFill>
                      <a:schemeClr val="bg1"/>
                    </a:solidFill>
                    <a:latin typeface="+mn-lt"/>
                    <a:ea typeface="Source Sans Pro"/>
                  </a:rPr>
                  <a:t> para cada muestra; la colección de todas estas medias muestrales recibe el nombre de </a:t>
                </a:r>
                <a:r>
                  <a:rPr lang="es-ES" b="1" dirty="0">
                    <a:solidFill>
                      <a:schemeClr val="bg1"/>
                    </a:solidFill>
                    <a:latin typeface="+mn-lt"/>
                    <a:ea typeface="Source Sans Pro"/>
                  </a:rPr>
                  <a:t>distribución muestral de medias</a:t>
                </a:r>
                <a:r>
                  <a:rPr lang="es-ES" dirty="0">
                    <a:solidFill>
                      <a:schemeClr val="bg1"/>
                    </a:solidFill>
                    <a:latin typeface="+mn-lt"/>
                    <a:ea typeface="Source Sans Pro"/>
                  </a:rPr>
                  <a:t>.</a:t>
                </a:r>
              </a:p>
            </p:txBody>
          </p:sp>
        </mc:Choice>
        <mc:Fallback xmlns="">
          <p:sp>
            <p:nvSpPr>
              <p:cNvPr id="9" name="CuadroTexto 8">
                <a:extLst>
                  <a:ext uri="{FF2B5EF4-FFF2-40B4-BE49-F238E27FC236}">
                    <a16:creationId xmlns:a16="http://schemas.microsoft.com/office/drawing/2014/main" id="{C746CFDD-6FC3-5AA7-5C1D-362E2C5244F1}"/>
                  </a:ext>
                </a:extLst>
              </p:cNvPr>
              <p:cNvSpPr txBox="1">
                <a:spLocks noRot="1" noChangeAspect="1" noMove="1" noResize="1" noEditPoints="1" noAdjustHandles="1" noChangeArrowheads="1" noChangeShapeType="1" noTextEdit="1"/>
              </p:cNvSpPr>
              <p:nvPr/>
            </p:nvSpPr>
            <p:spPr>
              <a:xfrm>
                <a:off x="860068" y="1126986"/>
                <a:ext cx="10461075" cy="923330"/>
              </a:xfrm>
              <a:prstGeom prst="rect">
                <a:avLst/>
              </a:prstGeom>
              <a:blipFill>
                <a:blip r:embed="rId2"/>
                <a:stretch>
                  <a:fillRect l="-466" t="-3974" r="-524" b="-9934"/>
                </a:stretch>
              </a:blipFill>
              <a:ln>
                <a:noFill/>
              </a:ln>
            </p:spPr>
            <p:txBody>
              <a:bodyPr/>
              <a:lstStyle/>
              <a:p>
                <a:r>
                  <a:rPr lang="en-US">
                    <a:noFill/>
                  </a:rPr>
                  <a:t> </a:t>
                </a:r>
              </a:p>
            </p:txBody>
          </p:sp>
        </mc:Fallback>
      </mc:AlternateContent>
      <p:sp>
        <p:nvSpPr>
          <p:cNvPr id="4" name="Elipse 3">
            <a:extLst>
              <a:ext uri="{FF2B5EF4-FFF2-40B4-BE49-F238E27FC236}">
                <a16:creationId xmlns:a16="http://schemas.microsoft.com/office/drawing/2014/main" id="{7737A959-21C4-4260-3B32-9E8DAD8254EE}"/>
              </a:ext>
            </a:extLst>
          </p:cNvPr>
          <p:cNvSpPr/>
          <p:nvPr/>
        </p:nvSpPr>
        <p:spPr>
          <a:xfrm>
            <a:off x="1119731" y="2747058"/>
            <a:ext cx="2765779" cy="276577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CuadroTexto 5">
            <a:extLst>
              <a:ext uri="{FF2B5EF4-FFF2-40B4-BE49-F238E27FC236}">
                <a16:creationId xmlns:a16="http://schemas.microsoft.com/office/drawing/2014/main" id="{90BC8674-8B39-4672-4984-531FA378C4CF}"/>
              </a:ext>
            </a:extLst>
          </p:cNvPr>
          <p:cNvSpPr txBox="1"/>
          <p:nvPr/>
        </p:nvSpPr>
        <p:spPr>
          <a:xfrm>
            <a:off x="1952533" y="5626569"/>
            <a:ext cx="1100173" cy="369332"/>
          </a:xfrm>
          <a:prstGeom prst="rect">
            <a:avLst/>
          </a:prstGeom>
          <a:noFill/>
        </p:spPr>
        <p:txBody>
          <a:bodyPr wrap="none" rtlCol="0">
            <a:spAutoFit/>
          </a:bodyPr>
          <a:lstStyle/>
          <a:p>
            <a:r>
              <a:rPr lang="es-CL" dirty="0">
                <a:solidFill>
                  <a:schemeClr val="tx1">
                    <a:lumMod val="65000"/>
                    <a:lumOff val="35000"/>
                  </a:schemeClr>
                </a:solidFill>
              </a:rPr>
              <a:t>Población</a:t>
            </a:r>
          </a:p>
        </p:txBody>
      </p:sp>
      <p:sp>
        <p:nvSpPr>
          <p:cNvPr id="7" name="Elipse 6">
            <a:extLst>
              <a:ext uri="{FF2B5EF4-FFF2-40B4-BE49-F238E27FC236}">
                <a16:creationId xmlns:a16="http://schemas.microsoft.com/office/drawing/2014/main" id="{1F5E1BC2-DD0B-5E41-382F-26A451EDDC4B}"/>
              </a:ext>
            </a:extLst>
          </p:cNvPr>
          <p:cNvSpPr/>
          <p:nvPr/>
        </p:nvSpPr>
        <p:spPr>
          <a:xfrm>
            <a:off x="4377295" y="2494280"/>
            <a:ext cx="824089" cy="82408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CL">
              <a:solidFill>
                <a:schemeClr val="tx1">
                  <a:lumMod val="65000"/>
                  <a:lumOff val="35000"/>
                </a:schemeClr>
              </a:solidFill>
            </a:endParaRPr>
          </a:p>
        </p:txBody>
      </p:sp>
      <p:sp>
        <p:nvSpPr>
          <p:cNvPr id="8" name="Elipse 7">
            <a:extLst>
              <a:ext uri="{FF2B5EF4-FFF2-40B4-BE49-F238E27FC236}">
                <a16:creationId xmlns:a16="http://schemas.microsoft.com/office/drawing/2014/main" id="{6677114E-F111-D9F7-68C9-4664438FF76C}"/>
              </a:ext>
            </a:extLst>
          </p:cNvPr>
          <p:cNvSpPr/>
          <p:nvPr/>
        </p:nvSpPr>
        <p:spPr>
          <a:xfrm>
            <a:off x="4586139" y="3717904"/>
            <a:ext cx="824089" cy="82408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CL"/>
          </a:p>
        </p:txBody>
      </p:sp>
      <p:sp>
        <p:nvSpPr>
          <p:cNvPr id="10" name="Elipse 9">
            <a:extLst>
              <a:ext uri="{FF2B5EF4-FFF2-40B4-BE49-F238E27FC236}">
                <a16:creationId xmlns:a16="http://schemas.microsoft.com/office/drawing/2014/main" id="{32F80C3E-F719-0C59-3E65-E1B36B7DBBB7}"/>
              </a:ext>
            </a:extLst>
          </p:cNvPr>
          <p:cNvSpPr/>
          <p:nvPr/>
        </p:nvSpPr>
        <p:spPr>
          <a:xfrm>
            <a:off x="4042176" y="5365013"/>
            <a:ext cx="824089" cy="824089"/>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CL"/>
          </a:p>
        </p:txBody>
      </p:sp>
      <p:sp>
        <p:nvSpPr>
          <p:cNvPr id="12" name="CuadroTexto 11">
            <a:extLst>
              <a:ext uri="{FF2B5EF4-FFF2-40B4-BE49-F238E27FC236}">
                <a16:creationId xmlns:a16="http://schemas.microsoft.com/office/drawing/2014/main" id="{4489E11D-175B-3321-1FC3-FF1327CB4AF1}"/>
              </a:ext>
            </a:extLst>
          </p:cNvPr>
          <p:cNvSpPr txBox="1"/>
          <p:nvPr/>
        </p:nvSpPr>
        <p:spPr>
          <a:xfrm>
            <a:off x="4377295" y="3318369"/>
            <a:ext cx="929229" cy="307777"/>
          </a:xfrm>
          <a:prstGeom prst="rect">
            <a:avLst/>
          </a:prstGeom>
          <a:noFill/>
        </p:spPr>
        <p:txBody>
          <a:bodyPr wrap="none" rtlCol="0">
            <a:spAutoFit/>
          </a:bodyPr>
          <a:lstStyle/>
          <a:p>
            <a:r>
              <a:rPr lang="es-CL" sz="1400" dirty="0"/>
              <a:t>Muestra 1</a:t>
            </a:r>
          </a:p>
        </p:txBody>
      </p:sp>
      <p:sp>
        <p:nvSpPr>
          <p:cNvPr id="13" name="CuadroTexto 12">
            <a:extLst>
              <a:ext uri="{FF2B5EF4-FFF2-40B4-BE49-F238E27FC236}">
                <a16:creationId xmlns:a16="http://schemas.microsoft.com/office/drawing/2014/main" id="{7A9306B5-89A3-1AA1-ED90-14F2A02D5EB3}"/>
              </a:ext>
            </a:extLst>
          </p:cNvPr>
          <p:cNvSpPr txBox="1"/>
          <p:nvPr/>
        </p:nvSpPr>
        <p:spPr>
          <a:xfrm>
            <a:off x="4586139" y="4573037"/>
            <a:ext cx="929229" cy="307777"/>
          </a:xfrm>
          <a:prstGeom prst="rect">
            <a:avLst/>
          </a:prstGeom>
          <a:noFill/>
        </p:spPr>
        <p:txBody>
          <a:bodyPr wrap="none" rtlCol="0">
            <a:spAutoFit/>
          </a:bodyPr>
          <a:lstStyle/>
          <a:p>
            <a:r>
              <a:rPr lang="es-CL" sz="1400" dirty="0">
                <a:solidFill>
                  <a:schemeClr val="tx1">
                    <a:lumMod val="65000"/>
                    <a:lumOff val="35000"/>
                  </a:schemeClr>
                </a:solidFill>
              </a:rPr>
              <a:t>Muestra 2</a:t>
            </a:r>
          </a:p>
        </p:txBody>
      </p:sp>
      <p:sp>
        <p:nvSpPr>
          <p:cNvPr id="14" name="CuadroTexto 13">
            <a:extLst>
              <a:ext uri="{FF2B5EF4-FFF2-40B4-BE49-F238E27FC236}">
                <a16:creationId xmlns:a16="http://schemas.microsoft.com/office/drawing/2014/main" id="{48A408E8-A306-324F-B926-B56ED90C2374}"/>
              </a:ext>
            </a:extLst>
          </p:cNvPr>
          <p:cNvSpPr txBox="1"/>
          <p:nvPr/>
        </p:nvSpPr>
        <p:spPr>
          <a:xfrm>
            <a:off x="4016049" y="6141745"/>
            <a:ext cx="953274" cy="307777"/>
          </a:xfrm>
          <a:prstGeom prst="rect">
            <a:avLst/>
          </a:prstGeom>
          <a:noFill/>
        </p:spPr>
        <p:txBody>
          <a:bodyPr wrap="none" rtlCol="0">
            <a:spAutoFit/>
          </a:bodyPr>
          <a:lstStyle/>
          <a:p>
            <a:r>
              <a:rPr lang="es-CL" sz="1400" dirty="0">
                <a:solidFill>
                  <a:schemeClr val="tx1">
                    <a:lumMod val="65000"/>
                    <a:lumOff val="35000"/>
                  </a:schemeClr>
                </a:solidFill>
              </a:rPr>
              <a:t>Muestra N</a:t>
            </a:r>
          </a:p>
        </p:txBody>
      </p:sp>
      <p:cxnSp>
        <p:nvCxnSpPr>
          <p:cNvPr id="15" name="Conector recto de flecha 14">
            <a:extLst>
              <a:ext uri="{FF2B5EF4-FFF2-40B4-BE49-F238E27FC236}">
                <a16:creationId xmlns:a16="http://schemas.microsoft.com/office/drawing/2014/main" id="{1E6E0255-697E-1CD9-9CC4-CCEDBBC8C1E1}"/>
              </a:ext>
            </a:extLst>
          </p:cNvPr>
          <p:cNvCxnSpPr>
            <a:cxnSpLocks/>
          </p:cNvCxnSpPr>
          <p:nvPr/>
        </p:nvCxnSpPr>
        <p:spPr>
          <a:xfrm flipV="1">
            <a:off x="3764514" y="3016392"/>
            <a:ext cx="612781" cy="2741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1A03A313-D9EF-A305-7D3E-D10B450A77BC}"/>
              </a:ext>
            </a:extLst>
          </p:cNvPr>
          <p:cNvCxnSpPr>
            <a:cxnSpLocks/>
            <a:endCxn id="8" idx="2"/>
          </p:cNvCxnSpPr>
          <p:nvPr/>
        </p:nvCxnSpPr>
        <p:spPr>
          <a:xfrm>
            <a:off x="3949894" y="4129947"/>
            <a:ext cx="636245"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1EB0FC5F-8FAE-F918-BF1C-A47B00B6814F}"/>
              </a:ext>
            </a:extLst>
          </p:cNvPr>
          <p:cNvCxnSpPr>
            <a:cxnSpLocks/>
          </p:cNvCxnSpPr>
          <p:nvPr/>
        </p:nvCxnSpPr>
        <p:spPr>
          <a:xfrm>
            <a:off x="3643517" y="5086682"/>
            <a:ext cx="423333" cy="426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EEB214B9-0B98-C685-85EB-3D17BFB81864}"/>
                  </a:ext>
                </a:extLst>
              </p:cNvPr>
              <p:cNvSpPr txBox="1"/>
              <p:nvPr/>
            </p:nvSpPr>
            <p:spPr>
              <a:xfrm>
                <a:off x="4675460" y="2761859"/>
                <a:ext cx="2938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i="1" smtClean="0">
                              <a:solidFill>
                                <a:schemeClr val="tx1">
                                  <a:lumMod val="65000"/>
                                  <a:lumOff val="35000"/>
                                </a:schemeClr>
                              </a:solidFill>
                              <a:latin typeface="Cambria Math" panose="02040503050406030204" pitchFamily="18" charset="0"/>
                            </a:rPr>
                          </m:ctrlPr>
                        </m:sSubPr>
                        <m:e>
                          <m:acc>
                            <m:accPr>
                              <m:chr m:val="̅"/>
                              <m:ctrlPr>
                                <a:rPr lang="es-CL" i="1" smtClean="0">
                                  <a:solidFill>
                                    <a:schemeClr val="tx1">
                                      <a:lumMod val="65000"/>
                                      <a:lumOff val="35000"/>
                                    </a:schemeClr>
                                  </a:solidFill>
                                  <a:latin typeface="Cambria Math" panose="02040503050406030204" pitchFamily="18" charset="0"/>
                                </a:rPr>
                              </m:ctrlPr>
                            </m:accPr>
                            <m:e>
                              <m:r>
                                <a:rPr lang="es-CL" b="0" i="1" smtClean="0">
                                  <a:solidFill>
                                    <a:schemeClr val="tx1">
                                      <a:lumMod val="65000"/>
                                      <a:lumOff val="35000"/>
                                    </a:schemeClr>
                                  </a:solidFill>
                                  <a:latin typeface="Cambria Math" panose="02040503050406030204" pitchFamily="18" charset="0"/>
                                </a:rPr>
                                <m:t>𝑋</m:t>
                              </m:r>
                            </m:e>
                          </m:acc>
                        </m:e>
                        <m:sub>
                          <m:r>
                            <a:rPr lang="es-CL" b="0" i="1" smtClean="0">
                              <a:solidFill>
                                <a:schemeClr val="tx1">
                                  <a:lumMod val="65000"/>
                                  <a:lumOff val="35000"/>
                                </a:schemeClr>
                              </a:solidFill>
                              <a:latin typeface="Cambria Math" panose="02040503050406030204" pitchFamily="18" charset="0"/>
                            </a:rPr>
                            <m:t>1</m:t>
                          </m:r>
                        </m:sub>
                      </m:sSub>
                    </m:oMath>
                  </m:oMathPara>
                </a14:m>
                <a:endParaRPr lang="es-CL" dirty="0">
                  <a:solidFill>
                    <a:schemeClr val="tx1">
                      <a:lumMod val="65000"/>
                      <a:lumOff val="35000"/>
                    </a:schemeClr>
                  </a:solidFill>
                </a:endParaRPr>
              </a:p>
            </p:txBody>
          </p:sp>
        </mc:Choice>
        <mc:Fallback xmlns="">
          <p:sp>
            <p:nvSpPr>
              <p:cNvPr id="19" name="CuadroTexto 18">
                <a:extLst>
                  <a:ext uri="{FF2B5EF4-FFF2-40B4-BE49-F238E27FC236}">
                    <a16:creationId xmlns:a16="http://schemas.microsoft.com/office/drawing/2014/main" id="{EEB214B9-0B98-C685-85EB-3D17BFB81864}"/>
                  </a:ext>
                </a:extLst>
              </p:cNvPr>
              <p:cNvSpPr txBox="1">
                <a:spLocks noRot="1" noChangeAspect="1" noMove="1" noResize="1" noEditPoints="1" noAdjustHandles="1" noChangeArrowheads="1" noChangeShapeType="1" noTextEdit="1"/>
              </p:cNvSpPr>
              <p:nvPr/>
            </p:nvSpPr>
            <p:spPr>
              <a:xfrm>
                <a:off x="4675460" y="2761859"/>
                <a:ext cx="293863" cy="276999"/>
              </a:xfrm>
              <a:prstGeom prst="rect">
                <a:avLst/>
              </a:prstGeom>
              <a:blipFill>
                <a:blip r:embed="rId3"/>
                <a:stretch>
                  <a:fillRect l="-18750" t="-4348" r="-35417"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DA166509-D79B-75F4-6EF3-A14A8406FEA0}"/>
                  </a:ext>
                </a:extLst>
              </p:cNvPr>
              <p:cNvSpPr txBox="1"/>
              <p:nvPr/>
            </p:nvSpPr>
            <p:spPr>
              <a:xfrm>
                <a:off x="4879649" y="3997192"/>
                <a:ext cx="2991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i="1" smtClean="0">
                              <a:solidFill>
                                <a:schemeClr val="tx1">
                                  <a:lumMod val="65000"/>
                                  <a:lumOff val="35000"/>
                                </a:schemeClr>
                              </a:solidFill>
                              <a:latin typeface="Cambria Math" panose="02040503050406030204" pitchFamily="18" charset="0"/>
                            </a:rPr>
                          </m:ctrlPr>
                        </m:sSubPr>
                        <m:e>
                          <m:acc>
                            <m:accPr>
                              <m:chr m:val="̅"/>
                              <m:ctrlPr>
                                <a:rPr lang="es-CL" i="1" smtClean="0">
                                  <a:solidFill>
                                    <a:schemeClr val="tx1">
                                      <a:lumMod val="65000"/>
                                      <a:lumOff val="35000"/>
                                    </a:schemeClr>
                                  </a:solidFill>
                                  <a:latin typeface="Cambria Math" panose="02040503050406030204" pitchFamily="18" charset="0"/>
                                </a:rPr>
                              </m:ctrlPr>
                            </m:accPr>
                            <m:e>
                              <m:r>
                                <a:rPr lang="es-CL" b="0" i="1" smtClean="0">
                                  <a:solidFill>
                                    <a:schemeClr val="tx1">
                                      <a:lumMod val="65000"/>
                                      <a:lumOff val="35000"/>
                                    </a:schemeClr>
                                  </a:solidFill>
                                  <a:latin typeface="Cambria Math" panose="02040503050406030204" pitchFamily="18" charset="0"/>
                                </a:rPr>
                                <m:t>𝑋</m:t>
                              </m:r>
                            </m:e>
                          </m:acc>
                        </m:e>
                        <m:sub>
                          <m:r>
                            <a:rPr lang="es-CL" b="0" i="1" smtClean="0">
                              <a:solidFill>
                                <a:schemeClr val="tx1">
                                  <a:lumMod val="65000"/>
                                  <a:lumOff val="35000"/>
                                </a:schemeClr>
                              </a:solidFill>
                              <a:latin typeface="Cambria Math" panose="02040503050406030204" pitchFamily="18" charset="0"/>
                            </a:rPr>
                            <m:t>2</m:t>
                          </m:r>
                        </m:sub>
                      </m:sSub>
                    </m:oMath>
                  </m:oMathPara>
                </a14:m>
                <a:endParaRPr lang="es-CL" dirty="0">
                  <a:solidFill>
                    <a:schemeClr val="tx1">
                      <a:lumMod val="65000"/>
                      <a:lumOff val="35000"/>
                    </a:schemeClr>
                  </a:solidFill>
                </a:endParaRPr>
              </a:p>
            </p:txBody>
          </p:sp>
        </mc:Choice>
        <mc:Fallback xmlns="">
          <p:sp>
            <p:nvSpPr>
              <p:cNvPr id="20" name="CuadroTexto 19">
                <a:extLst>
                  <a:ext uri="{FF2B5EF4-FFF2-40B4-BE49-F238E27FC236}">
                    <a16:creationId xmlns:a16="http://schemas.microsoft.com/office/drawing/2014/main" id="{DA166509-D79B-75F4-6EF3-A14A8406FEA0}"/>
                  </a:ext>
                </a:extLst>
              </p:cNvPr>
              <p:cNvSpPr txBox="1">
                <a:spLocks noRot="1" noChangeAspect="1" noMove="1" noResize="1" noEditPoints="1" noAdjustHandles="1" noChangeArrowheads="1" noChangeShapeType="1" noTextEdit="1"/>
              </p:cNvSpPr>
              <p:nvPr/>
            </p:nvSpPr>
            <p:spPr>
              <a:xfrm>
                <a:off x="4879649" y="3997192"/>
                <a:ext cx="299184" cy="276999"/>
              </a:xfrm>
              <a:prstGeom prst="rect">
                <a:avLst/>
              </a:prstGeom>
              <a:blipFill>
                <a:blip r:embed="rId4"/>
                <a:stretch>
                  <a:fillRect l="-18000" t="-6667" r="-32000"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FA5AFC63-E449-B7C1-39F6-E16FA63E83CF}"/>
                  </a:ext>
                </a:extLst>
              </p:cNvPr>
              <p:cNvSpPr txBox="1"/>
              <p:nvPr/>
            </p:nvSpPr>
            <p:spPr>
              <a:xfrm>
                <a:off x="4336040" y="5638557"/>
                <a:ext cx="3132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i="1" smtClean="0">
                              <a:latin typeface="Cambria Math" panose="02040503050406030204" pitchFamily="18" charset="0"/>
                            </a:rPr>
                          </m:ctrlPr>
                        </m:sSubPr>
                        <m:e>
                          <m:acc>
                            <m:accPr>
                              <m:chr m:val="̅"/>
                              <m:ctrlPr>
                                <a:rPr lang="es-CL" i="1" smtClean="0">
                                  <a:latin typeface="Cambria Math" panose="02040503050406030204" pitchFamily="18" charset="0"/>
                                </a:rPr>
                              </m:ctrlPr>
                            </m:accPr>
                            <m:e>
                              <m:r>
                                <a:rPr lang="es-CL" b="0" i="1" smtClean="0">
                                  <a:latin typeface="Cambria Math" panose="02040503050406030204" pitchFamily="18" charset="0"/>
                                </a:rPr>
                                <m:t>𝑋</m:t>
                              </m:r>
                            </m:e>
                          </m:acc>
                        </m:e>
                        <m:sub>
                          <m:r>
                            <a:rPr lang="es-CL" b="0" i="1" smtClean="0">
                              <a:latin typeface="Cambria Math" panose="02040503050406030204" pitchFamily="18" charset="0"/>
                            </a:rPr>
                            <m:t>𝑛</m:t>
                          </m:r>
                        </m:sub>
                      </m:sSub>
                    </m:oMath>
                  </m:oMathPara>
                </a14:m>
                <a:endParaRPr lang="es-CL" dirty="0"/>
              </a:p>
            </p:txBody>
          </p:sp>
        </mc:Choice>
        <mc:Fallback xmlns="">
          <p:sp>
            <p:nvSpPr>
              <p:cNvPr id="21" name="CuadroTexto 20">
                <a:extLst>
                  <a:ext uri="{FF2B5EF4-FFF2-40B4-BE49-F238E27FC236}">
                    <a16:creationId xmlns:a16="http://schemas.microsoft.com/office/drawing/2014/main" id="{FA5AFC63-E449-B7C1-39F6-E16FA63E83CF}"/>
                  </a:ext>
                </a:extLst>
              </p:cNvPr>
              <p:cNvSpPr txBox="1">
                <a:spLocks noRot="1" noChangeAspect="1" noMove="1" noResize="1" noEditPoints="1" noAdjustHandles="1" noChangeArrowheads="1" noChangeShapeType="1" noTextEdit="1"/>
              </p:cNvSpPr>
              <p:nvPr/>
            </p:nvSpPr>
            <p:spPr>
              <a:xfrm>
                <a:off x="4336040" y="5638557"/>
                <a:ext cx="313291" cy="276999"/>
              </a:xfrm>
              <a:prstGeom prst="rect">
                <a:avLst/>
              </a:prstGeom>
              <a:blipFill>
                <a:blip r:embed="rId5"/>
                <a:stretch>
                  <a:fillRect l="-15385" t="-6667" r="-32692" b="-11111"/>
                </a:stretch>
              </a:blipFill>
            </p:spPr>
            <p:txBody>
              <a:bodyPr/>
              <a:lstStyle/>
              <a:p>
                <a:r>
                  <a:rPr lang="en-US">
                    <a:noFill/>
                  </a:rPr>
                  <a:t> </a:t>
                </a:r>
              </a:p>
            </p:txBody>
          </p:sp>
        </mc:Fallback>
      </mc:AlternateContent>
      <p:sp>
        <p:nvSpPr>
          <p:cNvPr id="22" name="Elipse 21">
            <a:extLst>
              <a:ext uri="{FF2B5EF4-FFF2-40B4-BE49-F238E27FC236}">
                <a16:creationId xmlns:a16="http://schemas.microsoft.com/office/drawing/2014/main" id="{A44105E7-7053-3E35-D92C-949723F53B63}"/>
              </a:ext>
            </a:extLst>
          </p:cNvPr>
          <p:cNvSpPr/>
          <p:nvPr/>
        </p:nvSpPr>
        <p:spPr>
          <a:xfrm>
            <a:off x="6131006" y="2769269"/>
            <a:ext cx="1286934" cy="30185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7733F35C-E354-E9B3-9C48-291009EE063F}"/>
                  </a:ext>
                </a:extLst>
              </p:cNvPr>
              <p:cNvSpPr txBox="1"/>
              <p:nvPr/>
            </p:nvSpPr>
            <p:spPr>
              <a:xfrm>
                <a:off x="6730593" y="2998289"/>
                <a:ext cx="2938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i="1" smtClean="0">
                              <a:latin typeface="Cambria Math" panose="02040503050406030204" pitchFamily="18" charset="0"/>
                            </a:rPr>
                          </m:ctrlPr>
                        </m:sSubPr>
                        <m:e>
                          <m:acc>
                            <m:accPr>
                              <m:chr m:val="̅"/>
                              <m:ctrlPr>
                                <a:rPr lang="es-CL" i="1" smtClean="0">
                                  <a:latin typeface="Cambria Math" panose="02040503050406030204" pitchFamily="18" charset="0"/>
                                </a:rPr>
                              </m:ctrlPr>
                            </m:accPr>
                            <m:e>
                              <m:r>
                                <a:rPr lang="es-CL" b="0" i="1" smtClean="0">
                                  <a:latin typeface="Cambria Math" panose="02040503050406030204" pitchFamily="18" charset="0"/>
                                </a:rPr>
                                <m:t>𝑋</m:t>
                              </m:r>
                            </m:e>
                          </m:acc>
                        </m:e>
                        <m:sub>
                          <m:r>
                            <a:rPr lang="es-CL" b="0" i="1" smtClean="0">
                              <a:latin typeface="Cambria Math" panose="02040503050406030204" pitchFamily="18" charset="0"/>
                            </a:rPr>
                            <m:t>1</m:t>
                          </m:r>
                        </m:sub>
                      </m:sSub>
                    </m:oMath>
                  </m:oMathPara>
                </a14:m>
                <a:endParaRPr lang="es-CL" dirty="0"/>
              </a:p>
            </p:txBody>
          </p:sp>
        </mc:Choice>
        <mc:Fallback xmlns="">
          <p:sp>
            <p:nvSpPr>
              <p:cNvPr id="23" name="CuadroTexto 22">
                <a:extLst>
                  <a:ext uri="{FF2B5EF4-FFF2-40B4-BE49-F238E27FC236}">
                    <a16:creationId xmlns:a16="http://schemas.microsoft.com/office/drawing/2014/main" id="{7733F35C-E354-E9B3-9C48-291009EE063F}"/>
                  </a:ext>
                </a:extLst>
              </p:cNvPr>
              <p:cNvSpPr txBox="1">
                <a:spLocks noRot="1" noChangeAspect="1" noMove="1" noResize="1" noEditPoints="1" noAdjustHandles="1" noChangeArrowheads="1" noChangeShapeType="1" noTextEdit="1"/>
              </p:cNvSpPr>
              <p:nvPr/>
            </p:nvSpPr>
            <p:spPr>
              <a:xfrm>
                <a:off x="6730593" y="2998289"/>
                <a:ext cx="293863" cy="276999"/>
              </a:xfrm>
              <a:prstGeom prst="rect">
                <a:avLst/>
              </a:prstGeom>
              <a:blipFill>
                <a:blip r:embed="rId7"/>
                <a:stretch>
                  <a:fillRect l="-16667" t="-6667" r="-37500" b="-15556"/>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40371E62-C96A-F74F-5433-81180EA485E7}"/>
                  </a:ext>
                </a:extLst>
              </p:cNvPr>
              <p:cNvSpPr txBox="1"/>
              <p:nvPr/>
            </p:nvSpPr>
            <p:spPr>
              <a:xfrm>
                <a:off x="6546591" y="3559083"/>
                <a:ext cx="2991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i="1" smtClean="0">
                              <a:latin typeface="Cambria Math" panose="02040503050406030204" pitchFamily="18" charset="0"/>
                            </a:rPr>
                          </m:ctrlPr>
                        </m:sSubPr>
                        <m:e>
                          <m:acc>
                            <m:accPr>
                              <m:chr m:val="̅"/>
                              <m:ctrlPr>
                                <a:rPr lang="es-CL" i="1" smtClean="0">
                                  <a:latin typeface="Cambria Math" panose="02040503050406030204" pitchFamily="18" charset="0"/>
                                </a:rPr>
                              </m:ctrlPr>
                            </m:accPr>
                            <m:e>
                              <m:r>
                                <a:rPr lang="es-CL" b="0" i="1" smtClean="0">
                                  <a:latin typeface="Cambria Math" panose="02040503050406030204" pitchFamily="18" charset="0"/>
                                </a:rPr>
                                <m:t>𝑋</m:t>
                              </m:r>
                            </m:e>
                          </m:acc>
                        </m:e>
                        <m:sub>
                          <m:r>
                            <a:rPr lang="es-CL" b="0" i="1" smtClean="0">
                              <a:latin typeface="Cambria Math" panose="02040503050406030204" pitchFamily="18" charset="0"/>
                            </a:rPr>
                            <m:t>2</m:t>
                          </m:r>
                        </m:sub>
                      </m:sSub>
                    </m:oMath>
                  </m:oMathPara>
                </a14:m>
                <a:endParaRPr lang="es-CL" dirty="0"/>
              </a:p>
            </p:txBody>
          </p:sp>
        </mc:Choice>
        <mc:Fallback xmlns="">
          <p:sp>
            <p:nvSpPr>
              <p:cNvPr id="24" name="CuadroTexto 23">
                <a:extLst>
                  <a:ext uri="{FF2B5EF4-FFF2-40B4-BE49-F238E27FC236}">
                    <a16:creationId xmlns:a16="http://schemas.microsoft.com/office/drawing/2014/main" id="{40371E62-C96A-F74F-5433-81180EA485E7}"/>
                  </a:ext>
                </a:extLst>
              </p:cNvPr>
              <p:cNvSpPr txBox="1">
                <a:spLocks noRot="1" noChangeAspect="1" noMove="1" noResize="1" noEditPoints="1" noAdjustHandles="1" noChangeArrowheads="1" noChangeShapeType="1" noTextEdit="1"/>
              </p:cNvSpPr>
              <p:nvPr/>
            </p:nvSpPr>
            <p:spPr>
              <a:xfrm>
                <a:off x="6546591" y="3559083"/>
                <a:ext cx="299184" cy="276999"/>
              </a:xfrm>
              <a:prstGeom prst="rect">
                <a:avLst/>
              </a:prstGeom>
              <a:blipFill>
                <a:blip r:embed="rId8"/>
                <a:stretch>
                  <a:fillRect l="-20408" t="-6667" r="-32653" b="-15556"/>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0F8BA1BC-A0D9-8C82-7858-5658A7F85485}"/>
                  </a:ext>
                </a:extLst>
              </p:cNvPr>
              <p:cNvSpPr txBox="1"/>
              <p:nvPr/>
            </p:nvSpPr>
            <p:spPr>
              <a:xfrm>
                <a:off x="6689129" y="5066560"/>
                <a:ext cx="3132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i="1" smtClean="0">
                              <a:latin typeface="Cambria Math" panose="02040503050406030204" pitchFamily="18" charset="0"/>
                            </a:rPr>
                          </m:ctrlPr>
                        </m:sSubPr>
                        <m:e>
                          <m:acc>
                            <m:accPr>
                              <m:chr m:val="̅"/>
                              <m:ctrlPr>
                                <a:rPr lang="es-CL" i="1" smtClean="0">
                                  <a:latin typeface="Cambria Math" panose="02040503050406030204" pitchFamily="18" charset="0"/>
                                </a:rPr>
                              </m:ctrlPr>
                            </m:accPr>
                            <m:e>
                              <m:r>
                                <a:rPr lang="es-CL" b="0" i="1" smtClean="0">
                                  <a:latin typeface="Cambria Math" panose="02040503050406030204" pitchFamily="18" charset="0"/>
                                </a:rPr>
                                <m:t>𝑋</m:t>
                              </m:r>
                            </m:e>
                          </m:acc>
                        </m:e>
                        <m:sub>
                          <m:r>
                            <a:rPr lang="es-CL" b="0" i="1" smtClean="0">
                              <a:latin typeface="Cambria Math" panose="02040503050406030204" pitchFamily="18" charset="0"/>
                            </a:rPr>
                            <m:t>𝑛</m:t>
                          </m:r>
                        </m:sub>
                      </m:sSub>
                    </m:oMath>
                  </m:oMathPara>
                </a14:m>
                <a:endParaRPr lang="es-CL" dirty="0"/>
              </a:p>
            </p:txBody>
          </p:sp>
        </mc:Choice>
        <mc:Fallback xmlns="">
          <p:sp>
            <p:nvSpPr>
              <p:cNvPr id="25" name="CuadroTexto 24">
                <a:extLst>
                  <a:ext uri="{FF2B5EF4-FFF2-40B4-BE49-F238E27FC236}">
                    <a16:creationId xmlns:a16="http://schemas.microsoft.com/office/drawing/2014/main" id="{0F8BA1BC-A0D9-8C82-7858-5658A7F85485}"/>
                  </a:ext>
                </a:extLst>
              </p:cNvPr>
              <p:cNvSpPr txBox="1">
                <a:spLocks noRot="1" noChangeAspect="1" noMove="1" noResize="1" noEditPoints="1" noAdjustHandles="1" noChangeArrowheads="1" noChangeShapeType="1" noTextEdit="1"/>
              </p:cNvSpPr>
              <p:nvPr/>
            </p:nvSpPr>
            <p:spPr>
              <a:xfrm>
                <a:off x="6689129" y="5066560"/>
                <a:ext cx="313291" cy="276999"/>
              </a:xfrm>
              <a:prstGeom prst="rect">
                <a:avLst/>
              </a:prstGeom>
              <a:blipFill>
                <a:blip r:embed="rId9"/>
                <a:stretch>
                  <a:fillRect l="-15385" t="-4348" r="-32692" b="-10870"/>
                </a:stretch>
              </a:blipFill>
            </p:spPr>
            <p:txBody>
              <a:bodyPr/>
              <a:lstStyle/>
              <a:p>
                <a:r>
                  <a:rPr lang="es-CL">
                    <a:noFill/>
                  </a:rPr>
                  <a:t> </a:t>
                </a:r>
              </a:p>
            </p:txBody>
          </p:sp>
        </mc:Fallback>
      </mc:AlternateContent>
      <p:pic>
        <p:nvPicPr>
          <p:cNvPr id="26" name="Imagen 25">
            <a:extLst>
              <a:ext uri="{FF2B5EF4-FFF2-40B4-BE49-F238E27FC236}">
                <a16:creationId xmlns:a16="http://schemas.microsoft.com/office/drawing/2014/main" id="{DFA9EF26-6C77-7C40-5DFC-FDFA2CF71019}"/>
              </a:ext>
            </a:extLst>
          </p:cNvPr>
          <p:cNvPicPr>
            <a:picLocks noChangeAspect="1"/>
          </p:cNvPicPr>
          <p:nvPr/>
        </p:nvPicPr>
        <p:blipFill>
          <a:blip r:embed="rId10"/>
          <a:stretch>
            <a:fillRect/>
          </a:stretch>
        </p:blipFill>
        <p:spPr>
          <a:xfrm>
            <a:off x="8222991" y="3275287"/>
            <a:ext cx="2836532" cy="1894945"/>
          </a:xfrm>
          <a:prstGeom prst="rect">
            <a:avLst/>
          </a:prstGeom>
        </p:spPr>
      </p:pic>
      <p:sp>
        <p:nvSpPr>
          <p:cNvPr id="27" name="CuadroTexto 26">
            <a:extLst>
              <a:ext uri="{FF2B5EF4-FFF2-40B4-BE49-F238E27FC236}">
                <a16:creationId xmlns:a16="http://schemas.microsoft.com/office/drawing/2014/main" id="{D1FF453B-2B05-3919-8A1F-2606E6DB7B12}"/>
              </a:ext>
            </a:extLst>
          </p:cNvPr>
          <p:cNvSpPr txBox="1"/>
          <p:nvPr/>
        </p:nvSpPr>
        <p:spPr>
          <a:xfrm>
            <a:off x="8333479" y="5205060"/>
            <a:ext cx="2547492" cy="307777"/>
          </a:xfrm>
          <a:prstGeom prst="rect">
            <a:avLst/>
          </a:prstGeom>
          <a:noFill/>
        </p:spPr>
        <p:txBody>
          <a:bodyPr wrap="none" rtlCol="0">
            <a:spAutoFit/>
          </a:bodyPr>
          <a:lstStyle/>
          <a:p>
            <a:r>
              <a:rPr lang="es-CL" sz="1400" dirty="0">
                <a:solidFill>
                  <a:schemeClr val="tx1">
                    <a:lumMod val="65000"/>
                    <a:lumOff val="35000"/>
                  </a:schemeClr>
                </a:solidFill>
              </a:rPr>
              <a:t>Distribución muestral de medias</a:t>
            </a:r>
          </a:p>
        </p:txBody>
      </p:sp>
      <p:sp>
        <p:nvSpPr>
          <p:cNvPr id="28" name="CuadroTexto 27">
            <a:extLst>
              <a:ext uri="{FF2B5EF4-FFF2-40B4-BE49-F238E27FC236}">
                <a16:creationId xmlns:a16="http://schemas.microsoft.com/office/drawing/2014/main" id="{44C8F415-4705-3B75-ED7B-1C1E9B2AF38A}"/>
              </a:ext>
            </a:extLst>
          </p:cNvPr>
          <p:cNvSpPr txBox="1"/>
          <p:nvPr/>
        </p:nvSpPr>
        <p:spPr>
          <a:xfrm>
            <a:off x="6060143" y="5974500"/>
            <a:ext cx="1571264" cy="307777"/>
          </a:xfrm>
          <a:prstGeom prst="rect">
            <a:avLst/>
          </a:prstGeom>
          <a:noFill/>
        </p:spPr>
        <p:txBody>
          <a:bodyPr wrap="none" rtlCol="0">
            <a:spAutoFit/>
          </a:bodyPr>
          <a:lstStyle/>
          <a:p>
            <a:r>
              <a:rPr lang="es-CL" sz="1400" dirty="0">
                <a:solidFill>
                  <a:schemeClr val="tx1">
                    <a:lumMod val="65000"/>
                    <a:lumOff val="35000"/>
                  </a:schemeClr>
                </a:solidFill>
              </a:rPr>
              <a:t>Medias muestrales</a:t>
            </a:r>
          </a:p>
        </p:txBody>
      </p:sp>
    </p:spTree>
    <p:extLst>
      <p:ext uri="{BB962C8B-B14F-4D97-AF65-F5344CB8AC3E}">
        <p14:creationId xmlns:p14="http://schemas.microsoft.com/office/powerpoint/2010/main" val="420848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redondeado 4">
            <a:extLst>
              <a:ext uri="{FF2B5EF4-FFF2-40B4-BE49-F238E27FC236}">
                <a16:creationId xmlns:a16="http://schemas.microsoft.com/office/drawing/2014/main" id="{EEF64A50-BFC1-6219-5B5B-FB92BB3A07A2}"/>
              </a:ext>
            </a:extLst>
          </p:cNvPr>
          <p:cNvSpPr/>
          <p:nvPr/>
        </p:nvSpPr>
        <p:spPr>
          <a:xfrm>
            <a:off x="860068" y="1271452"/>
            <a:ext cx="10461075" cy="5024846"/>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1497873" y="1449497"/>
            <a:ext cx="9175381" cy="4699055"/>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1103069" y="441435"/>
            <a:ext cx="6543057"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Distribución </a:t>
            </a:r>
            <a:r>
              <a:rPr lang="es-ES" sz="3200" dirty="0" err="1">
                <a:solidFill>
                  <a:schemeClr val="bg1">
                    <a:lumMod val="50000"/>
                  </a:schemeClr>
                </a:solidFill>
                <a:latin typeface="Arial" panose="020B0604020202020204" pitchFamily="34" charset="0"/>
                <a:cs typeface="Arial" panose="020B0604020202020204" pitchFamily="34" charset="0"/>
              </a:rPr>
              <a:t>Muestral</a:t>
            </a:r>
            <a:r>
              <a:rPr lang="es-ES" sz="3200" dirty="0">
                <a:solidFill>
                  <a:schemeClr val="bg1">
                    <a:lumMod val="50000"/>
                  </a:schemeClr>
                </a:solidFill>
                <a:latin typeface="Arial" panose="020B0604020202020204" pitchFamily="34" charset="0"/>
                <a:cs typeface="Arial" panose="020B0604020202020204" pitchFamily="34" charset="0"/>
              </a:rPr>
              <a:t> de Medias</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2042985" y="1678686"/>
            <a:ext cx="8522934" cy="4247317"/>
          </a:xfrm>
          <a:prstGeom prst="rect">
            <a:avLst/>
          </a:prstGeom>
          <a:noFill/>
          <a:ln>
            <a:noFill/>
          </a:ln>
        </p:spPr>
        <p:txBody>
          <a:bodyPr wrap="square" lIns="91440" tIns="45720" rIns="91440" bIns="45720" rtlCol="0" anchor="t">
            <a:spAutoFit/>
          </a:bodyPr>
          <a:lstStyle/>
          <a:p>
            <a:r>
              <a:rPr lang="es-ES" dirty="0">
                <a:solidFill>
                  <a:schemeClr val="bg1"/>
                </a:solidFill>
                <a:latin typeface="+mn-lt"/>
                <a:ea typeface="Source Sans Pro"/>
              </a:rPr>
              <a:t>Respecto a la distribución muestral de medias:</a:t>
            </a:r>
          </a:p>
          <a:p>
            <a:pPr algn="ctr"/>
            <a:endParaRPr lang="es-ES" dirty="0">
              <a:solidFill>
                <a:schemeClr val="bg1"/>
              </a:solidFill>
              <a:latin typeface="+mn-lt"/>
              <a:ea typeface="Source Sans Pro"/>
            </a:endParaRPr>
          </a:p>
          <a:p>
            <a:pPr marL="285750" indent="-285750">
              <a:buFont typeface="Arial" panose="020B0604020202020204" pitchFamily="34" charset="0"/>
              <a:buChar char="•"/>
            </a:pPr>
            <a:r>
              <a:rPr lang="es-ES" dirty="0">
                <a:solidFill>
                  <a:schemeClr val="bg1"/>
                </a:solidFill>
                <a:latin typeface="+mn-lt"/>
                <a:ea typeface="Source Sans Pro"/>
              </a:rPr>
              <a:t>Su media coincide con la media de la población.</a:t>
            </a:r>
          </a:p>
          <a:p>
            <a:pPr algn="ctr"/>
            <a:endParaRPr lang="es-ES" dirty="0">
              <a:solidFill>
                <a:schemeClr val="bg1"/>
              </a:solidFill>
              <a:latin typeface="+mn-lt"/>
              <a:ea typeface="Source Sans Pro"/>
            </a:endParaRPr>
          </a:p>
          <a:p>
            <a:pPr algn="ctr"/>
            <a:endParaRPr lang="es-ES" dirty="0">
              <a:solidFill>
                <a:schemeClr val="bg1"/>
              </a:solidFill>
              <a:latin typeface="+mn-lt"/>
              <a:ea typeface="Source Sans Pro"/>
            </a:endParaRPr>
          </a:p>
          <a:p>
            <a:pPr algn="ctr"/>
            <a:endParaRPr lang="es-ES" dirty="0">
              <a:solidFill>
                <a:schemeClr val="bg1"/>
              </a:solidFill>
              <a:latin typeface="+mn-lt"/>
              <a:ea typeface="Source Sans Pro"/>
            </a:endParaRPr>
          </a:p>
          <a:p>
            <a:pPr algn="ctr"/>
            <a:endParaRPr lang="es-ES" dirty="0">
              <a:solidFill>
                <a:schemeClr val="bg1"/>
              </a:solidFill>
              <a:latin typeface="+mn-lt"/>
              <a:ea typeface="Source Sans Pro"/>
            </a:endParaRPr>
          </a:p>
          <a:p>
            <a:pPr marL="285750" indent="-285750">
              <a:buFont typeface="Arial" panose="020B0604020202020204" pitchFamily="34" charset="0"/>
              <a:buChar char="•"/>
            </a:pPr>
            <a:r>
              <a:rPr lang="es-ES" dirty="0">
                <a:solidFill>
                  <a:schemeClr val="bg1"/>
                </a:solidFill>
                <a:latin typeface="+mn-lt"/>
                <a:ea typeface="Source Sans Pro"/>
              </a:rPr>
              <a:t>La desviación típica, Error Típico de la Media, es:</a:t>
            </a:r>
          </a:p>
          <a:p>
            <a:pPr algn="ctr"/>
            <a:endParaRPr lang="es-ES" dirty="0">
              <a:solidFill>
                <a:schemeClr val="bg1"/>
              </a:solidFill>
              <a:latin typeface="+mn-lt"/>
              <a:ea typeface="Source Sans Pro"/>
            </a:endParaRPr>
          </a:p>
          <a:p>
            <a:pPr algn="ctr"/>
            <a:endParaRPr lang="es-ES" dirty="0">
              <a:solidFill>
                <a:schemeClr val="bg1"/>
              </a:solidFill>
              <a:latin typeface="+mn-lt"/>
              <a:ea typeface="Source Sans Pro"/>
            </a:endParaRPr>
          </a:p>
          <a:p>
            <a:pPr algn="ctr"/>
            <a:endParaRPr lang="es-ES" dirty="0">
              <a:solidFill>
                <a:schemeClr val="bg1"/>
              </a:solidFill>
              <a:latin typeface="+mn-lt"/>
              <a:ea typeface="Source Sans Pro"/>
            </a:endParaRPr>
          </a:p>
          <a:p>
            <a:pPr algn="ctr"/>
            <a:endParaRPr lang="es-ES" dirty="0">
              <a:solidFill>
                <a:schemeClr val="bg1"/>
              </a:solidFill>
              <a:latin typeface="+mn-lt"/>
              <a:ea typeface="Source Sans Pro"/>
            </a:endParaRPr>
          </a:p>
          <a:p>
            <a:pPr marL="285750" indent="-285750" algn="just">
              <a:buFont typeface="Arial" panose="020B0604020202020204" pitchFamily="34" charset="0"/>
              <a:buChar char="•"/>
            </a:pPr>
            <a:r>
              <a:rPr lang="es-ES" dirty="0">
                <a:solidFill>
                  <a:schemeClr val="bg1"/>
                </a:solidFill>
                <a:latin typeface="+mn-lt"/>
                <a:ea typeface="Source Sans Pro"/>
              </a:rPr>
              <a:t>La forma de la distribución tiende a la curva normal a medida que crece el tamaño de la muestra (n &gt; 30), si la muestra es pequeña, seguirá una distribución t con n-1 grados de libertad.</a:t>
            </a:r>
            <a:endParaRPr lang="es-ES" dirty="0">
              <a:solidFill>
                <a:schemeClr val="bg1"/>
              </a:solidFill>
              <a:latin typeface="+mn-lt"/>
              <a:ea typeface="Source Sans Pro"/>
              <a:cs typeface="Calibri" panose="020F0502020204030204"/>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94846415-19AA-58F3-C286-0F6EBCBB806F}"/>
                  </a:ext>
                </a:extLst>
              </p:cNvPr>
              <p:cNvSpPr txBox="1"/>
              <p:nvPr/>
            </p:nvSpPr>
            <p:spPr>
              <a:xfrm>
                <a:off x="5232007" y="4220892"/>
                <a:ext cx="2144889" cy="6166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CL" sz="1800" b="1" i="1" smtClean="0">
                              <a:solidFill>
                                <a:schemeClr val="bg1"/>
                              </a:solidFill>
                              <a:latin typeface="Cambria Math" panose="02040503050406030204" pitchFamily="18" charset="0"/>
                            </a:rPr>
                          </m:ctrlPr>
                        </m:sSubPr>
                        <m:e>
                          <m:r>
                            <a:rPr lang="es-CL" b="1" i="1">
                              <a:solidFill>
                                <a:schemeClr val="bg1"/>
                              </a:solidFill>
                              <a:latin typeface="Cambria Math" panose="02040503050406030204" pitchFamily="18" charset="0"/>
                              <a:ea typeface="Cambria Math" panose="02040503050406030204" pitchFamily="18" charset="0"/>
                            </a:rPr>
                            <m:t>𝝈</m:t>
                          </m:r>
                        </m:e>
                        <m:sub>
                          <m:acc>
                            <m:accPr>
                              <m:chr m:val="̅"/>
                              <m:ctrlPr>
                                <a:rPr lang="es-CL" b="1" i="1">
                                  <a:solidFill>
                                    <a:schemeClr val="bg1"/>
                                  </a:solidFill>
                                  <a:latin typeface="Cambria Math" panose="02040503050406030204" pitchFamily="18" charset="0"/>
                                </a:rPr>
                              </m:ctrlPr>
                            </m:accPr>
                            <m:e>
                              <m:r>
                                <a:rPr lang="es-CL" b="1" i="1">
                                  <a:solidFill>
                                    <a:schemeClr val="bg1"/>
                                  </a:solidFill>
                                  <a:latin typeface="Cambria Math" panose="02040503050406030204" pitchFamily="18" charset="0"/>
                                </a:rPr>
                                <m:t>𝑿</m:t>
                              </m:r>
                            </m:e>
                          </m:acc>
                        </m:sub>
                      </m:sSub>
                      <m:r>
                        <a:rPr lang="es-CL" sz="1800" b="1" i="1" smtClean="0">
                          <a:solidFill>
                            <a:schemeClr val="bg1"/>
                          </a:solidFill>
                          <a:latin typeface="Cambria Math" panose="02040503050406030204" pitchFamily="18" charset="0"/>
                        </a:rPr>
                        <m:t>=</m:t>
                      </m:r>
                      <m:f>
                        <m:fPr>
                          <m:ctrlPr>
                            <a:rPr lang="es-CL" sz="1800" b="1" i="1" smtClean="0">
                              <a:solidFill>
                                <a:schemeClr val="bg1"/>
                              </a:solidFill>
                              <a:latin typeface="Cambria Math" panose="02040503050406030204" pitchFamily="18" charset="0"/>
                            </a:rPr>
                          </m:ctrlPr>
                        </m:fPr>
                        <m:num>
                          <m:r>
                            <a:rPr lang="es-CL" b="1" i="1">
                              <a:solidFill>
                                <a:schemeClr val="bg1"/>
                              </a:solidFill>
                              <a:latin typeface="Cambria Math" panose="02040503050406030204" pitchFamily="18" charset="0"/>
                              <a:ea typeface="Cambria Math" panose="02040503050406030204" pitchFamily="18" charset="0"/>
                            </a:rPr>
                            <m:t>𝝈</m:t>
                          </m:r>
                        </m:num>
                        <m:den>
                          <m:rad>
                            <m:radPr>
                              <m:degHide m:val="on"/>
                              <m:ctrlPr>
                                <a:rPr lang="es-CL" sz="1800" b="1" i="1" smtClean="0">
                                  <a:solidFill>
                                    <a:schemeClr val="bg1"/>
                                  </a:solidFill>
                                  <a:latin typeface="Cambria Math" panose="02040503050406030204" pitchFamily="18" charset="0"/>
                                </a:rPr>
                              </m:ctrlPr>
                            </m:radPr>
                            <m:deg/>
                            <m:e>
                              <m:r>
                                <a:rPr lang="es-CL" sz="1800" b="1" i="1" smtClean="0">
                                  <a:solidFill>
                                    <a:schemeClr val="bg1"/>
                                  </a:solidFill>
                                  <a:latin typeface="Cambria Math" panose="02040503050406030204" pitchFamily="18" charset="0"/>
                                </a:rPr>
                                <m:t>𝒏</m:t>
                              </m:r>
                            </m:e>
                          </m:rad>
                        </m:den>
                      </m:f>
                    </m:oMath>
                  </m:oMathPara>
                </a14:m>
                <a:endParaRPr lang="es-CL" b="1" dirty="0">
                  <a:solidFill>
                    <a:schemeClr val="bg1"/>
                  </a:solidFill>
                </a:endParaRPr>
              </a:p>
            </p:txBody>
          </p:sp>
        </mc:Choice>
        <mc:Fallback xmlns="">
          <p:sp>
            <p:nvSpPr>
              <p:cNvPr id="4" name="CuadroTexto 3">
                <a:extLst>
                  <a:ext uri="{FF2B5EF4-FFF2-40B4-BE49-F238E27FC236}">
                    <a16:creationId xmlns:a16="http://schemas.microsoft.com/office/drawing/2014/main" id="{94846415-19AA-58F3-C286-0F6EBCBB806F}"/>
                  </a:ext>
                </a:extLst>
              </p:cNvPr>
              <p:cNvSpPr txBox="1">
                <a:spLocks noRot="1" noChangeAspect="1" noMove="1" noResize="1" noEditPoints="1" noAdjustHandles="1" noChangeArrowheads="1" noChangeShapeType="1" noTextEdit="1"/>
              </p:cNvSpPr>
              <p:nvPr/>
            </p:nvSpPr>
            <p:spPr>
              <a:xfrm>
                <a:off x="5232007" y="4220892"/>
                <a:ext cx="2144889" cy="61664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818A43A1-FFCB-AD27-9A08-2082F75EB59B}"/>
                  </a:ext>
                </a:extLst>
              </p:cNvPr>
              <p:cNvSpPr txBox="1"/>
              <p:nvPr/>
            </p:nvSpPr>
            <p:spPr>
              <a:xfrm>
                <a:off x="5864186" y="2875741"/>
                <a:ext cx="1264356" cy="369332"/>
              </a:xfrm>
              <a:prstGeom prst="rect">
                <a:avLst/>
              </a:prstGeom>
              <a:noFill/>
            </p:spPr>
            <p:txBody>
              <a:bodyPr wrap="square">
                <a:spAutoFit/>
              </a:bodyPr>
              <a:lstStyle/>
              <a:p>
                <a14:m>
                  <m:oMath xmlns:m="http://schemas.openxmlformats.org/officeDocument/2006/math">
                    <m:sSub>
                      <m:sSubPr>
                        <m:ctrlPr>
                          <a:rPr lang="es-CL" sz="1800" b="1" i="1" smtClean="0">
                            <a:solidFill>
                              <a:schemeClr val="bg1"/>
                            </a:solidFill>
                            <a:latin typeface="Cambria Math" panose="02040503050406030204" pitchFamily="18" charset="0"/>
                          </a:rPr>
                        </m:ctrlPr>
                      </m:sSubPr>
                      <m:e>
                        <m:r>
                          <a:rPr lang="es-CL" sz="1800" b="1" i="1" smtClean="0">
                            <a:solidFill>
                              <a:schemeClr val="bg1"/>
                            </a:solidFill>
                            <a:latin typeface="Cambria Math" panose="02040503050406030204" pitchFamily="18" charset="0"/>
                            <a:ea typeface="Cambria Math" panose="02040503050406030204" pitchFamily="18" charset="0"/>
                          </a:rPr>
                          <m:t>𝝁</m:t>
                        </m:r>
                      </m:e>
                      <m:sub>
                        <m:acc>
                          <m:accPr>
                            <m:chr m:val="̅"/>
                            <m:ctrlPr>
                              <a:rPr lang="es-CL" sz="1800" b="1" i="1" smtClean="0">
                                <a:solidFill>
                                  <a:schemeClr val="bg1"/>
                                </a:solidFill>
                                <a:latin typeface="Cambria Math" panose="02040503050406030204" pitchFamily="18" charset="0"/>
                              </a:rPr>
                            </m:ctrlPr>
                          </m:accPr>
                          <m:e>
                            <m:r>
                              <a:rPr lang="es-CL" sz="1800" b="1" i="1" smtClean="0">
                                <a:solidFill>
                                  <a:schemeClr val="bg1"/>
                                </a:solidFill>
                                <a:latin typeface="Cambria Math" panose="02040503050406030204" pitchFamily="18" charset="0"/>
                              </a:rPr>
                              <m:t>𝑿</m:t>
                            </m:r>
                          </m:e>
                        </m:acc>
                      </m:sub>
                    </m:sSub>
                    <m:r>
                      <a:rPr lang="es-CL" sz="1800" b="1" i="1" smtClean="0">
                        <a:solidFill>
                          <a:schemeClr val="bg1"/>
                        </a:solidFill>
                        <a:latin typeface="Cambria Math" panose="02040503050406030204" pitchFamily="18" charset="0"/>
                      </a:rPr>
                      <m:t>=</m:t>
                    </m:r>
                    <m:r>
                      <a:rPr lang="es-CL" sz="1800" b="1" i="1" smtClean="0">
                        <a:solidFill>
                          <a:schemeClr val="bg1"/>
                        </a:solidFill>
                        <a:latin typeface="Cambria Math" panose="02040503050406030204" pitchFamily="18" charset="0"/>
                        <a:ea typeface="Cambria Math" panose="02040503050406030204" pitchFamily="18" charset="0"/>
                      </a:rPr>
                      <m:t>𝝁</m:t>
                    </m:r>
                  </m:oMath>
                </a14:m>
                <a:r>
                  <a:rPr lang="es-CL" sz="1800" b="1" dirty="0">
                    <a:solidFill>
                      <a:schemeClr val="bg1"/>
                    </a:solidFill>
                  </a:rPr>
                  <a:t> </a:t>
                </a:r>
                <a:endParaRPr lang="es-CL" b="1" dirty="0">
                  <a:solidFill>
                    <a:schemeClr val="bg1"/>
                  </a:solidFill>
                </a:endParaRPr>
              </a:p>
            </p:txBody>
          </p:sp>
        </mc:Choice>
        <mc:Fallback xmlns="">
          <p:sp>
            <p:nvSpPr>
              <p:cNvPr id="5" name="CuadroTexto 4">
                <a:extLst>
                  <a:ext uri="{FF2B5EF4-FFF2-40B4-BE49-F238E27FC236}">
                    <a16:creationId xmlns:a16="http://schemas.microsoft.com/office/drawing/2014/main" id="{818A43A1-FFCB-AD27-9A08-2082F75EB59B}"/>
                  </a:ext>
                </a:extLst>
              </p:cNvPr>
              <p:cNvSpPr txBox="1">
                <a:spLocks noRot="1" noChangeAspect="1" noMove="1" noResize="1" noEditPoints="1" noAdjustHandles="1" noChangeArrowheads="1" noChangeShapeType="1" noTextEdit="1"/>
              </p:cNvSpPr>
              <p:nvPr/>
            </p:nvSpPr>
            <p:spPr>
              <a:xfrm>
                <a:off x="5864186" y="2875741"/>
                <a:ext cx="1264356" cy="369332"/>
              </a:xfrm>
              <a:prstGeom prst="rect">
                <a:avLst/>
              </a:prstGeom>
              <a:blipFill>
                <a:blip r:embed="rId3"/>
                <a:stretch>
                  <a:fillRect b="-5000"/>
                </a:stretch>
              </a:blipFill>
            </p:spPr>
            <p:txBody>
              <a:bodyPr/>
              <a:lstStyle/>
              <a:p>
                <a:r>
                  <a:rPr lang="en-US">
                    <a:noFill/>
                  </a:rPr>
                  <a:t> </a:t>
                </a:r>
              </a:p>
            </p:txBody>
          </p:sp>
        </mc:Fallback>
      </mc:AlternateContent>
    </p:spTree>
    <p:extLst>
      <p:ext uri="{BB962C8B-B14F-4D97-AF65-F5344CB8AC3E}">
        <p14:creationId xmlns:p14="http://schemas.microsoft.com/office/powerpoint/2010/main" val="2090953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redondeado 4">
            <a:extLst>
              <a:ext uri="{FF2B5EF4-FFF2-40B4-BE49-F238E27FC236}">
                <a16:creationId xmlns:a16="http://schemas.microsoft.com/office/drawing/2014/main" id="{EEF64A50-BFC1-6219-5B5B-FB92BB3A07A2}"/>
              </a:ext>
            </a:extLst>
          </p:cNvPr>
          <p:cNvSpPr/>
          <p:nvPr/>
        </p:nvSpPr>
        <p:spPr>
          <a:xfrm>
            <a:off x="243840" y="1271452"/>
            <a:ext cx="11747863" cy="4659085"/>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457200" y="1483265"/>
            <a:ext cx="11277600" cy="4227441"/>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457200" y="509498"/>
            <a:ext cx="10782300" cy="542123"/>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Distribución </a:t>
            </a:r>
            <a:r>
              <a:rPr lang="es-ES" sz="3200" dirty="0" err="1">
                <a:solidFill>
                  <a:schemeClr val="bg1">
                    <a:lumMod val="50000"/>
                  </a:schemeClr>
                </a:solidFill>
                <a:latin typeface="Arial" panose="020B0604020202020204" pitchFamily="34" charset="0"/>
                <a:cs typeface="Arial" panose="020B0604020202020204" pitchFamily="34" charset="0"/>
              </a:rPr>
              <a:t>Muestral</a:t>
            </a:r>
            <a:r>
              <a:rPr lang="es-ES" sz="3200" dirty="0">
                <a:solidFill>
                  <a:schemeClr val="bg1">
                    <a:lumMod val="50000"/>
                  </a:schemeClr>
                </a:solidFill>
                <a:latin typeface="Arial" panose="020B0604020202020204" pitchFamily="34" charset="0"/>
                <a:cs typeface="Arial" panose="020B0604020202020204" pitchFamily="34" charset="0"/>
              </a:rPr>
              <a:t> de Medias</a:t>
            </a:r>
            <a:endParaRPr lang="es-MX" sz="3200" dirty="0">
              <a:solidFill>
                <a:schemeClr val="bg1">
                  <a:lumMod val="50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746CFDD-6FC3-5AA7-5C1D-362E2C5244F1}"/>
                  </a:ext>
                </a:extLst>
              </p:cNvPr>
              <p:cNvSpPr txBox="1"/>
              <p:nvPr/>
            </p:nvSpPr>
            <p:spPr>
              <a:xfrm>
                <a:off x="810180" y="1655591"/>
                <a:ext cx="10676970" cy="4179286"/>
              </a:xfrm>
              <a:prstGeom prst="rect">
                <a:avLst/>
              </a:prstGeom>
              <a:noFill/>
              <a:ln>
                <a:noFill/>
              </a:ln>
            </p:spPr>
            <p:txBody>
              <a:bodyPr wrap="square" lIns="91440" tIns="45720" rIns="91440" bIns="45720" rtlCol="0" anchor="t">
                <a:spAutoFit/>
              </a:bodyPr>
              <a:lstStyle/>
              <a:p>
                <a:r>
                  <a:rPr lang="es-ES" dirty="0">
                    <a:solidFill>
                      <a:schemeClr val="bg1"/>
                    </a:solidFill>
                    <a:latin typeface="+mn-lt"/>
                    <a:ea typeface="Source Sans Pro"/>
                  </a:rPr>
                  <a:t>Por lo tanto, como la distribución muestral de la media sigue una distribución normal, la fórmula para cualquier probabilidad relacionada con la media de una muestra es la siguiente:</a:t>
                </a:r>
              </a:p>
              <a:p>
                <a:pPr marL="285750" indent="-285750" algn="ctr">
                  <a:buFont typeface="Arial" panose="020B0604020202020204" pitchFamily="34" charset="0"/>
                  <a:buChar char="•"/>
                </a:pPr>
                <a:endParaRPr lang="es-ES" dirty="0">
                  <a:solidFill>
                    <a:schemeClr val="bg1"/>
                  </a:solidFill>
                  <a:latin typeface="+mn-lt"/>
                  <a:ea typeface="Source Sans Pro"/>
                </a:endParaRPr>
              </a:p>
              <a:p>
                <a:pPr algn="ctr"/>
                <a14:m>
                  <m:oMathPara xmlns:m="http://schemas.openxmlformats.org/officeDocument/2006/math">
                    <m:oMathParaPr>
                      <m:jc m:val="centerGroup"/>
                    </m:oMathParaPr>
                    <m:oMath xmlns:m="http://schemas.openxmlformats.org/officeDocument/2006/math">
                      <m:r>
                        <a:rPr lang="es-CL" sz="1800" b="1" i="1" smtClean="0">
                          <a:solidFill>
                            <a:schemeClr val="bg1"/>
                          </a:solidFill>
                          <a:latin typeface="Cambria Math" panose="02040503050406030204" pitchFamily="18" charset="0"/>
                        </a:rPr>
                        <m:t>𝒁</m:t>
                      </m:r>
                      <m:r>
                        <a:rPr lang="es-CL" sz="1800" b="1" i="1" smtClean="0">
                          <a:solidFill>
                            <a:schemeClr val="bg1"/>
                          </a:solidFill>
                          <a:latin typeface="Cambria Math" panose="02040503050406030204" pitchFamily="18" charset="0"/>
                        </a:rPr>
                        <m:t>=</m:t>
                      </m:r>
                      <m:f>
                        <m:fPr>
                          <m:ctrlPr>
                            <a:rPr lang="es-CL" sz="1800" b="1" i="1" smtClean="0">
                              <a:solidFill>
                                <a:schemeClr val="bg1"/>
                              </a:solidFill>
                              <a:latin typeface="Cambria Math" panose="02040503050406030204" pitchFamily="18" charset="0"/>
                            </a:rPr>
                          </m:ctrlPr>
                        </m:fPr>
                        <m:num>
                          <m:acc>
                            <m:accPr>
                              <m:chr m:val="̅"/>
                              <m:ctrlPr>
                                <a:rPr lang="es-CL" sz="1800" b="1" i="1" smtClean="0">
                                  <a:solidFill>
                                    <a:schemeClr val="bg1"/>
                                  </a:solidFill>
                                  <a:latin typeface="Cambria Math" panose="02040503050406030204" pitchFamily="18" charset="0"/>
                                </a:rPr>
                              </m:ctrlPr>
                            </m:accPr>
                            <m:e>
                              <m:r>
                                <a:rPr lang="es-CL" sz="1800" b="1" i="1" smtClean="0">
                                  <a:solidFill>
                                    <a:schemeClr val="bg1"/>
                                  </a:solidFill>
                                  <a:latin typeface="Cambria Math" panose="02040503050406030204" pitchFamily="18" charset="0"/>
                                </a:rPr>
                                <m:t>𝒙</m:t>
                              </m:r>
                            </m:e>
                          </m:acc>
                          <m:r>
                            <a:rPr lang="es-CL" sz="1800" b="1" i="1" smtClean="0">
                              <a:solidFill>
                                <a:schemeClr val="bg1"/>
                              </a:solidFill>
                              <a:latin typeface="Cambria Math" panose="02040503050406030204" pitchFamily="18" charset="0"/>
                            </a:rPr>
                            <m:t>−</m:t>
                          </m:r>
                          <m:r>
                            <a:rPr lang="es-CL" sz="1800" b="1" i="1">
                              <a:solidFill>
                                <a:schemeClr val="bg1"/>
                              </a:solidFill>
                              <a:latin typeface="Cambria Math" panose="02040503050406030204" pitchFamily="18" charset="0"/>
                              <a:ea typeface="Cambria Math" panose="02040503050406030204" pitchFamily="18" charset="0"/>
                            </a:rPr>
                            <m:t>𝝁</m:t>
                          </m:r>
                        </m:num>
                        <m:den>
                          <m:f>
                            <m:fPr>
                              <m:ctrlPr>
                                <a:rPr lang="es-CL" sz="1800" b="1" i="1" smtClean="0">
                                  <a:solidFill>
                                    <a:schemeClr val="bg1"/>
                                  </a:solidFill>
                                  <a:latin typeface="Cambria Math" panose="02040503050406030204" pitchFamily="18" charset="0"/>
                                </a:rPr>
                              </m:ctrlPr>
                            </m:fPr>
                            <m:num>
                              <m:r>
                                <a:rPr lang="es-CL" sz="1800" b="1" i="1" smtClean="0">
                                  <a:solidFill>
                                    <a:schemeClr val="bg1"/>
                                  </a:solidFill>
                                  <a:latin typeface="Cambria Math" panose="02040503050406030204" pitchFamily="18" charset="0"/>
                                  <a:ea typeface="Cambria Math" panose="02040503050406030204" pitchFamily="18" charset="0"/>
                                </a:rPr>
                                <m:t>𝝈</m:t>
                              </m:r>
                            </m:num>
                            <m:den>
                              <m:rad>
                                <m:radPr>
                                  <m:degHide m:val="on"/>
                                  <m:ctrlPr>
                                    <a:rPr lang="es-CL" sz="1800" b="1" i="1" smtClean="0">
                                      <a:solidFill>
                                        <a:schemeClr val="bg1"/>
                                      </a:solidFill>
                                      <a:latin typeface="Cambria Math" panose="02040503050406030204" pitchFamily="18" charset="0"/>
                                    </a:rPr>
                                  </m:ctrlPr>
                                </m:radPr>
                                <m:deg/>
                                <m:e>
                                  <m:r>
                                    <a:rPr lang="es-CL" sz="1800" b="1" i="1" smtClean="0">
                                      <a:solidFill>
                                        <a:schemeClr val="bg1"/>
                                      </a:solidFill>
                                      <a:latin typeface="Cambria Math" panose="02040503050406030204" pitchFamily="18" charset="0"/>
                                    </a:rPr>
                                    <m:t>𝒏</m:t>
                                  </m:r>
                                </m:e>
                              </m:rad>
                            </m:den>
                          </m:f>
                        </m:den>
                      </m:f>
                    </m:oMath>
                  </m:oMathPara>
                </a14:m>
                <a:endParaRPr lang="es-ES" b="1" dirty="0">
                  <a:solidFill>
                    <a:schemeClr val="bg1"/>
                  </a:solidFill>
                  <a:latin typeface="+mn-lt"/>
                  <a:ea typeface="Source Sans Pro"/>
                </a:endParaRPr>
              </a:p>
              <a:p>
                <a:pPr algn="ctr"/>
                <a:endParaRPr lang="es-ES" dirty="0">
                  <a:solidFill>
                    <a:schemeClr val="bg1"/>
                  </a:solidFill>
                  <a:latin typeface="+mn-lt"/>
                  <a:ea typeface="Source Sans Pro"/>
                </a:endParaRPr>
              </a:p>
              <a:p>
                <a:r>
                  <a:rPr lang="es-ES" dirty="0">
                    <a:solidFill>
                      <a:schemeClr val="bg1"/>
                    </a:solidFill>
                    <a:latin typeface="+mn-lt"/>
                    <a:ea typeface="Source Sans Pro"/>
                  </a:rPr>
                  <a:t>En donde,</a:t>
                </a:r>
              </a:p>
              <a:p>
                <a:pPr algn="ctr"/>
                <a:endParaRPr lang="es-ES" dirty="0">
                  <a:solidFill>
                    <a:schemeClr val="bg1"/>
                  </a:solidFill>
                  <a:latin typeface="+mn-lt"/>
                  <a:ea typeface="Source Sans Pro"/>
                </a:endParaRPr>
              </a:p>
              <a:p>
                <a14:m>
                  <m:oMath xmlns:m="http://schemas.openxmlformats.org/officeDocument/2006/math">
                    <m:acc>
                      <m:accPr>
                        <m:chr m:val="̅"/>
                        <m:ctrlPr>
                          <a:rPr lang="es-CL" sz="1800" b="1" i="1" smtClean="0">
                            <a:solidFill>
                              <a:schemeClr val="bg1"/>
                            </a:solidFill>
                            <a:latin typeface="Cambria Math" panose="02040503050406030204" pitchFamily="18" charset="0"/>
                          </a:rPr>
                        </m:ctrlPr>
                      </m:accPr>
                      <m:e>
                        <m:r>
                          <a:rPr lang="es-CL" sz="1800" b="1" i="1" smtClean="0">
                            <a:solidFill>
                              <a:schemeClr val="bg1"/>
                            </a:solidFill>
                            <a:latin typeface="Cambria Math" panose="02040503050406030204" pitchFamily="18" charset="0"/>
                          </a:rPr>
                          <m:t>𝒙</m:t>
                        </m:r>
                      </m:e>
                    </m:acc>
                    <m:r>
                      <a:rPr lang="es-CL" sz="1800" b="1" i="1" smtClean="0">
                        <a:solidFill>
                          <a:schemeClr val="bg1"/>
                        </a:solidFill>
                        <a:latin typeface="Cambria Math" panose="02040503050406030204" pitchFamily="18" charset="0"/>
                      </a:rPr>
                      <m:t> </m:t>
                    </m:r>
                  </m:oMath>
                </a14:m>
                <a:r>
                  <a:rPr lang="es-ES" b="1" dirty="0">
                    <a:solidFill>
                      <a:schemeClr val="bg1"/>
                    </a:solidFill>
                    <a:latin typeface="+mn-lt"/>
                    <a:ea typeface="Source Sans Pro"/>
                  </a:rPr>
                  <a:t>:</a:t>
                </a:r>
                <a:r>
                  <a:rPr lang="es-ES" dirty="0">
                    <a:solidFill>
                      <a:schemeClr val="bg1"/>
                    </a:solidFill>
                    <a:latin typeface="+mn-lt"/>
                    <a:ea typeface="Source Sans Pro"/>
                  </a:rPr>
                  <a:t> media de la muestra.</a:t>
                </a:r>
              </a:p>
              <a:p>
                <a:r>
                  <a:rPr lang="es-ES" b="1" dirty="0">
                    <a:solidFill>
                      <a:schemeClr val="bg1"/>
                    </a:solidFill>
                    <a:latin typeface="+mn-lt"/>
                    <a:ea typeface="Source Sans Pro"/>
                  </a:rPr>
                  <a:t>𝜇 :</a:t>
                </a:r>
                <a:r>
                  <a:rPr lang="es-ES" dirty="0">
                    <a:solidFill>
                      <a:schemeClr val="bg1"/>
                    </a:solidFill>
                    <a:latin typeface="+mn-lt"/>
                    <a:ea typeface="Source Sans Pro"/>
                  </a:rPr>
                  <a:t> media de la población.</a:t>
                </a:r>
              </a:p>
              <a:p>
                <a:r>
                  <a:rPr lang="es-ES" b="1" dirty="0">
                    <a:solidFill>
                      <a:schemeClr val="bg1"/>
                    </a:solidFill>
                    <a:latin typeface="+mn-lt"/>
                    <a:ea typeface="Source Sans Pro"/>
                  </a:rPr>
                  <a:t>𝜎 :</a:t>
                </a:r>
                <a:r>
                  <a:rPr lang="es-ES" dirty="0">
                    <a:solidFill>
                      <a:schemeClr val="bg1"/>
                    </a:solidFill>
                    <a:latin typeface="+mn-lt"/>
                    <a:ea typeface="Source Sans Pro"/>
                  </a:rPr>
                  <a:t> desviación típica de la población.</a:t>
                </a:r>
              </a:p>
              <a:p>
                <a:r>
                  <a:rPr lang="es-ES" b="1" dirty="0">
                    <a:solidFill>
                      <a:schemeClr val="bg1"/>
                    </a:solidFill>
                    <a:latin typeface="+mn-lt"/>
                    <a:ea typeface="Source Sans Pro"/>
                  </a:rPr>
                  <a:t>𝑛 :</a:t>
                </a:r>
                <a:r>
                  <a:rPr lang="es-ES" dirty="0">
                    <a:solidFill>
                      <a:schemeClr val="bg1"/>
                    </a:solidFill>
                    <a:latin typeface="+mn-lt"/>
                    <a:ea typeface="Source Sans Pro"/>
                  </a:rPr>
                  <a:t> tamaño de la muestra.</a:t>
                </a:r>
              </a:p>
              <a:p>
                <a:r>
                  <a:rPr lang="es-ES" b="1" dirty="0">
                    <a:solidFill>
                      <a:schemeClr val="bg1"/>
                    </a:solidFill>
                    <a:latin typeface="+mn-lt"/>
                    <a:ea typeface="Source Sans Pro"/>
                  </a:rPr>
                  <a:t>𝑍 :</a:t>
                </a:r>
                <a:r>
                  <a:rPr lang="es-ES" dirty="0">
                    <a:solidFill>
                      <a:schemeClr val="bg1"/>
                    </a:solidFill>
                    <a:latin typeface="+mn-lt"/>
                    <a:ea typeface="Source Sans Pro"/>
                  </a:rPr>
                  <a:t> variable definida por la distribución normal estándar N(0,1).</a:t>
                </a:r>
              </a:p>
              <a:p>
                <a:pPr algn="ctr"/>
                <a:endParaRPr lang="es-ES" dirty="0">
                  <a:solidFill>
                    <a:schemeClr val="bg1"/>
                  </a:solidFill>
                  <a:latin typeface="Source Sans Pro" panose="020B0503030403020204" pitchFamily="34" charset="0"/>
                  <a:ea typeface="Source Sans Pro"/>
                </a:endParaRPr>
              </a:p>
            </p:txBody>
          </p:sp>
        </mc:Choice>
        <mc:Fallback xmlns="">
          <p:sp>
            <p:nvSpPr>
              <p:cNvPr id="9" name="CuadroTexto 8">
                <a:extLst>
                  <a:ext uri="{FF2B5EF4-FFF2-40B4-BE49-F238E27FC236}">
                    <a16:creationId xmlns:a16="http://schemas.microsoft.com/office/drawing/2014/main" id="{C746CFDD-6FC3-5AA7-5C1D-362E2C5244F1}"/>
                  </a:ext>
                </a:extLst>
              </p:cNvPr>
              <p:cNvSpPr txBox="1">
                <a:spLocks noRot="1" noChangeAspect="1" noMove="1" noResize="1" noEditPoints="1" noAdjustHandles="1" noChangeArrowheads="1" noChangeShapeType="1" noTextEdit="1"/>
              </p:cNvSpPr>
              <p:nvPr/>
            </p:nvSpPr>
            <p:spPr>
              <a:xfrm>
                <a:off x="810180" y="1655591"/>
                <a:ext cx="10676970" cy="4179286"/>
              </a:xfrm>
              <a:prstGeom prst="rect">
                <a:avLst/>
              </a:prstGeom>
              <a:blipFill>
                <a:blip r:embed="rId2"/>
                <a:stretch>
                  <a:fillRect l="-514" t="-87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258056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redondeado 4">
            <a:extLst>
              <a:ext uri="{FF2B5EF4-FFF2-40B4-BE49-F238E27FC236}">
                <a16:creationId xmlns:a16="http://schemas.microsoft.com/office/drawing/2014/main" id="{EEF64A50-BFC1-6219-5B5B-FB92BB3A07A2}"/>
              </a:ext>
            </a:extLst>
          </p:cNvPr>
          <p:cNvSpPr/>
          <p:nvPr/>
        </p:nvSpPr>
        <p:spPr>
          <a:xfrm>
            <a:off x="230234" y="1919815"/>
            <a:ext cx="11778885" cy="3178629"/>
          </a:xfrm>
          <a:prstGeom prst="roundRect">
            <a:avLst>
              <a:gd name="adj" fmla="val 2971"/>
            </a:avLst>
          </a:prstGeom>
          <a:solidFill>
            <a:srgbClr val="983275"/>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439783" y="2245962"/>
            <a:ext cx="11277600" cy="2541151"/>
          </a:xfrm>
          <a:prstGeom prst="roundRect">
            <a:avLst>
              <a:gd name="adj" fmla="val 297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tx1">
                  <a:lumMod val="65000"/>
                  <a:lumOff val="35000"/>
                </a:schemeClr>
              </a:solidFill>
            </a:endParaRPr>
          </a:p>
        </p:txBody>
      </p:sp>
      <p:sp>
        <p:nvSpPr>
          <p:cNvPr id="3" name="Título 1"/>
          <p:cNvSpPr txBox="1">
            <a:spLocks/>
          </p:cNvSpPr>
          <p:nvPr/>
        </p:nvSpPr>
        <p:spPr bwMode="auto">
          <a:xfrm>
            <a:off x="728526" y="1146884"/>
            <a:ext cx="10782300" cy="655790"/>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Ejemplo</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728526" y="2493466"/>
            <a:ext cx="10782300" cy="2031325"/>
          </a:xfrm>
          <a:prstGeom prst="rect">
            <a:avLst/>
          </a:prstGeom>
          <a:noFill/>
          <a:ln>
            <a:noFill/>
          </a:ln>
        </p:spPr>
        <p:txBody>
          <a:bodyPr wrap="square" lIns="91440" tIns="45720" rIns="91440" bIns="45720" rtlCol="0" anchor="t">
            <a:spAutoFit/>
          </a:bodyPr>
          <a:lstStyle/>
          <a:p>
            <a:pPr algn="just"/>
            <a:r>
              <a:rPr lang="es-ES" dirty="0">
                <a:solidFill>
                  <a:schemeClr val="tx1">
                    <a:lumMod val="65000"/>
                    <a:lumOff val="35000"/>
                  </a:schemeClr>
                </a:solidFill>
                <a:latin typeface="+mn-lt"/>
                <a:ea typeface="Source Sans Pro"/>
              </a:rPr>
              <a:t>El peso de los estudiantes de una universidad sigue una distribución normal de media 68 kg y desviación estándar 9 kg. Determine:</a:t>
            </a:r>
          </a:p>
          <a:p>
            <a:pPr algn="just"/>
            <a:endParaRPr lang="es-ES" dirty="0">
              <a:solidFill>
                <a:schemeClr val="tx1">
                  <a:lumMod val="65000"/>
                  <a:lumOff val="35000"/>
                </a:schemeClr>
              </a:solidFill>
              <a:latin typeface="+mn-lt"/>
              <a:ea typeface="Source Sans Pro"/>
            </a:endParaRPr>
          </a:p>
          <a:p>
            <a:pPr marL="285750" indent="-285750" algn="just">
              <a:buFont typeface="Wingdings" panose="05000000000000000000" pitchFamily="2" charset="2"/>
              <a:buChar char="Ø"/>
            </a:pPr>
            <a:r>
              <a:rPr lang="es-ES" dirty="0">
                <a:solidFill>
                  <a:schemeClr val="tx1">
                    <a:lumMod val="65000"/>
                    <a:lumOff val="35000"/>
                  </a:schemeClr>
                </a:solidFill>
                <a:latin typeface="+mn-lt"/>
                <a:ea typeface="Source Sans Pro"/>
              </a:rPr>
              <a:t>¿Cuál es la probabilidad de que la media de una muestra aleatoria de 25 alumnos esté por debajo de 66 kg?</a:t>
            </a:r>
          </a:p>
          <a:p>
            <a:pPr marL="285750" indent="-285750" algn="just">
              <a:buFont typeface="Wingdings" panose="05000000000000000000" pitchFamily="2" charset="2"/>
              <a:buChar char="Ø"/>
            </a:pPr>
            <a:endParaRPr lang="es-ES" dirty="0">
              <a:solidFill>
                <a:schemeClr val="tx1">
                  <a:lumMod val="65000"/>
                  <a:lumOff val="35000"/>
                </a:schemeClr>
              </a:solidFill>
              <a:latin typeface="+mn-lt"/>
              <a:ea typeface="Source Sans Pro"/>
            </a:endParaRPr>
          </a:p>
          <a:p>
            <a:pPr marL="285750" indent="-285750" algn="just">
              <a:buFont typeface="Wingdings" panose="05000000000000000000" pitchFamily="2" charset="2"/>
              <a:buChar char="Ø"/>
            </a:pPr>
            <a:r>
              <a:rPr lang="es-ES" dirty="0">
                <a:solidFill>
                  <a:schemeClr val="tx1">
                    <a:lumMod val="65000"/>
                    <a:lumOff val="35000"/>
                  </a:schemeClr>
                </a:solidFill>
                <a:latin typeface="+mn-lt"/>
                <a:ea typeface="Source Sans Pro"/>
              </a:rPr>
              <a:t>Si se extraen 300 muestras con un tamaño de 25 alumnos cada una, ¿cuántas medias muestrales tendrán un valor por debajo de 66 kg?</a:t>
            </a:r>
          </a:p>
        </p:txBody>
      </p:sp>
    </p:spTree>
    <p:extLst>
      <p:ext uri="{BB962C8B-B14F-4D97-AF65-F5344CB8AC3E}">
        <p14:creationId xmlns:p14="http://schemas.microsoft.com/office/powerpoint/2010/main" val="100774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4">
            <a:extLst>
              <a:ext uri="{FF2B5EF4-FFF2-40B4-BE49-F238E27FC236}">
                <a16:creationId xmlns:a16="http://schemas.microsoft.com/office/drawing/2014/main" id="{EEF64A50-BFC1-6219-5B5B-FB92BB3A07A2}"/>
              </a:ext>
            </a:extLst>
          </p:cNvPr>
          <p:cNvSpPr/>
          <p:nvPr/>
        </p:nvSpPr>
        <p:spPr>
          <a:xfrm>
            <a:off x="661851" y="1454331"/>
            <a:ext cx="10885716" cy="4310744"/>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1088571" y="1647334"/>
            <a:ext cx="10008516" cy="3934860"/>
          </a:xfrm>
          <a:prstGeom prst="roundRect">
            <a:avLst>
              <a:gd name="adj" fmla="val 2971"/>
            </a:avLst>
          </a:prstGeom>
          <a:solidFill>
            <a:srgbClr val="9832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1191507" y="565150"/>
            <a:ext cx="10495996" cy="700190"/>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Ejemplo</a:t>
            </a:r>
            <a:endParaRPr lang="es-MX" sz="3200" dirty="0">
              <a:solidFill>
                <a:schemeClr val="bg1">
                  <a:lumMod val="50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746CFDD-6FC3-5AA7-5C1D-362E2C5244F1}"/>
                  </a:ext>
                </a:extLst>
              </p:cNvPr>
              <p:cNvSpPr txBox="1"/>
              <p:nvPr/>
            </p:nvSpPr>
            <p:spPr>
              <a:xfrm>
                <a:off x="1191507" y="1647334"/>
                <a:ext cx="9905580" cy="4772460"/>
              </a:xfrm>
              <a:prstGeom prst="rect">
                <a:avLst/>
              </a:prstGeom>
              <a:noFill/>
              <a:ln>
                <a:noFill/>
              </a:ln>
            </p:spPr>
            <p:txBody>
              <a:bodyPr wrap="square" lIns="91440" tIns="45720" rIns="91440" bIns="45720" rtlCol="0" anchor="t">
                <a:spAutoFit/>
              </a:bodyPr>
              <a:lstStyle/>
              <a:p>
                <a:r>
                  <a:rPr lang="es-ES" dirty="0">
                    <a:solidFill>
                      <a:schemeClr val="bg1"/>
                    </a:solidFill>
                    <a:latin typeface="+mn-lt"/>
                    <a:ea typeface="Source Sans Pro"/>
                  </a:rPr>
                  <a:t>Primero, calculamos el valor del estadístico correspondiente, según la siguiente fórmula:</a:t>
                </a:r>
              </a:p>
              <a:p>
                <a:endParaRPr lang="es-ES" dirty="0">
                  <a:solidFill>
                    <a:schemeClr val="bg1"/>
                  </a:solidFill>
                  <a:latin typeface="+mn-lt"/>
                  <a:ea typeface="Source Sans Pro"/>
                </a:endParaRPr>
              </a:p>
              <a:p>
                <a:pPr algn="ctr"/>
                <a14:m>
                  <m:oMath xmlns:m="http://schemas.openxmlformats.org/officeDocument/2006/math">
                    <m:r>
                      <a:rPr lang="es-CL" sz="1800" b="1" i="1" smtClean="0">
                        <a:solidFill>
                          <a:schemeClr val="bg1"/>
                        </a:solidFill>
                        <a:latin typeface="Cambria Math" panose="02040503050406030204" pitchFamily="18" charset="0"/>
                      </a:rPr>
                      <m:t>𝒁</m:t>
                    </m:r>
                    <m:r>
                      <a:rPr lang="es-CL" sz="1800" b="1" i="1" smtClean="0">
                        <a:solidFill>
                          <a:schemeClr val="bg1"/>
                        </a:solidFill>
                        <a:latin typeface="Cambria Math" panose="02040503050406030204" pitchFamily="18" charset="0"/>
                      </a:rPr>
                      <m:t>=</m:t>
                    </m:r>
                    <m:f>
                      <m:fPr>
                        <m:ctrlPr>
                          <a:rPr lang="es-CL" sz="1800" b="1" i="1" smtClean="0">
                            <a:solidFill>
                              <a:schemeClr val="bg1"/>
                            </a:solidFill>
                            <a:latin typeface="Cambria Math" panose="02040503050406030204" pitchFamily="18" charset="0"/>
                          </a:rPr>
                        </m:ctrlPr>
                      </m:fPr>
                      <m:num>
                        <m:acc>
                          <m:accPr>
                            <m:chr m:val="̅"/>
                            <m:ctrlPr>
                              <a:rPr lang="es-CL" sz="1800" b="1" i="1" smtClean="0">
                                <a:solidFill>
                                  <a:schemeClr val="bg1"/>
                                </a:solidFill>
                                <a:latin typeface="Cambria Math" panose="02040503050406030204" pitchFamily="18" charset="0"/>
                              </a:rPr>
                            </m:ctrlPr>
                          </m:accPr>
                          <m:e>
                            <m:r>
                              <a:rPr lang="es-CL" sz="1800" b="1" i="1" smtClean="0">
                                <a:solidFill>
                                  <a:schemeClr val="bg1"/>
                                </a:solidFill>
                                <a:latin typeface="Cambria Math" panose="02040503050406030204" pitchFamily="18" charset="0"/>
                              </a:rPr>
                              <m:t>𝒙</m:t>
                            </m:r>
                          </m:e>
                        </m:acc>
                        <m:r>
                          <a:rPr lang="es-CL" sz="1800" b="1" i="1" smtClean="0">
                            <a:solidFill>
                              <a:schemeClr val="bg1"/>
                            </a:solidFill>
                            <a:latin typeface="Cambria Math" panose="02040503050406030204" pitchFamily="18" charset="0"/>
                          </a:rPr>
                          <m:t>−</m:t>
                        </m:r>
                        <m:r>
                          <a:rPr lang="es-CL" sz="1800" b="1" i="1">
                            <a:solidFill>
                              <a:schemeClr val="bg1"/>
                            </a:solidFill>
                            <a:latin typeface="Cambria Math" panose="02040503050406030204" pitchFamily="18" charset="0"/>
                            <a:ea typeface="Cambria Math" panose="02040503050406030204" pitchFamily="18" charset="0"/>
                          </a:rPr>
                          <m:t>𝝁</m:t>
                        </m:r>
                      </m:num>
                      <m:den>
                        <m:f>
                          <m:fPr>
                            <m:ctrlPr>
                              <a:rPr lang="es-CL" sz="1800" b="1" i="1" smtClean="0">
                                <a:solidFill>
                                  <a:schemeClr val="bg1"/>
                                </a:solidFill>
                                <a:latin typeface="Cambria Math" panose="02040503050406030204" pitchFamily="18" charset="0"/>
                              </a:rPr>
                            </m:ctrlPr>
                          </m:fPr>
                          <m:num>
                            <m:r>
                              <a:rPr lang="es-CL" sz="1800" b="1" i="1" smtClean="0">
                                <a:solidFill>
                                  <a:schemeClr val="bg1"/>
                                </a:solidFill>
                                <a:latin typeface="Cambria Math" panose="02040503050406030204" pitchFamily="18" charset="0"/>
                                <a:ea typeface="Cambria Math" panose="02040503050406030204" pitchFamily="18" charset="0"/>
                              </a:rPr>
                              <m:t>𝝈</m:t>
                            </m:r>
                          </m:num>
                          <m:den>
                            <m:rad>
                              <m:radPr>
                                <m:degHide m:val="on"/>
                                <m:ctrlPr>
                                  <a:rPr lang="es-CL" sz="1800" b="1" i="1" smtClean="0">
                                    <a:solidFill>
                                      <a:schemeClr val="bg1"/>
                                    </a:solidFill>
                                    <a:latin typeface="Cambria Math" panose="02040503050406030204" pitchFamily="18" charset="0"/>
                                  </a:rPr>
                                </m:ctrlPr>
                              </m:radPr>
                              <m:deg/>
                              <m:e>
                                <m:r>
                                  <a:rPr lang="es-CL" sz="1800" b="1" i="1" smtClean="0">
                                    <a:solidFill>
                                      <a:schemeClr val="bg1"/>
                                    </a:solidFill>
                                    <a:latin typeface="Cambria Math" panose="02040503050406030204" pitchFamily="18" charset="0"/>
                                  </a:rPr>
                                  <m:t>𝒏</m:t>
                                </m:r>
                              </m:e>
                            </m:rad>
                          </m:den>
                        </m:f>
                      </m:den>
                    </m:f>
                    <m:r>
                      <a:rPr lang="es-CL" sz="1800" b="1" i="1" smtClean="0">
                        <a:solidFill>
                          <a:schemeClr val="bg1"/>
                        </a:solidFill>
                        <a:latin typeface="Cambria Math" panose="02040503050406030204" pitchFamily="18" charset="0"/>
                      </a:rPr>
                      <m:t>=</m:t>
                    </m:r>
                  </m:oMath>
                </a14:m>
                <a:r>
                  <a:rPr lang="es-CL" sz="1800" b="1" dirty="0">
                    <a:solidFill>
                      <a:schemeClr val="bg1"/>
                    </a:solidFill>
                    <a:latin typeface="+mn-lt"/>
                  </a:rPr>
                  <a:t> </a:t>
                </a:r>
                <a14:m>
                  <m:oMath xmlns:m="http://schemas.openxmlformats.org/officeDocument/2006/math">
                    <m:f>
                      <m:fPr>
                        <m:ctrlPr>
                          <a:rPr lang="es-CL" sz="1800" b="1" i="1">
                            <a:solidFill>
                              <a:schemeClr val="bg1"/>
                            </a:solidFill>
                            <a:latin typeface="Cambria Math" panose="02040503050406030204" pitchFamily="18" charset="0"/>
                          </a:rPr>
                        </m:ctrlPr>
                      </m:fPr>
                      <m:num>
                        <m:r>
                          <a:rPr lang="es-CL" sz="1800" b="1" i="1" smtClean="0">
                            <a:solidFill>
                              <a:schemeClr val="bg1"/>
                            </a:solidFill>
                            <a:latin typeface="Cambria Math" panose="02040503050406030204" pitchFamily="18" charset="0"/>
                          </a:rPr>
                          <m:t>𝟔𝟔</m:t>
                        </m:r>
                        <m:r>
                          <a:rPr lang="es-CL" sz="1800" b="1" i="1">
                            <a:solidFill>
                              <a:schemeClr val="bg1"/>
                            </a:solidFill>
                            <a:latin typeface="Cambria Math" panose="02040503050406030204" pitchFamily="18" charset="0"/>
                          </a:rPr>
                          <m:t>−</m:t>
                        </m:r>
                        <m:r>
                          <a:rPr lang="es-CL" sz="1800" b="1" i="1" smtClean="0">
                            <a:solidFill>
                              <a:schemeClr val="bg1"/>
                            </a:solidFill>
                            <a:latin typeface="Cambria Math" panose="02040503050406030204" pitchFamily="18" charset="0"/>
                          </a:rPr>
                          <m:t>𝟔𝟖</m:t>
                        </m:r>
                      </m:num>
                      <m:den>
                        <m:f>
                          <m:fPr>
                            <m:ctrlPr>
                              <a:rPr lang="es-CL" sz="1800" b="1" i="1">
                                <a:solidFill>
                                  <a:schemeClr val="bg1"/>
                                </a:solidFill>
                                <a:latin typeface="Cambria Math" panose="02040503050406030204" pitchFamily="18" charset="0"/>
                              </a:rPr>
                            </m:ctrlPr>
                          </m:fPr>
                          <m:num>
                            <m:r>
                              <a:rPr lang="es-CL" sz="1800" b="1" i="1" smtClean="0">
                                <a:solidFill>
                                  <a:schemeClr val="bg1"/>
                                </a:solidFill>
                                <a:latin typeface="Cambria Math" panose="02040503050406030204" pitchFamily="18" charset="0"/>
                              </a:rPr>
                              <m:t>𝟗</m:t>
                            </m:r>
                          </m:num>
                          <m:den>
                            <m:rad>
                              <m:radPr>
                                <m:degHide m:val="on"/>
                                <m:ctrlPr>
                                  <a:rPr lang="es-CL" sz="1800" b="1" i="1">
                                    <a:solidFill>
                                      <a:schemeClr val="bg1"/>
                                    </a:solidFill>
                                    <a:latin typeface="Cambria Math" panose="02040503050406030204" pitchFamily="18" charset="0"/>
                                  </a:rPr>
                                </m:ctrlPr>
                              </m:radPr>
                              <m:deg/>
                              <m:e>
                                <m:r>
                                  <a:rPr lang="es-CL" sz="1800" b="1" i="1" smtClean="0">
                                    <a:solidFill>
                                      <a:schemeClr val="bg1"/>
                                    </a:solidFill>
                                    <a:latin typeface="Cambria Math" panose="02040503050406030204" pitchFamily="18" charset="0"/>
                                  </a:rPr>
                                  <m:t>𝟐𝟓</m:t>
                                </m:r>
                              </m:e>
                            </m:rad>
                          </m:den>
                        </m:f>
                      </m:den>
                    </m:f>
                    <m:r>
                      <a:rPr lang="es-CL" sz="1800" b="1" i="1" smtClean="0">
                        <a:solidFill>
                          <a:schemeClr val="bg1"/>
                        </a:solidFill>
                        <a:latin typeface="Cambria Math" panose="02040503050406030204" pitchFamily="18" charset="0"/>
                      </a:rPr>
                      <m:t>=−</m:t>
                    </m:r>
                    <m:r>
                      <a:rPr lang="es-CL" sz="1800" b="1" i="1" smtClean="0">
                        <a:solidFill>
                          <a:schemeClr val="bg1"/>
                        </a:solidFill>
                        <a:latin typeface="Cambria Math" panose="02040503050406030204" pitchFamily="18" charset="0"/>
                      </a:rPr>
                      <m:t>𝟏</m:t>
                    </m:r>
                    <m:r>
                      <a:rPr lang="es-CL" sz="1800" b="1" i="1" smtClean="0">
                        <a:solidFill>
                          <a:schemeClr val="bg1"/>
                        </a:solidFill>
                        <a:latin typeface="Cambria Math" panose="02040503050406030204" pitchFamily="18" charset="0"/>
                      </a:rPr>
                      <m:t>.</m:t>
                    </m:r>
                    <m:r>
                      <a:rPr lang="es-CL" sz="1800" b="1" i="1" smtClean="0">
                        <a:solidFill>
                          <a:schemeClr val="bg1"/>
                        </a:solidFill>
                        <a:latin typeface="Cambria Math" panose="02040503050406030204" pitchFamily="18" charset="0"/>
                      </a:rPr>
                      <m:t>𝟏𝟏</m:t>
                    </m:r>
                  </m:oMath>
                </a14:m>
                <a:endParaRPr lang="es-CL" sz="1800" b="1" dirty="0">
                  <a:solidFill>
                    <a:schemeClr val="bg1"/>
                  </a:solidFill>
                  <a:latin typeface="+mn-lt"/>
                </a:endParaRPr>
              </a:p>
              <a:p>
                <a:endParaRPr lang="es-CL" dirty="0">
                  <a:solidFill>
                    <a:schemeClr val="bg1"/>
                  </a:solidFill>
                  <a:latin typeface="+mn-lt"/>
                </a:endParaRPr>
              </a:p>
              <a:p>
                <a:endParaRPr lang="es-CL" dirty="0">
                  <a:solidFill>
                    <a:schemeClr val="bg1"/>
                  </a:solidFill>
                  <a:latin typeface="+mn-lt"/>
                </a:endParaRPr>
              </a:p>
              <a:p>
                <a:r>
                  <a:rPr lang="es-ES" sz="1800" dirty="0">
                    <a:solidFill>
                      <a:schemeClr val="bg1"/>
                    </a:solidFill>
                    <a:latin typeface="+mn-lt"/>
                  </a:rPr>
                  <a:t>La probabilidad que buscamos corresponde al valor Z= -1.11 , de la cola izquierda de la distribución normal estándar, que se puede obtener de la tabla de probabilidades o bien desde código Python. Por lo tanto,</a:t>
                </a:r>
              </a:p>
              <a:p>
                <a:endParaRPr lang="es-CL" sz="1800" dirty="0">
                  <a:solidFill>
                    <a:schemeClr val="bg1"/>
                  </a:solidFill>
                  <a:latin typeface="+mn-lt"/>
                </a:endParaRPr>
              </a:p>
              <a:p>
                <a:pPr/>
                <a14:m>
                  <m:oMathPara xmlns:m="http://schemas.openxmlformats.org/officeDocument/2006/math">
                    <m:oMathParaPr>
                      <m:jc m:val="centerGroup"/>
                    </m:oMathParaPr>
                    <m:oMath xmlns:m="http://schemas.openxmlformats.org/officeDocument/2006/math">
                      <m:r>
                        <a:rPr lang="es-CL" b="1" i="1" smtClean="0">
                          <a:solidFill>
                            <a:schemeClr val="bg1"/>
                          </a:solidFill>
                          <a:latin typeface="Cambria Math" panose="02040503050406030204" pitchFamily="18" charset="0"/>
                        </a:rPr>
                        <m:t>𝑷</m:t>
                      </m:r>
                      <m:d>
                        <m:dPr>
                          <m:begChr m:val="["/>
                          <m:endChr m:val="]"/>
                          <m:ctrlPr>
                            <a:rPr lang="es-CL" b="1" i="1" smtClean="0">
                              <a:solidFill>
                                <a:schemeClr val="bg1"/>
                              </a:solidFill>
                              <a:latin typeface="Cambria Math" panose="02040503050406030204" pitchFamily="18" charset="0"/>
                            </a:rPr>
                          </m:ctrlPr>
                        </m:dPr>
                        <m:e>
                          <m:acc>
                            <m:accPr>
                              <m:chr m:val="̅"/>
                              <m:ctrlPr>
                                <a:rPr lang="es-CL" b="1" i="1">
                                  <a:solidFill>
                                    <a:schemeClr val="bg1"/>
                                  </a:solidFill>
                                  <a:latin typeface="Cambria Math" panose="02040503050406030204" pitchFamily="18" charset="0"/>
                                </a:rPr>
                              </m:ctrlPr>
                            </m:accPr>
                            <m:e>
                              <m:r>
                                <a:rPr lang="es-CL" b="1" i="1">
                                  <a:solidFill>
                                    <a:schemeClr val="bg1"/>
                                  </a:solidFill>
                                  <a:latin typeface="Cambria Math" panose="02040503050406030204" pitchFamily="18" charset="0"/>
                                </a:rPr>
                                <m:t>𝒙</m:t>
                              </m:r>
                            </m:e>
                          </m:acc>
                          <m:r>
                            <a:rPr lang="es-CL" b="1" i="1" smtClean="0">
                              <a:solidFill>
                                <a:schemeClr val="bg1"/>
                              </a:solidFill>
                              <a:latin typeface="Cambria Math" panose="02040503050406030204" pitchFamily="18" charset="0"/>
                              <a:ea typeface="Cambria Math" panose="02040503050406030204" pitchFamily="18" charset="0"/>
                            </a:rPr>
                            <m:t>≤</m:t>
                          </m:r>
                          <m:r>
                            <a:rPr lang="es-CL" b="1" i="1" smtClean="0">
                              <a:solidFill>
                                <a:schemeClr val="bg1"/>
                              </a:solidFill>
                              <a:latin typeface="Cambria Math" panose="02040503050406030204" pitchFamily="18" charset="0"/>
                              <a:ea typeface="Cambria Math" panose="02040503050406030204" pitchFamily="18" charset="0"/>
                            </a:rPr>
                            <m:t>𝟔𝟔</m:t>
                          </m:r>
                        </m:e>
                      </m:d>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rPr>
                        <m:t>𝑷</m:t>
                      </m:r>
                      <m:d>
                        <m:dPr>
                          <m:begChr m:val="["/>
                          <m:endChr m:val="]"/>
                          <m:ctrlPr>
                            <a:rPr lang="es-CL" b="1" i="1" smtClean="0">
                              <a:solidFill>
                                <a:schemeClr val="bg1"/>
                              </a:solidFill>
                              <a:latin typeface="Cambria Math" panose="02040503050406030204" pitchFamily="18" charset="0"/>
                            </a:rPr>
                          </m:ctrlPr>
                        </m:dPr>
                        <m:e>
                          <m:r>
                            <a:rPr lang="es-CL" b="1" i="1" smtClean="0">
                              <a:solidFill>
                                <a:schemeClr val="bg1"/>
                              </a:solidFill>
                              <a:latin typeface="Cambria Math" panose="02040503050406030204" pitchFamily="18" charset="0"/>
                            </a:rPr>
                            <m:t>𝒁</m:t>
                          </m:r>
                          <m:r>
                            <a:rPr lang="es-CL" b="1" i="1">
                              <a:solidFill>
                                <a:schemeClr val="bg1"/>
                              </a:solidFill>
                              <a:latin typeface="Cambria Math" panose="02040503050406030204" pitchFamily="18" charset="0"/>
                              <a:ea typeface="Cambria Math" panose="02040503050406030204" pitchFamily="18" charset="0"/>
                            </a:rPr>
                            <m:t>≤</m:t>
                          </m:r>
                          <m:r>
                            <a:rPr lang="es-CL" b="1" i="1" smtClean="0">
                              <a:solidFill>
                                <a:schemeClr val="bg1"/>
                              </a:solidFill>
                              <a:latin typeface="Cambria Math" panose="02040503050406030204" pitchFamily="18" charset="0"/>
                              <a:ea typeface="Cambria Math" panose="02040503050406030204" pitchFamily="18" charset="0"/>
                            </a:rPr>
                            <m:t>−</m:t>
                          </m:r>
                          <m:r>
                            <a:rPr lang="es-CL" b="1" i="1" smtClean="0">
                              <a:solidFill>
                                <a:schemeClr val="bg1"/>
                              </a:solidFill>
                              <a:latin typeface="Cambria Math" panose="02040503050406030204" pitchFamily="18" charset="0"/>
                              <a:ea typeface="Cambria Math" panose="02040503050406030204" pitchFamily="18" charset="0"/>
                            </a:rPr>
                            <m:t>𝟏</m:t>
                          </m:r>
                          <m:r>
                            <a:rPr lang="es-CL" b="1" i="1" smtClean="0">
                              <a:solidFill>
                                <a:schemeClr val="bg1"/>
                              </a:solidFill>
                              <a:latin typeface="Cambria Math" panose="02040503050406030204" pitchFamily="18" charset="0"/>
                              <a:ea typeface="Cambria Math" panose="02040503050406030204" pitchFamily="18" charset="0"/>
                            </a:rPr>
                            <m:t>.</m:t>
                          </m:r>
                          <m:r>
                            <a:rPr lang="es-CL" b="1" i="1" smtClean="0">
                              <a:solidFill>
                                <a:schemeClr val="bg1"/>
                              </a:solidFill>
                              <a:latin typeface="Cambria Math" panose="02040503050406030204" pitchFamily="18" charset="0"/>
                              <a:ea typeface="Cambria Math" panose="02040503050406030204" pitchFamily="18" charset="0"/>
                            </a:rPr>
                            <m:t>𝟏𝟏</m:t>
                          </m:r>
                        </m:e>
                      </m:d>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rPr>
                        <m:t>𝟎</m:t>
                      </m:r>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rPr>
                        <m:t>𝟏𝟑𝟑𝟓</m:t>
                      </m:r>
                    </m:oMath>
                  </m:oMathPara>
                </a14:m>
                <a:endParaRPr lang="es-CL" b="1" dirty="0">
                  <a:solidFill>
                    <a:schemeClr val="bg1"/>
                  </a:solidFill>
                  <a:latin typeface="+mn-lt"/>
                </a:endParaRPr>
              </a:p>
              <a:p>
                <a:endParaRPr lang="es-CL" dirty="0">
                  <a:solidFill>
                    <a:schemeClr val="bg1"/>
                  </a:solidFill>
                  <a:latin typeface="+mn-lt"/>
                </a:endParaRPr>
              </a:p>
              <a:p>
                <a:r>
                  <a:rPr lang="es-ES" dirty="0">
                    <a:solidFill>
                      <a:schemeClr val="bg1"/>
                    </a:solidFill>
                    <a:latin typeface="+mn-lt"/>
                  </a:rPr>
                  <a:t>La probabilidad de que la media de una muestra aleatoria de 25 alumnos esté por debajo de 66 kg es de 13.35%.</a:t>
                </a:r>
              </a:p>
              <a:p>
                <a:endParaRPr lang="es-CL" dirty="0">
                  <a:solidFill>
                    <a:schemeClr val="bg1"/>
                  </a:solidFill>
                </a:endParaRPr>
              </a:p>
              <a:p>
                <a:endParaRPr lang="es-CL" sz="1800" dirty="0">
                  <a:solidFill>
                    <a:schemeClr val="bg1"/>
                  </a:solidFill>
                  <a:latin typeface="Source Sans Pro" panose="020B0503030403020204" pitchFamily="34" charset="0"/>
                </a:endParaRPr>
              </a:p>
              <a:p>
                <a:endParaRPr lang="es-ES" dirty="0">
                  <a:solidFill>
                    <a:schemeClr val="bg1"/>
                  </a:solidFill>
                  <a:latin typeface="Source Sans Pro"/>
                  <a:ea typeface="Source Sans Pro"/>
                </a:endParaRPr>
              </a:p>
            </p:txBody>
          </p:sp>
        </mc:Choice>
        <mc:Fallback xmlns="">
          <p:sp>
            <p:nvSpPr>
              <p:cNvPr id="9" name="CuadroTexto 8">
                <a:extLst>
                  <a:ext uri="{FF2B5EF4-FFF2-40B4-BE49-F238E27FC236}">
                    <a16:creationId xmlns:a16="http://schemas.microsoft.com/office/drawing/2014/main" id="{C746CFDD-6FC3-5AA7-5C1D-362E2C5244F1}"/>
                  </a:ext>
                </a:extLst>
              </p:cNvPr>
              <p:cNvSpPr txBox="1">
                <a:spLocks noRot="1" noChangeAspect="1" noMove="1" noResize="1" noEditPoints="1" noAdjustHandles="1" noChangeArrowheads="1" noChangeShapeType="1" noTextEdit="1"/>
              </p:cNvSpPr>
              <p:nvPr/>
            </p:nvSpPr>
            <p:spPr>
              <a:xfrm>
                <a:off x="1191507" y="1647334"/>
                <a:ext cx="9905580" cy="4772460"/>
              </a:xfrm>
              <a:prstGeom prst="rect">
                <a:avLst/>
              </a:prstGeom>
              <a:blipFill>
                <a:blip r:embed="rId2"/>
                <a:stretch>
                  <a:fillRect l="-492" t="-639" r="-67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72989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4">
            <a:extLst>
              <a:ext uri="{FF2B5EF4-FFF2-40B4-BE49-F238E27FC236}">
                <a16:creationId xmlns:a16="http://schemas.microsoft.com/office/drawing/2014/main" id="{EEF64A50-BFC1-6219-5B5B-FB92BB3A07A2}"/>
              </a:ext>
            </a:extLst>
          </p:cNvPr>
          <p:cNvSpPr/>
          <p:nvPr/>
        </p:nvSpPr>
        <p:spPr>
          <a:xfrm>
            <a:off x="661851" y="1573220"/>
            <a:ext cx="10885716" cy="3985570"/>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870857" y="2249597"/>
            <a:ext cx="10467704" cy="2650877"/>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1010044" y="605979"/>
            <a:ext cx="10171911"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Ejemplo</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1010045" y="2512648"/>
            <a:ext cx="10171910" cy="2308324"/>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Ahora que ya sabemos la probabilidad de que la media de una muestra aleatoria esté por debajo de 66 kg, para saber el número de medias muestrales que están por debajo de 66 kg al sacar 300 muestras iguales tenemos que multiplicar la probabilidad calculada por el número total de muestras tomadas:</a:t>
            </a:r>
          </a:p>
          <a:p>
            <a:pPr algn="just"/>
            <a:endParaRPr lang="es-ES" dirty="0">
              <a:solidFill>
                <a:schemeClr val="bg1"/>
              </a:solidFill>
              <a:latin typeface="+mn-lt"/>
              <a:ea typeface="Source Sans Pro"/>
            </a:endParaRPr>
          </a:p>
          <a:p>
            <a:pPr algn="just"/>
            <a:r>
              <a:rPr lang="es-ES" dirty="0">
                <a:solidFill>
                  <a:schemeClr val="bg1"/>
                </a:solidFill>
                <a:latin typeface="+mn-lt"/>
                <a:ea typeface="Source Sans Pro"/>
              </a:rPr>
              <a:t>0.1335∗300=40.05 ≈40</a:t>
            </a:r>
          </a:p>
          <a:p>
            <a:pPr algn="just"/>
            <a:endParaRPr lang="es-ES" dirty="0">
              <a:solidFill>
                <a:schemeClr val="bg1"/>
              </a:solidFill>
              <a:latin typeface="+mn-lt"/>
              <a:ea typeface="Source Sans Pro"/>
            </a:endParaRPr>
          </a:p>
          <a:p>
            <a:pPr algn="just"/>
            <a:r>
              <a:rPr lang="es-ES" dirty="0">
                <a:solidFill>
                  <a:schemeClr val="bg1"/>
                </a:solidFill>
                <a:latin typeface="+mn-lt"/>
                <a:ea typeface="Source Sans Pro"/>
              </a:rPr>
              <a:t>Por lo tanto, 40 de las muestras extraídas tendrán una media por debajo de 66 kg.</a:t>
            </a:r>
          </a:p>
          <a:p>
            <a:endParaRPr lang="es-ES" dirty="0">
              <a:solidFill>
                <a:schemeClr val="bg1"/>
              </a:solidFill>
              <a:latin typeface="Source Sans Pro"/>
              <a:ea typeface="Source Sans Pro"/>
            </a:endParaRPr>
          </a:p>
        </p:txBody>
      </p:sp>
    </p:spTree>
    <p:extLst>
      <p:ext uri="{BB962C8B-B14F-4D97-AF65-F5344CB8AC3E}">
        <p14:creationId xmlns:p14="http://schemas.microsoft.com/office/powerpoint/2010/main" val="2937012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redondeado 4">
            <a:extLst>
              <a:ext uri="{FF2B5EF4-FFF2-40B4-BE49-F238E27FC236}">
                <a16:creationId xmlns:a16="http://schemas.microsoft.com/office/drawing/2014/main" id="{EEF64A50-BFC1-6219-5B5B-FB92BB3A07A2}"/>
              </a:ext>
            </a:extLst>
          </p:cNvPr>
          <p:cNvSpPr/>
          <p:nvPr/>
        </p:nvSpPr>
        <p:spPr>
          <a:xfrm>
            <a:off x="661851" y="1454331"/>
            <a:ext cx="10885716" cy="4310744"/>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661851" y="1454332"/>
            <a:ext cx="11112138" cy="4659086"/>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1137666" y="709749"/>
            <a:ext cx="10782300" cy="674330"/>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Distribución </a:t>
            </a:r>
            <a:r>
              <a:rPr lang="es-ES" sz="3200" dirty="0" err="1">
                <a:solidFill>
                  <a:schemeClr val="bg1">
                    <a:lumMod val="50000"/>
                  </a:schemeClr>
                </a:solidFill>
                <a:latin typeface="Arial" panose="020B0604020202020204" pitchFamily="34" charset="0"/>
                <a:cs typeface="Arial" panose="020B0604020202020204" pitchFamily="34" charset="0"/>
              </a:rPr>
              <a:t>Muestral</a:t>
            </a:r>
            <a:r>
              <a:rPr lang="es-ES" sz="3200" dirty="0">
                <a:solidFill>
                  <a:schemeClr val="bg1">
                    <a:lumMod val="50000"/>
                  </a:schemeClr>
                </a:solidFill>
                <a:latin typeface="Arial" panose="020B0604020202020204" pitchFamily="34" charset="0"/>
                <a:cs typeface="Arial" panose="020B0604020202020204" pitchFamily="34" charset="0"/>
              </a:rPr>
              <a:t> de la Varianza</a:t>
            </a:r>
            <a:endParaRPr lang="es-MX" sz="3200" dirty="0">
              <a:solidFill>
                <a:schemeClr val="bg1">
                  <a:lumMod val="50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746CFDD-6FC3-5AA7-5C1D-362E2C5244F1}"/>
                  </a:ext>
                </a:extLst>
              </p:cNvPr>
              <p:cNvSpPr txBox="1"/>
              <p:nvPr/>
            </p:nvSpPr>
            <p:spPr>
              <a:xfrm>
                <a:off x="915055" y="1717283"/>
                <a:ext cx="10621734" cy="4274825"/>
              </a:xfrm>
              <a:prstGeom prst="rect">
                <a:avLst/>
              </a:prstGeom>
              <a:solidFill>
                <a:schemeClr val="bg1"/>
              </a:solidFill>
              <a:ln>
                <a:noFill/>
              </a:ln>
            </p:spPr>
            <p:txBody>
              <a:bodyPr wrap="square" lIns="91440" tIns="45720" rIns="91440" bIns="45720" rtlCol="0" anchor="t">
                <a:spAutoFit/>
              </a:bodyPr>
              <a:lstStyle/>
              <a:p>
                <a:pPr algn="just"/>
                <a:r>
                  <a:rPr lang="es-ES" dirty="0">
                    <a:solidFill>
                      <a:schemeClr val="tx1">
                        <a:lumMod val="65000"/>
                        <a:lumOff val="35000"/>
                      </a:schemeClr>
                    </a:solidFill>
                    <a:latin typeface="+mn-lt"/>
                    <a:ea typeface="Source Sans Pro"/>
                  </a:rPr>
                  <a:t>La distribución muestral de la varianza está definida por la distribución de probabilidad chi-cuadrado. Por lo tanto, la fórmula del estadístico de la distribución muestral de la varianza es la siguiente:</a:t>
                </a:r>
              </a:p>
              <a:p>
                <a:pPr algn="just"/>
                <a:endParaRPr lang="es-ES" dirty="0">
                  <a:solidFill>
                    <a:schemeClr val="tx1">
                      <a:lumMod val="65000"/>
                      <a:lumOff val="35000"/>
                    </a:schemeClr>
                  </a:solidFill>
                  <a:latin typeface="+mn-lt"/>
                  <a:ea typeface="Source Sans Pro"/>
                </a:endParaRPr>
              </a:p>
              <a:p>
                <a:pPr algn="just"/>
                <a:endParaRPr lang="es-ES" dirty="0">
                  <a:solidFill>
                    <a:schemeClr val="tx1">
                      <a:lumMod val="65000"/>
                      <a:lumOff val="35000"/>
                    </a:schemeClr>
                  </a:solidFill>
                  <a:latin typeface="+mn-lt"/>
                  <a:ea typeface="Source Sans Pro"/>
                </a:endParaRPr>
              </a:p>
              <a:p>
                <a:pPr algn="just"/>
                <a14:m>
                  <m:oMathPara xmlns:m="http://schemas.openxmlformats.org/officeDocument/2006/math">
                    <m:oMathParaPr>
                      <m:jc m:val="centerGroup"/>
                    </m:oMathParaPr>
                    <m:oMath xmlns:m="http://schemas.openxmlformats.org/officeDocument/2006/math">
                      <m:sSup>
                        <m:sSupPr>
                          <m:ctrlPr>
                            <a:rPr lang="es-CL" sz="1800" b="1" i="1" smtClean="0">
                              <a:solidFill>
                                <a:schemeClr val="tx1">
                                  <a:lumMod val="65000"/>
                                  <a:lumOff val="35000"/>
                                </a:schemeClr>
                              </a:solidFill>
                              <a:latin typeface="Cambria Math" panose="02040503050406030204" pitchFamily="18" charset="0"/>
                            </a:rPr>
                          </m:ctrlPr>
                        </m:sSupPr>
                        <m:e>
                          <m:r>
                            <a:rPr lang="es-CL" sz="1800" b="1" i="1" smtClean="0">
                              <a:solidFill>
                                <a:schemeClr val="tx1">
                                  <a:lumMod val="65000"/>
                                  <a:lumOff val="35000"/>
                                </a:schemeClr>
                              </a:solidFill>
                              <a:latin typeface="Cambria Math" panose="02040503050406030204" pitchFamily="18" charset="0"/>
                              <a:ea typeface="Cambria Math" panose="02040503050406030204" pitchFamily="18" charset="0"/>
                            </a:rPr>
                            <m:t>𝝌</m:t>
                          </m:r>
                        </m:e>
                        <m:sup>
                          <m:r>
                            <a:rPr lang="es-CL" sz="1800" b="1" i="1" smtClean="0">
                              <a:solidFill>
                                <a:schemeClr val="tx1">
                                  <a:lumMod val="65000"/>
                                  <a:lumOff val="35000"/>
                                </a:schemeClr>
                              </a:solidFill>
                              <a:latin typeface="Cambria Math" panose="02040503050406030204" pitchFamily="18" charset="0"/>
                            </a:rPr>
                            <m:t>𝟐</m:t>
                          </m:r>
                        </m:sup>
                      </m:sSup>
                      <m:r>
                        <a:rPr lang="es-CL" sz="1800" b="1" i="1" smtClean="0">
                          <a:solidFill>
                            <a:schemeClr val="tx1">
                              <a:lumMod val="65000"/>
                              <a:lumOff val="35000"/>
                            </a:schemeClr>
                          </a:solidFill>
                          <a:latin typeface="Cambria Math" panose="02040503050406030204" pitchFamily="18" charset="0"/>
                        </a:rPr>
                        <m:t>=</m:t>
                      </m:r>
                      <m:f>
                        <m:fPr>
                          <m:ctrlPr>
                            <a:rPr lang="es-CL" sz="1800" b="1" i="1" smtClean="0">
                              <a:solidFill>
                                <a:schemeClr val="tx1">
                                  <a:lumMod val="65000"/>
                                  <a:lumOff val="35000"/>
                                </a:schemeClr>
                              </a:solidFill>
                              <a:latin typeface="Cambria Math" panose="02040503050406030204" pitchFamily="18" charset="0"/>
                            </a:rPr>
                          </m:ctrlPr>
                        </m:fPr>
                        <m:num>
                          <m:r>
                            <a:rPr lang="es-CL" sz="1800" b="1" i="1" smtClean="0">
                              <a:solidFill>
                                <a:schemeClr val="tx1">
                                  <a:lumMod val="65000"/>
                                  <a:lumOff val="35000"/>
                                </a:schemeClr>
                              </a:solidFill>
                              <a:latin typeface="Cambria Math" panose="02040503050406030204" pitchFamily="18" charset="0"/>
                            </a:rPr>
                            <m:t>(</m:t>
                          </m:r>
                          <m:r>
                            <a:rPr lang="es-CL" sz="1800" b="1" i="1" smtClean="0">
                              <a:solidFill>
                                <a:schemeClr val="tx1">
                                  <a:lumMod val="65000"/>
                                  <a:lumOff val="35000"/>
                                </a:schemeClr>
                              </a:solidFill>
                              <a:latin typeface="Cambria Math" panose="02040503050406030204" pitchFamily="18" charset="0"/>
                            </a:rPr>
                            <m:t>𝒏</m:t>
                          </m:r>
                          <m:r>
                            <a:rPr lang="es-CL" sz="1800" b="1" i="1" smtClean="0">
                              <a:solidFill>
                                <a:schemeClr val="tx1">
                                  <a:lumMod val="65000"/>
                                  <a:lumOff val="35000"/>
                                </a:schemeClr>
                              </a:solidFill>
                              <a:latin typeface="Cambria Math" panose="02040503050406030204" pitchFamily="18" charset="0"/>
                            </a:rPr>
                            <m:t>−</m:t>
                          </m:r>
                          <m:r>
                            <a:rPr lang="es-CL" sz="1800" b="1" i="1" smtClean="0">
                              <a:solidFill>
                                <a:schemeClr val="tx1">
                                  <a:lumMod val="65000"/>
                                  <a:lumOff val="35000"/>
                                </a:schemeClr>
                              </a:solidFill>
                              <a:latin typeface="Cambria Math" panose="02040503050406030204" pitchFamily="18" charset="0"/>
                            </a:rPr>
                            <m:t>𝟏</m:t>
                          </m:r>
                          <m:r>
                            <a:rPr lang="es-CL" sz="1800" b="1" i="1" smtClean="0">
                              <a:solidFill>
                                <a:schemeClr val="tx1">
                                  <a:lumMod val="65000"/>
                                  <a:lumOff val="35000"/>
                                </a:schemeClr>
                              </a:solidFill>
                              <a:latin typeface="Cambria Math" panose="02040503050406030204" pitchFamily="18" charset="0"/>
                            </a:rPr>
                            <m:t>)</m:t>
                          </m:r>
                          <m:sSup>
                            <m:sSupPr>
                              <m:ctrlPr>
                                <a:rPr lang="es-CL" sz="1800" b="1" i="1">
                                  <a:solidFill>
                                    <a:schemeClr val="tx1">
                                      <a:lumMod val="65000"/>
                                      <a:lumOff val="35000"/>
                                    </a:schemeClr>
                                  </a:solidFill>
                                  <a:latin typeface="Cambria Math" panose="02040503050406030204" pitchFamily="18" charset="0"/>
                                </a:rPr>
                              </m:ctrlPr>
                            </m:sSupPr>
                            <m:e>
                              <m:r>
                                <a:rPr lang="es-CL" sz="1800" b="1" i="1" smtClean="0">
                                  <a:solidFill>
                                    <a:schemeClr val="tx1">
                                      <a:lumMod val="65000"/>
                                      <a:lumOff val="35000"/>
                                    </a:schemeClr>
                                  </a:solidFill>
                                  <a:latin typeface="Cambria Math" panose="02040503050406030204" pitchFamily="18" charset="0"/>
                                  <a:ea typeface="Cambria Math" panose="02040503050406030204" pitchFamily="18" charset="0"/>
                                </a:rPr>
                                <m:t>𝒔</m:t>
                              </m:r>
                            </m:e>
                            <m:sup>
                              <m:r>
                                <a:rPr lang="es-CL" sz="1800" b="1" i="1">
                                  <a:solidFill>
                                    <a:schemeClr val="tx1">
                                      <a:lumMod val="65000"/>
                                      <a:lumOff val="35000"/>
                                    </a:schemeClr>
                                  </a:solidFill>
                                  <a:latin typeface="Cambria Math" panose="02040503050406030204" pitchFamily="18" charset="0"/>
                                </a:rPr>
                                <m:t>𝟐</m:t>
                              </m:r>
                            </m:sup>
                          </m:sSup>
                        </m:num>
                        <m:den>
                          <m:sSup>
                            <m:sSupPr>
                              <m:ctrlPr>
                                <a:rPr lang="es-CL" sz="1800" b="1" i="1" smtClean="0">
                                  <a:solidFill>
                                    <a:schemeClr val="tx1">
                                      <a:lumMod val="65000"/>
                                      <a:lumOff val="35000"/>
                                    </a:schemeClr>
                                  </a:solidFill>
                                  <a:latin typeface="Cambria Math" panose="02040503050406030204" pitchFamily="18" charset="0"/>
                                </a:rPr>
                              </m:ctrlPr>
                            </m:sSupPr>
                            <m:e>
                              <m:r>
                                <a:rPr lang="es-CL" sz="1800" b="1" i="1">
                                  <a:solidFill>
                                    <a:schemeClr val="tx1">
                                      <a:lumMod val="65000"/>
                                      <a:lumOff val="35000"/>
                                    </a:schemeClr>
                                  </a:solidFill>
                                  <a:latin typeface="Cambria Math" panose="02040503050406030204" pitchFamily="18" charset="0"/>
                                  <a:ea typeface="Cambria Math" panose="02040503050406030204" pitchFamily="18" charset="0"/>
                                </a:rPr>
                                <m:t>𝝈</m:t>
                              </m:r>
                            </m:e>
                            <m:sup>
                              <m:r>
                                <a:rPr lang="es-CL" sz="1800" b="1" i="1" smtClean="0">
                                  <a:solidFill>
                                    <a:schemeClr val="tx1">
                                      <a:lumMod val="65000"/>
                                      <a:lumOff val="35000"/>
                                    </a:schemeClr>
                                  </a:solidFill>
                                  <a:latin typeface="Cambria Math" panose="02040503050406030204" pitchFamily="18" charset="0"/>
                                </a:rPr>
                                <m:t>𝟐</m:t>
                              </m:r>
                            </m:sup>
                          </m:sSup>
                        </m:den>
                      </m:f>
                    </m:oMath>
                  </m:oMathPara>
                </a14:m>
                <a:endParaRPr lang="es-CL" sz="1800" b="1" dirty="0">
                  <a:solidFill>
                    <a:schemeClr val="tx1">
                      <a:lumMod val="65000"/>
                      <a:lumOff val="35000"/>
                    </a:schemeClr>
                  </a:solidFill>
                  <a:latin typeface="+mn-lt"/>
                </a:endParaRPr>
              </a:p>
              <a:p>
                <a:pPr algn="just"/>
                <a:endParaRPr lang="es-ES" dirty="0">
                  <a:solidFill>
                    <a:schemeClr val="tx1">
                      <a:lumMod val="65000"/>
                      <a:lumOff val="35000"/>
                    </a:schemeClr>
                  </a:solidFill>
                  <a:latin typeface="+mn-lt"/>
                  <a:ea typeface="Source Sans Pro"/>
                </a:endParaRPr>
              </a:p>
              <a:p>
                <a:pPr algn="just"/>
                <a:endParaRPr lang="es-ES" dirty="0">
                  <a:solidFill>
                    <a:schemeClr val="tx1">
                      <a:lumMod val="65000"/>
                      <a:lumOff val="35000"/>
                    </a:schemeClr>
                  </a:solidFill>
                  <a:latin typeface="+mn-lt"/>
                  <a:ea typeface="Source Sans Pro"/>
                </a:endParaRPr>
              </a:p>
              <a:p>
                <a:pPr algn="just"/>
                <a:r>
                  <a:rPr lang="es-ES" dirty="0">
                    <a:solidFill>
                      <a:schemeClr val="tx1">
                        <a:lumMod val="65000"/>
                        <a:lumOff val="35000"/>
                      </a:schemeClr>
                    </a:solidFill>
                    <a:latin typeface="+mn-lt"/>
                    <a:ea typeface="Source Sans Pro"/>
                  </a:rPr>
                  <a:t>En donde,</a:t>
                </a:r>
              </a:p>
              <a:p>
                <a:pPr algn="just"/>
                <a:endParaRPr lang="es-ES" dirty="0">
                  <a:solidFill>
                    <a:schemeClr val="tx1">
                      <a:lumMod val="65000"/>
                      <a:lumOff val="35000"/>
                    </a:schemeClr>
                  </a:solidFill>
                  <a:latin typeface="+mn-lt"/>
                  <a:ea typeface="Source Sans Pro"/>
                </a:endParaRPr>
              </a:p>
              <a:p>
                <a:pPr algn="just"/>
                <a14:m>
                  <m:oMath xmlns:m="http://schemas.openxmlformats.org/officeDocument/2006/math">
                    <m:sSup>
                      <m:sSupPr>
                        <m:ctrlPr>
                          <a:rPr lang="es-CL" sz="1800" b="1" i="1" smtClean="0">
                            <a:solidFill>
                              <a:schemeClr val="tx1">
                                <a:lumMod val="65000"/>
                                <a:lumOff val="35000"/>
                              </a:schemeClr>
                            </a:solidFill>
                            <a:latin typeface="Cambria Math" panose="02040503050406030204" pitchFamily="18" charset="0"/>
                          </a:rPr>
                        </m:ctrlPr>
                      </m:sSupPr>
                      <m:e>
                        <m:r>
                          <a:rPr lang="es-CL" sz="1800" b="1" i="1" smtClean="0">
                            <a:solidFill>
                              <a:schemeClr val="tx1">
                                <a:lumMod val="65000"/>
                                <a:lumOff val="35000"/>
                              </a:schemeClr>
                            </a:solidFill>
                            <a:latin typeface="Cambria Math" panose="02040503050406030204" pitchFamily="18" charset="0"/>
                            <a:ea typeface="Cambria Math" panose="02040503050406030204" pitchFamily="18" charset="0"/>
                          </a:rPr>
                          <m:t>𝝌</m:t>
                        </m:r>
                      </m:e>
                      <m:sup>
                        <m:r>
                          <a:rPr lang="es-CL" sz="1800" b="1" i="1" smtClean="0">
                            <a:solidFill>
                              <a:schemeClr val="tx1">
                                <a:lumMod val="65000"/>
                                <a:lumOff val="35000"/>
                              </a:schemeClr>
                            </a:solidFill>
                            <a:latin typeface="Cambria Math" panose="02040503050406030204" pitchFamily="18" charset="0"/>
                          </a:rPr>
                          <m:t>𝟐</m:t>
                        </m:r>
                      </m:sup>
                    </m:sSup>
                    <m:r>
                      <a:rPr lang="es-CL" sz="1800" b="0" i="1" smtClean="0">
                        <a:solidFill>
                          <a:schemeClr val="tx1">
                            <a:lumMod val="65000"/>
                            <a:lumOff val="35000"/>
                          </a:schemeClr>
                        </a:solidFill>
                        <a:latin typeface="Cambria Math" panose="02040503050406030204" pitchFamily="18" charset="0"/>
                      </a:rPr>
                      <m:t> </m:t>
                    </m:r>
                  </m:oMath>
                </a14:m>
                <a:r>
                  <a:rPr lang="es-ES" dirty="0">
                    <a:solidFill>
                      <a:schemeClr val="tx1">
                        <a:lumMod val="65000"/>
                        <a:lumOff val="35000"/>
                      </a:schemeClr>
                    </a:solidFill>
                    <a:latin typeface="+mn-lt"/>
                    <a:ea typeface="Source Sans Pro"/>
                  </a:rPr>
                  <a:t>: estadístico de la distribución muestral de la varianza, el cual sigue una distribución chi-cuadrado.</a:t>
                </a:r>
              </a:p>
              <a:p>
                <a:pPr algn="just"/>
                <a14:m>
                  <m:oMath xmlns:m="http://schemas.openxmlformats.org/officeDocument/2006/math">
                    <m:sSup>
                      <m:sSupPr>
                        <m:ctrlPr>
                          <a:rPr lang="es-CL" sz="1800" b="1" i="1" smtClean="0">
                            <a:solidFill>
                              <a:schemeClr val="tx1">
                                <a:lumMod val="65000"/>
                                <a:lumOff val="35000"/>
                              </a:schemeClr>
                            </a:solidFill>
                            <a:latin typeface="Cambria Math" panose="02040503050406030204" pitchFamily="18" charset="0"/>
                          </a:rPr>
                        </m:ctrlPr>
                      </m:sSupPr>
                      <m:e>
                        <m:r>
                          <a:rPr lang="es-CL" sz="1800" b="1" i="1" smtClean="0">
                            <a:solidFill>
                              <a:schemeClr val="tx1">
                                <a:lumMod val="65000"/>
                                <a:lumOff val="35000"/>
                              </a:schemeClr>
                            </a:solidFill>
                            <a:latin typeface="Cambria Math" panose="02040503050406030204" pitchFamily="18" charset="0"/>
                            <a:ea typeface="Cambria Math" panose="02040503050406030204" pitchFamily="18" charset="0"/>
                          </a:rPr>
                          <m:t>𝒔</m:t>
                        </m:r>
                      </m:e>
                      <m:sup>
                        <m:r>
                          <a:rPr lang="es-CL" sz="1800" b="1" i="1">
                            <a:solidFill>
                              <a:schemeClr val="tx1">
                                <a:lumMod val="65000"/>
                                <a:lumOff val="35000"/>
                              </a:schemeClr>
                            </a:solidFill>
                            <a:latin typeface="Cambria Math" panose="02040503050406030204" pitchFamily="18" charset="0"/>
                          </a:rPr>
                          <m:t>𝟐</m:t>
                        </m:r>
                      </m:sup>
                    </m:sSup>
                    <m:r>
                      <a:rPr lang="es-CL" sz="1800" i="1">
                        <a:solidFill>
                          <a:schemeClr val="tx1">
                            <a:lumMod val="65000"/>
                            <a:lumOff val="35000"/>
                          </a:schemeClr>
                        </a:solidFill>
                        <a:latin typeface="Cambria Math" panose="02040503050406030204" pitchFamily="18" charset="0"/>
                      </a:rPr>
                      <m:t> </m:t>
                    </m:r>
                  </m:oMath>
                </a14:m>
                <a:r>
                  <a:rPr lang="es-ES" dirty="0">
                    <a:solidFill>
                      <a:schemeClr val="tx1">
                        <a:lumMod val="65000"/>
                        <a:lumOff val="35000"/>
                      </a:schemeClr>
                    </a:solidFill>
                    <a:latin typeface="+mn-lt"/>
                    <a:ea typeface="Source Sans Pro"/>
                  </a:rPr>
                  <a:t>: varianza de la muestra</a:t>
                </a:r>
              </a:p>
              <a:p>
                <a:pPr algn="just"/>
                <a14:m>
                  <m:oMath xmlns:m="http://schemas.openxmlformats.org/officeDocument/2006/math">
                    <m:sSup>
                      <m:sSupPr>
                        <m:ctrlPr>
                          <a:rPr lang="es-CL" sz="1800" b="1" i="1" smtClean="0">
                            <a:solidFill>
                              <a:schemeClr val="tx1">
                                <a:lumMod val="65000"/>
                                <a:lumOff val="35000"/>
                              </a:schemeClr>
                            </a:solidFill>
                            <a:latin typeface="Cambria Math" panose="02040503050406030204" pitchFamily="18" charset="0"/>
                          </a:rPr>
                        </m:ctrlPr>
                      </m:sSupPr>
                      <m:e>
                        <m:r>
                          <a:rPr lang="es-CL" sz="1800" b="1" i="1">
                            <a:solidFill>
                              <a:schemeClr val="tx1">
                                <a:lumMod val="65000"/>
                                <a:lumOff val="35000"/>
                              </a:schemeClr>
                            </a:solidFill>
                            <a:latin typeface="Cambria Math" panose="02040503050406030204" pitchFamily="18" charset="0"/>
                            <a:ea typeface="Cambria Math" panose="02040503050406030204" pitchFamily="18" charset="0"/>
                          </a:rPr>
                          <m:t>𝝈</m:t>
                        </m:r>
                      </m:e>
                      <m:sup>
                        <m:r>
                          <a:rPr lang="es-CL" sz="1800" b="1" i="1" smtClean="0">
                            <a:solidFill>
                              <a:schemeClr val="tx1">
                                <a:lumMod val="65000"/>
                                <a:lumOff val="35000"/>
                              </a:schemeClr>
                            </a:solidFill>
                            <a:latin typeface="Cambria Math" panose="02040503050406030204" pitchFamily="18" charset="0"/>
                          </a:rPr>
                          <m:t>𝟐</m:t>
                        </m:r>
                      </m:sup>
                    </m:sSup>
                    <m:r>
                      <a:rPr lang="es-CL" sz="1800" b="0" i="1" smtClean="0">
                        <a:solidFill>
                          <a:schemeClr val="tx1">
                            <a:lumMod val="65000"/>
                            <a:lumOff val="35000"/>
                          </a:schemeClr>
                        </a:solidFill>
                        <a:latin typeface="Cambria Math" panose="02040503050406030204" pitchFamily="18" charset="0"/>
                      </a:rPr>
                      <m:t> </m:t>
                    </m:r>
                  </m:oMath>
                </a14:m>
                <a:r>
                  <a:rPr lang="es-ES" dirty="0">
                    <a:solidFill>
                      <a:schemeClr val="tx1">
                        <a:lumMod val="65000"/>
                        <a:lumOff val="35000"/>
                      </a:schemeClr>
                    </a:solidFill>
                    <a:latin typeface="+mn-lt"/>
                    <a:ea typeface="Source Sans Pro"/>
                  </a:rPr>
                  <a:t>: varianza de la población.</a:t>
                </a:r>
              </a:p>
              <a:p>
                <a:pPr algn="just"/>
                <a:r>
                  <a:rPr lang="es-ES" b="1" dirty="0">
                    <a:solidFill>
                      <a:schemeClr val="tx1">
                        <a:lumMod val="65000"/>
                        <a:lumOff val="35000"/>
                      </a:schemeClr>
                    </a:solidFill>
                    <a:latin typeface="+mn-lt"/>
                    <a:ea typeface="Source Sans Pro"/>
                  </a:rPr>
                  <a:t>𝑛</a:t>
                </a:r>
                <a:r>
                  <a:rPr lang="es-ES" dirty="0">
                    <a:solidFill>
                      <a:schemeClr val="tx1">
                        <a:lumMod val="65000"/>
                        <a:lumOff val="35000"/>
                      </a:schemeClr>
                    </a:solidFill>
                    <a:latin typeface="+mn-lt"/>
                    <a:ea typeface="Source Sans Pro"/>
                  </a:rPr>
                  <a:t> : tamaño de la muestra.</a:t>
                </a:r>
              </a:p>
              <a:p>
                <a:pPr algn="ctr"/>
                <a:endParaRPr lang="es-ES" dirty="0">
                  <a:solidFill>
                    <a:schemeClr val="tx1">
                      <a:lumMod val="65000"/>
                      <a:lumOff val="35000"/>
                    </a:schemeClr>
                  </a:solidFill>
                  <a:latin typeface="Source Sans Pro" panose="020B0503030403020204" pitchFamily="34" charset="0"/>
                  <a:ea typeface="Source Sans Pro"/>
                </a:endParaRPr>
              </a:p>
            </p:txBody>
          </p:sp>
        </mc:Choice>
        <mc:Fallback xmlns="">
          <p:sp>
            <p:nvSpPr>
              <p:cNvPr id="9" name="CuadroTexto 8">
                <a:extLst>
                  <a:ext uri="{FF2B5EF4-FFF2-40B4-BE49-F238E27FC236}">
                    <a16:creationId xmlns:a16="http://schemas.microsoft.com/office/drawing/2014/main" id="{C746CFDD-6FC3-5AA7-5C1D-362E2C5244F1}"/>
                  </a:ext>
                </a:extLst>
              </p:cNvPr>
              <p:cNvSpPr txBox="1">
                <a:spLocks noRot="1" noChangeAspect="1" noMove="1" noResize="1" noEditPoints="1" noAdjustHandles="1" noChangeArrowheads="1" noChangeShapeType="1" noTextEdit="1"/>
              </p:cNvSpPr>
              <p:nvPr/>
            </p:nvSpPr>
            <p:spPr>
              <a:xfrm>
                <a:off x="915055" y="1717283"/>
                <a:ext cx="10621734" cy="4274825"/>
              </a:xfrm>
              <a:prstGeom prst="rect">
                <a:avLst/>
              </a:prstGeom>
              <a:blipFill>
                <a:blip r:embed="rId2"/>
                <a:stretch>
                  <a:fillRect l="-459" t="-856" r="-459"/>
                </a:stretch>
              </a:blipFill>
              <a:ln>
                <a:noFill/>
              </a:ln>
            </p:spPr>
            <p:txBody>
              <a:bodyPr/>
              <a:lstStyle/>
              <a:p>
                <a:r>
                  <a:rPr lang="es-ES">
                    <a:noFill/>
                  </a:rPr>
                  <a:t> </a:t>
                </a:r>
              </a:p>
            </p:txBody>
          </p:sp>
        </mc:Fallback>
      </mc:AlternateContent>
    </p:spTree>
    <p:extLst>
      <p:ext uri="{BB962C8B-B14F-4D97-AF65-F5344CB8AC3E}">
        <p14:creationId xmlns:p14="http://schemas.microsoft.com/office/powerpoint/2010/main" val="399212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redondeado 4">
            <a:extLst>
              <a:ext uri="{FF2B5EF4-FFF2-40B4-BE49-F238E27FC236}">
                <a16:creationId xmlns:a16="http://schemas.microsoft.com/office/drawing/2014/main" id="{EEF64A50-BFC1-6219-5B5B-FB92BB3A07A2}"/>
              </a:ext>
            </a:extLst>
          </p:cNvPr>
          <p:cNvSpPr/>
          <p:nvPr/>
        </p:nvSpPr>
        <p:spPr>
          <a:xfrm>
            <a:off x="661851" y="2163109"/>
            <a:ext cx="10885716" cy="2992365"/>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1689463" y="2420983"/>
            <a:ext cx="8843554" cy="2403448"/>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809353" y="1155048"/>
            <a:ext cx="10782300"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Ejemplo</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2401388" y="3156874"/>
            <a:ext cx="7439298" cy="923330"/>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De una población con varianza conocida σ=5 se escoge una muestra aleatoria de 17 observaciones. ¿Cuál es la probabilidad de obtener una varianza muestral mayor que 10?</a:t>
            </a:r>
          </a:p>
        </p:txBody>
      </p:sp>
    </p:spTree>
    <p:extLst>
      <p:ext uri="{BB962C8B-B14F-4D97-AF65-F5344CB8AC3E}">
        <p14:creationId xmlns:p14="http://schemas.microsoft.com/office/powerpoint/2010/main" val="208502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redondeado 4">
            <a:extLst>
              <a:ext uri="{FF2B5EF4-FFF2-40B4-BE49-F238E27FC236}">
                <a16:creationId xmlns:a16="http://schemas.microsoft.com/office/drawing/2014/main" id="{EEF64A50-BFC1-6219-5B5B-FB92BB3A07A2}"/>
              </a:ext>
            </a:extLst>
          </p:cNvPr>
          <p:cNvSpPr/>
          <p:nvPr/>
        </p:nvSpPr>
        <p:spPr>
          <a:xfrm>
            <a:off x="461913" y="1037092"/>
            <a:ext cx="11370526" cy="5194026"/>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658531" y="1217259"/>
            <a:ext cx="10977289" cy="4833258"/>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897339" y="357462"/>
            <a:ext cx="10782300" cy="610349"/>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Ejemplo</a:t>
            </a:r>
            <a:endParaRPr lang="es-MX" sz="3200" dirty="0">
              <a:solidFill>
                <a:schemeClr val="bg1">
                  <a:lumMod val="50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746CFDD-6FC3-5AA7-5C1D-362E2C5244F1}"/>
                  </a:ext>
                </a:extLst>
              </p:cNvPr>
              <p:cNvSpPr txBox="1"/>
              <p:nvPr/>
            </p:nvSpPr>
            <p:spPr>
              <a:xfrm>
                <a:off x="897339" y="1355820"/>
                <a:ext cx="10499672" cy="4569584"/>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Primero que todo, tenemos que sacar el estadístico de la distribución muestral de la varianza. Así que aplicamos la siguiente fórmula:</a:t>
                </a:r>
              </a:p>
              <a:p>
                <a:pPr algn="just"/>
                <a:endParaRPr lang="es-CL" sz="1800" dirty="0">
                  <a:solidFill>
                    <a:schemeClr val="bg1"/>
                  </a:solidFill>
                  <a:latin typeface="+mn-lt"/>
                </a:endParaRPr>
              </a:p>
              <a:p>
                <a:pPr algn="just"/>
                <a14:m>
                  <m:oMathPara xmlns:m="http://schemas.openxmlformats.org/officeDocument/2006/math">
                    <m:oMathParaPr>
                      <m:jc m:val="centerGroup"/>
                    </m:oMathParaPr>
                    <m:oMath xmlns:m="http://schemas.openxmlformats.org/officeDocument/2006/math">
                      <m:sSup>
                        <m:sSupPr>
                          <m:ctrlPr>
                            <a:rPr lang="es-CL" b="1" i="1" smtClean="0">
                              <a:solidFill>
                                <a:schemeClr val="bg1"/>
                              </a:solidFill>
                              <a:latin typeface="Cambria Math" panose="02040503050406030204" pitchFamily="18" charset="0"/>
                            </a:rPr>
                          </m:ctrlPr>
                        </m:sSupPr>
                        <m:e>
                          <m:r>
                            <a:rPr lang="es-CL" b="1" i="1" smtClean="0">
                              <a:solidFill>
                                <a:schemeClr val="bg1"/>
                              </a:solidFill>
                              <a:latin typeface="Cambria Math" panose="02040503050406030204" pitchFamily="18" charset="0"/>
                              <a:ea typeface="Cambria Math" panose="02040503050406030204" pitchFamily="18" charset="0"/>
                            </a:rPr>
                            <m:t>𝝌</m:t>
                          </m:r>
                        </m:e>
                        <m:sup>
                          <m:r>
                            <a:rPr lang="es-CL" b="1" i="1" smtClean="0">
                              <a:solidFill>
                                <a:schemeClr val="bg1"/>
                              </a:solidFill>
                              <a:latin typeface="Cambria Math" panose="02040503050406030204" pitchFamily="18" charset="0"/>
                            </a:rPr>
                            <m:t>𝟐</m:t>
                          </m:r>
                        </m:sup>
                      </m:sSup>
                      <m:r>
                        <a:rPr lang="es-CL" b="1" i="1" smtClean="0">
                          <a:solidFill>
                            <a:schemeClr val="bg1"/>
                          </a:solidFill>
                          <a:latin typeface="Cambria Math" panose="02040503050406030204" pitchFamily="18" charset="0"/>
                        </a:rPr>
                        <m:t>=</m:t>
                      </m:r>
                      <m:f>
                        <m:fPr>
                          <m:ctrlPr>
                            <a:rPr lang="es-CL" b="1" i="1" smtClean="0">
                              <a:solidFill>
                                <a:schemeClr val="bg1"/>
                              </a:solidFill>
                              <a:latin typeface="Cambria Math" panose="02040503050406030204" pitchFamily="18" charset="0"/>
                            </a:rPr>
                          </m:ctrlPr>
                        </m:fPr>
                        <m:num>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rPr>
                            <m:t>𝒏</m:t>
                          </m:r>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rPr>
                            <m:t>𝟏</m:t>
                          </m:r>
                          <m:r>
                            <a:rPr lang="es-CL" b="1" i="1" smtClean="0">
                              <a:solidFill>
                                <a:schemeClr val="bg1"/>
                              </a:solidFill>
                              <a:latin typeface="Cambria Math" panose="02040503050406030204" pitchFamily="18" charset="0"/>
                            </a:rPr>
                            <m:t>)</m:t>
                          </m:r>
                          <m:sSup>
                            <m:sSupPr>
                              <m:ctrlPr>
                                <a:rPr lang="es-CL" b="1" i="1">
                                  <a:solidFill>
                                    <a:schemeClr val="bg1"/>
                                  </a:solidFill>
                                  <a:latin typeface="Cambria Math" panose="02040503050406030204" pitchFamily="18" charset="0"/>
                                </a:rPr>
                              </m:ctrlPr>
                            </m:sSupPr>
                            <m:e>
                              <m:r>
                                <a:rPr lang="es-CL" b="1" i="1" smtClean="0">
                                  <a:solidFill>
                                    <a:schemeClr val="bg1"/>
                                  </a:solidFill>
                                  <a:latin typeface="Cambria Math" panose="02040503050406030204" pitchFamily="18" charset="0"/>
                                  <a:ea typeface="Cambria Math" panose="02040503050406030204" pitchFamily="18" charset="0"/>
                                </a:rPr>
                                <m:t>𝒔</m:t>
                              </m:r>
                            </m:e>
                            <m:sup>
                              <m:r>
                                <a:rPr lang="es-CL" b="1" i="1">
                                  <a:solidFill>
                                    <a:schemeClr val="bg1"/>
                                  </a:solidFill>
                                  <a:latin typeface="Cambria Math" panose="02040503050406030204" pitchFamily="18" charset="0"/>
                                </a:rPr>
                                <m:t>𝟐</m:t>
                              </m:r>
                            </m:sup>
                          </m:sSup>
                        </m:num>
                        <m:den>
                          <m:sSup>
                            <m:sSupPr>
                              <m:ctrlPr>
                                <a:rPr lang="es-CL" b="1" i="1" smtClean="0">
                                  <a:solidFill>
                                    <a:schemeClr val="bg1"/>
                                  </a:solidFill>
                                  <a:latin typeface="Cambria Math" panose="02040503050406030204" pitchFamily="18" charset="0"/>
                                </a:rPr>
                              </m:ctrlPr>
                            </m:sSupPr>
                            <m:e>
                              <m:r>
                                <a:rPr lang="es-CL" b="1" i="1">
                                  <a:solidFill>
                                    <a:schemeClr val="bg1"/>
                                  </a:solidFill>
                                  <a:latin typeface="Cambria Math" panose="02040503050406030204" pitchFamily="18" charset="0"/>
                                  <a:ea typeface="Cambria Math" panose="02040503050406030204" pitchFamily="18" charset="0"/>
                                </a:rPr>
                                <m:t>𝝈</m:t>
                              </m:r>
                            </m:e>
                            <m:sup>
                              <m:r>
                                <a:rPr lang="es-CL" b="1" i="1" smtClean="0">
                                  <a:solidFill>
                                    <a:schemeClr val="bg1"/>
                                  </a:solidFill>
                                  <a:latin typeface="Cambria Math" panose="02040503050406030204" pitchFamily="18" charset="0"/>
                                </a:rPr>
                                <m:t>𝟐</m:t>
                              </m:r>
                            </m:sup>
                          </m:sSup>
                        </m:den>
                      </m:f>
                      <m:r>
                        <a:rPr lang="es-CL" b="1" i="1" smtClean="0">
                          <a:solidFill>
                            <a:schemeClr val="bg1"/>
                          </a:solidFill>
                          <a:latin typeface="Cambria Math" panose="02040503050406030204" pitchFamily="18" charset="0"/>
                        </a:rPr>
                        <m:t>=</m:t>
                      </m:r>
                      <m:f>
                        <m:fPr>
                          <m:ctrlPr>
                            <a:rPr lang="es-CL" b="1" i="1" smtClean="0">
                              <a:solidFill>
                                <a:schemeClr val="bg1"/>
                              </a:solidFill>
                              <a:latin typeface="Cambria Math" panose="02040503050406030204" pitchFamily="18" charset="0"/>
                            </a:rPr>
                          </m:ctrlPr>
                        </m:fPr>
                        <m:num>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rPr>
                            <m:t>𝟏𝟕</m:t>
                          </m:r>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rPr>
                            <m:t>𝟏</m:t>
                          </m:r>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ea typeface="Cambria Math" panose="02040503050406030204" pitchFamily="18" charset="0"/>
                            </a:rPr>
                            <m:t>𝟏𝟎</m:t>
                          </m:r>
                        </m:num>
                        <m:den>
                          <m:r>
                            <a:rPr lang="es-CL" b="1" i="1" smtClean="0">
                              <a:solidFill>
                                <a:schemeClr val="bg1"/>
                              </a:solidFill>
                              <a:latin typeface="Cambria Math" panose="02040503050406030204" pitchFamily="18" charset="0"/>
                            </a:rPr>
                            <m:t>𝟓</m:t>
                          </m:r>
                        </m:den>
                      </m:f>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rPr>
                        <m:t>𝟑𝟐</m:t>
                      </m:r>
                    </m:oMath>
                  </m:oMathPara>
                </a14:m>
                <a:endParaRPr lang="es-CL" b="1" dirty="0">
                  <a:solidFill>
                    <a:schemeClr val="bg1"/>
                  </a:solidFill>
                  <a:latin typeface="+mn-lt"/>
                </a:endParaRPr>
              </a:p>
              <a:p>
                <a:pPr algn="just"/>
                <a:endParaRPr lang="es-ES" dirty="0">
                  <a:solidFill>
                    <a:schemeClr val="bg1"/>
                  </a:solidFill>
                  <a:latin typeface="+mn-lt"/>
                  <a:ea typeface="Source Sans Pro"/>
                </a:endParaRPr>
              </a:p>
              <a:p>
                <a:pPr algn="just"/>
                <a:endParaRPr lang="es-ES" dirty="0">
                  <a:solidFill>
                    <a:schemeClr val="bg1"/>
                  </a:solidFill>
                  <a:latin typeface="+mn-lt"/>
                  <a:ea typeface="Source Sans Pro"/>
                </a:endParaRPr>
              </a:p>
              <a:p>
                <a:pPr algn="just"/>
                <a:r>
                  <a:rPr lang="es-ES" dirty="0">
                    <a:solidFill>
                      <a:schemeClr val="bg1"/>
                    </a:solidFill>
                    <a:latin typeface="+mn-lt"/>
                    <a:ea typeface="Source Sans Pro"/>
                  </a:rPr>
                  <a:t>Como el tamaño de la muestra es n=17, la distribución chi-cuadrado tendrá 16 grados de libertad (n-1). Por lo tanto, la probabilidad de que la varianza muestral sea mayor que 10 es equivalente a la probabilidad de tomar un valor de una distribución chi-cuadrado con 16 grados de libertad que sea mayor que 32. Revisamos la tabla de probabilidades o bien consultamos Python.</a:t>
                </a:r>
              </a:p>
              <a:p>
                <a:pPr algn="just"/>
                <a:endParaRPr lang="es-ES" dirty="0">
                  <a:solidFill>
                    <a:schemeClr val="bg1"/>
                  </a:solidFill>
                  <a:latin typeface="+mn-lt"/>
                  <a:ea typeface="Source Sans Pro"/>
                </a:endParaRPr>
              </a:p>
              <a:p>
                <a:pPr algn="just"/>
                <a:endParaRPr lang="es-ES" dirty="0">
                  <a:solidFill>
                    <a:schemeClr val="bg1"/>
                  </a:solidFill>
                  <a:latin typeface="+mn-lt"/>
                  <a:ea typeface="Source Sans Pro"/>
                </a:endParaRPr>
              </a:p>
              <a:p>
                <a:pPr algn="just"/>
                <a14:m>
                  <m:oMathPara xmlns:m="http://schemas.openxmlformats.org/officeDocument/2006/math">
                    <m:oMathParaPr>
                      <m:jc m:val="centerGroup"/>
                    </m:oMathParaPr>
                    <m:oMath xmlns:m="http://schemas.openxmlformats.org/officeDocument/2006/math">
                      <m:r>
                        <a:rPr lang="es-CL" b="1" i="1" smtClean="0">
                          <a:solidFill>
                            <a:schemeClr val="bg1"/>
                          </a:solidFill>
                          <a:latin typeface="Cambria Math" panose="02040503050406030204" pitchFamily="18" charset="0"/>
                        </a:rPr>
                        <m:t>𝑷</m:t>
                      </m:r>
                      <m:d>
                        <m:dPr>
                          <m:begChr m:val="["/>
                          <m:endChr m:val="]"/>
                          <m:ctrlPr>
                            <a:rPr lang="es-CL" b="1" i="1" smtClean="0">
                              <a:solidFill>
                                <a:schemeClr val="bg1"/>
                              </a:solidFill>
                              <a:latin typeface="Cambria Math" panose="02040503050406030204" pitchFamily="18" charset="0"/>
                            </a:rPr>
                          </m:ctrlPr>
                        </m:dPr>
                        <m:e>
                          <m:sSup>
                            <m:sSupPr>
                              <m:ctrlPr>
                                <a:rPr lang="es-CL" b="1" i="1">
                                  <a:solidFill>
                                    <a:schemeClr val="bg1"/>
                                  </a:solidFill>
                                  <a:latin typeface="Cambria Math" panose="02040503050406030204" pitchFamily="18" charset="0"/>
                                </a:rPr>
                              </m:ctrlPr>
                            </m:sSupPr>
                            <m:e>
                              <m:r>
                                <a:rPr lang="es-CL" b="1" i="1">
                                  <a:solidFill>
                                    <a:schemeClr val="bg1"/>
                                  </a:solidFill>
                                  <a:latin typeface="Cambria Math" panose="02040503050406030204" pitchFamily="18" charset="0"/>
                                  <a:ea typeface="Cambria Math" panose="02040503050406030204" pitchFamily="18" charset="0"/>
                                </a:rPr>
                                <m:t>𝒔</m:t>
                              </m:r>
                            </m:e>
                            <m:sup>
                              <m:r>
                                <a:rPr lang="es-CL" b="1" i="1">
                                  <a:solidFill>
                                    <a:schemeClr val="bg1"/>
                                  </a:solidFill>
                                  <a:latin typeface="Cambria Math" panose="02040503050406030204" pitchFamily="18" charset="0"/>
                                </a:rPr>
                                <m:t>𝟐</m:t>
                              </m:r>
                            </m:sup>
                          </m:sSup>
                          <m:r>
                            <a:rPr lang="es-CL" b="1" i="1" smtClean="0">
                              <a:solidFill>
                                <a:schemeClr val="bg1"/>
                              </a:solidFill>
                              <a:latin typeface="Cambria Math" panose="02040503050406030204" pitchFamily="18" charset="0"/>
                            </a:rPr>
                            <m:t>&gt;</m:t>
                          </m:r>
                          <m:r>
                            <a:rPr lang="es-CL" b="1" i="1" smtClean="0">
                              <a:solidFill>
                                <a:schemeClr val="bg1"/>
                              </a:solidFill>
                              <a:latin typeface="Cambria Math" panose="02040503050406030204" pitchFamily="18" charset="0"/>
                            </a:rPr>
                            <m:t>𝟏𝟎</m:t>
                          </m:r>
                        </m:e>
                      </m:d>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rPr>
                        <m:t>𝑷</m:t>
                      </m:r>
                      <m:d>
                        <m:dPr>
                          <m:begChr m:val="["/>
                          <m:endChr m:val="]"/>
                          <m:ctrlPr>
                            <a:rPr lang="es-CL" b="1" i="1" smtClean="0">
                              <a:solidFill>
                                <a:schemeClr val="bg1"/>
                              </a:solidFill>
                              <a:latin typeface="Cambria Math" panose="02040503050406030204" pitchFamily="18" charset="0"/>
                            </a:rPr>
                          </m:ctrlPr>
                        </m:dPr>
                        <m:e>
                          <m:sSubSup>
                            <m:sSubSupPr>
                              <m:ctrlPr>
                                <a:rPr lang="es-CL" b="1" i="1" smtClean="0">
                                  <a:solidFill>
                                    <a:schemeClr val="bg1"/>
                                  </a:solidFill>
                                  <a:latin typeface="Cambria Math" panose="02040503050406030204" pitchFamily="18" charset="0"/>
                                </a:rPr>
                              </m:ctrlPr>
                            </m:sSubSupPr>
                            <m:e>
                              <m:r>
                                <a:rPr lang="es-CL" b="1" i="1">
                                  <a:solidFill>
                                    <a:schemeClr val="bg1"/>
                                  </a:solidFill>
                                  <a:latin typeface="Cambria Math" panose="02040503050406030204" pitchFamily="18" charset="0"/>
                                  <a:ea typeface="Cambria Math" panose="02040503050406030204" pitchFamily="18" charset="0"/>
                                </a:rPr>
                                <m:t>𝝌</m:t>
                              </m:r>
                            </m:e>
                            <m:sub>
                              <m:r>
                                <a:rPr lang="es-CL" b="1" i="1" smtClean="0">
                                  <a:solidFill>
                                    <a:schemeClr val="bg1"/>
                                  </a:solidFill>
                                  <a:latin typeface="Cambria Math" panose="02040503050406030204" pitchFamily="18" charset="0"/>
                                </a:rPr>
                                <m:t>𝟏𝟔</m:t>
                              </m:r>
                            </m:sub>
                            <m:sup>
                              <m:r>
                                <a:rPr lang="es-CL" b="1" i="1" smtClean="0">
                                  <a:solidFill>
                                    <a:schemeClr val="bg1"/>
                                  </a:solidFill>
                                  <a:latin typeface="Cambria Math" panose="02040503050406030204" pitchFamily="18" charset="0"/>
                                </a:rPr>
                                <m:t>𝟐</m:t>
                              </m:r>
                            </m:sup>
                          </m:sSubSup>
                          <m:r>
                            <a:rPr lang="es-CL" b="1" i="1" smtClean="0">
                              <a:solidFill>
                                <a:schemeClr val="bg1"/>
                              </a:solidFill>
                              <a:latin typeface="Cambria Math" panose="02040503050406030204" pitchFamily="18" charset="0"/>
                              <a:ea typeface="Cambria Math" panose="02040503050406030204" pitchFamily="18" charset="0"/>
                            </a:rPr>
                            <m:t>&gt;</m:t>
                          </m:r>
                          <m:r>
                            <a:rPr lang="es-CL" b="1" i="1" smtClean="0">
                              <a:solidFill>
                                <a:schemeClr val="bg1"/>
                              </a:solidFill>
                              <a:latin typeface="Cambria Math" panose="02040503050406030204" pitchFamily="18" charset="0"/>
                              <a:ea typeface="Cambria Math" panose="02040503050406030204" pitchFamily="18" charset="0"/>
                            </a:rPr>
                            <m:t>𝟑𝟐</m:t>
                          </m:r>
                        </m:e>
                      </m:d>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rPr>
                        <m:t>𝟎</m:t>
                      </m:r>
                      <m:r>
                        <a:rPr lang="es-CL" b="1" i="1" smtClean="0">
                          <a:solidFill>
                            <a:schemeClr val="bg1"/>
                          </a:solidFill>
                          <a:latin typeface="Cambria Math" panose="02040503050406030204" pitchFamily="18" charset="0"/>
                        </a:rPr>
                        <m:t>.</m:t>
                      </m:r>
                      <m:r>
                        <a:rPr lang="es-CL" b="1" i="1" smtClean="0">
                          <a:solidFill>
                            <a:schemeClr val="bg1"/>
                          </a:solidFill>
                          <a:latin typeface="Cambria Math" panose="02040503050406030204" pitchFamily="18" charset="0"/>
                        </a:rPr>
                        <m:t>𝟎𝟏</m:t>
                      </m:r>
                    </m:oMath>
                  </m:oMathPara>
                </a14:m>
                <a:endParaRPr lang="es-CL" b="1" dirty="0">
                  <a:solidFill>
                    <a:schemeClr val="bg1"/>
                  </a:solidFill>
                  <a:latin typeface="+mn-lt"/>
                </a:endParaRPr>
              </a:p>
              <a:p>
                <a:pPr algn="just"/>
                <a:endParaRPr lang="es-CL" dirty="0">
                  <a:latin typeface="+mn-lt"/>
                </a:endParaRPr>
              </a:p>
              <a:p>
                <a:pPr algn="just"/>
                <a:r>
                  <a:rPr lang="es-ES" dirty="0">
                    <a:solidFill>
                      <a:schemeClr val="bg1"/>
                    </a:solidFill>
                    <a:latin typeface="+mn-lt"/>
                    <a:ea typeface="Source Sans Pro"/>
                  </a:rPr>
                  <a:t>En definitiva, la probabilidad de sacar una muestra con una varianza mayor que 10 es del 1%.</a:t>
                </a:r>
                <a:endParaRPr lang="es-ES" dirty="0">
                  <a:solidFill>
                    <a:schemeClr val="bg1"/>
                  </a:solidFill>
                  <a:latin typeface="Source Sans Pro"/>
                  <a:ea typeface="Source Sans Pro"/>
                </a:endParaRPr>
              </a:p>
            </p:txBody>
          </p:sp>
        </mc:Choice>
        <mc:Fallback xmlns="">
          <p:sp>
            <p:nvSpPr>
              <p:cNvPr id="9" name="CuadroTexto 8">
                <a:extLst>
                  <a:ext uri="{FF2B5EF4-FFF2-40B4-BE49-F238E27FC236}">
                    <a16:creationId xmlns:a16="http://schemas.microsoft.com/office/drawing/2014/main" id="{C746CFDD-6FC3-5AA7-5C1D-362E2C5244F1}"/>
                  </a:ext>
                </a:extLst>
              </p:cNvPr>
              <p:cNvSpPr txBox="1">
                <a:spLocks noRot="1" noChangeAspect="1" noMove="1" noResize="1" noEditPoints="1" noAdjustHandles="1" noChangeArrowheads="1" noChangeShapeType="1" noTextEdit="1"/>
              </p:cNvSpPr>
              <p:nvPr/>
            </p:nvSpPr>
            <p:spPr>
              <a:xfrm>
                <a:off x="897339" y="1355820"/>
                <a:ext cx="10499672" cy="4569584"/>
              </a:xfrm>
              <a:prstGeom prst="rect">
                <a:avLst/>
              </a:prstGeom>
              <a:blipFill>
                <a:blip r:embed="rId2"/>
                <a:stretch>
                  <a:fillRect l="-464" t="-667" r="-464" b="-1200"/>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16553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896439" y="1137376"/>
            <a:ext cx="9292046" cy="5202464"/>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3" name="Título 1"/>
          <p:cNvSpPr txBox="1">
            <a:spLocks/>
          </p:cNvSpPr>
          <p:nvPr/>
        </p:nvSpPr>
        <p:spPr bwMode="auto">
          <a:xfrm>
            <a:off x="896439" y="393157"/>
            <a:ext cx="10782300" cy="606018"/>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Distribuciones </a:t>
            </a:r>
            <a:r>
              <a:rPr lang="es-ES" sz="3200" dirty="0" err="1">
                <a:solidFill>
                  <a:schemeClr val="bg1">
                    <a:lumMod val="50000"/>
                  </a:schemeClr>
                </a:solidFill>
                <a:latin typeface="Arial" panose="020B0604020202020204" pitchFamily="34" charset="0"/>
                <a:cs typeface="Arial" panose="020B0604020202020204" pitchFamily="34" charset="0"/>
              </a:rPr>
              <a:t>Muestrales</a:t>
            </a:r>
            <a:endParaRPr lang="es-MX" sz="3200" dirty="0">
              <a:solidFill>
                <a:schemeClr val="bg1">
                  <a:lumMod val="50000"/>
                </a:schemeClr>
              </a:solidFill>
              <a:latin typeface="Arial" panose="020B0604020202020204" pitchFamily="34" charset="0"/>
              <a:cs typeface="Arial" panose="020B0604020202020204" pitchFamily="34" charset="0"/>
            </a:endParaRPr>
          </a:p>
        </p:txBody>
      </p:sp>
      <p:pic>
        <p:nvPicPr>
          <p:cNvPr id="5" name="Google Shape;503;p50">
            <a:extLst>
              <a:ext uri="{FF2B5EF4-FFF2-40B4-BE49-F238E27FC236}">
                <a16:creationId xmlns:a16="http://schemas.microsoft.com/office/drawing/2014/main" id="{D75ACE91-0372-602E-97F3-2727C55DBB93}"/>
              </a:ext>
            </a:extLst>
          </p:cNvPr>
          <p:cNvPicPr preferRelativeResize="0"/>
          <p:nvPr/>
        </p:nvPicPr>
        <p:blipFill rotWithShape="1">
          <a:blip r:embed="rId2">
            <a:alphaModFix/>
          </a:blip>
          <a:srcRect l="-942" t="13257" r="942" b="1222"/>
          <a:stretch/>
        </p:blipFill>
        <p:spPr>
          <a:xfrm>
            <a:off x="1135511" y="1258162"/>
            <a:ext cx="8756884" cy="5012010"/>
          </a:xfrm>
          <a:prstGeom prst="rect">
            <a:avLst/>
          </a:prstGeom>
          <a:noFill/>
          <a:ln>
            <a:noFill/>
          </a:ln>
        </p:spPr>
      </p:pic>
    </p:spTree>
    <p:extLst>
      <p:ext uri="{BB962C8B-B14F-4D97-AF65-F5344CB8AC3E}">
        <p14:creationId xmlns:p14="http://schemas.microsoft.com/office/powerpoint/2010/main" val="278620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redondeado 8"/>
          <p:cNvSpPr/>
          <p:nvPr/>
        </p:nvSpPr>
        <p:spPr>
          <a:xfrm>
            <a:off x="-749030" y="3132234"/>
            <a:ext cx="7964307" cy="894946"/>
          </a:xfrm>
          <a:prstGeom prst="roundRect">
            <a:avLst>
              <a:gd name="adj" fmla="val 2778"/>
            </a:avLst>
          </a:prstGeom>
          <a:gradFill flip="none" rotWithShape="1">
            <a:gsLst>
              <a:gs pos="0">
                <a:srgbClr val="732C61">
                  <a:shade val="30000"/>
                  <a:satMod val="115000"/>
                </a:srgbClr>
              </a:gs>
              <a:gs pos="50000">
                <a:srgbClr val="732C61">
                  <a:shade val="67500"/>
                  <a:satMod val="115000"/>
                </a:srgbClr>
              </a:gs>
              <a:gs pos="100000">
                <a:srgbClr val="732C61">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ítulo 1"/>
          <p:cNvSpPr txBox="1">
            <a:spLocks/>
          </p:cNvSpPr>
          <p:nvPr/>
        </p:nvSpPr>
        <p:spPr bwMode="auto">
          <a:xfrm>
            <a:off x="2768633" y="2835053"/>
            <a:ext cx="4446644" cy="1489308"/>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36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Dudas y consultas</a:t>
            </a:r>
          </a:p>
        </p:txBody>
      </p:sp>
    </p:spTree>
    <p:extLst>
      <p:ext uri="{BB962C8B-B14F-4D97-AF65-F5344CB8AC3E}">
        <p14:creationId xmlns:p14="http://schemas.microsoft.com/office/powerpoint/2010/main" val="73893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txBox="1">
            <a:spLocks/>
          </p:cNvSpPr>
          <p:nvPr/>
        </p:nvSpPr>
        <p:spPr bwMode="auto">
          <a:xfrm>
            <a:off x="462603" y="2924969"/>
            <a:ext cx="10782300" cy="1008062"/>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s-ES" sz="36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Source Sans Pro"/>
                <a:cs typeface="Arial" panose="020B0604020202020204" pitchFamily="34" charset="0"/>
              </a:rPr>
              <a:t>Fin presentación</a:t>
            </a:r>
          </a:p>
        </p:txBody>
      </p:sp>
    </p:spTree>
    <p:extLst>
      <p:ext uri="{BB962C8B-B14F-4D97-AF65-F5344CB8AC3E}">
        <p14:creationId xmlns:p14="http://schemas.microsoft.com/office/powerpoint/2010/main" val="201277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6171001b-fa9d-409b-8713-8b6a17935d68"/>
    <lcf76f155ced4ddcb4097134ff3c332f xmlns="470d2f17-52cb-407b-8136-5e632d1cee0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EC9CD3420DD7C44287EDEB9C6D6708D7" ma:contentTypeVersion="15" ma:contentTypeDescription="Crear nuevo documento." ma:contentTypeScope="" ma:versionID="f7a9dcde27c9264a09c73004259269f1">
  <xsd:schema xmlns:xsd="http://www.w3.org/2001/XMLSchema" xmlns:xs="http://www.w3.org/2001/XMLSchema" xmlns:p="http://schemas.microsoft.com/office/2006/metadata/properties" xmlns:ns2="470d2f17-52cb-407b-8136-5e632d1cee08" xmlns:ns3="6171001b-fa9d-409b-8713-8b6a17935d68" targetNamespace="http://schemas.microsoft.com/office/2006/metadata/properties" ma:root="true" ma:fieldsID="674b5fe278d71baa753a58252eaf8fe3" ns2:_="" ns3:_="">
    <xsd:import namespace="470d2f17-52cb-407b-8136-5e632d1cee08"/>
    <xsd:import namespace="6171001b-fa9d-409b-8713-8b6a17935d6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TaxCatchAll" minOccurs="0"/>
                <xsd:element ref="ns2:MediaServiceGenerationTime" minOccurs="0"/>
                <xsd:element ref="ns2:MediaServiceEventHashCode" minOccurs="0"/>
                <xsd:element ref="ns2:lcf76f155ced4ddcb4097134ff3c332f" minOccurs="0"/>
                <xsd:element ref="ns2:MediaServiceOCR"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d2f17-52cb-407b-8136-5e632d1cee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5ecad781-11e1-4240-b729-e370ca3e03e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171001b-fa9d-409b-8713-8b6a17935d68"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626c5a85-e9ed-4a7d-a8f2-1ac62c4b72da}" ma:internalName="TaxCatchAll" ma:showField="CatchAllData" ma:web="6171001b-fa9d-409b-8713-8b6a17935d6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B05674-0616-4E66-A9FD-3C514085E54B}">
  <ds:schemaRefs>
    <ds:schemaRef ds:uri="http://schemas.microsoft.com/sharepoint/v3/contenttype/forms"/>
  </ds:schemaRefs>
</ds:datastoreItem>
</file>

<file path=customXml/itemProps2.xml><?xml version="1.0" encoding="utf-8"?>
<ds:datastoreItem xmlns:ds="http://schemas.openxmlformats.org/officeDocument/2006/customXml" ds:itemID="{BE26BDBF-E58D-4DAC-8738-D11056BF4C72}">
  <ds:schemaRefs>
    <ds:schemaRef ds:uri="http://purl.org/dc/terms/"/>
    <ds:schemaRef ds:uri="470d2f17-52cb-407b-8136-5e632d1cee08"/>
    <ds:schemaRef ds:uri="http://schemas.microsoft.com/office/infopath/2007/PartnerControls"/>
    <ds:schemaRef ds:uri="http://purl.org/dc/elements/1.1/"/>
    <ds:schemaRef ds:uri="http://schemas.microsoft.com/office/2006/documentManagement/types"/>
    <ds:schemaRef ds:uri="6171001b-fa9d-409b-8713-8b6a17935d68"/>
    <ds:schemaRef ds:uri="http://purl.org/dc/dcmitype/"/>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DD405DB1-990F-4DDD-81A1-478BCA203F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d2f17-52cb-407b-8136-5e632d1cee08"/>
    <ds:schemaRef ds:uri="6171001b-fa9d-409b-8713-8b6a17935d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9129</TotalTime>
  <Words>760</Words>
  <Application>Microsoft Office PowerPoint</Application>
  <PresentationFormat>Panorámica</PresentationFormat>
  <Paragraphs>119</Paragraphs>
  <Slides>17</Slides>
  <Notes>0</Notes>
  <HiddenSlides>0</HiddenSlides>
  <MMClips>0</MMClips>
  <ScaleCrop>false</ScaleCrop>
  <HeadingPairs>
    <vt:vector size="4" baseType="variant">
      <vt:variant>
        <vt:lpstr>Tema</vt:lpstr>
      </vt:variant>
      <vt:variant>
        <vt:i4>2</vt:i4>
      </vt:variant>
      <vt:variant>
        <vt:lpstr>Títulos de diapositiva</vt:lpstr>
      </vt:variant>
      <vt:variant>
        <vt:i4>17</vt:i4>
      </vt:variant>
    </vt:vector>
  </HeadingPairs>
  <TitlesOfParts>
    <vt:vector size="19" baseType="lpstr">
      <vt:lpstr>Tema de Office</vt:lpstr>
      <vt:lpstr>1_Tema de Office</vt:lpstr>
      <vt:lpstr>Distribución Muestral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Kibernum</dc:creator>
  <cp:lastModifiedBy>kibernum</cp:lastModifiedBy>
  <cp:revision>264</cp:revision>
  <dcterms:created xsi:type="dcterms:W3CDTF">2023-01-03T12:28:26Z</dcterms:created>
  <dcterms:modified xsi:type="dcterms:W3CDTF">2025-09-26T11:50:23Z</dcterms:modified>
</cp:coreProperties>
</file>