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70" r:id="rId3"/>
    <p:sldId id="257" r:id="rId4"/>
    <p:sldId id="258" r:id="rId5"/>
    <p:sldId id="259" r:id="rId6"/>
    <p:sldId id="260" r:id="rId7"/>
    <p:sldId id="261" r:id="rId8"/>
    <p:sldId id="263" r:id="rId9"/>
    <p:sldId id="268" r:id="rId10"/>
    <p:sldId id="269" r:id="rId11"/>
    <p:sldId id="264" r:id="rId12"/>
    <p:sldId id="265" r:id="rId13"/>
    <p:sldId id="266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RkBPOB0YgDATrxJPpYZ1emibB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7439F2-5289-1A04-2F5F-60CC01BE4D09}" v="3" dt="2025-09-26T11:49:47.5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332" autoAdjust="0"/>
  </p:normalViewPr>
  <p:slideViewPr>
    <p:cSldViewPr snapToGrid="0">
      <p:cViewPr varScale="1">
        <p:scale>
          <a:sx n="75" d="100"/>
          <a:sy n="75" d="100"/>
        </p:scale>
        <p:origin x="7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raya Salazar" userId="S::soraya.salazar@kibernumacademy.com::fdf00a5c-f577-43dc-8064-9968cad83607" providerId="AD" clId="Web-{A27439F2-5289-1A04-2F5F-60CC01BE4D09}"/>
    <pc:docChg chg="modSld">
      <pc:chgData name="Soraya Salazar" userId="S::soraya.salazar@kibernumacademy.com::fdf00a5c-f577-43dc-8064-9968cad83607" providerId="AD" clId="Web-{A27439F2-5289-1A04-2F5F-60CC01BE4D09}" dt="2025-09-26T11:49:47.559" v="1" actId="20577"/>
      <pc:docMkLst>
        <pc:docMk/>
      </pc:docMkLst>
      <pc:sldChg chg="delSp modSp">
        <pc:chgData name="Soraya Salazar" userId="S::soraya.salazar@kibernumacademy.com::fdf00a5c-f577-43dc-8064-9968cad83607" providerId="AD" clId="Web-{A27439F2-5289-1A04-2F5F-60CC01BE4D09}" dt="2025-09-26T11:49:47.559" v="1" actId="20577"/>
        <pc:sldMkLst>
          <pc:docMk/>
          <pc:sldMk cId="0" sldId="256"/>
        </pc:sldMkLst>
        <pc:spChg chg="del">
          <ac:chgData name="Soraya Salazar" userId="S::soraya.salazar@kibernumacademy.com::fdf00a5c-f577-43dc-8064-9968cad83607" providerId="AD" clId="Web-{A27439F2-5289-1A04-2F5F-60CC01BE4D09}" dt="2025-09-26T11:49:43.278" v="0"/>
          <ac:spMkLst>
            <pc:docMk/>
            <pc:sldMk cId="0" sldId="256"/>
            <ac:spMk id="3" creationId="{00000000-0000-0000-0000-000000000000}"/>
          </ac:spMkLst>
        </pc:spChg>
        <pc:spChg chg="mod">
          <ac:chgData name="Soraya Salazar" userId="S::soraya.salazar@kibernumacademy.com::fdf00a5c-f577-43dc-8064-9968cad83607" providerId="AD" clId="Web-{A27439F2-5289-1A04-2F5F-60CC01BE4D09}" dt="2025-09-26T11:49:47.559" v="1" actId="20577"/>
          <ac:spMkLst>
            <pc:docMk/>
            <pc:sldMk cId="0" sldId="256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 descr="Un conjunto de letras negras en un fondo blanco&#10;&#10;Descripción generada automáticamente con confianza m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703776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/>
          <p:nvPr/>
        </p:nvSpPr>
        <p:spPr>
          <a:xfrm>
            <a:off x="3906982" y="3257006"/>
            <a:ext cx="7102763" cy="2047637"/>
          </a:xfrm>
          <a:prstGeom prst="roundRect">
            <a:avLst>
              <a:gd name="adj" fmla="val 7874"/>
            </a:avLst>
          </a:prstGeom>
          <a:solidFill>
            <a:schemeClr val="dk1">
              <a:alpha val="75686"/>
            </a:schemeClr>
          </a:solidFill>
          <a:ln>
            <a:noFill/>
          </a:ln>
        </p:spPr>
        <p:txBody>
          <a:bodyPr spcFirstLastPara="1" wrap="square" lIns="91425" tIns="45700" rIns="5400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4169525" y="3123426"/>
            <a:ext cx="6757093" cy="198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0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Presentación de la sesión</a:t>
            </a:r>
            <a:endParaRPr lang="es-CL" sz="3000" b="1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Google Shape;92;p1"/>
          <p:cNvSpPr txBox="1"/>
          <p:nvPr/>
        </p:nvSpPr>
        <p:spPr>
          <a:xfrm>
            <a:off x="4169525" y="2783416"/>
            <a:ext cx="702277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Inferencia Estadística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861911"/>
            <a:ext cx="10515600" cy="1325563"/>
          </a:xfrm>
        </p:spPr>
        <p:txBody>
          <a:bodyPr/>
          <a:lstStyle/>
          <a:p>
            <a:r>
              <a:rPr lang="es-ES" sz="36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Repaso y Activación de Conceptos: </a:t>
            </a:r>
            <a:br>
              <a:rPr lang="es-ES" sz="3600" dirty="0">
                <a:solidFill>
                  <a:schemeClr val="bg1">
                    <a:lumMod val="50000"/>
                  </a:schemeClr>
                </a:solidFill>
                <a:latin typeface="+mj-lt"/>
              </a:rPr>
            </a:br>
            <a:br>
              <a:rPr lang="es-ES" sz="3600" dirty="0">
                <a:solidFill>
                  <a:schemeClr val="bg1">
                    <a:lumMod val="50000"/>
                  </a:schemeClr>
                </a:solidFill>
                <a:latin typeface="+mj-lt"/>
              </a:rPr>
            </a:br>
            <a:r>
              <a:rPr lang="es-ES" sz="36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“Preparándonos para avanzar”</a:t>
            </a:r>
            <a:endParaRPr lang="en-US" sz="36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85306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757382" y="3400280"/>
            <a:ext cx="7774334" cy="2428604"/>
          </a:xfrm>
          <a:prstGeom prst="roundRect">
            <a:avLst>
              <a:gd name="adj" fmla="val 4466"/>
            </a:avLst>
          </a:prstGeom>
          <a:gradFill flip="none" rotWithShape="1">
            <a:gsLst>
              <a:gs pos="0">
                <a:srgbClr val="92D050">
                  <a:shade val="30000"/>
                  <a:satMod val="115000"/>
                </a:srgbClr>
              </a:gs>
              <a:gs pos="50000">
                <a:srgbClr val="92D050">
                  <a:shade val="67500"/>
                  <a:satMod val="115000"/>
                </a:srgbClr>
              </a:gs>
              <a:gs pos="100000">
                <a:srgbClr val="92D05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228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924021" y="4260659"/>
            <a:ext cx="7161756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>
              <a:buClr>
                <a:schemeClr val="lt1"/>
              </a:buClr>
              <a:buSzPts val="1800"/>
            </a:pPr>
            <a:r>
              <a:rPr lang="es-E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 Realizar cálculos de probabilidad utilizando la distribución </a:t>
            </a:r>
            <a:r>
              <a:rPr lang="es-ES" sz="2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muestral</a:t>
            </a:r>
            <a:r>
              <a:rPr lang="es-E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para resolver un problema.</a:t>
            </a:r>
            <a:endParaRPr sz="1800" dirty="0">
              <a:solidFill>
                <a:schemeClr val="bg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757382" y="1391415"/>
            <a:ext cx="7774335" cy="932997"/>
          </a:xfrm>
          <a:prstGeom prst="roundRect">
            <a:avLst>
              <a:gd name="adj" fmla="val 4466"/>
            </a:avLst>
          </a:prstGeom>
          <a:gradFill flip="none" rotWithShape="1">
            <a:gsLst>
              <a:gs pos="0">
                <a:srgbClr val="92D050">
                  <a:shade val="30000"/>
                  <a:satMod val="115000"/>
                </a:srgbClr>
              </a:gs>
              <a:gs pos="50000">
                <a:srgbClr val="92D050">
                  <a:shade val="67500"/>
                  <a:satMod val="115000"/>
                </a:srgbClr>
              </a:gs>
              <a:gs pos="100000">
                <a:srgbClr val="92D05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228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924021" y="1459221"/>
            <a:ext cx="7074670" cy="751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</a:pPr>
            <a:r>
              <a:rPr lang="es-ES" sz="2800" dirty="0">
                <a:solidFill>
                  <a:schemeClr val="l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Muestra y Muestreo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Google Shape;98;p2"/>
          <p:cNvSpPr txBox="1"/>
          <p:nvPr/>
        </p:nvSpPr>
        <p:spPr>
          <a:xfrm>
            <a:off x="-262704" y="441923"/>
            <a:ext cx="5293474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dirty="0">
                <a:solidFill>
                  <a:srgbClr val="7F7F7F"/>
                </a:solidFill>
              </a:rPr>
              <a:t>Título de la sesión</a:t>
            </a:r>
            <a:endParaRPr dirty="0"/>
          </a:p>
        </p:txBody>
      </p:sp>
      <p:sp>
        <p:nvSpPr>
          <p:cNvPr id="10" name="Google Shape;98;p2"/>
          <p:cNvSpPr txBox="1"/>
          <p:nvPr/>
        </p:nvSpPr>
        <p:spPr>
          <a:xfrm>
            <a:off x="-150094" y="2392218"/>
            <a:ext cx="4368281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dirty="0">
                <a:solidFill>
                  <a:srgbClr val="7F7F7F"/>
                </a:solidFill>
              </a:rPr>
              <a:t>Aprendizajes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1017556" y="2333286"/>
            <a:ext cx="5948218" cy="2861681"/>
          </a:xfrm>
          <a:prstGeom prst="roundRect">
            <a:avLst>
              <a:gd name="adj" fmla="val 2778"/>
            </a:avLst>
          </a:prstGeom>
          <a:gradFill flip="none" rotWithShape="1">
            <a:gsLst>
              <a:gs pos="0">
                <a:srgbClr val="98C340">
                  <a:shade val="30000"/>
                  <a:satMod val="115000"/>
                </a:srgbClr>
              </a:gs>
              <a:gs pos="50000">
                <a:srgbClr val="98C340">
                  <a:shade val="67500"/>
                  <a:satMod val="115000"/>
                </a:srgbClr>
              </a:gs>
              <a:gs pos="100000">
                <a:srgbClr val="98C34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2770" y="2834803"/>
            <a:ext cx="322811" cy="322811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3"/>
          <p:cNvSpPr txBox="1"/>
          <p:nvPr/>
        </p:nvSpPr>
        <p:spPr>
          <a:xfrm>
            <a:off x="1146404" y="2333286"/>
            <a:ext cx="6031345" cy="2994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</a:pPr>
            <a:r>
              <a:rPr lang="es-CL" sz="2000" dirty="0">
                <a:solidFill>
                  <a:schemeClr val="bg1"/>
                </a:solidFill>
                <a:latin typeface="Calibri"/>
                <a:cs typeface="Calibri"/>
                <a:sym typeface="Arial"/>
              </a:rPr>
              <a:t>1. </a:t>
            </a:r>
            <a:r>
              <a:rPr lang="es-CL" sz="2000" dirty="0">
                <a:solidFill>
                  <a:schemeClr val="bg1"/>
                </a:solidFill>
                <a:latin typeface="Calibri"/>
                <a:cs typeface="Calibri"/>
              </a:rPr>
              <a:t>Muestra y Muestreo.</a:t>
            </a:r>
          </a:p>
          <a:p>
            <a:pPr lvl="0">
              <a:lnSpc>
                <a:spcPct val="90000"/>
              </a:lnSpc>
            </a:pPr>
            <a:endParaRPr lang="es-CL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>
              <a:lnSpc>
                <a:spcPct val="90000"/>
              </a:lnSpc>
            </a:pPr>
            <a:r>
              <a:rPr lang="es-CL" sz="2000" dirty="0">
                <a:solidFill>
                  <a:schemeClr val="bg1"/>
                </a:solidFill>
                <a:latin typeface="Calibri"/>
                <a:cs typeface="Calibri"/>
              </a:rPr>
              <a:t>2. Distribución Muestral.</a:t>
            </a:r>
          </a:p>
          <a:p>
            <a:pPr marL="457200" marR="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s-CL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es-CL" sz="2000" dirty="0">
                <a:solidFill>
                  <a:schemeClr val="bg1"/>
                </a:solidFill>
                <a:latin typeface="Calibri"/>
                <a:cs typeface="Calibri"/>
                <a:sym typeface="Arial"/>
              </a:rPr>
              <a:t>3</a:t>
            </a:r>
            <a:r>
              <a:rPr lang="es-CL" sz="2000" dirty="0">
                <a:solidFill>
                  <a:schemeClr val="bg1"/>
                </a:solidFill>
                <a:latin typeface="Calibri"/>
                <a:cs typeface="Calibri"/>
              </a:rPr>
              <a:t>.  Reforzar y profundizar conceptos (asincrónico).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2000" dirty="0">
              <a:solidFill>
                <a:schemeClr val="bg1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2000" dirty="0">
              <a:solidFill>
                <a:schemeClr val="bg1"/>
              </a:solidFill>
            </a:endParaRPr>
          </a:p>
        </p:txBody>
      </p:sp>
      <p:pic>
        <p:nvPicPr>
          <p:cNvPr id="111" name="Google Shape;111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2770" y="3370475"/>
            <a:ext cx="322811" cy="322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2769" y="3915383"/>
            <a:ext cx="322811" cy="322811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8;p2"/>
          <p:cNvSpPr txBox="1"/>
          <p:nvPr/>
        </p:nvSpPr>
        <p:spPr>
          <a:xfrm>
            <a:off x="439260" y="1112363"/>
            <a:ext cx="3975723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dirty="0">
                <a:solidFill>
                  <a:srgbClr val="7F7F7F"/>
                </a:solidFill>
              </a:rPr>
              <a:t>Temáticas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/>
          <p:nvPr/>
        </p:nvSpPr>
        <p:spPr>
          <a:xfrm>
            <a:off x="6317819" y="-1933211"/>
            <a:ext cx="4553382" cy="7365792"/>
          </a:xfrm>
          <a:prstGeom prst="roundRect">
            <a:avLst>
              <a:gd name="adj" fmla="val 2778"/>
            </a:avLst>
          </a:prstGeom>
          <a:gradFill flip="none" rotWithShape="1">
            <a:gsLst>
              <a:gs pos="0">
                <a:srgbClr val="98C340">
                  <a:shade val="30000"/>
                  <a:satMod val="115000"/>
                </a:srgbClr>
              </a:gs>
              <a:gs pos="50000">
                <a:srgbClr val="98C340">
                  <a:shade val="67500"/>
                  <a:satMod val="115000"/>
                </a:srgbClr>
              </a:gs>
              <a:gs pos="100000">
                <a:srgbClr val="98C34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8" name="Google Shape;118;p4"/>
          <p:cNvGrpSpPr/>
          <p:nvPr/>
        </p:nvGrpSpPr>
        <p:grpSpPr>
          <a:xfrm>
            <a:off x="1078806" y="1749685"/>
            <a:ext cx="3524500" cy="3630571"/>
            <a:chOff x="842747" y="90401"/>
            <a:chExt cx="3524500" cy="3630571"/>
          </a:xfrm>
        </p:grpSpPr>
        <p:sp>
          <p:nvSpPr>
            <p:cNvPr id="119" name="Google Shape;119;p4"/>
            <p:cNvSpPr/>
            <p:nvPr/>
          </p:nvSpPr>
          <p:spPr>
            <a:xfrm>
              <a:off x="842747" y="90401"/>
              <a:ext cx="3524500" cy="3524500"/>
            </a:xfrm>
            <a:prstGeom prst="ellipse">
              <a:avLst/>
            </a:prstGeom>
            <a:blipFill rotWithShape="1">
              <a:blip r:embed="rId3">
                <a:alphaModFix/>
              </a:blip>
              <a:stretch>
                <a:fillRect l="-24998" r="-24998"/>
              </a:stretch>
            </a:blip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4"/>
            <p:cNvSpPr/>
            <p:nvPr/>
          </p:nvSpPr>
          <p:spPr>
            <a:xfrm flipH="1">
              <a:off x="3413435" y="3516041"/>
              <a:ext cx="97637" cy="2049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4"/>
            <p:cNvSpPr txBox="1"/>
            <p:nvPr/>
          </p:nvSpPr>
          <p:spPr>
            <a:xfrm>
              <a:off x="3413435" y="3516041"/>
              <a:ext cx="97637" cy="2049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Calibri"/>
                <a:buNone/>
              </a:pPr>
              <a:endParaRPr sz="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2" name="Google Shape;122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91151" y="1761820"/>
            <a:ext cx="322811" cy="322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91151" y="3946483"/>
            <a:ext cx="322811" cy="32281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4"/>
          <p:cNvSpPr txBox="1"/>
          <p:nvPr/>
        </p:nvSpPr>
        <p:spPr>
          <a:xfrm>
            <a:off x="6578869" y="1761820"/>
            <a:ext cx="3949794" cy="3170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Sesión Sincrónicas (3 </a:t>
            </a:r>
            <a:r>
              <a:rPr lang="es-CL" sz="2000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hrs</a:t>
            </a:r>
            <a:r>
              <a:rPr lang="es-CL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lang="es-CL" sz="2000" b="1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Clr>
                <a:schemeClr val="lt1"/>
              </a:buClr>
              <a:buSzPts val="2000"/>
              <a:buFont typeface="Arial"/>
              <a:buChar char="•"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Muestra y Muestreo.</a:t>
            </a: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285750" lvl="0" indent="-285750">
              <a:buClr>
                <a:schemeClr val="lt1"/>
              </a:buClr>
              <a:buSzPts val="2000"/>
              <a:buFont typeface="Arial"/>
              <a:buChar char="•"/>
            </a:pPr>
            <a:endParaRPr lang="es-CL" sz="2000" dirty="0">
              <a:solidFill>
                <a:schemeClr val="lt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285750" lvl="0" indent="-285750">
              <a:buClr>
                <a:schemeClr val="lt1"/>
              </a:buClr>
              <a:buSzPts val="2000"/>
              <a:buFont typeface="Arial"/>
              <a:buChar char="•"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Distribución Muestral.</a:t>
            </a: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lvl="0">
              <a:buClr>
                <a:schemeClr val="lt1"/>
              </a:buClr>
              <a:buSzPts val="2000"/>
            </a:pPr>
            <a:endParaRPr lang="es-CL" sz="2000" dirty="0">
              <a:solidFill>
                <a:schemeClr val="l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</a:pPr>
            <a:endParaRPr lang="es-CL" sz="2000" dirty="0">
              <a:solidFill>
                <a:schemeClr val="lt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Sesión Asincrónicas (1 </a:t>
            </a:r>
            <a:r>
              <a:rPr lang="es-CL" sz="2000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hr</a:t>
            </a:r>
            <a:r>
              <a:rPr lang="es-CL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lang="es-CL" sz="2000" b="1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Reforzamiento de conceptos.</a:t>
            </a:r>
            <a:endParaRPr lang="es-CL" sz="2000" dirty="0">
              <a:solidFill>
                <a:schemeClr val="lt1"/>
              </a:solidFill>
              <a:latin typeface="Calibri"/>
              <a:cs typeface="Calibri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983657" y="424325"/>
            <a:ext cx="4476905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s-CL" sz="3200" dirty="0">
                <a:solidFill>
                  <a:srgbClr val="7F7F7F"/>
                </a:solidFill>
              </a:rPr>
              <a:t>Estructura de la Sesión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1711" y="2238103"/>
            <a:ext cx="3506233" cy="2131581"/>
          </a:xfrm>
          <a:prstGeom prst="rect">
            <a:avLst/>
          </a:prstGeom>
        </p:spPr>
      </p:pic>
      <p:sp>
        <p:nvSpPr>
          <p:cNvPr id="130" name="Google Shape;130;p5"/>
          <p:cNvSpPr/>
          <p:nvPr/>
        </p:nvSpPr>
        <p:spPr>
          <a:xfrm>
            <a:off x="993711" y="-110835"/>
            <a:ext cx="5111525" cy="7195126"/>
          </a:xfrm>
          <a:prstGeom prst="roundRect">
            <a:avLst>
              <a:gd name="adj" fmla="val 2778"/>
            </a:avLst>
          </a:prstGeom>
          <a:gradFill flip="none" rotWithShape="1">
            <a:gsLst>
              <a:gs pos="0">
                <a:srgbClr val="98C340">
                  <a:shade val="30000"/>
                  <a:satMod val="115000"/>
                </a:srgbClr>
              </a:gs>
              <a:gs pos="50000">
                <a:srgbClr val="98C340">
                  <a:shade val="67500"/>
                  <a:satMod val="115000"/>
                </a:srgbClr>
              </a:gs>
              <a:gs pos="100000">
                <a:srgbClr val="98C34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 txBox="1"/>
          <p:nvPr/>
        </p:nvSpPr>
        <p:spPr>
          <a:xfrm>
            <a:off x="6958676" y="594820"/>
            <a:ext cx="4641141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s-CL" sz="3200" dirty="0">
                <a:solidFill>
                  <a:schemeClr val="tx2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s-CL" sz="3200" dirty="0">
                <a:solidFill>
                  <a:srgbClr val="7F7F7F"/>
                </a:solidFill>
              </a:rPr>
              <a:t>. Muestra y Muestreo</a:t>
            </a:r>
          </a:p>
        </p:txBody>
      </p:sp>
      <p:sp>
        <p:nvSpPr>
          <p:cNvPr id="132" name="Google Shape;132;p5"/>
          <p:cNvSpPr txBox="1"/>
          <p:nvPr/>
        </p:nvSpPr>
        <p:spPr>
          <a:xfrm>
            <a:off x="1454011" y="2899243"/>
            <a:ext cx="4719048" cy="3170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Presentación:</a:t>
            </a: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457200">
              <a:buClr>
                <a:schemeClr val="lt1"/>
              </a:buClr>
              <a:buSzPts val="2000"/>
              <a:buFont typeface="+mj-lt"/>
              <a:buAutoNum type="arabicPeriod"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Muestra y Muestreo.pptx”.</a:t>
            </a: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457200" lvl="0" indent="-457200">
              <a:buClr>
                <a:schemeClr val="lt1"/>
              </a:buClr>
              <a:buSzPts val="2000"/>
              <a:buFont typeface="+mj-lt"/>
              <a:buAutoNum type="arabicPeriod"/>
            </a:pPr>
            <a:endParaRPr lang="es-CL" sz="2000" dirty="0">
              <a:solidFill>
                <a:schemeClr val="lt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lvl="0">
              <a:buClr>
                <a:schemeClr val="lt1"/>
              </a:buClr>
              <a:buSzPts val="2000"/>
            </a:pPr>
            <a:endParaRPr lang="es-CL" sz="2000" dirty="0">
              <a:solidFill>
                <a:schemeClr val="lt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>
              <a:buClr>
                <a:schemeClr val="lt1"/>
              </a:buClr>
              <a:buSzPts val="2000"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      </a:t>
            </a:r>
            <a:endParaRPr lang="es-CL" sz="2000" dirty="0">
              <a:solidFill>
                <a:schemeClr val="lt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342900" lvl="0" indent="-342900">
              <a:buClr>
                <a:schemeClr val="lt1"/>
              </a:buClr>
              <a:buSzPts val="2000"/>
              <a:buFont typeface="Arial"/>
              <a:buChar char="•"/>
            </a:pPr>
            <a:endParaRPr lang="es-CL" sz="2000" dirty="0">
              <a:solidFill>
                <a:schemeClr val="lt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342900" lvl="0" indent="-342900">
              <a:buClr>
                <a:schemeClr val="lt1"/>
              </a:buClr>
              <a:buSzPts val="2000"/>
              <a:buFont typeface="Arial"/>
              <a:buChar char="•"/>
            </a:pPr>
            <a:endParaRPr lang="es-CL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dirty="0">
              <a:solidFill>
                <a:schemeClr val="lt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285750" marR="0" lvl="0" indent="-158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lang="es-CL" sz="2000" dirty="0">
              <a:solidFill>
                <a:schemeClr val="lt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835" y="2445139"/>
            <a:ext cx="3021760" cy="16997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1983" y="1870385"/>
            <a:ext cx="5310076" cy="3715965"/>
          </a:xfrm>
          <a:prstGeom prst="rect">
            <a:avLst/>
          </a:prstGeom>
        </p:spPr>
      </p:pic>
      <p:sp>
        <p:nvSpPr>
          <p:cNvPr id="137" name="Google Shape;137;p6"/>
          <p:cNvSpPr/>
          <p:nvPr/>
        </p:nvSpPr>
        <p:spPr>
          <a:xfrm>
            <a:off x="669306" y="-36271"/>
            <a:ext cx="5205656" cy="7431295"/>
          </a:xfrm>
          <a:prstGeom prst="roundRect">
            <a:avLst>
              <a:gd name="adj" fmla="val 2778"/>
            </a:avLst>
          </a:prstGeom>
          <a:gradFill flip="none" rotWithShape="1">
            <a:gsLst>
              <a:gs pos="0">
                <a:srgbClr val="98C340">
                  <a:shade val="30000"/>
                  <a:satMod val="115000"/>
                </a:srgbClr>
              </a:gs>
              <a:gs pos="50000">
                <a:srgbClr val="98C340">
                  <a:shade val="67500"/>
                  <a:satMod val="115000"/>
                </a:srgbClr>
              </a:gs>
              <a:gs pos="100000">
                <a:srgbClr val="98C34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 txBox="1"/>
          <p:nvPr/>
        </p:nvSpPr>
        <p:spPr>
          <a:xfrm>
            <a:off x="5705888" y="923308"/>
            <a:ext cx="6155186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90000"/>
              </a:lnSpc>
            </a:pPr>
            <a:r>
              <a:rPr lang="es-CL" sz="3200" dirty="0">
                <a:solidFill>
                  <a:schemeClr val="tx2">
                    <a:lumMod val="50000"/>
                  </a:schemeClr>
                </a:solidFill>
              </a:rPr>
              <a:t>2. Distribución Muestral</a:t>
            </a:r>
          </a:p>
        </p:txBody>
      </p:sp>
      <p:sp>
        <p:nvSpPr>
          <p:cNvPr id="139" name="Google Shape;139;p6"/>
          <p:cNvSpPr txBox="1"/>
          <p:nvPr/>
        </p:nvSpPr>
        <p:spPr>
          <a:xfrm>
            <a:off x="669306" y="2327956"/>
            <a:ext cx="5226397" cy="347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Presentación: </a:t>
            </a:r>
            <a:endParaRPr lang="es-CL" dirty="0"/>
          </a:p>
          <a:p>
            <a:pPr marL="342900" lvl="0" indent="-342900">
              <a:buClr>
                <a:schemeClr val="lt1"/>
              </a:buClr>
              <a:buSzPts val="2000"/>
              <a:buFont typeface="Arial"/>
              <a:buChar char="•"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“Teorema Límite Central.pptx”</a:t>
            </a: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342900" lvl="0" indent="-342900">
              <a:buClr>
                <a:schemeClr val="lt1"/>
              </a:buClr>
              <a:buSzPts val="2000"/>
              <a:buFont typeface="Arial"/>
              <a:buChar char="•"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“Distribución muestral.pptx”</a:t>
            </a: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lvl="0">
              <a:buClr>
                <a:schemeClr val="lt1"/>
              </a:buClr>
              <a:buSzPts val="2000"/>
            </a:pP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lvl="0">
              <a:buClr>
                <a:schemeClr val="lt1"/>
              </a:buClr>
              <a:buSzPts val="2000"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Demostración:</a:t>
            </a: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342900" lvl="0" indent="-342900">
              <a:buClr>
                <a:schemeClr val="lt1"/>
              </a:buClr>
              <a:buSzPts val="2000"/>
              <a:buFont typeface="Arial"/>
              <a:buChar char="•"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“Ejemplos </a:t>
            </a:r>
            <a:r>
              <a:rPr lang="es-CL" sz="20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TLC.ipynb</a:t>
            </a: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342900" lvl="0" indent="-342900">
              <a:buClr>
                <a:schemeClr val="lt1"/>
              </a:buClr>
              <a:buSzPts val="2000"/>
              <a:buFont typeface="Arial"/>
              <a:buChar char="•"/>
            </a:pP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lvl="0">
              <a:buClr>
                <a:schemeClr val="lt1"/>
              </a:buClr>
              <a:buSzPts val="2000"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Actividad:</a:t>
            </a: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342900" lvl="0" indent="-342900">
              <a:buClr>
                <a:schemeClr val="lt1"/>
              </a:buClr>
              <a:buSzPts val="2000"/>
              <a:buFont typeface="Arial" panose="020B0604020202020204" pitchFamily="34" charset="0"/>
              <a:buChar char="•"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“Distribución media muestral.pptx”</a:t>
            </a: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342900" lvl="0" indent="-342900">
              <a:buClr>
                <a:schemeClr val="lt1"/>
              </a:buClr>
              <a:buSzPts val="2000"/>
              <a:buFont typeface="Arial" panose="020B0604020202020204" pitchFamily="34" charset="0"/>
              <a:buChar char="•"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“Autoevaluación.xlsx”</a:t>
            </a: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342900" lvl="0" indent="-342900">
              <a:buClr>
                <a:schemeClr val="lt1"/>
              </a:buClr>
              <a:buSzPts val="2000"/>
              <a:buFont typeface="Arial"/>
              <a:buChar char="•"/>
            </a:pP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9713" y="1931370"/>
            <a:ext cx="2907296" cy="1635354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0273" y="3718781"/>
            <a:ext cx="2826736" cy="1590039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1251" y="2960320"/>
            <a:ext cx="2724042" cy="15322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"/>
          <p:cNvSpPr/>
          <p:nvPr/>
        </p:nvSpPr>
        <p:spPr>
          <a:xfrm>
            <a:off x="3730556" y="1899355"/>
            <a:ext cx="8703965" cy="2715491"/>
          </a:xfrm>
          <a:prstGeom prst="roundRect">
            <a:avLst>
              <a:gd name="adj" fmla="val 2778"/>
            </a:avLst>
          </a:prstGeom>
          <a:gradFill flip="none" rotWithShape="1">
            <a:gsLst>
              <a:gs pos="0">
                <a:srgbClr val="92D050">
                  <a:shade val="30000"/>
                  <a:satMod val="115000"/>
                </a:srgbClr>
              </a:gs>
              <a:gs pos="50000">
                <a:srgbClr val="92D050">
                  <a:shade val="67500"/>
                  <a:satMod val="115000"/>
                </a:srgbClr>
              </a:gs>
              <a:gs pos="100000">
                <a:srgbClr val="92D05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228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 txBox="1"/>
          <p:nvPr/>
        </p:nvSpPr>
        <p:spPr>
          <a:xfrm>
            <a:off x="697427" y="891293"/>
            <a:ext cx="4626122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lnSpc>
                <a:spcPct val="90000"/>
              </a:lnSpc>
              <a:buFont typeface="Arial"/>
              <a:buNone/>
            </a:pPr>
            <a:r>
              <a:rPr lang="es-CL" sz="3200" dirty="0">
                <a:solidFill>
                  <a:schemeClr val="tx2">
                    <a:lumMod val="50000"/>
                  </a:schemeClr>
                </a:solidFill>
              </a:rPr>
              <a:t>3. Desafío Sesión</a:t>
            </a:r>
          </a:p>
        </p:txBody>
      </p:sp>
      <p:sp>
        <p:nvSpPr>
          <p:cNvPr id="153" name="Google Shape;153;p8"/>
          <p:cNvSpPr txBox="1"/>
          <p:nvPr/>
        </p:nvSpPr>
        <p:spPr>
          <a:xfrm>
            <a:off x="4340334" y="2326707"/>
            <a:ext cx="7484407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Actividad:</a:t>
            </a:r>
            <a:endParaRPr lang="es-CL" dirty="0">
              <a:solidFill>
                <a:schemeClr val="lt1"/>
              </a:solidFill>
            </a:endParaRPr>
          </a:p>
          <a:p>
            <a:pPr marL="285750" lvl="0" indent="-285750">
              <a:lnSpc>
                <a:spcPct val="150000"/>
              </a:lnSpc>
              <a:buClr>
                <a:schemeClr val="lt1"/>
              </a:buClr>
              <a:buSzPts val="2000"/>
              <a:buFont typeface="Arial"/>
              <a:buChar char="•"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Guía Autoestudio: "</a:t>
            </a:r>
            <a:r>
              <a:rPr lang="es-CL" sz="20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Muestreo.ipynb</a:t>
            </a: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"</a:t>
            </a: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285750" lvl="0" indent="-285750">
              <a:lnSpc>
                <a:spcPct val="150000"/>
              </a:lnSpc>
              <a:buClr>
                <a:schemeClr val="lt1"/>
              </a:buClr>
              <a:buSzPts val="2000"/>
              <a:buFont typeface="Arial"/>
              <a:buChar char="•"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Guía Autoestudio: "Teorema Límite </a:t>
            </a:r>
            <a:r>
              <a:rPr lang="es-CL" sz="20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Central.ipynb</a:t>
            </a: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"</a:t>
            </a: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30564" y="3283816"/>
            <a:ext cx="10515600" cy="1325563"/>
          </a:xfrm>
        </p:spPr>
        <p:txBody>
          <a:bodyPr/>
          <a:lstStyle/>
          <a:p>
            <a:pPr algn="just">
              <a:spcBef>
                <a:spcPct val="0"/>
              </a:spcBef>
              <a:defRPr/>
            </a:pPr>
            <a:r>
              <a:rPr lang="es-ES" sz="3200" kern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Cierre de la Sesión</a:t>
            </a:r>
            <a:endParaRPr lang="en-US" sz="3200" kern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6562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 noGrp="1"/>
          </p:cNvSpPr>
          <p:nvPr>
            <p:ph type="title"/>
          </p:nvPr>
        </p:nvSpPr>
        <p:spPr bwMode="auto">
          <a:xfrm>
            <a:off x="838200" y="149451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s-MX" sz="32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Recapitulación y Reflexión: </a:t>
            </a:r>
            <a:br>
              <a:rPr lang="es-MX" sz="32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</a:br>
            <a:br>
              <a:rPr lang="es-MX" sz="32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</a:br>
            <a:r>
              <a:rPr lang="es-MX" sz="32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“Lo que hemos aprendido hoy”</a:t>
            </a:r>
          </a:p>
        </p:txBody>
      </p:sp>
    </p:spTree>
    <p:extLst>
      <p:ext uri="{BB962C8B-B14F-4D97-AF65-F5344CB8AC3E}">
        <p14:creationId xmlns:p14="http://schemas.microsoft.com/office/powerpoint/2010/main" val="271449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"/>
          <p:cNvSpPr/>
          <p:nvPr/>
        </p:nvSpPr>
        <p:spPr>
          <a:xfrm>
            <a:off x="4138384" y="1954130"/>
            <a:ext cx="8472500" cy="2382886"/>
          </a:xfrm>
          <a:prstGeom prst="roundRect">
            <a:avLst>
              <a:gd name="adj" fmla="val 2971"/>
            </a:avLst>
          </a:prstGeom>
          <a:gradFill flip="none" rotWithShape="1">
            <a:gsLst>
              <a:gs pos="0">
                <a:srgbClr val="92D050">
                  <a:shade val="30000"/>
                  <a:satMod val="115000"/>
                </a:srgbClr>
              </a:gs>
              <a:gs pos="50000">
                <a:srgbClr val="92D050">
                  <a:shade val="67500"/>
                  <a:satMod val="115000"/>
                </a:srgbClr>
              </a:gs>
              <a:gs pos="100000">
                <a:srgbClr val="92D05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 txBox="1"/>
          <p:nvPr/>
        </p:nvSpPr>
        <p:spPr>
          <a:xfrm>
            <a:off x="653183" y="475023"/>
            <a:ext cx="10782300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¡</a:t>
            </a:r>
            <a:r>
              <a:rPr lang="es-CL" sz="32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Consejos para el éxito!</a:t>
            </a:r>
            <a:endParaRPr lang="es-CL" dirty="0"/>
          </a:p>
        </p:txBody>
      </p:sp>
      <p:sp>
        <p:nvSpPr>
          <p:cNvPr id="160" name="Google Shape;160;p9"/>
          <p:cNvSpPr txBox="1"/>
          <p:nvPr/>
        </p:nvSpPr>
        <p:spPr>
          <a:xfrm>
            <a:off x="4596567" y="2196555"/>
            <a:ext cx="7041235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s-CL" sz="2000" dirty="0">
                <a:solidFill>
                  <a:schemeClr val="lt1"/>
                </a:solidFill>
                <a:sym typeface="Arial"/>
              </a:rPr>
              <a:t>Practica, practica y practica…</a:t>
            </a:r>
            <a:endParaRPr lang="es-CL" sz="2000" dirty="0">
              <a:solidFill>
                <a:schemeClr val="lt1"/>
              </a:solidFill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dirty="0">
              <a:solidFill>
                <a:schemeClr val="lt1"/>
              </a:solidFill>
            </a:endParaRPr>
          </a:p>
          <a:p>
            <a:pPr marL="285750" indent="-285750" algn="just">
              <a:buClr>
                <a:schemeClr val="lt1"/>
              </a:buClr>
              <a:buSzPts val="1600"/>
              <a:buFont typeface="Arial"/>
              <a:buChar char="•"/>
            </a:pPr>
            <a:r>
              <a:rPr lang="es-CL" sz="2000" dirty="0">
                <a:solidFill>
                  <a:schemeClr val="lt1"/>
                </a:solidFill>
                <a:sym typeface="Arial"/>
              </a:rPr>
              <a:t>No te sientas frustrado ni sientas que no sirves para </a:t>
            </a:r>
            <a:r>
              <a:rPr lang="es-CL" sz="2000" dirty="0">
                <a:solidFill>
                  <a:schemeClr val="lt1"/>
                </a:solidFill>
              </a:rPr>
              <a:t>esto</a:t>
            </a:r>
            <a:r>
              <a:rPr lang="es-CL" sz="2000" dirty="0">
                <a:solidFill>
                  <a:schemeClr val="lt1"/>
                </a:solidFill>
                <a:sym typeface="Arial"/>
              </a:rPr>
              <a:t>, la partida siempre cuesta un poco más.</a:t>
            </a:r>
            <a:endParaRPr lang="es-CL">
              <a:solidFill>
                <a:schemeClr val="lt1"/>
              </a:solidFill>
            </a:endParaRPr>
          </a:p>
          <a:p>
            <a:pPr marL="285750" marR="0" lvl="0" indent="-1841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es-CL" sz="2000" dirty="0">
              <a:solidFill>
                <a:schemeClr val="lt1"/>
              </a:solidFill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s-CL" sz="2000" dirty="0">
                <a:solidFill>
                  <a:schemeClr val="lt1"/>
                </a:solidFill>
                <a:sym typeface="Arial"/>
              </a:rPr>
              <a:t>Siéntete parte de la comunidad, comparte.</a:t>
            </a:r>
            <a:endParaRPr lang="es-CL" sz="2000" dirty="0">
              <a:solidFill>
                <a:schemeClr val="lt1"/>
              </a:solidFill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807866" y="1604297"/>
            <a:ext cx="2929631" cy="4130678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38100" cap="flat" cmpd="sng">
            <a:solidFill>
              <a:srgbClr val="92D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9" descr="Arnold Schwarzenegger: The Celebrity Apprentice Host - NBC.co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7730" y="1771219"/>
            <a:ext cx="2694618" cy="2748708"/>
          </a:xfrm>
          <a:prstGeom prst="rect">
            <a:avLst/>
          </a:prstGeom>
          <a:solidFill>
            <a:srgbClr val="ECECEC"/>
          </a:solidFill>
          <a:ln w="88900" cap="sq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63" name="Google Shape;163;p9"/>
          <p:cNvSpPr/>
          <p:nvPr/>
        </p:nvSpPr>
        <p:spPr>
          <a:xfrm>
            <a:off x="807866" y="4611829"/>
            <a:ext cx="2929631" cy="1215048"/>
          </a:xfrm>
          <a:prstGeom prst="roundRect">
            <a:avLst>
              <a:gd name="adj" fmla="val 2971"/>
            </a:avLst>
          </a:prstGeom>
          <a:gradFill flip="none" rotWithShape="1">
            <a:gsLst>
              <a:gs pos="0">
                <a:srgbClr val="92D050">
                  <a:shade val="30000"/>
                  <a:satMod val="115000"/>
                </a:srgbClr>
              </a:gs>
              <a:gs pos="50000">
                <a:srgbClr val="92D050">
                  <a:shade val="67500"/>
                  <a:satMod val="115000"/>
                </a:srgbClr>
              </a:gs>
              <a:gs pos="100000">
                <a:srgbClr val="92D05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solidFill>
              <a:srgbClr val="92D050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 txBox="1"/>
          <p:nvPr/>
        </p:nvSpPr>
        <p:spPr>
          <a:xfrm>
            <a:off x="890685" y="4611829"/>
            <a:ext cx="274870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CL" sz="1600" b="1" dirty="0">
                <a:solidFill>
                  <a:schemeClr val="lt1"/>
                </a:solidFill>
                <a:sym typeface="Arial"/>
              </a:rPr>
              <a:t>“Tu FUTURO se decide por lo que haces HOY,</a:t>
            </a:r>
            <a:r>
              <a:rPr lang="es-CL" sz="1600" b="1" dirty="0">
                <a:solidFill>
                  <a:schemeClr val="lt1"/>
                </a:solidFill>
              </a:rPr>
              <a:t> </a:t>
            </a:r>
            <a:endParaRPr lang="es-CL" sz="1600" dirty="0">
              <a:solidFill>
                <a:schemeClr val="lt1"/>
              </a:solidFill>
            </a:endParaRPr>
          </a:p>
          <a:p>
            <a:pPr marL="0"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dirty="0">
                <a:solidFill>
                  <a:schemeClr val="lt1"/>
                </a:solidFill>
                <a:sym typeface="Arial"/>
              </a:rPr>
              <a:t>no MAÑANA”</a:t>
            </a:r>
            <a:endParaRPr lang="es-CL" sz="1600" dirty="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 descr="Patrón de fond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/>
          <p:nvPr/>
        </p:nvSpPr>
        <p:spPr>
          <a:xfrm>
            <a:off x="-585177" y="3057041"/>
            <a:ext cx="7270376" cy="1045333"/>
          </a:xfrm>
          <a:prstGeom prst="roundRect">
            <a:avLst>
              <a:gd name="adj" fmla="val 9640"/>
            </a:avLst>
          </a:prstGeom>
          <a:gradFill flip="none" rotWithShape="1">
            <a:gsLst>
              <a:gs pos="0">
                <a:srgbClr val="98C340">
                  <a:shade val="30000"/>
                  <a:satMod val="115000"/>
                </a:srgbClr>
              </a:gs>
              <a:gs pos="50000">
                <a:srgbClr val="98C340">
                  <a:shade val="67500"/>
                  <a:satMod val="115000"/>
                </a:srgbClr>
              </a:gs>
              <a:gs pos="100000">
                <a:srgbClr val="98C34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008C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0"/>
          <p:cNvSpPr txBox="1"/>
          <p:nvPr/>
        </p:nvSpPr>
        <p:spPr>
          <a:xfrm>
            <a:off x="2387633" y="2835053"/>
            <a:ext cx="4446644" cy="1489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Dudas y consultas</a:t>
            </a:r>
            <a:endParaRPr lang="es-CL" dirty="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"/>
          <p:cNvSpPr txBox="1"/>
          <p:nvPr/>
        </p:nvSpPr>
        <p:spPr>
          <a:xfrm>
            <a:off x="704850" y="2786424"/>
            <a:ext cx="10782300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Fin de la Sesión</a:t>
            </a:r>
            <a:endParaRPr lang="es-CL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</TotalTime>
  <Words>185</Words>
  <Application>Microsoft Office PowerPoint</Application>
  <PresentationFormat>Panorámica</PresentationFormat>
  <Paragraphs>62</Paragraphs>
  <Slides>13</Slides>
  <Notes>10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4" baseType="lpstr">
      <vt:lpstr>Tema de Office</vt:lpstr>
      <vt:lpstr>Presentación de la sesión</vt:lpstr>
      <vt:lpstr>Repaso y Activación de Conceptos:   “Preparándonos para avanzar”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Cierre de la Sesión</vt:lpstr>
      <vt:lpstr>Recapitulación y Reflexión:   “Lo que hemos aprendido hoy”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la sesión</dc:title>
  <dc:creator>Kibernum</dc:creator>
  <cp:lastModifiedBy>kibernum</cp:lastModifiedBy>
  <cp:revision>72</cp:revision>
  <dcterms:created xsi:type="dcterms:W3CDTF">2023-01-03T12:28:26Z</dcterms:created>
  <dcterms:modified xsi:type="dcterms:W3CDTF">2025-09-26T11:49:49Z</dcterms:modified>
</cp:coreProperties>
</file>