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562" r:id="rId5"/>
    <p:sldId id="739" r:id="rId6"/>
    <p:sldId id="595" r:id="rId7"/>
    <p:sldId id="737" r:id="rId8"/>
    <p:sldId id="738" r:id="rId9"/>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8CAE"/>
    <a:srgbClr val="F6A120"/>
    <a:srgbClr val="98C340"/>
    <a:srgbClr val="FD0075"/>
    <a:srgbClr val="252526"/>
    <a:srgbClr val="383838"/>
    <a:srgbClr val="1E1E1E"/>
    <a:srgbClr val="000000"/>
    <a:srgbClr val="4E7FDE"/>
    <a:srgbClr val="006B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2E3CA2-239B-AEFE-3CBE-272D533183BE}" v="7" dt="2025-09-26T11:50:32.846"/>
  </p1510:revLst>
</p1510:revInfo>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1" autoAdjust="0"/>
    <p:restoredTop sz="96395" autoAdjust="0"/>
  </p:normalViewPr>
  <p:slideViewPr>
    <p:cSldViewPr snapToGrid="0">
      <p:cViewPr varScale="1">
        <p:scale>
          <a:sx n="76" d="100"/>
          <a:sy n="76" d="100"/>
        </p:scale>
        <p:origin x="114" y="3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1C2E3CA2-239B-AEFE-3CBE-272D533183BE}"/>
    <pc:docChg chg="modSld">
      <pc:chgData name="Soraya Salazar" userId="S::soraya.salazar@kibernumacademy.com::fdf00a5c-f577-43dc-8064-9968cad83607" providerId="AD" clId="Web-{1C2E3CA2-239B-AEFE-3CBE-272D533183BE}" dt="2025-09-26T11:50:32.846" v="2"/>
      <pc:docMkLst>
        <pc:docMk/>
      </pc:docMkLst>
      <pc:sldChg chg="delSp modSp">
        <pc:chgData name="Soraya Salazar" userId="S::soraya.salazar@kibernumacademy.com::fdf00a5c-f577-43dc-8064-9968cad83607" providerId="AD" clId="Web-{1C2E3CA2-239B-AEFE-3CBE-272D533183BE}" dt="2025-09-26T11:50:32.846" v="2"/>
        <pc:sldMkLst>
          <pc:docMk/>
          <pc:sldMk cId="1998777028" sldId="562"/>
        </pc:sldMkLst>
        <pc:spChg chg="del">
          <ac:chgData name="Soraya Salazar" userId="S::soraya.salazar@kibernumacademy.com::fdf00a5c-f577-43dc-8064-9968cad83607" providerId="AD" clId="Web-{1C2E3CA2-239B-AEFE-3CBE-272D533183BE}" dt="2025-09-26T11:50:32.846" v="2"/>
          <ac:spMkLst>
            <pc:docMk/>
            <pc:sldMk cId="1998777028" sldId="562"/>
            <ac:spMk id="8" creationId="{00000000-0000-0000-0000-000000000000}"/>
          </ac:spMkLst>
        </pc:spChg>
        <pc:spChg chg="mod">
          <ac:chgData name="Soraya Salazar" userId="S::soraya.salazar@kibernumacademy.com::fdf00a5c-f577-43dc-8064-9968cad83607" providerId="AD" clId="Web-{1C2E3CA2-239B-AEFE-3CBE-272D533183BE}" dt="2025-09-26T11:50:30.486" v="1" actId="20577"/>
          <ac:spMkLst>
            <pc:docMk/>
            <pc:sldMk cId="1998777028" sldId="562"/>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Diagrama&#10;&#10;Descripción generada automáticamente con confianza media">
            <a:extLst>
              <a:ext uri="{FF2B5EF4-FFF2-40B4-BE49-F238E27FC236}">
                <a16:creationId xmlns:a16="http://schemas.microsoft.com/office/drawing/2014/main" id="{02FB8815-80A8-175E-A850-C2084DB0D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37762"/>
          </a:xfrm>
          <a:prstGeom prst="rect">
            <a:avLst/>
          </a:prstGeom>
        </p:spPr>
      </p:pic>
      <p:sp>
        <p:nvSpPr>
          <p:cNvPr id="6" name="Rectangle: Rounded Corners 22">
            <a:extLst>
              <a:ext uri="{FF2B5EF4-FFF2-40B4-BE49-F238E27FC236}">
                <a16:creationId xmlns:a16="http://schemas.microsoft.com/office/drawing/2014/main" id="{100F0B21-F305-84E0-FC1E-67639502205C}"/>
              </a:ext>
            </a:extLst>
          </p:cNvPr>
          <p:cNvSpPr/>
          <p:nvPr/>
        </p:nvSpPr>
        <p:spPr>
          <a:xfrm>
            <a:off x="3994186" y="3805645"/>
            <a:ext cx="7308567" cy="1611086"/>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defPPr>
              <a:defRPr lang="es-ES_tradn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800" b="1" dirty="0"/>
          </a:p>
        </p:txBody>
      </p:sp>
      <p:sp>
        <p:nvSpPr>
          <p:cNvPr id="5" name="Título 1"/>
          <p:cNvSpPr>
            <a:spLocks noGrp="1"/>
          </p:cNvSpPr>
          <p:nvPr>
            <p:ph type="ctrTitle"/>
          </p:nvPr>
        </p:nvSpPr>
        <p:spPr>
          <a:xfrm>
            <a:off x="4214948" y="3888895"/>
            <a:ext cx="7323909" cy="1403036"/>
          </a:xfrm>
        </p:spPr>
        <p:txBody>
          <a:bodyPr rtlCol="0">
            <a:noAutofit/>
          </a:bodyPr>
          <a:lstStyle/>
          <a:p>
            <a:pPr algn="l" eaLnBrk="1" fontAlgn="auto" hangingPunct="1">
              <a:spcAft>
                <a:spcPts val="0"/>
              </a:spcAft>
              <a:defRPr/>
            </a:pPr>
            <a:br>
              <a:rPr lang="es-CL" sz="4800" b="1" dirty="0">
                <a:solidFill>
                  <a:schemeClr val="bg1"/>
                </a:solidFill>
                <a:latin typeface="Arial" panose="020B0604020202020204" pitchFamily="34" charset="0"/>
                <a:cs typeface="Arial" panose="020B0604020202020204" pitchFamily="34" charset="0"/>
              </a:rPr>
            </a:br>
            <a:r>
              <a:rPr lang="es-ES" sz="4800" b="1" dirty="0">
                <a:solidFill>
                  <a:schemeClr val="bg1"/>
                </a:solidFill>
                <a:latin typeface="Arial" panose="020B0604020202020204" pitchFamily="34" charset="0"/>
                <a:cs typeface="Arial" panose="020B0604020202020204" pitchFamily="34" charset="0"/>
              </a:rPr>
              <a:t>Actividad: Distribución de la Muestra </a:t>
            </a:r>
            <a:r>
              <a:rPr lang="es-ES" sz="4800" b="1" dirty="0" err="1">
                <a:solidFill>
                  <a:schemeClr val="bg1"/>
                </a:solidFill>
                <a:latin typeface="Arial" panose="020B0604020202020204" pitchFamily="34" charset="0"/>
                <a:cs typeface="Arial" panose="020B0604020202020204" pitchFamily="34" charset="0"/>
              </a:rPr>
              <a:t>Muestral</a:t>
            </a:r>
            <a:endParaRPr lang="es-ES_tradnl" sz="2800" b="1" dirty="0">
              <a:solidFill>
                <a:schemeClr val="bg1"/>
              </a:solidFill>
              <a:latin typeface="Arial" panose="020B0604020202020204" pitchFamily="34" charset="0"/>
              <a:cs typeface="Arial" panose="020B0604020202020204" pitchFamily="34" charset="0"/>
            </a:endParaRPr>
          </a:p>
        </p:txBody>
      </p:sp>
      <p:sp>
        <p:nvSpPr>
          <p:cNvPr id="9" name="Google Shape;92;p1"/>
          <p:cNvSpPr txBox="1"/>
          <p:nvPr/>
        </p:nvSpPr>
        <p:spPr>
          <a:xfrm>
            <a:off x="4279974" y="3256312"/>
            <a:ext cx="7022779" cy="400069"/>
          </a:xfrm>
          <a:prstGeom prst="rect">
            <a:avLst/>
          </a:prstGeom>
          <a:noFill/>
          <a:ln>
            <a:noFill/>
          </a:ln>
        </p:spPr>
        <p:txBody>
          <a:bodyPr spcFirstLastPara="1" wrap="square" lIns="91425" tIns="45700" rIns="91425" bIns="45700" anchor="t" anchorCtr="0">
            <a:spAutoFit/>
          </a:bodyPr>
          <a:lstStyle/>
          <a:p>
            <a:pPr marL="0" marR="0" lvl="0" indent="0" defTabSz="914400" eaLnBrk="0" fontAlgn="base" latinLnBrk="0" hangingPunct="0">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white"/>
                </a:solidFill>
                <a:effectLst/>
                <a:uLnTx/>
                <a:uFillTx/>
                <a:latin typeface="Arial"/>
                <a:cs typeface="Arial"/>
              </a:rPr>
              <a:t>Inferencia Estadística</a:t>
            </a:r>
            <a:endParaRPr kumimoji="0" sz="2000" b="0" i="0" u="none" strike="noStrike" kern="1200" cap="none" spc="0" normalizeH="0" baseline="0" noProof="0" dirty="0">
              <a:ln>
                <a:noFill/>
              </a:ln>
              <a:solidFill>
                <a:prstClr val="white"/>
              </a:solidFill>
              <a:effectLst/>
              <a:uLnTx/>
              <a:uFillTx/>
              <a:latin typeface="Arial"/>
              <a:ea typeface="Calibri"/>
              <a:cs typeface="Arial"/>
              <a:sym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6662057" y="1209279"/>
            <a:ext cx="4807132" cy="118679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s-ES" sz="3200" dirty="0">
                <a:solidFill>
                  <a:prstClr val="white">
                    <a:lumMod val="50000"/>
                  </a:prstClr>
                </a:solidFill>
                <a:latin typeface="Arial" panose="020B0604020202020204" pitchFamily="34" charset="0"/>
                <a:cs typeface="Arial" panose="020B0604020202020204" pitchFamily="34" charset="0"/>
              </a:rPr>
              <a:t>Actividad: Distribución de la Muestra </a:t>
            </a:r>
            <a:r>
              <a:rPr lang="es-ES" sz="3200" dirty="0" err="1">
                <a:solidFill>
                  <a:prstClr val="white">
                    <a:lumMod val="50000"/>
                  </a:prstClr>
                </a:solidFill>
                <a:latin typeface="Arial" panose="020B0604020202020204" pitchFamily="34" charset="0"/>
                <a:cs typeface="Arial" panose="020B0604020202020204" pitchFamily="34" charset="0"/>
              </a:rPr>
              <a:t>Muestral</a:t>
            </a:r>
            <a:endParaRPr kumimoji="0" lang="es-MX" sz="3200" b="0" i="0" u="none" strike="noStrike" kern="1200" cap="none" spc="0" normalizeH="0" baseline="0" noProof="0" dirty="0">
              <a:ln>
                <a:noFill/>
              </a:ln>
              <a:solidFill>
                <a:prstClr val="white">
                  <a:lumMod val="50000"/>
                </a:prstClr>
              </a:solidFill>
              <a:effectLst/>
              <a:uLnTx/>
              <a:uFillTx/>
              <a:latin typeface="Source Sans Pro" panose="020B0503030403020204" pitchFamily="34" charset="0"/>
              <a:ea typeface="+mj-ea"/>
              <a:cs typeface="+mj-cs"/>
            </a:endParaRPr>
          </a:p>
        </p:txBody>
      </p:sp>
      <p:sp>
        <p:nvSpPr>
          <p:cNvPr id="5" name="Rectángulo redondeado 4">
            <a:extLst>
              <a:ext uri="{FF2B5EF4-FFF2-40B4-BE49-F238E27FC236}">
                <a16:creationId xmlns:a16="http://schemas.microsoft.com/office/drawing/2014/main" id="{F54B704E-F625-E3FA-92EA-8240924D3BF1}"/>
              </a:ext>
            </a:extLst>
          </p:cNvPr>
          <p:cNvSpPr/>
          <p:nvPr/>
        </p:nvSpPr>
        <p:spPr>
          <a:xfrm>
            <a:off x="644757" y="1349553"/>
            <a:ext cx="5311415" cy="4412524"/>
          </a:xfrm>
          <a:prstGeom prst="roundRect">
            <a:avLst>
              <a:gd name="adj" fmla="val 2971"/>
            </a:avLst>
          </a:prstGeom>
          <a:solidFill>
            <a:srgbClr val="7FAEF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6" name="Picture 2" descr="5 técnicas de análisis de datos para la precisión de tus informes">
            <a:extLst>
              <a:ext uri="{FF2B5EF4-FFF2-40B4-BE49-F238E27FC236}">
                <a16:creationId xmlns:a16="http://schemas.microsoft.com/office/drawing/2014/main" id="{2EF599DD-F081-0474-AC33-107E6F0BE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255" y="1802674"/>
            <a:ext cx="4956418" cy="329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0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58443" y="2080279"/>
            <a:ext cx="11341601" cy="3081890"/>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696484" y="2299847"/>
            <a:ext cx="10134426" cy="2862322"/>
          </a:xfrm>
          <a:prstGeom prst="rect">
            <a:avLst/>
          </a:prstGeom>
          <a:noFill/>
          <a:ln>
            <a:noFill/>
          </a:ln>
        </p:spPr>
        <p:txBody>
          <a:bodyPr wrap="square" rtlCol="0">
            <a:spAutoFit/>
          </a:bodyPr>
          <a:lstStyle/>
          <a:p>
            <a:r>
              <a:rPr lang="es-ES" b="1" dirty="0">
                <a:solidFill>
                  <a:schemeClr val="bg1"/>
                </a:solidFill>
                <a:latin typeface="+mn-lt"/>
              </a:rPr>
              <a:t>Grupos de trabajo</a:t>
            </a:r>
          </a:p>
          <a:p>
            <a:pPr marL="285750" indent="-285750">
              <a:buFont typeface="Wingdings" panose="05000000000000000000" pitchFamily="2" charset="2"/>
              <a:buChar char="Ø"/>
            </a:pPr>
            <a:r>
              <a:rPr lang="es-ES" dirty="0">
                <a:solidFill>
                  <a:schemeClr val="bg1"/>
                </a:solidFill>
                <a:latin typeface="+mn-lt"/>
              </a:rPr>
              <a:t>Grupos de 2 personas. (</a:t>
            </a:r>
            <a:r>
              <a:rPr lang="es-ES" dirty="0" err="1">
                <a:solidFill>
                  <a:schemeClr val="bg1"/>
                </a:solidFill>
                <a:latin typeface="+mn-lt"/>
              </a:rPr>
              <a:t>Pair</a:t>
            </a:r>
            <a:r>
              <a:rPr lang="es-ES" dirty="0">
                <a:solidFill>
                  <a:schemeClr val="bg1"/>
                </a:solidFill>
                <a:latin typeface="+mn-lt"/>
              </a:rPr>
              <a:t> </a:t>
            </a:r>
            <a:r>
              <a:rPr lang="es-ES" dirty="0" err="1">
                <a:solidFill>
                  <a:schemeClr val="bg1"/>
                </a:solidFill>
                <a:latin typeface="+mn-lt"/>
              </a:rPr>
              <a:t>programming</a:t>
            </a:r>
            <a:r>
              <a:rPr lang="es-ES" dirty="0">
                <a:solidFill>
                  <a:schemeClr val="bg1"/>
                </a:solidFill>
                <a:latin typeface="+mn-lt"/>
              </a:rPr>
              <a:t>)</a:t>
            </a:r>
          </a:p>
          <a:p>
            <a:endParaRPr lang="es-ES" b="1" dirty="0">
              <a:solidFill>
                <a:schemeClr val="bg1"/>
              </a:solidFill>
              <a:latin typeface="+mn-lt"/>
            </a:endParaRPr>
          </a:p>
          <a:p>
            <a:r>
              <a:rPr lang="es-ES" b="1" dirty="0">
                <a:solidFill>
                  <a:schemeClr val="bg1"/>
                </a:solidFill>
                <a:latin typeface="+mn-lt"/>
              </a:rPr>
              <a:t>Tiempo</a:t>
            </a:r>
          </a:p>
          <a:p>
            <a:pPr marL="285750" indent="-285750">
              <a:buFont typeface="Wingdings" panose="05000000000000000000" pitchFamily="2" charset="2"/>
              <a:buChar char="Ø"/>
            </a:pPr>
            <a:r>
              <a:rPr lang="es-ES" dirty="0">
                <a:solidFill>
                  <a:schemeClr val="bg1"/>
                </a:solidFill>
                <a:latin typeface="+mn-lt"/>
              </a:rPr>
              <a:t>30-40 minutos.</a:t>
            </a:r>
          </a:p>
          <a:p>
            <a:endParaRPr lang="es-ES" b="1" dirty="0">
              <a:solidFill>
                <a:schemeClr val="bg1"/>
              </a:solidFill>
              <a:latin typeface="+mn-lt"/>
            </a:endParaRPr>
          </a:p>
          <a:p>
            <a:r>
              <a:rPr lang="es-ES" b="1" dirty="0">
                <a:solidFill>
                  <a:schemeClr val="bg1"/>
                </a:solidFill>
                <a:latin typeface="+mn-lt"/>
              </a:rPr>
              <a:t>Objetivo</a:t>
            </a:r>
          </a:p>
          <a:p>
            <a:pPr marL="285750" indent="-285750">
              <a:buFont typeface="Wingdings" panose="05000000000000000000" pitchFamily="2" charset="2"/>
              <a:buChar char="Ø"/>
            </a:pPr>
            <a:r>
              <a:rPr lang="es-ES" dirty="0">
                <a:solidFill>
                  <a:schemeClr val="bg1"/>
                </a:solidFill>
                <a:latin typeface="+mn-lt"/>
              </a:rPr>
              <a:t>Aplicar propiedades de probabilidad para resolver un problema simple.</a:t>
            </a:r>
          </a:p>
          <a:p>
            <a:pPr marL="285750" indent="-285750">
              <a:buFont typeface="Wingdings" panose="05000000000000000000" pitchFamily="2" charset="2"/>
              <a:buChar char="Ø"/>
            </a:pPr>
            <a:r>
              <a:rPr lang="es-ES" dirty="0">
                <a:solidFill>
                  <a:schemeClr val="bg1"/>
                </a:solidFill>
                <a:latin typeface="+mn-lt"/>
              </a:rPr>
              <a:t>Aplicar propiedades de las distribuciones de probabilidad discretas.</a:t>
            </a:r>
          </a:p>
          <a:p>
            <a:pPr marL="285750" indent="-285750">
              <a:buFont typeface="Wingdings" panose="05000000000000000000" pitchFamily="2" charset="2"/>
              <a:buChar char="Ø"/>
            </a:pPr>
            <a:endParaRPr lang="es-ES" dirty="0">
              <a:solidFill>
                <a:schemeClr val="bg1"/>
              </a:solidFill>
              <a:latin typeface="Source Sans Pro" panose="020B0503030403020204" pitchFamily="34" charset="0"/>
            </a:endParaRP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696484" y="1298640"/>
            <a:ext cx="10721138" cy="64337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MX" sz="3200" dirty="0">
                <a:solidFill>
                  <a:schemeClr val="bg1">
                    <a:lumMod val="50000"/>
                  </a:schemeClr>
                </a:solidFill>
                <a:latin typeface="Arial" panose="020B0604020202020204" pitchFamily="34" charset="0"/>
                <a:cs typeface="Arial" panose="020B0604020202020204" pitchFamily="34" charset="0"/>
              </a:rPr>
              <a:t>Instrucciones</a:t>
            </a:r>
          </a:p>
        </p:txBody>
      </p:sp>
    </p:spTree>
    <p:extLst>
      <p:ext uri="{BB962C8B-B14F-4D97-AF65-F5344CB8AC3E}">
        <p14:creationId xmlns:p14="http://schemas.microsoft.com/office/powerpoint/2010/main" val="254193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743045" y="1356953"/>
            <a:ext cx="11625381" cy="4529404"/>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272042" y="1577757"/>
            <a:ext cx="10134426" cy="4247317"/>
          </a:xfrm>
          <a:prstGeom prst="rect">
            <a:avLst/>
          </a:prstGeom>
          <a:noFill/>
          <a:ln>
            <a:noFill/>
          </a:ln>
        </p:spPr>
        <p:txBody>
          <a:bodyPr wrap="square" rtlCol="0">
            <a:spAutoFit/>
          </a:bodyPr>
          <a:lstStyle/>
          <a:p>
            <a:pPr algn="just"/>
            <a:r>
              <a:rPr lang="es-ES" b="1" dirty="0">
                <a:solidFill>
                  <a:schemeClr val="bg1"/>
                </a:solidFill>
                <a:latin typeface="+mn-lt"/>
              </a:rPr>
              <a:t>Considere los siguientes enunciados: </a:t>
            </a:r>
          </a:p>
          <a:p>
            <a:pPr algn="just"/>
            <a:endParaRPr lang="es-ES" b="1" dirty="0">
              <a:solidFill>
                <a:schemeClr val="bg1"/>
              </a:solidFill>
              <a:latin typeface="+mn-lt"/>
            </a:endParaRPr>
          </a:p>
          <a:p>
            <a:pPr marL="342900" indent="-342900" algn="just">
              <a:buFont typeface="+mj-lt"/>
              <a:buAutoNum type="arabicPeriod"/>
            </a:pPr>
            <a:r>
              <a:rPr lang="es-ES" dirty="0">
                <a:solidFill>
                  <a:schemeClr val="bg1"/>
                </a:solidFill>
                <a:latin typeface="+mn-lt"/>
              </a:rPr>
              <a:t>La duración media de las bombillas de una determinada marca sigue una distribución normal N(1500,160).</a:t>
            </a:r>
          </a:p>
          <a:p>
            <a:pPr marL="742950" lvl="1" indent="-285750" algn="just">
              <a:buFont typeface="Arial" panose="020B0604020202020204" pitchFamily="34" charset="0"/>
              <a:buChar char="•"/>
            </a:pPr>
            <a:r>
              <a:rPr lang="es-ES" dirty="0">
                <a:solidFill>
                  <a:schemeClr val="bg1"/>
                </a:solidFill>
                <a:latin typeface="+mn-lt"/>
              </a:rPr>
              <a:t>Si escogemos una bombilla al azar, ¿cuál es la probabilidad de que funcione más de 1524 horas?</a:t>
            </a:r>
          </a:p>
          <a:p>
            <a:pPr marL="742950" lvl="1" indent="-285750" algn="just">
              <a:buFont typeface="Arial" panose="020B0604020202020204" pitchFamily="34" charset="0"/>
              <a:buChar char="•"/>
            </a:pPr>
            <a:r>
              <a:rPr lang="es-ES" dirty="0">
                <a:solidFill>
                  <a:schemeClr val="bg1"/>
                </a:solidFill>
                <a:latin typeface="+mn-lt"/>
              </a:rPr>
              <a:t>Si escogemos una muestra de 100 bombillas y calculamos su duración media, ¿cuál es la probabilidad de que sea superior a 1524 horas?</a:t>
            </a:r>
          </a:p>
          <a:p>
            <a:pPr marL="742950" lvl="1" indent="-285750" algn="just">
              <a:buFont typeface="Arial" panose="020B0604020202020204" pitchFamily="34" charset="0"/>
              <a:buChar char="•"/>
            </a:pPr>
            <a:endParaRPr lang="es-ES" dirty="0">
              <a:solidFill>
                <a:schemeClr val="bg1"/>
              </a:solidFill>
              <a:latin typeface="+mn-lt"/>
            </a:endParaRPr>
          </a:p>
          <a:p>
            <a:pPr marL="342900" indent="-342900" algn="just">
              <a:buFont typeface="+mj-lt"/>
              <a:buAutoNum type="arabicPeriod" startAt="2"/>
            </a:pPr>
            <a:r>
              <a:rPr lang="es-ES" dirty="0">
                <a:solidFill>
                  <a:schemeClr val="bg1"/>
                </a:solidFill>
                <a:latin typeface="+mn-lt"/>
              </a:rPr>
              <a:t>Los pesos de las ovejas de una cierta ganadería tienen una media de 50 kg con una desviación típica de 4. Elegimos al azar una muestra aleatoria simple de 100 ovejas. Determina:</a:t>
            </a:r>
          </a:p>
          <a:p>
            <a:pPr marL="742950" lvl="1" indent="-285750" algn="just">
              <a:buFont typeface="Arial" panose="020B0604020202020204" pitchFamily="34" charset="0"/>
              <a:buChar char="•"/>
            </a:pPr>
            <a:r>
              <a:rPr lang="es-ES" dirty="0">
                <a:solidFill>
                  <a:schemeClr val="bg1"/>
                </a:solidFill>
                <a:latin typeface="+mn-lt"/>
              </a:rPr>
              <a:t>La probabilidad de que su media sea superior a 51 kg.</a:t>
            </a:r>
          </a:p>
          <a:p>
            <a:pPr marL="742950" lvl="1" indent="-285750" algn="just">
              <a:buFont typeface="Arial" panose="020B0604020202020204" pitchFamily="34" charset="0"/>
              <a:buChar char="•"/>
            </a:pPr>
            <a:r>
              <a:rPr lang="es-ES" dirty="0">
                <a:solidFill>
                  <a:schemeClr val="bg1"/>
                </a:solidFill>
                <a:latin typeface="+mn-lt"/>
              </a:rPr>
              <a:t>La probabilidad de que su media sea inferior a 56 kg.</a:t>
            </a:r>
          </a:p>
          <a:p>
            <a:pPr marL="742950" lvl="1" indent="-285750" algn="just">
              <a:buFont typeface="Arial" panose="020B0604020202020204" pitchFamily="34" charset="0"/>
              <a:buChar char="•"/>
            </a:pPr>
            <a:r>
              <a:rPr lang="es-ES" dirty="0">
                <a:solidFill>
                  <a:schemeClr val="bg1"/>
                </a:solidFill>
                <a:latin typeface="+mn-lt"/>
              </a:rPr>
              <a:t>La probabilidad de que su media sea superior a 49 kg.</a:t>
            </a:r>
          </a:p>
          <a:p>
            <a:pPr marL="742950" lvl="1" indent="-285750" algn="just">
              <a:buFont typeface="Arial" panose="020B0604020202020204" pitchFamily="34" charset="0"/>
              <a:buChar char="•"/>
            </a:pPr>
            <a:r>
              <a:rPr lang="es-ES" dirty="0">
                <a:solidFill>
                  <a:schemeClr val="bg1"/>
                </a:solidFill>
                <a:latin typeface="+mn-lt"/>
              </a:rPr>
              <a:t>La probabilidad de que su media esté entre 49,5 kg y 50,3 kg.</a:t>
            </a:r>
          </a:p>
          <a:p>
            <a:pPr marL="742950" lvl="1" indent="-285750" algn="just">
              <a:buFont typeface="Arial" panose="020B0604020202020204" pitchFamily="34" charset="0"/>
              <a:buChar char="•"/>
            </a:pPr>
            <a:r>
              <a:rPr lang="es-ES" dirty="0">
                <a:solidFill>
                  <a:schemeClr val="bg1"/>
                </a:solidFill>
                <a:latin typeface="+mn-lt"/>
              </a:rPr>
              <a:t>Interpretar los resultados obtenidos.</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272042" y="484963"/>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¿En qué consiste la actividad?</a:t>
            </a:r>
            <a:endParaRPr lang="es-MX" sz="32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566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6"/>
          <p:cNvSpPr/>
          <p:nvPr/>
        </p:nvSpPr>
        <p:spPr>
          <a:xfrm>
            <a:off x="1357459" y="754144"/>
            <a:ext cx="5599522" cy="5263123"/>
          </a:xfrm>
          <a:prstGeom prst="roundRect">
            <a:avLst>
              <a:gd name="adj" fmla="val 2971"/>
            </a:avLst>
          </a:prstGeom>
          <a:solidFill>
            <a:schemeClr val="bg1"/>
          </a:solidFill>
          <a:ln w="28575">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ángulo redondeado 5"/>
          <p:cNvSpPr/>
          <p:nvPr/>
        </p:nvSpPr>
        <p:spPr>
          <a:xfrm>
            <a:off x="7303304" y="2590254"/>
            <a:ext cx="4920343" cy="1590900"/>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3980" y="1051873"/>
            <a:ext cx="5106479" cy="4667663"/>
          </a:xfrm>
          <a:prstGeom prst="rect">
            <a:avLst/>
          </a:prstGeom>
          <a:solidFill>
            <a:schemeClr val="bg1"/>
          </a:solidFill>
        </p:spPr>
      </p:pic>
      <p:sp>
        <p:nvSpPr>
          <p:cNvPr id="5" name="Título 4"/>
          <p:cNvSpPr>
            <a:spLocks noGrp="1"/>
          </p:cNvSpPr>
          <p:nvPr>
            <p:ph type="title"/>
          </p:nvPr>
        </p:nvSpPr>
        <p:spPr>
          <a:xfrm>
            <a:off x="8145409" y="3062538"/>
            <a:ext cx="1983377" cy="646331"/>
          </a:xfrm>
          <a:prstGeom prst="rect">
            <a:avLst/>
          </a:prstGeom>
        </p:spPr>
        <p:txBody>
          <a:bodyPr wrap="square">
            <a:spAutoFit/>
          </a:bodyPr>
          <a:lstStyle/>
          <a:p>
            <a:pPr algn="just"/>
            <a:r>
              <a:rPr lang="es-CL" sz="4000" dirty="0">
                <a:solidFill>
                  <a:schemeClr val="bg1"/>
                </a:solidFill>
                <a:latin typeface="Arial" panose="020B0604020202020204" pitchFamily="34" charset="0"/>
                <a:cs typeface="Arial" panose="020B0604020202020204" pitchFamily="34" charset="0"/>
              </a:rPr>
              <a:t>¡Éxito!</a:t>
            </a:r>
            <a:endParaRPr lang="en-US" sz="4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832680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26BDBF-E58D-4DAC-8738-D11056BF4C72}">
  <ds:schemaRefs>
    <ds:schemaRef ds:uri="http://purl.org/dc/terms/"/>
    <ds:schemaRef ds:uri="470d2f17-52cb-407b-8136-5e632d1cee08"/>
    <ds:schemaRef ds:uri="http://schemas.microsoft.com/office/infopath/2007/PartnerControls"/>
    <ds:schemaRef ds:uri="http://purl.org/dc/elements/1.1/"/>
    <ds:schemaRef ds:uri="http://schemas.microsoft.com/office/2006/documentManagement/types"/>
    <ds:schemaRef ds:uri="6171001b-fa9d-409b-8713-8b6a17935d68"/>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89B05674-0616-4E66-A9FD-3C514085E5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8189</TotalTime>
  <Words>219</Words>
  <Application>Microsoft Office PowerPoint</Application>
  <PresentationFormat>Panorámica</PresentationFormat>
  <Paragraphs>29</Paragraphs>
  <Slides>5</Slides>
  <Notes>0</Notes>
  <HiddenSlides>0</HiddenSlides>
  <MMClips>0</MMClips>
  <ScaleCrop>false</ScaleCrop>
  <HeadingPairs>
    <vt:vector size="4" baseType="variant">
      <vt:variant>
        <vt:lpstr>Tema</vt:lpstr>
      </vt:variant>
      <vt:variant>
        <vt:i4>1</vt:i4>
      </vt:variant>
      <vt:variant>
        <vt:lpstr>Títulos de diapositiva</vt:lpstr>
      </vt:variant>
      <vt:variant>
        <vt:i4>5</vt:i4>
      </vt:variant>
    </vt:vector>
  </HeadingPairs>
  <TitlesOfParts>
    <vt:vector size="6" baseType="lpstr">
      <vt:lpstr>Tema de Office</vt:lpstr>
      <vt:lpstr> Actividad: Distribución de la Muestra Muestral</vt:lpstr>
      <vt:lpstr>Presentación de PowerPoint</vt:lpstr>
      <vt:lpstr>Presentación de PowerPoint</vt:lpstr>
      <vt:lpstr>Presentación de PowerPoint</vt:lpstr>
      <vt:lpstr>¡Éxito!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kibernum</cp:lastModifiedBy>
  <cp:revision>245</cp:revision>
  <dcterms:created xsi:type="dcterms:W3CDTF">2023-01-03T12:28:26Z</dcterms:created>
  <dcterms:modified xsi:type="dcterms:W3CDTF">2025-09-26T11:50:35Z</dcterms:modified>
</cp:coreProperties>
</file>