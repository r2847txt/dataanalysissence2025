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60" r:id="rId2"/>
  </p:sldMasterIdLst>
  <p:notesMasterIdLst>
    <p:notesMasterId r:id="rId24"/>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gvLw8weh9T4W+Iqvgfiw8max+70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31C837E-51C4-4956-78F5-E96B51E17683}" v="4" dt="2025-10-06T17:31:48.35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33" Type="http://schemas.microsoft.com/office/2015/10/relationships/revisionInfo" Target="revisionInfo.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notesMaster" Target="notesMasters/notesMaster1.xml"/><Relationship Id="rId32" Type="http://schemas.microsoft.com/office/2016/11/relationships/changesInfo" Target="changesInfos/changesInfo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customschemas.google.com/relationships/presentationmetadata" Target="meta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oraya Salazar" userId="S::soraya.salazar@kibernumacademy.com::fdf00a5c-f577-43dc-8064-9968cad83607" providerId="AD" clId="Web-{B31C837E-51C4-4956-78F5-E96B51E17683}"/>
    <pc:docChg chg="modSld">
      <pc:chgData name="Soraya Salazar" userId="S::soraya.salazar@kibernumacademy.com::fdf00a5c-f577-43dc-8064-9968cad83607" providerId="AD" clId="Web-{B31C837E-51C4-4956-78F5-E96B51E17683}" dt="2025-10-06T17:31:48.336" v="2" actId="20577"/>
      <pc:docMkLst>
        <pc:docMk/>
      </pc:docMkLst>
      <pc:sldChg chg="modSp">
        <pc:chgData name="Soraya Salazar" userId="S::soraya.salazar@kibernumacademy.com::fdf00a5c-f577-43dc-8064-9968cad83607" providerId="AD" clId="Web-{B31C837E-51C4-4956-78F5-E96B51E17683}" dt="2025-10-06T17:31:48.336" v="2" actId="20577"/>
        <pc:sldMkLst>
          <pc:docMk/>
          <pc:sldMk cId="0" sldId="256"/>
        </pc:sldMkLst>
        <pc:spChg chg="mod">
          <ac:chgData name="Soraya Salazar" userId="S::soraya.salazar@kibernumacademy.com::fdf00a5c-f577-43dc-8064-9968cad83607" providerId="AD" clId="Web-{B31C837E-51C4-4956-78F5-E96B51E17683}" dt="2025-10-06T17:31:48.336" v="2" actId="20577"/>
          <ac:spMkLst>
            <pc:docMk/>
            <pc:sldMk cId="0" sldId="256"/>
            <ac:spMk id="166"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s-ES"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61" name="Google Shape;161;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69" name="Google Shape;169;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75" name="Google Shape;175;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85" name="Google Shape;185;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91" name="Google Shape;191;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01" name="Google Shape;201;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10" name="Google Shape;210;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17" name="Google Shape;217;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26" name="Google Shape;226;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34" name="Google Shape;234;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43" name="Google Shape;243;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2" name="Google Shape;252;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61" name="Google Shape;261;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70" name="Google Shape;270;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79" name="Google Shape;279;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88" name="Google Shape;288;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97" name="Google Shape;297;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06" name="Google Shape;306;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17" name="Google Shape;317;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23" name="Google Shape;323;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29" name="Google Shape;329;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15"/>
        <p:cNvGrpSpPr/>
        <p:nvPr/>
      </p:nvGrpSpPr>
      <p:grpSpPr>
        <a:xfrm>
          <a:off x="0" y="0"/>
          <a:ext cx="0" cy="0"/>
          <a:chOff x="0" y="0"/>
          <a:chExt cx="0" cy="0"/>
        </a:xfrm>
      </p:grpSpPr>
      <p:sp>
        <p:nvSpPr>
          <p:cNvPr id="16" name="Google Shape;16;p23"/>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7" name="Google Shape;17;p23"/>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b="0" i="0" u="none" strike="noStrike" cap="none">
                <a:solidFill>
                  <a:srgbClr val="898989"/>
                </a:solidFill>
                <a:latin typeface="Calibri"/>
                <a:ea typeface="Calibri"/>
                <a:cs typeface="Calibri"/>
                <a:sym typeface="Calibri"/>
              </a:defRPr>
            </a:lvl1pPr>
            <a:lvl2pPr marL="0" lvl="1" indent="0" algn="r">
              <a:spcBef>
                <a:spcPts val="0"/>
              </a:spcBef>
              <a:spcAft>
                <a:spcPts val="0"/>
              </a:spcAft>
              <a:buNone/>
              <a:defRPr sz="1200" b="0" i="0" u="none" strike="noStrike" cap="none">
                <a:solidFill>
                  <a:srgbClr val="898989"/>
                </a:solidFill>
                <a:latin typeface="Calibri"/>
                <a:ea typeface="Calibri"/>
                <a:cs typeface="Calibri"/>
                <a:sym typeface="Calibri"/>
              </a:defRPr>
            </a:lvl2pPr>
            <a:lvl3pPr marL="0" lvl="2" indent="0" algn="r">
              <a:spcBef>
                <a:spcPts val="0"/>
              </a:spcBef>
              <a:spcAft>
                <a:spcPts val="0"/>
              </a:spcAft>
              <a:buNone/>
              <a:defRPr sz="1200" b="0" i="0" u="none" strike="noStrike" cap="none">
                <a:solidFill>
                  <a:srgbClr val="898989"/>
                </a:solidFill>
                <a:latin typeface="Calibri"/>
                <a:ea typeface="Calibri"/>
                <a:cs typeface="Calibri"/>
                <a:sym typeface="Calibri"/>
              </a:defRPr>
            </a:lvl3pPr>
            <a:lvl4pPr marL="0" lvl="3" indent="0" algn="r">
              <a:spcBef>
                <a:spcPts val="0"/>
              </a:spcBef>
              <a:spcAft>
                <a:spcPts val="0"/>
              </a:spcAft>
              <a:buNone/>
              <a:defRPr sz="1200" b="0" i="0" u="none" strike="noStrike" cap="none">
                <a:solidFill>
                  <a:srgbClr val="898989"/>
                </a:solidFill>
                <a:latin typeface="Calibri"/>
                <a:ea typeface="Calibri"/>
                <a:cs typeface="Calibri"/>
                <a:sym typeface="Calibri"/>
              </a:defRPr>
            </a:lvl4pPr>
            <a:lvl5pPr marL="0" lvl="4" indent="0" algn="r">
              <a:spcBef>
                <a:spcPts val="0"/>
              </a:spcBef>
              <a:spcAft>
                <a:spcPts val="0"/>
              </a:spcAft>
              <a:buNone/>
              <a:defRPr sz="1200" b="0" i="0" u="none" strike="noStrike" cap="none">
                <a:solidFill>
                  <a:srgbClr val="898989"/>
                </a:solidFill>
                <a:latin typeface="Calibri"/>
                <a:ea typeface="Calibri"/>
                <a:cs typeface="Calibri"/>
                <a:sym typeface="Calibri"/>
              </a:defRPr>
            </a:lvl5pPr>
            <a:lvl6pPr marL="0" lvl="5" indent="0" algn="r">
              <a:spcBef>
                <a:spcPts val="0"/>
              </a:spcBef>
              <a:spcAft>
                <a:spcPts val="0"/>
              </a:spcAft>
              <a:buNone/>
              <a:defRPr sz="1200" b="0" i="0" u="none" strike="noStrike" cap="none">
                <a:solidFill>
                  <a:srgbClr val="898989"/>
                </a:solidFill>
                <a:latin typeface="Calibri"/>
                <a:ea typeface="Calibri"/>
                <a:cs typeface="Calibri"/>
                <a:sym typeface="Calibri"/>
              </a:defRPr>
            </a:lvl6pPr>
            <a:lvl7pPr marL="0" lvl="6" indent="0" algn="r">
              <a:spcBef>
                <a:spcPts val="0"/>
              </a:spcBef>
              <a:spcAft>
                <a:spcPts val="0"/>
              </a:spcAft>
              <a:buNone/>
              <a:defRPr sz="1200" b="0" i="0" u="none" strike="noStrike" cap="none">
                <a:solidFill>
                  <a:srgbClr val="898989"/>
                </a:solidFill>
                <a:latin typeface="Calibri"/>
                <a:ea typeface="Calibri"/>
                <a:cs typeface="Calibri"/>
                <a:sym typeface="Calibri"/>
              </a:defRPr>
            </a:lvl7pPr>
            <a:lvl8pPr marL="0" lvl="7" indent="0" algn="r">
              <a:spcBef>
                <a:spcPts val="0"/>
              </a:spcBef>
              <a:spcAft>
                <a:spcPts val="0"/>
              </a:spcAft>
              <a:buNone/>
              <a:defRPr sz="1200" b="0" i="0" u="none" strike="noStrike" cap="none">
                <a:solidFill>
                  <a:srgbClr val="898989"/>
                </a:solidFill>
                <a:latin typeface="Calibri"/>
                <a:ea typeface="Calibri"/>
                <a:cs typeface="Calibri"/>
                <a:sym typeface="Calibri"/>
              </a:defRPr>
            </a:lvl8pPr>
            <a:lvl9pPr marL="0" lvl="8" indent="0" algn="r">
              <a:spcBef>
                <a:spcPts val="0"/>
              </a:spcBef>
              <a:spcAft>
                <a:spcPts val="0"/>
              </a:spcAft>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21"/>
        <p:cNvGrpSpPr/>
        <p:nvPr/>
      </p:nvGrpSpPr>
      <p:grpSpPr>
        <a:xfrm>
          <a:off x="0" y="0"/>
          <a:ext cx="0" cy="0"/>
          <a:chOff x="0" y="0"/>
          <a:chExt cx="0" cy="0"/>
        </a:xfrm>
      </p:grpSpPr>
      <p:sp>
        <p:nvSpPr>
          <p:cNvPr id="22" name="Google Shape;22;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3" name="Google Shape;23;p2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27"/>
        <p:cNvGrpSpPr/>
        <p:nvPr/>
      </p:nvGrpSpPr>
      <p:grpSpPr>
        <a:xfrm>
          <a:off x="0" y="0"/>
          <a:ext cx="0" cy="0"/>
          <a:chOff x="0" y="0"/>
          <a:chExt cx="0" cy="0"/>
        </a:xfrm>
      </p:grpSpPr>
      <p:sp>
        <p:nvSpPr>
          <p:cNvPr id="28" name="Google Shape;28;p2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9" name="Google Shape;29;p2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33"/>
        <p:cNvGrpSpPr/>
        <p:nvPr/>
      </p:nvGrpSpPr>
      <p:grpSpPr>
        <a:xfrm>
          <a:off x="0" y="0"/>
          <a:ext cx="0" cy="0"/>
          <a:chOff x="0" y="0"/>
          <a:chExt cx="0" cy="0"/>
        </a:xfrm>
      </p:grpSpPr>
      <p:sp>
        <p:nvSpPr>
          <p:cNvPr id="34" name="Google Shape;34;p2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35" name="Google Shape;35;p2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2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40"/>
        <p:cNvGrpSpPr/>
        <p:nvPr/>
      </p:nvGrpSpPr>
      <p:grpSpPr>
        <a:xfrm>
          <a:off x="0" y="0"/>
          <a:ext cx="0" cy="0"/>
          <a:chOff x="0" y="0"/>
          <a:chExt cx="0" cy="0"/>
        </a:xfrm>
      </p:grpSpPr>
      <p:sp>
        <p:nvSpPr>
          <p:cNvPr id="41" name="Google Shape;41;p2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42" name="Google Shape;42;p2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2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2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2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49"/>
        <p:cNvGrpSpPr/>
        <p:nvPr/>
      </p:nvGrpSpPr>
      <p:grpSpPr>
        <a:xfrm>
          <a:off x="0" y="0"/>
          <a:ext cx="0" cy="0"/>
          <a:chOff x="0" y="0"/>
          <a:chExt cx="0" cy="0"/>
        </a:xfrm>
      </p:grpSpPr>
      <p:sp>
        <p:nvSpPr>
          <p:cNvPr id="50" name="Google Shape;50;p3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51" name="Google Shape;51;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54"/>
        <p:cNvGrpSpPr/>
        <p:nvPr/>
      </p:nvGrpSpPr>
      <p:grpSpPr>
        <a:xfrm>
          <a:off x="0" y="0"/>
          <a:ext cx="0" cy="0"/>
          <a:chOff x="0" y="0"/>
          <a:chExt cx="0" cy="0"/>
        </a:xfrm>
      </p:grpSpPr>
      <p:sp>
        <p:nvSpPr>
          <p:cNvPr id="55" name="Google Shape;55;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58"/>
        <p:cNvGrpSpPr/>
        <p:nvPr/>
      </p:nvGrpSpPr>
      <p:grpSpPr>
        <a:xfrm>
          <a:off x="0" y="0"/>
          <a:ext cx="0" cy="0"/>
          <a:chOff x="0" y="0"/>
          <a:chExt cx="0" cy="0"/>
        </a:xfrm>
      </p:grpSpPr>
      <p:sp>
        <p:nvSpPr>
          <p:cNvPr id="59" name="Google Shape;59;p3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60" name="Google Shape;60;p3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3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65"/>
        <p:cNvGrpSpPr/>
        <p:nvPr/>
      </p:nvGrpSpPr>
      <p:grpSpPr>
        <a:xfrm>
          <a:off x="0" y="0"/>
          <a:ext cx="0" cy="0"/>
          <a:chOff x="0" y="0"/>
          <a:chExt cx="0" cy="0"/>
        </a:xfrm>
      </p:grpSpPr>
      <p:sp>
        <p:nvSpPr>
          <p:cNvPr id="66" name="Google Shape;66;p3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67" name="Google Shape;67;p33"/>
          <p:cNvSpPr>
            <a:spLocks noGrp="1"/>
          </p:cNvSpPr>
          <p:nvPr>
            <p:ph type="pic" idx="2"/>
          </p:nvPr>
        </p:nvSpPr>
        <p:spPr>
          <a:xfrm>
            <a:off x="5183188" y="987425"/>
            <a:ext cx="6172200" cy="4873625"/>
          </a:xfrm>
          <a:prstGeom prst="rect">
            <a:avLst/>
          </a:prstGeom>
          <a:noFill/>
          <a:ln>
            <a:noFill/>
          </a:ln>
        </p:spPr>
      </p:sp>
      <p:sp>
        <p:nvSpPr>
          <p:cNvPr id="68" name="Google Shape;68;p3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3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3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72"/>
        <p:cNvGrpSpPr/>
        <p:nvPr/>
      </p:nvGrpSpPr>
      <p:grpSpPr>
        <a:xfrm>
          <a:off x="0" y="0"/>
          <a:ext cx="0" cy="0"/>
          <a:chOff x="0" y="0"/>
          <a:chExt cx="0" cy="0"/>
        </a:xfrm>
      </p:grpSpPr>
      <p:sp>
        <p:nvSpPr>
          <p:cNvPr id="73" name="Google Shape;73;p3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74" name="Google Shape;74;p3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3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3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3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78"/>
        <p:cNvGrpSpPr/>
        <p:nvPr/>
      </p:nvGrpSpPr>
      <p:grpSpPr>
        <a:xfrm>
          <a:off x="0" y="0"/>
          <a:ext cx="0" cy="0"/>
          <a:chOff x="0" y="0"/>
          <a:chExt cx="0" cy="0"/>
        </a:xfrm>
      </p:grpSpPr>
      <p:sp>
        <p:nvSpPr>
          <p:cNvPr id="79" name="Google Shape;79;p3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80" name="Google Shape;80;p3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3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3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3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90"/>
        <p:cNvGrpSpPr/>
        <p:nvPr/>
      </p:nvGrpSpPr>
      <p:grpSpPr>
        <a:xfrm>
          <a:off x="0" y="0"/>
          <a:ext cx="0" cy="0"/>
          <a:chOff x="0" y="0"/>
          <a:chExt cx="0" cy="0"/>
        </a:xfrm>
      </p:grpSpPr>
      <p:sp>
        <p:nvSpPr>
          <p:cNvPr id="91" name="Google Shape;91;p2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92" name="Google Shape;92;p2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3" name="Google Shape;93;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96"/>
        <p:cNvGrpSpPr/>
        <p:nvPr/>
      </p:nvGrpSpPr>
      <p:grpSpPr>
        <a:xfrm>
          <a:off x="0" y="0"/>
          <a:ext cx="0" cy="0"/>
          <a:chOff x="0" y="0"/>
          <a:chExt cx="0" cy="0"/>
        </a:xfrm>
      </p:grpSpPr>
      <p:sp>
        <p:nvSpPr>
          <p:cNvPr id="97" name="Google Shape;97;p36"/>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98" name="Google Shape;98;p36"/>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99" name="Google Shape;99;p3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0" name="Google Shape;100;p3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1" name="Google Shape;101;p3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102"/>
        <p:cNvGrpSpPr/>
        <p:nvPr/>
      </p:nvGrpSpPr>
      <p:grpSpPr>
        <a:xfrm>
          <a:off x="0" y="0"/>
          <a:ext cx="0" cy="0"/>
          <a:chOff x="0" y="0"/>
          <a:chExt cx="0" cy="0"/>
        </a:xfrm>
      </p:grpSpPr>
      <p:sp>
        <p:nvSpPr>
          <p:cNvPr id="103" name="Google Shape;103;p3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04" name="Google Shape;104;p3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105" name="Google Shape;105;p3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6" name="Google Shape;106;p3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7" name="Google Shape;107;p3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108"/>
        <p:cNvGrpSpPr/>
        <p:nvPr/>
      </p:nvGrpSpPr>
      <p:grpSpPr>
        <a:xfrm>
          <a:off x="0" y="0"/>
          <a:ext cx="0" cy="0"/>
          <a:chOff x="0" y="0"/>
          <a:chExt cx="0" cy="0"/>
        </a:xfrm>
      </p:grpSpPr>
      <p:sp>
        <p:nvSpPr>
          <p:cNvPr id="109" name="Google Shape;109;p3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10" name="Google Shape;110;p3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1" name="Google Shape;111;p3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2" name="Google Shape;112;p3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3" name="Google Shape;113;p3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4" name="Google Shape;114;p3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115"/>
        <p:cNvGrpSpPr/>
        <p:nvPr/>
      </p:nvGrpSpPr>
      <p:grpSpPr>
        <a:xfrm>
          <a:off x="0" y="0"/>
          <a:ext cx="0" cy="0"/>
          <a:chOff x="0" y="0"/>
          <a:chExt cx="0" cy="0"/>
        </a:xfrm>
      </p:grpSpPr>
      <p:sp>
        <p:nvSpPr>
          <p:cNvPr id="116" name="Google Shape;116;p3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17" name="Google Shape;117;p3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18" name="Google Shape;118;p3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9" name="Google Shape;119;p3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20" name="Google Shape;120;p3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1" name="Google Shape;121;p3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2" name="Google Shape;122;p3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3" name="Google Shape;123;p3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124"/>
        <p:cNvGrpSpPr/>
        <p:nvPr/>
      </p:nvGrpSpPr>
      <p:grpSpPr>
        <a:xfrm>
          <a:off x="0" y="0"/>
          <a:ext cx="0" cy="0"/>
          <a:chOff x="0" y="0"/>
          <a:chExt cx="0" cy="0"/>
        </a:xfrm>
      </p:grpSpPr>
      <p:sp>
        <p:nvSpPr>
          <p:cNvPr id="125" name="Google Shape;125;p4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26" name="Google Shape;126;p4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7" name="Google Shape;127;p4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8" name="Google Shape;128;p4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129"/>
        <p:cNvGrpSpPr/>
        <p:nvPr/>
      </p:nvGrpSpPr>
      <p:grpSpPr>
        <a:xfrm>
          <a:off x="0" y="0"/>
          <a:ext cx="0" cy="0"/>
          <a:chOff x="0" y="0"/>
          <a:chExt cx="0" cy="0"/>
        </a:xfrm>
      </p:grpSpPr>
      <p:sp>
        <p:nvSpPr>
          <p:cNvPr id="130" name="Google Shape;130;p4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1" name="Google Shape;131;p4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2" name="Google Shape;132;p4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133"/>
        <p:cNvGrpSpPr/>
        <p:nvPr/>
      </p:nvGrpSpPr>
      <p:grpSpPr>
        <a:xfrm>
          <a:off x="0" y="0"/>
          <a:ext cx="0" cy="0"/>
          <a:chOff x="0" y="0"/>
          <a:chExt cx="0" cy="0"/>
        </a:xfrm>
      </p:grpSpPr>
      <p:sp>
        <p:nvSpPr>
          <p:cNvPr id="134" name="Google Shape;134;p4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35" name="Google Shape;135;p4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136" name="Google Shape;136;p4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37" name="Google Shape;137;p4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8" name="Google Shape;138;p4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9" name="Google Shape;139;p4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140"/>
        <p:cNvGrpSpPr/>
        <p:nvPr/>
      </p:nvGrpSpPr>
      <p:grpSpPr>
        <a:xfrm>
          <a:off x="0" y="0"/>
          <a:ext cx="0" cy="0"/>
          <a:chOff x="0" y="0"/>
          <a:chExt cx="0" cy="0"/>
        </a:xfrm>
      </p:grpSpPr>
      <p:sp>
        <p:nvSpPr>
          <p:cNvPr id="141" name="Google Shape;141;p4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42" name="Google Shape;142;p43"/>
          <p:cNvSpPr>
            <a:spLocks noGrp="1"/>
          </p:cNvSpPr>
          <p:nvPr>
            <p:ph type="pic" idx="2"/>
          </p:nvPr>
        </p:nvSpPr>
        <p:spPr>
          <a:xfrm>
            <a:off x="5183188" y="987425"/>
            <a:ext cx="6172200" cy="4873625"/>
          </a:xfrm>
          <a:prstGeom prst="rect">
            <a:avLst/>
          </a:prstGeom>
          <a:noFill/>
          <a:ln>
            <a:noFill/>
          </a:ln>
        </p:spPr>
      </p:sp>
      <p:sp>
        <p:nvSpPr>
          <p:cNvPr id="143" name="Google Shape;143;p4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44" name="Google Shape;144;p4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5" name="Google Shape;145;p4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6" name="Google Shape;146;p4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147"/>
        <p:cNvGrpSpPr/>
        <p:nvPr/>
      </p:nvGrpSpPr>
      <p:grpSpPr>
        <a:xfrm>
          <a:off x="0" y="0"/>
          <a:ext cx="0" cy="0"/>
          <a:chOff x="0" y="0"/>
          <a:chExt cx="0" cy="0"/>
        </a:xfrm>
      </p:grpSpPr>
      <p:sp>
        <p:nvSpPr>
          <p:cNvPr id="148" name="Google Shape;148;p4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49" name="Google Shape;149;p4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0" name="Google Shape;150;p4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1" name="Google Shape;151;p4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2" name="Google Shape;152;p4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153"/>
        <p:cNvGrpSpPr/>
        <p:nvPr/>
      </p:nvGrpSpPr>
      <p:grpSpPr>
        <a:xfrm>
          <a:off x="0" y="0"/>
          <a:ext cx="0" cy="0"/>
          <a:chOff x="0" y="0"/>
          <a:chExt cx="0" cy="0"/>
        </a:xfrm>
      </p:grpSpPr>
      <p:sp>
        <p:nvSpPr>
          <p:cNvPr id="154" name="Google Shape;154;p4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55" name="Google Shape;155;p4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6" name="Google Shape;156;p4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7" name="Google Shape;157;p4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8" name="Google Shape;158;p4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2.jp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3">
            <a:alphaModFix/>
          </a:blip>
          <a:stretch>
            <a:fillRect/>
          </a:stretch>
        </a:blipFill>
        <a:effectLst/>
      </p:bgPr>
    </p:bg>
    <p:spTree>
      <p:nvGrpSpPr>
        <p:cNvPr id="1" name="Shape 9"/>
        <p:cNvGrpSpPr/>
        <p:nvPr/>
      </p:nvGrpSpPr>
      <p:grpSpPr>
        <a:xfrm>
          <a:off x="0" y="0"/>
          <a:ext cx="0" cy="0"/>
          <a:chOff x="0" y="0"/>
          <a:chExt cx="0" cy="0"/>
        </a:xfrm>
      </p:grpSpPr>
      <p:sp>
        <p:nvSpPr>
          <p:cNvPr id="10" name="Google Shape;10;p2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11" name="Google Shape;11;p2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None/>
              <a:defRPr sz="1200" b="0" i="0" u="none" strike="noStrike" cap="none">
                <a:solidFill>
                  <a:srgbClr val="898989"/>
                </a:solidFill>
                <a:latin typeface="Calibri"/>
                <a:ea typeface="Calibri"/>
                <a:cs typeface="Calibri"/>
                <a:sym typeface="Calibri"/>
              </a:defRPr>
            </a:lvl1pPr>
            <a:lvl2pPr marL="0" marR="0" lvl="1" indent="0" algn="r" rtl="0">
              <a:spcBef>
                <a:spcPts val="0"/>
              </a:spcBef>
              <a:spcAft>
                <a:spcPts val="0"/>
              </a:spcAft>
              <a:buNone/>
              <a:defRPr sz="1200" b="0" i="0" u="none" strike="noStrike" cap="none">
                <a:solidFill>
                  <a:srgbClr val="898989"/>
                </a:solidFill>
                <a:latin typeface="Calibri"/>
                <a:ea typeface="Calibri"/>
                <a:cs typeface="Calibri"/>
                <a:sym typeface="Calibri"/>
              </a:defRPr>
            </a:lvl2pPr>
            <a:lvl3pPr marL="0" marR="0" lvl="2" indent="0" algn="r" rtl="0">
              <a:spcBef>
                <a:spcPts val="0"/>
              </a:spcBef>
              <a:spcAft>
                <a:spcPts val="0"/>
              </a:spcAft>
              <a:buNone/>
              <a:defRPr sz="1200" b="0" i="0" u="none" strike="noStrike" cap="none">
                <a:solidFill>
                  <a:srgbClr val="898989"/>
                </a:solidFill>
                <a:latin typeface="Calibri"/>
                <a:ea typeface="Calibri"/>
                <a:cs typeface="Calibri"/>
                <a:sym typeface="Calibri"/>
              </a:defRPr>
            </a:lvl3pPr>
            <a:lvl4pPr marL="0" marR="0" lvl="3" indent="0" algn="r" rtl="0">
              <a:spcBef>
                <a:spcPts val="0"/>
              </a:spcBef>
              <a:spcAft>
                <a:spcPts val="0"/>
              </a:spcAft>
              <a:buNone/>
              <a:defRPr sz="1200" b="0" i="0" u="none" strike="noStrike" cap="none">
                <a:solidFill>
                  <a:srgbClr val="898989"/>
                </a:solidFill>
                <a:latin typeface="Calibri"/>
                <a:ea typeface="Calibri"/>
                <a:cs typeface="Calibri"/>
                <a:sym typeface="Calibri"/>
              </a:defRPr>
            </a:lvl4pPr>
            <a:lvl5pPr marL="0" marR="0" lvl="4" indent="0" algn="r" rtl="0">
              <a:spcBef>
                <a:spcPts val="0"/>
              </a:spcBef>
              <a:spcAft>
                <a:spcPts val="0"/>
              </a:spcAft>
              <a:buNone/>
              <a:defRPr sz="1200" b="0" i="0" u="none" strike="noStrike" cap="none">
                <a:solidFill>
                  <a:srgbClr val="898989"/>
                </a:solidFill>
                <a:latin typeface="Calibri"/>
                <a:ea typeface="Calibri"/>
                <a:cs typeface="Calibri"/>
                <a:sym typeface="Calibri"/>
              </a:defRPr>
            </a:lvl5pPr>
            <a:lvl6pPr marL="0" marR="0" lvl="5" indent="0" algn="r" rtl="0">
              <a:spcBef>
                <a:spcPts val="0"/>
              </a:spcBef>
              <a:spcAft>
                <a:spcPts val="0"/>
              </a:spcAft>
              <a:buNone/>
              <a:defRPr sz="1200" b="0" i="0" u="none" strike="noStrike" cap="none">
                <a:solidFill>
                  <a:srgbClr val="898989"/>
                </a:solidFill>
                <a:latin typeface="Calibri"/>
                <a:ea typeface="Calibri"/>
                <a:cs typeface="Calibri"/>
                <a:sym typeface="Calibri"/>
              </a:defRPr>
            </a:lvl6pPr>
            <a:lvl7pPr marL="0" marR="0" lvl="6" indent="0" algn="r" rtl="0">
              <a:spcBef>
                <a:spcPts val="0"/>
              </a:spcBef>
              <a:spcAft>
                <a:spcPts val="0"/>
              </a:spcAft>
              <a:buNone/>
              <a:defRPr sz="1200" b="0" i="0" u="none" strike="noStrike" cap="none">
                <a:solidFill>
                  <a:srgbClr val="898989"/>
                </a:solidFill>
                <a:latin typeface="Calibri"/>
                <a:ea typeface="Calibri"/>
                <a:cs typeface="Calibri"/>
                <a:sym typeface="Calibri"/>
              </a:defRPr>
            </a:lvl7pPr>
            <a:lvl8pPr marL="0" marR="0" lvl="7" indent="0" algn="r" rtl="0">
              <a:spcBef>
                <a:spcPts val="0"/>
              </a:spcBef>
              <a:spcAft>
                <a:spcPts val="0"/>
              </a:spcAft>
              <a:buNone/>
              <a:defRPr sz="1200" b="0" i="0" u="none" strike="noStrike" cap="none">
                <a:solidFill>
                  <a:srgbClr val="898989"/>
                </a:solidFill>
                <a:latin typeface="Calibri"/>
                <a:ea typeface="Calibri"/>
                <a:cs typeface="Calibri"/>
                <a:sym typeface="Calibri"/>
              </a:defRPr>
            </a:lvl8pPr>
            <a:lvl9pPr marL="0" marR="0" lvl="8" indent="0" algn="r" rtl="0">
              <a:spcBef>
                <a:spcPts val="0"/>
              </a:spcBef>
              <a:spcAft>
                <a:spcPts val="0"/>
              </a:spcAft>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a:blip r:embed="rId13">
            <a:alphaModFix/>
          </a:blip>
          <a:stretch>
            <a:fillRect/>
          </a:stretch>
        </a:blipFill>
        <a:effectLst/>
      </p:bgPr>
    </p:bg>
    <p:spTree>
      <p:nvGrpSpPr>
        <p:cNvPr id="1" name="Shape 84"/>
        <p:cNvGrpSpPr/>
        <p:nvPr/>
      </p:nvGrpSpPr>
      <p:grpSpPr>
        <a:xfrm>
          <a:off x="0" y="0"/>
          <a:ext cx="0" cy="0"/>
          <a:chOff x="0" y="0"/>
          <a:chExt cx="0" cy="0"/>
        </a:xfrm>
      </p:grpSpPr>
      <p:sp>
        <p:nvSpPr>
          <p:cNvPr id="85" name="Google Shape;85;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86" name="Google Shape;86;p2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7" name="Google Shape;87;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8" name="Google Shape;88;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9" name="Google Shape;89;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jpg"/></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jpg"/></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7.jpg"/></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0.jpg"/></Relationships>
</file>

<file path=ppt/slides/_rels/slide1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62"/>
        <p:cNvGrpSpPr/>
        <p:nvPr/>
      </p:nvGrpSpPr>
      <p:grpSpPr>
        <a:xfrm>
          <a:off x="0" y="0"/>
          <a:ext cx="0" cy="0"/>
          <a:chOff x="0" y="0"/>
          <a:chExt cx="0" cy="0"/>
        </a:xfrm>
      </p:grpSpPr>
      <p:sp>
        <p:nvSpPr>
          <p:cNvPr id="163" name="Google Shape;163;p1"/>
          <p:cNvSpPr/>
          <p:nvPr/>
        </p:nvSpPr>
        <p:spPr>
          <a:xfrm>
            <a:off x="3866607" y="3944983"/>
            <a:ext cx="7480662" cy="1419497"/>
          </a:xfrm>
          <a:prstGeom prst="roundRect">
            <a:avLst>
              <a:gd name="adj" fmla="val 7874"/>
            </a:avLst>
          </a:prstGeom>
          <a:solidFill>
            <a:schemeClr val="dk1">
              <a:alpha val="75686"/>
            </a:schemeClr>
          </a:solidFill>
          <a:ln>
            <a:noFill/>
          </a:ln>
        </p:spPr>
        <p:txBody>
          <a:bodyPr spcFirstLastPara="1" wrap="square" lIns="91425" tIns="45700" rIns="540000" bIns="45700" anchor="ctr" anchorCtr="0">
            <a:noAutofit/>
          </a:bodyPr>
          <a:lstStyle/>
          <a:p>
            <a:pPr marL="0" marR="0" lvl="0" indent="0" algn="ctr" rtl="0">
              <a:spcBef>
                <a:spcPts val="0"/>
              </a:spcBef>
              <a:spcAft>
                <a:spcPts val="0"/>
              </a:spcAft>
              <a:buNone/>
            </a:pPr>
            <a:endParaRPr sz="2800" b="1" i="0" u="none" strike="noStrike" cap="none">
              <a:solidFill>
                <a:schemeClr val="lt1"/>
              </a:solidFill>
              <a:latin typeface="Calibri"/>
              <a:ea typeface="Calibri"/>
              <a:cs typeface="Calibri"/>
              <a:sym typeface="Calibri"/>
            </a:endParaRPr>
          </a:p>
        </p:txBody>
      </p:sp>
      <p:sp>
        <p:nvSpPr>
          <p:cNvPr id="164" name="Google Shape;164;p1"/>
          <p:cNvSpPr txBox="1">
            <a:spLocks noGrp="1"/>
          </p:cNvSpPr>
          <p:nvPr>
            <p:ph type="ctrTitle"/>
          </p:nvPr>
        </p:nvSpPr>
        <p:spPr>
          <a:xfrm>
            <a:off x="4122739" y="4130701"/>
            <a:ext cx="7157279" cy="972522"/>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None/>
            </a:pPr>
            <a:r>
              <a:rPr lang="es-ES" sz="5000" b="1">
                <a:solidFill>
                  <a:schemeClr val="lt1"/>
                </a:solidFill>
                <a:latin typeface="Arial"/>
                <a:ea typeface="Arial"/>
                <a:cs typeface="Arial"/>
                <a:sym typeface="Arial"/>
              </a:rPr>
              <a:t>Visualización de Datos</a:t>
            </a:r>
            <a:endParaRPr sz="5000" b="1">
              <a:solidFill>
                <a:schemeClr val="lt1"/>
              </a:solidFill>
              <a:latin typeface="Arial"/>
              <a:ea typeface="Arial"/>
              <a:cs typeface="Arial"/>
              <a:sym typeface="Arial"/>
            </a:endParaRPr>
          </a:p>
        </p:txBody>
      </p:sp>
      <p:sp>
        <p:nvSpPr>
          <p:cNvPr id="166" name="Google Shape;166;p1"/>
          <p:cNvSpPr txBox="1"/>
          <p:nvPr/>
        </p:nvSpPr>
        <p:spPr>
          <a:xfrm>
            <a:off x="4189990" y="3434996"/>
            <a:ext cx="7022779" cy="646290"/>
          </a:xfrm>
          <a:prstGeom prst="rect">
            <a:avLst/>
          </a:prstGeom>
          <a:noFill/>
          <a:ln>
            <a:noFill/>
          </a:ln>
        </p:spPr>
        <p:txBody>
          <a:bodyPr spcFirstLastPara="1" wrap="square" lIns="91425" tIns="45700" rIns="91425" bIns="45700" anchor="t" anchorCtr="0">
            <a:spAutoFit/>
          </a:bodyPr>
          <a:lstStyle/>
          <a:p>
            <a:pPr>
              <a:buClr>
                <a:schemeClr val="lt1"/>
              </a:buClr>
              <a:buSzPts val="1800"/>
            </a:pPr>
            <a:endParaRPr lang="es-ES" sz="1800" b="1" dirty="0">
              <a:solidFill>
                <a:schemeClr val="lt1"/>
              </a:solidFill>
            </a:endParaRPr>
          </a:p>
          <a:p>
            <a:pPr>
              <a:buSzPts val="1800"/>
            </a:pPr>
            <a:r>
              <a:rPr lang="es-ES" sz="1800" b="1">
                <a:solidFill>
                  <a:schemeClr val="lt1"/>
                </a:solidFill>
              </a:rPr>
              <a:t> </a:t>
            </a:r>
            <a:r>
              <a:rPr lang="es-ES" sz="1800" b="1">
                <a:solidFill>
                  <a:schemeClr val="lt1"/>
                </a:solidFill>
                <a:latin typeface="Arial"/>
                <a:ea typeface="Arial"/>
                <a:cs typeface="Arial"/>
                <a:sym typeface="Arial"/>
              </a:rPr>
              <a:t> Análisis Exploratorio y Programación Estadística</a:t>
            </a:r>
            <a:endParaRPr sz="1800">
              <a:solidFill>
                <a:schemeClr val="lt1"/>
              </a:solidFill>
              <a:latin typeface="Calibri"/>
              <a:ea typeface="Calibri"/>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64"/>
                                        </p:tgtEl>
                                        <p:attrNameLst>
                                          <p:attrName>style.visibility</p:attrName>
                                        </p:attrNameLst>
                                      </p:cBhvr>
                                      <p:to>
                                        <p:strVal val="visible"/>
                                      </p:to>
                                    </p:set>
                                    <p:animEffect transition="in" filter="fade">
                                      <p:cBhvr>
                                        <p:cTn id="7" dur="500"/>
                                        <p:tgtEl>
                                          <p:spTgt spid="1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70"/>
        <p:cNvGrpSpPr/>
        <p:nvPr/>
      </p:nvGrpSpPr>
      <p:grpSpPr>
        <a:xfrm>
          <a:off x="0" y="0"/>
          <a:ext cx="0" cy="0"/>
          <a:chOff x="0" y="0"/>
          <a:chExt cx="0" cy="0"/>
        </a:xfrm>
      </p:grpSpPr>
      <p:sp>
        <p:nvSpPr>
          <p:cNvPr id="171" name="Google Shape;171;p2"/>
          <p:cNvSpPr txBox="1"/>
          <p:nvPr/>
        </p:nvSpPr>
        <p:spPr>
          <a:xfrm>
            <a:off x="1125711" y="3449959"/>
            <a:ext cx="4813535"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90000"/>
              </a:lnSpc>
              <a:spcBef>
                <a:spcPts val="0"/>
              </a:spcBef>
              <a:spcAft>
                <a:spcPts val="0"/>
              </a:spcAft>
              <a:buNone/>
            </a:pPr>
            <a:r>
              <a:rPr lang="es-ES" sz="3600">
                <a:solidFill>
                  <a:srgbClr val="7F7F7F"/>
                </a:solidFill>
                <a:latin typeface="Arial"/>
                <a:ea typeface="Arial"/>
                <a:cs typeface="Arial"/>
                <a:sym typeface="Arial"/>
              </a:rPr>
              <a:t>Visualización de Datos</a:t>
            </a:r>
            <a:endParaRPr/>
          </a:p>
        </p:txBody>
      </p:sp>
      <p:pic>
        <p:nvPicPr>
          <p:cNvPr id="172" name="Google Shape;172;p2"/>
          <p:cNvPicPr preferRelativeResize="0"/>
          <p:nvPr/>
        </p:nvPicPr>
        <p:blipFill rotWithShape="1">
          <a:blip r:embed="rId4">
            <a:alphaModFix/>
          </a:blip>
          <a:srcRect/>
          <a:stretch/>
        </p:blipFill>
        <p:spPr>
          <a:xfrm>
            <a:off x="6903539" y="1460380"/>
            <a:ext cx="3572407" cy="3572407"/>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71"/>
                                        </p:tgtEl>
                                        <p:attrNameLst>
                                          <p:attrName>style.visibility</p:attrName>
                                        </p:attrNameLst>
                                      </p:cBhvr>
                                      <p:to>
                                        <p:strVal val="visible"/>
                                      </p:to>
                                    </p:set>
                                    <p:animEffect transition="in" filter="fade">
                                      <p:cBhvr>
                                        <p:cTn id="7" dur="500"/>
                                        <p:tgtEl>
                                          <p:spTgt spid="1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76"/>
        <p:cNvGrpSpPr/>
        <p:nvPr/>
      </p:nvGrpSpPr>
      <p:grpSpPr>
        <a:xfrm>
          <a:off x="0" y="0"/>
          <a:ext cx="0" cy="0"/>
          <a:chOff x="0" y="0"/>
          <a:chExt cx="0" cy="0"/>
        </a:xfrm>
      </p:grpSpPr>
      <p:sp>
        <p:nvSpPr>
          <p:cNvPr id="177" name="Google Shape;177;p3"/>
          <p:cNvSpPr txBox="1"/>
          <p:nvPr/>
        </p:nvSpPr>
        <p:spPr>
          <a:xfrm>
            <a:off x="1175654" y="172159"/>
            <a:ext cx="9813471" cy="794492"/>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Visualización de Datos.</a:t>
            </a:r>
            <a:endParaRPr sz="3200">
              <a:solidFill>
                <a:srgbClr val="7F7F7F"/>
              </a:solidFill>
              <a:latin typeface="Arial"/>
              <a:ea typeface="Arial"/>
              <a:cs typeface="Arial"/>
              <a:sym typeface="Arial"/>
            </a:endParaRPr>
          </a:p>
        </p:txBody>
      </p:sp>
      <p:sp>
        <p:nvSpPr>
          <p:cNvPr id="178" name="Google Shape;178;p3"/>
          <p:cNvSpPr/>
          <p:nvPr/>
        </p:nvSpPr>
        <p:spPr>
          <a:xfrm>
            <a:off x="1088570" y="2547258"/>
            <a:ext cx="9900555" cy="3868772"/>
          </a:xfrm>
          <a:prstGeom prst="roundRect">
            <a:avLst>
              <a:gd name="adj" fmla="val 2971"/>
            </a:avLst>
          </a:prstGeom>
          <a:solidFill>
            <a:schemeClr val="lt1"/>
          </a:solidFill>
          <a:ln w="38100" cap="flat" cmpd="sng">
            <a:solidFill>
              <a:srgbClr val="731C5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79" name="Google Shape;179;p3"/>
          <p:cNvPicPr preferRelativeResize="0"/>
          <p:nvPr/>
        </p:nvPicPr>
        <p:blipFill rotWithShape="1">
          <a:blip r:embed="rId4">
            <a:alphaModFix/>
          </a:blip>
          <a:srcRect/>
          <a:stretch/>
        </p:blipFill>
        <p:spPr>
          <a:xfrm>
            <a:off x="3252569" y="2814747"/>
            <a:ext cx="5665820" cy="2974555"/>
          </a:xfrm>
          <a:prstGeom prst="rect">
            <a:avLst/>
          </a:prstGeom>
          <a:noFill/>
          <a:ln>
            <a:noFill/>
          </a:ln>
        </p:spPr>
      </p:pic>
      <p:sp>
        <p:nvSpPr>
          <p:cNvPr id="180" name="Google Shape;180;p3"/>
          <p:cNvSpPr txBox="1"/>
          <p:nvPr/>
        </p:nvSpPr>
        <p:spPr>
          <a:xfrm>
            <a:off x="1175654" y="5936243"/>
            <a:ext cx="9813600" cy="307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b="0" i="0">
                <a:solidFill>
                  <a:srgbClr val="7F7F7F"/>
                </a:solidFill>
                <a:latin typeface="Calibri"/>
                <a:ea typeface="Calibri"/>
                <a:cs typeface="Calibri"/>
                <a:sym typeface="Calibri"/>
              </a:rPr>
              <a:t>Nótese cómo en esta infografía se mezclan elementos visuales para narrar una historia centrada en base a los datos.</a:t>
            </a:r>
            <a:endParaRPr sz="1200"/>
          </a:p>
        </p:txBody>
      </p:sp>
      <p:sp>
        <p:nvSpPr>
          <p:cNvPr id="181" name="Google Shape;181;p3"/>
          <p:cNvSpPr/>
          <p:nvPr/>
        </p:nvSpPr>
        <p:spPr>
          <a:xfrm>
            <a:off x="-146950" y="1113601"/>
            <a:ext cx="12524100" cy="1258500"/>
          </a:xfrm>
          <a:prstGeom prst="roundRect">
            <a:avLst>
              <a:gd name="adj" fmla="val 2971"/>
            </a:avLst>
          </a:prstGeom>
          <a:gradFill>
            <a:gsLst>
              <a:gs pos="0">
                <a:srgbClr val="5B1744"/>
              </a:gs>
              <a:gs pos="50000">
                <a:srgbClr val="852262"/>
              </a:gs>
              <a:gs pos="100000">
                <a:srgbClr val="9F2A77"/>
              </a:gs>
            </a:gsLst>
            <a:lin ang="2700000" scaled="0"/>
          </a:gradFill>
          <a:ln w="12700" cap="flat" cmpd="sng">
            <a:solidFill>
              <a:srgbClr val="731C5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2" name="Google Shape;182;p3"/>
          <p:cNvSpPr txBox="1"/>
          <p:nvPr/>
        </p:nvSpPr>
        <p:spPr>
          <a:xfrm>
            <a:off x="1088570" y="1218347"/>
            <a:ext cx="9900600" cy="107730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600">
                <a:solidFill>
                  <a:schemeClr val="lt1"/>
                </a:solidFill>
                <a:latin typeface="Calibri"/>
                <a:ea typeface="Calibri"/>
                <a:cs typeface="Calibri"/>
                <a:sym typeface="Calibri"/>
              </a:rPr>
              <a:t>Entre los que dibujan datos en periódicos, nadie discute la condición fundadora de la infografía del magnífico trabajo de Charles Minard sobre la campaña de Napoleón a Rusia, entre los años 1812 y 1813. En esta infografía, publicado en un diario de la época, se ilustra cómo 442 mil hombres ingresan a Rusia (color ocre) y sólo 10.000 regresan. Esta fue la peor campaña de Napoleón.</a:t>
            </a:r>
            <a:endParaRPr sz="1600">
              <a:solidFill>
                <a:schemeClr val="lt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77"/>
                                        </p:tgtEl>
                                        <p:attrNameLst>
                                          <p:attrName>style.visibility</p:attrName>
                                        </p:attrNameLst>
                                      </p:cBhvr>
                                      <p:to>
                                        <p:strVal val="visible"/>
                                      </p:to>
                                    </p:set>
                                    <p:animEffect transition="in" filter="fade">
                                      <p:cBhvr>
                                        <p:cTn id="7" dur="500"/>
                                        <p:tgtEl>
                                          <p:spTgt spid="1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86"/>
        <p:cNvGrpSpPr/>
        <p:nvPr/>
      </p:nvGrpSpPr>
      <p:grpSpPr>
        <a:xfrm>
          <a:off x="0" y="0"/>
          <a:ext cx="0" cy="0"/>
          <a:chOff x="0" y="0"/>
          <a:chExt cx="0" cy="0"/>
        </a:xfrm>
      </p:grpSpPr>
      <p:sp>
        <p:nvSpPr>
          <p:cNvPr id="187" name="Google Shape;187;p4"/>
          <p:cNvSpPr/>
          <p:nvPr/>
        </p:nvSpPr>
        <p:spPr>
          <a:xfrm>
            <a:off x="254750" y="122275"/>
            <a:ext cx="11749200" cy="6623700"/>
          </a:xfrm>
          <a:prstGeom prst="roundRect">
            <a:avLst>
              <a:gd name="adj" fmla="val 2971"/>
            </a:avLst>
          </a:prstGeom>
          <a:solidFill>
            <a:schemeClr val="lt1"/>
          </a:solidFill>
          <a:ln w="38100" cap="flat" cmpd="sng">
            <a:solidFill>
              <a:srgbClr val="731C5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88" name="Google Shape;188;p4"/>
          <p:cNvPicPr preferRelativeResize="0"/>
          <p:nvPr/>
        </p:nvPicPr>
        <p:blipFill rotWithShape="1">
          <a:blip r:embed="rId4">
            <a:alphaModFix/>
          </a:blip>
          <a:srcRect/>
          <a:stretch/>
        </p:blipFill>
        <p:spPr>
          <a:xfrm>
            <a:off x="398475" y="442925"/>
            <a:ext cx="11395050" cy="59824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92"/>
        <p:cNvGrpSpPr/>
        <p:nvPr/>
      </p:nvGrpSpPr>
      <p:grpSpPr>
        <a:xfrm>
          <a:off x="0" y="0"/>
          <a:ext cx="0" cy="0"/>
          <a:chOff x="0" y="0"/>
          <a:chExt cx="0" cy="0"/>
        </a:xfrm>
      </p:grpSpPr>
      <p:sp>
        <p:nvSpPr>
          <p:cNvPr id="193" name="Google Shape;193;p5"/>
          <p:cNvSpPr/>
          <p:nvPr/>
        </p:nvSpPr>
        <p:spPr>
          <a:xfrm>
            <a:off x="-146957" y="1494031"/>
            <a:ext cx="11232968" cy="4088687"/>
          </a:xfrm>
          <a:prstGeom prst="roundRect">
            <a:avLst>
              <a:gd name="adj" fmla="val 2971"/>
            </a:avLst>
          </a:prstGeom>
          <a:gradFill>
            <a:gsLst>
              <a:gs pos="0">
                <a:srgbClr val="5B1744"/>
              </a:gs>
              <a:gs pos="50000">
                <a:srgbClr val="852262"/>
              </a:gs>
              <a:gs pos="100000">
                <a:srgbClr val="9F2A77"/>
              </a:gs>
            </a:gsLst>
            <a:lin ang="2700000" scaled="0"/>
          </a:gradFill>
          <a:ln w="12700" cap="flat" cmpd="sng">
            <a:solidFill>
              <a:srgbClr val="731C5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4" name="Google Shape;194;p5"/>
          <p:cNvSpPr txBox="1"/>
          <p:nvPr/>
        </p:nvSpPr>
        <p:spPr>
          <a:xfrm>
            <a:off x="1244650" y="563273"/>
            <a:ext cx="10195524"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600">
                <a:solidFill>
                  <a:srgbClr val="7F7F7F"/>
                </a:solidFill>
                <a:latin typeface="Arial"/>
                <a:ea typeface="Arial"/>
                <a:cs typeface="Arial"/>
                <a:sym typeface="Arial"/>
              </a:rPr>
              <a:t>Visualización de Datos</a:t>
            </a:r>
            <a:endParaRPr sz="3200">
              <a:solidFill>
                <a:srgbClr val="7F7F7F"/>
              </a:solidFill>
              <a:latin typeface="Arial"/>
              <a:ea typeface="Arial"/>
              <a:cs typeface="Arial"/>
              <a:sym typeface="Arial"/>
            </a:endParaRPr>
          </a:p>
        </p:txBody>
      </p:sp>
      <p:sp>
        <p:nvSpPr>
          <p:cNvPr id="195" name="Google Shape;195;p5"/>
          <p:cNvSpPr txBox="1"/>
          <p:nvPr/>
        </p:nvSpPr>
        <p:spPr>
          <a:xfrm>
            <a:off x="1244650" y="1769996"/>
            <a:ext cx="9162093" cy="3970277"/>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dirty="0">
                <a:solidFill>
                  <a:schemeClr val="lt1"/>
                </a:solidFill>
                <a:latin typeface="Calibri"/>
                <a:ea typeface="Calibri"/>
                <a:cs typeface="Calibri"/>
                <a:sym typeface="Calibri"/>
              </a:rPr>
              <a:t>La visualización de datos es el proceso de representar datos e información de una manera visual, gráfica o diagramática, con el objetivo de facilitar la comprensión, el análisis y la comunicación de patrones, tendencias, relaciones y otros </a:t>
            </a:r>
            <a:r>
              <a:rPr lang="es-ES" sz="1800" dirty="0" err="1">
                <a:solidFill>
                  <a:schemeClr val="lt1"/>
                </a:solidFill>
                <a:latin typeface="Calibri"/>
                <a:ea typeface="Calibri"/>
                <a:cs typeface="Calibri"/>
                <a:sym typeface="Calibri"/>
              </a:rPr>
              <a:t>insights</a:t>
            </a:r>
            <a:r>
              <a:rPr lang="es-ES" sz="1800" dirty="0">
                <a:solidFill>
                  <a:schemeClr val="lt1"/>
                </a:solidFill>
                <a:latin typeface="Calibri"/>
                <a:ea typeface="Calibri"/>
                <a:cs typeface="Calibri"/>
                <a:sym typeface="Calibri"/>
              </a:rPr>
              <a:t> relevantes que puedan extraerse de ellos.</a:t>
            </a:r>
            <a:endParaRPr>
              <a:solidFill>
                <a:schemeClr val="lt1"/>
              </a:solidFill>
            </a:endParaRPr>
          </a:p>
          <a:p>
            <a:pPr marL="0" marR="0" lvl="0" indent="0" algn="just" rtl="0">
              <a:spcBef>
                <a:spcPts val="0"/>
              </a:spcBef>
              <a:spcAft>
                <a:spcPts val="0"/>
              </a:spcAft>
              <a:buNone/>
            </a:pPr>
            <a:endParaRPr sz="18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800" dirty="0">
                <a:solidFill>
                  <a:schemeClr val="lt1"/>
                </a:solidFill>
                <a:latin typeface="Calibri"/>
                <a:ea typeface="Calibri"/>
                <a:cs typeface="Calibri"/>
                <a:sym typeface="Calibri"/>
              </a:rPr>
              <a:t>La visualización de datos puede ser utilizada en una variedad de contextos, desde la investigación científica hasta los negocios, la educación y el periodismo, y puede ser realizada mediante diferentes herramientas y técnicas, como gráficos, mapas, diagramas de flujo, infografías, entre otros.</a:t>
            </a:r>
            <a:endParaRPr>
              <a:solidFill>
                <a:schemeClr val="lt1"/>
              </a:solidFill>
            </a:endParaRPr>
          </a:p>
          <a:p>
            <a:pPr marL="0" marR="0" lvl="0" indent="0" algn="just" rtl="0">
              <a:spcBef>
                <a:spcPts val="0"/>
              </a:spcBef>
              <a:spcAft>
                <a:spcPts val="0"/>
              </a:spcAft>
              <a:buNone/>
            </a:pPr>
            <a:endParaRPr sz="18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800" dirty="0">
                <a:solidFill>
                  <a:schemeClr val="lt1"/>
                </a:solidFill>
                <a:latin typeface="Calibri"/>
                <a:ea typeface="Calibri"/>
                <a:cs typeface="Calibri"/>
                <a:sym typeface="Calibri"/>
              </a:rPr>
              <a:t>La visualización de datos se considera una herramienta poderosa en la toma de decisiones, ya que puede ayudar a identificar patrones y tendencias que de otra manera serían difíciles de detectar, y a comunicar de manera más efectiva información compleja a una audiencia no especializada.</a:t>
            </a:r>
            <a:endParaRPr sz="1600" dirty="0">
              <a:solidFill>
                <a:schemeClr val="lt1"/>
              </a:solidFill>
              <a:latin typeface="Calibri"/>
              <a:ea typeface="Calibri"/>
              <a:cs typeface="Calibri"/>
              <a:sym typeface="Calibri"/>
            </a:endParaRPr>
          </a:p>
        </p:txBody>
      </p:sp>
      <p:pic>
        <p:nvPicPr>
          <p:cNvPr id="196" name="Google Shape;196;p5"/>
          <p:cNvPicPr preferRelativeResize="0"/>
          <p:nvPr/>
        </p:nvPicPr>
        <p:blipFill rotWithShape="1">
          <a:blip r:embed="rId4">
            <a:alphaModFix/>
          </a:blip>
          <a:srcRect/>
          <a:stretch/>
        </p:blipFill>
        <p:spPr>
          <a:xfrm>
            <a:off x="657874" y="1774705"/>
            <a:ext cx="367327" cy="367327"/>
          </a:xfrm>
          <a:prstGeom prst="rect">
            <a:avLst/>
          </a:prstGeom>
          <a:noFill/>
          <a:ln>
            <a:noFill/>
          </a:ln>
        </p:spPr>
      </p:pic>
      <p:pic>
        <p:nvPicPr>
          <p:cNvPr id="197" name="Google Shape;197;p5"/>
          <p:cNvPicPr preferRelativeResize="0"/>
          <p:nvPr/>
        </p:nvPicPr>
        <p:blipFill rotWithShape="1">
          <a:blip r:embed="rId4">
            <a:alphaModFix/>
          </a:blip>
          <a:srcRect/>
          <a:stretch/>
        </p:blipFill>
        <p:spPr>
          <a:xfrm>
            <a:off x="679794" y="2897532"/>
            <a:ext cx="367327" cy="367327"/>
          </a:xfrm>
          <a:prstGeom prst="rect">
            <a:avLst/>
          </a:prstGeom>
          <a:noFill/>
          <a:ln>
            <a:noFill/>
          </a:ln>
        </p:spPr>
      </p:pic>
      <p:pic>
        <p:nvPicPr>
          <p:cNvPr id="198" name="Google Shape;198;p5"/>
          <p:cNvPicPr preferRelativeResize="0"/>
          <p:nvPr/>
        </p:nvPicPr>
        <p:blipFill rotWithShape="1">
          <a:blip r:embed="rId4">
            <a:alphaModFix/>
          </a:blip>
          <a:srcRect/>
          <a:stretch/>
        </p:blipFill>
        <p:spPr>
          <a:xfrm>
            <a:off x="657874" y="4267733"/>
            <a:ext cx="367327" cy="367327"/>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94"/>
                                        </p:tgtEl>
                                        <p:attrNameLst>
                                          <p:attrName>style.visibility</p:attrName>
                                        </p:attrNameLst>
                                      </p:cBhvr>
                                      <p:to>
                                        <p:strVal val="visible"/>
                                      </p:to>
                                    </p:set>
                                    <p:animEffect transition="in" filter="fade">
                                      <p:cBhvr>
                                        <p:cTn id="7" dur="500"/>
                                        <p:tgtEl>
                                          <p:spTgt spid="1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02"/>
        <p:cNvGrpSpPr/>
        <p:nvPr/>
      </p:nvGrpSpPr>
      <p:grpSpPr>
        <a:xfrm>
          <a:off x="0" y="0"/>
          <a:ext cx="0" cy="0"/>
          <a:chOff x="0" y="0"/>
          <a:chExt cx="0" cy="0"/>
        </a:xfrm>
      </p:grpSpPr>
      <p:sp>
        <p:nvSpPr>
          <p:cNvPr id="203" name="Google Shape;203;p6"/>
          <p:cNvSpPr/>
          <p:nvPr/>
        </p:nvSpPr>
        <p:spPr>
          <a:xfrm>
            <a:off x="368608" y="1167319"/>
            <a:ext cx="11469954" cy="4824919"/>
          </a:xfrm>
          <a:prstGeom prst="roundRect">
            <a:avLst>
              <a:gd name="adj" fmla="val 2971"/>
            </a:avLst>
          </a:prstGeom>
          <a:gradFill>
            <a:gsLst>
              <a:gs pos="0">
                <a:srgbClr val="5B1744"/>
              </a:gs>
              <a:gs pos="50000">
                <a:srgbClr val="852262"/>
              </a:gs>
              <a:gs pos="100000">
                <a:srgbClr val="9F2A77"/>
              </a:gs>
            </a:gsLst>
            <a:lin ang="2700000" scaled="0"/>
          </a:gradFill>
          <a:ln w="12700" cap="flat" cmpd="sng">
            <a:solidFill>
              <a:srgbClr val="731C5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204" name="Google Shape;204;p6"/>
          <p:cNvSpPr/>
          <p:nvPr/>
        </p:nvSpPr>
        <p:spPr>
          <a:xfrm>
            <a:off x="889559" y="1370730"/>
            <a:ext cx="10428051" cy="4418096"/>
          </a:xfrm>
          <a:prstGeom prst="roundRect">
            <a:avLst>
              <a:gd name="adj" fmla="val 2971"/>
            </a:avLst>
          </a:prstGeom>
          <a:solidFill>
            <a:schemeClr val="lt1"/>
          </a:solidFill>
          <a:ln w="38100" cap="flat" cmpd="sng">
            <a:solidFill>
              <a:srgbClr val="741C5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205" name="Google Shape;205;p6" descr="undefined"/>
          <p:cNvPicPr preferRelativeResize="0"/>
          <p:nvPr/>
        </p:nvPicPr>
        <p:blipFill rotWithShape="1">
          <a:blip r:embed="rId4">
            <a:alphaModFix/>
          </a:blip>
          <a:srcRect/>
          <a:stretch/>
        </p:blipFill>
        <p:spPr>
          <a:xfrm>
            <a:off x="1449245" y="2027203"/>
            <a:ext cx="2552700" cy="3105150"/>
          </a:xfrm>
          <a:prstGeom prst="rect">
            <a:avLst/>
          </a:prstGeom>
          <a:noFill/>
          <a:ln>
            <a:noFill/>
          </a:ln>
        </p:spPr>
      </p:pic>
      <p:sp>
        <p:nvSpPr>
          <p:cNvPr id="206" name="Google Shape;206;p6"/>
          <p:cNvSpPr txBox="1"/>
          <p:nvPr/>
        </p:nvSpPr>
        <p:spPr>
          <a:xfrm>
            <a:off x="4561631" y="3901247"/>
            <a:ext cx="6288179" cy="1231106"/>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2000">
                <a:solidFill>
                  <a:srgbClr val="7F7F7F"/>
                </a:solidFill>
                <a:latin typeface="Calibri"/>
                <a:ea typeface="Calibri"/>
                <a:cs typeface="Calibri"/>
                <a:sym typeface="Calibri"/>
              </a:rPr>
              <a:t>”El mayor valor de una imagen sucede cuando nos fuerza notar algo que nunca esperamos ver”</a:t>
            </a:r>
            <a:endParaRPr/>
          </a:p>
          <a:p>
            <a:pPr marL="0" marR="0" lvl="0" indent="0" algn="l" rtl="0">
              <a:spcBef>
                <a:spcPts val="0"/>
              </a:spcBef>
              <a:spcAft>
                <a:spcPts val="0"/>
              </a:spcAft>
              <a:buNone/>
            </a:pPr>
            <a:endParaRPr sz="1800">
              <a:solidFill>
                <a:srgbClr val="7F7F7F"/>
              </a:solidFill>
              <a:latin typeface="Calibri"/>
              <a:ea typeface="Calibri"/>
              <a:cs typeface="Calibri"/>
              <a:sym typeface="Calibri"/>
            </a:endParaRPr>
          </a:p>
          <a:p>
            <a:pPr marL="0" marR="0" lvl="0" indent="0" algn="l" rtl="0">
              <a:spcBef>
                <a:spcPts val="0"/>
              </a:spcBef>
              <a:spcAft>
                <a:spcPts val="0"/>
              </a:spcAft>
              <a:buNone/>
            </a:pPr>
            <a:r>
              <a:rPr lang="es-ES" sz="1600" i="1">
                <a:solidFill>
                  <a:srgbClr val="7F7F7F"/>
                </a:solidFill>
                <a:latin typeface="Calibri"/>
                <a:ea typeface="Calibri"/>
                <a:cs typeface="Calibri"/>
                <a:sym typeface="Calibri"/>
              </a:rPr>
              <a:t>-- John Tukey (matemático y estadístico)</a:t>
            </a:r>
            <a:endParaRPr sz="1600" i="1">
              <a:solidFill>
                <a:srgbClr val="7F7F7F"/>
              </a:solidFill>
              <a:latin typeface="Calibri"/>
              <a:ea typeface="Calibri"/>
              <a:cs typeface="Calibri"/>
              <a:sym typeface="Calibri"/>
            </a:endParaRPr>
          </a:p>
        </p:txBody>
      </p:sp>
      <p:sp>
        <p:nvSpPr>
          <p:cNvPr id="207" name="Google Shape;207;p6"/>
          <p:cNvSpPr txBox="1"/>
          <p:nvPr/>
        </p:nvSpPr>
        <p:spPr>
          <a:xfrm>
            <a:off x="889559" y="486038"/>
            <a:ext cx="9813471" cy="681280"/>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Visualización de Datos</a:t>
            </a:r>
            <a:endParaRPr sz="3200">
              <a:solidFill>
                <a:srgbClr val="7F7F7F"/>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07"/>
                                        </p:tgtEl>
                                        <p:attrNameLst>
                                          <p:attrName>style.visibility</p:attrName>
                                        </p:attrNameLst>
                                      </p:cBhvr>
                                      <p:to>
                                        <p:strVal val="visible"/>
                                      </p:to>
                                    </p:set>
                                    <p:animEffect transition="in" filter="fade">
                                      <p:cBhvr>
                                        <p:cTn id="7" dur="500"/>
                                        <p:tgtEl>
                                          <p:spTgt spid="2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11"/>
        <p:cNvGrpSpPr/>
        <p:nvPr/>
      </p:nvGrpSpPr>
      <p:grpSpPr>
        <a:xfrm>
          <a:off x="0" y="0"/>
          <a:ext cx="0" cy="0"/>
          <a:chOff x="0" y="0"/>
          <a:chExt cx="0" cy="0"/>
        </a:xfrm>
      </p:grpSpPr>
      <p:sp>
        <p:nvSpPr>
          <p:cNvPr id="212" name="Google Shape;212;p7"/>
          <p:cNvSpPr/>
          <p:nvPr/>
        </p:nvSpPr>
        <p:spPr>
          <a:xfrm>
            <a:off x="-146957" y="1571335"/>
            <a:ext cx="11232968" cy="3989295"/>
          </a:xfrm>
          <a:prstGeom prst="roundRect">
            <a:avLst>
              <a:gd name="adj" fmla="val 2971"/>
            </a:avLst>
          </a:prstGeom>
          <a:gradFill>
            <a:gsLst>
              <a:gs pos="0">
                <a:srgbClr val="5B1744"/>
              </a:gs>
              <a:gs pos="50000">
                <a:srgbClr val="852262"/>
              </a:gs>
              <a:gs pos="100000">
                <a:srgbClr val="9F2A77"/>
              </a:gs>
            </a:gsLst>
            <a:lin ang="2700000" scaled="0"/>
          </a:gradFill>
          <a:ln w="12700" cap="flat" cmpd="sng">
            <a:solidFill>
              <a:srgbClr val="731C5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3" name="Google Shape;213;p7"/>
          <p:cNvSpPr txBox="1"/>
          <p:nvPr/>
        </p:nvSpPr>
        <p:spPr>
          <a:xfrm>
            <a:off x="1027499" y="563273"/>
            <a:ext cx="10412675"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Puntos ciegos de la visualización de datos</a:t>
            </a:r>
            <a:endParaRPr sz="2800">
              <a:solidFill>
                <a:srgbClr val="7F7F7F"/>
              </a:solidFill>
              <a:latin typeface="Arial"/>
              <a:ea typeface="Arial"/>
              <a:cs typeface="Arial"/>
              <a:sym typeface="Arial"/>
            </a:endParaRPr>
          </a:p>
        </p:txBody>
      </p:sp>
      <p:sp>
        <p:nvSpPr>
          <p:cNvPr id="214" name="Google Shape;214;p7"/>
          <p:cNvSpPr txBox="1"/>
          <p:nvPr/>
        </p:nvSpPr>
        <p:spPr>
          <a:xfrm>
            <a:off x="1027499" y="1870514"/>
            <a:ext cx="9386008" cy="3662541"/>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La visualización y la cognición del ser humano están relacionadas. Las percepciones visuales inciden sobre los procesos cognitivos, y por ende, son fundamentales en la comunicación. Sobre todo cuando se busca comunicar datos. </a:t>
            </a:r>
            <a:endParaRPr/>
          </a:p>
          <a:p>
            <a:pPr marL="0" marR="0" lvl="0" indent="0" algn="just" rtl="0">
              <a:spcBef>
                <a:spcPts val="0"/>
              </a:spcBef>
              <a:spcAft>
                <a:spcPts val="0"/>
              </a:spcAft>
              <a:buNone/>
            </a:pPr>
            <a:endParaRPr sz="18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800">
                <a:solidFill>
                  <a:schemeClr val="lt1"/>
                </a:solidFill>
                <a:latin typeface="Calibri"/>
                <a:ea typeface="Calibri"/>
                <a:cs typeface="Calibri"/>
                <a:sym typeface="Calibri"/>
              </a:rPr>
              <a:t>Sin embargo, tal como muchas veces se favorece el entendimiento, hay oportunidades en la cual sucede el fenómeno opuesto. Es decir, se transmite una idea que no se condice con los datos presentados induciendo a errores en los receptores.</a:t>
            </a:r>
            <a:endParaRPr/>
          </a:p>
          <a:p>
            <a:pPr marL="0" marR="0" lvl="0" indent="0" algn="just" rtl="0">
              <a:spcBef>
                <a:spcPts val="0"/>
              </a:spcBef>
              <a:spcAft>
                <a:spcPts val="0"/>
              </a:spcAft>
              <a:buNone/>
            </a:pPr>
            <a:endParaRPr sz="18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800">
                <a:solidFill>
                  <a:schemeClr val="lt1"/>
                </a:solidFill>
                <a:latin typeface="Calibri"/>
                <a:ea typeface="Calibri"/>
                <a:cs typeface="Calibri"/>
                <a:sym typeface="Calibri"/>
              </a:rPr>
              <a:t>Para ser justo, hay que decir que muchas veces esto sucede de forma involuntaria, pero también habrá oportunidades en que efectivamente se hizo una manipulación adrede.</a:t>
            </a:r>
            <a:endParaRPr/>
          </a:p>
          <a:p>
            <a:pPr marL="0" marR="0" lvl="0" indent="0" algn="just" rtl="0">
              <a:spcBef>
                <a:spcPts val="0"/>
              </a:spcBef>
              <a:spcAft>
                <a:spcPts val="0"/>
              </a:spcAft>
              <a:buNone/>
            </a:pPr>
            <a:endParaRPr sz="18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800">
                <a:solidFill>
                  <a:schemeClr val="lt1"/>
                </a:solidFill>
                <a:latin typeface="Calibri"/>
                <a:ea typeface="Calibri"/>
                <a:cs typeface="Calibri"/>
                <a:sym typeface="Calibri"/>
              </a:rPr>
              <a:t>A continuación, se presenta algunos aciertos y desaciertos del análisis visual.</a:t>
            </a:r>
            <a:endParaRPr/>
          </a:p>
          <a:p>
            <a:pPr marL="0" marR="0" lvl="0" indent="0" algn="l" rtl="0">
              <a:spcBef>
                <a:spcPts val="0"/>
              </a:spcBef>
              <a:spcAft>
                <a:spcPts val="0"/>
              </a:spcAft>
              <a:buNone/>
            </a:pPr>
            <a:endParaRPr sz="1600" i="1">
              <a:solidFill>
                <a:schemeClr val="lt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13"/>
                                        </p:tgtEl>
                                        <p:attrNameLst>
                                          <p:attrName>style.visibility</p:attrName>
                                        </p:attrNameLst>
                                      </p:cBhvr>
                                      <p:to>
                                        <p:strVal val="visible"/>
                                      </p:to>
                                    </p:set>
                                    <p:animEffect transition="in" filter="fade">
                                      <p:cBhvr>
                                        <p:cTn id="7" dur="500"/>
                                        <p:tgtEl>
                                          <p:spTgt spid="2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18"/>
        <p:cNvGrpSpPr/>
        <p:nvPr/>
      </p:nvGrpSpPr>
      <p:grpSpPr>
        <a:xfrm>
          <a:off x="0" y="0"/>
          <a:ext cx="0" cy="0"/>
          <a:chOff x="0" y="0"/>
          <a:chExt cx="0" cy="0"/>
        </a:xfrm>
      </p:grpSpPr>
      <p:sp>
        <p:nvSpPr>
          <p:cNvPr id="219" name="Google Shape;219;p8"/>
          <p:cNvSpPr/>
          <p:nvPr/>
        </p:nvSpPr>
        <p:spPr>
          <a:xfrm>
            <a:off x="758757" y="1571335"/>
            <a:ext cx="10894979" cy="3989295"/>
          </a:xfrm>
          <a:prstGeom prst="roundRect">
            <a:avLst>
              <a:gd name="adj" fmla="val 2971"/>
            </a:avLst>
          </a:prstGeom>
          <a:gradFill>
            <a:gsLst>
              <a:gs pos="0">
                <a:srgbClr val="5B1744"/>
              </a:gs>
              <a:gs pos="50000">
                <a:srgbClr val="852262"/>
              </a:gs>
              <a:gs pos="100000">
                <a:srgbClr val="9F2A77"/>
              </a:gs>
            </a:gsLst>
            <a:lin ang="2700000" scaled="0"/>
          </a:gradFill>
          <a:ln w="12700" cap="flat" cmpd="sng">
            <a:solidFill>
              <a:srgbClr val="731C5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0" name="Google Shape;220;p8"/>
          <p:cNvSpPr/>
          <p:nvPr/>
        </p:nvSpPr>
        <p:spPr>
          <a:xfrm>
            <a:off x="5593404" y="1896894"/>
            <a:ext cx="5642043" cy="3356042"/>
          </a:xfrm>
          <a:prstGeom prst="roundRect">
            <a:avLst>
              <a:gd name="adj" fmla="val 2971"/>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1" name="Google Shape;221;p8"/>
          <p:cNvSpPr txBox="1"/>
          <p:nvPr/>
        </p:nvSpPr>
        <p:spPr>
          <a:xfrm>
            <a:off x="1163068" y="602623"/>
            <a:ext cx="10681417"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Puntos ciegos de la visualización de datos</a:t>
            </a:r>
            <a:endParaRPr sz="2800">
              <a:solidFill>
                <a:srgbClr val="7F7F7F"/>
              </a:solidFill>
              <a:latin typeface="Arial"/>
              <a:ea typeface="Arial"/>
              <a:cs typeface="Arial"/>
              <a:sym typeface="Arial"/>
            </a:endParaRPr>
          </a:p>
        </p:txBody>
      </p:sp>
      <p:sp>
        <p:nvSpPr>
          <p:cNvPr id="222" name="Google Shape;222;p8"/>
          <p:cNvSpPr txBox="1"/>
          <p:nvPr/>
        </p:nvSpPr>
        <p:spPr>
          <a:xfrm>
            <a:off x="1163068" y="2143754"/>
            <a:ext cx="3925141" cy="286232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Los gráficos con perspectiva 3D muchas veces pueden producir un efecto distorsionador de las proporciones o bien puede ocultar información relevante.</a:t>
            </a:r>
            <a:endParaRPr/>
          </a:p>
          <a:p>
            <a:pPr marL="0" marR="0" lvl="0" indent="0" algn="just" rtl="0">
              <a:spcBef>
                <a:spcPts val="0"/>
              </a:spcBef>
              <a:spcAft>
                <a:spcPts val="0"/>
              </a:spcAft>
              <a:buNone/>
            </a:pPr>
            <a:endParaRPr sz="18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800">
                <a:solidFill>
                  <a:schemeClr val="lt1"/>
                </a:solidFill>
                <a:latin typeface="Calibri"/>
                <a:ea typeface="Calibri"/>
                <a:cs typeface="Calibri"/>
                <a:sym typeface="Calibri"/>
              </a:rPr>
              <a:t>Nótese cómo en este caso, en el diagrama de dona el segmento de color azul se ve disminuido en comparación al amarillo y blanco.</a:t>
            </a:r>
            <a:endParaRPr/>
          </a:p>
        </p:txBody>
      </p:sp>
      <p:pic>
        <p:nvPicPr>
          <p:cNvPr id="223" name="Google Shape;223;p8" descr="3D graphics aren’t well suited for data visualization."/>
          <p:cNvPicPr preferRelativeResize="0"/>
          <p:nvPr/>
        </p:nvPicPr>
        <p:blipFill rotWithShape="1">
          <a:blip r:embed="rId4">
            <a:alphaModFix/>
          </a:blip>
          <a:srcRect/>
          <a:stretch/>
        </p:blipFill>
        <p:spPr>
          <a:xfrm>
            <a:off x="5748127" y="2040487"/>
            <a:ext cx="5321950" cy="3070357"/>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21"/>
                                        </p:tgtEl>
                                        <p:attrNameLst>
                                          <p:attrName>style.visibility</p:attrName>
                                        </p:attrNameLst>
                                      </p:cBhvr>
                                      <p:to>
                                        <p:strVal val="visible"/>
                                      </p:to>
                                    </p:set>
                                    <p:animEffect transition="in" filter="fade">
                                      <p:cBhvr>
                                        <p:cTn id="7" dur="500"/>
                                        <p:tgtEl>
                                          <p:spTgt spid="2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27"/>
        <p:cNvGrpSpPr/>
        <p:nvPr/>
      </p:nvGrpSpPr>
      <p:grpSpPr>
        <a:xfrm>
          <a:off x="0" y="0"/>
          <a:ext cx="0" cy="0"/>
          <a:chOff x="0" y="0"/>
          <a:chExt cx="0" cy="0"/>
        </a:xfrm>
      </p:grpSpPr>
      <p:sp>
        <p:nvSpPr>
          <p:cNvPr id="228" name="Google Shape;228;p9"/>
          <p:cNvSpPr/>
          <p:nvPr/>
        </p:nvSpPr>
        <p:spPr>
          <a:xfrm>
            <a:off x="657875" y="905660"/>
            <a:ext cx="10888858" cy="4202349"/>
          </a:xfrm>
          <a:prstGeom prst="roundRect">
            <a:avLst>
              <a:gd name="adj" fmla="val 2971"/>
            </a:avLst>
          </a:prstGeom>
          <a:gradFill>
            <a:gsLst>
              <a:gs pos="0">
                <a:srgbClr val="5B1744"/>
              </a:gs>
              <a:gs pos="50000">
                <a:srgbClr val="852262"/>
              </a:gs>
              <a:gs pos="100000">
                <a:srgbClr val="9F2A77"/>
              </a:gs>
            </a:gsLst>
            <a:lin ang="2700000" scaled="0"/>
          </a:gradFill>
          <a:ln w="12700" cap="flat" cmpd="sng">
            <a:solidFill>
              <a:srgbClr val="731C5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9" name="Google Shape;229;p9"/>
          <p:cNvSpPr txBox="1"/>
          <p:nvPr/>
        </p:nvSpPr>
        <p:spPr>
          <a:xfrm>
            <a:off x="815651" y="1744286"/>
            <a:ext cx="3925141" cy="2308324"/>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Este es un claro de ejemplo de cómo elegir una visualización poco apropiada para una buena comunicación con la audiencia.</a:t>
            </a:r>
            <a:endParaRPr/>
          </a:p>
          <a:p>
            <a:pPr marL="0" marR="0" lvl="0" indent="0" algn="just" rtl="0">
              <a:spcBef>
                <a:spcPts val="0"/>
              </a:spcBef>
              <a:spcAft>
                <a:spcPts val="0"/>
              </a:spcAft>
              <a:buNone/>
            </a:pPr>
            <a:endParaRPr sz="18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800">
                <a:solidFill>
                  <a:schemeClr val="lt1"/>
                </a:solidFill>
                <a:latin typeface="Calibri"/>
                <a:ea typeface="Calibri"/>
                <a:cs typeface="Calibri"/>
                <a:sym typeface="Calibri"/>
              </a:rPr>
              <a:t>En este caso, las perspectivas 3D distorsionan la realidad y hacen más difícil la interpretación.</a:t>
            </a:r>
            <a:endParaRPr/>
          </a:p>
        </p:txBody>
      </p:sp>
      <p:sp>
        <p:nvSpPr>
          <p:cNvPr id="230" name="Google Shape;230;p9"/>
          <p:cNvSpPr/>
          <p:nvPr/>
        </p:nvSpPr>
        <p:spPr>
          <a:xfrm>
            <a:off x="5038911" y="1040964"/>
            <a:ext cx="6320901" cy="3970995"/>
          </a:xfrm>
          <a:prstGeom prst="roundRect">
            <a:avLst>
              <a:gd name="adj" fmla="val 2971"/>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231" name="Google Shape;231;p9" descr="Quarterly Report by Region 3D Bar Chart - Data Visualization Mistake"/>
          <p:cNvPicPr preferRelativeResize="0"/>
          <p:nvPr/>
        </p:nvPicPr>
        <p:blipFill rotWithShape="1">
          <a:blip r:embed="rId4">
            <a:alphaModFix/>
          </a:blip>
          <a:srcRect/>
          <a:stretch/>
        </p:blipFill>
        <p:spPr>
          <a:xfrm>
            <a:off x="5635148" y="1171312"/>
            <a:ext cx="4876013" cy="3840647"/>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35"/>
        <p:cNvGrpSpPr/>
        <p:nvPr/>
      </p:nvGrpSpPr>
      <p:grpSpPr>
        <a:xfrm>
          <a:off x="0" y="0"/>
          <a:ext cx="0" cy="0"/>
          <a:chOff x="0" y="0"/>
          <a:chExt cx="0" cy="0"/>
        </a:xfrm>
      </p:grpSpPr>
      <p:sp>
        <p:nvSpPr>
          <p:cNvPr id="236" name="Google Shape;236;p10"/>
          <p:cNvSpPr/>
          <p:nvPr/>
        </p:nvSpPr>
        <p:spPr>
          <a:xfrm>
            <a:off x="764432" y="1468877"/>
            <a:ext cx="10548835" cy="4182893"/>
          </a:xfrm>
          <a:prstGeom prst="roundRect">
            <a:avLst>
              <a:gd name="adj" fmla="val 2971"/>
            </a:avLst>
          </a:prstGeom>
          <a:gradFill>
            <a:gsLst>
              <a:gs pos="0">
                <a:srgbClr val="5B1744"/>
              </a:gs>
              <a:gs pos="50000">
                <a:srgbClr val="852262"/>
              </a:gs>
              <a:gs pos="100000">
                <a:srgbClr val="9F2A77"/>
              </a:gs>
            </a:gsLst>
            <a:lin ang="2700000" scaled="0"/>
          </a:gradFill>
          <a:ln w="12700" cap="flat" cmpd="sng">
            <a:solidFill>
              <a:srgbClr val="731C5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7" name="Google Shape;237;p10"/>
          <p:cNvSpPr txBox="1"/>
          <p:nvPr/>
        </p:nvSpPr>
        <p:spPr>
          <a:xfrm>
            <a:off x="1190871" y="2139262"/>
            <a:ext cx="3040642" cy="584775"/>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600">
                <a:solidFill>
                  <a:schemeClr val="lt1"/>
                </a:solidFill>
                <a:latin typeface="Calibri"/>
                <a:ea typeface="Calibri"/>
                <a:cs typeface="Calibri"/>
                <a:sym typeface="Calibri"/>
              </a:rPr>
              <a:t>Este es un caso que no necesita mayores comentarios.</a:t>
            </a:r>
            <a:endParaRPr sz="1600">
              <a:solidFill>
                <a:schemeClr val="lt1"/>
              </a:solidFill>
              <a:latin typeface="Calibri"/>
              <a:ea typeface="Calibri"/>
              <a:cs typeface="Calibri"/>
              <a:sym typeface="Calibri"/>
            </a:endParaRPr>
          </a:p>
        </p:txBody>
      </p:sp>
      <p:sp>
        <p:nvSpPr>
          <p:cNvPr id="238" name="Google Shape;238;p10"/>
          <p:cNvSpPr/>
          <p:nvPr/>
        </p:nvSpPr>
        <p:spPr>
          <a:xfrm>
            <a:off x="4464979" y="1574825"/>
            <a:ext cx="6320901" cy="3970995"/>
          </a:xfrm>
          <a:prstGeom prst="roundRect">
            <a:avLst>
              <a:gd name="adj" fmla="val 2971"/>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239" name="Google Shape;239;p10" descr="Presidential Elections Pie Chart That Doesn't Sum Up To 100"/>
          <p:cNvPicPr preferRelativeResize="0"/>
          <p:nvPr/>
        </p:nvPicPr>
        <p:blipFill rotWithShape="1">
          <a:blip r:embed="rId4">
            <a:alphaModFix/>
          </a:blip>
          <a:srcRect/>
          <a:stretch/>
        </p:blipFill>
        <p:spPr>
          <a:xfrm>
            <a:off x="5278600" y="1667750"/>
            <a:ext cx="5065774" cy="3785146"/>
          </a:xfrm>
          <a:prstGeom prst="rect">
            <a:avLst/>
          </a:prstGeom>
          <a:noFill/>
          <a:ln>
            <a:noFill/>
          </a:ln>
        </p:spPr>
      </p:pic>
      <p:sp>
        <p:nvSpPr>
          <p:cNvPr id="240" name="Google Shape;240;p10"/>
          <p:cNvSpPr txBox="1"/>
          <p:nvPr/>
        </p:nvSpPr>
        <p:spPr>
          <a:xfrm>
            <a:off x="764433" y="530945"/>
            <a:ext cx="10782300"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Puntos ciegos de la visualización de datos</a:t>
            </a:r>
            <a:endParaRPr sz="2800">
              <a:solidFill>
                <a:srgbClr val="7F7F7F"/>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40"/>
                                        </p:tgtEl>
                                        <p:attrNameLst>
                                          <p:attrName>style.visibility</p:attrName>
                                        </p:attrNameLst>
                                      </p:cBhvr>
                                      <p:to>
                                        <p:strVal val="visible"/>
                                      </p:to>
                                    </p:set>
                                    <p:animEffect transition="in" filter="fade">
                                      <p:cBhvr>
                                        <p:cTn id="7" dur="500"/>
                                        <p:tgtEl>
                                          <p:spTgt spid="2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44"/>
        <p:cNvGrpSpPr/>
        <p:nvPr/>
      </p:nvGrpSpPr>
      <p:grpSpPr>
        <a:xfrm>
          <a:off x="0" y="0"/>
          <a:ext cx="0" cy="0"/>
          <a:chOff x="0" y="0"/>
          <a:chExt cx="0" cy="0"/>
        </a:xfrm>
      </p:grpSpPr>
      <p:sp>
        <p:nvSpPr>
          <p:cNvPr id="245" name="Google Shape;245;p11"/>
          <p:cNvSpPr/>
          <p:nvPr/>
        </p:nvSpPr>
        <p:spPr>
          <a:xfrm>
            <a:off x="417778" y="1772438"/>
            <a:ext cx="10648847" cy="3610217"/>
          </a:xfrm>
          <a:prstGeom prst="roundRect">
            <a:avLst>
              <a:gd name="adj" fmla="val 2971"/>
            </a:avLst>
          </a:prstGeom>
          <a:gradFill>
            <a:gsLst>
              <a:gs pos="0">
                <a:srgbClr val="5B1744"/>
              </a:gs>
              <a:gs pos="50000">
                <a:srgbClr val="852262"/>
              </a:gs>
              <a:gs pos="100000">
                <a:srgbClr val="9F2A77"/>
              </a:gs>
            </a:gsLst>
            <a:lin ang="2700000" scaled="0"/>
          </a:gradFill>
          <a:ln w="12700" cap="flat" cmpd="sng">
            <a:solidFill>
              <a:srgbClr val="731C5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6" name="Google Shape;246;p11"/>
          <p:cNvSpPr txBox="1"/>
          <p:nvPr/>
        </p:nvSpPr>
        <p:spPr>
          <a:xfrm>
            <a:off x="760125" y="520075"/>
            <a:ext cx="5669700" cy="989100"/>
          </a:xfrm>
          <a:prstGeom prst="rect">
            <a:avLst/>
          </a:prstGeom>
          <a:no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r>
              <a:rPr lang="es-ES" sz="3000">
                <a:solidFill>
                  <a:srgbClr val="7F7F7F"/>
                </a:solidFill>
                <a:latin typeface="Arial"/>
                <a:ea typeface="Arial"/>
                <a:cs typeface="Arial"/>
                <a:sym typeface="Arial"/>
              </a:rPr>
              <a:t>Puntos ciegos de la visualización de datos</a:t>
            </a:r>
            <a:endParaRPr sz="2600">
              <a:solidFill>
                <a:srgbClr val="7F7F7F"/>
              </a:solidFill>
              <a:latin typeface="Arial"/>
              <a:ea typeface="Arial"/>
              <a:cs typeface="Arial"/>
              <a:sym typeface="Arial"/>
            </a:endParaRPr>
          </a:p>
        </p:txBody>
      </p:sp>
      <p:sp>
        <p:nvSpPr>
          <p:cNvPr id="247" name="Google Shape;247;p11"/>
          <p:cNvSpPr txBox="1"/>
          <p:nvPr/>
        </p:nvSpPr>
        <p:spPr>
          <a:xfrm>
            <a:off x="887195" y="2001970"/>
            <a:ext cx="6051600" cy="314010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En el siguiente ejemplo, se quiso mostrar cómo ha sido la evolución de la cantidad de personas muertas a causa de una enfermedad mortal, y por otro lado, cómo en el tiempo ha ido aumentando el levantamiento de fondos para combatir dicha enfermedad.</a:t>
            </a:r>
            <a:endParaRPr/>
          </a:p>
          <a:p>
            <a:pPr marL="0" marR="0" lvl="0" indent="0" algn="just" rtl="0">
              <a:spcBef>
                <a:spcPts val="0"/>
              </a:spcBef>
              <a:spcAft>
                <a:spcPts val="0"/>
              </a:spcAft>
              <a:buNone/>
            </a:pPr>
            <a:endParaRPr sz="18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800">
                <a:solidFill>
                  <a:schemeClr val="lt1"/>
                </a:solidFill>
                <a:latin typeface="Calibri"/>
                <a:ea typeface="Calibri"/>
                <a:cs typeface="Calibri"/>
                <a:sym typeface="Calibri"/>
              </a:rPr>
              <a:t>Tal vez un gráfico de barras en el tiempo o un diagrama de líneas hubiera sido más conveniente puesto que, en este caso, se transmite la idea que mientras más fondos se levantan, más muertes se producen. Cosa que posiblemente no era lo que se quería transmitir. </a:t>
            </a:r>
            <a:endParaRPr/>
          </a:p>
        </p:txBody>
      </p:sp>
      <p:sp>
        <p:nvSpPr>
          <p:cNvPr id="248" name="Google Shape;248;p11"/>
          <p:cNvSpPr/>
          <p:nvPr/>
        </p:nvSpPr>
        <p:spPr>
          <a:xfrm>
            <a:off x="7184075" y="254750"/>
            <a:ext cx="4738500" cy="6287400"/>
          </a:xfrm>
          <a:prstGeom prst="roundRect">
            <a:avLst>
              <a:gd name="adj" fmla="val 2971"/>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249" name="Google Shape;249;p11" descr="Wrong Use of a Pie Chart To Show The Relation Between Money Donated To Treat An Illness and Deaths Caused by It"/>
          <p:cNvPicPr preferRelativeResize="0"/>
          <p:nvPr/>
        </p:nvPicPr>
        <p:blipFill rotWithShape="1">
          <a:blip r:embed="rId4">
            <a:alphaModFix/>
          </a:blip>
          <a:srcRect/>
          <a:stretch/>
        </p:blipFill>
        <p:spPr>
          <a:xfrm>
            <a:off x="7433334" y="398246"/>
            <a:ext cx="4219613" cy="59786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46"/>
                                        </p:tgtEl>
                                        <p:attrNameLst>
                                          <p:attrName>style.visibility</p:attrName>
                                        </p:attrNameLst>
                                      </p:cBhvr>
                                      <p:to>
                                        <p:strVal val="visible"/>
                                      </p:to>
                                    </p:set>
                                    <p:animEffect transition="in" filter="fade">
                                      <p:cBhvr>
                                        <p:cTn id="7" dur="500"/>
                                        <p:tgtEl>
                                          <p:spTgt spid="2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53"/>
        <p:cNvGrpSpPr/>
        <p:nvPr/>
      </p:nvGrpSpPr>
      <p:grpSpPr>
        <a:xfrm>
          <a:off x="0" y="0"/>
          <a:ext cx="0" cy="0"/>
          <a:chOff x="0" y="0"/>
          <a:chExt cx="0" cy="0"/>
        </a:xfrm>
      </p:grpSpPr>
      <p:sp>
        <p:nvSpPr>
          <p:cNvPr id="254" name="Google Shape;254;p12"/>
          <p:cNvSpPr/>
          <p:nvPr/>
        </p:nvSpPr>
        <p:spPr>
          <a:xfrm>
            <a:off x="2003348" y="1292400"/>
            <a:ext cx="8339700" cy="4708200"/>
          </a:xfrm>
          <a:prstGeom prst="roundRect">
            <a:avLst>
              <a:gd name="adj" fmla="val 2971"/>
            </a:avLst>
          </a:prstGeom>
          <a:solidFill>
            <a:schemeClr val="lt1"/>
          </a:solidFill>
          <a:ln w="38100" cap="flat" cmpd="sng">
            <a:solidFill>
              <a:srgbClr val="741C5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5" name="Google Shape;255;p12"/>
          <p:cNvSpPr txBox="1"/>
          <p:nvPr/>
        </p:nvSpPr>
        <p:spPr>
          <a:xfrm>
            <a:off x="685826" y="158243"/>
            <a:ext cx="8112900" cy="1257000"/>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Puntos ciegos de la visualización de datos</a:t>
            </a:r>
            <a:endParaRPr sz="2800">
              <a:solidFill>
                <a:srgbClr val="7F7F7F"/>
              </a:solidFill>
              <a:latin typeface="Arial"/>
              <a:ea typeface="Arial"/>
              <a:cs typeface="Arial"/>
              <a:sym typeface="Arial"/>
            </a:endParaRPr>
          </a:p>
        </p:txBody>
      </p:sp>
      <p:sp>
        <p:nvSpPr>
          <p:cNvPr id="256" name="Google Shape;256;p12"/>
          <p:cNvSpPr txBox="1"/>
          <p:nvPr/>
        </p:nvSpPr>
        <p:spPr>
          <a:xfrm>
            <a:off x="6573263" y="2904150"/>
            <a:ext cx="3354686" cy="1262100"/>
          </a:xfrm>
          <a:prstGeom prst="rect">
            <a:avLst/>
          </a:prstGeom>
          <a:solidFill>
            <a:srgbClr val="D8D8D8"/>
          </a:solidFill>
          <a:ln w="9525" cap="flat" cmpd="sng">
            <a:solidFill>
              <a:srgbClr val="7F7F7F"/>
            </a:solidFill>
            <a:prstDash val="solid"/>
            <a:round/>
            <a:headEnd type="none" w="sm" len="sm"/>
            <a:tailEnd type="none" w="sm" len="sm"/>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900">
                <a:solidFill>
                  <a:srgbClr val="595959"/>
                </a:solidFill>
                <a:latin typeface="Calibri"/>
                <a:ea typeface="Calibri"/>
                <a:cs typeface="Calibri"/>
                <a:sym typeface="Calibri"/>
              </a:rPr>
              <a:t>Aunque no lo parezca, la elección de colores también es importante en una visualización gráfica.</a:t>
            </a:r>
            <a:endParaRPr sz="1300"/>
          </a:p>
        </p:txBody>
      </p:sp>
      <p:sp>
        <p:nvSpPr>
          <p:cNvPr id="257" name="Google Shape;257;p12"/>
          <p:cNvSpPr/>
          <p:nvPr/>
        </p:nvSpPr>
        <p:spPr>
          <a:xfrm>
            <a:off x="2320060" y="1510701"/>
            <a:ext cx="4080000" cy="4336500"/>
          </a:xfrm>
          <a:prstGeom prst="roundRect">
            <a:avLst>
              <a:gd name="adj" fmla="val 2971"/>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258" name="Google Shape;258;p12" descr="Deaths in Florida Upside Down Chart"/>
          <p:cNvPicPr preferRelativeResize="0"/>
          <p:nvPr/>
        </p:nvPicPr>
        <p:blipFill rotWithShape="1">
          <a:blip r:embed="rId4">
            <a:alphaModFix/>
          </a:blip>
          <a:srcRect/>
          <a:stretch/>
        </p:blipFill>
        <p:spPr>
          <a:xfrm>
            <a:off x="2734026" y="1640573"/>
            <a:ext cx="3409950" cy="40767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55"/>
                                        </p:tgtEl>
                                        <p:attrNameLst>
                                          <p:attrName>style.visibility</p:attrName>
                                        </p:attrNameLst>
                                      </p:cBhvr>
                                      <p:to>
                                        <p:strVal val="visible"/>
                                      </p:to>
                                    </p:set>
                                    <p:animEffect transition="in" filter="fade">
                                      <p:cBhvr>
                                        <p:cTn id="7" dur="500"/>
                                        <p:tgtEl>
                                          <p:spTgt spid="2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62"/>
        <p:cNvGrpSpPr/>
        <p:nvPr/>
      </p:nvGrpSpPr>
      <p:grpSpPr>
        <a:xfrm>
          <a:off x="0" y="0"/>
          <a:ext cx="0" cy="0"/>
          <a:chOff x="0" y="0"/>
          <a:chExt cx="0" cy="0"/>
        </a:xfrm>
      </p:grpSpPr>
      <p:sp>
        <p:nvSpPr>
          <p:cNvPr id="263" name="Google Shape;263;p13"/>
          <p:cNvSpPr/>
          <p:nvPr/>
        </p:nvSpPr>
        <p:spPr>
          <a:xfrm>
            <a:off x="515566" y="1410512"/>
            <a:ext cx="11138170" cy="4280170"/>
          </a:xfrm>
          <a:prstGeom prst="roundRect">
            <a:avLst>
              <a:gd name="adj" fmla="val 2971"/>
            </a:avLst>
          </a:prstGeom>
          <a:gradFill>
            <a:gsLst>
              <a:gs pos="0">
                <a:srgbClr val="5B1744"/>
              </a:gs>
              <a:gs pos="50000">
                <a:srgbClr val="852262"/>
              </a:gs>
              <a:gs pos="100000">
                <a:srgbClr val="9F2A77"/>
              </a:gs>
            </a:gsLst>
            <a:lin ang="2700000" scaled="0"/>
          </a:gradFill>
          <a:ln w="12700" cap="flat" cmpd="sng">
            <a:solidFill>
              <a:srgbClr val="731C5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4" name="Google Shape;264;p13"/>
          <p:cNvSpPr txBox="1"/>
          <p:nvPr/>
        </p:nvSpPr>
        <p:spPr>
          <a:xfrm>
            <a:off x="894333" y="1675205"/>
            <a:ext cx="3925141" cy="1477328"/>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Cuidado con el exceso de datos en las visualizaciones. Muchas veces un exceso de información de visualización hace que se dificulte la transmisión de las ideas principales.</a:t>
            </a:r>
            <a:endParaRPr sz="1800">
              <a:solidFill>
                <a:schemeClr val="lt1"/>
              </a:solidFill>
              <a:latin typeface="Calibri"/>
              <a:ea typeface="Calibri"/>
              <a:cs typeface="Calibri"/>
              <a:sym typeface="Calibri"/>
            </a:endParaRPr>
          </a:p>
        </p:txBody>
      </p:sp>
      <p:sp>
        <p:nvSpPr>
          <p:cNvPr id="265" name="Google Shape;265;p13"/>
          <p:cNvSpPr/>
          <p:nvPr/>
        </p:nvSpPr>
        <p:spPr>
          <a:xfrm>
            <a:off x="5038911" y="1558179"/>
            <a:ext cx="6320901" cy="3970995"/>
          </a:xfrm>
          <a:prstGeom prst="roundRect">
            <a:avLst>
              <a:gd name="adj" fmla="val 2971"/>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266" name="Google Shape;266;p13" descr="Information overload is a common data visualization mistake."/>
          <p:cNvPicPr preferRelativeResize="0"/>
          <p:nvPr/>
        </p:nvPicPr>
        <p:blipFill rotWithShape="1">
          <a:blip r:embed="rId4">
            <a:alphaModFix/>
          </a:blip>
          <a:srcRect l="7443"/>
          <a:stretch/>
        </p:blipFill>
        <p:spPr>
          <a:xfrm>
            <a:off x="5152890" y="1675205"/>
            <a:ext cx="6092942" cy="3797877"/>
          </a:xfrm>
          <a:prstGeom prst="rect">
            <a:avLst/>
          </a:prstGeom>
          <a:noFill/>
          <a:ln>
            <a:noFill/>
          </a:ln>
        </p:spPr>
      </p:pic>
      <p:sp>
        <p:nvSpPr>
          <p:cNvPr id="267" name="Google Shape;267;p13"/>
          <p:cNvSpPr txBox="1"/>
          <p:nvPr/>
        </p:nvSpPr>
        <p:spPr>
          <a:xfrm>
            <a:off x="894333" y="494042"/>
            <a:ext cx="8112868" cy="840922"/>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Puntos ciegos de la visualización de datos</a:t>
            </a:r>
            <a:endParaRPr sz="2800">
              <a:solidFill>
                <a:srgbClr val="7F7F7F"/>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67"/>
                                        </p:tgtEl>
                                        <p:attrNameLst>
                                          <p:attrName>style.visibility</p:attrName>
                                        </p:attrNameLst>
                                      </p:cBhvr>
                                      <p:to>
                                        <p:strVal val="visible"/>
                                      </p:to>
                                    </p:set>
                                    <p:animEffect transition="in" filter="fade">
                                      <p:cBhvr>
                                        <p:cTn id="7" dur="500"/>
                                        <p:tgtEl>
                                          <p:spTgt spid="2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71"/>
        <p:cNvGrpSpPr/>
        <p:nvPr/>
      </p:nvGrpSpPr>
      <p:grpSpPr>
        <a:xfrm>
          <a:off x="0" y="0"/>
          <a:ext cx="0" cy="0"/>
          <a:chOff x="0" y="0"/>
          <a:chExt cx="0" cy="0"/>
        </a:xfrm>
      </p:grpSpPr>
      <p:sp>
        <p:nvSpPr>
          <p:cNvPr id="272" name="Google Shape;272;p14"/>
          <p:cNvSpPr/>
          <p:nvPr/>
        </p:nvSpPr>
        <p:spPr>
          <a:xfrm>
            <a:off x="515566" y="1375719"/>
            <a:ext cx="11138170" cy="4280170"/>
          </a:xfrm>
          <a:prstGeom prst="roundRect">
            <a:avLst>
              <a:gd name="adj" fmla="val 2971"/>
            </a:avLst>
          </a:prstGeom>
          <a:gradFill>
            <a:gsLst>
              <a:gs pos="0">
                <a:srgbClr val="5B1744"/>
              </a:gs>
              <a:gs pos="50000">
                <a:srgbClr val="852262"/>
              </a:gs>
              <a:gs pos="100000">
                <a:srgbClr val="9F2A77"/>
              </a:gs>
            </a:gsLst>
            <a:lin ang="2700000" scaled="0"/>
          </a:gradFill>
          <a:ln w="12700" cap="flat" cmpd="sng">
            <a:solidFill>
              <a:srgbClr val="731C5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3" name="Google Shape;273;p14"/>
          <p:cNvSpPr txBox="1"/>
          <p:nvPr/>
        </p:nvSpPr>
        <p:spPr>
          <a:xfrm>
            <a:off x="894337" y="2023230"/>
            <a:ext cx="3925200" cy="286290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El manejo de la escala es algo que también se debe determinar con cuidado pues produce una distorsión en la percepción.</a:t>
            </a:r>
            <a:endParaRPr/>
          </a:p>
          <a:p>
            <a:pPr marL="0" marR="0" lvl="0" indent="0" algn="just" rtl="0">
              <a:spcBef>
                <a:spcPts val="0"/>
              </a:spcBef>
              <a:spcAft>
                <a:spcPts val="0"/>
              </a:spcAft>
              <a:buNone/>
            </a:pPr>
            <a:endParaRPr sz="18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800">
                <a:solidFill>
                  <a:schemeClr val="lt1"/>
                </a:solidFill>
                <a:latin typeface="Calibri"/>
                <a:ea typeface="Calibri"/>
                <a:cs typeface="Calibri"/>
                <a:sym typeface="Calibri"/>
              </a:rPr>
              <a:t>Nótese cómo en el primer gráfico se da a entender que el grupo A es muy superior a los demás, cosa que no se observa en el gráfico de la derecha al ampliar la escala.</a:t>
            </a:r>
            <a:endParaRPr/>
          </a:p>
        </p:txBody>
      </p:sp>
      <p:sp>
        <p:nvSpPr>
          <p:cNvPr id="274" name="Google Shape;274;p14"/>
          <p:cNvSpPr/>
          <p:nvPr/>
        </p:nvSpPr>
        <p:spPr>
          <a:xfrm>
            <a:off x="5221548" y="1530306"/>
            <a:ext cx="6320901" cy="3970995"/>
          </a:xfrm>
          <a:prstGeom prst="roundRect">
            <a:avLst>
              <a:gd name="adj" fmla="val 2971"/>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275" name="Google Shape;275;p14" descr="Omitting the baseline is a deceptive data visualization technique."/>
          <p:cNvPicPr preferRelativeResize="0"/>
          <p:nvPr/>
        </p:nvPicPr>
        <p:blipFill rotWithShape="1">
          <a:blip r:embed="rId4">
            <a:alphaModFix/>
          </a:blip>
          <a:srcRect/>
          <a:stretch/>
        </p:blipFill>
        <p:spPr>
          <a:xfrm>
            <a:off x="5392887" y="1791316"/>
            <a:ext cx="5978222" cy="3448974"/>
          </a:xfrm>
          <a:prstGeom prst="rect">
            <a:avLst/>
          </a:prstGeom>
          <a:noFill/>
          <a:ln>
            <a:noFill/>
          </a:ln>
        </p:spPr>
      </p:pic>
      <p:sp>
        <p:nvSpPr>
          <p:cNvPr id="276" name="Google Shape;276;p14"/>
          <p:cNvSpPr txBox="1"/>
          <p:nvPr/>
        </p:nvSpPr>
        <p:spPr>
          <a:xfrm>
            <a:off x="894333" y="494042"/>
            <a:ext cx="8112868" cy="840922"/>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Puntos ciegos de la visualización de datos</a:t>
            </a:r>
            <a:endParaRPr sz="2800">
              <a:solidFill>
                <a:srgbClr val="7F7F7F"/>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76"/>
                                        </p:tgtEl>
                                        <p:attrNameLst>
                                          <p:attrName>style.visibility</p:attrName>
                                        </p:attrNameLst>
                                      </p:cBhvr>
                                      <p:to>
                                        <p:strVal val="visible"/>
                                      </p:to>
                                    </p:set>
                                    <p:animEffect transition="in" filter="fade">
                                      <p:cBhvr>
                                        <p:cTn id="7" dur="500"/>
                                        <p:tgtEl>
                                          <p:spTgt spid="2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80"/>
        <p:cNvGrpSpPr/>
        <p:nvPr/>
      </p:nvGrpSpPr>
      <p:grpSpPr>
        <a:xfrm>
          <a:off x="0" y="0"/>
          <a:ext cx="0" cy="0"/>
          <a:chOff x="0" y="0"/>
          <a:chExt cx="0" cy="0"/>
        </a:xfrm>
      </p:grpSpPr>
      <p:sp>
        <p:nvSpPr>
          <p:cNvPr id="281" name="Google Shape;281;p15"/>
          <p:cNvSpPr/>
          <p:nvPr/>
        </p:nvSpPr>
        <p:spPr>
          <a:xfrm>
            <a:off x="515566" y="1375719"/>
            <a:ext cx="11138170" cy="4280170"/>
          </a:xfrm>
          <a:prstGeom prst="roundRect">
            <a:avLst>
              <a:gd name="adj" fmla="val 2971"/>
            </a:avLst>
          </a:prstGeom>
          <a:gradFill>
            <a:gsLst>
              <a:gs pos="0">
                <a:srgbClr val="5B1744"/>
              </a:gs>
              <a:gs pos="50000">
                <a:srgbClr val="852262"/>
              </a:gs>
              <a:gs pos="100000">
                <a:srgbClr val="9F2A77"/>
              </a:gs>
            </a:gsLst>
            <a:lin ang="2700000" scaled="0"/>
          </a:gradFill>
          <a:ln w="12700" cap="flat" cmpd="sng">
            <a:solidFill>
              <a:srgbClr val="731C5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2" name="Google Shape;282;p15"/>
          <p:cNvSpPr txBox="1"/>
          <p:nvPr/>
        </p:nvSpPr>
        <p:spPr>
          <a:xfrm>
            <a:off x="894332" y="1949706"/>
            <a:ext cx="3925200" cy="286290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A veces es posible que se dé a entender en una audiencia que existe causalidad entre dos variables por el mero hecho que los gráficos muestran una correlación. </a:t>
            </a:r>
            <a:endParaRPr/>
          </a:p>
          <a:p>
            <a:pPr marL="0" marR="0" lvl="0" indent="0" algn="just" rtl="0">
              <a:spcBef>
                <a:spcPts val="0"/>
              </a:spcBef>
              <a:spcAft>
                <a:spcPts val="0"/>
              </a:spcAft>
              <a:buNone/>
            </a:pPr>
            <a:endParaRPr sz="18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800">
                <a:solidFill>
                  <a:schemeClr val="lt1"/>
                </a:solidFill>
                <a:latin typeface="Calibri"/>
                <a:ea typeface="Calibri"/>
                <a:cs typeface="Calibri"/>
                <a:sym typeface="Calibri"/>
              </a:rPr>
              <a:t>Sin embargo, ya sabemos que correlación no implica causalidad y ya sabemos acerca de las correlaciones espurias.</a:t>
            </a:r>
            <a:endParaRPr/>
          </a:p>
        </p:txBody>
      </p:sp>
      <p:sp>
        <p:nvSpPr>
          <p:cNvPr id="283" name="Google Shape;283;p15"/>
          <p:cNvSpPr/>
          <p:nvPr/>
        </p:nvSpPr>
        <p:spPr>
          <a:xfrm>
            <a:off x="5062249" y="1499729"/>
            <a:ext cx="6452700" cy="4013100"/>
          </a:xfrm>
          <a:prstGeom prst="roundRect">
            <a:avLst>
              <a:gd name="adj" fmla="val 2971"/>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284" name="Google Shape;284;p15" descr="Linking correlation to causation is a data visualization mistake."/>
          <p:cNvPicPr preferRelativeResize="0"/>
          <p:nvPr/>
        </p:nvPicPr>
        <p:blipFill rotWithShape="1">
          <a:blip r:embed="rId4">
            <a:alphaModFix/>
          </a:blip>
          <a:srcRect/>
          <a:stretch/>
        </p:blipFill>
        <p:spPr>
          <a:xfrm>
            <a:off x="5213204" y="1741543"/>
            <a:ext cx="6150795" cy="3548536"/>
          </a:xfrm>
          <a:prstGeom prst="rect">
            <a:avLst/>
          </a:prstGeom>
          <a:noFill/>
          <a:ln>
            <a:noFill/>
          </a:ln>
        </p:spPr>
      </p:pic>
      <p:sp>
        <p:nvSpPr>
          <p:cNvPr id="285" name="Google Shape;285;p15"/>
          <p:cNvSpPr txBox="1"/>
          <p:nvPr/>
        </p:nvSpPr>
        <p:spPr>
          <a:xfrm>
            <a:off x="894333" y="494042"/>
            <a:ext cx="8112868" cy="840922"/>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Puntos ciegos de la visualización de datos</a:t>
            </a:r>
            <a:endParaRPr sz="2800">
              <a:solidFill>
                <a:srgbClr val="7F7F7F"/>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85"/>
                                        </p:tgtEl>
                                        <p:attrNameLst>
                                          <p:attrName>style.visibility</p:attrName>
                                        </p:attrNameLst>
                                      </p:cBhvr>
                                      <p:to>
                                        <p:strVal val="visible"/>
                                      </p:to>
                                    </p:set>
                                    <p:animEffect transition="in" filter="fade">
                                      <p:cBhvr>
                                        <p:cTn id="7" dur="500"/>
                                        <p:tgtEl>
                                          <p:spTgt spid="2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89"/>
        <p:cNvGrpSpPr/>
        <p:nvPr/>
      </p:nvGrpSpPr>
      <p:grpSpPr>
        <a:xfrm>
          <a:off x="0" y="0"/>
          <a:ext cx="0" cy="0"/>
          <a:chOff x="0" y="0"/>
          <a:chExt cx="0" cy="0"/>
        </a:xfrm>
      </p:grpSpPr>
      <p:sp>
        <p:nvSpPr>
          <p:cNvPr id="290" name="Google Shape;290;p16"/>
          <p:cNvSpPr/>
          <p:nvPr/>
        </p:nvSpPr>
        <p:spPr>
          <a:xfrm>
            <a:off x="458853" y="1434085"/>
            <a:ext cx="11138170" cy="4280170"/>
          </a:xfrm>
          <a:prstGeom prst="roundRect">
            <a:avLst>
              <a:gd name="adj" fmla="val 2971"/>
            </a:avLst>
          </a:prstGeom>
          <a:gradFill>
            <a:gsLst>
              <a:gs pos="0">
                <a:srgbClr val="5B1744"/>
              </a:gs>
              <a:gs pos="50000">
                <a:srgbClr val="852262"/>
              </a:gs>
              <a:gs pos="100000">
                <a:srgbClr val="9F2A77"/>
              </a:gs>
            </a:gsLst>
            <a:lin ang="2700000" scaled="0"/>
          </a:gradFill>
          <a:ln w="12700" cap="flat" cmpd="sng">
            <a:solidFill>
              <a:srgbClr val="731C5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1" name="Google Shape;291;p16"/>
          <p:cNvSpPr txBox="1"/>
          <p:nvPr/>
        </p:nvSpPr>
        <p:spPr>
          <a:xfrm>
            <a:off x="860537" y="2540967"/>
            <a:ext cx="4357109" cy="1754326"/>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Utilizar el zoom en un gráfico de forma inadecuada puede llevar a mostrar un panorama totalmente distinto a la realidad.</a:t>
            </a:r>
            <a:endParaRPr/>
          </a:p>
          <a:p>
            <a:pPr marL="0" marR="0" lvl="0" indent="0" algn="just" rtl="0">
              <a:spcBef>
                <a:spcPts val="0"/>
              </a:spcBef>
              <a:spcAft>
                <a:spcPts val="0"/>
              </a:spcAft>
              <a:buNone/>
            </a:pPr>
            <a:endParaRPr sz="18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800">
                <a:solidFill>
                  <a:schemeClr val="lt1"/>
                </a:solidFill>
                <a:latin typeface="Calibri"/>
                <a:ea typeface="Calibri"/>
                <a:cs typeface="Calibri"/>
                <a:sym typeface="Calibri"/>
              </a:rPr>
              <a:t>Aunque altamente cuestionado, este es un recurso frecuente. </a:t>
            </a:r>
            <a:endParaRPr/>
          </a:p>
        </p:txBody>
      </p:sp>
      <p:sp>
        <p:nvSpPr>
          <p:cNvPr id="292" name="Google Shape;292;p16"/>
          <p:cNvSpPr/>
          <p:nvPr/>
        </p:nvSpPr>
        <p:spPr>
          <a:xfrm>
            <a:off x="6027938" y="1604181"/>
            <a:ext cx="5331874" cy="3970995"/>
          </a:xfrm>
          <a:prstGeom prst="roundRect">
            <a:avLst>
              <a:gd name="adj" fmla="val 2971"/>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293" name="Google Shape;293;p16" descr="Zoomed-in data visualizations mislead viewers."/>
          <p:cNvPicPr preferRelativeResize="0"/>
          <p:nvPr/>
        </p:nvPicPr>
        <p:blipFill rotWithShape="1">
          <a:blip r:embed="rId4">
            <a:alphaModFix/>
          </a:blip>
          <a:srcRect/>
          <a:stretch/>
        </p:blipFill>
        <p:spPr>
          <a:xfrm>
            <a:off x="6643456" y="1716292"/>
            <a:ext cx="4187301" cy="3623626"/>
          </a:xfrm>
          <a:prstGeom prst="rect">
            <a:avLst/>
          </a:prstGeom>
          <a:noFill/>
          <a:ln>
            <a:noFill/>
          </a:ln>
        </p:spPr>
      </p:pic>
      <p:sp>
        <p:nvSpPr>
          <p:cNvPr id="294" name="Google Shape;294;p16"/>
          <p:cNvSpPr txBox="1"/>
          <p:nvPr/>
        </p:nvSpPr>
        <p:spPr>
          <a:xfrm>
            <a:off x="894333" y="494042"/>
            <a:ext cx="8112868" cy="840922"/>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Puntos ciegos de la visualización de datos</a:t>
            </a:r>
            <a:endParaRPr sz="2800">
              <a:solidFill>
                <a:srgbClr val="7F7F7F"/>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94"/>
                                        </p:tgtEl>
                                        <p:attrNameLst>
                                          <p:attrName>style.visibility</p:attrName>
                                        </p:attrNameLst>
                                      </p:cBhvr>
                                      <p:to>
                                        <p:strVal val="visible"/>
                                      </p:to>
                                    </p:set>
                                    <p:animEffect transition="in" filter="fade">
                                      <p:cBhvr>
                                        <p:cTn id="7" dur="500"/>
                                        <p:tgtEl>
                                          <p:spTgt spid="2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98"/>
        <p:cNvGrpSpPr/>
        <p:nvPr/>
      </p:nvGrpSpPr>
      <p:grpSpPr>
        <a:xfrm>
          <a:off x="0" y="0"/>
          <a:ext cx="0" cy="0"/>
          <a:chOff x="0" y="0"/>
          <a:chExt cx="0" cy="0"/>
        </a:xfrm>
      </p:grpSpPr>
      <p:sp>
        <p:nvSpPr>
          <p:cNvPr id="299" name="Google Shape;299;p17"/>
          <p:cNvSpPr/>
          <p:nvPr/>
        </p:nvSpPr>
        <p:spPr>
          <a:xfrm>
            <a:off x="-877407" y="1367825"/>
            <a:ext cx="12474430" cy="4346430"/>
          </a:xfrm>
          <a:prstGeom prst="roundRect">
            <a:avLst>
              <a:gd name="adj" fmla="val 2971"/>
            </a:avLst>
          </a:prstGeom>
          <a:gradFill>
            <a:gsLst>
              <a:gs pos="0">
                <a:srgbClr val="5B1744"/>
              </a:gs>
              <a:gs pos="50000">
                <a:srgbClr val="852262"/>
              </a:gs>
              <a:gs pos="100000">
                <a:srgbClr val="9F2A77"/>
              </a:gs>
            </a:gsLst>
            <a:lin ang="2700000" scaled="0"/>
          </a:gradFill>
          <a:ln w="12700" cap="flat" cmpd="sng">
            <a:solidFill>
              <a:srgbClr val="731C5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00" name="Google Shape;300;p17"/>
          <p:cNvSpPr txBox="1"/>
          <p:nvPr/>
        </p:nvSpPr>
        <p:spPr>
          <a:xfrm>
            <a:off x="444723" y="2271788"/>
            <a:ext cx="4015044" cy="2308284"/>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Por último, la elección correcta de colores también es importante al momento de elaborar una visualización.</a:t>
            </a:r>
            <a:endParaRPr/>
          </a:p>
          <a:p>
            <a:pPr marL="0" marR="0" lvl="0" indent="0" algn="just" rtl="0">
              <a:spcBef>
                <a:spcPts val="0"/>
              </a:spcBef>
              <a:spcAft>
                <a:spcPts val="0"/>
              </a:spcAft>
              <a:buNone/>
            </a:pPr>
            <a:endParaRPr sz="18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800">
                <a:solidFill>
                  <a:schemeClr val="lt1"/>
                </a:solidFill>
                <a:latin typeface="Calibri"/>
                <a:ea typeface="Calibri"/>
                <a:cs typeface="Calibri"/>
                <a:sym typeface="Calibri"/>
              </a:rPr>
              <a:t>Nótese cómo los colores azules y verdes del mapa de calor distorsionan la perspectiva geográfica del mapa confundiéndose con océano y tierra.</a:t>
            </a:r>
            <a:endParaRPr/>
          </a:p>
        </p:txBody>
      </p:sp>
      <p:sp>
        <p:nvSpPr>
          <p:cNvPr id="301" name="Google Shape;301;p17"/>
          <p:cNvSpPr/>
          <p:nvPr/>
        </p:nvSpPr>
        <p:spPr>
          <a:xfrm>
            <a:off x="4643021" y="1604181"/>
            <a:ext cx="6716791" cy="3970995"/>
          </a:xfrm>
          <a:prstGeom prst="roundRect">
            <a:avLst>
              <a:gd name="adj" fmla="val 2971"/>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302" name="Google Shape;302;p17" descr="Ignoring common color associations causes data visualization confusion."/>
          <p:cNvPicPr preferRelativeResize="0"/>
          <p:nvPr/>
        </p:nvPicPr>
        <p:blipFill rotWithShape="1">
          <a:blip r:embed="rId4">
            <a:alphaModFix/>
          </a:blip>
          <a:srcRect/>
          <a:stretch/>
        </p:blipFill>
        <p:spPr>
          <a:xfrm>
            <a:off x="4946340" y="1796533"/>
            <a:ext cx="6141869" cy="3543385"/>
          </a:xfrm>
          <a:prstGeom prst="rect">
            <a:avLst/>
          </a:prstGeom>
          <a:noFill/>
          <a:ln>
            <a:noFill/>
          </a:ln>
        </p:spPr>
      </p:pic>
      <p:sp>
        <p:nvSpPr>
          <p:cNvPr id="303" name="Google Shape;303;p17"/>
          <p:cNvSpPr txBox="1"/>
          <p:nvPr/>
        </p:nvSpPr>
        <p:spPr>
          <a:xfrm>
            <a:off x="894333" y="494042"/>
            <a:ext cx="8112868" cy="840922"/>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Puntos ciegos de la visualización de datos</a:t>
            </a:r>
            <a:endParaRPr sz="2800">
              <a:solidFill>
                <a:srgbClr val="7F7F7F"/>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03"/>
                                        </p:tgtEl>
                                        <p:attrNameLst>
                                          <p:attrName>style.visibility</p:attrName>
                                        </p:attrNameLst>
                                      </p:cBhvr>
                                      <p:to>
                                        <p:strVal val="visible"/>
                                      </p:to>
                                    </p:set>
                                    <p:animEffect transition="in" filter="fade">
                                      <p:cBhvr>
                                        <p:cTn id="7" dur="500"/>
                                        <p:tgtEl>
                                          <p:spTgt spid="3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07"/>
        <p:cNvGrpSpPr/>
        <p:nvPr/>
      </p:nvGrpSpPr>
      <p:grpSpPr>
        <a:xfrm>
          <a:off x="0" y="0"/>
          <a:ext cx="0" cy="0"/>
          <a:chOff x="0" y="0"/>
          <a:chExt cx="0" cy="0"/>
        </a:xfrm>
      </p:grpSpPr>
      <p:sp>
        <p:nvSpPr>
          <p:cNvPr id="308" name="Google Shape;308;p18"/>
          <p:cNvSpPr/>
          <p:nvPr/>
        </p:nvSpPr>
        <p:spPr>
          <a:xfrm>
            <a:off x="-642025" y="1167319"/>
            <a:ext cx="10982527" cy="3895371"/>
          </a:xfrm>
          <a:prstGeom prst="roundRect">
            <a:avLst>
              <a:gd name="adj" fmla="val 2971"/>
            </a:avLst>
          </a:prstGeom>
          <a:gradFill>
            <a:gsLst>
              <a:gs pos="0">
                <a:srgbClr val="5B1744"/>
              </a:gs>
              <a:gs pos="50000">
                <a:srgbClr val="852262"/>
              </a:gs>
              <a:gs pos="100000">
                <a:srgbClr val="9F2A77"/>
              </a:gs>
            </a:gsLst>
            <a:lin ang="2700000" scaled="0"/>
          </a:gradFill>
          <a:ln w="12700" cap="flat" cmpd="sng">
            <a:solidFill>
              <a:srgbClr val="731C5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09" name="Google Shape;309;p18"/>
          <p:cNvSpPr txBox="1"/>
          <p:nvPr/>
        </p:nvSpPr>
        <p:spPr>
          <a:xfrm>
            <a:off x="1070138" y="159257"/>
            <a:ext cx="8612705"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endParaRPr sz="3600">
              <a:solidFill>
                <a:srgbClr val="7F7F7F"/>
              </a:solidFill>
              <a:latin typeface="Arial"/>
              <a:ea typeface="Arial"/>
              <a:cs typeface="Arial"/>
              <a:sym typeface="Arial"/>
            </a:endParaRPr>
          </a:p>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Librerías de Visualización</a:t>
            </a:r>
            <a:endParaRPr/>
          </a:p>
          <a:p>
            <a:pPr marL="0" marR="0" lvl="0" indent="0" algn="l" rtl="0">
              <a:lnSpc>
                <a:spcPct val="150000"/>
              </a:lnSpc>
              <a:spcBef>
                <a:spcPts val="0"/>
              </a:spcBef>
              <a:spcAft>
                <a:spcPts val="0"/>
              </a:spcAft>
              <a:buNone/>
            </a:pPr>
            <a:endParaRPr sz="3200">
              <a:solidFill>
                <a:srgbClr val="7F7F7F"/>
              </a:solidFill>
              <a:latin typeface="Arial"/>
              <a:ea typeface="Arial"/>
              <a:cs typeface="Arial"/>
              <a:sym typeface="Arial"/>
            </a:endParaRPr>
          </a:p>
        </p:txBody>
      </p:sp>
      <p:sp>
        <p:nvSpPr>
          <p:cNvPr id="310" name="Google Shape;310;p18"/>
          <p:cNvSpPr txBox="1"/>
          <p:nvPr/>
        </p:nvSpPr>
        <p:spPr>
          <a:xfrm>
            <a:off x="1070138" y="2274272"/>
            <a:ext cx="8612700" cy="2308284"/>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b="1">
                <a:solidFill>
                  <a:schemeClr val="lt1"/>
                </a:solidFill>
                <a:latin typeface="Calibri"/>
                <a:ea typeface="Calibri"/>
                <a:cs typeface="Calibri"/>
                <a:sym typeface="Calibri"/>
              </a:rPr>
              <a:t>Matplotlib:</a:t>
            </a:r>
            <a:r>
              <a:rPr lang="es-ES" sz="1800">
                <a:solidFill>
                  <a:schemeClr val="lt1"/>
                </a:solidFill>
                <a:latin typeface="Calibri"/>
                <a:ea typeface="Calibri"/>
                <a:cs typeface="Calibri"/>
                <a:sym typeface="Calibri"/>
              </a:rPr>
              <a:t> para gráficas sencillas con bars, pies, lines, scatter plots, etc.</a:t>
            </a:r>
            <a:endParaRPr lang="es-ES"/>
          </a:p>
          <a:p>
            <a:pPr marL="0" marR="0" lvl="0" indent="0" algn="just" rtl="0">
              <a:spcBef>
                <a:spcPts val="0"/>
              </a:spcBef>
              <a:spcAft>
                <a:spcPts val="0"/>
              </a:spcAft>
              <a:buNone/>
            </a:pPr>
            <a:endParaRPr sz="1800">
              <a:solidFill>
                <a:schemeClr val="lt1"/>
              </a:solidFill>
              <a:latin typeface="Calibri"/>
              <a:ea typeface="Calibri"/>
              <a:cs typeface="Calibri"/>
            </a:endParaRPr>
          </a:p>
          <a:p>
            <a:pPr marL="0" marR="0" lvl="0" indent="0" algn="just" rtl="0">
              <a:spcBef>
                <a:spcPts val="0"/>
              </a:spcBef>
              <a:spcAft>
                <a:spcPts val="0"/>
              </a:spcAft>
              <a:buNone/>
            </a:pPr>
            <a:r>
              <a:rPr lang="es-ES" sz="1800" b="1">
                <a:solidFill>
                  <a:schemeClr val="lt1"/>
                </a:solidFill>
                <a:latin typeface="Calibri"/>
                <a:ea typeface="Calibri"/>
                <a:cs typeface="Calibri"/>
                <a:sym typeface="Calibri"/>
              </a:rPr>
              <a:t>Seaborn:</a:t>
            </a:r>
            <a:r>
              <a:rPr lang="es-ES" sz="1800">
                <a:solidFill>
                  <a:schemeClr val="lt1"/>
                </a:solidFill>
                <a:latin typeface="Calibri"/>
                <a:ea typeface="Calibri"/>
                <a:cs typeface="Calibri"/>
                <a:sym typeface="Calibri"/>
              </a:rPr>
              <a:t> para visualización estadística, para crear mapas de calor o de alguna manera resumiendo los datos y aún desea mostrar la distribución de los datos.</a:t>
            </a:r>
            <a:endParaRPr/>
          </a:p>
          <a:p>
            <a:pPr marL="0" marR="0" lvl="0" indent="0" algn="just" rtl="0">
              <a:spcBef>
                <a:spcPts val="0"/>
              </a:spcBef>
              <a:spcAft>
                <a:spcPts val="0"/>
              </a:spcAft>
              <a:buNone/>
            </a:pPr>
            <a:endParaRPr sz="1800">
              <a:solidFill>
                <a:schemeClr val="lt1"/>
              </a:solidFill>
              <a:latin typeface="Calibri"/>
              <a:ea typeface="Calibri"/>
              <a:cs typeface="Calibri"/>
            </a:endParaRPr>
          </a:p>
          <a:p>
            <a:pPr marL="0" marR="0" lvl="0" indent="0" algn="just" rtl="0">
              <a:spcBef>
                <a:spcPts val="0"/>
              </a:spcBef>
              <a:spcAft>
                <a:spcPts val="0"/>
              </a:spcAft>
              <a:buNone/>
            </a:pPr>
            <a:r>
              <a:rPr lang="es-ES" sz="1800" b="1">
                <a:solidFill>
                  <a:schemeClr val="lt1"/>
                </a:solidFill>
                <a:latin typeface="Calibri"/>
                <a:ea typeface="Calibri"/>
                <a:cs typeface="Calibri"/>
                <a:sym typeface="Calibri"/>
              </a:rPr>
              <a:t>Plotly y Bokeh: </a:t>
            </a:r>
            <a:r>
              <a:rPr lang="es-ES" sz="1800">
                <a:solidFill>
                  <a:schemeClr val="lt1"/>
                </a:solidFill>
                <a:latin typeface="Calibri"/>
                <a:ea typeface="Calibri"/>
                <a:cs typeface="Calibri"/>
                <a:sym typeface="Calibri"/>
              </a:rPr>
              <a:t>para visualización interactiva. Si los datos son tan complejos (o no puede ver la información de sus datos), se recomienda utilizar Plotly y Bokeh para crear visualizaciones interactivas que permitan a los usuarios explorar los datos mismos.</a:t>
            </a:r>
            <a:endParaRPr sz="1600">
              <a:solidFill>
                <a:schemeClr val="lt1"/>
              </a:solidFill>
              <a:latin typeface="Arial"/>
              <a:ea typeface="Arial"/>
              <a:cs typeface="Arial"/>
            </a:endParaRPr>
          </a:p>
        </p:txBody>
      </p:sp>
      <p:pic>
        <p:nvPicPr>
          <p:cNvPr id="311" name="Google Shape;311;p18"/>
          <p:cNvPicPr preferRelativeResize="0"/>
          <p:nvPr/>
        </p:nvPicPr>
        <p:blipFill rotWithShape="1">
          <a:blip r:embed="rId4">
            <a:alphaModFix/>
          </a:blip>
          <a:srcRect/>
          <a:stretch/>
        </p:blipFill>
        <p:spPr>
          <a:xfrm>
            <a:off x="612109" y="2256667"/>
            <a:ext cx="367327" cy="367327"/>
          </a:xfrm>
          <a:prstGeom prst="rect">
            <a:avLst/>
          </a:prstGeom>
          <a:noFill/>
          <a:ln>
            <a:noFill/>
          </a:ln>
        </p:spPr>
      </p:pic>
      <p:pic>
        <p:nvPicPr>
          <p:cNvPr id="312" name="Google Shape;312;p18"/>
          <p:cNvPicPr preferRelativeResize="0"/>
          <p:nvPr/>
        </p:nvPicPr>
        <p:blipFill rotWithShape="1">
          <a:blip r:embed="rId4">
            <a:alphaModFix/>
          </a:blip>
          <a:srcRect/>
          <a:stretch/>
        </p:blipFill>
        <p:spPr>
          <a:xfrm>
            <a:off x="618490" y="2871660"/>
            <a:ext cx="333934" cy="333934"/>
          </a:xfrm>
          <a:prstGeom prst="rect">
            <a:avLst/>
          </a:prstGeom>
          <a:noFill/>
          <a:ln>
            <a:noFill/>
          </a:ln>
        </p:spPr>
      </p:pic>
      <p:pic>
        <p:nvPicPr>
          <p:cNvPr id="313" name="Google Shape;313;p18"/>
          <p:cNvPicPr preferRelativeResize="0"/>
          <p:nvPr/>
        </p:nvPicPr>
        <p:blipFill rotWithShape="1">
          <a:blip r:embed="rId4">
            <a:alphaModFix/>
          </a:blip>
          <a:srcRect/>
          <a:stretch/>
        </p:blipFill>
        <p:spPr>
          <a:xfrm>
            <a:off x="630004" y="3701343"/>
            <a:ext cx="367327" cy="367327"/>
          </a:xfrm>
          <a:prstGeom prst="rect">
            <a:avLst/>
          </a:prstGeom>
          <a:noFill/>
          <a:ln>
            <a:noFill/>
          </a:ln>
        </p:spPr>
      </p:pic>
      <p:sp>
        <p:nvSpPr>
          <p:cNvPr id="314" name="Google Shape;314;p18"/>
          <p:cNvSpPr txBox="1"/>
          <p:nvPr/>
        </p:nvSpPr>
        <p:spPr>
          <a:xfrm>
            <a:off x="1070138" y="1565316"/>
            <a:ext cx="9630288"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s-ES" sz="1800">
                <a:solidFill>
                  <a:schemeClr val="lt1"/>
                </a:solidFill>
                <a:latin typeface="Calibri"/>
                <a:ea typeface="Calibri"/>
                <a:cs typeface="Calibri"/>
                <a:sym typeface="Calibri"/>
              </a:rPr>
              <a:t>Python cuenta con varias librerías para visualización. Las más utilizadas son las siguientes:</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09"/>
                                        </p:tgtEl>
                                        <p:attrNameLst>
                                          <p:attrName>style.visibility</p:attrName>
                                        </p:attrNameLst>
                                      </p:cBhvr>
                                      <p:to>
                                        <p:strVal val="visible"/>
                                      </p:to>
                                    </p:set>
                                    <p:animEffect transition="in" filter="fade">
                                      <p:cBhvr>
                                        <p:cTn id="7" dur="500"/>
                                        <p:tgtEl>
                                          <p:spTgt spid="3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18"/>
        <p:cNvGrpSpPr/>
        <p:nvPr/>
      </p:nvGrpSpPr>
      <p:grpSpPr>
        <a:xfrm>
          <a:off x="0" y="0"/>
          <a:ext cx="0" cy="0"/>
          <a:chOff x="0" y="0"/>
          <a:chExt cx="0" cy="0"/>
        </a:xfrm>
      </p:grpSpPr>
      <p:sp>
        <p:nvSpPr>
          <p:cNvPr id="319" name="Google Shape;319;p19"/>
          <p:cNvSpPr txBox="1"/>
          <p:nvPr/>
        </p:nvSpPr>
        <p:spPr>
          <a:xfrm>
            <a:off x="326217" y="3441165"/>
            <a:ext cx="6055128" cy="1008062"/>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es-ES" sz="3600">
                <a:solidFill>
                  <a:srgbClr val="7F7F7F"/>
                </a:solidFill>
                <a:latin typeface="Arial"/>
                <a:ea typeface="Arial"/>
                <a:cs typeface="Arial"/>
                <a:sym typeface="Arial"/>
              </a:rPr>
              <a:t>Librería Matplotlib</a:t>
            </a:r>
            <a:endParaRPr sz="3600">
              <a:solidFill>
                <a:srgbClr val="7F7F7F"/>
              </a:solidFill>
              <a:latin typeface="Arial"/>
              <a:ea typeface="Arial"/>
              <a:cs typeface="Arial"/>
              <a:sym typeface="Arial"/>
            </a:endParaRPr>
          </a:p>
        </p:txBody>
      </p:sp>
      <p:pic>
        <p:nvPicPr>
          <p:cNvPr id="320" name="Google Shape;320;p19"/>
          <p:cNvPicPr preferRelativeResize="0"/>
          <p:nvPr/>
        </p:nvPicPr>
        <p:blipFill rotWithShape="1">
          <a:blip r:embed="rId4">
            <a:alphaModFix/>
          </a:blip>
          <a:srcRect/>
          <a:stretch/>
        </p:blipFill>
        <p:spPr>
          <a:xfrm>
            <a:off x="6929076" y="958870"/>
            <a:ext cx="4288666" cy="428866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19"/>
                                        </p:tgtEl>
                                        <p:attrNameLst>
                                          <p:attrName>style.visibility</p:attrName>
                                        </p:attrNameLst>
                                      </p:cBhvr>
                                      <p:to>
                                        <p:strVal val="visible"/>
                                      </p:to>
                                    </p:set>
                                    <p:animEffect transition="in" filter="fade">
                                      <p:cBhvr>
                                        <p:cTn id="7" dur="500"/>
                                        <p:tgtEl>
                                          <p:spTgt spid="3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25" name="Google Shape;325;p20"/>
          <p:cNvSpPr/>
          <p:nvPr/>
        </p:nvSpPr>
        <p:spPr>
          <a:xfrm>
            <a:off x="-749030" y="3132234"/>
            <a:ext cx="7964307" cy="894946"/>
          </a:xfrm>
          <a:prstGeom prst="roundRect">
            <a:avLst>
              <a:gd name="adj" fmla="val 2778"/>
            </a:avLst>
          </a:prstGeom>
          <a:gradFill>
            <a:gsLst>
              <a:gs pos="0">
                <a:srgbClr val="451539"/>
              </a:gs>
              <a:gs pos="50000">
                <a:srgbClr val="641F53"/>
              </a:gs>
              <a:gs pos="100000">
                <a:srgbClr val="782663"/>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326" name="Google Shape;326;p20"/>
          <p:cNvSpPr txBox="1"/>
          <p:nvPr/>
        </p:nvSpPr>
        <p:spPr>
          <a:xfrm>
            <a:off x="2768633" y="2835053"/>
            <a:ext cx="4446644" cy="1489308"/>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FFFFF"/>
              </a:buClr>
              <a:buSzPts val="3600"/>
              <a:buFont typeface="Arial"/>
              <a:buNone/>
            </a:pPr>
            <a:r>
              <a:rPr lang="es-ES" sz="3600" b="0" i="0" u="none" strike="noStrike" cap="none">
                <a:solidFill>
                  <a:srgbClr val="FFFFFF"/>
                </a:solidFill>
                <a:latin typeface="Arial"/>
                <a:ea typeface="Arial"/>
                <a:cs typeface="Arial"/>
                <a:sym typeface="Arial"/>
              </a:rPr>
              <a:t>Dudas y consultas</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26"/>
                                        </p:tgtEl>
                                        <p:attrNameLst>
                                          <p:attrName>style.visibility</p:attrName>
                                        </p:attrNameLst>
                                      </p:cBhvr>
                                      <p:to>
                                        <p:strVal val="visible"/>
                                      </p:to>
                                    </p:set>
                                    <p:animEffect transition="in" filter="fade">
                                      <p:cBhvr>
                                        <p:cTn id="7" dur="500"/>
                                        <p:tgtEl>
                                          <p:spTgt spid="3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21"/>
          <p:cNvSpPr txBox="1"/>
          <p:nvPr/>
        </p:nvSpPr>
        <p:spPr>
          <a:xfrm>
            <a:off x="462603" y="2924969"/>
            <a:ext cx="10782300" cy="1008062"/>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3600"/>
              <a:buFont typeface="Arial"/>
              <a:buNone/>
            </a:pPr>
            <a:r>
              <a:rPr lang="es-ES" sz="3600" b="0" i="0" u="none" strike="noStrike" cap="none">
                <a:solidFill>
                  <a:srgbClr val="7F7F7F"/>
                </a:solidFill>
                <a:latin typeface="Arial"/>
                <a:ea typeface="Arial"/>
                <a:cs typeface="Arial"/>
                <a:sym typeface="Arial"/>
              </a:rPr>
              <a:t>Fin presentación</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31"/>
                                        </p:tgtEl>
                                        <p:attrNameLst>
                                          <p:attrName>style.visibility</p:attrName>
                                        </p:attrNameLst>
                                      </p:cBhvr>
                                      <p:to>
                                        <p:strVal val="visible"/>
                                      </p:to>
                                    </p:set>
                                    <p:animEffect transition="in" filter="fade">
                                      <p:cBhvr>
                                        <p:cTn id="7" dur="500"/>
                                        <p:tgtEl>
                                          <p:spTgt spid="3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1023</Words>
  <Application>Microsoft Office PowerPoint</Application>
  <PresentationFormat>Panorámica</PresentationFormat>
  <Paragraphs>68</Paragraphs>
  <Slides>21</Slides>
  <Notes>21</Notes>
  <HiddenSlides>0</HiddenSlides>
  <MMClips>0</MMClips>
  <ScaleCrop>false</ScaleCrop>
  <HeadingPairs>
    <vt:vector size="4" baseType="variant">
      <vt:variant>
        <vt:lpstr>Tema</vt:lpstr>
      </vt:variant>
      <vt:variant>
        <vt:i4>2</vt:i4>
      </vt:variant>
      <vt:variant>
        <vt:lpstr>Títulos de diapositiva</vt:lpstr>
      </vt:variant>
      <vt:variant>
        <vt:i4>21</vt:i4>
      </vt:variant>
    </vt:vector>
  </HeadingPairs>
  <TitlesOfParts>
    <vt:vector size="23" baseType="lpstr">
      <vt:lpstr>Tema de Office</vt:lpstr>
      <vt:lpstr>1_Tema de Office</vt:lpstr>
      <vt:lpstr>Visualización de Datos</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Visualización de Datos</dc:title>
  <dc:creator>Kibernum</dc:creator>
  <cp:lastModifiedBy>Diseño ITA</cp:lastModifiedBy>
  <cp:revision>24</cp:revision>
  <dcterms:created xsi:type="dcterms:W3CDTF">2023-01-03T12:28:26Z</dcterms:created>
  <dcterms:modified xsi:type="dcterms:W3CDTF">2025-10-06T17:31:48Z</dcterms:modified>
</cp:coreProperties>
</file>