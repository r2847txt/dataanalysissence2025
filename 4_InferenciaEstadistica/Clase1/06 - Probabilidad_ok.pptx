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6" roundtripDataSignature="AMtx7mh62PXymBtWZXpIqARQHlrHPSBd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DC4DC4D-C4D2-4972-8D5C-1E0D1B60E985}">
  <a:tblStyle styleId="{BDC4DC4D-C4D2-4972-8D5C-1E0D1B60E985}"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87268AA3-6548-44A0-9A45-25D68D7798D8}"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56"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1" name="Google Shape;16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8" name="Google Shape;16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76" name="Google Shape;17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4" name="Google Shape;1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95" name="Google Shape;19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12" name="Google Shape;21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21" name="Google Shape;2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29" name="Google Shape;2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8" name="Google Shape;2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0" name="Google Shape;2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9" name="Google Shape;25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6" name="Google Shape;26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4" name="Google Shape;2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1" name="Google Shape;28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6" name="Google Shape;2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5" name="Google Shape;29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2" name="Google Shape;30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7" name="Google Shape;30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7" name="Google Shape;31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0" name="Google Shape;33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9" name="Google Shape;33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8" name="Google Shape;34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8" name="Google Shape;35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6" name="Google Shape;36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4" name="Google Shape;37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9" name="Google Shape;37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2" name="Google Shape;39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5" name="Google Shape;40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16" name="Google Shape;41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23" name="Google Shape;42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46" name="Google Shape;446;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53" name="Google Shape;45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60" name="Google Shape;46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65" name="Google Shape;46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12" name="Google Shape;51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20" name="Google Shape;52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29" name="Google Shape;52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38" name="Google Shape;53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47" name="Google Shape;54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57" name="Google Shape;55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68" name="Google Shape;56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77" name="Google Shape;57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87" name="Google Shape;58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00" name="Google Shape;60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05" name="Google Shape;60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18" name="Google Shape;61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29" name="Google Shape;62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41" name="Google Shape;641;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47" name="Google Shape;647;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5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5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5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 name="Google Shape;29;p5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5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5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2" name="Google Shape;42;p5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5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5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1" name="Google Shape;51;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6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0" name="Google Shape;60;p6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6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6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7" name="Google Shape;67;p61"/>
          <p:cNvSpPr/>
          <p:nvPr>
            <p:ph idx="2" type="pic"/>
          </p:nvPr>
        </p:nvSpPr>
        <p:spPr>
          <a:xfrm>
            <a:off x="5183188" y="987425"/>
            <a:ext cx="6172200" cy="4873625"/>
          </a:xfrm>
          <a:prstGeom prst="rect">
            <a:avLst/>
          </a:prstGeom>
          <a:noFill/>
          <a:ln>
            <a:noFill/>
          </a:ln>
        </p:spPr>
      </p:sp>
      <p:sp>
        <p:nvSpPr>
          <p:cNvPr id="68" name="Google Shape;68;p6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4" name="Google Shape;74;p6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6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0" name="Google Shape;80;p6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90" name="Shape 90"/>
        <p:cNvGrpSpPr/>
        <p:nvPr/>
      </p:nvGrpSpPr>
      <p:grpSpPr>
        <a:xfrm>
          <a:off x="0" y="0"/>
          <a:ext cx="0" cy="0"/>
          <a:chOff x="0" y="0"/>
          <a:chExt cx="0" cy="0"/>
        </a:xfrm>
      </p:grpSpPr>
      <p:sp>
        <p:nvSpPr>
          <p:cNvPr id="91" name="Google Shape;91;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2" name="Google Shape;92;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96" name="Shape 96"/>
        <p:cNvGrpSpPr/>
        <p:nvPr/>
      </p:nvGrpSpPr>
      <p:grpSpPr>
        <a:xfrm>
          <a:off x="0" y="0"/>
          <a:ext cx="0" cy="0"/>
          <a:chOff x="0" y="0"/>
          <a:chExt cx="0" cy="0"/>
        </a:xfrm>
      </p:grpSpPr>
      <p:sp>
        <p:nvSpPr>
          <p:cNvPr id="97" name="Google Shape;97;p6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8" name="Google Shape;98;p6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99" name="Google Shape;99;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102" name="Shape 102"/>
        <p:cNvGrpSpPr/>
        <p:nvPr/>
      </p:nvGrpSpPr>
      <p:grpSpPr>
        <a:xfrm>
          <a:off x="0" y="0"/>
          <a:ext cx="0" cy="0"/>
          <a:chOff x="0" y="0"/>
          <a:chExt cx="0" cy="0"/>
        </a:xfrm>
      </p:grpSpPr>
      <p:sp>
        <p:nvSpPr>
          <p:cNvPr id="103" name="Google Shape;103;p6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4" name="Google Shape;104;p6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05" name="Google Shape;105;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108" name="Shape 108"/>
        <p:cNvGrpSpPr/>
        <p:nvPr/>
      </p:nvGrpSpPr>
      <p:grpSpPr>
        <a:xfrm>
          <a:off x="0" y="0"/>
          <a:ext cx="0" cy="0"/>
          <a:chOff x="0" y="0"/>
          <a:chExt cx="0" cy="0"/>
        </a:xfrm>
      </p:grpSpPr>
      <p:sp>
        <p:nvSpPr>
          <p:cNvPr id="109" name="Google Shape;109;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10" name="Google Shape;110;p6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6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115" name="Shape 115"/>
        <p:cNvGrpSpPr/>
        <p:nvPr/>
      </p:nvGrpSpPr>
      <p:grpSpPr>
        <a:xfrm>
          <a:off x="0" y="0"/>
          <a:ext cx="0" cy="0"/>
          <a:chOff x="0" y="0"/>
          <a:chExt cx="0" cy="0"/>
        </a:xfrm>
      </p:grpSpPr>
      <p:sp>
        <p:nvSpPr>
          <p:cNvPr id="116" name="Google Shape;116;p6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17" name="Google Shape;117;p6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8" name="Google Shape;118;p6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6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0" name="Google Shape;120;p6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124" name="Shape 124"/>
        <p:cNvGrpSpPr/>
        <p:nvPr/>
      </p:nvGrpSpPr>
      <p:grpSpPr>
        <a:xfrm>
          <a:off x="0" y="0"/>
          <a:ext cx="0" cy="0"/>
          <a:chOff x="0" y="0"/>
          <a:chExt cx="0" cy="0"/>
        </a:xfrm>
      </p:grpSpPr>
      <p:sp>
        <p:nvSpPr>
          <p:cNvPr id="125" name="Google Shape;125;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26" name="Google Shape;126;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29" name="Shape 129"/>
        <p:cNvGrpSpPr/>
        <p:nvPr/>
      </p:nvGrpSpPr>
      <p:grpSpPr>
        <a:xfrm>
          <a:off x="0" y="0"/>
          <a:ext cx="0" cy="0"/>
          <a:chOff x="0" y="0"/>
          <a:chExt cx="0" cy="0"/>
        </a:xfrm>
      </p:grpSpPr>
      <p:sp>
        <p:nvSpPr>
          <p:cNvPr id="130" name="Google Shape;130;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133" name="Shape 133"/>
        <p:cNvGrpSpPr/>
        <p:nvPr/>
      </p:nvGrpSpPr>
      <p:grpSpPr>
        <a:xfrm>
          <a:off x="0" y="0"/>
          <a:ext cx="0" cy="0"/>
          <a:chOff x="0" y="0"/>
          <a:chExt cx="0" cy="0"/>
        </a:xfrm>
      </p:grpSpPr>
      <p:sp>
        <p:nvSpPr>
          <p:cNvPr id="134" name="Google Shape;134;p7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35" name="Google Shape;135;p7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6" name="Google Shape;136;p7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7" name="Google Shape;137;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40" name="Shape 140"/>
        <p:cNvGrpSpPr/>
        <p:nvPr/>
      </p:nvGrpSpPr>
      <p:grpSpPr>
        <a:xfrm>
          <a:off x="0" y="0"/>
          <a:ext cx="0" cy="0"/>
          <a:chOff x="0" y="0"/>
          <a:chExt cx="0" cy="0"/>
        </a:xfrm>
      </p:grpSpPr>
      <p:sp>
        <p:nvSpPr>
          <p:cNvPr id="141" name="Google Shape;141;p7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42" name="Google Shape;142;p71"/>
          <p:cNvSpPr/>
          <p:nvPr>
            <p:ph idx="2" type="pic"/>
          </p:nvPr>
        </p:nvSpPr>
        <p:spPr>
          <a:xfrm>
            <a:off x="5183188" y="987425"/>
            <a:ext cx="6172200" cy="4873625"/>
          </a:xfrm>
          <a:prstGeom prst="rect">
            <a:avLst/>
          </a:prstGeom>
          <a:noFill/>
          <a:ln>
            <a:noFill/>
          </a:ln>
        </p:spPr>
      </p:sp>
      <p:sp>
        <p:nvSpPr>
          <p:cNvPr id="143" name="Google Shape;143;p7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4" name="Google Shape;144;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47" name="Shape 147"/>
        <p:cNvGrpSpPr/>
        <p:nvPr/>
      </p:nvGrpSpPr>
      <p:grpSpPr>
        <a:xfrm>
          <a:off x="0" y="0"/>
          <a:ext cx="0" cy="0"/>
          <a:chOff x="0" y="0"/>
          <a:chExt cx="0" cy="0"/>
        </a:xfrm>
      </p:grpSpPr>
      <p:sp>
        <p:nvSpPr>
          <p:cNvPr id="148" name="Google Shape;148;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49" name="Google Shape;149;p7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53" name="Shape 153"/>
        <p:cNvGrpSpPr/>
        <p:nvPr/>
      </p:nvGrpSpPr>
      <p:grpSpPr>
        <a:xfrm>
          <a:off x="0" y="0"/>
          <a:ext cx="0" cy="0"/>
          <a:chOff x="0" y="0"/>
          <a:chExt cx="0" cy="0"/>
        </a:xfrm>
      </p:grpSpPr>
      <p:sp>
        <p:nvSpPr>
          <p:cNvPr id="154" name="Google Shape;154;p7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55" name="Google Shape;155;p7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 name="Google Shape;156;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1.xml"/><Relationship Id="rId12" Type="http://schemas.openxmlformats.org/officeDocument/2006/relationships/slideLayout" Target="../slideLayouts/slideLayout22.xml"/><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4" name="Shape 84"/>
        <p:cNvGrpSpPr/>
        <p:nvPr/>
      </p:nvGrpSpPr>
      <p:grpSpPr>
        <a:xfrm>
          <a:off x="0" y="0"/>
          <a:ext cx="0" cy="0"/>
          <a:chOff x="0" y="0"/>
          <a:chExt cx="0" cy="0"/>
        </a:xfrm>
      </p:grpSpPr>
      <p:sp>
        <p:nvSpPr>
          <p:cNvPr id="85" name="Google Shape;85;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86" name="Google Shape;86;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12.png"/><Relationship Id="rId5"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4.png"/><Relationship Id="rId5"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16.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14.jpg"/><Relationship Id="rId5"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jpg"/><Relationship Id="rId4" Type="http://schemas.openxmlformats.org/officeDocument/2006/relationships/image" Target="../media/image30.png"/><Relationship Id="rId9" Type="http://schemas.openxmlformats.org/officeDocument/2006/relationships/image" Target="../media/image32.png"/><Relationship Id="rId5" Type="http://schemas.openxmlformats.org/officeDocument/2006/relationships/image" Target="../media/image26.png"/><Relationship Id="rId6" Type="http://schemas.openxmlformats.org/officeDocument/2006/relationships/image" Target="../media/image15.png"/><Relationship Id="rId7" Type="http://schemas.openxmlformats.org/officeDocument/2006/relationships/image" Target="../media/image28.png"/><Relationship Id="rId8"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jp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image" Target="../media/image45.png"/><Relationship Id="rId5"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image" Target="../media/image4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jpg"/><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jp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jpg"/><Relationship Id="rId4" Type="http://schemas.openxmlformats.org/officeDocument/2006/relationships/image" Target="../media/image33.png"/><Relationship Id="rId5"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jpg"/><Relationship Id="rId4" Type="http://schemas.openxmlformats.org/officeDocument/2006/relationships/image" Target="../media/image22.png"/><Relationship Id="rId5" Type="http://schemas.openxmlformats.org/officeDocument/2006/relationships/image" Target="../media/image21.png"/><Relationship Id="rId6" Type="http://schemas.openxmlformats.org/officeDocument/2006/relationships/image" Target="../media/image47.png"/><Relationship Id="rId7"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jpg"/><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jp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jpg"/><Relationship Id="rId4" Type="http://schemas.openxmlformats.org/officeDocument/2006/relationships/image" Target="../media/image39.png"/><Relationship Id="rId5" Type="http://schemas.openxmlformats.org/officeDocument/2006/relationships/image" Target="../media/image31.png"/><Relationship Id="rId6" Type="http://schemas.openxmlformats.org/officeDocument/2006/relationships/image" Target="../media/image29.png"/><Relationship Id="rId7"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jpg"/><Relationship Id="rId4" Type="http://schemas.openxmlformats.org/officeDocument/2006/relationships/image" Target="../media/image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jpg"/><Relationship Id="rId4" Type="http://schemas.openxmlformats.org/officeDocument/2006/relationships/image" Target="../media/image44.png"/><Relationship Id="rId5"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jpg"/><Relationship Id="rId4" Type="http://schemas.openxmlformats.org/officeDocument/2006/relationships/image" Target="../media/image44.png"/><Relationship Id="rId5" Type="http://schemas.openxmlformats.org/officeDocument/2006/relationships/image" Target="../media/image3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jpg"/><Relationship Id="rId4" Type="http://schemas.openxmlformats.org/officeDocument/2006/relationships/image" Target="../media/image58.jpg"/><Relationship Id="rId5" Type="http://schemas.openxmlformats.org/officeDocument/2006/relationships/image" Target="../media/image5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jp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jpg"/><Relationship Id="rId4" Type="http://schemas.openxmlformats.org/officeDocument/2006/relationships/image" Target="../media/image51.png"/><Relationship Id="rId5"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jpg"/><Relationship Id="rId4" Type="http://schemas.openxmlformats.org/officeDocument/2006/relationships/image" Target="../media/image4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jpg"/><Relationship Id="rId4" Type="http://schemas.openxmlformats.org/officeDocument/2006/relationships/image" Target="../media/image53.png"/><Relationship Id="rId5" Type="http://schemas.openxmlformats.org/officeDocument/2006/relationships/image" Target="../media/image5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jpg"/><Relationship Id="rId4" Type="http://schemas.openxmlformats.org/officeDocument/2006/relationships/image" Target="../media/image42.png"/><Relationship Id="rId5" Type="http://schemas.openxmlformats.org/officeDocument/2006/relationships/image" Target="../media/image55.png"/><Relationship Id="rId6" Type="http://schemas.openxmlformats.org/officeDocument/2006/relationships/image" Target="../media/image48.png"/><Relationship Id="rId7" Type="http://schemas.openxmlformats.org/officeDocument/2006/relationships/image" Target="../media/image6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jpg"/><Relationship Id="rId4" Type="http://schemas.openxmlformats.org/officeDocument/2006/relationships/image" Target="../media/image5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jpg"/><Relationship Id="rId4" Type="http://schemas.openxmlformats.org/officeDocument/2006/relationships/image" Target="../media/image6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jpg"/><Relationship Id="rId4" Type="http://schemas.openxmlformats.org/officeDocument/2006/relationships/image" Target="../media/image5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1"/>
          <p:cNvSpPr/>
          <p:nvPr/>
        </p:nvSpPr>
        <p:spPr>
          <a:xfrm>
            <a:off x="3857897" y="3417349"/>
            <a:ext cx="7281158" cy="1833919"/>
          </a:xfrm>
          <a:prstGeom prst="roundRect">
            <a:avLst>
              <a:gd fmla="val 13820" name="adj"/>
            </a:avLst>
          </a:prstGeom>
          <a:solidFill>
            <a:schemeClr val="dk1">
              <a:alpha val="75686"/>
            </a:schemeClr>
          </a:solidFill>
          <a:ln>
            <a:noFill/>
          </a:ln>
        </p:spPr>
        <p:txBody>
          <a:bodyPr anchorCtr="0" anchor="ctr" bIns="45700" lIns="91425" spcFirstLastPara="1" rIns="540000"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chemeClr val="lt1"/>
              </a:solidFill>
              <a:latin typeface="Arial"/>
              <a:ea typeface="Arial"/>
              <a:cs typeface="Arial"/>
              <a:sym typeface="Arial"/>
            </a:endParaRPr>
          </a:p>
        </p:txBody>
      </p:sp>
      <p:sp>
        <p:nvSpPr>
          <p:cNvPr id="164" name="Google Shape;164;p1"/>
          <p:cNvSpPr txBox="1"/>
          <p:nvPr/>
        </p:nvSpPr>
        <p:spPr>
          <a:xfrm>
            <a:off x="4169525" y="3696022"/>
            <a:ext cx="6757093" cy="1398492"/>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1400"/>
              <a:buFont typeface="Arial"/>
              <a:buNone/>
            </a:pPr>
            <a:r>
              <a:t/>
            </a:r>
            <a:endParaRPr b="1" i="0" sz="5000" u="none" cap="none" strike="noStrike">
              <a:solidFill>
                <a:srgbClr val="FFFFFF"/>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rPr b="1" i="0" lang="es-ES" sz="5400" u="none" cap="none" strike="noStrike">
                <a:solidFill>
                  <a:srgbClr val="FFFFFF"/>
                </a:solidFill>
                <a:latin typeface="Arial"/>
                <a:ea typeface="Arial"/>
                <a:cs typeface="Arial"/>
                <a:sym typeface="Arial"/>
              </a:rPr>
              <a:t>Probabilidad</a:t>
            </a:r>
            <a:endParaRPr b="1" i="0" sz="5400" u="none" cap="none" strike="noStrike">
              <a:solidFill>
                <a:srgbClr val="FFFFFF"/>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t/>
            </a:r>
            <a:endParaRPr b="1" i="0" sz="3000" u="none" cap="none" strike="noStrike">
              <a:solidFill>
                <a:srgbClr val="FFFFFF"/>
              </a:solidFill>
              <a:latin typeface="Calibri"/>
              <a:ea typeface="Calibri"/>
              <a:cs typeface="Calibri"/>
              <a:sym typeface="Calibri"/>
            </a:endParaRPr>
          </a:p>
        </p:txBody>
      </p:sp>
      <p:sp>
        <p:nvSpPr>
          <p:cNvPr id="165" name="Google Shape;165;p1"/>
          <p:cNvSpPr txBox="1"/>
          <p:nvPr/>
        </p:nvSpPr>
        <p:spPr>
          <a:xfrm>
            <a:off x="4169525" y="2899266"/>
            <a:ext cx="7022779"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FFFFFF"/>
                </a:solidFill>
                <a:latin typeface="Arial"/>
                <a:ea typeface="Arial"/>
                <a:cs typeface="Arial"/>
                <a:sym typeface="Arial"/>
              </a:rPr>
              <a:t> Inferencia Estadística</a:t>
            </a:r>
            <a:endParaRPr b="0" i="0" sz="1800" u="none" cap="none" strike="noStrike">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 name="Shape 169"/>
        <p:cNvGrpSpPr/>
        <p:nvPr/>
      </p:nvGrpSpPr>
      <p:grpSpPr>
        <a:xfrm>
          <a:off x="0" y="0"/>
          <a:ext cx="0" cy="0"/>
          <a:chOff x="0" y="0"/>
          <a:chExt cx="0" cy="0"/>
        </a:xfrm>
      </p:grpSpPr>
      <p:sp>
        <p:nvSpPr>
          <p:cNvPr id="170" name="Google Shape;170;p2"/>
          <p:cNvSpPr txBox="1"/>
          <p:nvPr/>
        </p:nvSpPr>
        <p:spPr>
          <a:xfrm>
            <a:off x="670313" y="1308262"/>
            <a:ext cx="10654585"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Objetivos</a:t>
            </a:r>
            <a:endParaRPr b="0" i="0" sz="1400" u="none" cap="none" strike="noStrike">
              <a:solidFill>
                <a:srgbClr val="000000"/>
              </a:solidFill>
              <a:latin typeface="Arial"/>
              <a:ea typeface="Arial"/>
              <a:cs typeface="Arial"/>
              <a:sym typeface="Arial"/>
            </a:endParaRPr>
          </a:p>
        </p:txBody>
      </p:sp>
      <p:sp>
        <p:nvSpPr>
          <p:cNvPr id="171" name="Google Shape;171;p2"/>
          <p:cNvSpPr/>
          <p:nvPr/>
        </p:nvSpPr>
        <p:spPr>
          <a:xfrm>
            <a:off x="-204507" y="2415807"/>
            <a:ext cx="7636439" cy="2078372"/>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2"/>
          <p:cNvSpPr txBox="1"/>
          <p:nvPr/>
        </p:nvSpPr>
        <p:spPr>
          <a:xfrm>
            <a:off x="670313" y="2793273"/>
            <a:ext cx="6264110" cy="1323439"/>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rgbClr val="FFFFFF"/>
              </a:buClr>
              <a:buSzPts val="2000"/>
              <a:buFont typeface="Noto Sans Symbols"/>
              <a:buChar char="⮚"/>
            </a:pPr>
            <a:r>
              <a:rPr b="0" i="0" lang="es-ES" sz="2000" u="none" cap="none" strike="noStrike">
                <a:solidFill>
                  <a:srgbClr val="FFFFFF"/>
                </a:solidFill>
                <a:latin typeface="Calibri"/>
                <a:ea typeface="Calibri"/>
                <a:cs typeface="Calibri"/>
                <a:sym typeface="Calibri"/>
              </a:rPr>
              <a:t>Explicar los principales conceptos de probabilidad asociados a un evento aleatorio.</a:t>
            </a:r>
            <a:endParaRPr b="0" i="0" sz="1400" u="none" cap="none" strike="noStrike">
              <a:solidFill>
                <a:srgbClr val="000000"/>
              </a:solidFill>
              <a:latin typeface="Arial"/>
              <a:ea typeface="Arial"/>
              <a:cs typeface="Arial"/>
              <a:sym typeface="Arial"/>
            </a:endParaRPr>
          </a:p>
          <a:p>
            <a:pPr indent="-158750" lvl="0" marL="285750" marR="0" rtl="0" algn="just">
              <a:lnSpc>
                <a:spcPct val="100000"/>
              </a:lnSpc>
              <a:spcBef>
                <a:spcPts val="0"/>
              </a:spcBef>
              <a:spcAft>
                <a:spcPts val="0"/>
              </a:spcAft>
              <a:buClr>
                <a:srgbClr val="FFFFFF"/>
              </a:buClr>
              <a:buSzPts val="2000"/>
              <a:buFont typeface="Noto Sans Symbols"/>
              <a:buNone/>
            </a:pPr>
            <a:r>
              <a:t/>
            </a:r>
            <a:endParaRPr b="0" i="0" sz="2000" u="none" cap="none" strike="noStrike">
              <a:solidFill>
                <a:schemeClr val="dk1"/>
              </a:solidFill>
              <a:latin typeface="Calibri"/>
              <a:ea typeface="Calibri"/>
              <a:cs typeface="Calibri"/>
              <a:sym typeface="Calibri"/>
            </a:endParaRPr>
          </a:p>
          <a:p>
            <a:pPr indent="-285750" lvl="0" marL="285750" marR="0" rtl="0" algn="just">
              <a:lnSpc>
                <a:spcPct val="100000"/>
              </a:lnSpc>
              <a:spcBef>
                <a:spcPts val="0"/>
              </a:spcBef>
              <a:spcAft>
                <a:spcPts val="0"/>
              </a:spcAft>
              <a:buClr>
                <a:srgbClr val="FFFFFF"/>
              </a:buClr>
              <a:buSzPts val="2000"/>
              <a:buFont typeface="Noto Sans Symbols"/>
              <a:buChar char="⮚"/>
            </a:pPr>
            <a:r>
              <a:rPr b="0" i="0" lang="es-ES" sz="2000" u="none" cap="none" strike="noStrike">
                <a:solidFill>
                  <a:srgbClr val="FFFFFF"/>
                </a:solidFill>
                <a:latin typeface="Calibri"/>
                <a:ea typeface="Calibri"/>
                <a:cs typeface="Calibri"/>
                <a:sym typeface="Calibri"/>
              </a:rPr>
              <a:t>Realizar cálculos básicos de probabilidad.</a:t>
            </a:r>
            <a:endParaRPr b="0" i="0" sz="1400" u="none" cap="none" strike="noStrike">
              <a:solidFill>
                <a:srgbClr val="000000"/>
              </a:solidFill>
              <a:latin typeface="Arial"/>
              <a:ea typeface="Arial"/>
              <a:cs typeface="Arial"/>
              <a:sym typeface="Arial"/>
            </a:endParaRPr>
          </a:p>
        </p:txBody>
      </p:sp>
      <p:pic>
        <p:nvPicPr>
          <p:cNvPr id="173" name="Google Shape;173;p2"/>
          <p:cNvPicPr preferRelativeResize="0"/>
          <p:nvPr/>
        </p:nvPicPr>
        <p:blipFill rotWithShape="1">
          <a:blip r:embed="rId4">
            <a:alphaModFix/>
          </a:blip>
          <a:srcRect b="0" l="0" r="0" t="0"/>
          <a:stretch/>
        </p:blipFill>
        <p:spPr>
          <a:xfrm>
            <a:off x="8105505" y="1812293"/>
            <a:ext cx="3386542" cy="338654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7" name="Shape 177"/>
        <p:cNvGrpSpPr/>
        <p:nvPr/>
      </p:nvGrpSpPr>
      <p:grpSpPr>
        <a:xfrm>
          <a:off x="0" y="0"/>
          <a:ext cx="0" cy="0"/>
          <a:chOff x="0" y="0"/>
          <a:chExt cx="0" cy="0"/>
        </a:xfrm>
      </p:grpSpPr>
      <p:sp>
        <p:nvSpPr>
          <p:cNvPr id="178" name="Google Shape;178;p3"/>
          <p:cNvSpPr txBox="1"/>
          <p:nvPr/>
        </p:nvSpPr>
        <p:spPr>
          <a:xfrm>
            <a:off x="1622323" y="1073216"/>
            <a:ext cx="9634794" cy="553984"/>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Contenido</a:t>
            </a:r>
            <a:endParaRPr b="0" i="0" sz="3200" u="none" cap="none" strike="noStrike">
              <a:solidFill>
                <a:srgbClr val="7F7F7F"/>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3200"/>
              <a:buFont typeface="Arial"/>
              <a:buNone/>
            </a:pPr>
            <a:r>
              <a:t/>
            </a:r>
            <a:endParaRPr b="0" i="0" sz="3200" u="none" cap="none" strike="noStrike">
              <a:solidFill>
                <a:srgbClr val="7F7F7F"/>
              </a:solidFill>
              <a:latin typeface="Arial"/>
              <a:ea typeface="Arial"/>
              <a:cs typeface="Arial"/>
              <a:sym typeface="Arial"/>
            </a:endParaRPr>
          </a:p>
        </p:txBody>
      </p:sp>
      <p:sp>
        <p:nvSpPr>
          <p:cNvPr id="179" name="Google Shape;179;p3"/>
          <p:cNvSpPr/>
          <p:nvPr/>
        </p:nvSpPr>
        <p:spPr>
          <a:xfrm>
            <a:off x="-109878" y="1810930"/>
            <a:ext cx="6726988" cy="3567706"/>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0" name="Google Shape;180;p3"/>
          <p:cNvSpPr txBox="1"/>
          <p:nvPr/>
        </p:nvSpPr>
        <p:spPr>
          <a:xfrm>
            <a:off x="1140543" y="2306957"/>
            <a:ext cx="4493342" cy="2400657"/>
          </a:xfrm>
          <a:prstGeom prst="rect">
            <a:avLst/>
          </a:prstGeom>
          <a:noFill/>
          <a:ln>
            <a:noFill/>
          </a:ln>
        </p:spPr>
        <p:txBody>
          <a:bodyPr anchorCtr="0" anchor="t" bIns="45700" lIns="91425" spcFirstLastPara="1" rIns="91425" wrap="square" tIns="45700">
            <a:spAutoFit/>
          </a:bodyPr>
          <a:lstStyle/>
          <a:p>
            <a:pPr indent="-342900" lvl="1" marL="800100" marR="0" rtl="0" algn="just">
              <a:lnSpc>
                <a:spcPct val="150000"/>
              </a:lnSpc>
              <a:spcBef>
                <a:spcPts val="0"/>
              </a:spcBef>
              <a:spcAft>
                <a:spcPts val="0"/>
              </a:spcAft>
              <a:buClr>
                <a:srgbClr val="FFFFFF"/>
              </a:buClr>
              <a:buSzPts val="2000"/>
              <a:buFont typeface="Noto Sans Symbols"/>
              <a:buChar char="⮚"/>
            </a:pPr>
            <a:r>
              <a:rPr b="0" i="0" lang="es-ES" sz="2000" u="none" cap="none" strike="noStrike">
                <a:solidFill>
                  <a:srgbClr val="FFFFFF"/>
                </a:solidFill>
                <a:latin typeface="Calibri"/>
                <a:ea typeface="Calibri"/>
                <a:cs typeface="Calibri"/>
                <a:sym typeface="Calibri"/>
              </a:rPr>
              <a:t>Probabilidad.</a:t>
            </a:r>
            <a:endParaRPr b="0" i="0" sz="2000" u="none" cap="none" strike="noStrike">
              <a:solidFill>
                <a:schemeClr val="dk1"/>
              </a:solidFill>
              <a:latin typeface="Calibri"/>
              <a:ea typeface="Calibri"/>
              <a:cs typeface="Calibri"/>
              <a:sym typeface="Calibri"/>
            </a:endParaRPr>
          </a:p>
          <a:p>
            <a:pPr indent="-342900" lvl="1" marL="800100" marR="0" rtl="0" algn="just">
              <a:lnSpc>
                <a:spcPct val="150000"/>
              </a:lnSpc>
              <a:spcBef>
                <a:spcPts val="0"/>
              </a:spcBef>
              <a:spcAft>
                <a:spcPts val="0"/>
              </a:spcAft>
              <a:buClr>
                <a:srgbClr val="FFFFFF"/>
              </a:buClr>
              <a:buSzPts val="2000"/>
              <a:buFont typeface="Noto Sans Symbols"/>
              <a:buChar char="⮚"/>
            </a:pPr>
            <a:r>
              <a:rPr b="0" i="0" lang="es-ES" sz="2000" u="none" cap="none" strike="noStrike">
                <a:solidFill>
                  <a:srgbClr val="FFFFFF"/>
                </a:solidFill>
                <a:latin typeface="Calibri"/>
                <a:ea typeface="Calibri"/>
                <a:cs typeface="Calibri"/>
                <a:sym typeface="Calibri"/>
              </a:rPr>
              <a:t>Suceso y Espacio Muestral.</a:t>
            </a:r>
            <a:endParaRPr b="0" i="0" sz="2000" u="none" cap="none" strike="noStrike">
              <a:solidFill>
                <a:schemeClr val="dk1"/>
              </a:solidFill>
              <a:latin typeface="Calibri"/>
              <a:ea typeface="Calibri"/>
              <a:cs typeface="Calibri"/>
              <a:sym typeface="Calibri"/>
            </a:endParaRPr>
          </a:p>
          <a:p>
            <a:pPr indent="-342900" lvl="1" marL="800100" marR="0" rtl="0" algn="just">
              <a:lnSpc>
                <a:spcPct val="150000"/>
              </a:lnSpc>
              <a:spcBef>
                <a:spcPts val="0"/>
              </a:spcBef>
              <a:spcAft>
                <a:spcPts val="0"/>
              </a:spcAft>
              <a:buClr>
                <a:srgbClr val="FFFFFF"/>
              </a:buClr>
              <a:buSzPts val="2000"/>
              <a:buFont typeface="Noto Sans Symbols"/>
              <a:buChar char="⮚"/>
            </a:pPr>
            <a:r>
              <a:rPr b="0" i="0" lang="es-ES" sz="2000" u="none" cap="none" strike="noStrike">
                <a:solidFill>
                  <a:srgbClr val="FFFFFF"/>
                </a:solidFill>
                <a:latin typeface="Calibri"/>
                <a:ea typeface="Calibri"/>
                <a:cs typeface="Calibri"/>
                <a:sym typeface="Calibri"/>
              </a:rPr>
              <a:t>Reglas aditivas y multiplicativas.</a:t>
            </a:r>
            <a:endParaRPr b="0" i="0" sz="2000" u="none" cap="none" strike="noStrike">
              <a:solidFill>
                <a:schemeClr val="dk1"/>
              </a:solidFill>
              <a:latin typeface="Calibri"/>
              <a:ea typeface="Calibri"/>
              <a:cs typeface="Calibri"/>
              <a:sym typeface="Calibri"/>
            </a:endParaRPr>
          </a:p>
          <a:p>
            <a:pPr indent="-342900" lvl="1" marL="800100" marR="0" rtl="0" algn="just">
              <a:lnSpc>
                <a:spcPct val="150000"/>
              </a:lnSpc>
              <a:spcBef>
                <a:spcPts val="0"/>
              </a:spcBef>
              <a:spcAft>
                <a:spcPts val="0"/>
              </a:spcAft>
              <a:buClr>
                <a:srgbClr val="FFFFFF"/>
              </a:buClr>
              <a:buSzPts val="2000"/>
              <a:buFont typeface="Noto Sans Symbols"/>
              <a:buChar char="⮚"/>
            </a:pPr>
            <a:r>
              <a:rPr b="0" i="0" lang="es-ES" sz="2000" u="none" cap="none" strike="noStrike">
                <a:solidFill>
                  <a:srgbClr val="FFFFFF"/>
                </a:solidFill>
                <a:latin typeface="Calibri"/>
                <a:ea typeface="Calibri"/>
                <a:cs typeface="Calibri"/>
                <a:sym typeface="Calibri"/>
              </a:rPr>
              <a:t>Probabilidad Condicionada.</a:t>
            </a:r>
            <a:endParaRPr b="0" i="0" sz="2000" u="none" cap="none" strike="noStrike">
              <a:solidFill>
                <a:schemeClr val="dk1"/>
              </a:solidFill>
              <a:latin typeface="Calibri"/>
              <a:ea typeface="Calibri"/>
              <a:cs typeface="Calibri"/>
              <a:sym typeface="Calibri"/>
            </a:endParaRPr>
          </a:p>
          <a:p>
            <a:pPr indent="-342900" lvl="1" marL="800100" marR="0" rtl="0" algn="just">
              <a:lnSpc>
                <a:spcPct val="150000"/>
              </a:lnSpc>
              <a:spcBef>
                <a:spcPts val="0"/>
              </a:spcBef>
              <a:spcAft>
                <a:spcPts val="0"/>
              </a:spcAft>
              <a:buClr>
                <a:srgbClr val="FFFFFF"/>
              </a:buClr>
              <a:buSzPts val="2000"/>
              <a:buFont typeface="Noto Sans Symbols"/>
              <a:buChar char="⮚"/>
            </a:pPr>
            <a:r>
              <a:rPr b="0" i="0" lang="es-ES" sz="2000" u="none" cap="none" strike="noStrike">
                <a:solidFill>
                  <a:srgbClr val="FFFFFF"/>
                </a:solidFill>
                <a:latin typeface="Calibri"/>
                <a:ea typeface="Calibri"/>
                <a:cs typeface="Calibri"/>
                <a:sym typeface="Calibri"/>
              </a:rPr>
              <a:t>Árboles de Probabilidad.</a:t>
            </a:r>
            <a:endParaRPr b="0" i="0" sz="1200" u="none" cap="none" strike="noStrike">
              <a:solidFill>
                <a:schemeClr val="dk1"/>
              </a:solidFill>
              <a:latin typeface="Calibri"/>
              <a:ea typeface="Calibri"/>
              <a:cs typeface="Calibri"/>
              <a:sym typeface="Calibri"/>
            </a:endParaRPr>
          </a:p>
        </p:txBody>
      </p:sp>
      <p:pic>
        <p:nvPicPr>
          <p:cNvPr id="181" name="Google Shape;181;p3"/>
          <p:cNvPicPr preferRelativeResize="0"/>
          <p:nvPr/>
        </p:nvPicPr>
        <p:blipFill rotWithShape="1">
          <a:blip r:embed="rId4">
            <a:alphaModFix/>
          </a:blip>
          <a:srcRect b="0" l="0" r="0" t="0"/>
          <a:stretch/>
        </p:blipFill>
        <p:spPr>
          <a:xfrm>
            <a:off x="7449261" y="1827640"/>
            <a:ext cx="3567706" cy="356770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5" name="Shape 185"/>
        <p:cNvGrpSpPr/>
        <p:nvPr/>
      </p:nvGrpSpPr>
      <p:grpSpPr>
        <a:xfrm>
          <a:off x="0" y="0"/>
          <a:ext cx="0" cy="0"/>
          <a:chOff x="0" y="0"/>
          <a:chExt cx="0" cy="0"/>
        </a:xfrm>
      </p:grpSpPr>
      <p:sp>
        <p:nvSpPr>
          <p:cNvPr id="186" name="Google Shape;186;p4"/>
          <p:cNvSpPr/>
          <p:nvPr/>
        </p:nvSpPr>
        <p:spPr>
          <a:xfrm>
            <a:off x="1007911" y="1387815"/>
            <a:ext cx="9919102" cy="4107360"/>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7" name="Google Shape;187;p4"/>
          <p:cNvSpPr/>
          <p:nvPr/>
        </p:nvSpPr>
        <p:spPr>
          <a:xfrm>
            <a:off x="7682722" y="1437693"/>
            <a:ext cx="3180056" cy="3982614"/>
          </a:xfrm>
          <a:prstGeom prst="roundRect">
            <a:avLst>
              <a:gd fmla="val 4466" name="adj"/>
            </a:avLst>
          </a:prstGeom>
          <a:solidFill>
            <a:schemeClr val="lt1"/>
          </a:solidFill>
          <a:ln cap="flat" cmpd="sng" w="28575">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8" name="Google Shape;188;p4"/>
          <p:cNvSpPr txBox="1"/>
          <p:nvPr/>
        </p:nvSpPr>
        <p:spPr>
          <a:xfrm>
            <a:off x="1353777" y="429630"/>
            <a:ext cx="9227370"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significa Probabilidad?</a:t>
            </a:r>
            <a:endParaRPr b="0" i="0" sz="1400" u="none" cap="none" strike="noStrike">
              <a:solidFill>
                <a:srgbClr val="000000"/>
              </a:solidFill>
              <a:latin typeface="Arial"/>
              <a:ea typeface="Arial"/>
              <a:cs typeface="Arial"/>
              <a:sym typeface="Arial"/>
            </a:endParaRPr>
          </a:p>
        </p:txBody>
      </p:sp>
      <p:sp>
        <p:nvSpPr>
          <p:cNvPr id="189" name="Google Shape;189;p4"/>
          <p:cNvSpPr/>
          <p:nvPr/>
        </p:nvSpPr>
        <p:spPr>
          <a:xfrm>
            <a:off x="1944162" y="1997838"/>
            <a:ext cx="4984673" cy="286232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La probabilidad es una medida numérica que se utiliza para cuantificar la posibilidad o chance de que un evento o suceso ocurra en una situación determinada. En otras palabras, es la medida de la certidumbre o incertidumbre de que algo suceda.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Por ejemplo, si la probabilidad de que llueva mañana es 0.5, entonces esto significa que hay una chance del 50% de que llueva y una chance del 50% de que no llueva.c</a:t>
            </a:r>
            <a:endParaRPr b="0" i="0" sz="1800" u="none" cap="none" strike="noStrike">
              <a:solidFill>
                <a:schemeClr val="lt1"/>
              </a:solidFill>
              <a:latin typeface="Calibri"/>
              <a:ea typeface="Calibri"/>
              <a:cs typeface="Calibri"/>
              <a:sym typeface="Calibri"/>
            </a:endParaRPr>
          </a:p>
        </p:txBody>
      </p:sp>
      <p:pic>
        <p:nvPicPr>
          <p:cNvPr id="190" name="Google Shape;190;p4"/>
          <p:cNvPicPr preferRelativeResize="0"/>
          <p:nvPr/>
        </p:nvPicPr>
        <p:blipFill rotWithShape="1">
          <a:blip r:embed="rId4">
            <a:alphaModFix/>
          </a:blip>
          <a:srcRect b="0" l="0" r="0" t="0"/>
          <a:stretch/>
        </p:blipFill>
        <p:spPr>
          <a:xfrm>
            <a:off x="1450074" y="1997838"/>
            <a:ext cx="335654" cy="335654"/>
          </a:xfrm>
          <a:prstGeom prst="rect">
            <a:avLst/>
          </a:prstGeom>
          <a:noFill/>
          <a:ln>
            <a:noFill/>
          </a:ln>
        </p:spPr>
      </p:pic>
      <p:pic>
        <p:nvPicPr>
          <p:cNvPr id="191" name="Google Shape;191;p4"/>
          <p:cNvPicPr preferRelativeResize="0"/>
          <p:nvPr/>
        </p:nvPicPr>
        <p:blipFill rotWithShape="1">
          <a:blip r:embed="rId4">
            <a:alphaModFix/>
          </a:blip>
          <a:srcRect b="0" l="0" r="0" t="0"/>
          <a:stretch/>
        </p:blipFill>
        <p:spPr>
          <a:xfrm>
            <a:off x="1441864" y="3653618"/>
            <a:ext cx="335654" cy="335654"/>
          </a:xfrm>
          <a:prstGeom prst="rect">
            <a:avLst/>
          </a:prstGeom>
          <a:noFill/>
          <a:ln>
            <a:noFill/>
          </a:ln>
        </p:spPr>
      </p:pic>
      <p:pic>
        <p:nvPicPr>
          <p:cNvPr id="192" name="Google Shape;192;p4"/>
          <p:cNvPicPr preferRelativeResize="0"/>
          <p:nvPr/>
        </p:nvPicPr>
        <p:blipFill rotWithShape="1">
          <a:blip r:embed="rId5">
            <a:alphaModFix/>
          </a:blip>
          <a:srcRect b="0" l="0" r="0" t="0"/>
          <a:stretch/>
        </p:blipFill>
        <p:spPr>
          <a:xfrm>
            <a:off x="7854776" y="1538368"/>
            <a:ext cx="2835947" cy="37812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6" name="Shape 196"/>
        <p:cNvGrpSpPr/>
        <p:nvPr/>
      </p:nvGrpSpPr>
      <p:grpSpPr>
        <a:xfrm>
          <a:off x="0" y="0"/>
          <a:ext cx="0" cy="0"/>
          <a:chOff x="0" y="0"/>
          <a:chExt cx="0" cy="0"/>
        </a:xfrm>
      </p:grpSpPr>
      <p:sp>
        <p:nvSpPr>
          <p:cNvPr id="197" name="Google Shape;197;p5"/>
          <p:cNvSpPr/>
          <p:nvPr/>
        </p:nvSpPr>
        <p:spPr>
          <a:xfrm>
            <a:off x="1713792" y="1854437"/>
            <a:ext cx="8925722" cy="3623418"/>
          </a:xfrm>
          <a:prstGeom prst="roundRect">
            <a:avLst>
              <a:gd fmla="val 4466" name="adj"/>
            </a:avLst>
          </a:prstGeom>
          <a:solidFill>
            <a:schemeClr val="lt1"/>
          </a:solidFill>
          <a:ln cap="flat" cmpd="sng" w="28575">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8" name="Google Shape;198;p5"/>
          <p:cNvSpPr txBox="1"/>
          <p:nvPr/>
        </p:nvSpPr>
        <p:spPr>
          <a:xfrm>
            <a:off x="1713792" y="846375"/>
            <a:ext cx="9003369"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significa Probabilidad?</a:t>
            </a:r>
            <a:endParaRPr b="0" i="0" sz="1400" u="none" cap="none" strike="noStrike">
              <a:solidFill>
                <a:srgbClr val="000000"/>
              </a:solidFill>
              <a:latin typeface="Arial"/>
              <a:ea typeface="Arial"/>
              <a:cs typeface="Arial"/>
              <a:sym typeface="Arial"/>
            </a:endParaRPr>
          </a:p>
        </p:txBody>
      </p:sp>
      <p:grpSp>
        <p:nvGrpSpPr>
          <p:cNvPr id="199" name="Google Shape;199;p5"/>
          <p:cNvGrpSpPr/>
          <p:nvPr/>
        </p:nvGrpSpPr>
        <p:grpSpPr>
          <a:xfrm>
            <a:off x="2383972" y="2242320"/>
            <a:ext cx="7707084" cy="2814995"/>
            <a:chOff x="2383972" y="2242320"/>
            <a:chExt cx="7707084" cy="2814995"/>
          </a:xfrm>
        </p:grpSpPr>
        <p:pic>
          <p:nvPicPr>
            <p:cNvPr id="200" name="Google Shape;200;p5"/>
            <p:cNvPicPr preferRelativeResize="0"/>
            <p:nvPr/>
          </p:nvPicPr>
          <p:blipFill rotWithShape="1">
            <a:blip r:embed="rId4">
              <a:alphaModFix/>
            </a:blip>
            <a:srcRect b="0" l="0" r="0" t="0"/>
            <a:stretch/>
          </p:blipFill>
          <p:spPr>
            <a:xfrm>
              <a:off x="2563981" y="2242320"/>
              <a:ext cx="7149144" cy="2814995"/>
            </a:xfrm>
            <a:prstGeom prst="rect">
              <a:avLst/>
            </a:prstGeom>
            <a:noFill/>
            <a:ln>
              <a:noFill/>
            </a:ln>
          </p:spPr>
        </p:pic>
        <p:sp>
          <p:nvSpPr>
            <p:cNvPr id="201" name="Google Shape;201;p5"/>
            <p:cNvSpPr/>
            <p:nvPr/>
          </p:nvSpPr>
          <p:spPr>
            <a:xfrm>
              <a:off x="2558142" y="3091542"/>
              <a:ext cx="7162800" cy="250371"/>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2" name="Google Shape;202;p5"/>
            <p:cNvSpPr txBox="1"/>
            <p:nvPr/>
          </p:nvSpPr>
          <p:spPr>
            <a:xfrm>
              <a:off x="2383972" y="3015342"/>
              <a:ext cx="1643742"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000" u="none" cap="none" strike="noStrike">
                  <a:solidFill>
                    <a:srgbClr val="C00000"/>
                  </a:solidFill>
                  <a:latin typeface="Calibri"/>
                  <a:ea typeface="Calibri"/>
                  <a:cs typeface="Calibri"/>
                  <a:sym typeface="Calibri"/>
                </a:rPr>
                <a:t>Imposible</a:t>
              </a:r>
              <a:endParaRPr/>
            </a:p>
          </p:txBody>
        </p:sp>
        <p:sp>
          <p:nvSpPr>
            <p:cNvPr id="203" name="Google Shape;203;p5"/>
            <p:cNvSpPr txBox="1"/>
            <p:nvPr/>
          </p:nvSpPr>
          <p:spPr>
            <a:xfrm>
              <a:off x="3690257" y="2862941"/>
              <a:ext cx="1643742"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000" u="none" cap="none" strike="noStrike">
                  <a:solidFill>
                    <a:srgbClr val="B41237"/>
                  </a:solidFill>
                  <a:latin typeface="Calibri"/>
                  <a:ea typeface="Calibri"/>
                  <a:cs typeface="Calibri"/>
                  <a:sym typeface="Calibri"/>
                </a:rPr>
                <a:t>Poco probable</a:t>
              </a:r>
              <a:endParaRPr/>
            </a:p>
          </p:txBody>
        </p:sp>
        <p:sp>
          <p:nvSpPr>
            <p:cNvPr id="204" name="Google Shape;204;p5"/>
            <p:cNvSpPr txBox="1"/>
            <p:nvPr/>
          </p:nvSpPr>
          <p:spPr>
            <a:xfrm>
              <a:off x="8447314" y="3015341"/>
              <a:ext cx="1643742"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000" u="none" cap="none" strike="noStrike">
                  <a:solidFill>
                    <a:srgbClr val="3D2FF8"/>
                  </a:solidFill>
                  <a:latin typeface="Calibri"/>
                  <a:ea typeface="Calibri"/>
                  <a:cs typeface="Calibri"/>
                  <a:sym typeface="Calibri"/>
                </a:rPr>
                <a:t>Certeza</a:t>
              </a:r>
              <a:endParaRPr/>
            </a:p>
          </p:txBody>
        </p:sp>
        <p:sp>
          <p:nvSpPr>
            <p:cNvPr id="205" name="Google Shape;205;p5"/>
            <p:cNvSpPr txBox="1"/>
            <p:nvPr/>
          </p:nvSpPr>
          <p:spPr>
            <a:xfrm>
              <a:off x="7271657" y="2862941"/>
              <a:ext cx="1491342"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000" u="none" cap="none" strike="noStrike">
                  <a:solidFill>
                    <a:srgbClr val="5A2BAD"/>
                  </a:solidFill>
                  <a:latin typeface="Calibri"/>
                  <a:ea typeface="Calibri"/>
                  <a:cs typeface="Calibri"/>
                  <a:sym typeface="Calibri"/>
                </a:rPr>
                <a:t>Muy probable</a:t>
              </a:r>
              <a:endParaRPr/>
            </a:p>
          </p:txBody>
        </p:sp>
        <p:sp>
          <p:nvSpPr>
            <p:cNvPr id="206" name="Google Shape;206;p5"/>
            <p:cNvSpPr txBox="1"/>
            <p:nvPr/>
          </p:nvSpPr>
          <p:spPr>
            <a:xfrm>
              <a:off x="5399315" y="3026227"/>
              <a:ext cx="1643742"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000" u="none" cap="none" strike="noStrike">
                  <a:solidFill>
                    <a:srgbClr val="98107C"/>
                  </a:solidFill>
                  <a:latin typeface="Calibri"/>
                  <a:ea typeface="Calibri"/>
                  <a:cs typeface="Calibri"/>
                  <a:sym typeface="Calibri"/>
                </a:rPr>
                <a:t>Igual chance</a:t>
              </a:r>
              <a:endParaRPr/>
            </a:p>
          </p:txBody>
        </p:sp>
      </p:grpSp>
      <p:sp>
        <p:nvSpPr>
          <p:cNvPr id="207" name="Google Shape;207;p5"/>
          <p:cNvSpPr/>
          <p:nvPr/>
        </p:nvSpPr>
        <p:spPr>
          <a:xfrm>
            <a:off x="3156857" y="4855029"/>
            <a:ext cx="6161314" cy="272142"/>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8" name="Google Shape;208;p5"/>
          <p:cNvSpPr txBox="1"/>
          <p:nvPr/>
        </p:nvSpPr>
        <p:spPr>
          <a:xfrm>
            <a:off x="2743200" y="4778826"/>
            <a:ext cx="2590799"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000" u="none" cap="none" strike="noStrike">
                <a:solidFill>
                  <a:srgbClr val="B41237"/>
                </a:solidFill>
                <a:latin typeface="Calibri"/>
                <a:ea typeface="Calibri"/>
                <a:cs typeface="Calibri"/>
                <a:sym typeface="Calibri"/>
              </a:rPr>
              <a:t>1 de 6 de chance</a:t>
            </a:r>
            <a:endParaRPr/>
          </a:p>
        </p:txBody>
      </p:sp>
      <p:sp>
        <p:nvSpPr>
          <p:cNvPr id="209" name="Google Shape;209;p5"/>
          <p:cNvSpPr txBox="1"/>
          <p:nvPr/>
        </p:nvSpPr>
        <p:spPr>
          <a:xfrm>
            <a:off x="6890657" y="4789711"/>
            <a:ext cx="2590799"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000" u="none" cap="none" strike="noStrike">
                <a:solidFill>
                  <a:srgbClr val="B41237"/>
                </a:solidFill>
                <a:latin typeface="Calibri"/>
                <a:ea typeface="Calibri"/>
                <a:cs typeface="Calibri"/>
                <a:sym typeface="Calibri"/>
              </a:rPr>
              <a:t>4 de 5 de chance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3" name="Shape 213"/>
        <p:cNvGrpSpPr/>
        <p:nvPr/>
      </p:nvGrpSpPr>
      <p:grpSpPr>
        <a:xfrm>
          <a:off x="0" y="0"/>
          <a:ext cx="0" cy="0"/>
          <a:chOff x="0" y="0"/>
          <a:chExt cx="0" cy="0"/>
        </a:xfrm>
      </p:grpSpPr>
      <p:sp>
        <p:nvSpPr>
          <p:cNvPr id="214" name="Google Shape;214;p6"/>
          <p:cNvSpPr/>
          <p:nvPr/>
        </p:nvSpPr>
        <p:spPr>
          <a:xfrm>
            <a:off x="-507610" y="1730455"/>
            <a:ext cx="11000386" cy="3443621"/>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 name="Google Shape;215;p6"/>
          <p:cNvSpPr txBox="1"/>
          <p:nvPr/>
        </p:nvSpPr>
        <p:spPr>
          <a:xfrm>
            <a:off x="616621" y="722393"/>
            <a:ext cx="10552804"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¿Qué significa Probabilidad?</a:t>
            </a:r>
            <a:endParaRPr b="0" i="0" sz="1400" u="none" cap="none" strike="noStrike">
              <a:solidFill>
                <a:srgbClr val="000000"/>
              </a:solidFill>
              <a:latin typeface="Arial"/>
              <a:ea typeface="Arial"/>
              <a:cs typeface="Arial"/>
              <a:sym typeface="Arial"/>
            </a:endParaRPr>
          </a:p>
        </p:txBody>
      </p:sp>
      <p:sp>
        <p:nvSpPr>
          <p:cNvPr id="216" name="Google Shape;216;p6"/>
          <p:cNvSpPr/>
          <p:nvPr/>
        </p:nvSpPr>
        <p:spPr>
          <a:xfrm>
            <a:off x="1205365" y="2047172"/>
            <a:ext cx="8823169" cy="258532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La Teoría de Probabilidades, es una rama de las matemáticas que se ocupa del estudio de los fenómenos aleatorios y la cuantificación de la incertidumbre asociada a ellos. La teoría de probabilidades se utiliza para modelar y analizar situaciones en las que el resultado es incierto o aleatorio.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La teoría de probabilidades tiene muchas aplicaciones en diversos campos, como la estadística, la física, la ingeniería, la economía, la informática, entre otros. Se utiliza para hacer predicciones y tomar decisiones en situaciones inciertas, como en la evaluación de riesgos, el diseño de experimentos, la optimización de procesos, entre otros.</a:t>
            </a:r>
            <a:endParaRPr b="0" i="0" sz="1400" u="none" cap="none" strike="noStrike">
              <a:solidFill>
                <a:srgbClr val="000000"/>
              </a:solidFill>
              <a:latin typeface="Arial"/>
              <a:ea typeface="Arial"/>
              <a:cs typeface="Arial"/>
              <a:sym typeface="Arial"/>
            </a:endParaRPr>
          </a:p>
        </p:txBody>
      </p:sp>
      <p:pic>
        <p:nvPicPr>
          <p:cNvPr id="217" name="Google Shape;217;p6"/>
          <p:cNvPicPr preferRelativeResize="0"/>
          <p:nvPr/>
        </p:nvPicPr>
        <p:blipFill rotWithShape="1">
          <a:blip r:embed="rId4">
            <a:alphaModFix/>
          </a:blip>
          <a:srcRect b="0" l="0" r="0" t="0"/>
          <a:stretch/>
        </p:blipFill>
        <p:spPr>
          <a:xfrm>
            <a:off x="626454" y="2139451"/>
            <a:ext cx="410183" cy="410183"/>
          </a:xfrm>
          <a:prstGeom prst="rect">
            <a:avLst/>
          </a:prstGeom>
          <a:noFill/>
          <a:ln>
            <a:noFill/>
          </a:ln>
        </p:spPr>
      </p:pic>
      <p:pic>
        <p:nvPicPr>
          <p:cNvPr id="218" name="Google Shape;218;p6"/>
          <p:cNvPicPr preferRelativeResize="0"/>
          <p:nvPr/>
        </p:nvPicPr>
        <p:blipFill rotWithShape="1">
          <a:blip r:embed="rId4">
            <a:alphaModFix/>
          </a:blip>
          <a:srcRect b="0" l="0" r="0" t="0"/>
          <a:stretch/>
        </p:blipFill>
        <p:spPr>
          <a:xfrm>
            <a:off x="626454" y="3492893"/>
            <a:ext cx="410183" cy="41018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2" name="Shape 222"/>
        <p:cNvGrpSpPr/>
        <p:nvPr/>
      </p:nvGrpSpPr>
      <p:grpSpPr>
        <a:xfrm>
          <a:off x="0" y="0"/>
          <a:ext cx="0" cy="0"/>
          <a:chOff x="0" y="0"/>
          <a:chExt cx="0" cy="0"/>
        </a:xfrm>
      </p:grpSpPr>
      <p:sp>
        <p:nvSpPr>
          <p:cNvPr id="223" name="Google Shape;223;p7"/>
          <p:cNvSpPr/>
          <p:nvPr/>
        </p:nvSpPr>
        <p:spPr>
          <a:xfrm>
            <a:off x="1722150" y="2014300"/>
            <a:ext cx="8060400" cy="2625600"/>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4" name="Google Shape;224;p7"/>
          <p:cNvSpPr txBox="1"/>
          <p:nvPr/>
        </p:nvSpPr>
        <p:spPr>
          <a:xfrm>
            <a:off x="2192316" y="1130990"/>
            <a:ext cx="10552800" cy="1008000"/>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Definición Probabilidad</a:t>
            </a:r>
            <a:endParaRPr b="0" i="0" sz="3200" u="none" cap="none" strike="noStrike">
              <a:solidFill>
                <a:srgbClr val="7F7F7F"/>
              </a:solidFill>
              <a:latin typeface="Arial"/>
              <a:ea typeface="Arial"/>
              <a:cs typeface="Arial"/>
              <a:sym typeface="Arial"/>
            </a:endParaRPr>
          </a:p>
        </p:txBody>
      </p:sp>
      <p:sp>
        <p:nvSpPr>
          <p:cNvPr id="225" name="Google Shape;225;p7"/>
          <p:cNvSpPr txBox="1"/>
          <p:nvPr/>
        </p:nvSpPr>
        <p:spPr>
          <a:xfrm>
            <a:off x="2319687" y="2263799"/>
            <a:ext cx="6753000" cy="2062200"/>
          </a:xfrm>
          <a:prstGeom prst="rect">
            <a:avLst/>
          </a:prstGeom>
          <a:blipFill rotWithShape="1">
            <a:blip r:embed="rId4">
              <a:alphaModFix/>
            </a:blip>
            <a:stretch>
              <a:fillRect b="0" l="0" r="-719" t="-147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FFFFFF"/>
                </a:solidFill>
                <a:latin typeface="Calibri"/>
                <a:ea typeface="Calibri"/>
                <a:cs typeface="Calibri"/>
                <a:sym typeface="Calibri"/>
              </a:rPr>
              <a:t> </a:t>
            </a:r>
            <a:endParaRPr b="0" i="0" sz="1400" u="none" cap="none" strike="noStrike">
              <a:solidFill>
                <a:srgbClr val="FFFFFF"/>
              </a:solidFill>
              <a:latin typeface="Arial"/>
              <a:ea typeface="Arial"/>
              <a:cs typeface="Arial"/>
              <a:sym typeface="Arial"/>
            </a:endParaRPr>
          </a:p>
        </p:txBody>
      </p:sp>
      <p:pic>
        <p:nvPicPr>
          <p:cNvPr id="226" name="Google Shape;226;p7"/>
          <p:cNvPicPr preferRelativeResize="0"/>
          <p:nvPr/>
        </p:nvPicPr>
        <p:blipFill rotWithShape="1">
          <a:blip r:embed="rId5">
            <a:alphaModFix/>
          </a:blip>
          <a:srcRect b="0" l="0" r="0" t="0"/>
          <a:stretch/>
        </p:blipFill>
        <p:spPr>
          <a:xfrm>
            <a:off x="2245741" y="2351748"/>
            <a:ext cx="252000" cy="25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0" name="Shape 230"/>
        <p:cNvGrpSpPr/>
        <p:nvPr/>
      </p:nvGrpSpPr>
      <p:grpSpPr>
        <a:xfrm>
          <a:off x="0" y="0"/>
          <a:ext cx="0" cy="0"/>
          <a:chOff x="0" y="0"/>
          <a:chExt cx="0" cy="0"/>
        </a:xfrm>
      </p:grpSpPr>
      <p:sp>
        <p:nvSpPr>
          <p:cNvPr id="231" name="Google Shape;231;p8"/>
          <p:cNvSpPr/>
          <p:nvPr/>
        </p:nvSpPr>
        <p:spPr>
          <a:xfrm>
            <a:off x="729843" y="1473192"/>
            <a:ext cx="11142734" cy="3952437"/>
          </a:xfrm>
          <a:prstGeom prst="roundRect">
            <a:avLst>
              <a:gd fmla="val 4466" name="adj"/>
            </a:avLst>
          </a:prstGeom>
          <a:solidFill>
            <a:srgbClr val="82347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2" name="Google Shape;232;p8"/>
          <p:cNvSpPr/>
          <p:nvPr/>
        </p:nvSpPr>
        <p:spPr>
          <a:xfrm>
            <a:off x="8196045" y="1720142"/>
            <a:ext cx="3308217" cy="3431896"/>
          </a:xfrm>
          <a:prstGeom prst="roundRect">
            <a:avLst>
              <a:gd fmla="val 4466" name="adj"/>
            </a:avLst>
          </a:prstGeom>
          <a:solidFill>
            <a:schemeClr val="lt1"/>
          </a:solidFill>
          <a:ln cap="flat" cmpd="sng" w="28575">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3" name="Google Shape;233;p8"/>
          <p:cNvSpPr/>
          <p:nvPr/>
        </p:nvSpPr>
        <p:spPr>
          <a:xfrm>
            <a:off x="1513509" y="1735718"/>
            <a:ext cx="6494500" cy="341632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lt1"/>
              </a:buClr>
              <a:buSzPts val="1800"/>
              <a:buFont typeface="Noto Sans Symbols"/>
              <a:buChar char="⮚"/>
            </a:pPr>
            <a:r>
              <a:rPr b="0" i="0" lang="es-ES" sz="1800" u="none" cap="none" strike="noStrike">
                <a:solidFill>
                  <a:schemeClr val="lt1"/>
                </a:solidFill>
                <a:latin typeface="Calibri"/>
                <a:ea typeface="Calibri"/>
                <a:cs typeface="Calibri"/>
                <a:sym typeface="Calibri"/>
              </a:rPr>
              <a:t>Por ejemplo, considere la siguiente ruleta con 16 zonas de distinto color: 7 rojas, 5 azules, 3 verdes y 1 amarilla.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Noto Sans Symbols"/>
              <a:buChar char="⮚"/>
            </a:pPr>
            <a:r>
              <a:rPr b="0" i="0" lang="es-ES" sz="1800" u="none" cap="none" strike="noStrike">
                <a:solidFill>
                  <a:schemeClr val="lt1"/>
                </a:solidFill>
                <a:latin typeface="Calibri"/>
                <a:ea typeface="Calibri"/>
                <a:cs typeface="Calibri"/>
                <a:sym typeface="Calibri"/>
              </a:rPr>
              <a:t>Cada color tiene una probabilidad distinta de salir tras hacer girar la ruleta:</a:t>
            </a:r>
            <a:endParaRPr b="0" i="0" sz="1400" u="none" cap="none" strike="noStrike">
              <a:solidFill>
                <a:srgbClr val="000000"/>
              </a:solidFill>
              <a:latin typeface="Arial"/>
              <a:ea typeface="Arial"/>
              <a:cs typeface="Arial"/>
              <a:sym typeface="Arial"/>
            </a:endParaRPr>
          </a:p>
          <a:p>
            <a:pPr indent="-171450" lvl="0" marL="28575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La probabilidad de que salga color rojo es 7/16.</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La probabilidad de que salga color azul es 5/16.</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La probabilidad de que salga color verde es 3/16.</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La probabilidad de que salga color amarillo es 1/16.</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     P(A) = (𝐶𝑎𝑠𝑜𝑠 𝑓𝑎𝑣𝑜𝑟𝑎𝑏𝑙𝑒𝑠) / (𝐶𝑎𝑠𝑜𝑠 𝑝𝑜𝑠𝑖𝑏𝑙𝑒𝑠)</a:t>
            </a:r>
            <a:endParaRPr b="0" i="0" sz="1400" u="none" cap="none" strike="noStrike">
              <a:solidFill>
                <a:srgbClr val="000000"/>
              </a:solidFill>
              <a:latin typeface="Arial"/>
              <a:ea typeface="Arial"/>
              <a:cs typeface="Arial"/>
              <a:sym typeface="Arial"/>
            </a:endParaRPr>
          </a:p>
        </p:txBody>
      </p:sp>
      <p:pic>
        <p:nvPicPr>
          <p:cNvPr id="234" name="Google Shape;234;p8"/>
          <p:cNvPicPr preferRelativeResize="0"/>
          <p:nvPr/>
        </p:nvPicPr>
        <p:blipFill rotWithShape="1">
          <a:blip r:embed="rId4">
            <a:alphaModFix/>
          </a:blip>
          <a:srcRect b="0" l="0" r="0" t="0"/>
          <a:stretch/>
        </p:blipFill>
        <p:spPr>
          <a:xfrm>
            <a:off x="8572118" y="2064546"/>
            <a:ext cx="2670404" cy="2645815"/>
          </a:xfrm>
          <a:prstGeom prst="rect">
            <a:avLst/>
          </a:prstGeom>
          <a:noFill/>
          <a:ln>
            <a:noFill/>
          </a:ln>
        </p:spPr>
      </p:pic>
      <p:sp>
        <p:nvSpPr>
          <p:cNvPr id="235" name="Google Shape;235;p8"/>
          <p:cNvSpPr/>
          <p:nvPr/>
        </p:nvSpPr>
        <p:spPr>
          <a:xfrm>
            <a:off x="1513509" y="893448"/>
            <a:ext cx="462658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de Probabilidad</a:t>
            </a:r>
            <a:endParaRPr b="0" i="0" sz="3200" u="none" cap="none" strike="noStrike">
              <a:solidFill>
                <a:srgbClr val="7F7F7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9"/>
          <p:cNvSpPr/>
          <p:nvPr/>
        </p:nvSpPr>
        <p:spPr>
          <a:xfrm>
            <a:off x="695437" y="1199937"/>
            <a:ext cx="10638428" cy="5033623"/>
          </a:xfrm>
          <a:prstGeom prst="roundRect">
            <a:avLst>
              <a:gd fmla="val 4466" name="adj"/>
            </a:avLst>
          </a:prstGeom>
          <a:solidFill>
            <a:schemeClr val="lt1"/>
          </a:solidFill>
          <a:ln cap="flat" cmpd="sng" w="28575">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1" name="Google Shape;241;p9"/>
          <p:cNvSpPr/>
          <p:nvPr/>
        </p:nvSpPr>
        <p:spPr>
          <a:xfrm>
            <a:off x="972244" y="1401659"/>
            <a:ext cx="10151476" cy="40934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000"/>
              <a:buFont typeface="Arial"/>
              <a:buNone/>
            </a:pPr>
            <a:r>
              <a:rPr b="0" i="0" lang="es-ES" sz="2000" u="none" cap="none" strike="noStrike">
                <a:solidFill>
                  <a:srgbClr val="595959"/>
                </a:solidFill>
                <a:latin typeface="Calibri"/>
                <a:ea typeface="Calibri"/>
                <a:cs typeface="Calibri"/>
                <a:sym typeface="Calibri"/>
              </a:rPr>
              <a:t>¿Cuál es la probabilidad de que al lanzar un dado salga un número mayor a 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595959"/>
                </a:solidFill>
                <a:latin typeface="Calibri"/>
                <a:ea typeface="Calibri"/>
                <a:cs typeface="Calibri"/>
                <a:sym typeface="Calibri"/>
              </a:rPr>
              <a:t>¿Cuál es la probabilidad de que al lanzar un dado salga un número mayor a 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59595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595959"/>
                </a:solidFill>
                <a:latin typeface="Calibri"/>
                <a:ea typeface="Calibri"/>
                <a:cs typeface="Calibri"/>
                <a:sym typeface="Calibri"/>
              </a:rPr>
              <a:t>¿Cuál es la probabilidad de que al lanzar un dado salga número impar?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595959"/>
                </a:solidFill>
                <a:latin typeface="Calibri"/>
                <a:ea typeface="Calibri"/>
                <a:cs typeface="Calibri"/>
                <a:sym typeface="Calibri"/>
              </a:rPr>
              <a:t>¿Cuál es la probabilidad de que al lanzar un dado salga número par?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s-ES" sz="2000" u="none" cap="none" strike="noStrike">
                <a:solidFill>
                  <a:srgbClr val="595959"/>
                </a:solidFill>
                <a:latin typeface="Calibri"/>
                <a:ea typeface="Calibri"/>
                <a:cs typeface="Calibri"/>
                <a:sym typeface="Calibri"/>
              </a:rPr>
              <a:t>¿Cuál es la probabilidad de que al lanzar un dado salga 1?</a:t>
            </a:r>
            <a:endParaRPr b="0" i="0" sz="1400" u="none" cap="none" strike="noStrike">
              <a:solidFill>
                <a:srgbClr val="000000"/>
              </a:solidFill>
              <a:latin typeface="Arial"/>
              <a:ea typeface="Arial"/>
              <a:cs typeface="Arial"/>
              <a:sym typeface="Arial"/>
            </a:endParaRPr>
          </a:p>
        </p:txBody>
      </p:sp>
      <p:sp>
        <p:nvSpPr>
          <p:cNvPr id="242" name="Google Shape;242;p9"/>
          <p:cNvSpPr/>
          <p:nvPr/>
        </p:nvSpPr>
        <p:spPr>
          <a:xfrm>
            <a:off x="1062883" y="1799286"/>
            <a:ext cx="9845336" cy="445833"/>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9"/>
          <p:cNvSpPr/>
          <p:nvPr/>
        </p:nvSpPr>
        <p:spPr>
          <a:xfrm>
            <a:off x="1062883" y="2747112"/>
            <a:ext cx="9845336" cy="445833"/>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4" name="Google Shape;244;p9"/>
          <p:cNvSpPr/>
          <p:nvPr/>
        </p:nvSpPr>
        <p:spPr>
          <a:xfrm>
            <a:off x="1062883" y="3673821"/>
            <a:ext cx="9845336" cy="445833"/>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5" name="Google Shape;245;p9"/>
          <p:cNvSpPr/>
          <p:nvPr/>
        </p:nvSpPr>
        <p:spPr>
          <a:xfrm>
            <a:off x="1062883" y="4600530"/>
            <a:ext cx="9845336" cy="445833"/>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6" name="Google Shape;246;p9"/>
          <p:cNvSpPr/>
          <p:nvPr/>
        </p:nvSpPr>
        <p:spPr>
          <a:xfrm>
            <a:off x="1062883" y="5523167"/>
            <a:ext cx="9845336" cy="445833"/>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7" name="Google Shape;247;p9"/>
          <p:cNvSpPr txBox="1"/>
          <p:nvPr/>
        </p:nvSpPr>
        <p:spPr>
          <a:xfrm>
            <a:off x="1062883" y="547812"/>
            <a:ext cx="10270982" cy="559338"/>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Probabilidad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1" name="Shape 251"/>
        <p:cNvGrpSpPr/>
        <p:nvPr/>
      </p:nvGrpSpPr>
      <p:grpSpPr>
        <a:xfrm>
          <a:off x="0" y="0"/>
          <a:ext cx="0" cy="0"/>
          <a:chOff x="0" y="0"/>
          <a:chExt cx="0" cy="0"/>
        </a:xfrm>
      </p:grpSpPr>
      <p:sp>
        <p:nvSpPr>
          <p:cNvPr id="252" name="Google Shape;252;p10"/>
          <p:cNvSpPr/>
          <p:nvPr/>
        </p:nvSpPr>
        <p:spPr>
          <a:xfrm>
            <a:off x="276837" y="1592826"/>
            <a:ext cx="11543250" cy="3854245"/>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3" name="Google Shape;253;p10"/>
          <p:cNvSpPr/>
          <p:nvPr/>
        </p:nvSpPr>
        <p:spPr>
          <a:xfrm>
            <a:off x="7485866" y="1905899"/>
            <a:ext cx="4274070" cy="3154930"/>
          </a:xfrm>
          <a:prstGeom prst="roundRect">
            <a:avLst>
              <a:gd fmla="val 4466" name="adj"/>
            </a:avLst>
          </a:prstGeom>
          <a:solidFill>
            <a:schemeClr val="lt1"/>
          </a:solidFill>
          <a:ln cap="flat" cmpd="sng" w="28575">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4" name="Google Shape;254;p10"/>
          <p:cNvSpPr txBox="1"/>
          <p:nvPr/>
        </p:nvSpPr>
        <p:spPr>
          <a:xfrm>
            <a:off x="832828" y="747487"/>
            <a:ext cx="10927107"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Paradoja del Cumpleaños</a:t>
            </a:r>
            <a:endParaRPr b="0" i="0" sz="1400" u="none" cap="none" strike="noStrike">
              <a:solidFill>
                <a:srgbClr val="000000"/>
              </a:solidFill>
              <a:latin typeface="Arial"/>
              <a:ea typeface="Arial"/>
              <a:cs typeface="Arial"/>
              <a:sym typeface="Arial"/>
            </a:endParaRPr>
          </a:p>
        </p:txBody>
      </p:sp>
      <p:sp>
        <p:nvSpPr>
          <p:cNvPr id="255" name="Google Shape;255;p10"/>
          <p:cNvSpPr/>
          <p:nvPr/>
        </p:nvSpPr>
        <p:spPr>
          <a:xfrm>
            <a:off x="832829" y="1921842"/>
            <a:ext cx="6290881" cy="3416320"/>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lt1"/>
              </a:buClr>
              <a:buSzPts val="1800"/>
              <a:buFont typeface="Noto Sans Symbols"/>
              <a:buChar char="⮚"/>
            </a:pPr>
            <a:r>
              <a:rPr b="0" i="0" lang="es-ES" sz="1800" u="none" cap="none" strike="noStrike">
                <a:solidFill>
                  <a:schemeClr val="lt1"/>
                </a:solidFill>
                <a:latin typeface="Calibri"/>
                <a:ea typeface="Calibri"/>
                <a:cs typeface="Calibri"/>
                <a:sym typeface="Calibri"/>
              </a:rPr>
              <a:t>Esta paradoja hace la siguiente pregunta: ¿cuántas personas se necesitan como mínimo para que sea más probable que al menos 2 de ellas cumplan años el mismo día?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Noto Sans Symbols"/>
              <a:buChar char="⮚"/>
            </a:pPr>
            <a:r>
              <a:rPr b="0" i="0" lang="es-ES" sz="1800" u="none" cap="none" strike="noStrike">
                <a:solidFill>
                  <a:schemeClr val="lt1"/>
                </a:solidFill>
                <a:latin typeface="Calibri"/>
                <a:ea typeface="Calibri"/>
                <a:cs typeface="Calibri"/>
                <a:sym typeface="Calibri"/>
              </a:rPr>
              <a:t>A pesar de lo que nos indica la intuición, si mantenemos el supuesto de que los años tienen 365 días, la paradoja establece que hacen falta 23 personas para que haya una probabilidad del 50% de que al menos 2 de ellas cumplan años el mismo día.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800"/>
              <a:buFont typeface="Noto Sans Symbols"/>
              <a:buChar char="⮚"/>
            </a:pPr>
            <a:r>
              <a:rPr b="0" i="0" lang="es-ES" sz="1800" u="none" cap="none" strike="noStrike">
                <a:solidFill>
                  <a:schemeClr val="lt1"/>
                </a:solidFill>
                <a:latin typeface="Calibri"/>
                <a:ea typeface="Calibri"/>
                <a:cs typeface="Calibri"/>
                <a:sym typeface="Calibri"/>
              </a:rPr>
              <a:t>Y resulta que, si en una fiesta hay más de 57 invitados, la probabilidad de que dos personas cumplan años el mismo día es del 99% .</a:t>
            </a:r>
            <a:endParaRPr b="0" i="0" sz="1400" u="none" cap="none" strike="noStrike">
              <a:solidFill>
                <a:srgbClr val="000000"/>
              </a:solidFill>
              <a:latin typeface="Arial"/>
              <a:ea typeface="Arial"/>
              <a:cs typeface="Arial"/>
              <a:sym typeface="Arial"/>
            </a:endParaRPr>
          </a:p>
        </p:txBody>
      </p:sp>
      <p:pic>
        <p:nvPicPr>
          <p:cNvPr descr="Niños celebrando fiesta de cumpleaños | Foto Gratis" id="256" name="Google Shape;256;p10"/>
          <p:cNvPicPr preferRelativeResize="0"/>
          <p:nvPr/>
        </p:nvPicPr>
        <p:blipFill rotWithShape="1">
          <a:blip r:embed="rId4">
            <a:alphaModFix/>
          </a:blip>
          <a:srcRect b="0" l="0" r="0" t="0"/>
          <a:stretch/>
        </p:blipFill>
        <p:spPr>
          <a:xfrm>
            <a:off x="7733381" y="2170326"/>
            <a:ext cx="3779039" cy="251734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0" name="Shape 260"/>
        <p:cNvGrpSpPr/>
        <p:nvPr/>
      </p:nvGrpSpPr>
      <p:grpSpPr>
        <a:xfrm>
          <a:off x="0" y="0"/>
          <a:ext cx="0" cy="0"/>
          <a:chOff x="0" y="0"/>
          <a:chExt cx="0" cy="0"/>
        </a:xfrm>
      </p:grpSpPr>
      <p:sp>
        <p:nvSpPr>
          <p:cNvPr id="261" name="Google Shape;261;p11"/>
          <p:cNvSpPr/>
          <p:nvPr/>
        </p:nvSpPr>
        <p:spPr>
          <a:xfrm>
            <a:off x="-517443" y="2414761"/>
            <a:ext cx="8007721" cy="2993624"/>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2" name="Google Shape;262;p11"/>
          <p:cNvSpPr/>
          <p:nvPr/>
        </p:nvSpPr>
        <p:spPr>
          <a:xfrm>
            <a:off x="793602" y="2721446"/>
            <a:ext cx="5501744" cy="23082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ES" sz="2400" u="none" cap="none" strike="noStrike">
                <a:solidFill>
                  <a:schemeClr val="lt1"/>
                </a:solidFill>
                <a:latin typeface="Calibri"/>
                <a:ea typeface="Calibri"/>
                <a:cs typeface="Calibri"/>
                <a:sym typeface="Calibri"/>
              </a:rPr>
              <a:t>Para determinar la probabilidad, tenemos varios enfoques: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800"/>
              <a:buFont typeface="Arial"/>
              <a:buChar char="•"/>
            </a:pPr>
            <a:r>
              <a:rPr b="0" i="0" lang="es-ES" sz="2400" u="none" cap="none" strike="noStrike">
                <a:solidFill>
                  <a:schemeClr val="lt1"/>
                </a:solidFill>
                <a:latin typeface="Calibri"/>
                <a:ea typeface="Calibri"/>
                <a:cs typeface="Calibri"/>
                <a:sym typeface="Calibri"/>
              </a:rPr>
              <a:t>Interpretación frecuentista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800"/>
              <a:buFont typeface="Arial"/>
              <a:buChar char="•"/>
            </a:pPr>
            <a:r>
              <a:rPr b="0" i="0" lang="es-ES" sz="2400" u="none" cap="none" strike="noStrike">
                <a:solidFill>
                  <a:schemeClr val="lt1"/>
                </a:solidFill>
                <a:latin typeface="Calibri"/>
                <a:ea typeface="Calibri"/>
                <a:cs typeface="Calibri"/>
                <a:sym typeface="Calibri"/>
              </a:rPr>
              <a:t>Interpretación clásica.</a:t>
            </a:r>
            <a:endParaRPr b="0" i="0" sz="2400" u="none" cap="none" strike="noStrike">
              <a:solidFill>
                <a:schemeClr val="lt1"/>
              </a:solidFill>
              <a:latin typeface="Calibri"/>
              <a:ea typeface="Calibri"/>
              <a:cs typeface="Calibri"/>
              <a:sym typeface="Calibri"/>
            </a:endParaRPr>
          </a:p>
        </p:txBody>
      </p:sp>
      <p:sp>
        <p:nvSpPr>
          <p:cNvPr id="263" name="Google Shape;263;p11"/>
          <p:cNvSpPr txBox="1"/>
          <p:nvPr/>
        </p:nvSpPr>
        <p:spPr>
          <a:xfrm>
            <a:off x="793602" y="1120949"/>
            <a:ext cx="10375823"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Enfoques de Probabilidad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7" name="Shape 267"/>
        <p:cNvGrpSpPr/>
        <p:nvPr/>
      </p:nvGrpSpPr>
      <p:grpSpPr>
        <a:xfrm>
          <a:off x="0" y="0"/>
          <a:ext cx="0" cy="0"/>
          <a:chOff x="0" y="0"/>
          <a:chExt cx="0" cy="0"/>
        </a:xfrm>
      </p:grpSpPr>
      <p:sp>
        <p:nvSpPr>
          <p:cNvPr id="268" name="Google Shape;268;p12"/>
          <p:cNvSpPr/>
          <p:nvPr/>
        </p:nvSpPr>
        <p:spPr>
          <a:xfrm>
            <a:off x="-517443" y="1509379"/>
            <a:ext cx="11000386" cy="3968632"/>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9" name="Google Shape;269;p12"/>
          <p:cNvSpPr txBox="1"/>
          <p:nvPr/>
        </p:nvSpPr>
        <p:spPr>
          <a:xfrm>
            <a:off x="1195533" y="868871"/>
            <a:ext cx="10094571" cy="63387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Interpretación Frecuentista</a:t>
            </a:r>
            <a:endParaRPr b="0" i="0" sz="3200" u="none" cap="none" strike="noStrike">
              <a:solidFill>
                <a:srgbClr val="7F7F7F"/>
              </a:solidFill>
              <a:latin typeface="Arial"/>
              <a:ea typeface="Arial"/>
              <a:cs typeface="Arial"/>
              <a:sym typeface="Arial"/>
            </a:endParaRPr>
          </a:p>
        </p:txBody>
      </p:sp>
      <p:sp>
        <p:nvSpPr>
          <p:cNvPr id="270" name="Google Shape;270;p12"/>
          <p:cNvSpPr/>
          <p:nvPr/>
        </p:nvSpPr>
        <p:spPr>
          <a:xfrm>
            <a:off x="1195533" y="1849208"/>
            <a:ext cx="8823169" cy="3159583"/>
          </a:xfrm>
          <a:prstGeom prst="rect">
            <a:avLst/>
          </a:prstGeom>
          <a:blipFill rotWithShape="1">
            <a:blip r:embed="rId4">
              <a:alphaModFix/>
            </a:blip>
            <a:stretch>
              <a:fillRect b="-1923" l="-551" r="-619" t="-9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271" name="Google Shape;271;p12"/>
          <p:cNvPicPr preferRelativeResize="0"/>
          <p:nvPr/>
        </p:nvPicPr>
        <p:blipFill rotWithShape="1">
          <a:blip r:embed="rId5">
            <a:alphaModFix/>
          </a:blip>
          <a:srcRect b="0" l="0" r="0" t="0"/>
          <a:stretch/>
        </p:blipFill>
        <p:spPr>
          <a:xfrm>
            <a:off x="641789" y="1923408"/>
            <a:ext cx="330074" cy="3300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5" name="Shape 275"/>
        <p:cNvGrpSpPr/>
        <p:nvPr/>
      </p:nvGrpSpPr>
      <p:grpSpPr>
        <a:xfrm>
          <a:off x="0" y="0"/>
          <a:ext cx="0" cy="0"/>
          <a:chOff x="0" y="0"/>
          <a:chExt cx="0" cy="0"/>
        </a:xfrm>
      </p:grpSpPr>
      <p:sp>
        <p:nvSpPr>
          <p:cNvPr id="276" name="Google Shape;276;p13"/>
          <p:cNvSpPr/>
          <p:nvPr/>
        </p:nvSpPr>
        <p:spPr>
          <a:xfrm>
            <a:off x="595807" y="2532636"/>
            <a:ext cx="11000386" cy="2559481"/>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7" name="Google Shape;277;p13"/>
          <p:cNvSpPr/>
          <p:nvPr/>
        </p:nvSpPr>
        <p:spPr>
          <a:xfrm>
            <a:off x="1684415" y="2764557"/>
            <a:ext cx="8823169" cy="2327560"/>
          </a:xfrm>
          <a:prstGeom prst="rect">
            <a:avLst/>
          </a:prstGeom>
          <a:blipFill rotWithShape="1">
            <a:blip r:embed="rId4">
              <a:alphaModFix/>
            </a:blip>
            <a:stretch>
              <a:fillRect b="0" l="-548" r="-550" t="-157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78" name="Google Shape;278;p13"/>
          <p:cNvSpPr txBox="1"/>
          <p:nvPr/>
        </p:nvSpPr>
        <p:spPr>
          <a:xfrm>
            <a:off x="1684415" y="1612490"/>
            <a:ext cx="6948698" cy="62061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Interpretación Clásica</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2" name="Shape 282"/>
        <p:cNvGrpSpPr/>
        <p:nvPr/>
      </p:nvGrpSpPr>
      <p:grpSpPr>
        <a:xfrm>
          <a:off x="0" y="0"/>
          <a:ext cx="0" cy="0"/>
          <a:chOff x="0" y="0"/>
          <a:chExt cx="0" cy="0"/>
        </a:xfrm>
      </p:grpSpPr>
      <p:sp>
        <p:nvSpPr>
          <p:cNvPr id="283" name="Google Shape;283;p14"/>
          <p:cNvSpPr txBox="1"/>
          <p:nvPr/>
        </p:nvSpPr>
        <p:spPr>
          <a:xfrm>
            <a:off x="744179" y="3062620"/>
            <a:ext cx="7446092" cy="100806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3600"/>
              <a:buFont typeface="Arial"/>
              <a:buNone/>
            </a:pPr>
            <a:r>
              <a:rPr b="0" i="0" lang="es-ES" sz="3600" u="none" cap="none" strike="noStrike">
                <a:solidFill>
                  <a:srgbClr val="7F7F7F"/>
                </a:solidFill>
                <a:latin typeface="Arial"/>
                <a:ea typeface="Arial"/>
                <a:cs typeface="Arial"/>
                <a:sym typeface="Arial"/>
              </a:rPr>
              <a:t>Suceso y Espacio Muestral</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7" name="Shape 287"/>
        <p:cNvGrpSpPr/>
        <p:nvPr/>
      </p:nvGrpSpPr>
      <p:grpSpPr>
        <a:xfrm>
          <a:off x="0" y="0"/>
          <a:ext cx="0" cy="0"/>
          <a:chOff x="0" y="0"/>
          <a:chExt cx="0" cy="0"/>
        </a:xfrm>
      </p:grpSpPr>
      <p:sp>
        <p:nvSpPr>
          <p:cNvPr id="288" name="Google Shape;288;p15"/>
          <p:cNvSpPr/>
          <p:nvPr/>
        </p:nvSpPr>
        <p:spPr>
          <a:xfrm>
            <a:off x="1248697" y="2676730"/>
            <a:ext cx="9537300" cy="3238500"/>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9" name="Google Shape;289;p15"/>
          <p:cNvSpPr/>
          <p:nvPr/>
        </p:nvSpPr>
        <p:spPr>
          <a:xfrm>
            <a:off x="0" y="1115581"/>
            <a:ext cx="12398400" cy="1308000"/>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0" name="Google Shape;290;p15"/>
          <p:cNvSpPr/>
          <p:nvPr/>
        </p:nvSpPr>
        <p:spPr>
          <a:xfrm>
            <a:off x="1248697" y="1307951"/>
            <a:ext cx="9537300" cy="9234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Espacio Muestral </a:t>
            </a:r>
            <a:r>
              <a:rPr b="0" i="0" lang="es-ES" sz="1800" u="none" cap="none" strike="noStrike">
                <a:solidFill>
                  <a:schemeClr val="lt1"/>
                </a:solidFill>
                <a:latin typeface="Calibri"/>
                <a:ea typeface="Calibri"/>
                <a:cs typeface="Calibri"/>
                <a:sym typeface="Calibri"/>
              </a:rPr>
              <a:t>es el conjunto formado por todos los posibles resultados que pueden darse en un experimento aleatorio. Cada uno de estos resultados es conocido como </a:t>
            </a:r>
            <a:r>
              <a:rPr b="1" i="0" lang="es-ES" sz="1800" u="none" cap="none" strike="noStrike">
                <a:solidFill>
                  <a:schemeClr val="lt1"/>
                </a:solidFill>
                <a:latin typeface="Calibri"/>
                <a:ea typeface="Calibri"/>
                <a:cs typeface="Calibri"/>
                <a:sym typeface="Calibri"/>
              </a:rPr>
              <a:t>evento o suceso elemental</a:t>
            </a:r>
            <a:r>
              <a:rPr b="0" i="0" lang="es-ES" sz="1800" u="none" cap="none" strike="noStrike">
                <a:solidFill>
                  <a:schemeClr val="lt1"/>
                </a:solidFill>
                <a:latin typeface="Calibri"/>
                <a:ea typeface="Calibri"/>
                <a:cs typeface="Calibri"/>
                <a:sym typeface="Calibri"/>
              </a:rPr>
              <a:t>. </a:t>
            </a:r>
            <a:r>
              <a:rPr b="1" i="0" lang="es-ES" sz="1800" u="none" cap="none" strike="noStrike">
                <a:solidFill>
                  <a:schemeClr val="lt1"/>
                </a:solidFill>
                <a:latin typeface="Calibri"/>
                <a:ea typeface="Calibri"/>
                <a:cs typeface="Calibri"/>
                <a:sym typeface="Calibri"/>
              </a:rPr>
              <a:t>Por ejemplo:</a:t>
            </a:r>
            <a:endParaRPr b="0" i="0" sz="1400" u="none" cap="none" strike="noStrike">
              <a:solidFill>
                <a:srgbClr val="000000"/>
              </a:solidFill>
              <a:latin typeface="Arial"/>
              <a:ea typeface="Arial"/>
              <a:cs typeface="Arial"/>
              <a:sym typeface="Arial"/>
            </a:endParaRPr>
          </a:p>
        </p:txBody>
      </p:sp>
      <p:pic>
        <p:nvPicPr>
          <p:cNvPr id="291" name="Google Shape;291;p15"/>
          <p:cNvPicPr preferRelativeResize="0"/>
          <p:nvPr/>
        </p:nvPicPr>
        <p:blipFill rotWithShape="1">
          <a:blip r:embed="rId4">
            <a:alphaModFix/>
          </a:blip>
          <a:srcRect b="0" l="0" r="0" t="2356"/>
          <a:stretch/>
        </p:blipFill>
        <p:spPr>
          <a:xfrm>
            <a:off x="4186769" y="2788622"/>
            <a:ext cx="3314477" cy="3014715"/>
          </a:xfrm>
          <a:prstGeom prst="rect">
            <a:avLst/>
          </a:prstGeom>
          <a:noFill/>
          <a:ln>
            <a:noFill/>
          </a:ln>
        </p:spPr>
      </p:pic>
      <p:sp>
        <p:nvSpPr>
          <p:cNvPr id="292" name="Google Shape;292;p15"/>
          <p:cNvSpPr txBox="1"/>
          <p:nvPr/>
        </p:nvSpPr>
        <p:spPr>
          <a:xfrm>
            <a:off x="1248697" y="107519"/>
            <a:ext cx="9952800" cy="1008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Suceso y Espacio Muestral</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6" name="Shape 296"/>
        <p:cNvGrpSpPr/>
        <p:nvPr/>
      </p:nvGrpSpPr>
      <p:grpSpPr>
        <a:xfrm>
          <a:off x="0" y="0"/>
          <a:ext cx="0" cy="0"/>
          <a:chOff x="0" y="0"/>
          <a:chExt cx="0" cy="0"/>
        </a:xfrm>
      </p:grpSpPr>
      <p:sp>
        <p:nvSpPr>
          <p:cNvPr id="297" name="Google Shape;297;p16"/>
          <p:cNvSpPr/>
          <p:nvPr/>
        </p:nvSpPr>
        <p:spPr>
          <a:xfrm>
            <a:off x="-428953" y="1313280"/>
            <a:ext cx="11506572" cy="4173822"/>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8" name="Google Shape;298;p16"/>
          <p:cNvSpPr txBox="1"/>
          <p:nvPr/>
        </p:nvSpPr>
        <p:spPr>
          <a:xfrm>
            <a:off x="793602" y="619873"/>
            <a:ext cx="9825237" cy="62931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Suceso y Espacio Muestral</a:t>
            </a:r>
            <a:endParaRPr b="0" i="0" sz="1400" u="none" cap="none" strike="noStrike">
              <a:solidFill>
                <a:srgbClr val="000000"/>
              </a:solidFill>
              <a:latin typeface="Arial"/>
              <a:ea typeface="Arial"/>
              <a:cs typeface="Arial"/>
              <a:sym typeface="Arial"/>
            </a:endParaRPr>
          </a:p>
        </p:txBody>
      </p:sp>
      <p:sp>
        <p:nvSpPr>
          <p:cNvPr id="299" name="Google Shape;299;p16"/>
          <p:cNvSpPr/>
          <p:nvPr/>
        </p:nvSpPr>
        <p:spPr>
          <a:xfrm>
            <a:off x="793602" y="1692031"/>
            <a:ext cx="9972721" cy="3416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Se denomina evento o suceso a cualquier subconjunto del espacio muestral formado por sucesos elementales.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Ejemplo</a:t>
            </a:r>
            <a:r>
              <a:rPr b="0" i="0" lang="es-ES" sz="1800" u="none" cap="none" strike="noStrike">
                <a:solidFill>
                  <a:schemeClr val="lt1"/>
                </a:solidFill>
                <a:latin typeface="Calibri"/>
                <a:ea typeface="Calibri"/>
                <a:cs typeface="Calibri"/>
                <a:sym typeface="Calibri"/>
              </a:rPr>
              <a:t>: Lanzamiento de un dado.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Suceso A</a:t>
            </a:r>
            <a:r>
              <a:rPr b="0" i="0" lang="es-ES" sz="1800" u="none" cap="none" strike="noStrike">
                <a:solidFill>
                  <a:schemeClr val="lt1"/>
                </a:solidFill>
                <a:latin typeface="Calibri"/>
                <a:ea typeface="Calibri"/>
                <a:cs typeface="Calibri"/>
                <a:sym typeface="Calibri"/>
              </a:rPr>
              <a:t>: Obtener un número par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285750" lvl="0" marL="285750" marR="0" rtl="0" algn="l">
              <a:lnSpc>
                <a:spcPct val="100000"/>
              </a:lnSpc>
              <a:spcBef>
                <a:spcPts val="0"/>
              </a:spcBef>
              <a:spcAft>
                <a:spcPts val="0"/>
              </a:spcAft>
              <a:buClr>
                <a:schemeClr val="lt1"/>
              </a:buClr>
              <a:buSzPts val="1800"/>
              <a:buFont typeface="Noto Sans Symbols"/>
              <a:buChar char="⮚"/>
            </a:pPr>
            <a:r>
              <a:rPr b="0" i="0" lang="es-ES" sz="1800" u="none" cap="none" strike="noStrike">
                <a:solidFill>
                  <a:schemeClr val="lt1"/>
                </a:solidFill>
                <a:latin typeface="Calibri"/>
                <a:ea typeface="Calibri"/>
                <a:cs typeface="Calibri"/>
                <a:sym typeface="Calibri"/>
              </a:rPr>
              <a:t>Un suceso </a:t>
            </a:r>
            <a:r>
              <a:rPr b="1" i="0" lang="es-ES" sz="1800" u="none" cap="none" strike="noStrike">
                <a:solidFill>
                  <a:schemeClr val="lt1"/>
                </a:solidFill>
                <a:latin typeface="Calibri"/>
                <a:ea typeface="Calibri"/>
                <a:cs typeface="Calibri"/>
                <a:sym typeface="Calibri"/>
              </a:rPr>
              <a:t>es seguro </a:t>
            </a:r>
            <a:r>
              <a:rPr b="0" i="0" lang="es-ES" sz="1800" u="none" cap="none" strike="noStrike">
                <a:solidFill>
                  <a:schemeClr val="lt1"/>
                </a:solidFill>
                <a:latin typeface="Calibri"/>
                <a:ea typeface="Calibri"/>
                <a:cs typeface="Calibri"/>
                <a:sym typeface="Calibri"/>
              </a:rPr>
              <a:t>cuando coincide con el espacio muestral del experimento.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Noto Sans Symbols"/>
              <a:buChar char="⮚"/>
            </a:pPr>
            <a:r>
              <a:rPr b="0" i="0" lang="es-ES" sz="1800" u="none" cap="none" strike="noStrike">
                <a:solidFill>
                  <a:schemeClr val="lt1"/>
                </a:solidFill>
                <a:latin typeface="Calibri"/>
                <a:ea typeface="Calibri"/>
                <a:cs typeface="Calibri"/>
                <a:sym typeface="Calibri"/>
              </a:rPr>
              <a:t>Un suceso </a:t>
            </a:r>
            <a:r>
              <a:rPr b="1" i="0" lang="es-ES" sz="1800" u="none" cap="none" strike="noStrike">
                <a:solidFill>
                  <a:schemeClr val="lt1"/>
                </a:solidFill>
                <a:latin typeface="Calibri"/>
                <a:ea typeface="Calibri"/>
                <a:cs typeface="Calibri"/>
                <a:sym typeface="Calibri"/>
              </a:rPr>
              <a:t>es imposible </a:t>
            </a:r>
            <a:r>
              <a:rPr b="0" i="0" lang="es-ES" sz="1800" u="none" cap="none" strike="noStrike">
                <a:solidFill>
                  <a:schemeClr val="lt1"/>
                </a:solidFill>
                <a:latin typeface="Calibri"/>
                <a:ea typeface="Calibri"/>
                <a:cs typeface="Calibri"/>
                <a:sym typeface="Calibri"/>
              </a:rPr>
              <a:t>si nunca ocurre, o, si no se presenta al realizar un experimento aleatorio.</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Noto Sans Symbols"/>
              <a:buChar char="⮚"/>
            </a:pPr>
            <a:r>
              <a:rPr b="0" i="0" lang="es-ES" sz="1800" u="none" cap="none" strike="noStrike">
                <a:solidFill>
                  <a:schemeClr val="lt1"/>
                </a:solidFill>
                <a:latin typeface="Calibri"/>
                <a:ea typeface="Calibri"/>
                <a:cs typeface="Calibri"/>
                <a:sym typeface="Calibri"/>
              </a:rPr>
              <a:t>Dos sucesos son </a:t>
            </a:r>
            <a:r>
              <a:rPr b="1" i="0" lang="es-ES" sz="1800" u="none" cap="none" strike="noStrike">
                <a:solidFill>
                  <a:schemeClr val="lt1"/>
                </a:solidFill>
                <a:latin typeface="Calibri"/>
                <a:ea typeface="Calibri"/>
                <a:cs typeface="Calibri"/>
                <a:sym typeface="Calibri"/>
              </a:rPr>
              <a:t>mutuamente excluyentes </a:t>
            </a:r>
            <a:r>
              <a:rPr b="0" i="0" lang="es-ES" sz="1800" u="none" cap="none" strike="noStrike">
                <a:solidFill>
                  <a:schemeClr val="lt1"/>
                </a:solidFill>
                <a:latin typeface="Calibri"/>
                <a:ea typeface="Calibri"/>
                <a:cs typeface="Calibri"/>
                <a:sym typeface="Calibri"/>
              </a:rPr>
              <a:t>o disjuntos si no pueden suceder simultáneamente, es decir, si y sólo si su intersección es vacía.</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Noto Sans Symbols"/>
              <a:buChar char="⮚"/>
            </a:pPr>
            <a:r>
              <a:rPr b="0" i="0" lang="es-ES" sz="1800" u="none" cap="none" strike="noStrike">
                <a:solidFill>
                  <a:schemeClr val="lt1"/>
                </a:solidFill>
                <a:latin typeface="Calibri"/>
                <a:ea typeface="Calibri"/>
                <a:cs typeface="Calibri"/>
                <a:sym typeface="Calibri"/>
              </a:rPr>
              <a:t>La cantidad de elementos que componen un suceso A se denomina </a:t>
            </a:r>
            <a:r>
              <a:rPr b="1" i="0" lang="es-ES" sz="1800" u="none" cap="none" strike="noStrike">
                <a:solidFill>
                  <a:schemeClr val="lt1"/>
                </a:solidFill>
                <a:latin typeface="Calibri"/>
                <a:ea typeface="Calibri"/>
                <a:cs typeface="Calibri"/>
                <a:sym typeface="Calibri"/>
              </a:rPr>
              <a:t>cardinalidad</a:t>
            </a:r>
            <a:r>
              <a:rPr b="0" i="0" lang="es-ES" sz="1800" u="none" cap="none" strike="noStrike">
                <a:solidFill>
                  <a:schemeClr val="lt1"/>
                </a:solidFill>
                <a:latin typeface="Calibri"/>
                <a:ea typeface="Calibri"/>
                <a:cs typeface="Calibri"/>
                <a:sym typeface="Calibri"/>
              </a:rPr>
              <a:t> de A y se denota #𝐴.</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lt1"/>
              </a:buClr>
              <a:buSzPts val="1800"/>
              <a:buFont typeface="Noto Sans Symbols"/>
              <a:buChar char="⮚"/>
            </a:pPr>
            <a:r>
              <a:rPr b="0" i="0" lang="es-ES" sz="1800" u="none" cap="none" strike="noStrike">
                <a:solidFill>
                  <a:schemeClr val="lt1"/>
                </a:solidFill>
                <a:latin typeface="Calibri"/>
                <a:ea typeface="Calibri"/>
                <a:cs typeface="Calibri"/>
                <a:sym typeface="Calibri"/>
              </a:rPr>
              <a:t>Análogamente se denota </a:t>
            </a:r>
            <a:r>
              <a:rPr b="1" i="0" lang="es-ES" sz="1800" u="none" cap="none" strike="noStrike">
                <a:solidFill>
                  <a:schemeClr val="lt1"/>
                </a:solidFill>
                <a:latin typeface="Calibri"/>
                <a:ea typeface="Calibri"/>
                <a:cs typeface="Calibri"/>
                <a:sym typeface="Calibri"/>
              </a:rPr>
              <a:t>#Ω</a:t>
            </a:r>
            <a:r>
              <a:rPr b="0" i="0" lang="es-ES" sz="1800" u="none" cap="none" strike="noStrike">
                <a:solidFill>
                  <a:schemeClr val="lt1"/>
                </a:solidFill>
                <a:latin typeface="Calibri"/>
                <a:ea typeface="Calibri"/>
                <a:cs typeface="Calibri"/>
                <a:sym typeface="Calibri"/>
              </a:rPr>
              <a:t> es la cantidad de resultados posibles de un experimento aleatorio.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3" name="Shape 303"/>
        <p:cNvGrpSpPr/>
        <p:nvPr/>
      </p:nvGrpSpPr>
      <p:grpSpPr>
        <a:xfrm>
          <a:off x="0" y="0"/>
          <a:ext cx="0" cy="0"/>
          <a:chOff x="0" y="0"/>
          <a:chExt cx="0" cy="0"/>
        </a:xfrm>
      </p:grpSpPr>
      <p:sp>
        <p:nvSpPr>
          <p:cNvPr id="304" name="Google Shape;304;p17"/>
          <p:cNvSpPr txBox="1"/>
          <p:nvPr/>
        </p:nvSpPr>
        <p:spPr>
          <a:xfrm>
            <a:off x="1182386" y="3416582"/>
            <a:ext cx="10782300" cy="752296"/>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600"/>
              <a:buFont typeface="Arial"/>
              <a:buNone/>
            </a:pPr>
            <a:r>
              <a:t/>
            </a:r>
            <a:endParaRPr b="0" i="0" sz="3600" u="none" cap="none" strike="noStrike">
              <a:solidFill>
                <a:srgbClr val="7F7F7F"/>
              </a:solidFill>
              <a:latin typeface="Arial"/>
              <a:ea typeface="Arial"/>
              <a:cs typeface="Arial"/>
              <a:sym typeface="Arial"/>
            </a:endParaRPr>
          </a:p>
          <a:p>
            <a:pPr indent="0" lvl="0" marL="0" marR="0" rtl="0" algn="just">
              <a:lnSpc>
                <a:spcPct val="90000"/>
              </a:lnSpc>
              <a:spcBef>
                <a:spcPts val="0"/>
              </a:spcBef>
              <a:spcAft>
                <a:spcPts val="0"/>
              </a:spcAft>
              <a:buClr>
                <a:srgbClr val="000000"/>
              </a:buClr>
              <a:buSzPts val="3600"/>
              <a:buFont typeface="Arial"/>
              <a:buNone/>
            </a:pPr>
            <a:r>
              <a:rPr b="0" i="0" lang="es-ES" sz="3600" u="none" cap="none" strike="noStrike">
                <a:solidFill>
                  <a:srgbClr val="7F7F7F"/>
                </a:solidFill>
                <a:latin typeface="Arial"/>
                <a:ea typeface="Arial"/>
                <a:cs typeface="Arial"/>
                <a:sym typeface="Arial"/>
              </a:rPr>
              <a:t>Ejemplos de Suceso y Espacio Muestral</a:t>
            </a:r>
            <a:endParaRPr b="0" i="0" sz="3600" u="none" cap="none" strike="noStrike">
              <a:solidFill>
                <a:srgbClr val="7F7F7F"/>
              </a:solidFill>
              <a:latin typeface="Arial"/>
              <a:ea typeface="Arial"/>
              <a:cs typeface="Arial"/>
              <a:sym typeface="Arial"/>
            </a:endParaRPr>
          </a:p>
          <a:p>
            <a:pPr indent="0" lvl="0" marL="0" marR="0" rtl="0" algn="just">
              <a:lnSpc>
                <a:spcPct val="90000"/>
              </a:lnSpc>
              <a:spcBef>
                <a:spcPts val="0"/>
              </a:spcBef>
              <a:spcAft>
                <a:spcPts val="0"/>
              </a:spcAft>
              <a:buClr>
                <a:srgbClr val="000000"/>
              </a:buClr>
              <a:buSzPts val="3600"/>
              <a:buFont typeface="Arial"/>
              <a:buNone/>
            </a:pPr>
            <a:r>
              <a:t/>
            </a:r>
            <a:endParaRPr b="0" i="0" sz="3600" u="none" cap="none" strike="noStrike">
              <a:solidFill>
                <a:srgbClr val="7F7F7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8" name="Shape 308"/>
        <p:cNvGrpSpPr/>
        <p:nvPr/>
      </p:nvGrpSpPr>
      <p:grpSpPr>
        <a:xfrm>
          <a:off x="0" y="0"/>
          <a:ext cx="0" cy="0"/>
          <a:chOff x="0" y="0"/>
          <a:chExt cx="0" cy="0"/>
        </a:xfrm>
      </p:grpSpPr>
      <p:sp>
        <p:nvSpPr>
          <p:cNvPr id="309" name="Google Shape;309;p18"/>
          <p:cNvSpPr/>
          <p:nvPr/>
        </p:nvSpPr>
        <p:spPr>
          <a:xfrm>
            <a:off x="7903028" y="816429"/>
            <a:ext cx="3672349" cy="4619058"/>
          </a:xfrm>
          <a:prstGeom prst="roundRect">
            <a:avLst>
              <a:gd fmla="val 4466" name="adj"/>
            </a:avLst>
          </a:prstGeom>
          <a:solidFill>
            <a:srgbClr val="000000"/>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0" name="Google Shape;310;p18"/>
          <p:cNvSpPr/>
          <p:nvPr/>
        </p:nvSpPr>
        <p:spPr>
          <a:xfrm>
            <a:off x="-424873" y="2130576"/>
            <a:ext cx="8100291" cy="2062733"/>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1" name="Google Shape;311;p18"/>
          <p:cNvSpPr txBox="1"/>
          <p:nvPr/>
        </p:nvSpPr>
        <p:spPr>
          <a:xfrm>
            <a:off x="1582993" y="1122514"/>
            <a:ext cx="9586431"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1</a:t>
            </a:r>
            <a:endParaRPr b="0" i="0" sz="1400" u="none" cap="none" strike="noStrike">
              <a:solidFill>
                <a:srgbClr val="000000"/>
              </a:solidFill>
              <a:latin typeface="Arial"/>
              <a:ea typeface="Arial"/>
              <a:cs typeface="Arial"/>
              <a:sym typeface="Arial"/>
            </a:endParaRPr>
          </a:p>
        </p:txBody>
      </p:sp>
      <p:sp>
        <p:nvSpPr>
          <p:cNvPr id="312" name="Google Shape;312;p18"/>
          <p:cNvSpPr/>
          <p:nvPr/>
        </p:nvSpPr>
        <p:spPr>
          <a:xfrm>
            <a:off x="1512817" y="2413407"/>
            <a:ext cx="5742238"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Se tienen 20 tarjetas numeradas correlativamente del 1 al 20 en una bolsa no transparente. Si se extrae una tarjeta:</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lt1"/>
              </a:buClr>
              <a:buSzPts val="1800"/>
              <a:buFont typeface="Calibri"/>
              <a:buAutoNum type="arabicPeriod"/>
            </a:pPr>
            <a:r>
              <a:rPr b="0" i="0" lang="es-ES" sz="1800" u="none" cap="none" strike="noStrike">
                <a:solidFill>
                  <a:schemeClr val="lt1"/>
                </a:solidFill>
                <a:latin typeface="Calibri"/>
                <a:ea typeface="Calibri"/>
                <a:cs typeface="Calibri"/>
                <a:sym typeface="Calibri"/>
              </a:rPr>
              <a:t>¿Cuál es la probabilidad de extraer un número par?</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lt1"/>
              </a:buClr>
              <a:buSzPts val="1800"/>
              <a:buFont typeface="Calibri"/>
              <a:buAutoNum type="arabicPeriod"/>
            </a:pPr>
            <a:r>
              <a:rPr b="0" i="0" lang="es-ES" sz="1800" u="none" cap="none" strike="noStrike">
                <a:solidFill>
                  <a:schemeClr val="lt1"/>
                </a:solidFill>
                <a:latin typeface="Calibri"/>
                <a:ea typeface="Calibri"/>
                <a:cs typeface="Calibri"/>
                <a:sym typeface="Calibri"/>
              </a:rPr>
              <a:t>¿Cuál es la probabilidad de extraer un múltiplo de 3?</a:t>
            </a:r>
            <a:endParaRPr b="0" i="0" sz="1400" u="none" cap="none" strike="noStrike">
              <a:solidFill>
                <a:srgbClr val="000000"/>
              </a:solidFill>
              <a:latin typeface="Arial"/>
              <a:ea typeface="Arial"/>
              <a:cs typeface="Arial"/>
              <a:sym typeface="Arial"/>
            </a:endParaRPr>
          </a:p>
        </p:txBody>
      </p:sp>
      <p:pic>
        <p:nvPicPr>
          <p:cNvPr descr="Free photo vertical shot of playing cards spilling out from a black top hat isolated on a black background" id="313" name="Google Shape;313;p18"/>
          <p:cNvPicPr preferRelativeResize="0"/>
          <p:nvPr/>
        </p:nvPicPr>
        <p:blipFill rotWithShape="1">
          <a:blip r:embed="rId4">
            <a:alphaModFix/>
          </a:blip>
          <a:srcRect b="0" l="0" r="0" t="0"/>
          <a:stretch/>
        </p:blipFill>
        <p:spPr>
          <a:xfrm>
            <a:off x="8281590" y="958349"/>
            <a:ext cx="2887835" cy="4335215"/>
          </a:xfrm>
          <a:prstGeom prst="rect">
            <a:avLst/>
          </a:prstGeom>
          <a:noFill/>
          <a:ln>
            <a:noFill/>
          </a:ln>
        </p:spPr>
      </p:pic>
      <p:pic>
        <p:nvPicPr>
          <p:cNvPr id="314" name="Google Shape;314;p18"/>
          <p:cNvPicPr preferRelativeResize="0"/>
          <p:nvPr/>
        </p:nvPicPr>
        <p:blipFill rotWithShape="1">
          <a:blip r:embed="rId5">
            <a:alphaModFix/>
          </a:blip>
          <a:srcRect b="0" l="0" r="0" t="0"/>
          <a:stretch/>
        </p:blipFill>
        <p:spPr>
          <a:xfrm>
            <a:off x="1058954" y="2529097"/>
            <a:ext cx="252000" cy="252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8" name="Shape 318"/>
        <p:cNvGrpSpPr/>
        <p:nvPr/>
      </p:nvGrpSpPr>
      <p:grpSpPr>
        <a:xfrm>
          <a:off x="0" y="0"/>
          <a:ext cx="0" cy="0"/>
          <a:chOff x="0" y="0"/>
          <a:chExt cx="0" cy="0"/>
        </a:xfrm>
      </p:grpSpPr>
      <p:sp>
        <p:nvSpPr>
          <p:cNvPr id="319" name="Google Shape;319;p19"/>
          <p:cNvSpPr/>
          <p:nvPr/>
        </p:nvSpPr>
        <p:spPr>
          <a:xfrm>
            <a:off x="595807" y="1248122"/>
            <a:ext cx="10690143" cy="4747854"/>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0" name="Google Shape;320;p19"/>
          <p:cNvSpPr/>
          <p:nvPr/>
        </p:nvSpPr>
        <p:spPr>
          <a:xfrm>
            <a:off x="1039519" y="1580518"/>
            <a:ext cx="8823169"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Espacio Muestra𝑙={1,2,3,4,5,6,7,8,9,10,11,12,13,14,15,16,17,18,19,20}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#Ω=20</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¿Cuál es la probabilidad de extraer un número par?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¿Cuál es la probabilidad de extraer un múltiplo de 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1" name="Google Shape;321;p19"/>
          <p:cNvSpPr txBox="1"/>
          <p:nvPr/>
        </p:nvSpPr>
        <p:spPr>
          <a:xfrm>
            <a:off x="1631775" y="2753541"/>
            <a:ext cx="3460071" cy="36933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22" name="Google Shape;322;p19"/>
          <p:cNvSpPr txBox="1"/>
          <p:nvPr/>
        </p:nvSpPr>
        <p:spPr>
          <a:xfrm>
            <a:off x="1386770" y="3021222"/>
            <a:ext cx="1373819" cy="369332"/>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23" name="Google Shape;323;p19"/>
          <p:cNvSpPr txBox="1"/>
          <p:nvPr/>
        </p:nvSpPr>
        <p:spPr>
          <a:xfrm>
            <a:off x="1039519" y="3380825"/>
            <a:ext cx="2744342" cy="491609"/>
          </a:xfrm>
          <a:prstGeom prst="rect">
            <a:avLst/>
          </a:prstGeom>
          <a:blipFill rotWithShape="1">
            <a:blip r:embed="rId6">
              <a:alphaModFix/>
            </a:blip>
            <a:stretch>
              <a:fillRect b="-2497"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24" name="Google Shape;324;p19"/>
          <p:cNvSpPr txBox="1"/>
          <p:nvPr/>
        </p:nvSpPr>
        <p:spPr>
          <a:xfrm>
            <a:off x="1388418" y="4646592"/>
            <a:ext cx="2744342" cy="369332"/>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25" name="Google Shape;325;p19"/>
          <p:cNvSpPr txBox="1"/>
          <p:nvPr/>
        </p:nvSpPr>
        <p:spPr>
          <a:xfrm>
            <a:off x="1386770" y="4914273"/>
            <a:ext cx="1142999" cy="369332"/>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26" name="Google Shape;326;p19"/>
          <p:cNvSpPr txBox="1"/>
          <p:nvPr/>
        </p:nvSpPr>
        <p:spPr>
          <a:xfrm>
            <a:off x="1039519" y="5206827"/>
            <a:ext cx="2129829" cy="485774"/>
          </a:xfrm>
          <a:prstGeom prst="rect">
            <a:avLst/>
          </a:prstGeom>
          <a:blipFill rotWithShape="1">
            <a:blip r:embed="rId9">
              <a:alphaModFix/>
            </a:blip>
            <a:stretch>
              <a:fillRect b="-1248"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27" name="Google Shape;327;p19"/>
          <p:cNvSpPr txBox="1"/>
          <p:nvPr/>
        </p:nvSpPr>
        <p:spPr>
          <a:xfrm>
            <a:off x="1039519" y="800296"/>
            <a:ext cx="10556674" cy="45651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1</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1" name="Shape 331"/>
        <p:cNvGrpSpPr/>
        <p:nvPr/>
      </p:nvGrpSpPr>
      <p:grpSpPr>
        <a:xfrm>
          <a:off x="0" y="0"/>
          <a:ext cx="0" cy="0"/>
          <a:chOff x="0" y="0"/>
          <a:chExt cx="0" cy="0"/>
        </a:xfrm>
      </p:grpSpPr>
      <p:sp>
        <p:nvSpPr>
          <p:cNvPr id="332" name="Google Shape;332;p20"/>
          <p:cNvSpPr/>
          <p:nvPr/>
        </p:nvSpPr>
        <p:spPr>
          <a:xfrm>
            <a:off x="525183" y="1258529"/>
            <a:ext cx="11411177" cy="5142271"/>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3" name="Google Shape;333;p20"/>
          <p:cNvSpPr txBox="1"/>
          <p:nvPr/>
        </p:nvSpPr>
        <p:spPr>
          <a:xfrm>
            <a:off x="884517" y="1535996"/>
            <a:ext cx="10782300"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Se encuestaron a alumnos de enseñanza media de un colegio particular sobre las preferencias de los deportes que practican, entregándose las respuestas en la siguiente tabla:</a:t>
            </a:r>
            <a:endParaRPr b="0" i="0" sz="1400" u="none" cap="none" strike="noStrike">
              <a:solidFill>
                <a:srgbClr val="000000"/>
              </a:solidFill>
              <a:latin typeface="Arial"/>
              <a:ea typeface="Arial"/>
              <a:cs typeface="Arial"/>
              <a:sym typeface="Arial"/>
            </a:endParaRPr>
          </a:p>
        </p:txBody>
      </p:sp>
      <p:sp>
        <p:nvSpPr>
          <p:cNvPr id="334" name="Google Shape;334;p20"/>
          <p:cNvSpPr txBox="1"/>
          <p:nvPr/>
        </p:nvSpPr>
        <p:spPr>
          <a:xfrm>
            <a:off x="998319" y="5371308"/>
            <a:ext cx="10195361" cy="646331"/>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1800"/>
              <a:buFont typeface="Calibri"/>
              <a:buAutoNum type="alphaLcParenR"/>
            </a:pPr>
            <a:r>
              <a:rPr b="0" i="0" lang="es-ES" sz="1800" u="none" cap="none" strike="noStrike">
                <a:solidFill>
                  <a:schemeClr val="dk1"/>
                </a:solidFill>
                <a:latin typeface="Calibri"/>
                <a:ea typeface="Calibri"/>
                <a:cs typeface="Calibri"/>
                <a:sym typeface="Calibri"/>
              </a:rPr>
              <a:t>Si se escoge un alumno al azar. Determine la probabilidad que practique tenis.</a:t>
            </a:r>
            <a:endParaRPr b="0" i="0" sz="1400" u="none" cap="none" strike="noStrike">
              <a:solidFill>
                <a:srgbClr val="000000"/>
              </a:solidFill>
              <a:latin typeface="Arial"/>
              <a:ea typeface="Arial"/>
              <a:cs typeface="Arial"/>
              <a:sym typeface="Arial"/>
            </a:endParaRPr>
          </a:p>
          <a:p>
            <a:pPr indent="-342900" lvl="0" marL="342900" marR="0" rtl="0" algn="just">
              <a:lnSpc>
                <a:spcPct val="100000"/>
              </a:lnSpc>
              <a:spcBef>
                <a:spcPts val="0"/>
              </a:spcBef>
              <a:spcAft>
                <a:spcPts val="0"/>
              </a:spcAft>
              <a:buClr>
                <a:schemeClr val="dk1"/>
              </a:buClr>
              <a:buSzPts val="1800"/>
              <a:buFont typeface="Calibri"/>
              <a:buAutoNum type="alphaLcParenR"/>
            </a:pPr>
            <a:r>
              <a:rPr b="0" i="0" lang="es-ES" sz="1800" u="none" cap="none" strike="noStrike">
                <a:solidFill>
                  <a:schemeClr val="dk1"/>
                </a:solidFill>
                <a:latin typeface="Calibri"/>
                <a:ea typeface="Calibri"/>
                <a:cs typeface="Calibri"/>
                <a:sym typeface="Calibri"/>
              </a:rPr>
              <a:t>¿Cuál es la probabilidad que un alumno no juegue tenis?</a:t>
            </a:r>
            <a:endParaRPr b="0" i="0" sz="1400" u="none" cap="none" strike="noStrike">
              <a:solidFill>
                <a:srgbClr val="000000"/>
              </a:solidFill>
              <a:latin typeface="Arial"/>
              <a:ea typeface="Arial"/>
              <a:cs typeface="Arial"/>
              <a:sym typeface="Arial"/>
            </a:endParaRPr>
          </a:p>
        </p:txBody>
      </p:sp>
      <p:graphicFrame>
        <p:nvGraphicFramePr>
          <p:cNvPr id="335" name="Google Shape;335;p20"/>
          <p:cNvGraphicFramePr/>
          <p:nvPr/>
        </p:nvGraphicFramePr>
        <p:xfrm>
          <a:off x="2427476" y="2493867"/>
          <a:ext cx="3000000" cy="3000000"/>
        </p:xfrm>
        <a:graphic>
          <a:graphicData uri="http://schemas.openxmlformats.org/drawingml/2006/table">
            <a:tbl>
              <a:tblPr bandRow="1" firstRow="1">
                <a:noFill/>
                <a:tableStyleId>{BDC4DC4D-C4D2-4972-8D5C-1E0D1B60E985}</a:tableStyleId>
              </a:tblPr>
              <a:tblGrid>
                <a:gridCol w="2390075"/>
                <a:gridCol w="2390075"/>
                <a:gridCol w="239007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Deporte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s-ES" sz="1800" u="none" cap="none" strike="noStrike"/>
                        <a:t>Número de alumnos que lo práctica</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s-ES" sz="1800" u="none" cap="none" strike="noStrike"/>
                        <a:t> f relativa</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Futbol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s-ES" sz="1800" u="none" cap="none" strike="noStrike"/>
                        <a:t>120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s-ES" sz="1800" u="none" cap="none" strike="noStrike"/>
                        <a:t>0,48</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Tenis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s-ES" sz="1800" u="none" cap="none" strike="noStrike"/>
                        <a:t>22</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s-ES" sz="1800" u="none" cap="none" strike="noStrike"/>
                        <a:t>0,088</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Handball</a:t>
                      </a:r>
                      <a:endParaRPr sz="18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s-ES" sz="1800" u="none" cap="none" strike="noStrike"/>
                        <a:t>38</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s-ES" sz="1800" u="none" cap="none" strike="noStrike"/>
                        <a:t>0,152</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Voleibol</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s-ES" sz="1800" u="none" cap="none" strike="noStrike"/>
                        <a:t>56</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s-ES" sz="1800" u="none" cap="none" strike="noStrike"/>
                        <a:t>0,224</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s-ES" sz="1800" u="none" cap="none" strike="noStrike"/>
                        <a:t>Otros</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s-ES" sz="1800" u="none" cap="none" strike="noStrike"/>
                        <a:t>14</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800"/>
                        <a:buFont typeface="Arial"/>
                        <a:buNone/>
                      </a:pPr>
                      <a:r>
                        <a:rPr lang="es-ES" sz="1800" u="none" cap="none" strike="noStrike"/>
                        <a:t>0,056</a:t>
                      </a:r>
                      <a:endParaRPr sz="1400" u="none" cap="none" strike="noStrike"/>
                    </a:p>
                  </a:txBody>
                  <a:tcPr marT="45725" marB="45725" marR="91450" marL="91450"/>
                </a:tc>
              </a:tr>
            </a:tbl>
          </a:graphicData>
        </a:graphic>
      </p:graphicFrame>
      <p:sp>
        <p:nvSpPr>
          <p:cNvPr id="336" name="Google Shape;336;p20"/>
          <p:cNvSpPr txBox="1"/>
          <p:nvPr/>
        </p:nvSpPr>
        <p:spPr>
          <a:xfrm>
            <a:off x="884517" y="586876"/>
            <a:ext cx="10422966" cy="506969"/>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2</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500"/>
                                        <p:tgtEl>
                                          <p:spTgt spid="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0" name="Shape 340"/>
        <p:cNvGrpSpPr/>
        <p:nvPr/>
      </p:nvGrpSpPr>
      <p:grpSpPr>
        <a:xfrm>
          <a:off x="0" y="0"/>
          <a:ext cx="0" cy="0"/>
          <a:chOff x="0" y="0"/>
          <a:chExt cx="0" cy="0"/>
        </a:xfrm>
      </p:grpSpPr>
      <p:sp>
        <p:nvSpPr>
          <p:cNvPr id="341" name="Google Shape;341;p21"/>
          <p:cNvSpPr/>
          <p:nvPr/>
        </p:nvSpPr>
        <p:spPr>
          <a:xfrm>
            <a:off x="525184" y="2211967"/>
            <a:ext cx="11438216" cy="3382878"/>
          </a:xfrm>
          <a:prstGeom prst="roundRect">
            <a:avLst>
              <a:gd fmla="val 4466" name="adj"/>
            </a:avLst>
          </a:prstGeom>
          <a:solidFill>
            <a:schemeClr val="lt1"/>
          </a:solidFill>
          <a:ln cap="flat" cmpd="sng" w="28575">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2" name="Google Shape;342;p21"/>
          <p:cNvSpPr/>
          <p:nvPr/>
        </p:nvSpPr>
        <p:spPr>
          <a:xfrm>
            <a:off x="-517443" y="1721954"/>
            <a:ext cx="6803943" cy="4315052"/>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3" name="Google Shape;343;p21"/>
          <p:cNvSpPr/>
          <p:nvPr/>
        </p:nvSpPr>
        <p:spPr>
          <a:xfrm>
            <a:off x="525184" y="2027172"/>
            <a:ext cx="5302398" cy="34163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Conceptos básicos sobre conjuntos: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Conjunto</a:t>
            </a:r>
            <a:r>
              <a:rPr b="0" i="0" lang="es-ES" sz="1800" u="none" cap="none" strike="noStrike">
                <a:solidFill>
                  <a:schemeClr val="lt1"/>
                </a:solidFill>
                <a:latin typeface="Calibri"/>
                <a:ea typeface="Calibri"/>
                <a:cs typeface="Calibri"/>
                <a:sym typeface="Calibri"/>
              </a:rPr>
              <a:t>: Es una colección de elementos. Se denotan con letras mayúsculas. El conjunto formado por todos los elementos. En probabilidad el universo es el espacio muestral(Ω).</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Cardinalidad de un conjunto</a:t>
            </a:r>
            <a:r>
              <a:rPr b="0" i="0" lang="es-ES" sz="1800" u="none" cap="none" strike="noStrike">
                <a:solidFill>
                  <a:schemeClr val="lt1"/>
                </a:solidFill>
                <a:latin typeface="Calibri"/>
                <a:ea typeface="Calibri"/>
                <a:cs typeface="Calibri"/>
                <a:sym typeface="Calibri"/>
              </a:rPr>
              <a:t>: es la cantidad de elementos que tiene y se denota por #𝐴.</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Complemento de A</a:t>
            </a:r>
            <a:r>
              <a:rPr b="0" i="0" lang="es-ES" sz="1800" u="none" cap="none" strike="noStrike">
                <a:solidFill>
                  <a:schemeClr val="lt1"/>
                </a:solidFill>
                <a:latin typeface="Calibri"/>
                <a:ea typeface="Calibri"/>
                <a:cs typeface="Calibri"/>
                <a:sym typeface="Calibri"/>
              </a:rPr>
              <a:t>: es el conjunto formado por los elementos que no pertenecen a A.</a:t>
            </a:r>
            <a:endParaRPr b="0" i="0" sz="1400" u="none" cap="none" strike="noStrike">
              <a:solidFill>
                <a:srgbClr val="000000"/>
              </a:solidFill>
              <a:latin typeface="Arial"/>
              <a:ea typeface="Arial"/>
              <a:cs typeface="Arial"/>
              <a:sym typeface="Arial"/>
            </a:endParaRPr>
          </a:p>
        </p:txBody>
      </p:sp>
      <p:pic>
        <p:nvPicPr>
          <p:cNvPr id="344" name="Google Shape;344;p21"/>
          <p:cNvPicPr preferRelativeResize="0"/>
          <p:nvPr/>
        </p:nvPicPr>
        <p:blipFill rotWithShape="1">
          <a:blip r:embed="rId4">
            <a:alphaModFix/>
          </a:blip>
          <a:srcRect b="0" l="0" r="0" t="0"/>
          <a:stretch/>
        </p:blipFill>
        <p:spPr>
          <a:xfrm>
            <a:off x="6456593" y="2633250"/>
            <a:ext cx="5295904" cy="2540312"/>
          </a:xfrm>
          <a:prstGeom prst="rect">
            <a:avLst/>
          </a:prstGeom>
          <a:noFill/>
          <a:ln>
            <a:noFill/>
          </a:ln>
        </p:spPr>
      </p:pic>
      <p:sp>
        <p:nvSpPr>
          <p:cNvPr id="345" name="Google Shape;345;p21"/>
          <p:cNvSpPr txBox="1"/>
          <p:nvPr/>
        </p:nvSpPr>
        <p:spPr>
          <a:xfrm>
            <a:off x="525184" y="907977"/>
            <a:ext cx="10782300" cy="662624"/>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Propiedades de la Probabilidad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9" name="Shape 349"/>
        <p:cNvGrpSpPr/>
        <p:nvPr/>
      </p:nvGrpSpPr>
      <p:grpSpPr>
        <a:xfrm>
          <a:off x="0" y="0"/>
          <a:ext cx="0" cy="0"/>
          <a:chOff x="0" y="0"/>
          <a:chExt cx="0" cy="0"/>
        </a:xfrm>
      </p:grpSpPr>
      <p:sp>
        <p:nvSpPr>
          <p:cNvPr id="350" name="Google Shape;350;p22"/>
          <p:cNvSpPr/>
          <p:nvPr/>
        </p:nvSpPr>
        <p:spPr>
          <a:xfrm>
            <a:off x="525184" y="1248697"/>
            <a:ext cx="10958894" cy="5275911"/>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1" name="Google Shape;351;p22"/>
          <p:cNvSpPr txBox="1"/>
          <p:nvPr/>
        </p:nvSpPr>
        <p:spPr>
          <a:xfrm>
            <a:off x="880908" y="1528096"/>
            <a:ext cx="1018786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595959"/>
                </a:solidFill>
                <a:latin typeface="Arial"/>
                <a:ea typeface="Arial"/>
                <a:cs typeface="Arial"/>
                <a:sym typeface="Arial"/>
              </a:rPr>
              <a:t>Unión de conjuntos</a:t>
            </a:r>
            <a:r>
              <a:rPr b="0" i="0" lang="es-ES" sz="1800" u="none" cap="none" strike="noStrike">
                <a:solidFill>
                  <a:srgbClr val="595959"/>
                </a:solidFill>
                <a:latin typeface="Arial"/>
                <a:ea typeface="Arial"/>
                <a:cs typeface="Arial"/>
                <a:sym typeface="Arial"/>
              </a:rPr>
              <a:t>: Corresponde a los conjuntos formados por los elementos que pertenecen a A o los elementos que pertenecen a B</a:t>
            </a:r>
            <a:endParaRPr b="0" i="0" sz="1400" u="none" cap="none" strike="noStrike">
              <a:solidFill>
                <a:srgbClr val="000000"/>
              </a:solidFill>
              <a:latin typeface="Arial"/>
              <a:ea typeface="Arial"/>
              <a:cs typeface="Arial"/>
              <a:sym typeface="Arial"/>
            </a:endParaRPr>
          </a:p>
        </p:txBody>
      </p:sp>
      <p:pic>
        <p:nvPicPr>
          <p:cNvPr id="352" name="Google Shape;352;p22"/>
          <p:cNvPicPr preferRelativeResize="0"/>
          <p:nvPr/>
        </p:nvPicPr>
        <p:blipFill rotWithShape="1">
          <a:blip r:embed="rId4">
            <a:alphaModFix/>
          </a:blip>
          <a:srcRect b="0" l="0" r="0" t="15414"/>
          <a:stretch/>
        </p:blipFill>
        <p:spPr>
          <a:xfrm>
            <a:off x="3448718" y="2398678"/>
            <a:ext cx="4505674" cy="1600540"/>
          </a:xfrm>
          <a:prstGeom prst="rect">
            <a:avLst/>
          </a:prstGeom>
          <a:noFill/>
          <a:ln>
            <a:noFill/>
          </a:ln>
        </p:spPr>
      </p:pic>
      <p:sp>
        <p:nvSpPr>
          <p:cNvPr id="353" name="Google Shape;353;p22"/>
          <p:cNvSpPr txBox="1"/>
          <p:nvPr/>
        </p:nvSpPr>
        <p:spPr>
          <a:xfrm>
            <a:off x="880908" y="4025532"/>
            <a:ext cx="1027832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595959"/>
                </a:solidFill>
                <a:latin typeface="Arial"/>
                <a:ea typeface="Arial"/>
                <a:cs typeface="Arial"/>
                <a:sym typeface="Arial"/>
              </a:rPr>
              <a:t>Intersección de conjuntos</a:t>
            </a:r>
            <a:r>
              <a:rPr b="0" i="0" lang="es-ES" sz="1800" u="none" cap="none" strike="noStrike">
                <a:solidFill>
                  <a:srgbClr val="595959"/>
                </a:solidFill>
                <a:latin typeface="Arial"/>
                <a:ea typeface="Arial"/>
                <a:cs typeface="Arial"/>
                <a:sym typeface="Arial"/>
              </a:rPr>
              <a:t>: Corresponden a los elementos que están simultáneamente en A y en B</a:t>
            </a:r>
            <a:endParaRPr b="0" i="0" sz="1400" u="none" cap="none" strike="noStrike">
              <a:solidFill>
                <a:srgbClr val="000000"/>
              </a:solidFill>
              <a:latin typeface="Arial"/>
              <a:ea typeface="Arial"/>
              <a:cs typeface="Arial"/>
              <a:sym typeface="Arial"/>
            </a:endParaRPr>
          </a:p>
        </p:txBody>
      </p:sp>
      <p:pic>
        <p:nvPicPr>
          <p:cNvPr id="354" name="Google Shape;354;p22"/>
          <p:cNvPicPr preferRelativeResize="0"/>
          <p:nvPr/>
        </p:nvPicPr>
        <p:blipFill rotWithShape="1">
          <a:blip r:embed="rId5">
            <a:alphaModFix/>
          </a:blip>
          <a:srcRect b="0" l="0" r="0" t="0"/>
          <a:stretch/>
        </p:blipFill>
        <p:spPr>
          <a:xfrm>
            <a:off x="3448718" y="4585287"/>
            <a:ext cx="4336663" cy="1660682"/>
          </a:xfrm>
          <a:prstGeom prst="rect">
            <a:avLst/>
          </a:prstGeom>
          <a:noFill/>
          <a:ln>
            <a:noFill/>
          </a:ln>
        </p:spPr>
      </p:pic>
      <p:sp>
        <p:nvSpPr>
          <p:cNvPr id="355" name="Google Shape;355;p22"/>
          <p:cNvSpPr txBox="1"/>
          <p:nvPr/>
        </p:nvSpPr>
        <p:spPr>
          <a:xfrm>
            <a:off x="880908" y="407909"/>
            <a:ext cx="10782300"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Propiedades de la Probabilidad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9" name="Shape 359"/>
        <p:cNvGrpSpPr/>
        <p:nvPr/>
      </p:nvGrpSpPr>
      <p:grpSpPr>
        <a:xfrm>
          <a:off x="0" y="0"/>
          <a:ext cx="0" cy="0"/>
          <a:chOff x="0" y="0"/>
          <a:chExt cx="0" cy="0"/>
        </a:xfrm>
      </p:grpSpPr>
      <p:sp>
        <p:nvSpPr>
          <p:cNvPr id="360" name="Google Shape;360;p23"/>
          <p:cNvSpPr/>
          <p:nvPr/>
        </p:nvSpPr>
        <p:spPr>
          <a:xfrm>
            <a:off x="969091" y="1248697"/>
            <a:ext cx="7019883" cy="4999703"/>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61" name="Google Shape;361;p23"/>
          <p:cNvPicPr preferRelativeResize="0"/>
          <p:nvPr/>
        </p:nvPicPr>
        <p:blipFill rotWithShape="1">
          <a:blip r:embed="rId4">
            <a:alphaModFix/>
          </a:blip>
          <a:srcRect b="0" l="0" r="0" t="0"/>
          <a:stretch/>
        </p:blipFill>
        <p:spPr>
          <a:xfrm>
            <a:off x="2371776" y="2353834"/>
            <a:ext cx="4075007" cy="3416647"/>
          </a:xfrm>
          <a:prstGeom prst="rect">
            <a:avLst/>
          </a:prstGeom>
          <a:noFill/>
          <a:ln cap="flat" cmpd="sng" w="9525">
            <a:solidFill>
              <a:srgbClr val="7F7F7F"/>
            </a:solidFill>
            <a:prstDash val="solid"/>
            <a:round/>
            <a:headEnd len="sm" w="sm" type="none"/>
            <a:tailEnd len="sm" w="sm" type="none"/>
          </a:ln>
        </p:spPr>
      </p:pic>
      <p:sp>
        <p:nvSpPr>
          <p:cNvPr id="362" name="Google Shape;362;p23"/>
          <p:cNvSpPr txBox="1"/>
          <p:nvPr/>
        </p:nvSpPr>
        <p:spPr>
          <a:xfrm>
            <a:off x="5334" y="1710509"/>
            <a:ext cx="9197660"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rgbClr val="595959"/>
                </a:solidFill>
                <a:latin typeface="Calibri"/>
                <a:ea typeface="Calibri"/>
                <a:cs typeface="Calibri"/>
                <a:sym typeface="Calibri"/>
              </a:rPr>
              <a:t>Complemento de A</a:t>
            </a:r>
            <a:r>
              <a:rPr b="0" i="0" lang="es-ES" sz="1800" u="none" cap="none" strike="noStrike">
                <a:solidFill>
                  <a:srgbClr val="595959"/>
                </a:solidFill>
                <a:latin typeface="Calibri"/>
                <a:ea typeface="Calibri"/>
                <a:cs typeface="Calibri"/>
                <a:sym typeface="Calibri"/>
              </a:rPr>
              <a:t>: Son todos los elementos que no están en A.</a:t>
            </a:r>
            <a:endParaRPr b="0" i="0" sz="1400" u="none" cap="none" strike="noStrike">
              <a:solidFill>
                <a:srgbClr val="000000"/>
              </a:solidFill>
              <a:latin typeface="Arial"/>
              <a:ea typeface="Arial"/>
              <a:cs typeface="Arial"/>
              <a:sym typeface="Arial"/>
            </a:endParaRPr>
          </a:p>
        </p:txBody>
      </p:sp>
      <p:sp>
        <p:nvSpPr>
          <p:cNvPr id="363" name="Google Shape;363;p23"/>
          <p:cNvSpPr/>
          <p:nvPr/>
        </p:nvSpPr>
        <p:spPr>
          <a:xfrm>
            <a:off x="1485251" y="492907"/>
            <a:ext cx="5878532" cy="5847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Propiedades de la Probabilidad</a:t>
            </a:r>
            <a:endParaRPr b="0" i="0" sz="3200" u="none" cap="none" strike="noStrike">
              <a:solidFill>
                <a:srgbClr val="7F7F7F"/>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7" name="Shape 367"/>
        <p:cNvGrpSpPr/>
        <p:nvPr/>
      </p:nvGrpSpPr>
      <p:grpSpPr>
        <a:xfrm>
          <a:off x="0" y="0"/>
          <a:ext cx="0" cy="0"/>
          <a:chOff x="0" y="0"/>
          <a:chExt cx="0" cy="0"/>
        </a:xfrm>
      </p:grpSpPr>
      <p:sp>
        <p:nvSpPr>
          <p:cNvPr id="368" name="Google Shape;368;p24"/>
          <p:cNvSpPr/>
          <p:nvPr/>
        </p:nvSpPr>
        <p:spPr>
          <a:xfrm>
            <a:off x="1278195" y="1303125"/>
            <a:ext cx="7422915" cy="4945275"/>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9" name="Google Shape;369;p24"/>
          <p:cNvSpPr txBox="1"/>
          <p:nvPr/>
        </p:nvSpPr>
        <p:spPr>
          <a:xfrm>
            <a:off x="1948543" y="1554835"/>
            <a:ext cx="6172200"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chemeClr val="dk1"/>
                </a:solidFill>
                <a:latin typeface="Calibri"/>
                <a:ea typeface="Calibri"/>
                <a:cs typeface="Calibri"/>
                <a:sym typeface="Calibri"/>
              </a:rPr>
              <a:t>Diferencia entre A y B: </a:t>
            </a:r>
            <a:r>
              <a:rPr b="0" i="0" lang="es-ES" sz="1800" u="none" cap="none" strike="noStrike">
                <a:solidFill>
                  <a:schemeClr val="dk1"/>
                </a:solidFill>
                <a:latin typeface="Calibri"/>
                <a:ea typeface="Calibri"/>
                <a:cs typeface="Calibri"/>
                <a:sym typeface="Calibri"/>
              </a:rPr>
              <a:t>Corresponde a los elementos que están en A y que no están en B.</a:t>
            </a:r>
            <a:endParaRPr b="0" i="0" sz="1400" u="none" cap="none" strike="noStrike">
              <a:solidFill>
                <a:srgbClr val="000000"/>
              </a:solidFill>
              <a:latin typeface="Arial"/>
              <a:ea typeface="Arial"/>
              <a:cs typeface="Arial"/>
              <a:sym typeface="Arial"/>
            </a:endParaRPr>
          </a:p>
        </p:txBody>
      </p:sp>
      <p:pic>
        <p:nvPicPr>
          <p:cNvPr id="370" name="Google Shape;370;p24"/>
          <p:cNvPicPr preferRelativeResize="0"/>
          <p:nvPr/>
        </p:nvPicPr>
        <p:blipFill rotWithShape="1">
          <a:blip r:embed="rId4">
            <a:alphaModFix/>
          </a:blip>
          <a:srcRect b="0" l="0" r="0" t="0"/>
          <a:stretch/>
        </p:blipFill>
        <p:spPr>
          <a:xfrm>
            <a:off x="2334857" y="2489177"/>
            <a:ext cx="5018572" cy="3400862"/>
          </a:xfrm>
          <a:prstGeom prst="rect">
            <a:avLst/>
          </a:prstGeom>
          <a:noFill/>
          <a:ln>
            <a:noFill/>
          </a:ln>
        </p:spPr>
      </p:pic>
      <p:sp>
        <p:nvSpPr>
          <p:cNvPr id="371" name="Google Shape;371;p24"/>
          <p:cNvSpPr txBox="1"/>
          <p:nvPr/>
        </p:nvSpPr>
        <p:spPr>
          <a:xfrm>
            <a:off x="1278194" y="333392"/>
            <a:ext cx="10029289"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Propiedades de la Probabilidad</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5" name="Shape 375"/>
        <p:cNvGrpSpPr/>
        <p:nvPr/>
      </p:nvGrpSpPr>
      <p:grpSpPr>
        <a:xfrm>
          <a:off x="0" y="0"/>
          <a:ext cx="0" cy="0"/>
          <a:chOff x="0" y="0"/>
          <a:chExt cx="0" cy="0"/>
        </a:xfrm>
      </p:grpSpPr>
      <p:sp>
        <p:nvSpPr>
          <p:cNvPr id="376" name="Google Shape;376;p25"/>
          <p:cNvSpPr txBox="1"/>
          <p:nvPr/>
        </p:nvSpPr>
        <p:spPr>
          <a:xfrm>
            <a:off x="1182386" y="3416582"/>
            <a:ext cx="10782300" cy="752296"/>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chemeClr val="dk1"/>
              </a:buClr>
              <a:buSzPts val="3600"/>
              <a:buFont typeface="Calibri"/>
              <a:buNone/>
            </a:pPr>
            <a:r>
              <a:t/>
            </a:r>
            <a:endParaRPr b="0" i="0" sz="3600" u="none" cap="none" strike="noStrike">
              <a:solidFill>
                <a:srgbClr val="7F7F7F"/>
              </a:solidFill>
              <a:latin typeface="Arial"/>
              <a:ea typeface="Arial"/>
              <a:cs typeface="Arial"/>
              <a:sym typeface="Arial"/>
            </a:endParaRPr>
          </a:p>
          <a:p>
            <a:pPr indent="0" lvl="0" marL="0" marR="0" rtl="0" algn="just">
              <a:lnSpc>
                <a:spcPct val="90000"/>
              </a:lnSpc>
              <a:spcBef>
                <a:spcPts val="0"/>
              </a:spcBef>
              <a:spcAft>
                <a:spcPts val="0"/>
              </a:spcAft>
              <a:buClr>
                <a:srgbClr val="000000"/>
              </a:buClr>
              <a:buSzPts val="3600"/>
              <a:buFont typeface="Arial"/>
              <a:buNone/>
            </a:pPr>
            <a:r>
              <a:rPr b="0" i="0" lang="es-ES" sz="3600" u="none" cap="none" strike="noStrike">
                <a:solidFill>
                  <a:srgbClr val="7F7F7F"/>
                </a:solidFill>
                <a:latin typeface="Arial"/>
                <a:ea typeface="Arial"/>
                <a:cs typeface="Arial"/>
                <a:sym typeface="Arial"/>
              </a:rPr>
              <a:t>Reglas Aditivas y Multiplicativas</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0"/>
              </a:spcBef>
              <a:spcAft>
                <a:spcPts val="0"/>
              </a:spcAft>
              <a:buClr>
                <a:schemeClr val="dk1"/>
              </a:buClr>
              <a:buSzPts val="3600"/>
              <a:buFont typeface="Calibri"/>
              <a:buNone/>
            </a:pPr>
            <a:r>
              <a:t/>
            </a:r>
            <a:endParaRPr b="0" i="0" sz="3600" u="none" cap="none" strike="noStrike">
              <a:solidFill>
                <a:srgbClr val="7F7F7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0" name="Shape 380"/>
        <p:cNvGrpSpPr/>
        <p:nvPr/>
      </p:nvGrpSpPr>
      <p:grpSpPr>
        <a:xfrm>
          <a:off x="0" y="0"/>
          <a:ext cx="0" cy="0"/>
          <a:chOff x="0" y="0"/>
          <a:chExt cx="0" cy="0"/>
        </a:xfrm>
      </p:grpSpPr>
      <p:sp>
        <p:nvSpPr>
          <p:cNvPr id="381" name="Google Shape;381;p26"/>
          <p:cNvSpPr/>
          <p:nvPr/>
        </p:nvSpPr>
        <p:spPr>
          <a:xfrm>
            <a:off x="563958" y="1032387"/>
            <a:ext cx="10958894" cy="5390920"/>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2" name="Google Shape;382;p26"/>
          <p:cNvSpPr txBox="1"/>
          <p:nvPr/>
        </p:nvSpPr>
        <p:spPr>
          <a:xfrm>
            <a:off x="786693" y="2330213"/>
            <a:ext cx="9192519"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595959"/>
                </a:solidFill>
                <a:latin typeface="Calibri"/>
                <a:ea typeface="Calibri"/>
                <a:cs typeface="Calibri"/>
                <a:sym typeface="Calibri"/>
              </a:rPr>
              <a:t>Se definen dos sucesos: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595959"/>
                </a:solidFill>
                <a:latin typeface="Calibri"/>
                <a:ea typeface="Calibri"/>
                <a:cs typeface="Calibri"/>
                <a:sym typeface="Calibri"/>
              </a:rPr>
              <a:t>A:</a:t>
            </a:r>
            <a:r>
              <a:rPr b="0" i="0" lang="es-ES" sz="1800" u="none" cap="none" strike="noStrike">
                <a:solidFill>
                  <a:srgbClr val="595959"/>
                </a:solidFill>
                <a:latin typeface="Calibri"/>
                <a:ea typeface="Calibri"/>
                <a:cs typeface="Calibri"/>
                <a:sym typeface="Calibri"/>
              </a:rPr>
              <a:t> Obtener un número menor que 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595959"/>
                </a:solidFill>
                <a:latin typeface="Calibri"/>
                <a:ea typeface="Calibri"/>
                <a:cs typeface="Calibri"/>
                <a:sym typeface="Calibri"/>
              </a:rPr>
              <a:t>A = {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595959"/>
                </a:solidFill>
                <a:latin typeface="Calibri"/>
                <a:ea typeface="Calibri"/>
                <a:cs typeface="Calibri"/>
                <a:sym typeface="Calibri"/>
              </a:rPr>
              <a:t>B:</a:t>
            </a:r>
            <a:r>
              <a:rPr b="0" i="0" lang="es-ES" sz="1800" u="none" cap="none" strike="noStrike">
                <a:solidFill>
                  <a:srgbClr val="595959"/>
                </a:solidFill>
                <a:latin typeface="Calibri"/>
                <a:ea typeface="Calibri"/>
                <a:cs typeface="Calibri"/>
                <a:sym typeface="Calibri"/>
              </a:rPr>
              <a:t> Obtener un numero par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595959"/>
                </a:solidFill>
                <a:latin typeface="Calibri"/>
                <a:ea typeface="Calibri"/>
                <a:cs typeface="Calibri"/>
                <a:sym typeface="Calibri"/>
              </a:rPr>
              <a:t>B = { 2, 4, 6}</a:t>
            </a:r>
            <a:endParaRPr b="0" i="0" sz="1400" u="none" cap="none" strike="noStrike">
              <a:solidFill>
                <a:srgbClr val="000000"/>
              </a:solidFill>
              <a:latin typeface="Arial"/>
              <a:ea typeface="Arial"/>
              <a:cs typeface="Arial"/>
              <a:sym typeface="Arial"/>
            </a:endParaRPr>
          </a:p>
        </p:txBody>
      </p:sp>
      <p:sp>
        <p:nvSpPr>
          <p:cNvPr id="383" name="Google Shape;383;p26"/>
          <p:cNvSpPr txBox="1"/>
          <p:nvPr/>
        </p:nvSpPr>
        <p:spPr>
          <a:xfrm>
            <a:off x="786693" y="4372683"/>
            <a:ext cx="944444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595959"/>
                </a:solidFill>
                <a:latin typeface="Calibri"/>
                <a:ea typeface="Calibri"/>
                <a:cs typeface="Calibri"/>
                <a:sym typeface="Calibri"/>
              </a:rPr>
              <a:t>Si ahora queremos obtener la probabilidad de  A U B, entonces los casos favorables serán:</a:t>
            </a:r>
            <a:endParaRPr b="0" i="0" sz="1400" u="none" cap="none" strike="noStrike">
              <a:solidFill>
                <a:srgbClr val="000000"/>
              </a:solidFill>
              <a:latin typeface="Arial"/>
              <a:ea typeface="Arial"/>
              <a:cs typeface="Arial"/>
              <a:sym typeface="Arial"/>
            </a:endParaRPr>
          </a:p>
        </p:txBody>
      </p:sp>
      <p:sp>
        <p:nvSpPr>
          <p:cNvPr id="384" name="Google Shape;384;p26"/>
          <p:cNvSpPr txBox="1"/>
          <p:nvPr/>
        </p:nvSpPr>
        <p:spPr>
          <a:xfrm>
            <a:off x="802238" y="5293217"/>
            <a:ext cx="975488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595959"/>
                </a:solidFill>
                <a:latin typeface="Calibri"/>
                <a:ea typeface="Calibri"/>
                <a:cs typeface="Calibri"/>
                <a:sym typeface="Calibri"/>
              </a:rPr>
              <a:t>Es decir, al ser </a:t>
            </a:r>
            <a:r>
              <a:rPr b="1" i="0" lang="es-ES" sz="1800" u="none" cap="none" strike="noStrike">
                <a:solidFill>
                  <a:srgbClr val="595959"/>
                </a:solidFill>
                <a:latin typeface="Calibri"/>
                <a:ea typeface="Calibri"/>
                <a:cs typeface="Calibri"/>
                <a:sym typeface="Calibri"/>
              </a:rPr>
              <a:t>disjuntos o mutuamente </a:t>
            </a:r>
            <a:r>
              <a:rPr b="0" i="0" lang="es-ES" sz="1800" u="none" cap="none" strike="noStrike">
                <a:solidFill>
                  <a:srgbClr val="595959"/>
                </a:solidFill>
                <a:latin typeface="Calibri"/>
                <a:ea typeface="Calibri"/>
                <a:cs typeface="Calibri"/>
                <a:sym typeface="Calibri"/>
              </a:rPr>
              <a:t>excluyentes, se tiene:</a:t>
            </a:r>
            <a:endParaRPr b="0" i="0" sz="1400" u="none" cap="none" strike="noStrike">
              <a:solidFill>
                <a:srgbClr val="000000"/>
              </a:solidFill>
              <a:latin typeface="Arial"/>
              <a:ea typeface="Arial"/>
              <a:cs typeface="Arial"/>
              <a:sym typeface="Arial"/>
            </a:endParaRPr>
          </a:p>
        </p:txBody>
      </p:sp>
      <p:sp>
        <p:nvSpPr>
          <p:cNvPr id="385" name="Google Shape;385;p26"/>
          <p:cNvSpPr txBox="1"/>
          <p:nvPr/>
        </p:nvSpPr>
        <p:spPr>
          <a:xfrm>
            <a:off x="786693" y="1256672"/>
            <a:ext cx="4299575"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s-ES" sz="1800" u="none" cap="none" strike="noStrike">
                <a:solidFill>
                  <a:srgbClr val="595959"/>
                </a:solidFill>
                <a:latin typeface="Calibri"/>
                <a:ea typeface="Calibri"/>
                <a:cs typeface="Calibri"/>
                <a:sym typeface="Calibri"/>
              </a:rPr>
              <a:t>Imagina el experimento de lanzar un dado:</a:t>
            </a:r>
            <a:endParaRPr b="0" i="0" sz="1400" u="none" cap="none" strike="noStrike">
              <a:solidFill>
                <a:srgbClr val="000000"/>
              </a:solidFill>
              <a:latin typeface="Arial"/>
              <a:ea typeface="Arial"/>
              <a:cs typeface="Arial"/>
              <a:sym typeface="Arial"/>
            </a:endParaRPr>
          </a:p>
        </p:txBody>
      </p:sp>
      <p:sp>
        <p:nvSpPr>
          <p:cNvPr id="386" name="Google Shape;386;p26"/>
          <p:cNvSpPr txBox="1"/>
          <p:nvPr/>
        </p:nvSpPr>
        <p:spPr>
          <a:xfrm>
            <a:off x="4343221" y="1758278"/>
            <a:ext cx="2368118" cy="36933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87" name="Google Shape;387;p26"/>
          <p:cNvSpPr txBox="1"/>
          <p:nvPr/>
        </p:nvSpPr>
        <p:spPr>
          <a:xfrm>
            <a:off x="4477400" y="5841125"/>
            <a:ext cx="31320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s-ES" sz="1800" u="none" cap="none" strike="noStrike">
                <a:solidFill>
                  <a:srgbClr val="595959"/>
                </a:solidFill>
                <a:latin typeface="Arial"/>
                <a:ea typeface="Arial"/>
                <a:cs typeface="Arial"/>
                <a:sym typeface="Arial"/>
              </a:rPr>
              <a:t>P(A U B) = P(A) + P(B)</a:t>
            </a:r>
            <a:endParaRPr b="0" i="0" sz="1400" u="none" cap="none" strike="noStrike">
              <a:solidFill>
                <a:srgbClr val="000000"/>
              </a:solidFill>
              <a:latin typeface="Arial"/>
              <a:ea typeface="Arial"/>
              <a:cs typeface="Arial"/>
              <a:sym typeface="Arial"/>
            </a:endParaRPr>
          </a:p>
        </p:txBody>
      </p:sp>
      <p:sp>
        <p:nvSpPr>
          <p:cNvPr id="388" name="Google Shape;388;p26"/>
          <p:cNvSpPr txBox="1"/>
          <p:nvPr/>
        </p:nvSpPr>
        <p:spPr>
          <a:xfrm>
            <a:off x="4968255" y="4813717"/>
            <a:ext cx="2150300"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s-ES" sz="1800" u="none" cap="none" strike="noStrike">
                <a:solidFill>
                  <a:srgbClr val="595959"/>
                </a:solidFill>
                <a:latin typeface="Arial"/>
                <a:ea typeface="Arial"/>
                <a:cs typeface="Arial"/>
                <a:sym typeface="Arial"/>
              </a:rPr>
              <a:t>A U B = { 1, 2, 4, 6}</a:t>
            </a:r>
            <a:endParaRPr b="0" i="0" sz="1400" u="none" cap="none" strike="noStrike">
              <a:solidFill>
                <a:srgbClr val="000000"/>
              </a:solidFill>
              <a:latin typeface="Arial"/>
              <a:ea typeface="Arial"/>
              <a:cs typeface="Arial"/>
              <a:sym typeface="Arial"/>
            </a:endParaRPr>
          </a:p>
        </p:txBody>
      </p:sp>
      <p:sp>
        <p:nvSpPr>
          <p:cNvPr id="389" name="Google Shape;389;p26"/>
          <p:cNvSpPr/>
          <p:nvPr/>
        </p:nvSpPr>
        <p:spPr>
          <a:xfrm>
            <a:off x="786693" y="309350"/>
            <a:ext cx="3693447"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Regla de la Adición</a:t>
            </a:r>
            <a:endParaRPr b="0" i="0" sz="3200" u="none" cap="none" strike="noStrike">
              <a:solidFill>
                <a:srgbClr val="7F7F7F"/>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3" name="Shape 393"/>
        <p:cNvGrpSpPr/>
        <p:nvPr/>
      </p:nvGrpSpPr>
      <p:grpSpPr>
        <a:xfrm>
          <a:off x="0" y="0"/>
          <a:ext cx="0" cy="0"/>
          <a:chOff x="0" y="0"/>
          <a:chExt cx="0" cy="0"/>
        </a:xfrm>
      </p:grpSpPr>
      <p:sp>
        <p:nvSpPr>
          <p:cNvPr id="394" name="Google Shape;394;p27"/>
          <p:cNvSpPr/>
          <p:nvPr/>
        </p:nvSpPr>
        <p:spPr>
          <a:xfrm>
            <a:off x="601353" y="1193138"/>
            <a:ext cx="10958894" cy="5119171"/>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95" name="Google Shape;395;p27"/>
          <p:cNvSpPr txBox="1"/>
          <p:nvPr/>
        </p:nvSpPr>
        <p:spPr>
          <a:xfrm>
            <a:off x="601353" y="392286"/>
            <a:ext cx="11079159" cy="520557"/>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Regla de la Adición</a:t>
            </a:r>
            <a:endParaRPr b="0" i="0" sz="1400" u="none" cap="none" strike="noStrike">
              <a:solidFill>
                <a:srgbClr val="000000"/>
              </a:solidFill>
              <a:latin typeface="Arial"/>
              <a:ea typeface="Arial"/>
              <a:cs typeface="Arial"/>
              <a:sym typeface="Arial"/>
            </a:endParaRPr>
          </a:p>
        </p:txBody>
      </p:sp>
      <p:sp>
        <p:nvSpPr>
          <p:cNvPr id="396" name="Google Shape;396;p27"/>
          <p:cNvSpPr txBox="1"/>
          <p:nvPr/>
        </p:nvSpPr>
        <p:spPr>
          <a:xfrm>
            <a:off x="990138" y="2407545"/>
            <a:ext cx="91926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595959"/>
                </a:solidFill>
                <a:latin typeface="Calibri"/>
                <a:ea typeface="Calibri"/>
                <a:cs typeface="Calibri"/>
                <a:sym typeface="Calibri"/>
              </a:rPr>
              <a:t>Se definen dos sucesos: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595959"/>
                </a:solidFill>
                <a:latin typeface="Calibri"/>
                <a:ea typeface="Calibri"/>
                <a:cs typeface="Calibri"/>
                <a:sym typeface="Calibri"/>
              </a:rPr>
              <a:t>A:</a:t>
            </a:r>
            <a:r>
              <a:rPr b="0" i="0" lang="es-ES" sz="1800" u="none" cap="none" strike="noStrike">
                <a:solidFill>
                  <a:srgbClr val="595959"/>
                </a:solidFill>
                <a:latin typeface="Calibri"/>
                <a:ea typeface="Calibri"/>
                <a:cs typeface="Calibri"/>
                <a:sym typeface="Calibri"/>
              </a:rPr>
              <a:t> Obtener un numero par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595959"/>
                </a:solidFill>
                <a:latin typeface="Calibri"/>
                <a:ea typeface="Calibri"/>
                <a:cs typeface="Calibri"/>
                <a:sym typeface="Calibri"/>
              </a:rPr>
              <a:t>A = { 2, 4, 6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595959"/>
                </a:solidFill>
                <a:latin typeface="Calibri"/>
                <a:ea typeface="Calibri"/>
                <a:cs typeface="Calibri"/>
                <a:sym typeface="Calibri"/>
              </a:rPr>
              <a:t>B:</a:t>
            </a:r>
            <a:r>
              <a:rPr b="0" i="0" lang="es-ES" sz="1800" u="none" cap="none" strike="noStrike">
                <a:solidFill>
                  <a:srgbClr val="595959"/>
                </a:solidFill>
                <a:latin typeface="Calibri"/>
                <a:ea typeface="Calibri"/>
                <a:cs typeface="Calibri"/>
                <a:sym typeface="Calibri"/>
              </a:rPr>
              <a:t> Obtener un numero primo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595959"/>
                </a:solidFill>
                <a:latin typeface="Calibri"/>
                <a:ea typeface="Calibri"/>
                <a:cs typeface="Calibri"/>
                <a:sym typeface="Calibri"/>
              </a:rPr>
              <a:t>B = { 2, 3, 5 }</a:t>
            </a:r>
            <a:endParaRPr b="0" i="0" sz="1400" u="none" cap="none" strike="noStrike">
              <a:solidFill>
                <a:srgbClr val="000000"/>
              </a:solidFill>
              <a:latin typeface="Arial"/>
              <a:ea typeface="Arial"/>
              <a:cs typeface="Arial"/>
              <a:sym typeface="Arial"/>
            </a:endParaRPr>
          </a:p>
        </p:txBody>
      </p:sp>
      <p:sp>
        <p:nvSpPr>
          <p:cNvPr id="397" name="Google Shape;397;p27"/>
          <p:cNvSpPr txBox="1"/>
          <p:nvPr/>
        </p:nvSpPr>
        <p:spPr>
          <a:xfrm>
            <a:off x="990138" y="4395410"/>
            <a:ext cx="9444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595959"/>
                </a:solidFill>
                <a:latin typeface="Calibri"/>
                <a:ea typeface="Calibri"/>
                <a:cs typeface="Calibri"/>
                <a:sym typeface="Calibri"/>
              </a:rPr>
              <a:t>Si ahora queremos obtener la probabilidad de  A U B, entonces los casos favorables serán:</a:t>
            </a:r>
            <a:endParaRPr b="0" i="0" sz="1400" u="none" cap="none" strike="noStrike">
              <a:solidFill>
                <a:srgbClr val="000000"/>
              </a:solidFill>
              <a:latin typeface="Arial"/>
              <a:ea typeface="Arial"/>
              <a:cs typeface="Arial"/>
              <a:sym typeface="Arial"/>
            </a:endParaRPr>
          </a:p>
        </p:txBody>
      </p:sp>
      <p:sp>
        <p:nvSpPr>
          <p:cNvPr id="398" name="Google Shape;398;p27"/>
          <p:cNvSpPr txBox="1"/>
          <p:nvPr/>
        </p:nvSpPr>
        <p:spPr>
          <a:xfrm>
            <a:off x="990138" y="5310715"/>
            <a:ext cx="975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595959"/>
                </a:solidFill>
                <a:latin typeface="Calibri"/>
                <a:ea typeface="Calibri"/>
                <a:cs typeface="Calibri"/>
                <a:sym typeface="Calibri"/>
              </a:rPr>
              <a:t>En este caso, hay elementos comunes entre A y B, por lo tanto:</a:t>
            </a:r>
            <a:endParaRPr b="0" i="0" sz="1400" u="none" cap="none" strike="noStrike">
              <a:solidFill>
                <a:srgbClr val="000000"/>
              </a:solidFill>
              <a:latin typeface="Arial"/>
              <a:ea typeface="Arial"/>
              <a:cs typeface="Arial"/>
              <a:sym typeface="Arial"/>
            </a:endParaRPr>
          </a:p>
        </p:txBody>
      </p:sp>
      <p:sp>
        <p:nvSpPr>
          <p:cNvPr id="399" name="Google Shape;399;p27"/>
          <p:cNvSpPr txBox="1"/>
          <p:nvPr/>
        </p:nvSpPr>
        <p:spPr>
          <a:xfrm>
            <a:off x="990138" y="1397649"/>
            <a:ext cx="429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rgbClr val="595959"/>
                </a:solidFill>
                <a:latin typeface="Calibri"/>
                <a:ea typeface="Calibri"/>
                <a:cs typeface="Calibri"/>
                <a:sym typeface="Calibri"/>
              </a:rPr>
              <a:t>Imagina el experimento de lanzar un dado:</a:t>
            </a:r>
            <a:endParaRPr b="0" i="0" sz="1400" u="none" cap="none" strike="noStrike">
              <a:solidFill>
                <a:srgbClr val="000000"/>
              </a:solidFill>
              <a:latin typeface="Arial"/>
              <a:ea typeface="Arial"/>
              <a:cs typeface="Arial"/>
              <a:sym typeface="Arial"/>
            </a:endParaRPr>
          </a:p>
        </p:txBody>
      </p:sp>
      <p:sp>
        <p:nvSpPr>
          <p:cNvPr id="400" name="Google Shape;400;p27"/>
          <p:cNvSpPr txBox="1"/>
          <p:nvPr/>
        </p:nvSpPr>
        <p:spPr>
          <a:xfrm>
            <a:off x="5003866" y="1859872"/>
            <a:ext cx="2368200" cy="36930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01" name="Google Shape;401;p27"/>
          <p:cNvSpPr txBox="1"/>
          <p:nvPr/>
        </p:nvSpPr>
        <p:spPr>
          <a:xfrm>
            <a:off x="4269676" y="4845888"/>
            <a:ext cx="26211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s-ES" sz="1800" u="none" cap="none" strike="noStrike">
                <a:solidFill>
                  <a:srgbClr val="595959"/>
                </a:solidFill>
                <a:latin typeface="Arial"/>
                <a:ea typeface="Arial"/>
                <a:cs typeface="Arial"/>
                <a:sym typeface="Arial"/>
              </a:rPr>
              <a:t>A U B = { </a:t>
            </a:r>
            <a:r>
              <a:rPr b="1" i="0" lang="es-ES" sz="1800" u="none" cap="none" strike="noStrike">
                <a:solidFill>
                  <a:srgbClr val="595959"/>
                </a:solidFill>
                <a:latin typeface="Arial"/>
                <a:ea typeface="Arial"/>
                <a:cs typeface="Arial"/>
                <a:sym typeface="Arial"/>
              </a:rPr>
              <a:t>2</a:t>
            </a:r>
            <a:r>
              <a:rPr b="0" i="0" lang="es-ES" sz="1800" u="none" cap="none" strike="noStrike">
                <a:solidFill>
                  <a:srgbClr val="595959"/>
                </a:solidFill>
                <a:latin typeface="Arial"/>
                <a:ea typeface="Arial"/>
                <a:cs typeface="Arial"/>
                <a:sym typeface="Arial"/>
              </a:rPr>
              <a:t>, 3, 4, 5, 6}</a:t>
            </a:r>
            <a:endParaRPr b="0" i="0" sz="1400" u="none" cap="none" strike="noStrike">
              <a:solidFill>
                <a:srgbClr val="000000"/>
              </a:solidFill>
              <a:latin typeface="Arial"/>
              <a:ea typeface="Arial"/>
              <a:cs typeface="Arial"/>
              <a:sym typeface="Arial"/>
            </a:endParaRPr>
          </a:p>
        </p:txBody>
      </p:sp>
      <p:sp>
        <p:nvSpPr>
          <p:cNvPr id="402" name="Google Shape;402;p27"/>
          <p:cNvSpPr txBox="1"/>
          <p:nvPr/>
        </p:nvSpPr>
        <p:spPr>
          <a:xfrm>
            <a:off x="3929042" y="5738515"/>
            <a:ext cx="4689300" cy="369300"/>
          </a:xfrm>
          <a:prstGeom prst="rect">
            <a:avLst/>
          </a:prstGeom>
          <a:blipFill rotWithShape="1">
            <a:blip r:embed="rId5">
              <a:alphaModFix/>
            </a:blip>
            <a:stretch>
              <a:fillRect b="-14751"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6" name="Shape 406"/>
        <p:cNvGrpSpPr/>
        <p:nvPr/>
      </p:nvGrpSpPr>
      <p:grpSpPr>
        <a:xfrm>
          <a:off x="0" y="0"/>
          <a:ext cx="0" cy="0"/>
          <a:chOff x="0" y="0"/>
          <a:chExt cx="0" cy="0"/>
        </a:xfrm>
      </p:grpSpPr>
      <p:sp>
        <p:nvSpPr>
          <p:cNvPr id="407" name="Google Shape;407;p28"/>
          <p:cNvSpPr/>
          <p:nvPr/>
        </p:nvSpPr>
        <p:spPr>
          <a:xfrm>
            <a:off x="660855" y="1264982"/>
            <a:ext cx="10940901" cy="5009228"/>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8" name="Google Shape;408;p28"/>
          <p:cNvSpPr txBox="1"/>
          <p:nvPr/>
        </p:nvSpPr>
        <p:spPr>
          <a:xfrm>
            <a:off x="5540978" y="2766587"/>
            <a:ext cx="3247910" cy="369332"/>
          </a:xfrm>
          <a:prstGeom prst="rect">
            <a:avLst/>
          </a:prstGeom>
          <a:blipFill rotWithShape="1">
            <a:blip r:embed="rId4">
              <a:alphaModFix/>
            </a:blip>
            <a:stretch>
              <a:fillRect b="-1332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09" name="Google Shape;409;p28"/>
          <p:cNvSpPr txBox="1"/>
          <p:nvPr/>
        </p:nvSpPr>
        <p:spPr>
          <a:xfrm>
            <a:off x="1266380" y="1652735"/>
            <a:ext cx="1047372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Arial"/>
                <a:ea typeface="Arial"/>
                <a:cs typeface="Arial"/>
                <a:sym typeface="Arial"/>
              </a:rPr>
              <a:t>En un experimento, dos sucesos son mutuamente excluyentes si la ocurrencia de uno excluye la ocurrencia de otro, por lo tanto, la intersección es vacía.</a:t>
            </a:r>
            <a:endParaRPr b="0" i="0" sz="1400" u="none" cap="none" strike="noStrike">
              <a:solidFill>
                <a:srgbClr val="000000"/>
              </a:solidFill>
              <a:latin typeface="Arial"/>
              <a:ea typeface="Arial"/>
              <a:cs typeface="Arial"/>
              <a:sym typeface="Arial"/>
            </a:endParaRPr>
          </a:p>
        </p:txBody>
      </p:sp>
      <p:sp>
        <p:nvSpPr>
          <p:cNvPr id="410" name="Google Shape;410;p28"/>
          <p:cNvSpPr txBox="1"/>
          <p:nvPr/>
        </p:nvSpPr>
        <p:spPr>
          <a:xfrm>
            <a:off x="3993140" y="5266088"/>
            <a:ext cx="4689216" cy="369332"/>
          </a:xfrm>
          <a:prstGeom prst="rect">
            <a:avLst/>
          </a:prstGeom>
          <a:blipFill rotWithShape="1">
            <a:blip r:embed="rId5">
              <a:alphaModFix/>
            </a:blip>
            <a:stretch>
              <a:fillRect b="-1332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11" name="Google Shape;411;p28"/>
          <p:cNvSpPr txBox="1"/>
          <p:nvPr/>
        </p:nvSpPr>
        <p:spPr>
          <a:xfrm>
            <a:off x="3055230" y="2766587"/>
            <a:ext cx="2323730" cy="369332"/>
          </a:xfrm>
          <a:prstGeom prst="rect">
            <a:avLst/>
          </a:prstGeom>
          <a:blipFill rotWithShape="1">
            <a:blip r:embed="rId6">
              <a:alphaModFix/>
            </a:blip>
            <a:stretch>
              <a:fillRect b="-1665"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12" name="Google Shape;412;p28"/>
          <p:cNvSpPr txBox="1"/>
          <p:nvPr/>
        </p:nvSpPr>
        <p:spPr>
          <a:xfrm>
            <a:off x="1266381" y="3980660"/>
            <a:ext cx="10142736" cy="646331"/>
          </a:xfrm>
          <a:prstGeom prst="rect">
            <a:avLst/>
          </a:prstGeom>
          <a:blipFill rotWithShape="1">
            <a:blip r:embed="rId7">
              <a:alphaModFix/>
            </a:blip>
            <a:stretch>
              <a:fillRect b="-14149" l="-539" r="0" t="-565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13" name="Google Shape;413;p28"/>
          <p:cNvSpPr txBox="1"/>
          <p:nvPr/>
        </p:nvSpPr>
        <p:spPr>
          <a:xfrm>
            <a:off x="660855" y="545247"/>
            <a:ext cx="10646629" cy="533383"/>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Propiedades de la Probabilidad</a:t>
            </a:r>
            <a:endParaRPr b="0" i="0" sz="3200" u="none" cap="none" strike="noStrike">
              <a:solidFill>
                <a:srgbClr val="7F7F7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7" name="Shape 417"/>
        <p:cNvGrpSpPr/>
        <p:nvPr/>
      </p:nvGrpSpPr>
      <p:grpSpPr>
        <a:xfrm>
          <a:off x="0" y="0"/>
          <a:ext cx="0" cy="0"/>
          <a:chOff x="0" y="0"/>
          <a:chExt cx="0" cy="0"/>
        </a:xfrm>
      </p:grpSpPr>
      <p:sp>
        <p:nvSpPr>
          <p:cNvPr id="418" name="Google Shape;418;p29"/>
          <p:cNvSpPr/>
          <p:nvPr/>
        </p:nvSpPr>
        <p:spPr>
          <a:xfrm>
            <a:off x="937500" y="1467400"/>
            <a:ext cx="10404300" cy="4606500"/>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19" name="Google Shape;419;p29"/>
          <p:cNvSpPr/>
          <p:nvPr/>
        </p:nvSpPr>
        <p:spPr>
          <a:xfrm>
            <a:off x="1340247" y="1700795"/>
            <a:ext cx="9806135" cy="3970318"/>
          </a:xfrm>
          <a:prstGeom prst="rect">
            <a:avLst/>
          </a:prstGeom>
          <a:blipFill rotWithShape="1">
            <a:blip r:embed="rId4">
              <a:alphaModFix/>
            </a:blip>
            <a:stretch>
              <a:fillRect b="-1533" l="-557" r="0" t="-76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420" name="Google Shape;420;p29"/>
          <p:cNvSpPr txBox="1"/>
          <p:nvPr/>
        </p:nvSpPr>
        <p:spPr>
          <a:xfrm>
            <a:off x="1340247" y="609543"/>
            <a:ext cx="10255945" cy="5709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0" i="0" lang="es-ES" sz="3600" u="none" cap="none" strike="noStrike">
                <a:solidFill>
                  <a:srgbClr val="7F7F7F"/>
                </a:solidFill>
                <a:latin typeface="Arial"/>
                <a:ea typeface="Arial"/>
                <a:cs typeface="Arial"/>
                <a:sym typeface="Arial"/>
              </a:rPr>
              <a:t>Regla Multiplicativa</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500"/>
                                        <p:tgtEl>
                                          <p:spTgt spid="4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4" name="Shape 424"/>
        <p:cNvGrpSpPr/>
        <p:nvPr/>
      </p:nvGrpSpPr>
      <p:grpSpPr>
        <a:xfrm>
          <a:off x="0" y="0"/>
          <a:ext cx="0" cy="0"/>
          <a:chOff x="0" y="0"/>
          <a:chExt cx="0" cy="0"/>
        </a:xfrm>
      </p:grpSpPr>
      <p:sp>
        <p:nvSpPr>
          <p:cNvPr id="425" name="Google Shape;425;p30"/>
          <p:cNvSpPr/>
          <p:nvPr/>
        </p:nvSpPr>
        <p:spPr>
          <a:xfrm>
            <a:off x="-517443" y="1721955"/>
            <a:ext cx="12604668" cy="3721538"/>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6" name="Google Shape;426;p30"/>
          <p:cNvSpPr/>
          <p:nvPr/>
        </p:nvSpPr>
        <p:spPr>
          <a:xfrm>
            <a:off x="6191250" y="1795533"/>
            <a:ext cx="5810250" cy="3547992"/>
          </a:xfrm>
          <a:prstGeom prst="roundRect">
            <a:avLst>
              <a:gd fmla="val 4466" name="adj"/>
            </a:avLst>
          </a:prstGeom>
          <a:solidFill>
            <a:schemeClr val="lt1"/>
          </a:solidFill>
          <a:ln cap="flat" cmpd="sng" w="28575">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7" name="Google Shape;427;p30"/>
          <p:cNvSpPr/>
          <p:nvPr/>
        </p:nvSpPr>
        <p:spPr>
          <a:xfrm>
            <a:off x="477079" y="1956207"/>
            <a:ext cx="5302398" cy="34163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Se tiene una bolsa negra con 5 bolitas azules, tres bolitas verdes, y 4 rojas. Si extraemos dos bolas, ¿cuál es la probabilidad de extraer una bola azul y una bola verde?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Para resolver este problema, tenemos dos enfoques:</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800"/>
              <a:buFont typeface="Arial"/>
              <a:buChar char="•"/>
            </a:pPr>
            <a:r>
              <a:rPr b="1" i="0" lang="es-ES" sz="1800" u="none" cap="none" strike="noStrike">
                <a:solidFill>
                  <a:schemeClr val="lt1"/>
                </a:solidFill>
                <a:latin typeface="Calibri"/>
                <a:ea typeface="Calibri"/>
                <a:cs typeface="Calibri"/>
                <a:sym typeface="Calibri"/>
              </a:rPr>
              <a:t>Con reposición</a:t>
            </a:r>
            <a:r>
              <a:rPr b="0" i="0" lang="es-ES" sz="1800" u="none" cap="none" strike="noStrike">
                <a:solidFill>
                  <a:schemeClr val="lt1"/>
                </a:solidFill>
                <a:latin typeface="Calibri"/>
                <a:ea typeface="Calibri"/>
                <a:cs typeface="Calibri"/>
                <a:sym typeface="Calibri"/>
              </a:rPr>
              <a:t>, es decir, se saca una bolita y se vuelve a poner dentro de la bolsa para la segunda extracción.</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800"/>
              <a:buFont typeface="Arial"/>
              <a:buChar char="•"/>
            </a:pPr>
            <a:r>
              <a:rPr b="1" i="0" lang="es-ES" sz="1800" u="none" cap="none" strike="noStrike">
                <a:solidFill>
                  <a:schemeClr val="lt1"/>
                </a:solidFill>
                <a:latin typeface="Calibri"/>
                <a:ea typeface="Calibri"/>
                <a:cs typeface="Calibri"/>
                <a:sym typeface="Calibri"/>
              </a:rPr>
              <a:t>Sin reposición</a:t>
            </a:r>
            <a:r>
              <a:rPr b="0" i="0" lang="es-ES" sz="1800" u="none" cap="none" strike="noStrike">
                <a:solidFill>
                  <a:schemeClr val="lt1"/>
                </a:solidFill>
                <a:latin typeface="Calibri"/>
                <a:ea typeface="Calibri"/>
                <a:cs typeface="Calibri"/>
                <a:sym typeface="Calibri"/>
              </a:rPr>
              <a:t>, es decir, se saca una bolita y no se devuelve a la bolsa para realizar la segunda extracción.</a:t>
            </a:r>
            <a:endParaRPr b="0" i="0" sz="1400" u="none" cap="none" strike="noStrike">
              <a:solidFill>
                <a:srgbClr val="000000"/>
              </a:solidFill>
              <a:latin typeface="Arial"/>
              <a:ea typeface="Arial"/>
              <a:cs typeface="Arial"/>
              <a:sym typeface="Arial"/>
            </a:endParaRPr>
          </a:p>
        </p:txBody>
      </p:sp>
      <p:sp>
        <p:nvSpPr>
          <p:cNvPr id="428" name="Google Shape;428;p30"/>
          <p:cNvSpPr/>
          <p:nvPr/>
        </p:nvSpPr>
        <p:spPr>
          <a:xfrm>
            <a:off x="7329127" y="2925770"/>
            <a:ext cx="204186" cy="204186"/>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29" name="Google Shape;429;p30"/>
          <p:cNvSpPr/>
          <p:nvPr/>
        </p:nvSpPr>
        <p:spPr>
          <a:xfrm>
            <a:off x="7633927" y="2945744"/>
            <a:ext cx="204186" cy="204186"/>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0" name="Google Shape;430;p30"/>
          <p:cNvSpPr/>
          <p:nvPr/>
        </p:nvSpPr>
        <p:spPr>
          <a:xfrm>
            <a:off x="7533313" y="3250066"/>
            <a:ext cx="204186" cy="204186"/>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1" name="Google Shape;431;p30"/>
          <p:cNvSpPr/>
          <p:nvPr/>
        </p:nvSpPr>
        <p:spPr>
          <a:xfrm>
            <a:off x="7838113" y="2752120"/>
            <a:ext cx="204186" cy="204186"/>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2" name="Google Shape;432;p30"/>
          <p:cNvSpPr/>
          <p:nvPr/>
        </p:nvSpPr>
        <p:spPr>
          <a:xfrm>
            <a:off x="7940206" y="3067004"/>
            <a:ext cx="204186" cy="204186"/>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3" name="Google Shape;433;p30"/>
          <p:cNvSpPr/>
          <p:nvPr/>
        </p:nvSpPr>
        <p:spPr>
          <a:xfrm>
            <a:off x="9029201" y="3021347"/>
            <a:ext cx="204186" cy="204186"/>
          </a:xfrm>
          <a:prstGeom prst="ellipse">
            <a:avLst/>
          </a:prstGeom>
          <a:solidFill>
            <a:schemeClr val="accent6"/>
          </a:solidFill>
          <a:ln cap="flat" cmpd="sng" w="12700">
            <a:solidFill>
              <a:srgbClr val="517E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4" name="Google Shape;434;p30"/>
          <p:cNvSpPr/>
          <p:nvPr/>
        </p:nvSpPr>
        <p:spPr>
          <a:xfrm>
            <a:off x="9131294" y="2772891"/>
            <a:ext cx="204186" cy="204186"/>
          </a:xfrm>
          <a:prstGeom prst="ellipse">
            <a:avLst/>
          </a:prstGeom>
          <a:solidFill>
            <a:schemeClr val="accent6"/>
          </a:solidFill>
          <a:ln cap="flat" cmpd="sng" w="12700">
            <a:solidFill>
              <a:srgbClr val="517E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5" name="Google Shape;435;p30"/>
          <p:cNvSpPr/>
          <p:nvPr/>
        </p:nvSpPr>
        <p:spPr>
          <a:xfrm>
            <a:off x="9335480" y="3021758"/>
            <a:ext cx="204186" cy="204186"/>
          </a:xfrm>
          <a:prstGeom prst="ellipse">
            <a:avLst/>
          </a:prstGeom>
          <a:solidFill>
            <a:schemeClr val="accent6"/>
          </a:solidFill>
          <a:ln cap="flat" cmpd="sng" w="12700">
            <a:solidFill>
              <a:srgbClr val="517E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6" name="Google Shape;436;p30"/>
          <p:cNvSpPr/>
          <p:nvPr/>
        </p:nvSpPr>
        <p:spPr>
          <a:xfrm>
            <a:off x="10322382" y="3048576"/>
            <a:ext cx="204186" cy="204186"/>
          </a:xfrm>
          <a:prstGeom prst="ellipse">
            <a:avLst/>
          </a:prstGeom>
          <a:solidFill>
            <a:srgbClr val="FF0000"/>
          </a:solidFill>
          <a:ln cap="flat" cmpd="sng" w="12700">
            <a:solidFill>
              <a:srgbClr val="517E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7" name="Google Shape;437;p30"/>
          <p:cNvSpPr/>
          <p:nvPr/>
        </p:nvSpPr>
        <p:spPr>
          <a:xfrm>
            <a:off x="10424475" y="2800120"/>
            <a:ext cx="204186" cy="204186"/>
          </a:xfrm>
          <a:prstGeom prst="ellipse">
            <a:avLst/>
          </a:prstGeom>
          <a:solidFill>
            <a:srgbClr val="FF0000"/>
          </a:solidFill>
          <a:ln cap="flat" cmpd="sng" w="12700">
            <a:solidFill>
              <a:srgbClr val="517E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8" name="Google Shape;438;p30"/>
          <p:cNvSpPr/>
          <p:nvPr/>
        </p:nvSpPr>
        <p:spPr>
          <a:xfrm>
            <a:off x="10628661" y="3048987"/>
            <a:ext cx="204186" cy="204186"/>
          </a:xfrm>
          <a:prstGeom prst="ellipse">
            <a:avLst/>
          </a:prstGeom>
          <a:solidFill>
            <a:srgbClr val="FF0000"/>
          </a:solidFill>
          <a:ln cap="flat" cmpd="sng" w="12700">
            <a:solidFill>
              <a:srgbClr val="517E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39" name="Google Shape;439;p30"/>
          <p:cNvSpPr/>
          <p:nvPr/>
        </p:nvSpPr>
        <p:spPr>
          <a:xfrm>
            <a:off x="10492537" y="3299507"/>
            <a:ext cx="204186" cy="204186"/>
          </a:xfrm>
          <a:prstGeom prst="ellipse">
            <a:avLst/>
          </a:prstGeom>
          <a:solidFill>
            <a:srgbClr val="FF0000"/>
          </a:solidFill>
          <a:ln cap="flat" cmpd="sng" w="12700">
            <a:solidFill>
              <a:srgbClr val="517E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0" name="Google Shape;440;p30"/>
          <p:cNvSpPr txBox="1"/>
          <p:nvPr/>
        </p:nvSpPr>
        <p:spPr>
          <a:xfrm>
            <a:off x="8241311" y="4200078"/>
            <a:ext cx="177003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0" i="0" lang="es-ES" sz="3600" u="none" cap="none" strike="noStrike">
                <a:solidFill>
                  <a:schemeClr val="dk1"/>
                </a:solidFill>
                <a:latin typeface="Calibri"/>
                <a:ea typeface="Calibri"/>
                <a:cs typeface="Calibri"/>
                <a:sym typeface="Calibri"/>
              </a:rPr>
              <a:t>P(   )  = ?</a:t>
            </a:r>
            <a:endParaRPr b="0" i="0" sz="1400" u="none" cap="none" strike="noStrike">
              <a:solidFill>
                <a:srgbClr val="000000"/>
              </a:solidFill>
              <a:latin typeface="Arial"/>
              <a:ea typeface="Arial"/>
              <a:cs typeface="Arial"/>
              <a:sym typeface="Arial"/>
            </a:endParaRPr>
          </a:p>
        </p:txBody>
      </p:sp>
      <p:sp>
        <p:nvSpPr>
          <p:cNvPr id="441" name="Google Shape;441;p30"/>
          <p:cNvSpPr/>
          <p:nvPr/>
        </p:nvSpPr>
        <p:spPr>
          <a:xfrm>
            <a:off x="8667591" y="4460531"/>
            <a:ext cx="204186" cy="204186"/>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442" name="Google Shape;442;p30"/>
          <p:cNvSpPr/>
          <p:nvPr/>
        </p:nvSpPr>
        <p:spPr>
          <a:xfrm>
            <a:off x="8825015" y="4353954"/>
            <a:ext cx="204186" cy="204186"/>
          </a:xfrm>
          <a:prstGeom prst="ellipse">
            <a:avLst/>
          </a:prstGeom>
          <a:solidFill>
            <a:schemeClr val="accent6"/>
          </a:solidFill>
          <a:ln cap="flat" cmpd="sng" w="12700">
            <a:solidFill>
              <a:srgbClr val="517E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alibri"/>
              <a:ea typeface="Calibri"/>
              <a:cs typeface="Calibri"/>
              <a:sym typeface="Calibri"/>
            </a:endParaRPr>
          </a:p>
        </p:txBody>
      </p:sp>
      <p:sp>
        <p:nvSpPr>
          <p:cNvPr id="443" name="Google Shape;443;p30"/>
          <p:cNvSpPr txBox="1"/>
          <p:nvPr/>
        </p:nvSpPr>
        <p:spPr>
          <a:xfrm>
            <a:off x="436432" y="1015686"/>
            <a:ext cx="11565068" cy="706267"/>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3"/>
                                        </p:tgtEl>
                                        <p:attrNameLst>
                                          <p:attrName>style.visibility</p:attrName>
                                        </p:attrNameLst>
                                      </p:cBhvr>
                                      <p:to>
                                        <p:strVal val="visible"/>
                                      </p:to>
                                    </p:set>
                                    <p:animEffect filter="fade" transition="in">
                                      <p:cBhvr>
                                        <p:cTn dur="500"/>
                                        <p:tgtEl>
                                          <p:spTgt spid="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7" name="Shape 447"/>
        <p:cNvGrpSpPr/>
        <p:nvPr/>
      </p:nvGrpSpPr>
      <p:grpSpPr>
        <a:xfrm>
          <a:off x="0" y="0"/>
          <a:ext cx="0" cy="0"/>
          <a:chOff x="0" y="0"/>
          <a:chExt cx="0" cy="0"/>
        </a:xfrm>
      </p:grpSpPr>
      <p:sp>
        <p:nvSpPr>
          <p:cNvPr id="448" name="Google Shape;448;p31"/>
          <p:cNvSpPr/>
          <p:nvPr/>
        </p:nvSpPr>
        <p:spPr>
          <a:xfrm>
            <a:off x="1023937" y="1137032"/>
            <a:ext cx="10487025" cy="5185479"/>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49" name="Google Shape;449;p31"/>
          <p:cNvSpPr txBox="1"/>
          <p:nvPr/>
        </p:nvSpPr>
        <p:spPr>
          <a:xfrm>
            <a:off x="1140542" y="410351"/>
            <a:ext cx="10370420" cy="5518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(A)</a:t>
            </a:r>
            <a:endParaRPr b="0" i="0" sz="3200" u="none" cap="none" strike="noStrike">
              <a:solidFill>
                <a:srgbClr val="7F7F7F"/>
              </a:solidFill>
              <a:latin typeface="Arial"/>
              <a:ea typeface="Arial"/>
              <a:cs typeface="Arial"/>
              <a:sym typeface="Arial"/>
            </a:endParaRPr>
          </a:p>
        </p:txBody>
      </p:sp>
      <p:sp>
        <p:nvSpPr>
          <p:cNvPr id="450" name="Google Shape;450;p31"/>
          <p:cNvSpPr/>
          <p:nvPr/>
        </p:nvSpPr>
        <p:spPr>
          <a:xfrm>
            <a:off x="1423840" y="1400714"/>
            <a:ext cx="9891860" cy="4921797"/>
          </a:xfrm>
          <a:prstGeom prst="rect">
            <a:avLst/>
          </a:prstGeom>
          <a:blipFill rotWithShape="1">
            <a:blip r:embed="rId4">
              <a:alphaModFix/>
            </a:blip>
            <a:stretch>
              <a:fillRect b="0" l="-615" r="-491" t="-74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500"/>
                                        <p:tgtEl>
                                          <p:spTgt spid="4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4" name="Shape 454"/>
        <p:cNvGrpSpPr/>
        <p:nvPr/>
      </p:nvGrpSpPr>
      <p:grpSpPr>
        <a:xfrm>
          <a:off x="0" y="0"/>
          <a:ext cx="0" cy="0"/>
          <a:chOff x="0" y="0"/>
          <a:chExt cx="0" cy="0"/>
        </a:xfrm>
      </p:grpSpPr>
      <p:sp>
        <p:nvSpPr>
          <p:cNvPr id="455" name="Google Shape;455;p32"/>
          <p:cNvSpPr/>
          <p:nvPr/>
        </p:nvSpPr>
        <p:spPr>
          <a:xfrm>
            <a:off x="704850" y="1374249"/>
            <a:ext cx="10782300" cy="4682221"/>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56" name="Google Shape;456;p32"/>
          <p:cNvSpPr txBox="1"/>
          <p:nvPr/>
        </p:nvSpPr>
        <p:spPr>
          <a:xfrm>
            <a:off x="845574" y="634381"/>
            <a:ext cx="10641576" cy="523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(B)</a:t>
            </a:r>
            <a:endParaRPr b="0" i="0" sz="3200" u="none" cap="none" strike="noStrike">
              <a:solidFill>
                <a:srgbClr val="7F7F7F"/>
              </a:solidFill>
              <a:latin typeface="Arial"/>
              <a:ea typeface="Arial"/>
              <a:cs typeface="Arial"/>
              <a:sym typeface="Arial"/>
            </a:endParaRPr>
          </a:p>
        </p:txBody>
      </p:sp>
      <p:sp>
        <p:nvSpPr>
          <p:cNvPr id="457" name="Google Shape;457;p32"/>
          <p:cNvSpPr/>
          <p:nvPr/>
        </p:nvSpPr>
        <p:spPr>
          <a:xfrm>
            <a:off x="1061890" y="1703078"/>
            <a:ext cx="9826546" cy="424727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B) Con Reposición de bolas.</a:t>
            </a:r>
            <a:endParaRPr b="1"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Ahora no se devuelva la primera bolita extraída, por lo tanto, lo que sucede en la primera extracción afecta el número de casos posibles, ya que disminuye en una bolita los casos posibles para la segunda extracción. Por esto se llama probabilidad condicional, dado que el resultado de A afecta a B. Por lo tanto,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P(A)=5/12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Y, como no devuelvo la bolita, ahora hay 11 casos posibles para la segunda extracción. Por esto:</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P(B/A)= 3/11</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En consecuencia,</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Calibri"/>
                <a:ea typeface="Calibri"/>
                <a:cs typeface="Calibri"/>
                <a:sym typeface="Calibri"/>
              </a:rPr>
              <a:t>𝑃(𝐴∩𝐵)=5/12∙3/11=15/132</a:t>
            </a:r>
            <a:endParaRPr b="1"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1" name="Shape 461"/>
        <p:cNvGrpSpPr/>
        <p:nvPr/>
      </p:nvGrpSpPr>
      <p:grpSpPr>
        <a:xfrm>
          <a:off x="0" y="0"/>
          <a:ext cx="0" cy="0"/>
          <a:chOff x="0" y="0"/>
          <a:chExt cx="0" cy="0"/>
        </a:xfrm>
      </p:grpSpPr>
      <p:sp>
        <p:nvSpPr>
          <p:cNvPr id="462" name="Google Shape;462;p33"/>
          <p:cNvSpPr txBox="1"/>
          <p:nvPr/>
        </p:nvSpPr>
        <p:spPr>
          <a:xfrm>
            <a:off x="1182386" y="3416582"/>
            <a:ext cx="10782300" cy="752296"/>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chemeClr val="dk1"/>
              </a:buClr>
              <a:buSzPts val="3600"/>
              <a:buFont typeface="Calibri"/>
              <a:buNone/>
            </a:pPr>
            <a:r>
              <a:t/>
            </a:r>
            <a:endParaRPr b="0" i="0" sz="3600" u="none" cap="none" strike="noStrike">
              <a:solidFill>
                <a:srgbClr val="7F7F7F"/>
              </a:solidFill>
              <a:latin typeface="Arial"/>
              <a:ea typeface="Arial"/>
              <a:cs typeface="Arial"/>
              <a:sym typeface="Arial"/>
            </a:endParaRPr>
          </a:p>
          <a:p>
            <a:pPr indent="0" lvl="0" marL="0" marR="0" rtl="0" algn="just">
              <a:lnSpc>
                <a:spcPct val="90000"/>
              </a:lnSpc>
              <a:spcBef>
                <a:spcPts val="0"/>
              </a:spcBef>
              <a:spcAft>
                <a:spcPts val="0"/>
              </a:spcAft>
              <a:buClr>
                <a:srgbClr val="000000"/>
              </a:buClr>
              <a:buSzPts val="3600"/>
              <a:buFont typeface="Arial"/>
              <a:buNone/>
            </a:pPr>
            <a:r>
              <a:rPr b="0" i="0" lang="es-ES" sz="3600" u="none" cap="none" strike="noStrike">
                <a:solidFill>
                  <a:srgbClr val="7F7F7F"/>
                </a:solidFill>
                <a:latin typeface="Arial"/>
                <a:ea typeface="Arial"/>
                <a:cs typeface="Arial"/>
                <a:sym typeface="Arial"/>
              </a:rPr>
              <a:t>Probabilidad Condicional</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0"/>
              </a:spcBef>
              <a:spcAft>
                <a:spcPts val="0"/>
              </a:spcAft>
              <a:buClr>
                <a:schemeClr val="dk1"/>
              </a:buClr>
              <a:buSzPts val="3600"/>
              <a:buFont typeface="Calibri"/>
              <a:buNone/>
            </a:pPr>
            <a:r>
              <a:t/>
            </a:r>
            <a:endParaRPr b="0" i="0" sz="3600" u="none" cap="none" strike="noStrike">
              <a:solidFill>
                <a:srgbClr val="7F7F7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500"/>
                                        <p:tgtEl>
                                          <p:spTgt spid="4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6" name="Shape 466"/>
        <p:cNvGrpSpPr/>
        <p:nvPr/>
      </p:nvGrpSpPr>
      <p:grpSpPr>
        <a:xfrm>
          <a:off x="0" y="0"/>
          <a:ext cx="0" cy="0"/>
          <a:chOff x="0" y="0"/>
          <a:chExt cx="0" cy="0"/>
        </a:xfrm>
      </p:grpSpPr>
      <p:sp>
        <p:nvSpPr>
          <p:cNvPr id="467" name="Google Shape;467;p34"/>
          <p:cNvSpPr txBox="1"/>
          <p:nvPr/>
        </p:nvSpPr>
        <p:spPr>
          <a:xfrm>
            <a:off x="1409700" y="690009"/>
            <a:ext cx="10782300"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Tipos de Probabilidades</a:t>
            </a:r>
            <a:endParaRPr b="0" i="0" sz="1400" u="none" cap="none" strike="noStrike">
              <a:solidFill>
                <a:srgbClr val="000000"/>
              </a:solidFill>
              <a:latin typeface="Arial"/>
              <a:ea typeface="Arial"/>
              <a:cs typeface="Arial"/>
              <a:sym typeface="Arial"/>
            </a:endParaRPr>
          </a:p>
        </p:txBody>
      </p:sp>
      <p:sp>
        <p:nvSpPr>
          <p:cNvPr id="468" name="Google Shape;468;p34"/>
          <p:cNvSpPr/>
          <p:nvPr/>
        </p:nvSpPr>
        <p:spPr>
          <a:xfrm>
            <a:off x="1398412" y="1553497"/>
            <a:ext cx="9212438" cy="4611329"/>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9" name="Google Shape;469;p34"/>
          <p:cNvSpPr/>
          <p:nvPr/>
        </p:nvSpPr>
        <p:spPr>
          <a:xfrm>
            <a:off x="1698778" y="1678419"/>
            <a:ext cx="2082800" cy="682625"/>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90000"/>
              </a:lnSpc>
              <a:spcBef>
                <a:spcPts val="0"/>
              </a:spcBef>
              <a:spcAft>
                <a:spcPts val="0"/>
              </a:spcAft>
              <a:buClr>
                <a:srgbClr val="000000"/>
              </a:buClr>
              <a:buSzPts val="2000"/>
              <a:buFont typeface="Arial"/>
              <a:buNone/>
            </a:pPr>
            <a:r>
              <a:rPr b="1" i="0" lang="es-ES" sz="2000" u="none" cap="none" strike="noStrike">
                <a:solidFill>
                  <a:srgbClr val="595959"/>
                </a:solidFill>
                <a:latin typeface="Arial"/>
                <a:ea typeface="Arial"/>
                <a:cs typeface="Arial"/>
                <a:sym typeface="Arial"/>
              </a:rPr>
              <a:t>Marginal</a:t>
            </a:r>
            <a:endParaRPr b="0" i="0" sz="1400" u="none" cap="none" strike="noStrike">
              <a:solidFill>
                <a:srgbClr val="000000"/>
              </a:solidFill>
              <a:latin typeface="Arial"/>
              <a:ea typeface="Arial"/>
              <a:cs typeface="Arial"/>
              <a:sym typeface="Arial"/>
            </a:endParaRPr>
          </a:p>
        </p:txBody>
      </p:sp>
      <p:sp>
        <p:nvSpPr>
          <p:cNvPr id="470" name="Google Shape;470;p34"/>
          <p:cNvSpPr/>
          <p:nvPr/>
        </p:nvSpPr>
        <p:spPr>
          <a:xfrm>
            <a:off x="1698778" y="2435890"/>
            <a:ext cx="2082800" cy="3463925"/>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182550" lIns="182550" spcFirstLastPara="1" rIns="182550" wrap="square" tIns="1825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Arial"/>
              <a:ea typeface="Arial"/>
              <a:cs typeface="Arial"/>
              <a:sym typeface="Arial"/>
            </a:endParaRPr>
          </a:p>
          <a:p>
            <a:pPr indent="0" lvl="0" marL="0" marR="0" rtl="0" algn="ctr">
              <a:lnSpc>
                <a:spcPct val="100000"/>
              </a:lnSpc>
              <a:spcBef>
                <a:spcPts val="1800"/>
              </a:spcBef>
              <a:spcAft>
                <a:spcPts val="0"/>
              </a:spcAft>
              <a:buClr>
                <a:srgbClr val="000000"/>
              </a:buClr>
              <a:buSzPts val="1800"/>
              <a:buFont typeface="Arial"/>
              <a:buNone/>
            </a:pPr>
            <a:r>
              <a:rPr b="0" i="0" lang="es-ES" sz="1800" u="none" cap="none" strike="noStrike">
                <a:solidFill>
                  <a:srgbClr val="595959"/>
                </a:solidFill>
                <a:latin typeface="Arial"/>
                <a:ea typeface="Arial"/>
                <a:cs typeface="Arial"/>
                <a:sym typeface="Arial"/>
              </a:rPr>
              <a:t>La probabilidad de que ocurra   </a:t>
            </a:r>
            <a:r>
              <a:rPr b="1" i="0" lang="es-ES" sz="1800" u="none" cap="none" strike="noStrike">
                <a:solidFill>
                  <a:srgbClr val="595959"/>
                </a:solidFill>
                <a:latin typeface="Arial"/>
                <a:ea typeface="Arial"/>
                <a:cs typeface="Arial"/>
                <a:sym typeface="Arial"/>
              </a:rPr>
              <a:t>X</a:t>
            </a:r>
            <a:endParaRPr b="0" i="0" sz="1800" u="none" cap="none" strike="noStrike">
              <a:solidFill>
                <a:srgbClr val="595959"/>
              </a:solidFill>
              <a:latin typeface="Arial"/>
              <a:ea typeface="Arial"/>
              <a:cs typeface="Arial"/>
              <a:sym typeface="Arial"/>
            </a:endParaRPr>
          </a:p>
        </p:txBody>
      </p:sp>
      <p:sp>
        <p:nvSpPr>
          <p:cNvPr id="471" name="Google Shape;471;p34"/>
          <p:cNvSpPr/>
          <p:nvPr/>
        </p:nvSpPr>
        <p:spPr>
          <a:xfrm>
            <a:off x="3847546" y="1678419"/>
            <a:ext cx="2082800" cy="682625"/>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90000"/>
              </a:lnSpc>
              <a:spcBef>
                <a:spcPts val="0"/>
              </a:spcBef>
              <a:spcAft>
                <a:spcPts val="0"/>
              </a:spcAft>
              <a:buClr>
                <a:srgbClr val="000000"/>
              </a:buClr>
              <a:buSzPts val="2000"/>
              <a:buFont typeface="Arial"/>
              <a:buNone/>
            </a:pPr>
            <a:r>
              <a:rPr b="1" i="0" lang="es-ES" sz="2000" u="none" cap="none" strike="noStrike">
                <a:solidFill>
                  <a:srgbClr val="595959"/>
                </a:solidFill>
                <a:latin typeface="Arial"/>
                <a:ea typeface="Arial"/>
                <a:cs typeface="Arial"/>
                <a:sym typeface="Arial"/>
              </a:rPr>
              <a:t>Unión</a:t>
            </a:r>
            <a:endParaRPr b="0" i="0" sz="1400" u="none" cap="none" strike="noStrike">
              <a:solidFill>
                <a:srgbClr val="000000"/>
              </a:solidFill>
              <a:latin typeface="Arial"/>
              <a:ea typeface="Arial"/>
              <a:cs typeface="Arial"/>
              <a:sym typeface="Arial"/>
            </a:endParaRPr>
          </a:p>
        </p:txBody>
      </p:sp>
      <p:sp>
        <p:nvSpPr>
          <p:cNvPr id="472" name="Google Shape;472;p34"/>
          <p:cNvSpPr/>
          <p:nvPr/>
        </p:nvSpPr>
        <p:spPr>
          <a:xfrm>
            <a:off x="3847546" y="2435890"/>
            <a:ext cx="2082800" cy="3463925"/>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182550" lIns="182550" spcFirstLastPara="1" rIns="182550" wrap="square" tIns="1825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Arial"/>
              <a:ea typeface="Arial"/>
              <a:cs typeface="Arial"/>
              <a:sym typeface="Arial"/>
            </a:endParaRPr>
          </a:p>
          <a:p>
            <a:pPr indent="0" lvl="0" marL="0" marR="0" rtl="0" algn="ctr">
              <a:lnSpc>
                <a:spcPct val="100000"/>
              </a:lnSpc>
              <a:spcBef>
                <a:spcPts val="1800"/>
              </a:spcBef>
              <a:spcAft>
                <a:spcPts val="0"/>
              </a:spcAft>
              <a:buClr>
                <a:srgbClr val="000000"/>
              </a:buClr>
              <a:buSzPts val="1800"/>
              <a:buFont typeface="Arial"/>
              <a:buNone/>
            </a:pPr>
            <a:r>
              <a:rPr b="0" i="0" lang="es-ES" sz="1800" u="none" cap="none" strike="noStrike">
                <a:solidFill>
                  <a:srgbClr val="595959"/>
                </a:solidFill>
                <a:latin typeface="Arial"/>
                <a:ea typeface="Arial"/>
                <a:cs typeface="Arial"/>
                <a:sym typeface="Arial"/>
              </a:rPr>
              <a:t>La probabilidad de que ocurra   </a:t>
            </a:r>
            <a:r>
              <a:rPr b="1" i="0" lang="es-ES" sz="1800" u="none" cap="none" strike="noStrike">
                <a:solidFill>
                  <a:srgbClr val="595959"/>
                </a:solidFill>
                <a:latin typeface="Arial"/>
                <a:ea typeface="Arial"/>
                <a:cs typeface="Arial"/>
                <a:sym typeface="Arial"/>
              </a:rPr>
              <a:t>X o Y</a:t>
            </a:r>
            <a:endParaRPr b="0" i="0" sz="1800" u="none" cap="none" strike="noStrike">
              <a:solidFill>
                <a:srgbClr val="595959"/>
              </a:solidFill>
              <a:latin typeface="Arial"/>
              <a:ea typeface="Arial"/>
              <a:cs typeface="Arial"/>
              <a:sym typeface="Arial"/>
            </a:endParaRPr>
          </a:p>
        </p:txBody>
      </p:sp>
      <p:sp>
        <p:nvSpPr>
          <p:cNvPr id="473" name="Google Shape;473;p34"/>
          <p:cNvSpPr/>
          <p:nvPr/>
        </p:nvSpPr>
        <p:spPr>
          <a:xfrm>
            <a:off x="5987436" y="1678419"/>
            <a:ext cx="2082800" cy="682625"/>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90000"/>
              </a:lnSpc>
              <a:spcBef>
                <a:spcPts val="0"/>
              </a:spcBef>
              <a:spcAft>
                <a:spcPts val="0"/>
              </a:spcAft>
              <a:buClr>
                <a:srgbClr val="000000"/>
              </a:buClr>
              <a:buSzPts val="2000"/>
              <a:buFont typeface="Arial"/>
              <a:buNone/>
            </a:pPr>
            <a:r>
              <a:rPr b="1" i="0" lang="es-ES" sz="2000" u="none" cap="none" strike="noStrike">
                <a:solidFill>
                  <a:srgbClr val="595959"/>
                </a:solidFill>
                <a:latin typeface="Arial"/>
                <a:ea typeface="Arial"/>
                <a:cs typeface="Arial"/>
                <a:sym typeface="Arial"/>
              </a:rPr>
              <a:t>Conjunta</a:t>
            </a:r>
            <a:endParaRPr b="0" i="0" sz="1400" u="none" cap="none" strike="noStrike">
              <a:solidFill>
                <a:srgbClr val="000000"/>
              </a:solidFill>
              <a:latin typeface="Arial"/>
              <a:ea typeface="Arial"/>
              <a:cs typeface="Arial"/>
              <a:sym typeface="Arial"/>
            </a:endParaRPr>
          </a:p>
        </p:txBody>
      </p:sp>
      <p:sp>
        <p:nvSpPr>
          <p:cNvPr id="474" name="Google Shape;474;p34"/>
          <p:cNvSpPr/>
          <p:nvPr/>
        </p:nvSpPr>
        <p:spPr>
          <a:xfrm>
            <a:off x="5987436" y="2435890"/>
            <a:ext cx="2082800" cy="3463925"/>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182550" lIns="182550" spcFirstLastPara="1" rIns="182550" wrap="square" tIns="1825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Arial"/>
              <a:ea typeface="Arial"/>
              <a:cs typeface="Arial"/>
              <a:sym typeface="Arial"/>
            </a:endParaRPr>
          </a:p>
          <a:p>
            <a:pPr indent="0" lvl="0" marL="0" marR="0" rtl="0" algn="ctr">
              <a:lnSpc>
                <a:spcPct val="100000"/>
              </a:lnSpc>
              <a:spcBef>
                <a:spcPts val="1800"/>
              </a:spcBef>
              <a:spcAft>
                <a:spcPts val="0"/>
              </a:spcAft>
              <a:buClr>
                <a:srgbClr val="000000"/>
              </a:buClr>
              <a:buSzPts val="1800"/>
              <a:buFont typeface="Arial"/>
              <a:buNone/>
            </a:pPr>
            <a:r>
              <a:rPr b="0" i="0" lang="es-ES" sz="1800" u="none" cap="none" strike="noStrike">
                <a:solidFill>
                  <a:srgbClr val="595959"/>
                </a:solidFill>
                <a:latin typeface="Arial"/>
                <a:ea typeface="Arial"/>
                <a:cs typeface="Arial"/>
                <a:sym typeface="Arial"/>
              </a:rPr>
              <a:t>La probabilidad de que ocurra   </a:t>
            </a:r>
            <a:r>
              <a:rPr b="1" i="0" lang="es-ES" sz="1800" u="none" cap="none" strike="noStrike">
                <a:solidFill>
                  <a:srgbClr val="595959"/>
                </a:solidFill>
                <a:latin typeface="Arial"/>
                <a:ea typeface="Arial"/>
                <a:cs typeface="Arial"/>
                <a:sym typeface="Arial"/>
              </a:rPr>
              <a:t>X e Y</a:t>
            </a:r>
            <a:endParaRPr b="0" i="0" sz="1800" u="none" cap="none" strike="noStrike">
              <a:solidFill>
                <a:srgbClr val="595959"/>
              </a:solidFill>
              <a:latin typeface="Arial"/>
              <a:ea typeface="Arial"/>
              <a:cs typeface="Arial"/>
              <a:sym typeface="Arial"/>
            </a:endParaRPr>
          </a:p>
        </p:txBody>
      </p:sp>
      <p:sp>
        <p:nvSpPr>
          <p:cNvPr id="475" name="Google Shape;475;p34"/>
          <p:cNvSpPr/>
          <p:nvPr/>
        </p:nvSpPr>
        <p:spPr>
          <a:xfrm>
            <a:off x="8145082" y="1678419"/>
            <a:ext cx="2082800" cy="682625"/>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lnSpc>
                <a:spcPct val="90000"/>
              </a:lnSpc>
              <a:spcBef>
                <a:spcPts val="0"/>
              </a:spcBef>
              <a:spcAft>
                <a:spcPts val="0"/>
              </a:spcAft>
              <a:buClr>
                <a:srgbClr val="000000"/>
              </a:buClr>
              <a:buSzPts val="2000"/>
              <a:buFont typeface="Arial"/>
              <a:buNone/>
            </a:pPr>
            <a:r>
              <a:rPr b="1" i="0" lang="es-ES" sz="2000" u="none" cap="none" strike="noStrike">
                <a:solidFill>
                  <a:srgbClr val="595959"/>
                </a:solidFill>
                <a:latin typeface="Arial"/>
                <a:ea typeface="Arial"/>
                <a:cs typeface="Arial"/>
                <a:sym typeface="Arial"/>
              </a:rPr>
              <a:t>Condicional</a:t>
            </a:r>
            <a:endParaRPr b="0" i="0" sz="1400" u="none" cap="none" strike="noStrike">
              <a:solidFill>
                <a:srgbClr val="000000"/>
              </a:solidFill>
              <a:latin typeface="Arial"/>
              <a:ea typeface="Arial"/>
              <a:cs typeface="Arial"/>
              <a:sym typeface="Arial"/>
            </a:endParaRPr>
          </a:p>
        </p:txBody>
      </p:sp>
      <p:sp>
        <p:nvSpPr>
          <p:cNvPr id="476" name="Google Shape;476;p34"/>
          <p:cNvSpPr/>
          <p:nvPr/>
        </p:nvSpPr>
        <p:spPr>
          <a:xfrm>
            <a:off x="8145082" y="2435890"/>
            <a:ext cx="2082800" cy="3463925"/>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182550" lIns="182550" spcFirstLastPara="1" rIns="182550" wrap="square" tIns="18255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Arial"/>
              <a:ea typeface="Arial"/>
              <a:cs typeface="Arial"/>
              <a:sym typeface="Arial"/>
            </a:endParaRPr>
          </a:p>
          <a:p>
            <a:pPr indent="0" lvl="0" marL="0" marR="0" rtl="0" algn="ctr">
              <a:lnSpc>
                <a:spcPct val="100000"/>
              </a:lnSpc>
              <a:spcBef>
                <a:spcPts val="1800"/>
              </a:spcBef>
              <a:spcAft>
                <a:spcPts val="0"/>
              </a:spcAft>
              <a:buClr>
                <a:srgbClr val="000000"/>
              </a:buClr>
              <a:buSzPts val="1800"/>
              <a:buFont typeface="Arial"/>
              <a:buNone/>
            </a:pPr>
            <a:r>
              <a:rPr b="0" i="0" lang="es-ES" sz="1800" u="none" cap="none" strike="noStrike">
                <a:solidFill>
                  <a:srgbClr val="595959"/>
                </a:solidFill>
                <a:latin typeface="Arial"/>
                <a:ea typeface="Arial"/>
                <a:cs typeface="Arial"/>
                <a:sym typeface="Arial"/>
              </a:rPr>
              <a:t>La probabilidad de que ocurra   </a:t>
            </a:r>
            <a:r>
              <a:rPr b="1" i="0" lang="es-ES" sz="1800" u="none" cap="none" strike="noStrike">
                <a:solidFill>
                  <a:srgbClr val="595959"/>
                </a:solidFill>
                <a:latin typeface="Arial"/>
                <a:ea typeface="Arial"/>
                <a:cs typeface="Arial"/>
                <a:sym typeface="Arial"/>
              </a:rPr>
              <a:t>X sabiendo que ha ocurrido Y</a:t>
            </a:r>
            <a:endParaRPr b="0" i="0" sz="1800" u="none" cap="none" strike="noStrike">
              <a:solidFill>
                <a:srgbClr val="595959"/>
              </a:solidFill>
              <a:latin typeface="Arial"/>
              <a:ea typeface="Arial"/>
              <a:cs typeface="Arial"/>
              <a:sym typeface="Arial"/>
            </a:endParaRPr>
          </a:p>
        </p:txBody>
      </p:sp>
      <p:grpSp>
        <p:nvGrpSpPr>
          <p:cNvPr id="477" name="Google Shape;477;p34"/>
          <p:cNvGrpSpPr/>
          <p:nvPr/>
        </p:nvGrpSpPr>
        <p:grpSpPr>
          <a:xfrm>
            <a:off x="3999946" y="4509165"/>
            <a:ext cx="1787525" cy="1276350"/>
            <a:chOff x="1660" y="2972"/>
            <a:chExt cx="1126" cy="804"/>
          </a:xfrm>
        </p:grpSpPr>
        <p:sp>
          <p:nvSpPr>
            <p:cNvPr id="478" name="Google Shape;478;p34"/>
            <p:cNvSpPr/>
            <p:nvPr/>
          </p:nvSpPr>
          <p:spPr>
            <a:xfrm>
              <a:off x="1660" y="2992"/>
              <a:ext cx="1126" cy="784"/>
            </a:xfrm>
            <a:prstGeom prst="rect">
              <a:avLst/>
            </a:prstGeom>
            <a:noFill/>
            <a:ln cap="flat" cmpd="sng" w="508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grpSp>
          <p:nvGrpSpPr>
            <p:cNvPr id="479" name="Google Shape;479;p34"/>
            <p:cNvGrpSpPr/>
            <p:nvPr/>
          </p:nvGrpSpPr>
          <p:grpSpPr>
            <a:xfrm>
              <a:off x="1752" y="3216"/>
              <a:ext cx="956" cy="521"/>
              <a:chOff x="1752" y="3216"/>
              <a:chExt cx="956" cy="521"/>
            </a:xfrm>
          </p:grpSpPr>
          <p:grpSp>
            <p:nvGrpSpPr>
              <p:cNvPr id="480" name="Google Shape;480;p34"/>
              <p:cNvGrpSpPr/>
              <p:nvPr/>
            </p:nvGrpSpPr>
            <p:grpSpPr>
              <a:xfrm>
                <a:off x="1752" y="3216"/>
                <a:ext cx="956" cy="521"/>
                <a:chOff x="1752" y="3216"/>
                <a:chExt cx="956" cy="521"/>
              </a:xfrm>
            </p:grpSpPr>
            <p:sp>
              <p:nvSpPr>
                <p:cNvPr descr="Wide upward diagonal" id="481" name="Google Shape;481;p34"/>
                <p:cNvSpPr/>
                <p:nvPr/>
              </p:nvSpPr>
              <p:spPr>
                <a:xfrm>
                  <a:off x="1752" y="3225"/>
                  <a:ext cx="568" cy="512"/>
                </a:xfrm>
                <a:prstGeom prst="ellipse">
                  <a:avLst/>
                </a:prstGeom>
                <a:solidFill>
                  <a:schemeClr val="dk1"/>
                </a:solidFill>
                <a:ln cap="flat" cmpd="sng" w="508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descr="Wide upward diagonal" id="482" name="Google Shape;482;p34"/>
                <p:cNvSpPr/>
                <p:nvPr/>
              </p:nvSpPr>
              <p:spPr>
                <a:xfrm>
                  <a:off x="2139" y="3216"/>
                  <a:ext cx="569" cy="512"/>
                </a:xfrm>
                <a:prstGeom prst="ellipse">
                  <a:avLst/>
                </a:prstGeom>
                <a:solidFill>
                  <a:schemeClr val="dk1"/>
                </a:solidFill>
                <a:ln cap="flat" cmpd="sng" w="5080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grpSp>
          <p:sp>
            <p:nvSpPr>
              <p:cNvPr id="483" name="Google Shape;483;p34"/>
              <p:cNvSpPr/>
              <p:nvPr/>
            </p:nvSpPr>
            <p:spPr>
              <a:xfrm>
                <a:off x="2223" y="3282"/>
                <a:ext cx="106" cy="404"/>
              </a:xfrm>
              <a:custGeom>
                <a:rect b="b" l="l" r="r" t="t"/>
                <a:pathLst>
                  <a:path extrusionOk="0" h="404" w="106">
                    <a:moveTo>
                      <a:pt x="0" y="0"/>
                    </a:moveTo>
                    <a:lnTo>
                      <a:pt x="7" y="5"/>
                    </a:lnTo>
                    <a:lnTo>
                      <a:pt x="15" y="10"/>
                    </a:lnTo>
                    <a:lnTo>
                      <a:pt x="22" y="17"/>
                    </a:lnTo>
                    <a:lnTo>
                      <a:pt x="27" y="24"/>
                    </a:lnTo>
                    <a:lnTo>
                      <a:pt x="34" y="29"/>
                    </a:lnTo>
                    <a:lnTo>
                      <a:pt x="37" y="36"/>
                    </a:lnTo>
                    <a:lnTo>
                      <a:pt x="44" y="39"/>
                    </a:lnTo>
                    <a:lnTo>
                      <a:pt x="49" y="46"/>
                    </a:lnTo>
                    <a:lnTo>
                      <a:pt x="56" y="51"/>
                    </a:lnTo>
                    <a:lnTo>
                      <a:pt x="61" y="58"/>
                    </a:lnTo>
                    <a:lnTo>
                      <a:pt x="66" y="66"/>
                    </a:lnTo>
                    <a:lnTo>
                      <a:pt x="71" y="73"/>
                    </a:lnTo>
                    <a:lnTo>
                      <a:pt x="73" y="80"/>
                    </a:lnTo>
                    <a:lnTo>
                      <a:pt x="76" y="87"/>
                    </a:lnTo>
                    <a:lnTo>
                      <a:pt x="81" y="95"/>
                    </a:lnTo>
                    <a:lnTo>
                      <a:pt x="85" y="102"/>
                    </a:lnTo>
                    <a:lnTo>
                      <a:pt x="88" y="109"/>
                    </a:lnTo>
                    <a:lnTo>
                      <a:pt x="90" y="117"/>
                    </a:lnTo>
                    <a:lnTo>
                      <a:pt x="95" y="124"/>
                    </a:lnTo>
                    <a:lnTo>
                      <a:pt x="98" y="131"/>
                    </a:lnTo>
                    <a:lnTo>
                      <a:pt x="100" y="138"/>
                    </a:lnTo>
                    <a:lnTo>
                      <a:pt x="103" y="146"/>
                    </a:lnTo>
                    <a:lnTo>
                      <a:pt x="103" y="153"/>
                    </a:lnTo>
                    <a:lnTo>
                      <a:pt x="105" y="160"/>
                    </a:lnTo>
                    <a:lnTo>
                      <a:pt x="105" y="168"/>
                    </a:lnTo>
                    <a:lnTo>
                      <a:pt x="105" y="175"/>
                    </a:lnTo>
                    <a:lnTo>
                      <a:pt x="105" y="182"/>
                    </a:lnTo>
                    <a:lnTo>
                      <a:pt x="105" y="189"/>
                    </a:lnTo>
                    <a:lnTo>
                      <a:pt x="105" y="197"/>
                    </a:lnTo>
                    <a:lnTo>
                      <a:pt x="105" y="204"/>
                    </a:lnTo>
                    <a:lnTo>
                      <a:pt x="105" y="211"/>
                    </a:lnTo>
                    <a:lnTo>
                      <a:pt x="105" y="218"/>
                    </a:lnTo>
                    <a:lnTo>
                      <a:pt x="105" y="226"/>
                    </a:lnTo>
                    <a:lnTo>
                      <a:pt x="105" y="233"/>
                    </a:lnTo>
                    <a:lnTo>
                      <a:pt x="105" y="240"/>
                    </a:lnTo>
                    <a:lnTo>
                      <a:pt x="105" y="248"/>
                    </a:lnTo>
                    <a:lnTo>
                      <a:pt x="105" y="255"/>
                    </a:lnTo>
                    <a:lnTo>
                      <a:pt x="100" y="262"/>
                    </a:lnTo>
                    <a:lnTo>
                      <a:pt x="100" y="269"/>
                    </a:lnTo>
                    <a:lnTo>
                      <a:pt x="93" y="277"/>
                    </a:lnTo>
                    <a:lnTo>
                      <a:pt x="90" y="284"/>
                    </a:lnTo>
                    <a:lnTo>
                      <a:pt x="90" y="291"/>
                    </a:lnTo>
                    <a:lnTo>
                      <a:pt x="83" y="296"/>
                    </a:lnTo>
                    <a:lnTo>
                      <a:pt x="81" y="303"/>
                    </a:lnTo>
                    <a:lnTo>
                      <a:pt x="81" y="311"/>
                    </a:lnTo>
                    <a:lnTo>
                      <a:pt x="76" y="318"/>
                    </a:lnTo>
                    <a:lnTo>
                      <a:pt x="71" y="325"/>
                    </a:lnTo>
                    <a:lnTo>
                      <a:pt x="66" y="333"/>
                    </a:lnTo>
                    <a:lnTo>
                      <a:pt x="61" y="340"/>
                    </a:lnTo>
                    <a:lnTo>
                      <a:pt x="59" y="347"/>
                    </a:lnTo>
                    <a:lnTo>
                      <a:pt x="54" y="354"/>
                    </a:lnTo>
                    <a:lnTo>
                      <a:pt x="46" y="359"/>
                    </a:lnTo>
                    <a:lnTo>
                      <a:pt x="42" y="367"/>
                    </a:lnTo>
                    <a:lnTo>
                      <a:pt x="34" y="371"/>
                    </a:lnTo>
                    <a:lnTo>
                      <a:pt x="27" y="376"/>
                    </a:lnTo>
                    <a:lnTo>
                      <a:pt x="22" y="384"/>
                    </a:lnTo>
                    <a:lnTo>
                      <a:pt x="17" y="391"/>
                    </a:lnTo>
                    <a:lnTo>
                      <a:pt x="10" y="396"/>
                    </a:lnTo>
                    <a:lnTo>
                      <a:pt x="2" y="403"/>
                    </a:lnTo>
                  </a:path>
                </a:pathLst>
              </a:custGeom>
              <a:noFill/>
              <a:ln cap="rnd" cmpd="sng" w="508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4" name="Google Shape;484;p34"/>
            <p:cNvSpPr/>
            <p:nvPr/>
          </p:nvSpPr>
          <p:spPr>
            <a:xfrm>
              <a:off x="2267" y="2972"/>
              <a:ext cx="276"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folHlink"/>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p:txBody>
        </p:sp>
        <p:sp>
          <p:nvSpPr>
            <p:cNvPr id="485" name="Google Shape;485;p34"/>
            <p:cNvSpPr/>
            <p:nvPr/>
          </p:nvSpPr>
          <p:spPr>
            <a:xfrm>
              <a:off x="1901" y="2984"/>
              <a:ext cx="276"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accent2"/>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p:txBody>
        </p:sp>
      </p:grpSp>
      <p:sp>
        <p:nvSpPr>
          <p:cNvPr id="486" name="Google Shape;486;p34"/>
          <p:cNvSpPr/>
          <p:nvPr/>
        </p:nvSpPr>
        <p:spPr>
          <a:xfrm>
            <a:off x="6149361" y="4531390"/>
            <a:ext cx="1787525" cy="1244600"/>
          </a:xfrm>
          <a:prstGeom prst="rect">
            <a:avLst/>
          </a:prstGeom>
          <a:noFill/>
          <a:ln cap="flat" cmpd="sng" w="508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grpSp>
        <p:nvGrpSpPr>
          <p:cNvPr id="487" name="Google Shape;487;p34"/>
          <p:cNvGrpSpPr/>
          <p:nvPr/>
        </p:nvGrpSpPr>
        <p:grpSpPr>
          <a:xfrm>
            <a:off x="6295411" y="4885403"/>
            <a:ext cx="1517650" cy="828675"/>
            <a:chOff x="3078" y="3209"/>
            <a:chExt cx="956" cy="522"/>
          </a:xfrm>
        </p:grpSpPr>
        <p:sp>
          <p:nvSpPr>
            <p:cNvPr id="488" name="Google Shape;488;p34"/>
            <p:cNvSpPr/>
            <p:nvPr/>
          </p:nvSpPr>
          <p:spPr>
            <a:xfrm>
              <a:off x="3078" y="3219"/>
              <a:ext cx="569" cy="512"/>
            </a:xfrm>
            <a:prstGeom prst="ellipse">
              <a:avLst/>
            </a:prstGeom>
            <a:solidFill>
              <a:schemeClr val="dk1"/>
            </a:solidFill>
            <a:ln cap="flat" cmpd="sng" w="508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89" name="Google Shape;489;p34"/>
            <p:cNvSpPr/>
            <p:nvPr/>
          </p:nvSpPr>
          <p:spPr>
            <a:xfrm>
              <a:off x="3466" y="3209"/>
              <a:ext cx="568" cy="512"/>
            </a:xfrm>
            <a:prstGeom prst="ellipse">
              <a:avLst/>
            </a:prstGeom>
            <a:solidFill>
              <a:schemeClr val="dk1"/>
            </a:solidFill>
            <a:ln cap="flat" cmpd="sng" w="5080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grpSp>
      <p:grpSp>
        <p:nvGrpSpPr>
          <p:cNvPr id="490" name="Google Shape;490;p34"/>
          <p:cNvGrpSpPr/>
          <p:nvPr/>
        </p:nvGrpSpPr>
        <p:grpSpPr>
          <a:xfrm>
            <a:off x="6905011" y="4975890"/>
            <a:ext cx="304800" cy="657225"/>
            <a:chOff x="3462" y="3266"/>
            <a:chExt cx="192" cy="414"/>
          </a:xfrm>
        </p:grpSpPr>
        <p:sp>
          <p:nvSpPr>
            <p:cNvPr descr="Wide upward diagonal" id="491" name="Google Shape;491;p34"/>
            <p:cNvSpPr/>
            <p:nvPr/>
          </p:nvSpPr>
          <p:spPr>
            <a:xfrm>
              <a:off x="3549" y="3276"/>
              <a:ext cx="105" cy="404"/>
            </a:xfrm>
            <a:custGeom>
              <a:rect b="b" l="l" r="r" t="t"/>
              <a:pathLst>
                <a:path extrusionOk="0" h="404" w="105">
                  <a:moveTo>
                    <a:pt x="0" y="0"/>
                  </a:moveTo>
                  <a:lnTo>
                    <a:pt x="7" y="5"/>
                  </a:lnTo>
                  <a:lnTo>
                    <a:pt x="15" y="10"/>
                  </a:lnTo>
                  <a:lnTo>
                    <a:pt x="22" y="17"/>
                  </a:lnTo>
                  <a:lnTo>
                    <a:pt x="27" y="24"/>
                  </a:lnTo>
                  <a:lnTo>
                    <a:pt x="34" y="29"/>
                  </a:lnTo>
                  <a:lnTo>
                    <a:pt x="36" y="36"/>
                  </a:lnTo>
                  <a:lnTo>
                    <a:pt x="44" y="39"/>
                  </a:lnTo>
                  <a:lnTo>
                    <a:pt x="48" y="46"/>
                  </a:lnTo>
                  <a:lnTo>
                    <a:pt x="56" y="51"/>
                  </a:lnTo>
                  <a:lnTo>
                    <a:pt x="60" y="58"/>
                  </a:lnTo>
                  <a:lnTo>
                    <a:pt x="65" y="66"/>
                  </a:lnTo>
                  <a:lnTo>
                    <a:pt x="70" y="73"/>
                  </a:lnTo>
                  <a:lnTo>
                    <a:pt x="73" y="80"/>
                  </a:lnTo>
                  <a:lnTo>
                    <a:pt x="75" y="87"/>
                  </a:lnTo>
                  <a:lnTo>
                    <a:pt x="80" y="95"/>
                  </a:lnTo>
                  <a:lnTo>
                    <a:pt x="85" y="102"/>
                  </a:lnTo>
                  <a:lnTo>
                    <a:pt x="87" y="109"/>
                  </a:lnTo>
                  <a:lnTo>
                    <a:pt x="89" y="117"/>
                  </a:lnTo>
                  <a:lnTo>
                    <a:pt x="94" y="124"/>
                  </a:lnTo>
                  <a:lnTo>
                    <a:pt x="97" y="131"/>
                  </a:lnTo>
                  <a:lnTo>
                    <a:pt x="99" y="138"/>
                  </a:lnTo>
                  <a:lnTo>
                    <a:pt x="102" y="146"/>
                  </a:lnTo>
                  <a:lnTo>
                    <a:pt x="102" y="153"/>
                  </a:lnTo>
                  <a:lnTo>
                    <a:pt x="104" y="160"/>
                  </a:lnTo>
                  <a:lnTo>
                    <a:pt x="104" y="168"/>
                  </a:lnTo>
                  <a:lnTo>
                    <a:pt x="104" y="175"/>
                  </a:lnTo>
                  <a:lnTo>
                    <a:pt x="104" y="182"/>
                  </a:lnTo>
                  <a:lnTo>
                    <a:pt x="104" y="189"/>
                  </a:lnTo>
                  <a:lnTo>
                    <a:pt x="104" y="197"/>
                  </a:lnTo>
                  <a:lnTo>
                    <a:pt x="104" y="204"/>
                  </a:lnTo>
                  <a:lnTo>
                    <a:pt x="104" y="211"/>
                  </a:lnTo>
                  <a:lnTo>
                    <a:pt x="104" y="218"/>
                  </a:lnTo>
                  <a:lnTo>
                    <a:pt x="104" y="226"/>
                  </a:lnTo>
                  <a:lnTo>
                    <a:pt x="104" y="233"/>
                  </a:lnTo>
                  <a:lnTo>
                    <a:pt x="104" y="240"/>
                  </a:lnTo>
                  <a:lnTo>
                    <a:pt x="104" y="248"/>
                  </a:lnTo>
                  <a:lnTo>
                    <a:pt x="104" y="255"/>
                  </a:lnTo>
                  <a:lnTo>
                    <a:pt x="99" y="262"/>
                  </a:lnTo>
                  <a:lnTo>
                    <a:pt x="99" y="269"/>
                  </a:lnTo>
                  <a:lnTo>
                    <a:pt x="92" y="277"/>
                  </a:lnTo>
                  <a:lnTo>
                    <a:pt x="89" y="284"/>
                  </a:lnTo>
                  <a:lnTo>
                    <a:pt x="89" y="291"/>
                  </a:lnTo>
                  <a:lnTo>
                    <a:pt x="82" y="296"/>
                  </a:lnTo>
                  <a:lnTo>
                    <a:pt x="80" y="303"/>
                  </a:lnTo>
                  <a:lnTo>
                    <a:pt x="80" y="311"/>
                  </a:lnTo>
                  <a:lnTo>
                    <a:pt x="75" y="318"/>
                  </a:lnTo>
                  <a:lnTo>
                    <a:pt x="70" y="325"/>
                  </a:lnTo>
                  <a:lnTo>
                    <a:pt x="65" y="333"/>
                  </a:lnTo>
                  <a:lnTo>
                    <a:pt x="60" y="340"/>
                  </a:lnTo>
                  <a:lnTo>
                    <a:pt x="58" y="347"/>
                  </a:lnTo>
                  <a:lnTo>
                    <a:pt x="53" y="354"/>
                  </a:lnTo>
                  <a:lnTo>
                    <a:pt x="46" y="359"/>
                  </a:lnTo>
                  <a:lnTo>
                    <a:pt x="41" y="367"/>
                  </a:lnTo>
                  <a:lnTo>
                    <a:pt x="34" y="371"/>
                  </a:lnTo>
                  <a:lnTo>
                    <a:pt x="27" y="376"/>
                  </a:lnTo>
                  <a:lnTo>
                    <a:pt x="22" y="384"/>
                  </a:lnTo>
                  <a:lnTo>
                    <a:pt x="17" y="391"/>
                  </a:lnTo>
                  <a:lnTo>
                    <a:pt x="10" y="396"/>
                  </a:lnTo>
                  <a:lnTo>
                    <a:pt x="2" y="403"/>
                  </a:lnTo>
                </a:path>
              </a:pathLst>
            </a:custGeom>
            <a:solidFill>
              <a:schemeClr val="dk1"/>
            </a:solidFill>
            <a:ln cap="rnd" cmpd="sng" w="508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Wide upward diagonal" id="492" name="Google Shape;492;p34"/>
            <p:cNvSpPr/>
            <p:nvPr/>
          </p:nvSpPr>
          <p:spPr>
            <a:xfrm>
              <a:off x="3462" y="3266"/>
              <a:ext cx="117" cy="407"/>
            </a:xfrm>
            <a:custGeom>
              <a:rect b="b" l="l" r="r" t="t"/>
              <a:pathLst>
                <a:path extrusionOk="0" h="407" w="117">
                  <a:moveTo>
                    <a:pt x="99" y="0"/>
                  </a:moveTo>
                  <a:lnTo>
                    <a:pt x="94" y="7"/>
                  </a:lnTo>
                  <a:lnTo>
                    <a:pt x="87" y="12"/>
                  </a:lnTo>
                  <a:lnTo>
                    <a:pt x="85" y="19"/>
                  </a:lnTo>
                  <a:lnTo>
                    <a:pt x="77" y="22"/>
                  </a:lnTo>
                  <a:lnTo>
                    <a:pt x="73" y="29"/>
                  </a:lnTo>
                  <a:lnTo>
                    <a:pt x="65" y="34"/>
                  </a:lnTo>
                  <a:lnTo>
                    <a:pt x="63" y="41"/>
                  </a:lnTo>
                  <a:lnTo>
                    <a:pt x="58" y="49"/>
                  </a:lnTo>
                  <a:lnTo>
                    <a:pt x="51" y="56"/>
                  </a:lnTo>
                  <a:lnTo>
                    <a:pt x="46" y="63"/>
                  </a:lnTo>
                  <a:lnTo>
                    <a:pt x="39" y="68"/>
                  </a:lnTo>
                  <a:lnTo>
                    <a:pt x="34" y="75"/>
                  </a:lnTo>
                  <a:lnTo>
                    <a:pt x="31" y="83"/>
                  </a:lnTo>
                  <a:lnTo>
                    <a:pt x="27" y="90"/>
                  </a:lnTo>
                  <a:lnTo>
                    <a:pt x="24" y="97"/>
                  </a:lnTo>
                  <a:lnTo>
                    <a:pt x="22" y="105"/>
                  </a:lnTo>
                  <a:lnTo>
                    <a:pt x="19" y="112"/>
                  </a:lnTo>
                  <a:lnTo>
                    <a:pt x="17" y="119"/>
                  </a:lnTo>
                  <a:lnTo>
                    <a:pt x="12" y="126"/>
                  </a:lnTo>
                  <a:lnTo>
                    <a:pt x="10" y="134"/>
                  </a:lnTo>
                  <a:lnTo>
                    <a:pt x="7" y="141"/>
                  </a:lnTo>
                  <a:lnTo>
                    <a:pt x="7" y="148"/>
                  </a:lnTo>
                  <a:lnTo>
                    <a:pt x="7" y="156"/>
                  </a:lnTo>
                  <a:lnTo>
                    <a:pt x="5" y="163"/>
                  </a:lnTo>
                  <a:lnTo>
                    <a:pt x="2" y="170"/>
                  </a:lnTo>
                  <a:lnTo>
                    <a:pt x="2" y="177"/>
                  </a:lnTo>
                  <a:lnTo>
                    <a:pt x="0" y="185"/>
                  </a:lnTo>
                  <a:lnTo>
                    <a:pt x="0" y="192"/>
                  </a:lnTo>
                  <a:lnTo>
                    <a:pt x="0" y="199"/>
                  </a:lnTo>
                  <a:lnTo>
                    <a:pt x="0" y="207"/>
                  </a:lnTo>
                  <a:lnTo>
                    <a:pt x="0" y="214"/>
                  </a:lnTo>
                  <a:lnTo>
                    <a:pt x="0" y="221"/>
                  </a:lnTo>
                  <a:lnTo>
                    <a:pt x="0" y="229"/>
                  </a:lnTo>
                  <a:lnTo>
                    <a:pt x="0" y="236"/>
                  </a:lnTo>
                  <a:lnTo>
                    <a:pt x="2" y="243"/>
                  </a:lnTo>
                  <a:lnTo>
                    <a:pt x="5" y="250"/>
                  </a:lnTo>
                  <a:lnTo>
                    <a:pt x="7" y="258"/>
                  </a:lnTo>
                  <a:lnTo>
                    <a:pt x="10" y="265"/>
                  </a:lnTo>
                  <a:lnTo>
                    <a:pt x="10" y="272"/>
                  </a:lnTo>
                  <a:lnTo>
                    <a:pt x="12" y="280"/>
                  </a:lnTo>
                  <a:lnTo>
                    <a:pt x="15" y="287"/>
                  </a:lnTo>
                  <a:lnTo>
                    <a:pt x="17" y="294"/>
                  </a:lnTo>
                  <a:lnTo>
                    <a:pt x="22" y="301"/>
                  </a:lnTo>
                  <a:lnTo>
                    <a:pt x="24" y="309"/>
                  </a:lnTo>
                  <a:lnTo>
                    <a:pt x="29" y="316"/>
                  </a:lnTo>
                  <a:lnTo>
                    <a:pt x="34" y="323"/>
                  </a:lnTo>
                  <a:lnTo>
                    <a:pt x="39" y="331"/>
                  </a:lnTo>
                  <a:lnTo>
                    <a:pt x="44" y="338"/>
                  </a:lnTo>
                  <a:lnTo>
                    <a:pt x="48" y="345"/>
                  </a:lnTo>
                  <a:lnTo>
                    <a:pt x="53" y="353"/>
                  </a:lnTo>
                  <a:lnTo>
                    <a:pt x="58" y="360"/>
                  </a:lnTo>
                  <a:lnTo>
                    <a:pt x="63" y="367"/>
                  </a:lnTo>
                  <a:lnTo>
                    <a:pt x="70" y="372"/>
                  </a:lnTo>
                  <a:lnTo>
                    <a:pt x="75" y="379"/>
                  </a:lnTo>
                  <a:lnTo>
                    <a:pt x="80" y="387"/>
                  </a:lnTo>
                  <a:lnTo>
                    <a:pt x="87" y="391"/>
                  </a:lnTo>
                  <a:lnTo>
                    <a:pt x="94" y="396"/>
                  </a:lnTo>
                  <a:lnTo>
                    <a:pt x="102" y="399"/>
                  </a:lnTo>
                  <a:lnTo>
                    <a:pt x="109" y="401"/>
                  </a:lnTo>
                  <a:lnTo>
                    <a:pt x="116" y="406"/>
                  </a:lnTo>
                </a:path>
              </a:pathLst>
            </a:custGeom>
            <a:solidFill>
              <a:schemeClr val="dk1"/>
            </a:solidFill>
            <a:ln cap="rnd" cmpd="sng" w="50800">
              <a:solidFill>
                <a:schemeClr val="folHlink"/>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3" name="Google Shape;493;p34"/>
          <p:cNvGrpSpPr/>
          <p:nvPr/>
        </p:nvGrpSpPr>
        <p:grpSpPr>
          <a:xfrm>
            <a:off x="8757857" y="4733003"/>
            <a:ext cx="908050" cy="812800"/>
            <a:chOff x="4590" y="3221"/>
            <a:chExt cx="572" cy="512"/>
          </a:xfrm>
        </p:grpSpPr>
        <p:sp>
          <p:nvSpPr>
            <p:cNvPr id="494" name="Google Shape;494;p34"/>
            <p:cNvSpPr/>
            <p:nvPr/>
          </p:nvSpPr>
          <p:spPr>
            <a:xfrm>
              <a:off x="4594" y="3221"/>
              <a:ext cx="568" cy="512"/>
            </a:xfrm>
            <a:prstGeom prst="ellipse">
              <a:avLst/>
            </a:prstGeom>
            <a:solidFill>
              <a:schemeClr val="dk1"/>
            </a:solidFill>
            <a:ln cap="flat" cmpd="sng" w="50800">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495" name="Google Shape;495;p34"/>
            <p:cNvSpPr/>
            <p:nvPr/>
          </p:nvSpPr>
          <p:spPr>
            <a:xfrm>
              <a:off x="4839" y="3313"/>
              <a:ext cx="276"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folHlink"/>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p:txBody>
        </p:sp>
        <p:grpSp>
          <p:nvGrpSpPr>
            <p:cNvPr id="496" name="Google Shape;496;p34"/>
            <p:cNvGrpSpPr/>
            <p:nvPr/>
          </p:nvGrpSpPr>
          <p:grpSpPr>
            <a:xfrm>
              <a:off x="4590" y="3278"/>
              <a:ext cx="192" cy="414"/>
              <a:chOff x="4590" y="3278"/>
              <a:chExt cx="192" cy="414"/>
            </a:xfrm>
          </p:grpSpPr>
          <p:sp>
            <p:nvSpPr>
              <p:cNvPr descr="Wide upward diagonal" id="497" name="Google Shape;497;p34"/>
              <p:cNvSpPr/>
              <p:nvPr/>
            </p:nvSpPr>
            <p:spPr>
              <a:xfrm>
                <a:off x="4677" y="3288"/>
                <a:ext cx="105" cy="404"/>
              </a:xfrm>
              <a:custGeom>
                <a:rect b="b" l="l" r="r" t="t"/>
                <a:pathLst>
                  <a:path extrusionOk="0" h="404" w="105">
                    <a:moveTo>
                      <a:pt x="0" y="0"/>
                    </a:moveTo>
                    <a:lnTo>
                      <a:pt x="7" y="5"/>
                    </a:lnTo>
                    <a:lnTo>
                      <a:pt x="15" y="10"/>
                    </a:lnTo>
                    <a:lnTo>
                      <a:pt x="22" y="17"/>
                    </a:lnTo>
                    <a:lnTo>
                      <a:pt x="27" y="24"/>
                    </a:lnTo>
                    <a:lnTo>
                      <a:pt x="34" y="29"/>
                    </a:lnTo>
                    <a:lnTo>
                      <a:pt x="36" y="36"/>
                    </a:lnTo>
                    <a:lnTo>
                      <a:pt x="44" y="39"/>
                    </a:lnTo>
                    <a:lnTo>
                      <a:pt x="48" y="46"/>
                    </a:lnTo>
                    <a:lnTo>
                      <a:pt x="56" y="51"/>
                    </a:lnTo>
                    <a:lnTo>
                      <a:pt x="60" y="58"/>
                    </a:lnTo>
                    <a:lnTo>
                      <a:pt x="65" y="66"/>
                    </a:lnTo>
                    <a:lnTo>
                      <a:pt x="70" y="73"/>
                    </a:lnTo>
                    <a:lnTo>
                      <a:pt x="73" y="80"/>
                    </a:lnTo>
                    <a:lnTo>
                      <a:pt x="75" y="87"/>
                    </a:lnTo>
                    <a:lnTo>
                      <a:pt x="80" y="95"/>
                    </a:lnTo>
                    <a:lnTo>
                      <a:pt x="85" y="102"/>
                    </a:lnTo>
                    <a:lnTo>
                      <a:pt x="87" y="109"/>
                    </a:lnTo>
                    <a:lnTo>
                      <a:pt x="89" y="117"/>
                    </a:lnTo>
                    <a:lnTo>
                      <a:pt x="94" y="124"/>
                    </a:lnTo>
                    <a:lnTo>
                      <a:pt x="97" y="131"/>
                    </a:lnTo>
                    <a:lnTo>
                      <a:pt x="99" y="138"/>
                    </a:lnTo>
                    <a:lnTo>
                      <a:pt x="102" y="146"/>
                    </a:lnTo>
                    <a:lnTo>
                      <a:pt x="102" y="153"/>
                    </a:lnTo>
                    <a:lnTo>
                      <a:pt x="104" y="160"/>
                    </a:lnTo>
                    <a:lnTo>
                      <a:pt x="104" y="168"/>
                    </a:lnTo>
                    <a:lnTo>
                      <a:pt x="104" y="175"/>
                    </a:lnTo>
                    <a:lnTo>
                      <a:pt x="104" y="182"/>
                    </a:lnTo>
                    <a:lnTo>
                      <a:pt x="104" y="189"/>
                    </a:lnTo>
                    <a:lnTo>
                      <a:pt x="104" y="197"/>
                    </a:lnTo>
                    <a:lnTo>
                      <a:pt x="104" y="204"/>
                    </a:lnTo>
                    <a:lnTo>
                      <a:pt x="104" y="211"/>
                    </a:lnTo>
                    <a:lnTo>
                      <a:pt x="104" y="218"/>
                    </a:lnTo>
                    <a:lnTo>
                      <a:pt x="104" y="226"/>
                    </a:lnTo>
                    <a:lnTo>
                      <a:pt x="104" y="233"/>
                    </a:lnTo>
                    <a:lnTo>
                      <a:pt x="104" y="240"/>
                    </a:lnTo>
                    <a:lnTo>
                      <a:pt x="104" y="248"/>
                    </a:lnTo>
                    <a:lnTo>
                      <a:pt x="104" y="255"/>
                    </a:lnTo>
                    <a:lnTo>
                      <a:pt x="99" y="262"/>
                    </a:lnTo>
                    <a:lnTo>
                      <a:pt x="99" y="269"/>
                    </a:lnTo>
                    <a:lnTo>
                      <a:pt x="92" y="277"/>
                    </a:lnTo>
                    <a:lnTo>
                      <a:pt x="89" y="284"/>
                    </a:lnTo>
                    <a:lnTo>
                      <a:pt x="89" y="291"/>
                    </a:lnTo>
                    <a:lnTo>
                      <a:pt x="82" y="296"/>
                    </a:lnTo>
                    <a:lnTo>
                      <a:pt x="80" y="303"/>
                    </a:lnTo>
                    <a:lnTo>
                      <a:pt x="80" y="311"/>
                    </a:lnTo>
                    <a:lnTo>
                      <a:pt x="75" y="318"/>
                    </a:lnTo>
                    <a:lnTo>
                      <a:pt x="70" y="325"/>
                    </a:lnTo>
                    <a:lnTo>
                      <a:pt x="65" y="333"/>
                    </a:lnTo>
                    <a:lnTo>
                      <a:pt x="60" y="340"/>
                    </a:lnTo>
                    <a:lnTo>
                      <a:pt x="58" y="347"/>
                    </a:lnTo>
                    <a:lnTo>
                      <a:pt x="53" y="354"/>
                    </a:lnTo>
                    <a:lnTo>
                      <a:pt x="46" y="359"/>
                    </a:lnTo>
                    <a:lnTo>
                      <a:pt x="41" y="367"/>
                    </a:lnTo>
                    <a:lnTo>
                      <a:pt x="34" y="371"/>
                    </a:lnTo>
                    <a:lnTo>
                      <a:pt x="27" y="376"/>
                    </a:lnTo>
                    <a:lnTo>
                      <a:pt x="22" y="384"/>
                    </a:lnTo>
                    <a:lnTo>
                      <a:pt x="17" y="391"/>
                    </a:lnTo>
                    <a:lnTo>
                      <a:pt x="10" y="396"/>
                    </a:lnTo>
                    <a:lnTo>
                      <a:pt x="2" y="403"/>
                    </a:lnTo>
                  </a:path>
                </a:pathLst>
              </a:custGeom>
              <a:solidFill>
                <a:schemeClr val="dk1"/>
              </a:solidFill>
              <a:ln cap="rnd" cmpd="sng" w="508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Wide upward diagonal" id="498" name="Google Shape;498;p34"/>
              <p:cNvSpPr/>
              <p:nvPr/>
            </p:nvSpPr>
            <p:spPr>
              <a:xfrm>
                <a:off x="4590" y="3278"/>
                <a:ext cx="117" cy="407"/>
              </a:xfrm>
              <a:custGeom>
                <a:rect b="b" l="l" r="r" t="t"/>
                <a:pathLst>
                  <a:path extrusionOk="0" h="407" w="117">
                    <a:moveTo>
                      <a:pt x="99" y="0"/>
                    </a:moveTo>
                    <a:lnTo>
                      <a:pt x="94" y="7"/>
                    </a:lnTo>
                    <a:lnTo>
                      <a:pt x="87" y="12"/>
                    </a:lnTo>
                    <a:lnTo>
                      <a:pt x="85" y="19"/>
                    </a:lnTo>
                    <a:lnTo>
                      <a:pt x="77" y="22"/>
                    </a:lnTo>
                    <a:lnTo>
                      <a:pt x="73" y="29"/>
                    </a:lnTo>
                    <a:lnTo>
                      <a:pt x="65" y="34"/>
                    </a:lnTo>
                    <a:lnTo>
                      <a:pt x="63" y="41"/>
                    </a:lnTo>
                    <a:lnTo>
                      <a:pt x="58" y="49"/>
                    </a:lnTo>
                    <a:lnTo>
                      <a:pt x="51" y="56"/>
                    </a:lnTo>
                    <a:lnTo>
                      <a:pt x="46" y="63"/>
                    </a:lnTo>
                    <a:lnTo>
                      <a:pt x="39" y="68"/>
                    </a:lnTo>
                    <a:lnTo>
                      <a:pt x="34" y="75"/>
                    </a:lnTo>
                    <a:lnTo>
                      <a:pt x="31" y="83"/>
                    </a:lnTo>
                    <a:lnTo>
                      <a:pt x="27" y="90"/>
                    </a:lnTo>
                    <a:lnTo>
                      <a:pt x="24" y="97"/>
                    </a:lnTo>
                    <a:lnTo>
                      <a:pt x="22" y="105"/>
                    </a:lnTo>
                    <a:lnTo>
                      <a:pt x="19" y="112"/>
                    </a:lnTo>
                    <a:lnTo>
                      <a:pt x="17" y="119"/>
                    </a:lnTo>
                    <a:lnTo>
                      <a:pt x="12" y="126"/>
                    </a:lnTo>
                    <a:lnTo>
                      <a:pt x="10" y="134"/>
                    </a:lnTo>
                    <a:lnTo>
                      <a:pt x="7" y="141"/>
                    </a:lnTo>
                    <a:lnTo>
                      <a:pt x="7" y="148"/>
                    </a:lnTo>
                    <a:lnTo>
                      <a:pt x="7" y="156"/>
                    </a:lnTo>
                    <a:lnTo>
                      <a:pt x="5" y="163"/>
                    </a:lnTo>
                    <a:lnTo>
                      <a:pt x="2" y="170"/>
                    </a:lnTo>
                    <a:lnTo>
                      <a:pt x="2" y="177"/>
                    </a:lnTo>
                    <a:lnTo>
                      <a:pt x="0" y="185"/>
                    </a:lnTo>
                    <a:lnTo>
                      <a:pt x="0" y="192"/>
                    </a:lnTo>
                    <a:lnTo>
                      <a:pt x="0" y="199"/>
                    </a:lnTo>
                    <a:lnTo>
                      <a:pt x="0" y="207"/>
                    </a:lnTo>
                    <a:lnTo>
                      <a:pt x="0" y="214"/>
                    </a:lnTo>
                    <a:lnTo>
                      <a:pt x="0" y="221"/>
                    </a:lnTo>
                    <a:lnTo>
                      <a:pt x="0" y="229"/>
                    </a:lnTo>
                    <a:lnTo>
                      <a:pt x="0" y="236"/>
                    </a:lnTo>
                    <a:lnTo>
                      <a:pt x="2" y="243"/>
                    </a:lnTo>
                    <a:lnTo>
                      <a:pt x="5" y="250"/>
                    </a:lnTo>
                    <a:lnTo>
                      <a:pt x="7" y="258"/>
                    </a:lnTo>
                    <a:lnTo>
                      <a:pt x="10" y="265"/>
                    </a:lnTo>
                    <a:lnTo>
                      <a:pt x="10" y="272"/>
                    </a:lnTo>
                    <a:lnTo>
                      <a:pt x="12" y="280"/>
                    </a:lnTo>
                    <a:lnTo>
                      <a:pt x="15" y="287"/>
                    </a:lnTo>
                    <a:lnTo>
                      <a:pt x="17" y="294"/>
                    </a:lnTo>
                    <a:lnTo>
                      <a:pt x="22" y="301"/>
                    </a:lnTo>
                    <a:lnTo>
                      <a:pt x="24" y="309"/>
                    </a:lnTo>
                    <a:lnTo>
                      <a:pt x="29" y="316"/>
                    </a:lnTo>
                    <a:lnTo>
                      <a:pt x="34" y="323"/>
                    </a:lnTo>
                    <a:lnTo>
                      <a:pt x="39" y="331"/>
                    </a:lnTo>
                    <a:lnTo>
                      <a:pt x="44" y="338"/>
                    </a:lnTo>
                    <a:lnTo>
                      <a:pt x="48" y="345"/>
                    </a:lnTo>
                    <a:lnTo>
                      <a:pt x="53" y="353"/>
                    </a:lnTo>
                    <a:lnTo>
                      <a:pt x="58" y="360"/>
                    </a:lnTo>
                    <a:lnTo>
                      <a:pt x="63" y="367"/>
                    </a:lnTo>
                    <a:lnTo>
                      <a:pt x="70" y="372"/>
                    </a:lnTo>
                    <a:lnTo>
                      <a:pt x="75" y="379"/>
                    </a:lnTo>
                    <a:lnTo>
                      <a:pt x="80" y="387"/>
                    </a:lnTo>
                    <a:lnTo>
                      <a:pt x="87" y="391"/>
                    </a:lnTo>
                    <a:lnTo>
                      <a:pt x="94" y="396"/>
                    </a:lnTo>
                    <a:lnTo>
                      <a:pt x="102" y="399"/>
                    </a:lnTo>
                    <a:lnTo>
                      <a:pt x="109" y="401"/>
                    </a:lnTo>
                    <a:lnTo>
                      <a:pt x="116" y="406"/>
                    </a:lnTo>
                  </a:path>
                </a:pathLst>
              </a:custGeom>
              <a:solidFill>
                <a:schemeClr val="dk1"/>
              </a:solidFill>
              <a:ln cap="rnd" cmpd="sng" w="50800">
                <a:solidFill>
                  <a:schemeClr val="folHlink"/>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grpSp>
        <p:nvGrpSpPr>
          <p:cNvPr id="499" name="Google Shape;499;p34"/>
          <p:cNvGrpSpPr/>
          <p:nvPr/>
        </p:nvGrpSpPr>
        <p:grpSpPr>
          <a:xfrm>
            <a:off x="1889278" y="4528215"/>
            <a:ext cx="1768475" cy="1257300"/>
            <a:chOff x="364" y="2984"/>
            <a:chExt cx="1114" cy="792"/>
          </a:xfrm>
        </p:grpSpPr>
        <p:sp>
          <p:nvSpPr>
            <p:cNvPr id="500" name="Google Shape;500;p34"/>
            <p:cNvSpPr/>
            <p:nvPr/>
          </p:nvSpPr>
          <p:spPr>
            <a:xfrm>
              <a:off x="364" y="2992"/>
              <a:ext cx="1114" cy="784"/>
            </a:xfrm>
            <a:prstGeom prst="rect">
              <a:avLst/>
            </a:prstGeom>
            <a:noFill/>
            <a:ln cap="flat" cmpd="sng" w="508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descr="Wide upward diagonal" id="501" name="Google Shape;501;p34"/>
            <p:cNvSpPr/>
            <p:nvPr/>
          </p:nvSpPr>
          <p:spPr>
            <a:xfrm>
              <a:off x="455" y="3225"/>
              <a:ext cx="562" cy="512"/>
            </a:xfrm>
            <a:prstGeom prst="ellipse">
              <a:avLst/>
            </a:prstGeom>
            <a:solidFill>
              <a:schemeClr val="dk1"/>
            </a:solidFill>
            <a:ln cap="flat" cmpd="sng" w="508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
          <p:nvSpPr>
            <p:cNvPr id="502" name="Google Shape;502;p34"/>
            <p:cNvSpPr/>
            <p:nvPr/>
          </p:nvSpPr>
          <p:spPr>
            <a:xfrm>
              <a:off x="602" y="2984"/>
              <a:ext cx="276" cy="325"/>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accent2"/>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p:txBody>
        </p:sp>
      </p:grpSp>
      <p:sp>
        <p:nvSpPr>
          <p:cNvPr id="503" name="Google Shape;503;p34"/>
          <p:cNvSpPr txBox="1"/>
          <p:nvPr/>
        </p:nvSpPr>
        <p:spPr>
          <a:xfrm>
            <a:off x="2105293" y="2643853"/>
            <a:ext cx="1236644" cy="40011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04" name="Google Shape;504;p34"/>
          <p:cNvSpPr txBox="1"/>
          <p:nvPr/>
        </p:nvSpPr>
        <p:spPr>
          <a:xfrm>
            <a:off x="4225489" y="2622305"/>
            <a:ext cx="1236644" cy="40011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05" name="Google Shape;505;p34"/>
          <p:cNvSpPr txBox="1"/>
          <p:nvPr/>
        </p:nvSpPr>
        <p:spPr>
          <a:xfrm>
            <a:off x="6219050" y="2622305"/>
            <a:ext cx="1557659" cy="40011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06" name="Google Shape;506;p34"/>
          <p:cNvSpPr txBox="1"/>
          <p:nvPr/>
        </p:nvSpPr>
        <p:spPr>
          <a:xfrm>
            <a:off x="8461003" y="2653083"/>
            <a:ext cx="1441431" cy="369332"/>
          </a:xfrm>
          <a:prstGeom prst="rect">
            <a:avLst/>
          </a:prstGeom>
          <a:blipFill rotWithShape="1">
            <a:blip r:embed="rId7">
              <a:alphaModFix/>
            </a:blip>
            <a:stretch>
              <a:fillRect b="-13111"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07" name="Google Shape;507;p34"/>
          <p:cNvSpPr/>
          <p:nvPr/>
        </p:nvSpPr>
        <p:spPr>
          <a:xfrm>
            <a:off x="7109799" y="4517717"/>
            <a:ext cx="438150" cy="515937"/>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folHlink"/>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p:txBody>
      </p:sp>
      <p:sp>
        <p:nvSpPr>
          <p:cNvPr id="508" name="Google Shape;508;p34"/>
          <p:cNvSpPr/>
          <p:nvPr/>
        </p:nvSpPr>
        <p:spPr>
          <a:xfrm>
            <a:off x="6530361" y="4518690"/>
            <a:ext cx="438150" cy="515938"/>
          </a:xfrm>
          <a:prstGeom prst="rect">
            <a:avLst/>
          </a:prstGeom>
          <a:noFill/>
          <a:ln>
            <a:noFill/>
          </a:ln>
        </p:spPr>
        <p:txBody>
          <a:bodyPr anchorCtr="0" anchor="t" bIns="44450" lIns="90475" spcFirstLastPara="1" rIns="90475" wrap="square" tIns="44450">
            <a:spAutoFit/>
          </a:bodyPr>
          <a:lstStyle/>
          <a:p>
            <a:pPr indent="0" lvl="0" marL="0" marR="0" rtl="0" algn="l">
              <a:lnSpc>
                <a:spcPct val="100000"/>
              </a:lnSpc>
              <a:spcBef>
                <a:spcPts val="0"/>
              </a:spcBef>
              <a:spcAft>
                <a:spcPts val="0"/>
              </a:spcAft>
              <a:buClr>
                <a:srgbClr val="000000"/>
              </a:buClr>
              <a:buSzPts val="1800"/>
              <a:buFont typeface="Arial"/>
              <a:buNone/>
            </a:pPr>
            <a:r>
              <a:rPr b="1" i="0" lang="es-ES" sz="1800" u="none" cap="none" strike="noStrike">
                <a:solidFill>
                  <a:schemeClr val="accent2"/>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p:txBody>
      </p:sp>
      <p:sp>
        <p:nvSpPr>
          <p:cNvPr id="509" name="Google Shape;509;p34"/>
          <p:cNvSpPr/>
          <p:nvPr/>
        </p:nvSpPr>
        <p:spPr>
          <a:xfrm>
            <a:off x="8287957" y="4515515"/>
            <a:ext cx="1787525" cy="1244600"/>
          </a:xfrm>
          <a:prstGeom prst="rect">
            <a:avLst/>
          </a:prstGeom>
          <a:noFill/>
          <a:ln cap="flat" cmpd="sng" w="50800">
            <a:solidFill>
              <a:schemeClr val="l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13" name="Shape 513"/>
        <p:cNvGrpSpPr/>
        <p:nvPr/>
      </p:nvGrpSpPr>
      <p:grpSpPr>
        <a:xfrm>
          <a:off x="0" y="0"/>
          <a:ext cx="0" cy="0"/>
          <a:chOff x="0" y="0"/>
          <a:chExt cx="0" cy="0"/>
        </a:xfrm>
      </p:grpSpPr>
      <p:sp>
        <p:nvSpPr>
          <p:cNvPr id="514" name="Google Shape;514;p35"/>
          <p:cNvSpPr/>
          <p:nvPr/>
        </p:nvSpPr>
        <p:spPr>
          <a:xfrm>
            <a:off x="-468281" y="2234739"/>
            <a:ext cx="11506572" cy="2541587"/>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5" name="Google Shape;515;p35"/>
          <p:cNvSpPr txBox="1"/>
          <p:nvPr/>
        </p:nvSpPr>
        <p:spPr>
          <a:xfrm>
            <a:off x="560439" y="1226677"/>
            <a:ext cx="10608986"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Probabilidad Condicional</a:t>
            </a:r>
            <a:endParaRPr b="0" i="0" sz="1400" u="none" cap="none" strike="noStrike">
              <a:solidFill>
                <a:srgbClr val="000000"/>
              </a:solidFill>
              <a:latin typeface="Arial"/>
              <a:ea typeface="Arial"/>
              <a:cs typeface="Arial"/>
              <a:sym typeface="Arial"/>
            </a:endParaRPr>
          </a:p>
        </p:txBody>
      </p:sp>
      <p:sp>
        <p:nvSpPr>
          <p:cNvPr id="516" name="Google Shape;516;p35"/>
          <p:cNvSpPr/>
          <p:nvPr/>
        </p:nvSpPr>
        <p:spPr>
          <a:xfrm>
            <a:off x="560439" y="2678486"/>
            <a:ext cx="10055679"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Se llama probabilidad de A condicionada a, o probabilidad de un suceso A sabiendo que se ha producido un suceso B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7" name="Google Shape;517;p35"/>
          <p:cNvSpPr txBox="1"/>
          <p:nvPr/>
        </p:nvSpPr>
        <p:spPr>
          <a:xfrm>
            <a:off x="3589432" y="3636561"/>
            <a:ext cx="3066066" cy="640816"/>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1" name="Shape 521"/>
        <p:cNvGrpSpPr/>
        <p:nvPr/>
      </p:nvGrpSpPr>
      <p:grpSpPr>
        <a:xfrm>
          <a:off x="0" y="0"/>
          <a:ext cx="0" cy="0"/>
          <a:chOff x="0" y="0"/>
          <a:chExt cx="0" cy="0"/>
        </a:xfrm>
      </p:grpSpPr>
      <p:sp>
        <p:nvSpPr>
          <p:cNvPr id="522" name="Google Shape;522;p36"/>
          <p:cNvSpPr txBox="1"/>
          <p:nvPr/>
        </p:nvSpPr>
        <p:spPr>
          <a:xfrm>
            <a:off x="616553" y="536182"/>
            <a:ext cx="10782300" cy="623145"/>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1</a:t>
            </a:r>
            <a:endParaRPr b="0" i="0" sz="1400" u="none" cap="none" strike="noStrike">
              <a:solidFill>
                <a:srgbClr val="000000"/>
              </a:solidFill>
              <a:latin typeface="Arial"/>
              <a:ea typeface="Arial"/>
              <a:cs typeface="Arial"/>
              <a:sym typeface="Arial"/>
            </a:endParaRPr>
          </a:p>
        </p:txBody>
      </p:sp>
      <p:sp>
        <p:nvSpPr>
          <p:cNvPr id="523" name="Google Shape;523;p36"/>
          <p:cNvSpPr/>
          <p:nvPr/>
        </p:nvSpPr>
        <p:spPr>
          <a:xfrm>
            <a:off x="616553" y="1281556"/>
            <a:ext cx="10958894" cy="4849762"/>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823471"/>
              </a:solidFill>
              <a:latin typeface="Calibri"/>
              <a:ea typeface="Calibri"/>
              <a:cs typeface="Calibri"/>
              <a:sym typeface="Calibri"/>
            </a:endParaRPr>
          </a:p>
        </p:txBody>
      </p:sp>
      <p:sp>
        <p:nvSpPr>
          <p:cNvPr id="524" name="Google Shape;524;p36"/>
          <p:cNvSpPr txBox="1"/>
          <p:nvPr/>
        </p:nvSpPr>
        <p:spPr>
          <a:xfrm>
            <a:off x="942942" y="1634212"/>
            <a:ext cx="9978501" cy="356478"/>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3F3F3F"/>
              </a:buClr>
              <a:buSzPts val="1800"/>
              <a:buFont typeface="Calibri"/>
              <a:buNone/>
            </a:pPr>
            <a:r>
              <a:rPr b="0" i="0" lang="es-ES" sz="1800" u="none" cap="none" strike="noStrike">
                <a:solidFill>
                  <a:srgbClr val="3F3F3F"/>
                </a:solidFill>
                <a:latin typeface="Calibri"/>
                <a:ea typeface="Calibri"/>
                <a:cs typeface="Calibri"/>
                <a:sym typeface="Calibri"/>
              </a:rPr>
              <a:t>¿Cuál es la probabilidad que una carta escogida al azar sea un AS, sabiendo que es roja?</a:t>
            </a:r>
            <a:endParaRPr b="0" i="0" sz="1400" u="none" cap="none" strike="noStrike">
              <a:solidFill>
                <a:srgbClr val="000000"/>
              </a:solidFill>
              <a:latin typeface="Arial"/>
              <a:ea typeface="Arial"/>
              <a:cs typeface="Arial"/>
              <a:sym typeface="Arial"/>
            </a:endParaRPr>
          </a:p>
        </p:txBody>
      </p:sp>
      <p:pic>
        <p:nvPicPr>
          <p:cNvPr id="525" name="Google Shape;525;p36"/>
          <p:cNvPicPr preferRelativeResize="0"/>
          <p:nvPr/>
        </p:nvPicPr>
        <p:blipFill rotWithShape="1">
          <a:blip r:embed="rId4">
            <a:alphaModFix/>
          </a:blip>
          <a:srcRect b="0" l="0" r="0" t="0"/>
          <a:stretch/>
        </p:blipFill>
        <p:spPr>
          <a:xfrm>
            <a:off x="3065167" y="2424491"/>
            <a:ext cx="5734050" cy="2190750"/>
          </a:xfrm>
          <a:prstGeom prst="rect">
            <a:avLst/>
          </a:prstGeom>
          <a:noFill/>
          <a:ln>
            <a:noFill/>
          </a:ln>
        </p:spPr>
      </p:pic>
      <p:sp>
        <p:nvSpPr>
          <p:cNvPr id="526" name="Google Shape;526;p36"/>
          <p:cNvSpPr txBox="1"/>
          <p:nvPr/>
        </p:nvSpPr>
        <p:spPr>
          <a:xfrm>
            <a:off x="2897430" y="5111449"/>
            <a:ext cx="6069523" cy="640816"/>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22"/>
                                        </p:tgtEl>
                                        <p:attrNameLst>
                                          <p:attrName>style.visibility</p:attrName>
                                        </p:attrNameLst>
                                      </p:cBhvr>
                                      <p:to>
                                        <p:strVal val="visible"/>
                                      </p:to>
                                    </p:set>
                                    <p:animEffect filter="fade" transition="in">
                                      <p:cBhvr>
                                        <p:cTn dur="500"/>
                                        <p:tgtEl>
                                          <p:spTgt spid="5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0" name="Shape 530"/>
        <p:cNvGrpSpPr/>
        <p:nvPr/>
      </p:nvGrpSpPr>
      <p:grpSpPr>
        <a:xfrm>
          <a:off x="0" y="0"/>
          <a:ext cx="0" cy="0"/>
          <a:chOff x="0" y="0"/>
          <a:chExt cx="0" cy="0"/>
        </a:xfrm>
      </p:grpSpPr>
      <p:sp>
        <p:nvSpPr>
          <p:cNvPr id="531" name="Google Shape;531;p37"/>
          <p:cNvSpPr/>
          <p:nvPr/>
        </p:nvSpPr>
        <p:spPr>
          <a:xfrm>
            <a:off x="938061" y="1248697"/>
            <a:ext cx="10133140" cy="4999703"/>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32" name="Google Shape;532;p37"/>
          <p:cNvSpPr txBox="1"/>
          <p:nvPr/>
        </p:nvSpPr>
        <p:spPr>
          <a:xfrm>
            <a:off x="1209368" y="1769254"/>
            <a:ext cx="9556955" cy="665313"/>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3F3F3F"/>
              </a:buClr>
              <a:buSzPts val="1800"/>
              <a:buFont typeface="Calibri"/>
              <a:buNone/>
            </a:pPr>
            <a:r>
              <a:rPr b="0" i="0" lang="es-ES" sz="1800" u="none" cap="none" strike="noStrike">
                <a:solidFill>
                  <a:srgbClr val="3F3F3F"/>
                </a:solidFill>
                <a:latin typeface="Calibri"/>
                <a:ea typeface="Calibri"/>
                <a:cs typeface="Calibri"/>
                <a:sym typeface="Calibri"/>
              </a:rPr>
              <a:t>¿Qué resultado arrojaría si te piden el cálculo al revés? Es decir, la probabilidad que sea roja, sabiendo que es un AS.</a:t>
            </a:r>
            <a:endParaRPr b="0" i="0" sz="1400" u="none" cap="none" strike="noStrike">
              <a:solidFill>
                <a:srgbClr val="000000"/>
              </a:solidFill>
              <a:latin typeface="Arial"/>
              <a:ea typeface="Arial"/>
              <a:cs typeface="Arial"/>
              <a:sym typeface="Arial"/>
            </a:endParaRPr>
          </a:p>
        </p:txBody>
      </p:sp>
      <p:pic>
        <p:nvPicPr>
          <p:cNvPr id="533" name="Google Shape;533;p37"/>
          <p:cNvPicPr preferRelativeResize="0"/>
          <p:nvPr/>
        </p:nvPicPr>
        <p:blipFill rotWithShape="1">
          <a:blip r:embed="rId4">
            <a:alphaModFix/>
          </a:blip>
          <a:srcRect b="0" l="0" r="0" t="0"/>
          <a:stretch/>
        </p:blipFill>
        <p:spPr>
          <a:xfrm>
            <a:off x="3049942" y="2728210"/>
            <a:ext cx="5734050" cy="2190750"/>
          </a:xfrm>
          <a:prstGeom prst="rect">
            <a:avLst/>
          </a:prstGeom>
          <a:noFill/>
          <a:ln>
            <a:noFill/>
          </a:ln>
        </p:spPr>
      </p:pic>
      <p:sp>
        <p:nvSpPr>
          <p:cNvPr id="534" name="Google Shape;534;p37"/>
          <p:cNvSpPr txBox="1"/>
          <p:nvPr/>
        </p:nvSpPr>
        <p:spPr>
          <a:xfrm>
            <a:off x="2864450" y="5512822"/>
            <a:ext cx="6069523" cy="307777"/>
          </a:xfrm>
          <a:prstGeom prst="rect">
            <a:avLst/>
          </a:prstGeom>
          <a:blipFill rotWithShape="1">
            <a:blip r:embed="rId5">
              <a:alphaModFix/>
            </a:blip>
            <a:stretch>
              <a:fillRect b="-31369"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35" name="Google Shape;535;p37"/>
          <p:cNvSpPr txBox="1"/>
          <p:nvPr/>
        </p:nvSpPr>
        <p:spPr>
          <a:xfrm>
            <a:off x="938060" y="333392"/>
            <a:ext cx="10369423"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2</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500"/>
                                        <p:tgtEl>
                                          <p:spTgt spid="5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9" name="Shape 539"/>
        <p:cNvGrpSpPr/>
        <p:nvPr/>
      </p:nvGrpSpPr>
      <p:grpSpPr>
        <a:xfrm>
          <a:off x="0" y="0"/>
          <a:ext cx="0" cy="0"/>
          <a:chOff x="0" y="0"/>
          <a:chExt cx="0" cy="0"/>
        </a:xfrm>
      </p:grpSpPr>
      <p:sp>
        <p:nvSpPr>
          <p:cNvPr id="540" name="Google Shape;540;p38"/>
          <p:cNvSpPr txBox="1"/>
          <p:nvPr/>
        </p:nvSpPr>
        <p:spPr>
          <a:xfrm>
            <a:off x="436432" y="713892"/>
            <a:ext cx="10782300"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Propiedades de la Probabilidad</a:t>
            </a:r>
            <a:endParaRPr b="0" i="0" sz="1400" u="none" cap="none" strike="noStrike">
              <a:solidFill>
                <a:srgbClr val="000000"/>
              </a:solidFill>
              <a:latin typeface="Arial"/>
              <a:ea typeface="Arial"/>
              <a:cs typeface="Arial"/>
              <a:sym typeface="Arial"/>
            </a:endParaRPr>
          </a:p>
        </p:txBody>
      </p:sp>
      <p:sp>
        <p:nvSpPr>
          <p:cNvPr id="541" name="Google Shape;541;p38"/>
          <p:cNvSpPr/>
          <p:nvPr/>
        </p:nvSpPr>
        <p:spPr>
          <a:xfrm>
            <a:off x="227225" y="1664383"/>
            <a:ext cx="11737550" cy="3593417"/>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http://ariadna.aprenderapensar.net/files/2012/07/examen-en-iguales-condiciones1-300x234.jpg" id="542" name="Google Shape;542;p38"/>
          <p:cNvPicPr preferRelativeResize="0"/>
          <p:nvPr/>
        </p:nvPicPr>
        <p:blipFill rotWithShape="1">
          <a:blip r:embed="rId4">
            <a:alphaModFix/>
          </a:blip>
          <a:srcRect b="0" l="0" r="0" t="0"/>
          <a:stretch/>
        </p:blipFill>
        <p:spPr>
          <a:xfrm>
            <a:off x="7864490" y="1963718"/>
            <a:ext cx="3757132" cy="2930563"/>
          </a:xfrm>
          <a:prstGeom prst="rect">
            <a:avLst/>
          </a:prstGeom>
          <a:noFill/>
          <a:ln>
            <a:noFill/>
          </a:ln>
        </p:spPr>
      </p:pic>
      <p:pic>
        <p:nvPicPr>
          <p:cNvPr id="543" name="Google Shape;543;p38"/>
          <p:cNvPicPr preferRelativeResize="0"/>
          <p:nvPr/>
        </p:nvPicPr>
        <p:blipFill rotWithShape="1">
          <a:blip r:embed="rId5">
            <a:alphaModFix/>
          </a:blip>
          <a:srcRect b="0" l="0" r="0" t="0"/>
          <a:stretch/>
        </p:blipFill>
        <p:spPr>
          <a:xfrm>
            <a:off x="436432" y="2467391"/>
            <a:ext cx="7077578" cy="2062465"/>
          </a:xfrm>
          <a:prstGeom prst="rect">
            <a:avLst/>
          </a:prstGeom>
          <a:noFill/>
          <a:ln>
            <a:noFill/>
          </a:ln>
        </p:spPr>
      </p:pic>
      <p:sp>
        <p:nvSpPr>
          <p:cNvPr id="544" name="Google Shape;544;p38"/>
          <p:cNvSpPr/>
          <p:nvPr/>
        </p:nvSpPr>
        <p:spPr>
          <a:xfrm>
            <a:off x="436432" y="2387232"/>
            <a:ext cx="3302501" cy="35898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500"/>
                                        <p:tgtEl>
                                          <p:spTgt spid="5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8" name="Shape 548"/>
        <p:cNvGrpSpPr/>
        <p:nvPr/>
      </p:nvGrpSpPr>
      <p:grpSpPr>
        <a:xfrm>
          <a:off x="0" y="0"/>
          <a:ext cx="0" cy="0"/>
          <a:chOff x="0" y="0"/>
          <a:chExt cx="0" cy="0"/>
        </a:xfrm>
      </p:grpSpPr>
      <p:sp>
        <p:nvSpPr>
          <p:cNvPr id="549" name="Google Shape;549;p39"/>
          <p:cNvSpPr/>
          <p:nvPr/>
        </p:nvSpPr>
        <p:spPr>
          <a:xfrm>
            <a:off x="-480075" y="2125667"/>
            <a:ext cx="6935829" cy="2406398"/>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0" name="Google Shape;550;p39"/>
          <p:cNvSpPr txBox="1"/>
          <p:nvPr/>
        </p:nvSpPr>
        <p:spPr>
          <a:xfrm>
            <a:off x="513882" y="1117605"/>
            <a:ext cx="10871872"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2</a:t>
            </a:r>
            <a:endParaRPr b="0" i="0" sz="1400" u="none" cap="none" strike="noStrike">
              <a:solidFill>
                <a:srgbClr val="000000"/>
              </a:solidFill>
              <a:latin typeface="Arial"/>
              <a:ea typeface="Arial"/>
              <a:cs typeface="Arial"/>
              <a:sym typeface="Arial"/>
            </a:endParaRPr>
          </a:p>
        </p:txBody>
      </p:sp>
      <p:sp>
        <p:nvSpPr>
          <p:cNvPr id="551" name="Google Shape;551;p39"/>
          <p:cNvSpPr/>
          <p:nvPr/>
        </p:nvSpPr>
        <p:spPr>
          <a:xfrm>
            <a:off x="6418386" y="1355623"/>
            <a:ext cx="5067300" cy="4081338"/>
          </a:xfrm>
          <a:prstGeom prst="roundRect">
            <a:avLst>
              <a:gd fmla="val 4466" name="adj"/>
            </a:avLst>
          </a:prstGeom>
          <a:solidFill>
            <a:schemeClr val="lt1"/>
          </a:solidFill>
          <a:ln cap="flat" cmpd="sng" w="28575">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aphicFrame>
        <p:nvGraphicFramePr>
          <p:cNvPr id="552" name="Google Shape;552;p39"/>
          <p:cNvGraphicFramePr/>
          <p:nvPr/>
        </p:nvGraphicFramePr>
        <p:xfrm>
          <a:off x="6616947" y="1607349"/>
          <a:ext cx="3000000" cy="3000000"/>
        </p:xfrm>
        <a:graphic>
          <a:graphicData uri="http://schemas.openxmlformats.org/drawingml/2006/table">
            <a:tbl>
              <a:tblPr>
                <a:noFill/>
                <a:tableStyleId>{87268AA3-6548-44A0-9A45-25D68D7798D8}</a:tableStyleId>
              </a:tblPr>
              <a:tblGrid>
                <a:gridCol w="842950"/>
                <a:gridCol w="876300"/>
                <a:gridCol w="1306525"/>
                <a:gridCol w="1460500"/>
              </a:tblGrid>
              <a:tr h="259150">
                <a:tc rowSpan="2">
                  <a:txBody>
                    <a:bodyPr/>
                    <a:lstStyle/>
                    <a:p>
                      <a:pPr indent="0" lvl="0" marL="0" marR="0" rtl="0" algn="just">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Color del pelo</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chemeClr val="lt1"/>
                        </a:buClr>
                        <a:buSzPts val="1100"/>
                        <a:buFont typeface="Arial"/>
                        <a:buNone/>
                      </a:pPr>
                      <a:r>
                        <a:rPr b="0" i="0" lang="es-ES" sz="1100" u="none" cap="none" strike="noStrike">
                          <a:solidFill>
                            <a:schemeClr val="lt1"/>
                          </a:solidFill>
                          <a:latin typeface="Arial"/>
                          <a:ea typeface="Arial"/>
                          <a:cs typeface="Arial"/>
                          <a:sym typeface="Arial"/>
                        </a:rPr>
                        <a:t>Color de los ojos</a:t>
                      </a:r>
                      <a:endParaRPr b="0" i="0" sz="1800" u="none" cap="none" strike="noStrike">
                        <a:solidFill>
                          <a:schemeClr val="lt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dk2"/>
                    </a:solidFill>
                  </a:tcPr>
                </a:tc>
                <a:tc hMerge="1"/>
                <a:tc hMerge="1"/>
              </a:tr>
              <a:tr h="259150">
                <a:tc vMerge="1"/>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Café</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Azul</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Otro</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9150">
                <a:tc>
                  <a:txBody>
                    <a:bodyPr/>
                    <a:lstStyle/>
                    <a:p>
                      <a:pPr indent="0" lvl="0" marL="0" marR="0" rtl="0" algn="just">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Negro</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70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30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20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9150">
                <a:tc>
                  <a:txBody>
                    <a:bodyPr/>
                    <a:lstStyle/>
                    <a:p>
                      <a:pPr indent="0" lvl="0" marL="0" marR="0" rtl="0" algn="just">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Rubio</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20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110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50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pic>
        <p:nvPicPr>
          <p:cNvPr descr="This Random Face Generator Gives Us The Glimpse of A Future Where We No ..." id="553" name="Google Shape;553;p39"/>
          <p:cNvPicPr preferRelativeResize="0"/>
          <p:nvPr/>
        </p:nvPicPr>
        <p:blipFill rotWithShape="1">
          <a:blip r:embed="rId4">
            <a:alphaModFix/>
          </a:blip>
          <a:srcRect b="0" l="0" r="0" t="0"/>
          <a:stretch/>
        </p:blipFill>
        <p:spPr>
          <a:xfrm>
            <a:off x="6616947" y="2977149"/>
            <a:ext cx="4486275" cy="2235661"/>
          </a:xfrm>
          <a:prstGeom prst="rect">
            <a:avLst/>
          </a:prstGeom>
          <a:noFill/>
          <a:ln>
            <a:noFill/>
          </a:ln>
        </p:spPr>
      </p:pic>
      <p:sp>
        <p:nvSpPr>
          <p:cNvPr id="554" name="Google Shape;554;p39"/>
          <p:cNvSpPr/>
          <p:nvPr/>
        </p:nvSpPr>
        <p:spPr>
          <a:xfrm>
            <a:off x="513882" y="2313203"/>
            <a:ext cx="5395306" cy="2031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Suponga que se estudia si el color del pelo está asociado al color de los ojos. Se analizaron 300 personas seleccionadas aleatoriamente con los siguientes resultados. Si se selecciona una de estas personas al azar, encuentre la probabilidad de que la persona tenga el pelo negro, dado que tiene los ojos café.</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500"/>
                                        <p:tgtEl>
                                          <p:spTgt spid="5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8" name="Shape 558"/>
        <p:cNvGrpSpPr/>
        <p:nvPr/>
      </p:nvGrpSpPr>
      <p:grpSpPr>
        <a:xfrm>
          <a:off x="0" y="0"/>
          <a:ext cx="0" cy="0"/>
          <a:chOff x="0" y="0"/>
          <a:chExt cx="0" cy="0"/>
        </a:xfrm>
      </p:grpSpPr>
      <p:sp>
        <p:nvSpPr>
          <p:cNvPr id="559" name="Google Shape;559;p40"/>
          <p:cNvSpPr txBox="1"/>
          <p:nvPr/>
        </p:nvSpPr>
        <p:spPr>
          <a:xfrm>
            <a:off x="1157248" y="491613"/>
            <a:ext cx="10457720" cy="68333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2</a:t>
            </a:r>
            <a:endParaRPr b="0" i="0" sz="1400" u="none" cap="none" strike="noStrike">
              <a:solidFill>
                <a:srgbClr val="000000"/>
              </a:solidFill>
              <a:latin typeface="Arial"/>
              <a:ea typeface="Arial"/>
              <a:cs typeface="Arial"/>
              <a:sym typeface="Arial"/>
            </a:endParaRPr>
          </a:p>
        </p:txBody>
      </p:sp>
      <p:sp>
        <p:nvSpPr>
          <p:cNvPr id="560" name="Google Shape;560;p40"/>
          <p:cNvSpPr/>
          <p:nvPr/>
        </p:nvSpPr>
        <p:spPr>
          <a:xfrm>
            <a:off x="1058926" y="1199536"/>
            <a:ext cx="10133140" cy="4994788"/>
          </a:xfrm>
          <a:prstGeom prst="roundRect">
            <a:avLst>
              <a:gd fmla="val 4466" name="adj"/>
            </a:avLst>
          </a:prstGeom>
          <a:solidFill>
            <a:schemeClr val="lt1"/>
          </a:solidFill>
          <a:ln cap="flat" cmpd="sng" w="38100">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61" name="Google Shape;561;p40"/>
          <p:cNvSpPr txBox="1"/>
          <p:nvPr/>
        </p:nvSpPr>
        <p:spPr>
          <a:xfrm>
            <a:off x="1460667" y="1335344"/>
            <a:ext cx="9650273"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rgbClr val="3F3F3F"/>
                </a:solidFill>
                <a:latin typeface="Calibri"/>
                <a:ea typeface="Calibri"/>
                <a:cs typeface="Calibri"/>
                <a:sym typeface="Calibri"/>
              </a:rPr>
              <a:t>Primero asignamos letras a los eventos y calculamos los </a:t>
            </a:r>
            <a:r>
              <a:rPr b="1" i="0" lang="es-ES" sz="1800" u="none" cap="none" strike="noStrike">
                <a:solidFill>
                  <a:srgbClr val="3F3F3F"/>
                </a:solidFill>
                <a:latin typeface="Calibri"/>
                <a:ea typeface="Calibri"/>
                <a:cs typeface="Calibri"/>
                <a:sym typeface="Calibri"/>
              </a:rPr>
              <a:t>totales</a:t>
            </a:r>
            <a:r>
              <a:rPr b="0" i="0" lang="es-ES" sz="1800" u="none" cap="none" strike="noStrike">
                <a:solidFill>
                  <a:srgbClr val="3F3F3F"/>
                </a:solidFill>
                <a:latin typeface="Calibri"/>
                <a:ea typeface="Calibri"/>
                <a:cs typeface="Calibri"/>
                <a:sym typeface="Calibri"/>
              </a:rPr>
              <a:t> de la tabla:</a:t>
            </a:r>
            <a:endParaRPr b="0" i="0" sz="1400" u="none" cap="none" strike="noStrike">
              <a:solidFill>
                <a:srgbClr val="000000"/>
              </a:solidFill>
              <a:latin typeface="Arial"/>
              <a:ea typeface="Arial"/>
              <a:cs typeface="Arial"/>
              <a:sym typeface="Arial"/>
            </a:endParaRPr>
          </a:p>
        </p:txBody>
      </p:sp>
      <p:graphicFrame>
        <p:nvGraphicFramePr>
          <p:cNvPr id="562" name="Google Shape;562;p40"/>
          <p:cNvGraphicFramePr/>
          <p:nvPr/>
        </p:nvGraphicFramePr>
        <p:xfrm>
          <a:off x="4154615" y="2006400"/>
          <a:ext cx="3000000" cy="3000000"/>
        </p:xfrm>
        <a:graphic>
          <a:graphicData uri="http://schemas.openxmlformats.org/drawingml/2006/table">
            <a:tbl>
              <a:tblPr>
                <a:noFill/>
                <a:tableStyleId>{87268AA3-6548-44A0-9A45-25D68D7798D8}</a:tableStyleId>
              </a:tblPr>
              <a:tblGrid>
                <a:gridCol w="842950"/>
                <a:gridCol w="669925"/>
                <a:gridCol w="809625"/>
                <a:gridCol w="809625"/>
                <a:gridCol w="809625"/>
              </a:tblGrid>
              <a:tr h="518150">
                <a:tc>
                  <a:txBody>
                    <a:bodyPr/>
                    <a:lstStyle/>
                    <a:p>
                      <a:pPr indent="0" lvl="0" marL="0" marR="0" rtl="0" algn="l">
                        <a:lnSpc>
                          <a:spcPct val="100000"/>
                        </a:lnSpc>
                        <a:spcBef>
                          <a:spcPts val="0"/>
                        </a:spcBef>
                        <a:spcAft>
                          <a:spcPts val="0"/>
                        </a:spcAft>
                        <a:buClr>
                          <a:schemeClr val="dk1"/>
                        </a:buClr>
                        <a:buSzPts val="2800"/>
                        <a:buFont typeface="Calibri"/>
                        <a:buNone/>
                      </a:pPr>
                      <a:r>
                        <a:t/>
                      </a:r>
                      <a:endParaRPr b="0" i="0" sz="2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i="0" lang="es-ES" sz="1100" u="none" cap="none" strike="noStrike">
                          <a:solidFill>
                            <a:schemeClr val="dk1"/>
                          </a:solidFill>
                          <a:latin typeface="Arial"/>
                          <a:ea typeface="Arial"/>
                          <a:cs typeface="Arial"/>
                          <a:sym typeface="Arial"/>
                        </a:rPr>
                        <a:t>C</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i="0" lang="es-ES" sz="1100" u="none" cap="none" strike="noStrike">
                          <a:solidFill>
                            <a:schemeClr val="dk1"/>
                          </a:solidFill>
                          <a:latin typeface="Arial"/>
                          <a:ea typeface="Arial"/>
                          <a:cs typeface="Arial"/>
                          <a:sym typeface="Arial"/>
                        </a:rPr>
                        <a:t>A</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i="0" lang="es-ES" sz="1100" u="none" cap="none" strike="noStrike">
                          <a:solidFill>
                            <a:schemeClr val="dk1"/>
                          </a:solidFill>
                          <a:latin typeface="Arial"/>
                          <a:ea typeface="Arial"/>
                          <a:cs typeface="Arial"/>
                          <a:sym typeface="Arial"/>
                        </a:rPr>
                        <a:t>O</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i="0" lang="es-ES" sz="1100" u="none" cap="none" strike="noStrike">
                          <a:solidFill>
                            <a:schemeClr val="dk1"/>
                          </a:solidFill>
                          <a:latin typeface="Arial"/>
                          <a:ea typeface="Arial"/>
                          <a:cs typeface="Arial"/>
                          <a:sym typeface="Arial"/>
                        </a:rPr>
                        <a:t>Total</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9075">
                <a:tc>
                  <a:txBody>
                    <a:bodyPr/>
                    <a:lstStyle/>
                    <a:p>
                      <a:pPr indent="0" lvl="0" marL="0" marR="0" rtl="0" algn="just">
                        <a:lnSpc>
                          <a:spcPct val="100000"/>
                        </a:lnSpc>
                        <a:spcBef>
                          <a:spcPts val="0"/>
                        </a:spcBef>
                        <a:spcAft>
                          <a:spcPts val="0"/>
                        </a:spcAft>
                        <a:buClr>
                          <a:schemeClr val="dk1"/>
                        </a:buClr>
                        <a:buSzPts val="1100"/>
                        <a:buFont typeface="Arial"/>
                        <a:buNone/>
                      </a:pPr>
                      <a:r>
                        <a:rPr b="1" i="0" lang="es-ES" sz="1100" u="none" cap="none" strike="noStrike">
                          <a:solidFill>
                            <a:schemeClr val="dk1"/>
                          </a:solidFill>
                          <a:latin typeface="Arial"/>
                          <a:ea typeface="Arial"/>
                          <a:cs typeface="Arial"/>
                          <a:sym typeface="Arial"/>
                        </a:rPr>
                        <a:t>N</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100"/>
                        <a:buFont typeface="Arial"/>
                        <a:buNone/>
                      </a:pPr>
                      <a:r>
                        <a:rPr b="0" i="0" lang="es-ES" sz="1100" u="none" cap="none" strike="noStrike">
                          <a:solidFill>
                            <a:srgbClr val="FF0000"/>
                          </a:solidFill>
                          <a:latin typeface="Arial"/>
                          <a:ea typeface="Arial"/>
                          <a:cs typeface="Arial"/>
                          <a:sym typeface="Arial"/>
                        </a:rPr>
                        <a:t>70</a:t>
                      </a:r>
                      <a:endParaRPr b="0" i="0" sz="1800" u="none" cap="none" strike="noStrike">
                        <a:solidFill>
                          <a:srgbClr val="FF0000"/>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30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20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i="0" lang="es-ES" sz="1100" u="none" cap="none" strike="noStrike">
                          <a:solidFill>
                            <a:schemeClr val="dk1"/>
                          </a:solidFill>
                          <a:latin typeface="Arial"/>
                          <a:ea typeface="Arial"/>
                          <a:cs typeface="Arial"/>
                          <a:sym typeface="Arial"/>
                        </a:rPr>
                        <a:t>120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9075">
                <a:tc>
                  <a:txBody>
                    <a:bodyPr/>
                    <a:lstStyle/>
                    <a:p>
                      <a:pPr indent="0" lvl="0" marL="0" marR="0" rtl="0" algn="just">
                        <a:lnSpc>
                          <a:spcPct val="100000"/>
                        </a:lnSpc>
                        <a:spcBef>
                          <a:spcPts val="0"/>
                        </a:spcBef>
                        <a:spcAft>
                          <a:spcPts val="0"/>
                        </a:spcAft>
                        <a:buClr>
                          <a:schemeClr val="dk1"/>
                        </a:buClr>
                        <a:buSzPts val="1100"/>
                        <a:buFont typeface="Arial"/>
                        <a:buNone/>
                      </a:pPr>
                      <a:r>
                        <a:rPr b="1" i="0" lang="es-ES" sz="1100" u="none" cap="none" strike="noStrike">
                          <a:solidFill>
                            <a:schemeClr val="dk1"/>
                          </a:solidFill>
                          <a:latin typeface="Arial"/>
                          <a:ea typeface="Arial"/>
                          <a:cs typeface="Arial"/>
                          <a:sym typeface="Arial"/>
                        </a:rPr>
                        <a:t>R</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20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110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0" i="0" lang="es-ES" sz="1100" u="none" cap="none" strike="noStrike">
                          <a:solidFill>
                            <a:schemeClr val="dk1"/>
                          </a:solidFill>
                          <a:latin typeface="Arial"/>
                          <a:ea typeface="Arial"/>
                          <a:cs typeface="Arial"/>
                          <a:sym typeface="Arial"/>
                        </a:rPr>
                        <a:t>50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i="0" lang="es-ES" sz="1100" u="none" cap="none" strike="noStrike">
                          <a:solidFill>
                            <a:schemeClr val="dk1"/>
                          </a:solidFill>
                          <a:latin typeface="Arial"/>
                          <a:ea typeface="Arial"/>
                          <a:cs typeface="Arial"/>
                          <a:sym typeface="Arial"/>
                        </a:rPr>
                        <a:t>180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9075">
                <a:tc>
                  <a:txBody>
                    <a:bodyPr/>
                    <a:lstStyle/>
                    <a:p>
                      <a:pPr indent="0" lvl="0" marL="0" marR="0" rtl="0" algn="just">
                        <a:lnSpc>
                          <a:spcPct val="100000"/>
                        </a:lnSpc>
                        <a:spcBef>
                          <a:spcPts val="0"/>
                        </a:spcBef>
                        <a:spcAft>
                          <a:spcPts val="0"/>
                        </a:spcAft>
                        <a:buClr>
                          <a:schemeClr val="dk1"/>
                        </a:buClr>
                        <a:buSzPts val="1100"/>
                        <a:buFont typeface="Arial"/>
                        <a:buNone/>
                      </a:pPr>
                      <a:r>
                        <a:rPr b="1" i="0" lang="es-ES" sz="1100" u="none" cap="none" strike="noStrike">
                          <a:solidFill>
                            <a:schemeClr val="dk1"/>
                          </a:solidFill>
                          <a:latin typeface="Arial"/>
                          <a:ea typeface="Arial"/>
                          <a:cs typeface="Arial"/>
                          <a:sym typeface="Arial"/>
                        </a:rPr>
                        <a:t>Total</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0000"/>
                        </a:buClr>
                        <a:buSzPts val="1100"/>
                        <a:buFont typeface="Arial"/>
                        <a:buNone/>
                      </a:pPr>
                      <a:r>
                        <a:rPr b="1" i="0" lang="es-ES" sz="1100" u="none" cap="none" strike="noStrike">
                          <a:solidFill>
                            <a:srgbClr val="FF0000"/>
                          </a:solidFill>
                          <a:latin typeface="Arial"/>
                          <a:ea typeface="Arial"/>
                          <a:cs typeface="Arial"/>
                          <a:sym typeface="Arial"/>
                        </a:rPr>
                        <a:t>90</a:t>
                      </a:r>
                      <a:endParaRPr b="0" i="0" sz="1800" u="none" cap="none" strike="noStrike">
                        <a:solidFill>
                          <a:srgbClr val="FF0000"/>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i="0" lang="es-ES" sz="1100" u="none" cap="none" strike="noStrike">
                          <a:solidFill>
                            <a:schemeClr val="dk1"/>
                          </a:solidFill>
                          <a:latin typeface="Arial"/>
                          <a:ea typeface="Arial"/>
                          <a:cs typeface="Arial"/>
                          <a:sym typeface="Arial"/>
                        </a:rPr>
                        <a:t>140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i="0" lang="es-ES" sz="1100" u="none" cap="none" strike="noStrike">
                          <a:solidFill>
                            <a:schemeClr val="dk1"/>
                          </a:solidFill>
                          <a:latin typeface="Arial"/>
                          <a:ea typeface="Arial"/>
                          <a:cs typeface="Arial"/>
                          <a:sym typeface="Arial"/>
                        </a:rPr>
                        <a:t>70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i="0" lang="es-ES" sz="1100" u="none" cap="none" strike="noStrike">
                          <a:solidFill>
                            <a:schemeClr val="dk1"/>
                          </a:solidFill>
                          <a:latin typeface="Arial"/>
                          <a:ea typeface="Arial"/>
                          <a:cs typeface="Arial"/>
                          <a:sym typeface="Arial"/>
                        </a:rPr>
                        <a:t>300</a:t>
                      </a:r>
                      <a:endParaRPr b="0" i="0" sz="1800" u="none" cap="none" strike="noStrike">
                        <a:solidFill>
                          <a:schemeClr val="dk1"/>
                        </a:solidFill>
                        <a:latin typeface="Arial"/>
                        <a:ea typeface="Arial"/>
                        <a:cs typeface="Arial"/>
                        <a:sym typeface="Arial"/>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563" name="Google Shape;563;p40"/>
          <p:cNvSpPr txBox="1"/>
          <p:nvPr/>
        </p:nvSpPr>
        <p:spPr>
          <a:xfrm>
            <a:off x="2732356" y="3652878"/>
            <a:ext cx="6598281" cy="512704"/>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64" name="Google Shape;564;p40"/>
          <p:cNvSpPr txBox="1"/>
          <p:nvPr/>
        </p:nvSpPr>
        <p:spPr>
          <a:xfrm>
            <a:off x="4580015" y="4566229"/>
            <a:ext cx="3411575" cy="512704"/>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65" name="Google Shape;565;p40"/>
          <p:cNvSpPr/>
          <p:nvPr/>
        </p:nvSpPr>
        <p:spPr>
          <a:xfrm>
            <a:off x="1499329" y="5430011"/>
            <a:ext cx="9464867" cy="646331"/>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Calibri"/>
                <a:ea typeface="Calibri"/>
                <a:cs typeface="Calibri"/>
                <a:sym typeface="Calibri"/>
              </a:rPr>
              <a:t>Por lo tanto, hay un 78% de probabilidad de escoger a una persona que tenga el pelo negro, dado que tiene ojos café.</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500"/>
                                        <p:tgtEl>
                                          <p:spTgt spid="5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9" name="Shape 569"/>
        <p:cNvGrpSpPr/>
        <p:nvPr/>
      </p:nvGrpSpPr>
      <p:grpSpPr>
        <a:xfrm>
          <a:off x="0" y="0"/>
          <a:ext cx="0" cy="0"/>
          <a:chOff x="0" y="0"/>
          <a:chExt cx="0" cy="0"/>
        </a:xfrm>
      </p:grpSpPr>
      <p:sp>
        <p:nvSpPr>
          <p:cNvPr id="570" name="Google Shape;570;p41"/>
          <p:cNvSpPr txBox="1"/>
          <p:nvPr/>
        </p:nvSpPr>
        <p:spPr>
          <a:xfrm>
            <a:off x="1216027" y="716112"/>
            <a:ext cx="9797886"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3</a:t>
            </a:r>
            <a:endParaRPr b="0" i="0" sz="1400" u="none" cap="none" strike="noStrike">
              <a:solidFill>
                <a:srgbClr val="000000"/>
              </a:solidFill>
              <a:latin typeface="Arial"/>
              <a:ea typeface="Arial"/>
              <a:cs typeface="Arial"/>
              <a:sym typeface="Arial"/>
            </a:endParaRPr>
          </a:p>
        </p:txBody>
      </p:sp>
      <p:sp>
        <p:nvSpPr>
          <p:cNvPr id="571" name="Google Shape;571;p41"/>
          <p:cNvSpPr/>
          <p:nvPr/>
        </p:nvSpPr>
        <p:spPr>
          <a:xfrm>
            <a:off x="6880040" y="1784929"/>
            <a:ext cx="5093191" cy="3064883"/>
          </a:xfrm>
          <a:prstGeom prst="roundRect">
            <a:avLst>
              <a:gd fmla="val 4466" name="adj"/>
            </a:avLst>
          </a:prstGeom>
          <a:solidFill>
            <a:schemeClr val="lt1"/>
          </a:solidFill>
          <a:ln cap="flat" cmpd="sng" w="28575">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2" name="Google Shape;572;p41"/>
          <p:cNvSpPr/>
          <p:nvPr/>
        </p:nvSpPr>
        <p:spPr>
          <a:xfrm>
            <a:off x="163374" y="1592825"/>
            <a:ext cx="11906864" cy="3618271"/>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3" name="Google Shape;573;p41"/>
          <p:cNvSpPr/>
          <p:nvPr/>
        </p:nvSpPr>
        <p:spPr>
          <a:xfrm>
            <a:off x="1216027" y="2199957"/>
            <a:ext cx="5553399" cy="20313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Arial"/>
                <a:ea typeface="Arial"/>
                <a:cs typeface="Arial"/>
                <a:sym typeface="Arial"/>
              </a:rPr>
              <a:t>Imagina que se lanza un dado honesto de seis caras. Se definen los siguientes eventos: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Arial"/>
                <a:ea typeface="Arial"/>
                <a:cs typeface="Arial"/>
                <a:sym typeface="Arial"/>
              </a:rPr>
              <a:t>A: El puntaje obtenido es un número mayor que 2.</a:t>
            </a:r>
            <a:endParaRPr b="0" i="0" sz="1800" u="none" cap="none" strike="noStrike">
              <a:solidFill>
                <a:schemeClr val="lt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Arial"/>
                <a:ea typeface="Arial"/>
                <a:cs typeface="Arial"/>
                <a:sym typeface="Arial"/>
              </a:rPr>
              <a:t>B: El puntaje obtenido es un número menor que 5.</a:t>
            </a:r>
            <a:endParaRPr b="0" i="0" sz="1800" u="none" cap="none" strike="noStrike">
              <a:solidFill>
                <a:schemeClr val="lt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ES" sz="1800" u="none" cap="none" strike="noStrike">
                <a:solidFill>
                  <a:schemeClr val="lt1"/>
                </a:solidFill>
                <a:latin typeface="Arial"/>
                <a:ea typeface="Arial"/>
                <a:cs typeface="Arial"/>
                <a:sym typeface="Arial"/>
              </a:rPr>
              <a:t>Calcula la probabilidad de A dado que ha sucedido B.</a:t>
            </a:r>
            <a:endParaRPr b="0" i="0" sz="1400" u="none" cap="none" strike="noStrike">
              <a:solidFill>
                <a:srgbClr val="000000"/>
              </a:solidFill>
              <a:latin typeface="Arial"/>
              <a:ea typeface="Arial"/>
              <a:cs typeface="Arial"/>
              <a:sym typeface="Arial"/>
            </a:endParaRPr>
          </a:p>
        </p:txBody>
      </p:sp>
      <p:pic>
        <p:nvPicPr>
          <p:cNvPr descr="Rolling the Dice with your Life - Fin Tips Financial Services" id="574" name="Google Shape;574;p41"/>
          <p:cNvPicPr preferRelativeResize="0"/>
          <p:nvPr/>
        </p:nvPicPr>
        <p:blipFill rotWithShape="1">
          <a:blip r:embed="rId4">
            <a:alphaModFix/>
          </a:blip>
          <a:srcRect b="0" l="0" r="0" t="0"/>
          <a:stretch/>
        </p:blipFill>
        <p:spPr>
          <a:xfrm>
            <a:off x="7662377" y="1939278"/>
            <a:ext cx="3351536" cy="289225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500"/>
                                        <p:tgtEl>
                                          <p:spTgt spid="5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8" name="Shape 578"/>
        <p:cNvGrpSpPr/>
        <p:nvPr/>
      </p:nvGrpSpPr>
      <p:grpSpPr>
        <a:xfrm>
          <a:off x="0" y="0"/>
          <a:ext cx="0" cy="0"/>
          <a:chOff x="0" y="0"/>
          <a:chExt cx="0" cy="0"/>
        </a:xfrm>
      </p:grpSpPr>
      <p:sp>
        <p:nvSpPr>
          <p:cNvPr id="579" name="Google Shape;579;p42"/>
          <p:cNvSpPr txBox="1"/>
          <p:nvPr/>
        </p:nvSpPr>
        <p:spPr>
          <a:xfrm>
            <a:off x="1220503" y="333392"/>
            <a:ext cx="10782300"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3</a:t>
            </a:r>
            <a:endParaRPr b="0" i="0" sz="1400" u="none" cap="none" strike="noStrike">
              <a:solidFill>
                <a:srgbClr val="000000"/>
              </a:solidFill>
              <a:latin typeface="Arial"/>
              <a:ea typeface="Arial"/>
              <a:cs typeface="Arial"/>
              <a:sym typeface="Arial"/>
            </a:endParaRPr>
          </a:p>
        </p:txBody>
      </p:sp>
      <p:sp>
        <p:nvSpPr>
          <p:cNvPr id="580" name="Google Shape;580;p42"/>
          <p:cNvSpPr/>
          <p:nvPr/>
        </p:nvSpPr>
        <p:spPr>
          <a:xfrm>
            <a:off x="938061" y="1248697"/>
            <a:ext cx="10133140" cy="4999703"/>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1" name="Google Shape;581;p42"/>
          <p:cNvSpPr txBox="1"/>
          <p:nvPr/>
        </p:nvSpPr>
        <p:spPr>
          <a:xfrm>
            <a:off x="5035796" y="5240787"/>
            <a:ext cx="2120407" cy="461024"/>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82" name="Google Shape;582;p42"/>
          <p:cNvSpPr txBox="1"/>
          <p:nvPr/>
        </p:nvSpPr>
        <p:spPr>
          <a:xfrm>
            <a:off x="1220503" y="1578042"/>
            <a:ext cx="5664261" cy="1354217"/>
          </a:xfrm>
          <a:prstGeom prst="rect">
            <a:avLst/>
          </a:prstGeom>
          <a:blipFill rotWithShape="1">
            <a:blip r:embed="rId5">
              <a:alphaModFix/>
            </a:blip>
            <a:stretch>
              <a:fillRect b="-4503" l="-859" r="0" t="-27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83" name="Google Shape;583;p42"/>
          <p:cNvSpPr txBox="1"/>
          <p:nvPr/>
        </p:nvSpPr>
        <p:spPr>
          <a:xfrm>
            <a:off x="1220503" y="3305472"/>
            <a:ext cx="9049203" cy="646331"/>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Arial"/>
                <a:ea typeface="Arial"/>
                <a:cs typeface="Arial"/>
                <a:sym typeface="Arial"/>
              </a:rPr>
              <a:t>Recuerda que el evento A/B </a:t>
            </a:r>
            <a:r>
              <a:rPr b="0" i="0" lang="es-ES" sz="1800" u="none" cap="none" strike="noStrike">
                <a:solidFill>
                  <a:schemeClr val="lt1"/>
                </a:solidFill>
                <a:latin typeface="Calibri"/>
                <a:ea typeface="Calibri"/>
                <a:cs typeface="Calibri"/>
                <a:sym typeface="Calibri"/>
              </a:rPr>
              <a:t>corresponde</a:t>
            </a:r>
            <a:r>
              <a:rPr b="0" i="0" lang="es-ES" sz="1800" u="none" cap="none" strike="noStrike">
                <a:solidFill>
                  <a:schemeClr val="lt1"/>
                </a:solidFill>
                <a:latin typeface="Arial"/>
                <a:ea typeface="Arial"/>
                <a:cs typeface="Arial"/>
                <a:sym typeface="Arial"/>
              </a:rPr>
              <a:t> a los elementos de </a:t>
            </a:r>
            <a:r>
              <a:rPr b="1" i="0" lang="es-ES" sz="1800" u="none" cap="none" strike="noStrike">
                <a:solidFill>
                  <a:schemeClr val="lt1"/>
                </a:solidFill>
                <a:latin typeface="Arial"/>
                <a:ea typeface="Arial"/>
                <a:cs typeface="Arial"/>
                <a:sym typeface="Arial"/>
              </a:rPr>
              <a:t>A dado que ya se sabe que sucedió B.</a:t>
            </a:r>
            <a:endParaRPr b="0" i="0" sz="1400" u="none" cap="none" strike="noStrike">
              <a:solidFill>
                <a:srgbClr val="000000"/>
              </a:solidFill>
              <a:latin typeface="Arial"/>
              <a:ea typeface="Arial"/>
              <a:cs typeface="Arial"/>
              <a:sym typeface="Arial"/>
            </a:endParaRPr>
          </a:p>
        </p:txBody>
      </p:sp>
      <p:sp>
        <p:nvSpPr>
          <p:cNvPr id="584" name="Google Shape;584;p42"/>
          <p:cNvSpPr txBox="1"/>
          <p:nvPr/>
        </p:nvSpPr>
        <p:spPr>
          <a:xfrm>
            <a:off x="1220503" y="3970675"/>
            <a:ext cx="9676097"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Arial"/>
                <a:ea typeface="Arial"/>
                <a:cs typeface="Arial"/>
                <a:sym typeface="Arial"/>
              </a:rPr>
              <a:t>Por lo tanto, se tiene </a:t>
            </a:r>
            <a:r>
              <a:rPr b="0" i="0" lang="es-ES" sz="1800" u="none" cap="none" strike="noStrike">
                <a:solidFill>
                  <a:schemeClr val="lt1"/>
                </a:solidFill>
                <a:latin typeface="Calibri"/>
                <a:ea typeface="Calibri"/>
                <a:cs typeface="Calibri"/>
                <a:sym typeface="Calibri"/>
              </a:rPr>
              <a:t>A/B</a:t>
            </a:r>
            <a:r>
              <a:rPr b="0" i="0" lang="es-ES" sz="1800" u="none" cap="none" strike="noStrike">
                <a:solidFill>
                  <a:schemeClr val="lt1"/>
                </a:solidFill>
                <a:latin typeface="Arial"/>
                <a:ea typeface="Arial"/>
                <a:cs typeface="Arial"/>
                <a:sym typeface="Arial"/>
              </a:rPr>
              <a:t>={3,4}, ya que se ha ocurrido B, el espacio muestral se reduce a cuatro elementos, de los cuales dos pertenecen a 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Arial"/>
                <a:ea typeface="Arial"/>
                <a:cs typeface="Arial"/>
                <a:sym typeface="Arial"/>
              </a:rPr>
              <a:t>Por lo tanto,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500"/>
                                        <p:tgtEl>
                                          <p:spTgt spid="5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8" name="Shape 588"/>
        <p:cNvGrpSpPr/>
        <p:nvPr/>
      </p:nvGrpSpPr>
      <p:grpSpPr>
        <a:xfrm>
          <a:off x="0" y="0"/>
          <a:ext cx="0" cy="0"/>
          <a:chOff x="0" y="0"/>
          <a:chExt cx="0" cy="0"/>
        </a:xfrm>
      </p:grpSpPr>
      <p:sp>
        <p:nvSpPr>
          <p:cNvPr id="589" name="Google Shape;589;p43"/>
          <p:cNvSpPr txBox="1"/>
          <p:nvPr/>
        </p:nvSpPr>
        <p:spPr>
          <a:xfrm>
            <a:off x="2379430" y="581485"/>
            <a:ext cx="3646844" cy="1008062"/>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Ejemplo 3</a:t>
            </a:r>
            <a:endParaRPr b="0" i="0" sz="1400" u="none" cap="none" strike="noStrike">
              <a:solidFill>
                <a:srgbClr val="000000"/>
              </a:solidFill>
              <a:latin typeface="Arial"/>
              <a:ea typeface="Arial"/>
              <a:cs typeface="Arial"/>
              <a:sym typeface="Arial"/>
            </a:endParaRPr>
          </a:p>
        </p:txBody>
      </p:sp>
      <p:sp>
        <p:nvSpPr>
          <p:cNvPr id="590" name="Google Shape;590;p43"/>
          <p:cNvSpPr/>
          <p:nvPr/>
        </p:nvSpPr>
        <p:spPr>
          <a:xfrm>
            <a:off x="2252511" y="1436914"/>
            <a:ext cx="7120089" cy="4811486"/>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1" name="Google Shape;591;p43"/>
          <p:cNvSpPr txBox="1"/>
          <p:nvPr/>
        </p:nvSpPr>
        <p:spPr>
          <a:xfrm>
            <a:off x="2979014" y="1987687"/>
            <a:ext cx="6094520"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Aplicando fórmulas:</a:t>
            </a:r>
            <a:endParaRPr b="0" i="0" sz="1400" u="none" cap="none" strike="noStrike">
              <a:solidFill>
                <a:srgbClr val="000000"/>
              </a:solidFill>
              <a:latin typeface="Arial"/>
              <a:ea typeface="Arial"/>
              <a:cs typeface="Arial"/>
              <a:sym typeface="Arial"/>
            </a:endParaRPr>
          </a:p>
        </p:txBody>
      </p:sp>
      <p:sp>
        <p:nvSpPr>
          <p:cNvPr id="592" name="Google Shape;592;p43"/>
          <p:cNvSpPr txBox="1"/>
          <p:nvPr/>
        </p:nvSpPr>
        <p:spPr>
          <a:xfrm>
            <a:off x="6820216" y="2568809"/>
            <a:ext cx="2068496" cy="61273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93" name="Google Shape;593;p43"/>
          <p:cNvSpPr txBox="1"/>
          <p:nvPr/>
        </p:nvSpPr>
        <p:spPr>
          <a:xfrm>
            <a:off x="3208677" y="2569835"/>
            <a:ext cx="1561406" cy="611706"/>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94" name="Google Shape;594;p43"/>
          <p:cNvSpPr txBox="1"/>
          <p:nvPr/>
        </p:nvSpPr>
        <p:spPr>
          <a:xfrm>
            <a:off x="5076896" y="2569835"/>
            <a:ext cx="1561406" cy="611706"/>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95" name="Google Shape;595;p43"/>
          <p:cNvSpPr txBox="1"/>
          <p:nvPr/>
        </p:nvSpPr>
        <p:spPr>
          <a:xfrm>
            <a:off x="3506825" y="4102391"/>
            <a:ext cx="2927212" cy="512704"/>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96" name="Google Shape;596;p43"/>
          <p:cNvSpPr txBox="1"/>
          <p:nvPr/>
        </p:nvSpPr>
        <p:spPr>
          <a:xfrm>
            <a:off x="2979014" y="3457300"/>
            <a:ext cx="6094520"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Por lo tanto,</a:t>
            </a:r>
            <a:endParaRPr b="0" i="0" sz="1400" u="none" cap="none" strike="noStrike">
              <a:solidFill>
                <a:srgbClr val="000000"/>
              </a:solidFill>
              <a:latin typeface="Arial"/>
              <a:ea typeface="Arial"/>
              <a:cs typeface="Arial"/>
              <a:sym typeface="Arial"/>
            </a:endParaRPr>
          </a:p>
        </p:txBody>
      </p:sp>
      <p:sp>
        <p:nvSpPr>
          <p:cNvPr id="597" name="Google Shape;597;p43"/>
          <p:cNvSpPr txBox="1"/>
          <p:nvPr/>
        </p:nvSpPr>
        <p:spPr>
          <a:xfrm>
            <a:off x="2979014" y="5232834"/>
            <a:ext cx="6094520" cy="36933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Con ambos métodos se llega al mismo resultado.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500"/>
                                        <p:tgtEl>
                                          <p:spTgt spid="5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1" name="Shape 601"/>
        <p:cNvGrpSpPr/>
        <p:nvPr/>
      </p:nvGrpSpPr>
      <p:grpSpPr>
        <a:xfrm>
          <a:off x="0" y="0"/>
          <a:ext cx="0" cy="0"/>
          <a:chOff x="0" y="0"/>
          <a:chExt cx="0" cy="0"/>
        </a:xfrm>
      </p:grpSpPr>
      <p:sp>
        <p:nvSpPr>
          <p:cNvPr id="602" name="Google Shape;602;p44"/>
          <p:cNvSpPr txBox="1"/>
          <p:nvPr/>
        </p:nvSpPr>
        <p:spPr>
          <a:xfrm>
            <a:off x="1182386" y="3416582"/>
            <a:ext cx="10782300" cy="752296"/>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chemeClr val="dk1"/>
              </a:buClr>
              <a:buSzPts val="3600"/>
              <a:buFont typeface="Calibri"/>
              <a:buNone/>
            </a:pPr>
            <a:r>
              <a:t/>
            </a:r>
            <a:endParaRPr b="0" i="0" sz="3600" u="none" cap="none" strike="noStrike">
              <a:solidFill>
                <a:srgbClr val="7F7F7F"/>
              </a:solidFill>
              <a:latin typeface="Arial"/>
              <a:ea typeface="Arial"/>
              <a:cs typeface="Arial"/>
              <a:sym typeface="Arial"/>
            </a:endParaRPr>
          </a:p>
          <a:p>
            <a:pPr indent="0" lvl="0" marL="0" marR="0" rtl="0" algn="just">
              <a:lnSpc>
                <a:spcPct val="90000"/>
              </a:lnSpc>
              <a:spcBef>
                <a:spcPts val="0"/>
              </a:spcBef>
              <a:spcAft>
                <a:spcPts val="0"/>
              </a:spcAft>
              <a:buClr>
                <a:srgbClr val="000000"/>
              </a:buClr>
              <a:buSzPts val="3600"/>
              <a:buFont typeface="Arial"/>
              <a:buNone/>
            </a:pPr>
            <a:r>
              <a:rPr b="0" i="0" lang="es-ES" sz="3600" u="none" cap="none" strike="noStrike">
                <a:solidFill>
                  <a:srgbClr val="7F7F7F"/>
                </a:solidFill>
                <a:latin typeface="Arial"/>
                <a:ea typeface="Arial"/>
                <a:cs typeface="Arial"/>
                <a:sym typeface="Arial"/>
              </a:rPr>
              <a:t>Árbol de Probabilidades</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0"/>
              </a:spcBef>
              <a:spcAft>
                <a:spcPts val="0"/>
              </a:spcAft>
              <a:buClr>
                <a:schemeClr val="dk1"/>
              </a:buClr>
              <a:buSzPts val="3600"/>
              <a:buFont typeface="Calibri"/>
              <a:buNone/>
            </a:pPr>
            <a:r>
              <a:t/>
            </a:r>
            <a:endParaRPr b="0" i="0" sz="3600" u="none" cap="none" strike="noStrike">
              <a:solidFill>
                <a:srgbClr val="7F7F7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500"/>
                                        <p:tgtEl>
                                          <p:spTgt spid="6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6" name="Shape 606"/>
        <p:cNvGrpSpPr/>
        <p:nvPr/>
      </p:nvGrpSpPr>
      <p:grpSpPr>
        <a:xfrm>
          <a:off x="0" y="0"/>
          <a:ext cx="0" cy="0"/>
          <a:chOff x="0" y="0"/>
          <a:chExt cx="0" cy="0"/>
        </a:xfrm>
      </p:grpSpPr>
      <p:sp>
        <p:nvSpPr>
          <p:cNvPr id="607" name="Google Shape;607;p45"/>
          <p:cNvSpPr/>
          <p:nvPr/>
        </p:nvSpPr>
        <p:spPr>
          <a:xfrm>
            <a:off x="452284" y="1625859"/>
            <a:ext cx="11376720" cy="4630992"/>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8" name="Google Shape;608;p45"/>
          <p:cNvSpPr txBox="1"/>
          <p:nvPr/>
        </p:nvSpPr>
        <p:spPr>
          <a:xfrm>
            <a:off x="651387" y="154458"/>
            <a:ext cx="10825200" cy="580500"/>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Árbol de Probabilidades</a:t>
            </a:r>
            <a:endParaRPr b="0" i="0" sz="1400" u="none" cap="none" strike="noStrike">
              <a:solidFill>
                <a:srgbClr val="000000"/>
              </a:solidFill>
              <a:latin typeface="Arial"/>
              <a:ea typeface="Arial"/>
              <a:cs typeface="Arial"/>
              <a:sym typeface="Arial"/>
            </a:endParaRPr>
          </a:p>
        </p:txBody>
      </p:sp>
      <p:sp>
        <p:nvSpPr>
          <p:cNvPr id="609" name="Google Shape;609;p45"/>
          <p:cNvSpPr/>
          <p:nvPr/>
        </p:nvSpPr>
        <p:spPr>
          <a:xfrm>
            <a:off x="804732" y="1760130"/>
            <a:ext cx="5093190" cy="4362450"/>
          </a:xfrm>
          <a:prstGeom prst="roundRect">
            <a:avLst>
              <a:gd fmla="val 4466" name="adj"/>
            </a:avLst>
          </a:prstGeom>
          <a:solidFill>
            <a:schemeClr val="lt1"/>
          </a:solidFill>
          <a:ln cap="flat" cmpd="sng" w="28575">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0" name="Google Shape;610;p45"/>
          <p:cNvSpPr/>
          <p:nvPr/>
        </p:nvSpPr>
        <p:spPr>
          <a:xfrm>
            <a:off x="6250369" y="2475800"/>
            <a:ext cx="5302398" cy="258532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Noto Sans Symbols"/>
              <a:buChar char="⮚"/>
            </a:pPr>
            <a:r>
              <a:rPr b="0" i="0" lang="es-ES" sz="1800" u="none" cap="none" strike="noStrike">
                <a:solidFill>
                  <a:schemeClr val="lt1"/>
                </a:solidFill>
                <a:latin typeface="Calibri"/>
                <a:ea typeface="Calibri"/>
                <a:cs typeface="Calibri"/>
                <a:sym typeface="Calibri"/>
              </a:rPr>
              <a:t>En una academia hay 3 aulas: el aula roja, el aula azul y el aula negra. </a:t>
            </a:r>
            <a:endParaRPr b="0" i="0" sz="1800" u="none" cap="none" strike="noStrike">
              <a:solidFill>
                <a:schemeClr val="lt1"/>
              </a:solidFill>
              <a:latin typeface="Calibri"/>
              <a:ea typeface="Calibri"/>
              <a:cs typeface="Calibri"/>
              <a:sym typeface="Calibri"/>
            </a:endParaRPr>
          </a:p>
          <a:p>
            <a:pPr indent="-171450" lvl="0" marL="285750" marR="0" rtl="0" algn="just">
              <a:lnSpc>
                <a:spcPct val="100000"/>
              </a:lnSpc>
              <a:spcBef>
                <a:spcPts val="0"/>
              </a:spcBef>
              <a:spcAft>
                <a:spcPts val="0"/>
              </a:spcAft>
              <a:buClr>
                <a:schemeClr val="dk1"/>
              </a:buClr>
              <a:buSzPts val="1800"/>
              <a:buFont typeface="Noto Sans Symbols"/>
              <a:buNone/>
            </a:pPr>
            <a:r>
              <a:t/>
            </a:r>
            <a:endParaRPr b="0" i="0" sz="1800" u="none" cap="none" strike="noStrike">
              <a:solidFill>
                <a:schemeClr val="lt1"/>
              </a:solidFill>
              <a:latin typeface="Calibri"/>
              <a:ea typeface="Calibri"/>
              <a:cs typeface="Calibri"/>
              <a:sym typeface="Calibri"/>
            </a:endParaRPr>
          </a:p>
          <a:p>
            <a:pPr indent="-285750" lvl="0" marL="28575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El aula roja tiene al 50 % de los estudiantes de la academia.</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El aula azul al 30 %.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El aula negra al 20 %.</a:t>
            </a:r>
            <a:endParaRPr b="0" i="0" sz="1400" u="none" cap="none" strike="noStrike">
              <a:solidFill>
                <a:srgbClr val="000000"/>
              </a:solidFill>
              <a:latin typeface="Arial"/>
              <a:ea typeface="Arial"/>
              <a:cs typeface="Arial"/>
              <a:sym typeface="Arial"/>
            </a:endParaRPr>
          </a:p>
          <a:p>
            <a:pPr indent="-285750" lvl="0" marL="285750" marR="0" rtl="0" algn="just">
              <a:lnSpc>
                <a:spcPct val="100000"/>
              </a:lnSpc>
              <a:spcBef>
                <a:spcPts val="0"/>
              </a:spcBef>
              <a:spcAft>
                <a:spcPts val="0"/>
              </a:spcAft>
              <a:buClr>
                <a:schemeClr val="lt1"/>
              </a:buClr>
              <a:buSzPts val="1800"/>
              <a:buFont typeface="Arial"/>
              <a:buChar char="•"/>
            </a:pPr>
            <a:r>
              <a:rPr b="0" i="0" lang="es-ES" sz="1800" u="none" cap="none" strike="noStrike">
                <a:solidFill>
                  <a:schemeClr val="lt1"/>
                </a:solidFill>
                <a:latin typeface="Calibri"/>
                <a:ea typeface="Calibri"/>
                <a:cs typeface="Calibri"/>
                <a:sym typeface="Calibri"/>
              </a:rPr>
              <a:t> Además, en cada aula hay un 40 % de hombres.</a:t>
            </a:r>
            <a:endParaRPr b="0" i="0" sz="1400" u="none" cap="none" strike="noStrike">
              <a:solidFill>
                <a:srgbClr val="000000"/>
              </a:solidFill>
              <a:latin typeface="Arial"/>
              <a:ea typeface="Arial"/>
              <a:cs typeface="Arial"/>
              <a:sym typeface="Arial"/>
            </a:endParaRPr>
          </a:p>
        </p:txBody>
      </p:sp>
      <p:grpSp>
        <p:nvGrpSpPr>
          <p:cNvPr id="611" name="Google Shape;611;p45"/>
          <p:cNvGrpSpPr/>
          <p:nvPr/>
        </p:nvGrpSpPr>
        <p:grpSpPr>
          <a:xfrm>
            <a:off x="1038663" y="1910065"/>
            <a:ext cx="4625327" cy="4058080"/>
            <a:chOff x="6147349" y="1893204"/>
            <a:chExt cx="4625327" cy="4058080"/>
          </a:xfrm>
        </p:grpSpPr>
        <p:pic>
          <p:nvPicPr>
            <p:cNvPr id="612" name="Google Shape;612;p45"/>
            <p:cNvPicPr preferRelativeResize="0"/>
            <p:nvPr/>
          </p:nvPicPr>
          <p:blipFill rotWithShape="1">
            <a:blip r:embed="rId4">
              <a:alphaModFix/>
            </a:blip>
            <a:srcRect b="0" l="0" r="0" t="0"/>
            <a:stretch/>
          </p:blipFill>
          <p:spPr>
            <a:xfrm>
              <a:off x="6481654" y="1893204"/>
              <a:ext cx="4291022" cy="3950677"/>
            </a:xfrm>
            <a:prstGeom prst="rect">
              <a:avLst/>
            </a:prstGeom>
            <a:noFill/>
            <a:ln>
              <a:noFill/>
            </a:ln>
          </p:spPr>
        </p:pic>
        <p:sp>
          <p:nvSpPr>
            <p:cNvPr id="613" name="Google Shape;613;p45"/>
            <p:cNvSpPr txBox="1"/>
            <p:nvPr/>
          </p:nvSpPr>
          <p:spPr>
            <a:xfrm>
              <a:off x="6147349" y="5382872"/>
              <a:ext cx="1125416" cy="568412"/>
            </a:xfrm>
            <a:prstGeom prst="rect">
              <a:avLst/>
            </a:prstGeom>
            <a:solidFill>
              <a:srgbClr val="FFFFFF"/>
            </a:solid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14" name="Google Shape;614;p45"/>
          <p:cNvSpPr/>
          <p:nvPr/>
        </p:nvSpPr>
        <p:spPr>
          <a:xfrm>
            <a:off x="452284" y="751427"/>
            <a:ext cx="11355476" cy="799856"/>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45"/>
          <p:cNvSpPr txBox="1"/>
          <p:nvPr/>
        </p:nvSpPr>
        <p:spPr>
          <a:xfrm>
            <a:off x="727587" y="822183"/>
            <a:ext cx="1069749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Los diagramas de árbol son muy útiles para el cálculo de probabilidades, sus ramas nos indican los distintos resultados al realizar experimentos sucesivos.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9" name="Shape 619"/>
        <p:cNvGrpSpPr/>
        <p:nvPr/>
      </p:nvGrpSpPr>
      <p:grpSpPr>
        <a:xfrm>
          <a:off x="0" y="0"/>
          <a:ext cx="0" cy="0"/>
          <a:chOff x="0" y="0"/>
          <a:chExt cx="0" cy="0"/>
        </a:xfrm>
      </p:grpSpPr>
      <p:sp>
        <p:nvSpPr>
          <p:cNvPr id="620" name="Google Shape;620;p46"/>
          <p:cNvSpPr txBox="1"/>
          <p:nvPr/>
        </p:nvSpPr>
        <p:spPr>
          <a:xfrm>
            <a:off x="169608" y="684404"/>
            <a:ext cx="10782300" cy="1008062"/>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Diagrama de Árbol</a:t>
            </a:r>
            <a:endParaRPr b="0" i="0" sz="1400" u="none" cap="none" strike="noStrike">
              <a:solidFill>
                <a:srgbClr val="000000"/>
              </a:solidFill>
              <a:latin typeface="Arial"/>
              <a:ea typeface="Arial"/>
              <a:cs typeface="Arial"/>
              <a:sym typeface="Arial"/>
            </a:endParaRPr>
          </a:p>
        </p:txBody>
      </p:sp>
      <p:sp>
        <p:nvSpPr>
          <p:cNvPr id="621" name="Google Shape;621;p46"/>
          <p:cNvSpPr/>
          <p:nvPr/>
        </p:nvSpPr>
        <p:spPr>
          <a:xfrm>
            <a:off x="3864079" y="873027"/>
            <a:ext cx="7892866" cy="5111946"/>
          </a:xfrm>
          <a:prstGeom prst="roundRect">
            <a:avLst>
              <a:gd fmla="val 4466" name="adj"/>
            </a:avLst>
          </a:prstGeom>
          <a:solidFill>
            <a:schemeClr val="lt1"/>
          </a:solidFill>
          <a:ln cap="flat" cmpd="sng" w="28575">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46"/>
          <p:cNvSpPr/>
          <p:nvPr/>
        </p:nvSpPr>
        <p:spPr>
          <a:xfrm>
            <a:off x="-567077" y="2028452"/>
            <a:ext cx="4396531" cy="2622112"/>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46"/>
          <p:cNvSpPr/>
          <p:nvPr/>
        </p:nvSpPr>
        <p:spPr>
          <a:xfrm>
            <a:off x="203493" y="2691989"/>
            <a:ext cx="3274035" cy="120028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Calibri"/>
                <a:ea typeface="Calibri"/>
                <a:cs typeface="Calibri"/>
                <a:sym typeface="Calibri"/>
              </a:rPr>
              <a:t>Ahora calculamos la probabilidad de que si se selecciona un estudiante al azar, este sea un hombre del aula azul.</a:t>
            </a:r>
            <a:r>
              <a:rPr b="0" i="0" lang="es-ES" sz="1800" u="none" cap="none" strike="noStrike">
                <a:solidFill>
                  <a:schemeClr val="lt1"/>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grpSp>
        <p:nvGrpSpPr>
          <p:cNvPr id="624" name="Google Shape;624;p46"/>
          <p:cNvGrpSpPr/>
          <p:nvPr/>
        </p:nvGrpSpPr>
        <p:grpSpPr>
          <a:xfrm>
            <a:off x="3946074" y="1303037"/>
            <a:ext cx="7720742" cy="4251925"/>
            <a:chOff x="2235629" y="1786498"/>
            <a:chExt cx="7720742" cy="4251925"/>
          </a:xfrm>
        </p:grpSpPr>
        <p:pic>
          <p:nvPicPr>
            <p:cNvPr id="625" name="Google Shape;625;p46"/>
            <p:cNvPicPr preferRelativeResize="0"/>
            <p:nvPr/>
          </p:nvPicPr>
          <p:blipFill rotWithShape="1">
            <a:blip r:embed="rId4">
              <a:alphaModFix/>
            </a:blip>
            <a:srcRect b="0" l="0" r="0" t="0"/>
            <a:stretch/>
          </p:blipFill>
          <p:spPr>
            <a:xfrm>
              <a:off x="2235629" y="1786498"/>
              <a:ext cx="7720742" cy="4137323"/>
            </a:xfrm>
            <a:prstGeom prst="rect">
              <a:avLst/>
            </a:prstGeom>
            <a:noFill/>
            <a:ln>
              <a:noFill/>
            </a:ln>
          </p:spPr>
        </p:pic>
        <p:sp>
          <p:nvSpPr>
            <p:cNvPr id="626" name="Google Shape;626;p46"/>
            <p:cNvSpPr txBox="1"/>
            <p:nvPr/>
          </p:nvSpPr>
          <p:spPr>
            <a:xfrm>
              <a:off x="2235629" y="5470011"/>
              <a:ext cx="953965" cy="568412"/>
            </a:xfrm>
            <a:prstGeom prst="rect">
              <a:avLst/>
            </a:prstGeom>
            <a:solidFill>
              <a:srgbClr val="FFFFFF"/>
            </a:solid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500"/>
                                        <p:tgtEl>
                                          <p:spTgt spid="6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0" name="Shape 630"/>
        <p:cNvGrpSpPr/>
        <p:nvPr/>
      </p:nvGrpSpPr>
      <p:grpSpPr>
        <a:xfrm>
          <a:off x="0" y="0"/>
          <a:ext cx="0" cy="0"/>
          <a:chOff x="0" y="0"/>
          <a:chExt cx="0" cy="0"/>
        </a:xfrm>
      </p:grpSpPr>
      <p:sp>
        <p:nvSpPr>
          <p:cNvPr id="631" name="Google Shape;631;p47"/>
          <p:cNvSpPr txBox="1"/>
          <p:nvPr/>
        </p:nvSpPr>
        <p:spPr>
          <a:xfrm>
            <a:off x="666750" y="347751"/>
            <a:ext cx="10551982" cy="498187"/>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rgbClr val="000000"/>
              </a:buClr>
              <a:buSzPts val="3200"/>
              <a:buFont typeface="Arial"/>
              <a:buNone/>
            </a:pPr>
            <a:r>
              <a:rPr b="0" i="0" lang="es-ES" sz="3200" u="none" cap="none" strike="noStrike">
                <a:solidFill>
                  <a:srgbClr val="7F7F7F"/>
                </a:solidFill>
                <a:latin typeface="Arial"/>
                <a:ea typeface="Arial"/>
                <a:cs typeface="Arial"/>
                <a:sym typeface="Arial"/>
              </a:rPr>
              <a:t>Diagrama de Árbol</a:t>
            </a:r>
            <a:endParaRPr b="0" i="0" sz="1400" u="none" cap="none" strike="noStrike">
              <a:solidFill>
                <a:srgbClr val="000000"/>
              </a:solidFill>
              <a:latin typeface="Arial"/>
              <a:ea typeface="Arial"/>
              <a:cs typeface="Arial"/>
              <a:sym typeface="Arial"/>
            </a:endParaRPr>
          </a:p>
        </p:txBody>
      </p:sp>
      <p:sp>
        <p:nvSpPr>
          <p:cNvPr id="632" name="Google Shape;632;p47"/>
          <p:cNvSpPr/>
          <p:nvPr/>
        </p:nvSpPr>
        <p:spPr>
          <a:xfrm>
            <a:off x="734392" y="2002536"/>
            <a:ext cx="10484340" cy="4336027"/>
          </a:xfrm>
          <a:prstGeom prst="roundRect">
            <a:avLst>
              <a:gd fmla="val 4466" name="adj"/>
            </a:avLst>
          </a:prstGeom>
          <a:solidFill>
            <a:schemeClr val="lt1"/>
          </a:solidFill>
          <a:ln cap="flat" cmpd="sng" w="28575">
            <a:solidFill>
              <a:srgbClr val="8234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3" name="Google Shape;633;p47"/>
          <p:cNvSpPr/>
          <p:nvPr/>
        </p:nvSpPr>
        <p:spPr>
          <a:xfrm>
            <a:off x="-270899" y="952286"/>
            <a:ext cx="12701024" cy="837555"/>
          </a:xfrm>
          <a:prstGeom prst="roundRect">
            <a:avLst>
              <a:gd fmla="val 4466" name="adj"/>
            </a:avLst>
          </a:prstGeom>
          <a:gradFill>
            <a:gsLst>
              <a:gs pos="0">
                <a:srgbClr val="4E1A42"/>
              </a:gs>
              <a:gs pos="50000">
                <a:srgbClr val="702660"/>
              </a:gs>
              <a:gs pos="100000">
                <a:srgbClr val="872E74"/>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4" name="Google Shape;634;p47"/>
          <p:cNvSpPr/>
          <p:nvPr/>
        </p:nvSpPr>
        <p:spPr>
          <a:xfrm>
            <a:off x="666750" y="1057516"/>
            <a:ext cx="10551982"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lt1"/>
                </a:solidFill>
                <a:latin typeface="Arial"/>
                <a:ea typeface="Arial"/>
                <a:cs typeface="Arial"/>
                <a:sym typeface="Arial"/>
              </a:rPr>
              <a:t>Si se selecciona un estudiante al azar, </a:t>
            </a:r>
            <a:r>
              <a:rPr b="1" i="0" lang="es-ES" sz="1800" u="none" cap="none" strike="noStrike">
                <a:solidFill>
                  <a:schemeClr val="lt1"/>
                </a:solidFill>
                <a:latin typeface="Arial"/>
                <a:ea typeface="Arial"/>
                <a:cs typeface="Arial"/>
                <a:sym typeface="Arial"/>
              </a:rPr>
              <a:t>¿cuál es la probabilidad de que sea un estudiante hombre del aula negra o un hombre del aula azul?</a:t>
            </a:r>
            <a:endParaRPr b="0" i="0" sz="1400" u="none" cap="none" strike="noStrike">
              <a:solidFill>
                <a:srgbClr val="000000"/>
              </a:solidFill>
              <a:latin typeface="Arial"/>
              <a:ea typeface="Arial"/>
              <a:cs typeface="Arial"/>
              <a:sym typeface="Arial"/>
            </a:endParaRPr>
          </a:p>
        </p:txBody>
      </p:sp>
      <p:grpSp>
        <p:nvGrpSpPr>
          <p:cNvPr id="635" name="Google Shape;635;p47"/>
          <p:cNvGrpSpPr/>
          <p:nvPr/>
        </p:nvGrpSpPr>
        <p:grpSpPr>
          <a:xfrm>
            <a:off x="1017431" y="2391529"/>
            <a:ext cx="7250881" cy="3933849"/>
            <a:chOff x="1386851" y="1834942"/>
            <a:chExt cx="7250881" cy="3933849"/>
          </a:xfrm>
        </p:grpSpPr>
        <p:pic>
          <p:nvPicPr>
            <p:cNvPr id="636" name="Google Shape;636;p47"/>
            <p:cNvPicPr preferRelativeResize="0"/>
            <p:nvPr/>
          </p:nvPicPr>
          <p:blipFill rotWithShape="1">
            <a:blip r:embed="rId4">
              <a:alphaModFix/>
            </a:blip>
            <a:srcRect b="0" l="0" r="0" t="0"/>
            <a:stretch/>
          </p:blipFill>
          <p:spPr>
            <a:xfrm>
              <a:off x="1472881" y="1834942"/>
              <a:ext cx="7164851" cy="3933849"/>
            </a:xfrm>
            <a:prstGeom prst="rect">
              <a:avLst/>
            </a:prstGeom>
            <a:noFill/>
            <a:ln>
              <a:noFill/>
            </a:ln>
          </p:spPr>
        </p:pic>
        <p:sp>
          <p:nvSpPr>
            <p:cNvPr id="637" name="Google Shape;637;p47"/>
            <p:cNvSpPr txBox="1"/>
            <p:nvPr/>
          </p:nvSpPr>
          <p:spPr>
            <a:xfrm>
              <a:off x="1386851" y="5199172"/>
              <a:ext cx="817563" cy="568412"/>
            </a:xfrm>
            <a:prstGeom prst="rect">
              <a:avLst/>
            </a:prstGeom>
            <a:solidFill>
              <a:srgbClr val="FFFFFF"/>
            </a:solid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638" name="Google Shape;638;p47"/>
          <p:cNvSpPr/>
          <p:nvPr/>
        </p:nvSpPr>
        <p:spPr>
          <a:xfrm>
            <a:off x="8409831" y="3524508"/>
            <a:ext cx="2667381" cy="1077218"/>
          </a:xfrm>
          <a:prstGeom prst="rect">
            <a:avLst/>
          </a:prstGeom>
          <a:solidFill>
            <a:srgbClr val="F2F2F2"/>
          </a:solidFill>
          <a:ln cap="flat" cmpd="sng" w="9525">
            <a:solidFill>
              <a:srgbClr val="D8D8D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600"/>
              <a:buFont typeface="Arial"/>
              <a:buNone/>
            </a:pPr>
            <a:r>
              <a:rPr b="0" i="0" lang="es-ES" sz="1600" u="none" cap="none" strike="noStrike">
                <a:solidFill>
                  <a:srgbClr val="7F7F7F"/>
                </a:solidFill>
                <a:latin typeface="Calibri"/>
                <a:ea typeface="Calibri"/>
                <a:cs typeface="Calibri"/>
                <a:sym typeface="Calibri"/>
              </a:rPr>
              <a:t>Recuerda que multiplicamos cuando avanzamos hacia la derecha y sumamos cuando avanzamos hacia abajo.</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500"/>
                                        <p:tgtEl>
                                          <p:spTgt spid="6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48"/>
          <p:cNvSpPr/>
          <p:nvPr/>
        </p:nvSpPr>
        <p:spPr>
          <a:xfrm>
            <a:off x="-749030" y="3132234"/>
            <a:ext cx="7964307" cy="894946"/>
          </a:xfrm>
          <a:prstGeom prst="roundRect">
            <a:avLst>
              <a:gd fmla="val 2778" name="adj"/>
            </a:avLst>
          </a:prstGeom>
          <a:gradFill>
            <a:gsLst>
              <a:gs pos="0">
                <a:srgbClr val="451539"/>
              </a:gs>
              <a:gs pos="50000">
                <a:srgbClr val="641F53"/>
              </a:gs>
              <a:gs pos="100000">
                <a:srgbClr val="782663"/>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644" name="Google Shape;644;p48"/>
          <p:cNvSpPr txBox="1"/>
          <p:nvPr/>
        </p:nvSpPr>
        <p:spPr>
          <a:xfrm>
            <a:off x="2768633" y="2835053"/>
            <a:ext cx="4446644" cy="1489308"/>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FFFF"/>
              </a:buClr>
              <a:buSzPts val="3600"/>
              <a:buFont typeface="Arial"/>
              <a:buNone/>
            </a:pPr>
            <a:r>
              <a:rPr b="0" i="0" lang="es-ES" sz="3600" u="none" cap="none" strike="noStrike">
                <a:solidFill>
                  <a:srgbClr val="FFFFFF"/>
                </a:solidFill>
                <a:latin typeface="Arial"/>
                <a:ea typeface="Arial"/>
                <a:cs typeface="Arial"/>
                <a:sym typeface="Arial"/>
              </a:rPr>
              <a:t>Dudas y consultas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500"/>
                                        <p:tgtEl>
                                          <p:spTgt spid="6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49"/>
          <p:cNvSpPr txBox="1"/>
          <p:nvPr/>
        </p:nvSpPr>
        <p:spPr>
          <a:xfrm>
            <a:off x="462603" y="2924969"/>
            <a:ext cx="10782300" cy="1008062"/>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3600"/>
              <a:buFont typeface="Arial"/>
              <a:buNone/>
            </a:pPr>
            <a:r>
              <a:rPr b="0" i="0" lang="es-ES" sz="3600" u="none" cap="none" strike="noStrike">
                <a:solidFill>
                  <a:srgbClr val="7F7F7F"/>
                </a:solidFill>
                <a:latin typeface="Arial"/>
                <a:ea typeface="Arial"/>
                <a:cs typeface="Arial"/>
                <a:sym typeface="Arial"/>
              </a:rPr>
              <a:t>Fin presentación</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500"/>
                                        <p:tgtEl>
                                          <p:spTgt spid="6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1_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2023-01-03T12:28:26Z</dcterms:created>
  <dc:creator>Kibernum</dc:creator>
</cp:coreProperties>
</file>