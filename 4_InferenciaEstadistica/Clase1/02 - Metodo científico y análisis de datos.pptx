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91" r:id="rId11"/>
    <p:sldId id="265" r:id="rId12"/>
    <p:sldId id="292" r:id="rId13"/>
    <p:sldId id="266" r:id="rId14"/>
    <p:sldId id="267" r:id="rId15"/>
    <p:sldId id="268" r:id="rId16"/>
    <p:sldId id="269" r:id="rId17"/>
    <p:sldId id="293" r:id="rId18"/>
    <p:sldId id="270" r:id="rId19"/>
    <p:sldId id="271" r:id="rId20"/>
    <p:sldId id="294"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lRwJGn1fs++2ACMQ/TKGA7Oko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DFB3"/>
    <a:srgbClr val="CC920D"/>
    <a:srgbClr val="EDE8C8"/>
    <a:srgbClr val="0E3D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904011-9338-CB65-7511-C600844502C2}" v="6" dt="2025-09-26T11:46:54.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customschemas.google.com/relationships/presentationmetadata" Target="meta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D7904011-9338-CB65-7511-C600844502C2}"/>
    <pc:docChg chg="modSld">
      <pc:chgData name="Soraya Salazar" userId="S::soraya.salazar@kibernumacademy.com::fdf00a5c-f577-43dc-8064-9968cad83607" providerId="AD" clId="Web-{D7904011-9338-CB65-7511-C600844502C2}" dt="2025-09-26T11:46:54.528" v="2" actId="20577"/>
      <pc:docMkLst>
        <pc:docMk/>
      </pc:docMkLst>
      <pc:sldChg chg="modSp">
        <pc:chgData name="Soraya Salazar" userId="S::soraya.salazar@kibernumacademy.com::fdf00a5c-f577-43dc-8064-9968cad83607" providerId="AD" clId="Web-{D7904011-9338-CB65-7511-C600844502C2}" dt="2025-09-26T11:46:54.528" v="2" actId="20577"/>
        <pc:sldMkLst>
          <pc:docMk/>
          <pc:sldMk cId="0" sldId="256"/>
        </pc:sldMkLst>
        <pc:spChg chg="mod">
          <ac:chgData name="Soraya Salazar" userId="S::soraya.salazar@kibernumacademy.com::fdf00a5c-f577-43dc-8064-9968cad83607" providerId="AD" clId="Web-{D7904011-9338-CB65-7511-C600844502C2}" dt="2025-09-26T11:46:54.528" v="2" actId="20577"/>
          <ac:spMkLst>
            <pc:docMk/>
            <pc:sldMk cId="0" sldId="256"/>
            <ac:spMk id="9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1082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289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 name="Google Shape;1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 name="Google Shape;17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2497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0" name="Google Shape;21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8" name="Google Shape;21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8" name="Google Shape;21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9759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6" name="Google Shape;22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5" name="Google Shape;23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4" name="Google Shape;27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1" name="Google Shape;28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0" name="Google Shape;29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9" name="Google Shape;29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7" name="Google Shape;33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6" name="Google Shape;34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4" name="Google Shape;36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3" name="Google Shape;37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2" name="Google Shape;38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1" name="Google Shape;39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6" name="Google Shape;40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5" name="Google Shape;41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5" name="Google Shape;42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1" name="Google Shape;43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45"/>
          <p:cNvSpPr>
            <a:spLocks noGrp="1"/>
          </p:cNvSpPr>
          <p:nvPr>
            <p:ph type="pic" idx="2"/>
          </p:nvPr>
        </p:nvSpPr>
        <p:spPr>
          <a:xfrm>
            <a:off x="5183188" y="987425"/>
            <a:ext cx="6172200" cy="4873625"/>
          </a:xfrm>
          <a:prstGeom prst="rect">
            <a:avLst/>
          </a:prstGeom>
          <a:noFill/>
          <a:ln>
            <a:noFill/>
          </a:ln>
        </p:spPr>
      </p:sp>
      <p:sp>
        <p:nvSpPr>
          <p:cNvPr id="68" name="Google Shape;68;p4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4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4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1"/>
          <p:cNvSpPr/>
          <p:nvPr/>
        </p:nvSpPr>
        <p:spPr>
          <a:xfrm>
            <a:off x="4328375" y="3483430"/>
            <a:ext cx="7308567" cy="1793964"/>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p:nvPr/>
        </p:nvSpPr>
        <p:spPr>
          <a:xfrm>
            <a:off x="4664693" y="3041480"/>
            <a:ext cx="7022779" cy="369291"/>
          </a:xfrm>
          <a:prstGeom prst="rect">
            <a:avLst/>
          </a:prstGeom>
          <a:noFill/>
          <a:ln>
            <a:noFill/>
          </a:ln>
        </p:spPr>
        <p:txBody>
          <a:bodyPr spcFirstLastPara="1" wrap="square" lIns="91425" tIns="45700" rIns="91425" bIns="45700" anchor="t" anchorCtr="0">
            <a:spAutoFit/>
          </a:bodyPr>
          <a:lstStyle/>
          <a:p>
            <a:pPr>
              <a:buClr>
                <a:srgbClr val="FFFFFF"/>
              </a:buClr>
              <a:buSzPts val="1800"/>
            </a:pPr>
            <a:r>
              <a:rPr lang="es-MX" sz="1800" b="1" i="0" u="none" strike="noStrike" cap="none">
                <a:solidFill>
                  <a:srgbClr val="FFFFFF"/>
                </a:solidFill>
                <a:latin typeface="Calibri"/>
                <a:ea typeface="Calibri"/>
                <a:cs typeface="Calibri"/>
                <a:sym typeface="Calibri"/>
              </a:rPr>
              <a:t> Inferencia Estadística</a:t>
            </a:r>
            <a:endParaRPr sz="1800" b="0" i="0" u="none" strike="noStrike" cap="none">
              <a:solidFill>
                <a:srgbClr val="000000"/>
              </a:solidFill>
              <a:latin typeface="Calibri"/>
              <a:ea typeface="Calibri"/>
              <a:cs typeface="Calibri"/>
              <a:sym typeface="Calibri"/>
            </a:endParaRPr>
          </a:p>
        </p:txBody>
      </p:sp>
      <p:sp>
        <p:nvSpPr>
          <p:cNvPr id="91" name="Google Shape;91;p1"/>
          <p:cNvSpPr txBox="1"/>
          <p:nvPr/>
        </p:nvSpPr>
        <p:spPr>
          <a:xfrm>
            <a:off x="4664693" y="3662847"/>
            <a:ext cx="6339840" cy="1477328"/>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s-MX" sz="5000" b="1" dirty="0">
                <a:solidFill>
                  <a:schemeClr val="lt1"/>
                </a:solidFill>
                <a:latin typeface="Arial"/>
                <a:ea typeface="Arial"/>
                <a:cs typeface="Arial"/>
                <a:sym typeface="Arial"/>
              </a:rPr>
              <a:t>Método Científico y Análisis de datos</a:t>
            </a:r>
            <a:endParaRPr sz="5000" b="1" dirty="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729582" y="143803"/>
            <a:ext cx="10208384"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Objetivos</a:t>
            </a:r>
            <a:endParaRPr/>
          </a:p>
        </p:txBody>
      </p:sp>
      <p:sp>
        <p:nvSpPr>
          <p:cNvPr id="97" name="Google Shape;97;p2"/>
          <p:cNvSpPr/>
          <p:nvPr/>
        </p:nvSpPr>
        <p:spPr>
          <a:xfrm>
            <a:off x="-240172" y="1151865"/>
            <a:ext cx="7537956" cy="3965386"/>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799250" y="1857285"/>
            <a:ext cx="6022017" cy="255454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lt1"/>
              </a:buClr>
              <a:buSzPts val="2000"/>
              <a:buFont typeface="Noto Sans Symbols"/>
              <a:buChar char="⮚"/>
            </a:pPr>
            <a:r>
              <a:rPr lang="es-MX" sz="2000">
                <a:solidFill>
                  <a:schemeClr val="lt1"/>
                </a:solidFill>
                <a:latin typeface="Calibri"/>
                <a:ea typeface="Calibri"/>
                <a:cs typeface="Calibri"/>
                <a:sym typeface="Calibri"/>
              </a:rPr>
              <a:t>Reconocer las etapas del método científico.</a:t>
            </a:r>
            <a:endParaRPr/>
          </a:p>
          <a:p>
            <a:pPr marL="342900" marR="0" lvl="0" indent="-215900" algn="just" rtl="0">
              <a:spcBef>
                <a:spcPts val="0"/>
              </a:spcBef>
              <a:spcAft>
                <a:spcPts val="0"/>
              </a:spcAft>
              <a:buClr>
                <a:schemeClr val="dk1"/>
              </a:buClr>
              <a:buSzPts val="2000"/>
              <a:buFont typeface="Noto Sans Symbols"/>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Noto Sans Symbols"/>
              <a:buChar char="⮚"/>
            </a:pPr>
            <a:r>
              <a:rPr lang="es-MX" sz="2000">
                <a:solidFill>
                  <a:schemeClr val="lt1"/>
                </a:solidFill>
                <a:latin typeface="Calibri"/>
                <a:ea typeface="Calibri"/>
                <a:cs typeface="Calibri"/>
                <a:sym typeface="Calibri"/>
              </a:rPr>
              <a:t>Describir los elementos de un experimento simple.</a:t>
            </a:r>
            <a:endParaRPr/>
          </a:p>
          <a:p>
            <a:pPr marL="342900" marR="0" lvl="0" indent="-215900" algn="just" rtl="0">
              <a:spcBef>
                <a:spcPts val="0"/>
              </a:spcBef>
              <a:spcAft>
                <a:spcPts val="0"/>
              </a:spcAft>
              <a:buClr>
                <a:schemeClr val="dk1"/>
              </a:buClr>
              <a:buSzPts val="2000"/>
              <a:buFont typeface="Noto Sans Symbols"/>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Noto Sans Symbols"/>
              <a:buChar char="⮚"/>
            </a:pPr>
            <a:r>
              <a:rPr lang="es-MX" sz="2000">
                <a:solidFill>
                  <a:schemeClr val="lt1"/>
                </a:solidFill>
                <a:latin typeface="Calibri"/>
                <a:ea typeface="Calibri"/>
                <a:cs typeface="Calibri"/>
                <a:sym typeface="Calibri"/>
              </a:rPr>
              <a:t>Reconocer las características principales de la ciencia de los datos.</a:t>
            </a:r>
            <a:endParaRPr/>
          </a:p>
          <a:p>
            <a:pPr marL="342900" marR="0" lvl="0" indent="-215900" algn="just" rtl="0">
              <a:spcBef>
                <a:spcPts val="0"/>
              </a:spcBef>
              <a:spcAft>
                <a:spcPts val="0"/>
              </a:spcAft>
              <a:buClr>
                <a:schemeClr val="dk1"/>
              </a:buClr>
              <a:buSzPts val="2000"/>
              <a:buFont typeface="Noto Sans Symbols"/>
              <a:buNone/>
            </a:pPr>
            <a:endParaRPr sz="20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2000"/>
              <a:buFont typeface="Noto Sans Symbols"/>
              <a:buChar char="⮚"/>
            </a:pPr>
            <a:r>
              <a:rPr lang="es-MX" sz="2000">
                <a:solidFill>
                  <a:schemeClr val="lt1"/>
                </a:solidFill>
                <a:latin typeface="Calibri"/>
                <a:ea typeface="Calibri"/>
                <a:cs typeface="Calibri"/>
                <a:sym typeface="Calibri"/>
              </a:rPr>
              <a:t>Investigación reproducible.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
        <p:cNvGrpSpPr/>
        <p:nvPr/>
      </p:nvGrpSpPr>
      <p:grpSpPr>
        <a:xfrm>
          <a:off x="0" y="0"/>
          <a:ext cx="0" cy="0"/>
          <a:chOff x="0" y="0"/>
          <a:chExt cx="0" cy="0"/>
        </a:xfrm>
      </p:grpSpPr>
      <p:sp>
        <p:nvSpPr>
          <p:cNvPr id="103" name="Google Shape;103;p3"/>
          <p:cNvSpPr txBox="1"/>
          <p:nvPr/>
        </p:nvSpPr>
        <p:spPr>
          <a:xfrm>
            <a:off x="2055223" y="364620"/>
            <a:ext cx="868244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Contenido</a:t>
            </a:r>
            <a:endParaRPr/>
          </a:p>
        </p:txBody>
      </p:sp>
      <p:sp>
        <p:nvSpPr>
          <p:cNvPr id="104" name="Google Shape;104;p3"/>
          <p:cNvSpPr/>
          <p:nvPr/>
        </p:nvSpPr>
        <p:spPr>
          <a:xfrm>
            <a:off x="5939245" y="-287382"/>
            <a:ext cx="4911635" cy="5838668"/>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3"/>
          <p:cNvSpPr txBox="1"/>
          <p:nvPr/>
        </p:nvSpPr>
        <p:spPr>
          <a:xfrm>
            <a:off x="6176063" y="2631952"/>
            <a:ext cx="5181990" cy="1015663"/>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lt1"/>
              </a:buClr>
              <a:buSzPts val="2000"/>
              <a:buFont typeface="Calibri"/>
              <a:buAutoNum type="arabicPeriod"/>
            </a:pPr>
            <a:r>
              <a:rPr lang="es-MX" sz="2000">
                <a:solidFill>
                  <a:schemeClr val="lt1"/>
                </a:solidFill>
                <a:latin typeface="Calibri"/>
                <a:ea typeface="Calibri"/>
                <a:cs typeface="Calibri"/>
                <a:sym typeface="Calibri"/>
              </a:rPr>
              <a:t>El método científico.</a:t>
            </a:r>
            <a:endParaRPr sz="2000">
              <a:solidFill>
                <a:schemeClr val="lt1"/>
              </a:solidFill>
              <a:latin typeface="Calibri"/>
              <a:ea typeface="Calibri"/>
              <a:cs typeface="Calibri"/>
              <a:sym typeface="Calibri"/>
            </a:endParaRPr>
          </a:p>
          <a:p>
            <a:pPr marL="457200" marR="0" lvl="0" indent="-457200" algn="l" rtl="0">
              <a:spcBef>
                <a:spcPts val="0"/>
              </a:spcBef>
              <a:spcAft>
                <a:spcPts val="0"/>
              </a:spcAft>
              <a:buClr>
                <a:schemeClr val="lt1"/>
              </a:buClr>
              <a:buSzPts val="2000"/>
              <a:buFont typeface="Calibri"/>
              <a:buAutoNum type="arabicPeriod"/>
            </a:pPr>
            <a:r>
              <a:rPr lang="es-MX" sz="2000">
                <a:solidFill>
                  <a:schemeClr val="lt1"/>
                </a:solidFill>
                <a:latin typeface="Calibri"/>
                <a:ea typeface="Calibri"/>
                <a:cs typeface="Calibri"/>
                <a:sym typeface="Calibri"/>
              </a:rPr>
              <a:t>Elementos de un experimento simple.</a:t>
            </a:r>
            <a:endParaRPr sz="2000">
              <a:solidFill>
                <a:schemeClr val="lt1"/>
              </a:solidFill>
              <a:latin typeface="Calibri"/>
              <a:ea typeface="Calibri"/>
              <a:cs typeface="Calibri"/>
              <a:sym typeface="Calibri"/>
            </a:endParaRPr>
          </a:p>
          <a:p>
            <a:pPr marL="457200" marR="0" lvl="0" indent="-457200" algn="l" rtl="0">
              <a:spcBef>
                <a:spcPts val="0"/>
              </a:spcBef>
              <a:spcAft>
                <a:spcPts val="0"/>
              </a:spcAft>
              <a:buClr>
                <a:schemeClr val="lt1"/>
              </a:buClr>
              <a:buSzPts val="2000"/>
              <a:buFont typeface="Calibri"/>
              <a:buAutoNum type="arabicPeriod"/>
            </a:pPr>
            <a:r>
              <a:rPr lang="es-MX" sz="2000">
                <a:solidFill>
                  <a:schemeClr val="lt1"/>
                </a:solidFill>
                <a:latin typeface="Calibri"/>
                <a:ea typeface="Calibri"/>
                <a:cs typeface="Calibri"/>
                <a:sym typeface="Calibri"/>
              </a:rPr>
              <a:t>La ciencia de los datos.</a:t>
            </a:r>
            <a:endParaRPr sz="2000">
              <a:solidFill>
                <a:schemeClr val="lt1"/>
              </a:solidFill>
              <a:latin typeface="Calibri"/>
              <a:ea typeface="Calibri"/>
              <a:cs typeface="Calibri"/>
              <a:sym typeface="Calibri"/>
            </a:endParaRPr>
          </a:p>
        </p:txBody>
      </p:sp>
      <p:sp>
        <p:nvSpPr>
          <p:cNvPr id="106" name="Google Shape;106;p3"/>
          <p:cNvSpPr/>
          <p:nvPr/>
        </p:nvSpPr>
        <p:spPr>
          <a:xfrm>
            <a:off x="1358536" y="1553538"/>
            <a:ext cx="3524500" cy="3524500"/>
          </a:xfrm>
          <a:prstGeom prst="ellipse">
            <a:avLst/>
          </a:prstGeom>
          <a:blipFill rotWithShape="1">
            <a:blip r:embed="rId4">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
        <p:nvSpPr>
          <p:cNvPr id="111" name="Google Shape;111;p4"/>
          <p:cNvSpPr txBox="1"/>
          <p:nvPr/>
        </p:nvSpPr>
        <p:spPr>
          <a:xfrm>
            <a:off x="828650" y="505169"/>
            <a:ext cx="10050218" cy="82503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El Método Científico</a:t>
            </a:r>
            <a:endParaRPr/>
          </a:p>
        </p:txBody>
      </p:sp>
      <p:sp>
        <p:nvSpPr>
          <p:cNvPr id="112" name="Google Shape;112;p4"/>
          <p:cNvSpPr/>
          <p:nvPr/>
        </p:nvSpPr>
        <p:spPr>
          <a:xfrm>
            <a:off x="-275739" y="1364604"/>
            <a:ext cx="12007122" cy="355299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4"/>
          <p:cNvSpPr txBox="1"/>
          <p:nvPr/>
        </p:nvSpPr>
        <p:spPr>
          <a:xfrm>
            <a:off x="801188" y="1589970"/>
            <a:ext cx="4607761" cy="31700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a:solidFill>
                  <a:schemeClr val="lt1"/>
                </a:solidFill>
                <a:latin typeface="Calibri"/>
                <a:ea typeface="Calibri"/>
                <a:cs typeface="Calibri"/>
                <a:sym typeface="Calibri"/>
              </a:rPr>
              <a:t>El método científico es una serie de pasos seguidos por investigadores científicos para responder preguntas específicas sobre el mundo natural. Implica hacer observaciones, formular una hipótesis y realizar experimentos científicos. La investigación científica comienza con una observación seguida de la formulación de una pregunta sobre lo que se ha observado</a:t>
            </a:r>
            <a:r>
              <a:rPr lang="es-MX" sz="2000">
                <a:solidFill>
                  <a:schemeClr val="lt1"/>
                </a:solidFill>
                <a:latin typeface="Arial"/>
                <a:ea typeface="Arial"/>
                <a:cs typeface="Arial"/>
                <a:sym typeface="Arial"/>
              </a:rPr>
              <a:t>.</a:t>
            </a:r>
            <a:endParaRPr sz="1600"/>
          </a:p>
        </p:txBody>
      </p:sp>
      <p:sp>
        <p:nvSpPr>
          <p:cNvPr id="114" name="Google Shape;114;p4"/>
          <p:cNvSpPr/>
          <p:nvPr/>
        </p:nvSpPr>
        <p:spPr>
          <a:xfrm>
            <a:off x="5970307" y="1452221"/>
            <a:ext cx="5592277" cy="3368843"/>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5" name="Google Shape;115;p4" descr="The Scientific Method isn't Just for Scientists • The Workforce Institute  at UKG"/>
          <p:cNvPicPr preferRelativeResize="0"/>
          <p:nvPr/>
        </p:nvPicPr>
        <p:blipFill rotWithShape="1">
          <a:blip r:embed="rId4">
            <a:alphaModFix/>
          </a:blip>
          <a:srcRect/>
          <a:stretch/>
        </p:blipFill>
        <p:spPr>
          <a:xfrm>
            <a:off x="6094364" y="1574240"/>
            <a:ext cx="5376007" cy="312480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p:nvPr/>
        </p:nvSpPr>
        <p:spPr>
          <a:xfrm>
            <a:off x="2431915" y="1130337"/>
            <a:ext cx="7442100" cy="499800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5"/>
          <p:cNvSpPr txBox="1"/>
          <p:nvPr/>
        </p:nvSpPr>
        <p:spPr>
          <a:xfrm>
            <a:off x="685749" y="296950"/>
            <a:ext cx="7303219" cy="598759"/>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El Método Científico</a:t>
            </a:r>
            <a:endParaRPr/>
          </a:p>
        </p:txBody>
      </p:sp>
      <p:grpSp>
        <p:nvGrpSpPr>
          <p:cNvPr id="13" name="Grupo 12">
            <a:extLst>
              <a:ext uri="{FF2B5EF4-FFF2-40B4-BE49-F238E27FC236}">
                <a16:creationId xmlns:a16="http://schemas.microsoft.com/office/drawing/2014/main" id="{7B2F81CC-DB5E-9D0E-01E7-B655F1AA0DAE}"/>
              </a:ext>
            </a:extLst>
          </p:cNvPr>
          <p:cNvGrpSpPr/>
          <p:nvPr/>
        </p:nvGrpSpPr>
        <p:grpSpPr>
          <a:xfrm>
            <a:off x="2570924" y="1239945"/>
            <a:ext cx="7164210" cy="4776140"/>
            <a:chOff x="2570924" y="1239945"/>
            <a:chExt cx="7164210" cy="4776140"/>
          </a:xfrm>
        </p:grpSpPr>
        <p:pic>
          <p:nvPicPr>
            <p:cNvPr id="121" name="Google Shape;121;p5"/>
            <p:cNvPicPr preferRelativeResize="0"/>
            <p:nvPr/>
          </p:nvPicPr>
          <p:blipFill rotWithShape="1">
            <a:blip r:embed="rId3">
              <a:alphaModFix/>
            </a:blip>
            <a:srcRect/>
            <a:stretch/>
          </p:blipFill>
          <p:spPr>
            <a:xfrm>
              <a:off x="2570924" y="1239945"/>
              <a:ext cx="7164210" cy="4776140"/>
            </a:xfrm>
            <a:prstGeom prst="rect">
              <a:avLst/>
            </a:prstGeom>
            <a:noFill/>
            <a:ln>
              <a:noFill/>
            </a:ln>
          </p:spPr>
        </p:pic>
        <p:sp>
          <p:nvSpPr>
            <p:cNvPr id="2" name="CuadroTexto 1">
              <a:extLst>
                <a:ext uri="{FF2B5EF4-FFF2-40B4-BE49-F238E27FC236}">
                  <a16:creationId xmlns:a16="http://schemas.microsoft.com/office/drawing/2014/main" id="{E8E05EF5-A959-A604-C4B2-F0A8E6E0A708}"/>
                </a:ext>
              </a:extLst>
            </p:cNvPr>
            <p:cNvSpPr txBox="1"/>
            <p:nvPr/>
          </p:nvSpPr>
          <p:spPr>
            <a:xfrm>
              <a:off x="4340839" y="1398493"/>
              <a:ext cx="3704984" cy="369332"/>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800" b="1" dirty="0">
                  <a:solidFill>
                    <a:srgbClr val="0E3D35"/>
                  </a:solidFill>
                </a:rPr>
                <a:t>Etapas del Método Científico</a:t>
              </a:r>
            </a:p>
          </p:txBody>
        </p:sp>
        <p:sp>
          <p:nvSpPr>
            <p:cNvPr id="3" name="CuadroTexto 2">
              <a:extLst>
                <a:ext uri="{FF2B5EF4-FFF2-40B4-BE49-F238E27FC236}">
                  <a16:creationId xmlns:a16="http://schemas.microsoft.com/office/drawing/2014/main" id="{9F844A3E-FD70-DCF6-1ADA-047F78DA543F}"/>
                </a:ext>
              </a:extLst>
            </p:cNvPr>
            <p:cNvSpPr txBox="1"/>
            <p:nvPr/>
          </p:nvSpPr>
          <p:spPr>
            <a:xfrm>
              <a:off x="5499847" y="3639668"/>
              <a:ext cx="1162850" cy="307777"/>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solidFill>
                    <a:srgbClr val="0E3D35"/>
                  </a:solidFill>
                </a:rPr>
                <a:t>Pregunta</a:t>
              </a:r>
              <a:endParaRPr lang="es-ES" sz="1100" dirty="0"/>
            </a:p>
          </p:txBody>
        </p:sp>
        <p:sp>
          <p:nvSpPr>
            <p:cNvPr id="4" name="CuadroTexto 3">
              <a:extLst>
                <a:ext uri="{FF2B5EF4-FFF2-40B4-BE49-F238E27FC236}">
                  <a16:creationId xmlns:a16="http://schemas.microsoft.com/office/drawing/2014/main" id="{8A5134EF-8C15-AACD-295A-0414E22C466F}"/>
                </a:ext>
              </a:extLst>
            </p:cNvPr>
            <p:cNvSpPr txBox="1"/>
            <p:nvPr/>
          </p:nvSpPr>
          <p:spPr>
            <a:xfrm>
              <a:off x="3117796" y="3639667"/>
              <a:ext cx="1611085" cy="307777"/>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solidFill>
                    <a:srgbClr val="0E3D35"/>
                  </a:solidFill>
                </a:rPr>
                <a:t>Observación</a:t>
              </a:r>
            </a:p>
          </p:txBody>
        </p:sp>
        <p:sp>
          <p:nvSpPr>
            <p:cNvPr id="5" name="CuadroTexto 4">
              <a:extLst>
                <a:ext uri="{FF2B5EF4-FFF2-40B4-BE49-F238E27FC236}">
                  <a16:creationId xmlns:a16="http://schemas.microsoft.com/office/drawing/2014/main" id="{5E639F1A-A119-4708-E228-119EDDFEFE82}"/>
                </a:ext>
              </a:extLst>
            </p:cNvPr>
            <p:cNvSpPr txBox="1"/>
            <p:nvPr/>
          </p:nvSpPr>
          <p:spPr>
            <a:xfrm>
              <a:off x="7472081" y="3575632"/>
              <a:ext cx="1611085" cy="307777"/>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solidFill>
                    <a:srgbClr val="0E3D35"/>
                  </a:solidFill>
                </a:rPr>
                <a:t>Hipótesis</a:t>
              </a:r>
            </a:p>
          </p:txBody>
        </p:sp>
        <p:sp>
          <p:nvSpPr>
            <p:cNvPr id="6" name="CuadroTexto 5">
              <a:extLst>
                <a:ext uri="{FF2B5EF4-FFF2-40B4-BE49-F238E27FC236}">
                  <a16:creationId xmlns:a16="http://schemas.microsoft.com/office/drawing/2014/main" id="{039E6D6C-6A6B-D119-2208-8B3339541F47}"/>
                </a:ext>
              </a:extLst>
            </p:cNvPr>
            <p:cNvSpPr txBox="1"/>
            <p:nvPr/>
          </p:nvSpPr>
          <p:spPr>
            <a:xfrm>
              <a:off x="3649273" y="5599093"/>
              <a:ext cx="1611085" cy="307777"/>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solidFill>
                    <a:srgbClr val="0E3D35"/>
                  </a:solidFill>
                </a:rPr>
                <a:t>Resultados</a:t>
              </a:r>
            </a:p>
          </p:txBody>
        </p:sp>
        <p:sp>
          <p:nvSpPr>
            <p:cNvPr id="7" name="CuadroTexto 6">
              <a:extLst>
                <a:ext uri="{FF2B5EF4-FFF2-40B4-BE49-F238E27FC236}">
                  <a16:creationId xmlns:a16="http://schemas.microsoft.com/office/drawing/2014/main" id="{8807D69F-4FA8-C39C-3A92-42FDF6BE01E4}"/>
                </a:ext>
              </a:extLst>
            </p:cNvPr>
            <p:cNvSpPr txBox="1"/>
            <p:nvPr/>
          </p:nvSpPr>
          <p:spPr>
            <a:xfrm>
              <a:off x="7145507" y="5599092"/>
              <a:ext cx="1611085" cy="307777"/>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solidFill>
                    <a:srgbClr val="0E3D35"/>
                  </a:solidFill>
                </a:rPr>
                <a:t>Conclusión</a:t>
              </a:r>
            </a:p>
          </p:txBody>
        </p:sp>
        <p:sp>
          <p:nvSpPr>
            <p:cNvPr id="8" name="CuadroTexto 7">
              <a:extLst>
                <a:ext uri="{FF2B5EF4-FFF2-40B4-BE49-F238E27FC236}">
                  <a16:creationId xmlns:a16="http://schemas.microsoft.com/office/drawing/2014/main" id="{25108996-72CE-E4AF-968B-BC6725CE5EE2}"/>
                </a:ext>
              </a:extLst>
            </p:cNvPr>
            <p:cNvSpPr txBox="1"/>
            <p:nvPr/>
          </p:nvSpPr>
          <p:spPr>
            <a:xfrm>
              <a:off x="8131624" y="4805074"/>
              <a:ext cx="1495825" cy="577081"/>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050" dirty="0">
                  <a:solidFill>
                    <a:srgbClr val="0E3D35"/>
                  </a:solidFill>
                </a:rPr>
                <a:t>La hipótesis fue correctamente probada</a:t>
              </a:r>
              <a:endParaRPr lang="es-ES" dirty="0"/>
            </a:p>
          </p:txBody>
        </p:sp>
        <p:sp>
          <p:nvSpPr>
            <p:cNvPr id="9" name="CuadroTexto 8">
              <a:extLst>
                <a:ext uri="{FF2B5EF4-FFF2-40B4-BE49-F238E27FC236}">
                  <a16:creationId xmlns:a16="http://schemas.microsoft.com/office/drawing/2014/main" id="{16C2A4BF-2402-7C64-9354-701F462F17E9}"/>
                </a:ext>
              </a:extLst>
            </p:cNvPr>
            <p:cNvSpPr txBox="1"/>
            <p:nvPr/>
          </p:nvSpPr>
          <p:spPr>
            <a:xfrm>
              <a:off x="8182850" y="2192501"/>
              <a:ext cx="1495825" cy="577081"/>
            </a:xfrm>
            <a:prstGeom prst="rect">
              <a:avLst/>
            </a:prstGeom>
            <a:solidFill>
              <a:srgbClr val="EDE8C8"/>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050" dirty="0">
                  <a:solidFill>
                    <a:srgbClr val="0E3D35"/>
                  </a:solidFill>
                </a:rPr>
                <a:t>Plantas que crecieron con Fertilizante A crecerán más rápido</a:t>
              </a:r>
              <a:endParaRPr lang="es-ES" dirty="0"/>
            </a:p>
          </p:txBody>
        </p:sp>
        <p:sp>
          <p:nvSpPr>
            <p:cNvPr id="11" name="Rectángulo 10">
              <a:extLst>
                <a:ext uri="{FF2B5EF4-FFF2-40B4-BE49-F238E27FC236}">
                  <a16:creationId xmlns:a16="http://schemas.microsoft.com/office/drawing/2014/main" id="{34F53E6D-E7DF-0223-1127-9466D380D16F}"/>
                </a:ext>
              </a:extLst>
            </p:cNvPr>
            <p:cNvSpPr/>
            <p:nvPr/>
          </p:nvSpPr>
          <p:spPr>
            <a:xfrm>
              <a:off x="5404436" y="2093899"/>
              <a:ext cx="1453563" cy="1408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F1D330C0-1DE2-7E58-EC74-A3783C359162}"/>
                </a:ext>
              </a:extLst>
            </p:cNvPr>
            <p:cNvSpPr/>
            <p:nvPr/>
          </p:nvSpPr>
          <p:spPr>
            <a:xfrm>
              <a:off x="5545309" y="2189949"/>
              <a:ext cx="1114185" cy="1856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EED8FB06-AD14-907F-A421-7A2169CA0E11}"/>
                </a:ext>
              </a:extLst>
            </p:cNvPr>
            <p:cNvSpPr txBox="1"/>
            <p:nvPr/>
          </p:nvSpPr>
          <p:spPr>
            <a:xfrm>
              <a:off x="5294933" y="2026014"/>
              <a:ext cx="1623892"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1050" dirty="0">
                  <a:solidFill>
                    <a:schemeClr val="tx1">
                      <a:lumMod val="95000"/>
                      <a:lumOff val="5000"/>
                    </a:schemeClr>
                  </a:solidFill>
                </a:rPr>
                <a:t>¿Qué tipo de fertilizante funciona mejor?</a:t>
              </a:r>
              <a:endParaRPr lang="es-ES" dirty="0">
                <a:solidFill>
                  <a:schemeClr val="tx1">
                    <a:lumMod val="95000"/>
                    <a:lumOff val="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p:nvPr/>
        </p:nvSpPr>
        <p:spPr>
          <a:xfrm>
            <a:off x="-313510" y="1600244"/>
            <a:ext cx="10049693" cy="3491334"/>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6"/>
          <p:cNvSpPr txBox="1"/>
          <p:nvPr/>
        </p:nvSpPr>
        <p:spPr>
          <a:xfrm>
            <a:off x="518797" y="1914750"/>
            <a:ext cx="8625203"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Arial"/>
                <a:ea typeface="Arial"/>
                <a:cs typeface="Arial"/>
                <a:sym typeface="Arial"/>
              </a:rPr>
              <a:t>Los pasos del método científico son los siguientes: </a:t>
            </a:r>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342900" marR="0" lvl="0" indent="-342900" algn="just" rtl="0">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Observar lo que vas a investigar</a:t>
            </a:r>
            <a:endParaRPr/>
          </a:p>
          <a:p>
            <a:pPr marL="342900" marR="0" lvl="0" indent="-342900" algn="just" rtl="0">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Formular una pregunta investigativa</a:t>
            </a:r>
            <a:endParaRPr/>
          </a:p>
          <a:p>
            <a:pPr marL="342900" marR="0" lvl="0" indent="-342900" algn="just" rtl="0">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Plantea una hipótesis de trabajo y recolecta datos</a:t>
            </a:r>
            <a:endParaRPr/>
          </a:p>
          <a:p>
            <a:pPr marL="342900" marR="0" lvl="0" indent="-342900" algn="just" rtl="0">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Examina los resultados y elabora conclusiones</a:t>
            </a:r>
            <a:endParaRPr/>
          </a:p>
          <a:p>
            <a:pPr marL="342900" marR="0" lvl="0" indent="-342900" algn="just" rtl="0">
              <a:spcBef>
                <a:spcPts val="0"/>
              </a:spcBef>
              <a:spcAft>
                <a:spcPts val="0"/>
              </a:spcAft>
              <a:buClr>
                <a:schemeClr val="lt1"/>
              </a:buClr>
              <a:buSzPts val="1800"/>
              <a:buFont typeface="Arial"/>
              <a:buChar char="•"/>
            </a:pPr>
            <a:r>
              <a:rPr lang="es-MX" sz="1800">
                <a:solidFill>
                  <a:schemeClr val="lt1"/>
                </a:solidFill>
                <a:latin typeface="Arial"/>
                <a:ea typeface="Arial"/>
                <a:cs typeface="Arial"/>
                <a:sym typeface="Arial"/>
              </a:rPr>
              <a:t>Presenta y comparte los resultados y conclusiones</a:t>
            </a:r>
            <a:endParaRPr/>
          </a:p>
          <a:p>
            <a:pPr marL="0" marR="0" lvl="0" indent="0" algn="just" rtl="0">
              <a:spcBef>
                <a:spcPts val="0"/>
              </a:spcBef>
              <a:spcAft>
                <a:spcPts val="0"/>
              </a:spcAft>
              <a:buNone/>
            </a:pPr>
            <a:endParaRPr sz="1800">
              <a:solidFill>
                <a:schemeClr val="lt1"/>
              </a:solidFill>
              <a:latin typeface="Arial"/>
              <a:ea typeface="Arial"/>
              <a:cs typeface="Arial"/>
              <a:sym typeface="Arial"/>
            </a:endParaRPr>
          </a:p>
          <a:p>
            <a:pPr marL="0" marR="0" lvl="0" indent="0" algn="just" rtl="0">
              <a:spcBef>
                <a:spcPts val="0"/>
              </a:spcBef>
              <a:spcAft>
                <a:spcPts val="0"/>
              </a:spcAft>
              <a:buNone/>
            </a:pPr>
            <a:r>
              <a:rPr lang="es-MX" sz="1800">
                <a:solidFill>
                  <a:schemeClr val="lt1"/>
                </a:solidFill>
                <a:latin typeface="Arial"/>
                <a:ea typeface="Arial"/>
                <a:cs typeface="Arial"/>
                <a:sym typeface="Arial"/>
              </a:rPr>
              <a:t>También, se podría considerar un paso adicional consistente en desarrollar nuevas preguntas investigativas a partir de los hallazgos. </a:t>
            </a:r>
            <a:endParaRPr/>
          </a:p>
        </p:txBody>
      </p:sp>
      <p:sp>
        <p:nvSpPr>
          <p:cNvPr id="129" name="Google Shape;129;p6"/>
          <p:cNvSpPr txBox="1"/>
          <p:nvPr/>
        </p:nvSpPr>
        <p:spPr>
          <a:xfrm>
            <a:off x="518797" y="592182"/>
            <a:ext cx="1041098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El Método Científico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txBox="1"/>
          <p:nvPr/>
        </p:nvSpPr>
        <p:spPr>
          <a:xfrm>
            <a:off x="360410" y="498048"/>
            <a:ext cx="11354415" cy="537328"/>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dirty="0">
                <a:solidFill>
                  <a:srgbClr val="7F7F7F"/>
                </a:solidFill>
                <a:latin typeface="Arial"/>
                <a:ea typeface="Arial"/>
                <a:cs typeface="Arial"/>
                <a:sym typeface="Arial"/>
              </a:rPr>
              <a:t>Observar lo que </a:t>
            </a:r>
            <a:r>
              <a:rPr lang="es-MX" sz="3200" dirty="0">
                <a:solidFill>
                  <a:srgbClr val="7F7F7F"/>
                </a:solidFill>
              </a:rPr>
              <a:t>vas</a:t>
            </a:r>
            <a:r>
              <a:rPr lang="es-MX" sz="3200" dirty="0">
                <a:solidFill>
                  <a:srgbClr val="7F7F7F"/>
                </a:solidFill>
                <a:latin typeface="Arial"/>
                <a:ea typeface="Arial"/>
                <a:cs typeface="Arial"/>
                <a:sym typeface="Arial"/>
              </a:rPr>
              <a:t> a Investigar</a:t>
            </a:r>
            <a:endParaRPr dirty="0"/>
          </a:p>
        </p:txBody>
      </p:sp>
      <p:sp>
        <p:nvSpPr>
          <p:cNvPr id="135" name="Google Shape;135;p7"/>
          <p:cNvSpPr/>
          <p:nvPr/>
        </p:nvSpPr>
        <p:spPr>
          <a:xfrm>
            <a:off x="-256652" y="1112563"/>
            <a:ext cx="12142122" cy="473343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7"/>
          <p:cNvSpPr txBox="1"/>
          <p:nvPr/>
        </p:nvSpPr>
        <p:spPr>
          <a:xfrm>
            <a:off x="360410" y="1612910"/>
            <a:ext cx="7087518"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a:solidFill>
                  <a:schemeClr val="lt1"/>
                </a:solidFill>
                <a:latin typeface="Calibri"/>
                <a:ea typeface="Calibri"/>
                <a:cs typeface="Calibri"/>
                <a:sym typeface="Calibri"/>
              </a:rPr>
              <a:t>Antes de que un investigador pueda comenzar, debe elegir un tema para estudiar. Una vez que se ha elegido un área de interés, los investigadores deben realizar una revisión exhaustiva de la literatura existente sobre el tema. Esta revisión proporcionará información valiosa sobre lo que ya se ha aprendido sobre el tema y qué preguntas quedan por responder.</a:t>
            </a:r>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a:solidFill>
                  <a:schemeClr val="lt1"/>
                </a:solidFill>
                <a:latin typeface="Calibri"/>
                <a:ea typeface="Calibri"/>
                <a:cs typeface="Calibri"/>
                <a:sym typeface="Calibri"/>
              </a:rPr>
              <a:t>La información relevante recopilada por el investigador se debe presentar en la sección de introducción de los resultados finales obtenidos del estudio. Este material de antecedentes también ayudará al investigador en el primer paso importante para realizar un estudio: formular una hipótesis.</a:t>
            </a:r>
            <a:endParaRPr/>
          </a:p>
        </p:txBody>
      </p:sp>
      <p:sp>
        <p:nvSpPr>
          <p:cNvPr id="137" name="Google Shape;137;p7"/>
          <p:cNvSpPr/>
          <p:nvPr/>
        </p:nvSpPr>
        <p:spPr>
          <a:xfrm>
            <a:off x="7799942" y="1189939"/>
            <a:ext cx="3988106" cy="4649003"/>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8" name="Google Shape;138;p7"/>
          <p:cNvPicPr preferRelativeResize="0"/>
          <p:nvPr/>
        </p:nvPicPr>
        <p:blipFill rotWithShape="1">
          <a:blip r:embed="rId3">
            <a:alphaModFix/>
          </a:blip>
          <a:srcRect l="31584" t="934" r="11479" b="-1360"/>
          <a:stretch/>
        </p:blipFill>
        <p:spPr>
          <a:xfrm>
            <a:off x="7899629" y="1267059"/>
            <a:ext cx="3830854" cy="45046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p:nvPr/>
        </p:nvSpPr>
        <p:spPr>
          <a:xfrm>
            <a:off x="1319752" y="465746"/>
            <a:ext cx="8635195" cy="61060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Formular una Pregunta Investigativa</a:t>
            </a:r>
            <a:endParaRPr/>
          </a:p>
        </p:txBody>
      </p:sp>
      <p:sp>
        <p:nvSpPr>
          <p:cNvPr id="144" name="Google Shape;144;p8"/>
          <p:cNvSpPr/>
          <p:nvPr/>
        </p:nvSpPr>
        <p:spPr>
          <a:xfrm>
            <a:off x="-264817" y="1150108"/>
            <a:ext cx="10400677" cy="4721882"/>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8"/>
          <p:cNvSpPr txBox="1"/>
          <p:nvPr/>
        </p:nvSpPr>
        <p:spPr>
          <a:xfrm>
            <a:off x="1187777" y="1525890"/>
            <a:ext cx="8411750" cy="397031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Una vez que un investigador ha observado algo y ha obtenido información básica sobre el tema, el siguiente paso es hacer una pregunta. El investigador formulará una hipótesis, que es una conjetura informada sobre la relación entre dos o más variables.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Por ejemplo, un investigador podría hacer una pregunta sobre la relación entre el sueño y el rendimiento académico: ¿Los estudiantes que duermen más obtienen mejores resultados en las pruebas escolares?</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Para formular una buena hipótesis, es importante pensar en diferentes preguntas que pueda tener sobre un tema en particular.</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También, debe considerar cómo podría investigar las causas. La falsabilidad es una parte importante de cualquier hipótesis válida. En otras palabras, si una hipótesis es falsa, debe haber una manera de que los científicos demuestren que es falsa.</a:t>
            </a:r>
            <a:endParaRPr/>
          </a:p>
        </p:txBody>
      </p:sp>
      <p:pic>
        <p:nvPicPr>
          <p:cNvPr id="146" name="Google Shape;146;p8"/>
          <p:cNvPicPr preferRelativeResize="0"/>
          <p:nvPr/>
        </p:nvPicPr>
        <p:blipFill rotWithShape="1">
          <a:blip r:embed="rId3">
            <a:alphaModFix/>
          </a:blip>
          <a:srcRect/>
          <a:stretch/>
        </p:blipFill>
        <p:spPr>
          <a:xfrm rot="819430">
            <a:off x="8758862" y="1514922"/>
            <a:ext cx="3542097" cy="354209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p:nvPr/>
        </p:nvSpPr>
        <p:spPr>
          <a:xfrm>
            <a:off x="707009" y="0"/>
            <a:ext cx="828095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Probar Hipótesis y Recolectar Datos</a:t>
            </a:r>
            <a:endParaRPr/>
          </a:p>
        </p:txBody>
      </p:sp>
      <p:sp>
        <p:nvSpPr>
          <p:cNvPr id="152" name="Google Shape;152;p9"/>
          <p:cNvSpPr/>
          <p:nvPr/>
        </p:nvSpPr>
        <p:spPr>
          <a:xfrm>
            <a:off x="-330926" y="1167392"/>
            <a:ext cx="9849394" cy="4671706"/>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9"/>
          <p:cNvSpPr txBox="1"/>
          <p:nvPr/>
        </p:nvSpPr>
        <p:spPr>
          <a:xfrm>
            <a:off x="707009" y="1622086"/>
            <a:ext cx="8280955"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Una vez que tenga una hipótesis sólida, el siguiente paso del método científico es poner a prueba esta corazonada mediante la recopilación de datos. Los métodos exactos utilizados para investigar una hipótesis dependen exactamente de lo que se esté estudiando. Hay dos formas básicas de investigación que se podría utilizar: investigación descriptiva o investigación experimental.</a:t>
            </a:r>
            <a:endParaRPr lang="es-ES" sz="1800" dirty="0"/>
          </a:p>
          <a:p>
            <a:pPr marL="0" marR="0" lvl="0" indent="0" algn="just" rtl="0">
              <a:spcBef>
                <a:spcPts val="0"/>
              </a:spcBef>
              <a:spcAft>
                <a:spcPts val="0"/>
              </a:spcAft>
              <a:buNone/>
            </a:pPr>
            <a:endParaRPr lang="es-ES"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La </a:t>
            </a:r>
            <a:r>
              <a:rPr lang="es-MX" sz="2000" i="1" dirty="0">
                <a:solidFill>
                  <a:schemeClr val="lt1"/>
                </a:solidFill>
                <a:latin typeface="Calibri"/>
                <a:ea typeface="Calibri"/>
                <a:cs typeface="Calibri"/>
                <a:sym typeface="Calibri"/>
              </a:rPr>
              <a:t>investigación descriptiva </a:t>
            </a:r>
            <a:r>
              <a:rPr lang="es-MX" sz="2000" dirty="0">
                <a:solidFill>
                  <a:schemeClr val="lt1"/>
                </a:solidFill>
                <a:latin typeface="Calibri"/>
                <a:ea typeface="Calibri"/>
                <a:cs typeface="Calibri"/>
                <a:sym typeface="Calibri"/>
              </a:rPr>
              <a:t>generalmente se usa cuando sería difícil o incluso imposible manipular las variables en cuestión. Los ejemplos de investigación descriptiva incluyen estudios de casos, observación naturalista y estudios de correlación. Las encuestas telefónicas que suelen utilizar los especialistas en marketing son un ejemplo de investigación descriptiva.</a:t>
            </a:r>
            <a:endParaRPr sz="1800" dirty="0">
              <a:solidFill>
                <a:schemeClr val="lt1"/>
              </a:solidFill>
            </a:endParaRPr>
          </a:p>
        </p:txBody>
      </p:sp>
      <p:pic>
        <p:nvPicPr>
          <p:cNvPr id="154" name="Google Shape;154;p9"/>
          <p:cNvPicPr preferRelativeResize="0"/>
          <p:nvPr/>
        </p:nvPicPr>
        <p:blipFill rotWithShape="1">
          <a:blip r:embed="rId3">
            <a:alphaModFix/>
          </a:blip>
          <a:srcRect/>
          <a:stretch/>
        </p:blipFill>
        <p:spPr>
          <a:xfrm>
            <a:off x="9083040" y="2013155"/>
            <a:ext cx="2858940" cy="285894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p:nvPr/>
        </p:nvSpPr>
        <p:spPr>
          <a:xfrm>
            <a:off x="707009" y="0"/>
            <a:ext cx="828095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Probar Hipótesis y Recolectar Datos</a:t>
            </a:r>
            <a:endParaRPr/>
          </a:p>
        </p:txBody>
      </p:sp>
      <p:sp>
        <p:nvSpPr>
          <p:cNvPr id="152" name="Google Shape;152;p9"/>
          <p:cNvSpPr/>
          <p:nvPr/>
        </p:nvSpPr>
        <p:spPr>
          <a:xfrm>
            <a:off x="-330926" y="1314047"/>
            <a:ext cx="9849394" cy="4121372"/>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9"/>
          <p:cNvSpPr txBox="1"/>
          <p:nvPr/>
        </p:nvSpPr>
        <p:spPr>
          <a:xfrm>
            <a:off x="707009" y="1673491"/>
            <a:ext cx="8280955" cy="31700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La </a:t>
            </a:r>
            <a:r>
              <a:rPr lang="es-MX" sz="2000" b="1" i="1" dirty="0">
                <a:solidFill>
                  <a:schemeClr val="lt1"/>
                </a:solidFill>
                <a:latin typeface="Calibri"/>
                <a:ea typeface="Calibri"/>
                <a:cs typeface="Calibri"/>
                <a:sym typeface="Calibri"/>
              </a:rPr>
              <a:t>investigación experimental</a:t>
            </a:r>
            <a:r>
              <a:rPr lang="es-MX" sz="2000" i="1" dirty="0">
                <a:solidFill>
                  <a:schemeClr val="lt1"/>
                </a:solidFill>
                <a:latin typeface="Calibri"/>
                <a:ea typeface="Calibri"/>
                <a:cs typeface="Calibri"/>
                <a:sym typeface="Calibri"/>
              </a:rPr>
              <a:t> </a:t>
            </a:r>
            <a:r>
              <a:rPr lang="es-MX" sz="2000" dirty="0">
                <a:solidFill>
                  <a:schemeClr val="lt1"/>
                </a:solidFill>
                <a:latin typeface="Calibri"/>
                <a:ea typeface="Calibri"/>
                <a:cs typeface="Calibri"/>
                <a:sym typeface="Calibri"/>
              </a:rPr>
              <a:t>se utiliza para explorar las relaciones de causa y efecto entre dos o más variables. Este tipo de investigación implica manipular sistemáticamente una variable independiente y luego, medir el efecto que tiene sobre una variable dependiente definida.</a:t>
            </a:r>
            <a:endParaRPr lang="es-ES" sz="1800"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 experimento simple es bastante básico pero permite a los investigadores determinar las relaciones de causa y efecto entre las variables. La mayoría de los experimentos simples utilizan un grupo de control (aquellos que no reciben el tratamiento) y un grupo experimental (aquellos que sí reciben el tratamiento).</a:t>
            </a:r>
            <a:endParaRPr sz="1800" dirty="0"/>
          </a:p>
        </p:txBody>
      </p:sp>
      <p:pic>
        <p:nvPicPr>
          <p:cNvPr id="154" name="Google Shape;154;p9"/>
          <p:cNvPicPr preferRelativeResize="0"/>
          <p:nvPr/>
        </p:nvPicPr>
        <p:blipFill rotWithShape="1">
          <a:blip r:embed="rId3">
            <a:alphaModFix/>
          </a:blip>
          <a:srcRect/>
          <a:stretch/>
        </p:blipFill>
        <p:spPr>
          <a:xfrm>
            <a:off x="9083040" y="2013155"/>
            <a:ext cx="2858940" cy="2858940"/>
          </a:xfrm>
          <a:prstGeom prst="rect">
            <a:avLst/>
          </a:prstGeom>
          <a:noFill/>
          <a:ln>
            <a:noFill/>
          </a:ln>
        </p:spPr>
      </p:pic>
    </p:spTree>
    <p:extLst>
      <p:ext uri="{BB962C8B-B14F-4D97-AF65-F5344CB8AC3E}">
        <p14:creationId xmlns:p14="http://schemas.microsoft.com/office/powerpoint/2010/main" val="30166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p:nvPr/>
        </p:nvSpPr>
        <p:spPr>
          <a:xfrm>
            <a:off x="575034" y="0"/>
            <a:ext cx="1035474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Examinar Resultados y Elaborar Conclusiones</a:t>
            </a:r>
            <a:endParaRPr/>
          </a:p>
        </p:txBody>
      </p:sp>
      <p:sp>
        <p:nvSpPr>
          <p:cNvPr id="160" name="Google Shape;160;p10"/>
          <p:cNvSpPr/>
          <p:nvPr/>
        </p:nvSpPr>
        <p:spPr>
          <a:xfrm>
            <a:off x="-418011" y="980615"/>
            <a:ext cx="8971066" cy="4517558"/>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10"/>
          <p:cNvSpPr txBox="1"/>
          <p:nvPr/>
        </p:nvSpPr>
        <p:spPr>
          <a:xfrm>
            <a:off x="484741" y="1317455"/>
            <a:ext cx="7814527" cy="378561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Una vez que un investigador ha diseñado el estudio y recopilado los datos, es hora de examinar esta información y sacar conclusiones sobre lo que se ha encontrado. Usando estadísticas, los investigadores pueden resumir los datos, analizar los resultados y sacar conclusiones basadas en esta evidencia.</a:t>
            </a:r>
            <a:endParaRPr sz="1800"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Entonces, ¿cómo decide un investigador qué significan los resultados de un estudio? El análisis estadístico no solo puede respaldar (o refutar) la hipótesis del investigador; también se puede utilizar para determinar si los hallazgos son estadísticamente significativos. Cuando se dice que los resultados son estadísticamente significativos, significa que es poco probable que estos resultados se deban al azar.</a:t>
            </a:r>
            <a:endParaRPr sz="1800" dirty="0">
              <a:solidFill>
                <a:schemeClr val="lt1"/>
              </a:solidFill>
            </a:endParaRPr>
          </a:p>
        </p:txBody>
      </p:sp>
      <p:pic>
        <p:nvPicPr>
          <p:cNvPr id="162" name="Google Shape;162;p10"/>
          <p:cNvPicPr preferRelativeResize="0"/>
          <p:nvPr/>
        </p:nvPicPr>
        <p:blipFill rotWithShape="1">
          <a:blip r:embed="rId3">
            <a:alphaModFix/>
          </a:blip>
          <a:srcRect/>
          <a:stretch/>
        </p:blipFill>
        <p:spPr>
          <a:xfrm>
            <a:off x="8989990" y="1627164"/>
            <a:ext cx="3021954" cy="302195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p:nvPr/>
        </p:nvSpPr>
        <p:spPr>
          <a:xfrm>
            <a:off x="575034" y="0"/>
            <a:ext cx="10354749"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Examinar Resultados y Elaborar Conclusiones</a:t>
            </a:r>
            <a:endParaRPr/>
          </a:p>
        </p:txBody>
      </p:sp>
      <p:sp>
        <p:nvSpPr>
          <p:cNvPr id="160" name="Google Shape;160;p10"/>
          <p:cNvSpPr/>
          <p:nvPr/>
        </p:nvSpPr>
        <p:spPr>
          <a:xfrm>
            <a:off x="-418011" y="1426627"/>
            <a:ext cx="8971066" cy="4089688"/>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10"/>
          <p:cNvSpPr txBox="1"/>
          <p:nvPr/>
        </p:nvSpPr>
        <p:spPr>
          <a:xfrm>
            <a:off x="484741" y="1550288"/>
            <a:ext cx="7814527" cy="3477835"/>
          </a:xfrm>
          <a:prstGeom prst="rect">
            <a:avLst/>
          </a:prstGeom>
          <a:noFill/>
          <a:ln>
            <a:noFill/>
          </a:ln>
        </p:spPr>
        <p:txBody>
          <a:bodyPr spcFirstLastPara="1" wrap="square" lIns="91425" tIns="45700" rIns="91425" bIns="45700" anchor="t" anchorCtr="0">
            <a:spAutoFit/>
          </a:bodyPr>
          <a:lstStyle/>
          <a:p>
            <a:pPr algn="just"/>
            <a:r>
              <a:rPr lang="es-MX" sz="2000" dirty="0">
                <a:solidFill>
                  <a:schemeClr val="lt1"/>
                </a:solidFill>
                <a:latin typeface="Calibri"/>
                <a:ea typeface="Calibri"/>
                <a:cs typeface="Calibri"/>
                <a:sym typeface="Calibri"/>
              </a:rPr>
              <a:t>¿Qué sucede si los resultados de un experimento no respaldan la hipótesis del investigador?  ¿Significa esto que el estudio fue inútil? </a:t>
            </a:r>
            <a:endParaRPr lang="es-ES" sz="1800">
              <a:solidFill>
                <a:schemeClr val="lt1"/>
              </a:solidFill>
              <a:ea typeface="Calibri"/>
            </a:endParaRPr>
          </a:p>
          <a:p>
            <a:pPr algn="just"/>
            <a:endParaRPr lang="es-MX" sz="2000" dirty="0">
              <a:solidFill>
                <a:schemeClr val="lt1"/>
              </a:solidFill>
              <a:latin typeface="Calibri"/>
              <a:ea typeface="Calibri"/>
              <a:cs typeface="Calibri"/>
              <a:sym typeface="Calibri"/>
            </a:endParaRPr>
          </a:p>
          <a:p>
            <a:pPr marL="0" marR="0" lvl="0" indent="0" algn="just">
              <a:spcBef>
                <a:spcPts val="0"/>
              </a:spcBef>
              <a:spcAft>
                <a:spcPts val="0"/>
              </a:spcAft>
              <a:buNone/>
            </a:pPr>
            <a:r>
              <a:rPr lang="es-MX" sz="2000" dirty="0">
                <a:solidFill>
                  <a:schemeClr val="lt1"/>
                </a:solidFill>
                <a:latin typeface="Calibri"/>
                <a:ea typeface="Calibri"/>
                <a:cs typeface="Calibri"/>
                <a:sym typeface="Calibri"/>
              </a:rPr>
              <a:t>El hecho de que los hallazgos no respalden la hipótesis no significa que la investigación no sea útil o informativa. De hecho, dicha investigación juega un papel importante para ayudar a los científicos a desarrollar nuevas preguntas e hipótesis para explorar en el futuro.</a:t>
            </a:r>
            <a:endParaRPr lang="es-ES" sz="180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Una vez extraídas las conclusiones, el siguiente paso es compartir los resultados con el resto de la comunidad científica. Esto puede ayudar a otros científicos a encontrar nuevas vías de investigación para explorar.</a:t>
            </a:r>
            <a:endParaRPr sz="1800" dirty="0">
              <a:solidFill>
                <a:schemeClr val="lt1"/>
              </a:solidFill>
            </a:endParaRPr>
          </a:p>
        </p:txBody>
      </p:sp>
      <p:pic>
        <p:nvPicPr>
          <p:cNvPr id="162" name="Google Shape;162;p10"/>
          <p:cNvPicPr preferRelativeResize="0"/>
          <p:nvPr/>
        </p:nvPicPr>
        <p:blipFill rotWithShape="1">
          <a:blip r:embed="rId3">
            <a:alphaModFix/>
          </a:blip>
          <a:srcRect/>
          <a:stretch/>
        </p:blipFill>
        <p:spPr>
          <a:xfrm>
            <a:off x="8989990" y="1627164"/>
            <a:ext cx="3021954" cy="3021954"/>
          </a:xfrm>
          <a:prstGeom prst="rect">
            <a:avLst/>
          </a:prstGeom>
          <a:noFill/>
          <a:ln>
            <a:noFill/>
          </a:ln>
        </p:spPr>
      </p:pic>
    </p:spTree>
    <p:extLst>
      <p:ext uri="{BB962C8B-B14F-4D97-AF65-F5344CB8AC3E}">
        <p14:creationId xmlns:p14="http://schemas.microsoft.com/office/powerpoint/2010/main" val="330675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p:nvPr/>
        </p:nvSpPr>
        <p:spPr>
          <a:xfrm>
            <a:off x="455767" y="163517"/>
            <a:ext cx="10634272" cy="5844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Presentación de Resultados</a:t>
            </a:r>
            <a:endParaRPr/>
          </a:p>
        </p:txBody>
      </p:sp>
      <p:sp>
        <p:nvSpPr>
          <p:cNvPr id="168" name="Google Shape;168;p11"/>
          <p:cNvSpPr/>
          <p:nvPr/>
        </p:nvSpPr>
        <p:spPr>
          <a:xfrm>
            <a:off x="-263257" y="903186"/>
            <a:ext cx="9070882" cy="5628987"/>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11"/>
          <p:cNvSpPr txBox="1"/>
          <p:nvPr/>
        </p:nvSpPr>
        <p:spPr>
          <a:xfrm>
            <a:off x="455767" y="1068454"/>
            <a:ext cx="8093018" cy="563227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El paso final en un estudio es presentar los hallazgos. Esto a menudo se hace escribiendo una descripción del estudio y publicando el artículo en una revista académica o profesional, o bien, presentarlos en la organización a las áreas de negocio involucradas.</a:t>
            </a:r>
            <a:endParaRPr sz="1600"/>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La estructura de un artículo de investigación, podrían llevar los siguientes elementos:</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Proporcione una breve historia y antecedentes sobre investigaciones anteriores.</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Presentar la hipótesis.</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Identificar quiénes participaron en el estudio y cómo fueron seleccionados.</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Proporcionar definiciones operativas para cada variable.</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Describir las medidas y procedimientos que se utilizaron para recopilar datos.</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Explicar cómo se analizó la información recopilada.</a:t>
            </a:r>
            <a:endParaRPr sz="1600"/>
          </a:p>
          <a:p>
            <a:pPr marL="285750" marR="0" lvl="0" indent="-285750" algn="just" rtl="0">
              <a:spcBef>
                <a:spcPts val="0"/>
              </a:spcBef>
              <a:spcAft>
                <a:spcPts val="0"/>
              </a:spcAft>
              <a:buClr>
                <a:schemeClr val="lt1"/>
              </a:buClr>
              <a:buSzPts val="1600"/>
              <a:buFont typeface="Arial"/>
              <a:buChar char="•"/>
            </a:pPr>
            <a:r>
              <a:rPr lang="es-MX" sz="1800">
                <a:solidFill>
                  <a:schemeClr val="lt1"/>
                </a:solidFill>
                <a:latin typeface="Calibri"/>
                <a:ea typeface="Calibri"/>
                <a:cs typeface="Calibri"/>
                <a:sym typeface="Calibri"/>
              </a:rPr>
              <a:t>Discutir lo que significan los resultados.</a:t>
            </a:r>
            <a:endParaRPr sz="1600"/>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¿Por qué es importante seguir esta estructura? Al explicar claramente los pasos y procedimientos utilizados a lo largo del estudio, otros investigadores no solamente pueden conocer los resultados finales, sino que también pueden replicar los resultados y referirse a la metodología utilizada. A esto, le llamamos </a:t>
            </a:r>
            <a:r>
              <a:rPr lang="es-MX" sz="1800" i="1">
                <a:solidFill>
                  <a:schemeClr val="lt1"/>
                </a:solidFill>
                <a:latin typeface="Calibri"/>
                <a:ea typeface="Calibri"/>
                <a:cs typeface="Calibri"/>
                <a:sym typeface="Calibri"/>
              </a:rPr>
              <a:t>reproducibilidad</a:t>
            </a:r>
            <a:r>
              <a:rPr lang="es-MX" sz="1800">
                <a:solidFill>
                  <a:schemeClr val="lt1"/>
                </a:solidFill>
                <a:latin typeface="Calibri"/>
                <a:ea typeface="Calibri"/>
                <a:cs typeface="Calibri"/>
                <a:sym typeface="Calibri"/>
              </a:rPr>
              <a:t> de la investigación.</a:t>
            </a:r>
            <a:endParaRPr sz="1600"/>
          </a:p>
        </p:txBody>
      </p:sp>
      <p:pic>
        <p:nvPicPr>
          <p:cNvPr id="170" name="Google Shape;170;p11"/>
          <p:cNvPicPr preferRelativeResize="0"/>
          <p:nvPr/>
        </p:nvPicPr>
        <p:blipFill rotWithShape="1">
          <a:blip r:embed="rId3">
            <a:alphaModFix/>
          </a:blip>
          <a:srcRect/>
          <a:stretch/>
        </p:blipFill>
        <p:spPr>
          <a:xfrm>
            <a:off x="8808197" y="-3744"/>
            <a:ext cx="3208426" cy="32084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p:nvPr/>
        </p:nvSpPr>
        <p:spPr>
          <a:xfrm>
            <a:off x="895150" y="411296"/>
            <a:ext cx="10510786" cy="6114632"/>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6" name="Google Shape;176;p12"/>
          <p:cNvGrpSpPr/>
          <p:nvPr/>
        </p:nvGrpSpPr>
        <p:grpSpPr>
          <a:xfrm>
            <a:off x="1324842" y="692000"/>
            <a:ext cx="9614558" cy="5481621"/>
            <a:chOff x="1860387" y="647848"/>
            <a:chExt cx="9614558" cy="5481621"/>
          </a:xfrm>
        </p:grpSpPr>
        <p:sp>
          <p:nvSpPr>
            <p:cNvPr id="177" name="Google Shape;177;p12"/>
            <p:cNvSpPr txBox="1"/>
            <p:nvPr/>
          </p:nvSpPr>
          <p:spPr>
            <a:xfrm>
              <a:off x="1860388" y="647848"/>
              <a:ext cx="504176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800">
                  <a:solidFill>
                    <a:srgbClr val="7F7F7F"/>
                  </a:solidFill>
                  <a:latin typeface="Arial"/>
                  <a:ea typeface="Arial"/>
                  <a:cs typeface="Arial"/>
                  <a:sym typeface="Arial"/>
                </a:rPr>
                <a:t>El Método Científico (Ejemplo)</a:t>
              </a:r>
              <a:endParaRPr/>
            </a:p>
          </p:txBody>
        </p:sp>
        <p:sp>
          <p:nvSpPr>
            <p:cNvPr id="178" name="Google Shape;178;p12"/>
            <p:cNvSpPr txBox="1"/>
            <p:nvPr/>
          </p:nvSpPr>
          <p:spPr>
            <a:xfrm>
              <a:off x="1860390" y="1465088"/>
              <a:ext cx="31713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b="1">
                  <a:solidFill>
                    <a:srgbClr val="078CAE"/>
                  </a:solidFill>
                  <a:latin typeface="Calibri"/>
                  <a:ea typeface="Calibri"/>
                  <a:cs typeface="Calibri"/>
                  <a:sym typeface="Calibri"/>
                </a:rPr>
                <a:t>Paso 1</a:t>
              </a:r>
              <a:endParaRPr/>
            </a:p>
            <a:p>
              <a:pPr marL="0" marR="0" lvl="0" indent="0" algn="l" rtl="0">
                <a:spcBef>
                  <a:spcPts val="0"/>
                </a:spcBef>
                <a:spcAft>
                  <a:spcPts val="0"/>
                </a:spcAft>
                <a:buNone/>
              </a:pPr>
              <a:r>
                <a:rPr lang="es-MX" sz="1400" b="1">
                  <a:solidFill>
                    <a:srgbClr val="078CAE"/>
                  </a:solidFill>
                  <a:latin typeface="Calibri"/>
                  <a:ea typeface="Calibri"/>
                  <a:cs typeface="Calibri"/>
                  <a:sym typeface="Calibri"/>
                </a:rPr>
                <a:t>Observar lo que vas a investigar</a:t>
              </a:r>
              <a:endParaRPr/>
            </a:p>
          </p:txBody>
        </p:sp>
        <p:sp>
          <p:nvSpPr>
            <p:cNvPr id="179" name="Google Shape;179;p12"/>
            <p:cNvSpPr txBox="1"/>
            <p:nvPr/>
          </p:nvSpPr>
          <p:spPr>
            <a:xfrm>
              <a:off x="5871117" y="1570172"/>
              <a:ext cx="4408200"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200">
                  <a:solidFill>
                    <a:srgbClr val="7F7F7F"/>
                  </a:solidFill>
                  <a:latin typeface="Arial"/>
                  <a:ea typeface="Arial"/>
                  <a:cs typeface="Arial"/>
                  <a:sym typeface="Arial"/>
                </a:rPr>
                <a:t>Los investigadores eligen enfocar su estudio en adultos de 25 a 40 años con trastorno de ansiedad generalizada</a:t>
              </a:r>
              <a:endParaRPr sz="1200">
                <a:solidFill>
                  <a:srgbClr val="7F7F7F"/>
                </a:solidFill>
                <a:latin typeface="Arial"/>
                <a:ea typeface="Arial"/>
                <a:cs typeface="Arial"/>
                <a:sym typeface="Arial"/>
              </a:endParaRPr>
            </a:p>
          </p:txBody>
        </p:sp>
        <p:sp>
          <p:nvSpPr>
            <p:cNvPr id="180" name="Google Shape;180;p12"/>
            <p:cNvSpPr txBox="1"/>
            <p:nvPr/>
          </p:nvSpPr>
          <p:spPr>
            <a:xfrm>
              <a:off x="1860389" y="2297432"/>
              <a:ext cx="3171391"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b="1">
                  <a:solidFill>
                    <a:srgbClr val="078CAE"/>
                  </a:solidFill>
                  <a:latin typeface="Calibri"/>
                  <a:ea typeface="Calibri"/>
                  <a:cs typeface="Calibri"/>
                  <a:sym typeface="Calibri"/>
                </a:rPr>
                <a:t>Paso 2</a:t>
              </a:r>
              <a:endParaRPr/>
            </a:p>
            <a:p>
              <a:pPr marL="0" marR="0" lvl="0" indent="0" algn="l" rtl="0">
                <a:spcBef>
                  <a:spcPts val="0"/>
                </a:spcBef>
                <a:spcAft>
                  <a:spcPts val="0"/>
                </a:spcAft>
                <a:buNone/>
              </a:pPr>
              <a:r>
                <a:rPr lang="es-MX" sz="1400" b="1">
                  <a:solidFill>
                    <a:srgbClr val="078CAE"/>
                  </a:solidFill>
                  <a:latin typeface="Calibri"/>
                  <a:ea typeface="Calibri"/>
                  <a:cs typeface="Calibri"/>
                  <a:sym typeface="Calibri"/>
                </a:rPr>
                <a:t>Formular una pregunta investigativa</a:t>
              </a:r>
              <a:endParaRPr/>
            </a:p>
          </p:txBody>
        </p:sp>
        <p:sp>
          <p:nvSpPr>
            <p:cNvPr id="181" name="Google Shape;181;p12"/>
            <p:cNvSpPr txBox="1"/>
            <p:nvPr/>
          </p:nvSpPr>
          <p:spPr>
            <a:xfrm>
              <a:off x="1860388" y="3172210"/>
              <a:ext cx="3261703"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b="1">
                  <a:solidFill>
                    <a:srgbClr val="078CAE"/>
                  </a:solidFill>
                  <a:latin typeface="Calibri"/>
                  <a:ea typeface="Calibri"/>
                  <a:cs typeface="Calibri"/>
                  <a:sym typeface="Calibri"/>
                </a:rPr>
                <a:t>Paso 3</a:t>
              </a:r>
              <a:endParaRPr/>
            </a:p>
            <a:p>
              <a:pPr marL="0" marR="0" lvl="0" indent="0" algn="l" rtl="0">
                <a:spcBef>
                  <a:spcPts val="0"/>
                </a:spcBef>
                <a:spcAft>
                  <a:spcPts val="0"/>
                </a:spcAft>
                <a:buNone/>
              </a:pPr>
              <a:r>
                <a:rPr lang="es-MX" sz="1400" b="1">
                  <a:solidFill>
                    <a:srgbClr val="078CAE"/>
                  </a:solidFill>
                  <a:latin typeface="Calibri"/>
                  <a:ea typeface="Calibri"/>
                  <a:cs typeface="Calibri"/>
                  <a:sym typeface="Calibri"/>
                </a:rPr>
                <a:t>Plantear una hipótesis y recolectar datos</a:t>
              </a:r>
              <a:endParaRPr/>
            </a:p>
          </p:txBody>
        </p:sp>
        <p:sp>
          <p:nvSpPr>
            <p:cNvPr id="182" name="Google Shape;182;p12"/>
            <p:cNvSpPr txBox="1"/>
            <p:nvPr/>
          </p:nvSpPr>
          <p:spPr>
            <a:xfrm>
              <a:off x="1860389" y="4133560"/>
              <a:ext cx="317139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b="1">
                  <a:solidFill>
                    <a:srgbClr val="078CAE"/>
                  </a:solidFill>
                  <a:latin typeface="Calibri"/>
                  <a:ea typeface="Calibri"/>
                  <a:cs typeface="Calibri"/>
                  <a:sym typeface="Calibri"/>
                </a:rPr>
                <a:t>Paso 4</a:t>
              </a:r>
              <a:endParaRPr/>
            </a:p>
            <a:p>
              <a:pPr marL="0" marR="0" lvl="0" indent="0" algn="l" rtl="0">
                <a:spcBef>
                  <a:spcPts val="0"/>
                </a:spcBef>
                <a:spcAft>
                  <a:spcPts val="0"/>
                </a:spcAft>
                <a:buNone/>
              </a:pPr>
              <a:r>
                <a:rPr lang="es-MX" sz="1400" b="1">
                  <a:solidFill>
                    <a:srgbClr val="078CAE"/>
                  </a:solidFill>
                  <a:latin typeface="Calibri"/>
                  <a:ea typeface="Calibri"/>
                  <a:cs typeface="Calibri"/>
                  <a:sym typeface="Calibri"/>
                </a:rPr>
                <a:t>Examinar resultados y elaborar resultados</a:t>
              </a:r>
              <a:endParaRPr/>
            </a:p>
          </p:txBody>
        </p:sp>
        <p:sp>
          <p:nvSpPr>
            <p:cNvPr id="183" name="Google Shape;183;p12"/>
            <p:cNvSpPr txBox="1"/>
            <p:nvPr/>
          </p:nvSpPr>
          <p:spPr>
            <a:xfrm>
              <a:off x="1860387" y="5179320"/>
              <a:ext cx="3261703"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b="1">
                  <a:solidFill>
                    <a:srgbClr val="078CAE"/>
                  </a:solidFill>
                  <a:latin typeface="Calibri"/>
                  <a:ea typeface="Calibri"/>
                  <a:cs typeface="Calibri"/>
                  <a:sym typeface="Calibri"/>
                </a:rPr>
                <a:t>Paso 5</a:t>
              </a:r>
              <a:endParaRPr/>
            </a:p>
            <a:p>
              <a:pPr marL="0" marR="0" lvl="0" indent="0" algn="l" rtl="0">
                <a:spcBef>
                  <a:spcPts val="0"/>
                </a:spcBef>
                <a:spcAft>
                  <a:spcPts val="0"/>
                </a:spcAft>
                <a:buNone/>
              </a:pPr>
              <a:r>
                <a:rPr lang="es-MX" sz="1400" b="1">
                  <a:solidFill>
                    <a:srgbClr val="078CAE"/>
                  </a:solidFill>
                  <a:latin typeface="Calibri"/>
                  <a:ea typeface="Calibri"/>
                  <a:cs typeface="Calibri"/>
                  <a:sym typeface="Calibri"/>
                </a:rPr>
                <a:t>Presentar y compartir conclusiones</a:t>
              </a:r>
              <a:endParaRPr/>
            </a:p>
          </p:txBody>
        </p:sp>
        <p:pic>
          <p:nvPicPr>
            <p:cNvPr id="184" name="Google Shape;184;p12" descr="Icono&#10;&#10;Descripción generada automáticamente"/>
            <p:cNvPicPr preferRelativeResize="0"/>
            <p:nvPr/>
          </p:nvPicPr>
          <p:blipFill rotWithShape="1">
            <a:blip r:embed="rId3">
              <a:alphaModFix/>
            </a:blip>
            <a:srcRect l="8385" r="47696" b="50000"/>
            <a:stretch/>
          </p:blipFill>
          <p:spPr>
            <a:xfrm>
              <a:off x="10672166" y="1116131"/>
              <a:ext cx="802779" cy="923185"/>
            </a:xfrm>
            <a:prstGeom prst="rect">
              <a:avLst/>
            </a:prstGeom>
            <a:noFill/>
            <a:ln>
              <a:noFill/>
            </a:ln>
          </p:spPr>
        </p:pic>
        <p:pic>
          <p:nvPicPr>
            <p:cNvPr id="185" name="Google Shape;185;p12" descr="Icono&#10;&#10;Descripción generada automáticamente"/>
            <p:cNvPicPr preferRelativeResize="0"/>
            <p:nvPr/>
          </p:nvPicPr>
          <p:blipFill rotWithShape="1">
            <a:blip r:embed="rId4">
              <a:alphaModFix/>
            </a:blip>
            <a:srcRect t="47604" r="74360" b="-1"/>
            <a:stretch/>
          </p:blipFill>
          <p:spPr>
            <a:xfrm>
              <a:off x="10879352" y="5132601"/>
              <a:ext cx="468681" cy="967427"/>
            </a:xfrm>
            <a:prstGeom prst="rect">
              <a:avLst/>
            </a:prstGeom>
            <a:noFill/>
            <a:ln>
              <a:noFill/>
            </a:ln>
          </p:spPr>
        </p:pic>
        <p:pic>
          <p:nvPicPr>
            <p:cNvPr id="186" name="Google Shape;186;p12" descr="Icono&#10;&#10;Descripción generada automáticamente"/>
            <p:cNvPicPr preferRelativeResize="0"/>
            <p:nvPr/>
          </p:nvPicPr>
          <p:blipFill rotWithShape="1">
            <a:blip r:embed="rId5">
              <a:alphaModFix/>
            </a:blip>
            <a:srcRect l="25268" t="65281" r="35749"/>
            <a:stretch/>
          </p:blipFill>
          <p:spPr>
            <a:xfrm>
              <a:off x="10762366" y="3085160"/>
              <a:ext cx="712579" cy="641048"/>
            </a:xfrm>
            <a:prstGeom prst="rect">
              <a:avLst/>
            </a:prstGeom>
            <a:noFill/>
            <a:ln>
              <a:noFill/>
            </a:ln>
          </p:spPr>
        </p:pic>
        <p:sp>
          <p:nvSpPr>
            <p:cNvPr id="187" name="Google Shape;187;p12"/>
            <p:cNvSpPr txBox="1"/>
            <p:nvPr/>
          </p:nvSpPr>
          <p:spPr>
            <a:xfrm>
              <a:off x="5871116" y="2257738"/>
              <a:ext cx="4408204"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200">
                  <a:solidFill>
                    <a:srgbClr val="7F7F7F"/>
                  </a:solidFill>
                  <a:latin typeface="Arial"/>
                  <a:ea typeface="Arial"/>
                  <a:cs typeface="Arial"/>
                  <a:sym typeface="Arial"/>
                </a:rPr>
                <a:t>La pregunta que quieren responder en su estudio es: ¿Las sesiones semanales de psicoterapia reducen los síntomas en adultos de 25 a 40 años con trastorno de ansiedad generalizada?</a:t>
              </a:r>
              <a:endParaRPr sz="1200">
                <a:solidFill>
                  <a:srgbClr val="7F7F7F"/>
                </a:solidFill>
                <a:latin typeface="Arial"/>
                <a:ea typeface="Arial"/>
                <a:cs typeface="Arial"/>
                <a:sym typeface="Arial"/>
              </a:endParaRPr>
            </a:p>
          </p:txBody>
        </p:sp>
        <p:sp>
          <p:nvSpPr>
            <p:cNvPr id="188" name="Google Shape;188;p12"/>
            <p:cNvSpPr txBox="1"/>
            <p:nvPr/>
          </p:nvSpPr>
          <p:spPr>
            <a:xfrm>
              <a:off x="5871116" y="3150258"/>
              <a:ext cx="4496586"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200">
                  <a:solidFill>
                    <a:srgbClr val="7F7F7F"/>
                  </a:solidFill>
                  <a:latin typeface="Arial"/>
                  <a:ea typeface="Arial"/>
                  <a:cs typeface="Arial"/>
                  <a:sym typeface="Arial"/>
                </a:rPr>
                <a:t>Se trabajan con terapeutas para crear un programa consistente al que se someten todos los participantes. El grupo 1 puede asistir a terapia una vez por semana, mientras que el grupo 2 no asiste a terapia.</a:t>
              </a:r>
              <a:endParaRPr sz="1200">
                <a:solidFill>
                  <a:srgbClr val="7F7F7F"/>
                </a:solidFill>
                <a:latin typeface="Arial"/>
                <a:ea typeface="Arial"/>
                <a:cs typeface="Arial"/>
                <a:sym typeface="Arial"/>
              </a:endParaRPr>
            </a:p>
          </p:txBody>
        </p:sp>
        <p:sp>
          <p:nvSpPr>
            <p:cNvPr id="189" name="Google Shape;189;p12"/>
            <p:cNvSpPr txBox="1"/>
            <p:nvPr/>
          </p:nvSpPr>
          <p:spPr>
            <a:xfrm>
              <a:off x="5871116" y="4061259"/>
              <a:ext cx="4496586"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200">
                  <a:solidFill>
                    <a:srgbClr val="7F7F7F"/>
                  </a:solidFill>
                  <a:latin typeface="Arial"/>
                  <a:ea typeface="Arial"/>
                  <a:cs typeface="Arial"/>
                  <a:sym typeface="Arial"/>
                </a:rPr>
                <a:t>Participantes registran sus síntomas y cualquier cambio durante un período de estudio. Finalmente, las personas del grupo 1 informan mejoras significativas en sus síntomas de ansiedad, mientras que las del grupo 2 no informan cambios significativos.</a:t>
              </a:r>
              <a:endParaRPr sz="1200">
                <a:solidFill>
                  <a:srgbClr val="7F7F7F"/>
                </a:solidFill>
                <a:latin typeface="Arial"/>
                <a:ea typeface="Arial"/>
                <a:cs typeface="Arial"/>
                <a:sym typeface="Arial"/>
              </a:endParaRPr>
            </a:p>
          </p:txBody>
        </p:sp>
        <p:sp>
          <p:nvSpPr>
            <p:cNvPr id="190" name="Google Shape;190;p12"/>
            <p:cNvSpPr txBox="1"/>
            <p:nvPr/>
          </p:nvSpPr>
          <p:spPr>
            <a:xfrm>
              <a:off x="5871116" y="5113806"/>
              <a:ext cx="4496586"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200">
                  <a:solidFill>
                    <a:srgbClr val="7F7F7F"/>
                  </a:solidFill>
                  <a:latin typeface="Arial"/>
                  <a:ea typeface="Arial"/>
                  <a:cs typeface="Arial"/>
                  <a:sym typeface="Arial"/>
                </a:rPr>
                <a:t>Se confecciona un informe que incluye hipótesis, información sobre los participantes, variables, procedimiento y conclusiones extraídas del estudio. En este caso, afirman que “se ha demostrado que las sesiones semanales de terapia reducen los síntomas de ansiedad en adultos de 25 a 40 años”.</a:t>
              </a:r>
              <a:endParaRPr sz="1200">
                <a:solidFill>
                  <a:srgbClr val="7F7F7F"/>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3"/>
          <p:cNvSpPr txBox="1"/>
          <p:nvPr/>
        </p:nvSpPr>
        <p:spPr>
          <a:xfrm>
            <a:off x="582523" y="700322"/>
            <a:ext cx="10477297"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dirty="0">
                <a:solidFill>
                  <a:srgbClr val="7F7F7F"/>
                </a:solidFill>
                <a:latin typeface="Arial"/>
                <a:ea typeface="Arial"/>
                <a:cs typeface="Arial"/>
                <a:sym typeface="Arial"/>
              </a:rPr>
              <a:t>Elementos de un Experimento Simple</a:t>
            </a:r>
            <a:endParaRPr dirty="0"/>
          </a:p>
        </p:txBody>
      </p:sp>
      <p:sp>
        <p:nvSpPr>
          <p:cNvPr id="196" name="Google Shape;196;p13"/>
          <p:cNvSpPr/>
          <p:nvPr/>
        </p:nvSpPr>
        <p:spPr>
          <a:xfrm>
            <a:off x="-287386" y="1708384"/>
            <a:ext cx="12217113" cy="3626137"/>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13"/>
          <p:cNvSpPr txBox="1"/>
          <p:nvPr/>
        </p:nvSpPr>
        <p:spPr>
          <a:xfrm>
            <a:off x="556416" y="2086550"/>
            <a:ext cx="5564513"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Un experimento simple es uno que los investigadores usan a menudo para determinar si los cambios en una variable pueden conducir a cambios en otra variable; en otras palabras, para establecer causa y efecto. En un experimento simple que analiza la eficacia de un nuevo medicamento, por ejemplo, los participantes del estudio pueden ser asignados aleatoriamente a uno de dos grupos: uno de ellos sería el grupo de control y no recibiría tratamiento, mientras que el otro grupo sería el grupo experimental que recibe el tratamiento en estudio.</a:t>
            </a:r>
            <a:endParaRPr/>
          </a:p>
        </p:txBody>
      </p:sp>
      <p:grpSp>
        <p:nvGrpSpPr>
          <p:cNvPr id="5" name="Grupo 4">
            <a:extLst>
              <a:ext uri="{FF2B5EF4-FFF2-40B4-BE49-F238E27FC236}">
                <a16:creationId xmlns:a16="http://schemas.microsoft.com/office/drawing/2014/main" id="{D5F1A78D-0637-D2F6-4634-C86B6DB907CE}"/>
              </a:ext>
            </a:extLst>
          </p:cNvPr>
          <p:cNvGrpSpPr/>
          <p:nvPr/>
        </p:nvGrpSpPr>
        <p:grpSpPr>
          <a:xfrm>
            <a:off x="6964731" y="1786597"/>
            <a:ext cx="4869753" cy="3451558"/>
            <a:chOff x="6964731" y="1786597"/>
            <a:chExt cx="4869753" cy="3451558"/>
          </a:xfrm>
        </p:grpSpPr>
        <p:sp>
          <p:nvSpPr>
            <p:cNvPr id="198" name="Google Shape;198;p13"/>
            <p:cNvSpPr/>
            <p:nvPr/>
          </p:nvSpPr>
          <p:spPr>
            <a:xfrm rot="16200000">
              <a:off x="7679165" y="1082835"/>
              <a:ext cx="3440886" cy="4869753"/>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9" name="Google Shape;199;p13"/>
            <p:cNvPicPr preferRelativeResize="0"/>
            <p:nvPr/>
          </p:nvPicPr>
          <p:blipFill rotWithShape="1">
            <a:blip r:embed="rId3">
              <a:alphaModFix/>
            </a:blip>
            <a:srcRect/>
            <a:stretch/>
          </p:blipFill>
          <p:spPr>
            <a:xfrm>
              <a:off x="7147587" y="1786597"/>
              <a:ext cx="4589110" cy="3128033"/>
            </a:xfrm>
            <a:prstGeom prst="rect">
              <a:avLst/>
            </a:prstGeom>
            <a:noFill/>
            <a:ln>
              <a:noFill/>
            </a:ln>
          </p:spPr>
        </p:pic>
        <p:sp>
          <p:nvSpPr>
            <p:cNvPr id="2" name="CuadroTexto 1">
              <a:extLst>
                <a:ext uri="{FF2B5EF4-FFF2-40B4-BE49-F238E27FC236}">
                  <a16:creationId xmlns:a16="http://schemas.microsoft.com/office/drawing/2014/main" id="{09B56981-B138-299D-E090-380ECEBB166E}"/>
                </a:ext>
              </a:extLst>
            </p:cNvPr>
            <p:cNvSpPr txBox="1"/>
            <p:nvPr/>
          </p:nvSpPr>
          <p:spPr>
            <a:xfrm>
              <a:off x="7493000" y="3545417"/>
              <a:ext cx="1303868" cy="523220"/>
            </a:xfrm>
            <a:prstGeom prst="rect">
              <a:avLst/>
            </a:prstGeom>
            <a:solidFill>
              <a:schemeClr val="bg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Tamaño de la Muestra</a:t>
              </a:r>
              <a:endParaRPr lang="es-ES" b="1"/>
            </a:p>
          </p:txBody>
        </p:sp>
        <p:sp>
          <p:nvSpPr>
            <p:cNvPr id="3" name="CuadroTexto 2">
              <a:extLst>
                <a:ext uri="{FF2B5EF4-FFF2-40B4-BE49-F238E27FC236}">
                  <a16:creationId xmlns:a16="http://schemas.microsoft.com/office/drawing/2014/main" id="{056A6317-514C-50E1-9B74-EBADCE1A31D2}"/>
                </a:ext>
              </a:extLst>
            </p:cNvPr>
            <p:cNvSpPr txBox="1"/>
            <p:nvPr/>
          </p:nvSpPr>
          <p:spPr>
            <a:xfrm>
              <a:off x="9937749" y="2857499"/>
              <a:ext cx="1610785" cy="523220"/>
            </a:xfrm>
            <a:prstGeom prst="rect">
              <a:avLst/>
            </a:prstGeom>
            <a:solidFill>
              <a:schemeClr val="bg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Grupo Experimental</a:t>
              </a:r>
            </a:p>
          </p:txBody>
        </p:sp>
      </p:grpSp>
      <p:sp>
        <p:nvSpPr>
          <p:cNvPr id="4" name="CuadroTexto 3">
            <a:extLst>
              <a:ext uri="{FF2B5EF4-FFF2-40B4-BE49-F238E27FC236}">
                <a16:creationId xmlns:a16="http://schemas.microsoft.com/office/drawing/2014/main" id="{BA110807-ACC8-92FD-6556-2C12345EEAB7}"/>
              </a:ext>
            </a:extLst>
          </p:cNvPr>
          <p:cNvSpPr txBox="1"/>
          <p:nvPr/>
        </p:nvSpPr>
        <p:spPr>
          <a:xfrm>
            <a:off x="8953499" y="4646082"/>
            <a:ext cx="2108201" cy="307777"/>
          </a:xfrm>
          <a:prstGeom prst="rect">
            <a:avLst/>
          </a:prstGeom>
          <a:solidFill>
            <a:schemeClr val="bg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dirty="0"/>
              <a:t>Grupo de Control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fade">
                                      <p:cBhvr>
                                        <p:cTn id="7" dur="5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4"/>
          <p:cNvSpPr txBox="1"/>
          <p:nvPr/>
        </p:nvSpPr>
        <p:spPr>
          <a:xfrm>
            <a:off x="323792" y="55287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dirty="0">
                <a:solidFill>
                  <a:srgbClr val="7F7F7F"/>
                </a:solidFill>
                <a:latin typeface="Arial"/>
                <a:ea typeface="Arial"/>
                <a:cs typeface="Arial"/>
                <a:sym typeface="Arial"/>
              </a:rPr>
              <a:t>Elementos de un Experimento Simple</a:t>
            </a:r>
            <a:endParaRPr dirty="0"/>
          </a:p>
        </p:txBody>
      </p:sp>
      <p:sp>
        <p:nvSpPr>
          <p:cNvPr id="205" name="Google Shape;205;p14"/>
          <p:cNvSpPr/>
          <p:nvPr/>
        </p:nvSpPr>
        <p:spPr>
          <a:xfrm>
            <a:off x="-224270" y="1448732"/>
            <a:ext cx="7674075" cy="422861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4"/>
          <p:cNvSpPr txBox="1"/>
          <p:nvPr/>
        </p:nvSpPr>
        <p:spPr>
          <a:xfrm>
            <a:off x="323792" y="1904456"/>
            <a:ext cx="6860199" cy="31700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 experimento simple está compuesto por varios elementos claves.</a:t>
            </a:r>
            <a:endParaRPr sz="1800"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i="1" dirty="0">
                <a:solidFill>
                  <a:schemeClr val="lt1"/>
                </a:solidFill>
                <a:latin typeface="Calibri"/>
                <a:ea typeface="Calibri"/>
                <a:cs typeface="Calibri"/>
                <a:sym typeface="Calibri"/>
              </a:rPr>
              <a:t>Hipótesis experimental</a:t>
            </a:r>
            <a:endParaRPr sz="1800" dirty="0">
              <a:solidFill>
                <a:schemeClr val="lt1"/>
              </a:solidFill>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Esta es una declaración que predice que el tratamiento causará un efecto y, por lo tanto, siempre se expresará como una declaración de causa y efecto. Por ejemplo, los investigadores podrían formular una hipótesis de esta manera: "La administración del medicamento A resultará en una reducción de los síntomas de la enfermedad B".</a:t>
            </a:r>
            <a:endParaRPr sz="1800" dirty="0">
              <a:solidFill>
                <a:schemeClr val="lt1"/>
              </a:solidFill>
            </a:endParaRPr>
          </a:p>
        </p:txBody>
      </p:sp>
      <p:pic>
        <p:nvPicPr>
          <p:cNvPr id="207" name="Google Shape;207;p14"/>
          <p:cNvPicPr preferRelativeResize="0"/>
          <p:nvPr/>
        </p:nvPicPr>
        <p:blipFill rotWithShape="1">
          <a:blip r:embed="rId3">
            <a:alphaModFix/>
          </a:blip>
          <a:srcRect/>
          <a:stretch/>
        </p:blipFill>
        <p:spPr>
          <a:xfrm>
            <a:off x="8267695" y="2119229"/>
            <a:ext cx="3114575" cy="3114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fade">
                                      <p:cBhvr>
                                        <p:cTn id="7"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4"/>
          <p:cNvSpPr txBox="1"/>
          <p:nvPr/>
        </p:nvSpPr>
        <p:spPr>
          <a:xfrm>
            <a:off x="323792" y="552872"/>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Elementos de un Experimento Simple</a:t>
            </a:r>
            <a:endParaRPr/>
          </a:p>
        </p:txBody>
      </p:sp>
      <p:sp>
        <p:nvSpPr>
          <p:cNvPr id="205" name="Google Shape;205;p14"/>
          <p:cNvSpPr/>
          <p:nvPr/>
        </p:nvSpPr>
        <p:spPr>
          <a:xfrm>
            <a:off x="-224270" y="1448732"/>
            <a:ext cx="7674075" cy="422861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4"/>
          <p:cNvSpPr txBox="1"/>
          <p:nvPr/>
        </p:nvSpPr>
        <p:spPr>
          <a:xfrm>
            <a:off x="323792" y="1918064"/>
            <a:ext cx="6860199" cy="317005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 experimento simple está compuesto por varios elementos claves.</a:t>
            </a:r>
            <a:endParaRPr sz="1800" dirty="0"/>
          </a:p>
          <a:p>
            <a:pPr marL="0" marR="0" lvl="0" indent="0" algn="just" rtl="0">
              <a:spcBef>
                <a:spcPts val="0"/>
              </a:spcBef>
              <a:spcAft>
                <a:spcPts val="0"/>
              </a:spcAft>
              <a:buNone/>
            </a:pPr>
            <a:endParaRPr lang="es-MX" sz="2000">
              <a:solidFill>
                <a:schemeClr val="lt1"/>
              </a:solidFill>
              <a:latin typeface="Calibri"/>
              <a:ea typeface="Calibri"/>
              <a:cs typeface="Calibri"/>
            </a:endParaRPr>
          </a:p>
          <a:p>
            <a:pPr marL="0" marR="0" lvl="0" indent="0" algn="just" rtl="0">
              <a:spcBef>
                <a:spcPts val="0"/>
              </a:spcBef>
              <a:spcAft>
                <a:spcPts val="0"/>
              </a:spcAft>
              <a:buNone/>
            </a:pPr>
            <a:r>
              <a:rPr lang="es-MX" sz="2000" i="1" dirty="0">
                <a:solidFill>
                  <a:schemeClr val="lt1"/>
                </a:solidFill>
                <a:latin typeface="Calibri"/>
                <a:ea typeface="Calibri"/>
                <a:cs typeface="Calibri"/>
                <a:sym typeface="Calibri"/>
              </a:rPr>
              <a:t>Hipótesis nula</a:t>
            </a:r>
            <a:endParaRPr sz="1800" dirty="0">
              <a:solidFill>
                <a:schemeClr val="lt1"/>
              </a:solidFill>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Esta es una hipótesis de que el tratamiento experimental no tendrá efecto sobre los participantes o las variables dependientes. Es importante tener en cuenta que no encontrar un efecto del tratamiento no significa que no haya efecto. El tratamiento podría afectar otra variable que los investigadores no están midiendo en el experimento actual.</a:t>
            </a:r>
            <a:endParaRPr sz="1800" dirty="0">
              <a:solidFill>
                <a:schemeClr val="lt1"/>
              </a:solidFill>
            </a:endParaRPr>
          </a:p>
        </p:txBody>
      </p:sp>
      <p:pic>
        <p:nvPicPr>
          <p:cNvPr id="207" name="Google Shape;207;p14"/>
          <p:cNvPicPr preferRelativeResize="0"/>
          <p:nvPr/>
        </p:nvPicPr>
        <p:blipFill rotWithShape="1">
          <a:blip r:embed="rId3">
            <a:alphaModFix/>
          </a:blip>
          <a:srcRect/>
          <a:stretch/>
        </p:blipFill>
        <p:spPr>
          <a:xfrm>
            <a:off x="8267695" y="2119229"/>
            <a:ext cx="3114575" cy="3114575"/>
          </a:xfrm>
          <a:prstGeom prst="rect">
            <a:avLst/>
          </a:prstGeom>
          <a:noFill/>
          <a:ln>
            <a:noFill/>
          </a:ln>
        </p:spPr>
      </p:pic>
    </p:spTree>
    <p:extLst>
      <p:ext uri="{BB962C8B-B14F-4D97-AF65-F5344CB8AC3E}">
        <p14:creationId xmlns:p14="http://schemas.microsoft.com/office/powerpoint/2010/main" val="2170130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fade">
                                      <p:cBhvr>
                                        <p:cTn id="7" dur="5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p:nvPr/>
        </p:nvSpPr>
        <p:spPr>
          <a:xfrm>
            <a:off x="392581" y="253671"/>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Elementos de un Experimento Simple</a:t>
            </a:r>
            <a:endParaRPr/>
          </a:p>
        </p:txBody>
      </p:sp>
      <p:sp>
        <p:nvSpPr>
          <p:cNvPr id="213" name="Google Shape;213;p15"/>
          <p:cNvSpPr/>
          <p:nvPr/>
        </p:nvSpPr>
        <p:spPr>
          <a:xfrm>
            <a:off x="-281638" y="1261733"/>
            <a:ext cx="8694116" cy="4689667"/>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15"/>
          <p:cNvSpPr txBox="1"/>
          <p:nvPr/>
        </p:nvSpPr>
        <p:spPr>
          <a:xfrm>
            <a:off x="392581" y="1589983"/>
            <a:ext cx="7841242" cy="403183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600" b="1">
                <a:solidFill>
                  <a:schemeClr val="lt1"/>
                </a:solidFill>
                <a:latin typeface="Arial"/>
                <a:ea typeface="Arial"/>
                <a:cs typeface="Arial"/>
                <a:sym typeface="Arial"/>
              </a:rPr>
              <a:t>Variable independiente</a:t>
            </a:r>
            <a:endParaRPr/>
          </a:p>
          <a:p>
            <a:pPr marL="0" marR="0" lvl="0" indent="0" algn="just" rtl="0">
              <a:spcBef>
                <a:spcPts val="0"/>
              </a:spcBef>
              <a:spcAft>
                <a:spcPts val="0"/>
              </a:spcAft>
              <a:buNone/>
            </a:pPr>
            <a:r>
              <a:rPr lang="es-MX" sz="1600">
                <a:solidFill>
                  <a:schemeClr val="lt1"/>
                </a:solidFill>
                <a:latin typeface="Arial"/>
                <a:ea typeface="Arial"/>
                <a:cs typeface="Arial"/>
                <a:sym typeface="Arial"/>
              </a:rPr>
              <a:t>La variable de tratamiento que es manipulada por el experimentador. Por ejemplo, la dosis del medicamento a aplicar.</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a:p>
            <a:pPr marL="0" marR="0" lvl="0" indent="0" algn="just" rtl="0">
              <a:spcBef>
                <a:spcPts val="0"/>
              </a:spcBef>
              <a:spcAft>
                <a:spcPts val="0"/>
              </a:spcAft>
              <a:buNone/>
            </a:pPr>
            <a:r>
              <a:rPr lang="es-MX" sz="1600" b="1">
                <a:solidFill>
                  <a:schemeClr val="lt1"/>
                </a:solidFill>
                <a:latin typeface="Arial"/>
                <a:ea typeface="Arial"/>
                <a:cs typeface="Arial"/>
                <a:sym typeface="Arial"/>
              </a:rPr>
              <a:t>Variable dependiente</a:t>
            </a:r>
            <a:endParaRPr/>
          </a:p>
          <a:p>
            <a:pPr marL="0" marR="0" lvl="0" indent="0" algn="just" rtl="0">
              <a:spcBef>
                <a:spcPts val="0"/>
              </a:spcBef>
              <a:spcAft>
                <a:spcPts val="0"/>
              </a:spcAft>
              <a:buNone/>
            </a:pPr>
            <a:r>
              <a:rPr lang="es-MX" sz="1600">
                <a:solidFill>
                  <a:schemeClr val="lt1"/>
                </a:solidFill>
                <a:latin typeface="Arial"/>
                <a:ea typeface="Arial"/>
                <a:cs typeface="Arial"/>
                <a:sym typeface="Arial"/>
              </a:rPr>
              <a:t>Se refiere a la respuesta que miden los investigadores. Por ejemplo, el nivel de colesterol en la sangre.</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a:p>
            <a:pPr marL="0" marR="0" lvl="0" indent="0" algn="just" rtl="0">
              <a:spcBef>
                <a:spcPts val="0"/>
              </a:spcBef>
              <a:spcAft>
                <a:spcPts val="0"/>
              </a:spcAft>
              <a:buNone/>
            </a:pPr>
            <a:r>
              <a:rPr lang="es-MX" sz="1600" b="1">
                <a:solidFill>
                  <a:schemeClr val="lt1"/>
                </a:solidFill>
                <a:latin typeface="Arial"/>
                <a:ea typeface="Arial"/>
                <a:cs typeface="Arial"/>
                <a:sym typeface="Arial"/>
              </a:rPr>
              <a:t>Grupo de control</a:t>
            </a:r>
            <a:endParaRPr/>
          </a:p>
          <a:p>
            <a:pPr marL="0" marR="0" lvl="0" indent="0" algn="just" rtl="0">
              <a:spcBef>
                <a:spcPts val="0"/>
              </a:spcBef>
              <a:spcAft>
                <a:spcPts val="0"/>
              </a:spcAft>
              <a:buNone/>
            </a:pPr>
            <a:r>
              <a:rPr lang="es-MX" sz="1600">
                <a:solidFill>
                  <a:schemeClr val="lt1"/>
                </a:solidFill>
                <a:latin typeface="Arial"/>
                <a:ea typeface="Arial"/>
                <a:cs typeface="Arial"/>
                <a:sym typeface="Arial"/>
              </a:rPr>
              <a:t>Estos son los individuos que se asignan aleatoriamente a un grupo, pero no reciben el tratamiento. Las medidas tomadas del grupo de control se compararán con las del grupo experimental para determinar si el tratamiento tuvo algún efecto.</a:t>
            </a:r>
            <a:endParaRPr/>
          </a:p>
          <a:p>
            <a:pPr marL="0" marR="0" lvl="0" indent="0" algn="just" rtl="0">
              <a:spcBef>
                <a:spcPts val="0"/>
              </a:spcBef>
              <a:spcAft>
                <a:spcPts val="0"/>
              </a:spcAft>
              <a:buNone/>
            </a:pPr>
            <a:endParaRPr sz="1600">
              <a:solidFill>
                <a:schemeClr val="lt1"/>
              </a:solidFill>
              <a:latin typeface="Arial"/>
              <a:ea typeface="Arial"/>
              <a:cs typeface="Arial"/>
              <a:sym typeface="Arial"/>
            </a:endParaRPr>
          </a:p>
          <a:p>
            <a:pPr marL="0" marR="0" lvl="0" indent="0" algn="just" rtl="0">
              <a:spcBef>
                <a:spcPts val="0"/>
              </a:spcBef>
              <a:spcAft>
                <a:spcPts val="0"/>
              </a:spcAft>
              <a:buNone/>
            </a:pPr>
            <a:r>
              <a:rPr lang="es-MX" sz="1600" b="1">
                <a:solidFill>
                  <a:schemeClr val="lt1"/>
                </a:solidFill>
                <a:latin typeface="Arial"/>
                <a:ea typeface="Arial"/>
                <a:cs typeface="Arial"/>
                <a:sym typeface="Arial"/>
              </a:rPr>
              <a:t>Grupo experimental</a:t>
            </a:r>
            <a:endParaRPr/>
          </a:p>
          <a:p>
            <a:pPr marL="0" marR="0" lvl="0" indent="0" algn="just" rtl="0">
              <a:spcBef>
                <a:spcPts val="0"/>
              </a:spcBef>
              <a:spcAft>
                <a:spcPts val="0"/>
              </a:spcAft>
              <a:buNone/>
            </a:pPr>
            <a:r>
              <a:rPr lang="es-MX" sz="1600">
                <a:solidFill>
                  <a:schemeClr val="lt1"/>
                </a:solidFill>
                <a:latin typeface="Arial"/>
                <a:ea typeface="Arial"/>
                <a:cs typeface="Arial"/>
                <a:sym typeface="Arial"/>
              </a:rPr>
              <a:t>Este grupo de participantes del estudio está compuesto por sujetos seleccionados al azar que recibirán el tratamiento que se está probando.</a:t>
            </a:r>
            <a:endParaRPr/>
          </a:p>
        </p:txBody>
      </p:sp>
      <p:pic>
        <p:nvPicPr>
          <p:cNvPr id="215" name="Google Shape;215;p15"/>
          <p:cNvPicPr preferRelativeResize="0"/>
          <p:nvPr/>
        </p:nvPicPr>
        <p:blipFill rotWithShape="1">
          <a:blip r:embed="rId3">
            <a:alphaModFix/>
          </a:blip>
          <a:srcRect/>
          <a:stretch/>
        </p:blipFill>
        <p:spPr>
          <a:xfrm>
            <a:off x="9087227" y="306550"/>
            <a:ext cx="2817246" cy="28172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2"/>
                                        </p:tgtEl>
                                        <p:attrNameLst>
                                          <p:attrName>style.visibility</p:attrName>
                                        </p:attrNameLst>
                                      </p:cBhvr>
                                      <p:to>
                                        <p:strVal val="visible"/>
                                      </p:to>
                                    </p:set>
                                    <p:animEffect transition="in" filter="fade">
                                      <p:cBhvr>
                                        <p:cTn id="7"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p:nvPr/>
        </p:nvSpPr>
        <p:spPr>
          <a:xfrm>
            <a:off x="295512" y="25470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Resultados de un Experimento Simple</a:t>
            </a:r>
            <a:endParaRPr/>
          </a:p>
        </p:txBody>
      </p:sp>
      <p:sp>
        <p:nvSpPr>
          <p:cNvPr id="221" name="Google Shape;221;p16"/>
          <p:cNvSpPr/>
          <p:nvPr/>
        </p:nvSpPr>
        <p:spPr>
          <a:xfrm>
            <a:off x="-365761" y="1452700"/>
            <a:ext cx="8659155" cy="378921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6"/>
          <p:cNvSpPr txBox="1"/>
          <p:nvPr/>
        </p:nvSpPr>
        <p:spPr>
          <a:xfrm>
            <a:off x="431583" y="2188620"/>
            <a:ext cx="7292401" cy="22467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Una vez que se han recopilado los datos del experimento simple, los investigadores comparan los resultados del grupo experimental con los del grupo de control para determinar si el tratamiento tuvo algún efecto. Debido a la posibilidad siempre presente de errores, no es posible estar 100 por ciento seguro de la relación entre dos variables. Podría, por ejemplo, haber variables desconocidas en juego que influyan en el resultado del experimento.</a:t>
            </a:r>
            <a:endParaRPr sz="1800" dirty="0">
              <a:solidFill>
                <a:schemeClr val="lt1"/>
              </a:solidFill>
            </a:endParaRPr>
          </a:p>
        </p:txBody>
      </p:sp>
      <p:pic>
        <p:nvPicPr>
          <p:cNvPr id="223" name="Google Shape;223;p16"/>
          <p:cNvPicPr preferRelativeResize="0"/>
          <p:nvPr/>
        </p:nvPicPr>
        <p:blipFill rotWithShape="1">
          <a:blip r:embed="rId3">
            <a:alphaModFix/>
          </a:blip>
          <a:srcRect/>
          <a:stretch/>
        </p:blipFill>
        <p:spPr>
          <a:xfrm>
            <a:off x="8954667" y="1599258"/>
            <a:ext cx="3064061" cy="306406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6"/>
          <p:cNvSpPr txBox="1"/>
          <p:nvPr/>
        </p:nvSpPr>
        <p:spPr>
          <a:xfrm>
            <a:off x="295512" y="254705"/>
            <a:ext cx="10782300"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Resultados de un Experimento Simple</a:t>
            </a:r>
            <a:endParaRPr/>
          </a:p>
        </p:txBody>
      </p:sp>
      <p:sp>
        <p:nvSpPr>
          <p:cNvPr id="221" name="Google Shape;221;p16"/>
          <p:cNvSpPr/>
          <p:nvPr/>
        </p:nvSpPr>
        <p:spPr>
          <a:xfrm>
            <a:off x="-365761" y="1166950"/>
            <a:ext cx="8659155" cy="4415143"/>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6"/>
          <p:cNvSpPr txBox="1"/>
          <p:nvPr/>
        </p:nvSpPr>
        <p:spPr>
          <a:xfrm>
            <a:off x="295512" y="1576299"/>
            <a:ext cx="7550937" cy="34778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A pesar de este desafío, hay formas de determinar si lo más probable es que exista una </a:t>
            </a:r>
            <a:r>
              <a:rPr lang="es-MX" sz="2000" b="1" i="1" dirty="0">
                <a:solidFill>
                  <a:schemeClr val="lt1"/>
                </a:solidFill>
                <a:latin typeface="Calibri"/>
                <a:ea typeface="Calibri"/>
                <a:cs typeface="Calibri"/>
                <a:sym typeface="Calibri"/>
              </a:rPr>
              <a:t>relación significativa</a:t>
            </a:r>
            <a:r>
              <a:rPr lang="es-MX" sz="2000" i="1" dirty="0">
                <a:solidFill>
                  <a:schemeClr val="lt1"/>
                </a:solidFill>
                <a:latin typeface="Calibri"/>
                <a:ea typeface="Calibri"/>
                <a:cs typeface="Calibri"/>
                <a:sym typeface="Calibri"/>
              </a:rPr>
              <a:t>. </a:t>
            </a:r>
            <a:r>
              <a:rPr lang="es-MX" sz="2000" dirty="0">
                <a:solidFill>
                  <a:schemeClr val="lt1"/>
                </a:solidFill>
                <a:latin typeface="Calibri"/>
                <a:ea typeface="Calibri"/>
                <a:cs typeface="Calibri"/>
                <a:sym typeface="Calibri"/>
              </a:rPr>
              <a:t>Para hacer esto, los científicos usan </a:t>
            </a:r>
            <a:r>
              <a:rPr lang="es-MX" sz="2000" i="1" dirty="0">
                <a:solidFill>
                  <a:schemeClr val="lt1"/>
                </a:solidFill>
                <a:latin typeface="Calibri"/>
                <a:ea typeface="Calibri"/>
                <a:cs typeface="Calibri"/>
                <a:sym typeface="Calibri"/>
              </a:rPr>
              <a:t>estadísticas inferenciales, </a:t>
            </a:r>
            <a:r>
              <a:rPr lang="es-MX" sz="2000" dirty="0">
                <a:solidFill>
                  <a:schemeClr val="lt1"/>
                </a:solidFill>
                <a:latin typeface="Calibri"/>
                <a:ea typeface="Calibri"/>
                <a:cs typeface="Calibri"/>
                <a:sym typeface="Calibri"/>
              </a:rPr>
              <a:t>una rama de la estadística que se ocupa de sacar inferencias sobre una población con base en medidas tomadas de una muestra representativa de esa población.</a:t>
            </a:r>
            <a:endParaRPr lang="es-ES" sz="1800" dirty="0">
              <a:solidFill>
                <a:schemeClr val="lt1"/>
              </a:solidFill>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MX" sz="2000" dirty="0">
                <a:solidFill>
                  <a:schemeClr val="lt1"/>
                </a:solidFill>
                <a:latin typeface="Calibri"/>
                <a:ea typeface="Calibri"/>
                <a:cs typeface="Calibri"/>
                <a:sym typeface="Calibri"/>
              </a:rPr>
              <a:t>La clave para determinar si un tratamiento tuvo efecto es </a:t>
            </a:r>
            <a:r>
              <a:rPr lang="es-MX" sz="2000" b="1" i="1" dirty="0">
                <a:solidFill>
                  <a:schemeClr val="lt1"/>
                </a:solidFill>
                <a:latin typeface="Calibri"/>
                <a:ea typeface="Calibri"/>
                <a:cs typeface="Calibri"/>
                <a:sym typeface="Calibri"/>
              </a:rPr>
              <a:t>medir la significación estadística</a:t>
            </a:r>
            <a:r>
              <a:rPr lang="es-MX" sz="2000" i="1" dirty="0">
                <a:solidFill>
                  <a:schemeClr val="lt1"/>
                </a:solidFill>
                <a:latin typeface="Calibri"/>
                <a:ea typeface="Calibri"/>
                <a:cs typeface="Calibri"/>
                <a:sym typeface="Calibri"/>
              </a:rPr>
              <a:t>. </a:t>
            </a:r>
            <a:r>
              <a:rPr lang="es-MX" sz="2000" dirty="0">
                <a:solidFill>
                  <a:schemeClr val="lt1"/>
                </a:solidFill>
                <a:latin typeface="Calibri"/>
                <a:ea typeface="Calibri"/>
                <a:cs typeface="Calibri"/>
                <a:sym typeface="Calibri"/>
              </a:rPr>
              <a:t>La significancia estadística muestra que la relación entre las variables probablemente no se deba al mero azar y que lo más probable es que exista una relación real entre las dos variables.</a:t>
            </a:r>
            <a:endParaRPr sz="1800" dirty="0">
              <a:solidFill>
                <a:schemeClr val="lt1"/>
              </a:solidFill>
            </a:endParaRPr>
          </a:p>
        </p:txBody>
      </p:sp>
      <p:pic>
        <p:nvPicPr>
          <p:cNvPr id="223" name="Google Shape;223;p16"/>
          <p:cNvPicPr preferRelativeResize="0"/>
          <p:nvPr/>
        </p:nvPicPr>
        <p:blipFill rotWithShape="1">
          <a:blip r:embed="rId3">
            <a:alphaModFix/>
          </a:blip>
          <a:srcRect/>
          <a:stretch/>
        </p:blipFill>
        <p:spPr>
          <a:xfrm>
            <a:off x="8954667" y="1599258"/>
            <a:ext cx="3064061" cy="3064061"/>
          </a:xfrm>
          <a:prstGeom prst="rect">
            <a:avLst/>
          </a:prstGeom>
          <a:noFill/>
          <a:ln>
            <a:noFill/>
          </a:ln>
        </p:spPr>
      </p:pic>
    </p:spTree>
    <p:extLst>
      <p:ext uri="{BB962C8B-B14F-4D97-AF65-F5344CB8AC3E}">
        <p14:creationId xmlns:p14="http://schemas.microsoft.com/office/powerpoint/2010/main" val="110294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p:nvPr/>
        </p:nvSpPr>
        <p:spPr>
          <a:xfrm>
            <a:off x="380513" y="1387027"/>
            <a:ext cx="1144169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Significancia Estadística</a:t>
            </a:r>
            <a:endParaRPr/>
          </a:p>
        </p:txBody>
      </p:sp>
      <p:sp>
        <p:nvSpPr>
          <p:cNvPr id="229" name="Google Shape;229;p17"/>
          <p:cNvSpPr/>
          <p:nvPr/>
        </p:nvSpPr>
        <p:spPr>
          <a:xfrm>
            <a:off x="-241685" y="2387809"/>
            <a:ext cx="5657363" cy="229049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17"/>
          <p:cNvSpPr txBox="1"/>
          <p:nvPr/>
        </p:nvSpPr>
        <p:spPr>
          <a:xfrm>
            <a:off x="380513" y="2553839"/>
            <a:ext cx="4873254" cy="19389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a:solidFill>
                  <a:schemeClr val="lt1"/>
                </a:solidFill>
                <a:latin typeface="Calibri"/>
                <a:ea typeface="Calibri"/>
                <a:cs typeface="Calibri"/>
                <a:sym typeface="Calibri"/>
              </a:rPr>
              <a:t>Una vez que se han recopilado los datos del experimento simple, los investigadores comparan los resultados del grupo experimental con los del grupo de control para determinar si el tratamiento tuvo algún efecto. </a:t>
            </a:r>
            <a:endParaRPr sz="1800"/>
          </a:p>
        </p:txBody>
      </p:sp>
      <p:sp>
        <p:nvSpPr>
          <p:cNvPr id="231" name="Google Shape;231;p17"/>
          <p:cNvSpPr/>
          <p:nvPr/>
        </p:nvSpPr>
        <p:spPr>
          <a:xfrm rot="-5400000">
            <a:off x="6954570" y="480633"/>
            <a:ext cx="3657601" cy="5803405"/>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 name="Grupo 3">
            <a:extLst>
              <a:ext uri="{FF2B5EF4-FFF2-40B4-BE49-F238E27FC236}">
                <a16:creationId xmlns:a16="http://schemas.microsoft.com/office/drawing/2014/main" id="{F4069BE3-0326-3DE2-8151-6325A7C621E7}"/>
              </a:ext>
            </a:extLst>
          </p:cNvPr>
          <p:cNvGrpSpPr/>
          <p:nvPr/>
        </p:nvGrpSpPr>
        <p:grpSpPr>
          <a:xfrm>
            <a:off x="5989304" y="1638603"/>
            <a:ext cx="5617016" cy="3471886"/>
            <a:chOff x="5989304" y="1638603"/>
            <a:chExt cx="5617016" cy="3471886"/>
          </a:xfrm>
        </p:grpSpPr>
        <p:pic>
          <p:nvPicPr>
            <p:cNvPr id="232" name="Google Shape;232;p17"/>
            <p:cNvPicPr preferRelativeResize="0"/>
            <p:nvPr/>
          </p:nvPicPr>
          <p:blipFill rotWithShape="1">
            <a:blip r:embed="rId3">
              <a:alphaModFix/>
            </a:blip>
            <a:srcRect/>
            <a:stretch/>
          </p:blipFill>
          <p:spPr>
            <a:xfrm>
              <a:off x="5989304" y="1638603"/>
              <a:ext cx="5617016" cy="3471886"/>
            </a:xfrm>
            <a:prstGeom prst="rect">
              <a:avLst/>
            </a:prstGeom>
            <a:noFill/>
            <a:ln>
              <a:noFill/>
            </a:ln>
          </p:spPr>
        </p:pic>
        <p:sp>
          <p:nvSpPr>
            <p:cNvPr id="2" name="CuadroTexto 1">
              <a:extLst>
                <a:ext uri="{FF2B5EF4-FFF2-40B4-BE49-F238E27FC236}">
                  <a16:creationId xmlns:a16="http://schemas.microsoft.com/office/drawing/2014/main" id="{E9E55A6E-5105-40D5-2FC0-5A60E11398F0}"/>
                </a:ext>
              </a:extLst>
            </p:cNvPr>
            <p:cNvSpPr txBox="1"/>
            <p:nvPr/>
          </p:nvSpPr>
          <p:spPr>
            <a:xfrm>
              <a:off x="8794750" y="1894416"/>
              <a:ext cx="2328332" cy="954107"/>
            </a:xfrm>
            <a:prstGeom prst="rect">
              <a:avLst/>
            </a:prstGeom>
            <a:solidFill>
              <a:srgbClr val="F0DFB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dirty="0">
                  <a:solidFill>
                    <a:srgbClr val="CC920D"/>
                  </a:solidFill>
                </a:rPr>
                <a:t>Significancia Estadística</a:t>
              </a:r>
            </a:p>
          </p:txBody>
        </p:sp>
        <p:sp>
          <p:nvSpPr>
            <p:cNvPr id="3" name="CuadroTexto 2">
              <a:extLst>
                <a:ext uri="{FF2B5EF4-FFF2-40B4-BE49-F238E27FC236}">
                  <a16:creationId xmlns:a16="http://schemas.microsoft.com/office/drawing/2014/main" id="{8F114438-08D2-7338-36CC-7BDB8C19960B}"/>
                </a:ext>
              </a:extLst>
            </p:cNvPr>
            <p:cNvSpPr txBox="1"/>
            <p:nvPr/>
          </p:nvSpPr>
          <p:spPr>
            <a:xfrm>
              <a:off x="8794750" y="3376082"/>
              <a:ext cx="2656415" cy="1569660"/>
            </a:xfrm>
            <a:prstGeom prst="rect">
              <a:avLst/>
            </a:prstGeom>
            <a:solidFill>
              <a:srgbClr val="F0DFB3"/>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600" dirty="0">
                  <a:solidFill>
                    <a:srgbClr val="CC920D"/>
                  </a:solidFill>
                </a:rPr>
                <a:t>La afirmación de que un conjunto de datos observados no es el resultado del azar, sino que puede atribuirse a una causa específica.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p:nvPr/>
        </p:nvSpPr>
        <p:spPr>
          <a:xfrm>
            <a:off x="1211941" y="522502"/>
            <a:ext cx="9949396" cy="54675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Significancia Estadística</a:t>
            </a:r>
            <a:endParaRPr/>
          </a:p>
        </p:txBody>
      </p:sp>
      <p:sp>
        <p:nvSpPr>
          <p:cNvPr id="238" name="Google Shape;238;p18"/>
          <p:cNvSpPr/>
          <p:nvPr/>
        </p:nvSpPr>
        <p:spPr>
          <a:xfrm>
            <a:off x="-546853" y="1203538"/>
            <a:ext cx="12508476" cy="4168083"/>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9" name="Google Shape;239;p18"/>
          <p:cNvSpPr txBox="1"/>
          <p:nvPr/>
        </p:nvSpPr>
        <p:spPr>
          <a:xfrm>
            <a:off x="1188868" y="1398745"/>
            <a:ext cx="9972469"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chemeClr val="lt1"/>
                </a:solidFill>
                <a:latin typeface="Calibri"/>
                <a:ea typeface="Calibri"/>
                <a:cs typeface="Calibri"/>
                <a:sym typeface="Calibri"/>
              </a:rPr>
              <a:t>La significación estadística puede considerarse fuerte o débil. Al analizar un conjunto de datos y realizar las pruebas necesarias para discernir si una o más variables tienen un efecto en un resultado, una fuerte significación estadística ayuda a respaldar el hecho de que los resultados son reales y no causados por la suerte o el azar.</a:t>
            </a:r>
            <a:endParaRPr/>
          </a:p>
          <a:p>
            <a:pPr marL="0" marR="0" lvl="0" indent="0" algn="l" rtl="0">
              <a:spcBef>
                <a:spcPts val="0"/>
              </a:spcBef>
              <a:spcAft>
                <a:spcPts val="0"/>
              </a:spcAft>
              <a:buNone/>
            </a:pPr>
            <a:endParaRPr sz="16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600"/>
              <a:buFont typeface="Arial"/>
              <a:buChar char="•"/>
            </a:pPr>
            <a:r>
              <a:rPr lang="es-MX" sz="1600">
                <a:solidFill>
                  <a:schemeClr val="lt1"/>
                </a:solidFill>
                <a:latin typeface="Calibri"/>
                <a:ea typeface="Calibri"/>
                <a:cs typeface="Calibri"/>
                <a:sym typeface="Calibri"/>
              </a:rPr>
              <a:t>La importancia estadística se refiere a la afirmación de que es probable que un resultado de los datos generados por pruebas o experimentación sea atribuible a una causa específica.</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600"/>
              <a:buFont typeface="Arial"/>
              <a:buChar char="•"/>
            </a:pPr>
            <a:r>
              <a:rPr lang="es-MX" sz="1600">
                <a:solidFill>
                  <a:schemeClr val="lt1"/>
                </a:solidFill>
                <a:latin typeface="Calibri"/>
                <a:ea typeface="Calibri"/>
                <a:cs typeface="Calibri"/>
                <a:sym typeface="Calibri"/>
              </a:rPr>
              <a:t>Un alto grado de significación estadística indica que es poco probable que una relación observada se deba al azar.</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600"/>
              <a:buFont typeface="Arial"/>
              <a:buChar char="•"/>
            </a:pPr>
            <a:r>
              <a:rPr lang="es-MX" sz="1600">
                <a:solidFill>
                  <a:schemeClr val="lt1"/>
                </a:solidFill>
                <a:latin typeface="Calibri"/>
                <a:ea typeface="Calibri"/>
                <a:cs typeface="Calibri"/>
                <a:sym typeface="Calibri"/>
              </a:rPr>
              <a:t>El cálculo de la significación estadística está sujeto a un cierto grado de error.</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600"/>
              <a:buFont typeface="Arial"/>
              <a:buChar char="•"/>
            </a:pPr>
            <a:r>
              <a:rPr lang="es-MX" sz="1600">
                <a:solidFill>
                  <a:schemeClr val="lt1"/>
                </a:solidFill>
                <a:latin typeface="Calibri"/>
                <a:ea typeface="Calibri"/>
                <a:cs typeface="Calibri"/>
                <a:sym typeface="Calibri"/>
              </a:rPr>
              <a:t>La significación estadística puede malinterpretarse cuando los investigadores no usan el lenguaje con cuidado al informar sus resultados.</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600"/>
              <a:buFont typeface="Arial"/>
              <a:buChar char="•"/>
            </a:pPr>
            <a:r>
              <a:rPr lang="es-MX" sz="1600">
                <a:solidFill>
                  <a:schemeClr val="lt1"/>
                </a:solidFill>
                <a:latin typeface="Calibri"/>
                <a:ea typeface="Calibri"/>
                <a:cs typeface="Calibri"/>
                <a:sym typeface="Calibri"/>
              </a:rPr>
              <a:t>Se utilizan varios tipos de pruebas de significancia dependiendo de la investigación que se realice.</a:t>
            </a:r>
            <a:endParaRPr/>
          </a:p>
        </p:txBody>
      </p:sp>
      <p:pic>
        <p:nvPicPr>
          <p:cNvPr id="240" name="Google Shape;240;p18"/>
          <p:cNvPicPr preferRelativeResize="0"/>
          <p:nvPr/>
        </p:nvPicPr>
        <p:blipFill rotWithShape="1">
          <a:blip r:embed="rId3">
            <a:alphaModFix/>
          </a:blip>
          <a:srcRect/>
          <a:stretch/>
        </p:blipFill>
        <p:spPr>
          <a:xfrm>
            <a:off x="1518806" y="5591407"/>
            <a:ext cx="1080000" cy="1080000"/>
          </a:xfrm>
          <a:prstGeom prst="rect">
            <a:avLst/>
          </a:prstGeom>
          <a:noFill/>
          <a:ln>
            <a:noFill/>
          </a:ln>
        </p:spPr>
      </p:pic>
      <p:pic>
        <p:nvPicPr>
          <p:cNvPr id="241" name="Google Shape;241;p18"/>
          <p:cNvPicPr preferRelativeResize="0"/>
          <p:nvPr/>
        </p:nvPicPr>
        <p:blipFill rotWithShape="1">
          <a:blip r:embed="rId4">
            <a:alphaModFix/>
          </a:blip>
          <a:srcRect/>
          <a:stretch/>
        </p:blipFill>
        <p:spPr>
          <a:xfrm rot="4862526">
            <a:off x="6413389" y="5583399"/>
            <a:ext cx="1080000" cy="1080000"/>
          </a:xfrm>
          <a:prstGeom prst="rect">
            <a:avLst/>
          </a:prstGeom>
          <a:noFill/>
          <a:ln>
            <a:noFill/>
          </a:ln>
        </p:spPr>
      </p:pic>
      <p:pic>
        <p:nvPicPr>
          <p:cNvPr id="242" name="Google Shape;242;p18"/>
          <p:cNvPicPr preferRelativeResize="0"/>
          <p:nvPr/>
        </p:nvPicPr>
        <p:blipFill rotWithShape="1">
          <a:blip r:embed="rId5">
            <a:alphaModFix/>
          </a:blip>
          <a:srcRect/>
          <a:stretch/>
        </p:blipFill>
        <p:spPr>
          <a:xfrm rot="3395430">
            <a:off x="4786612" y="5569896"/>
            <a:ext cx="1080000" cy="1080000"/>
          </a:xfrm>
          <a:prstGeom prst="rect">
            <a:avLst/>
          </a:prstGeom>
          <a:noFill/>
          <a:ln>
            <a:noFill/>
          </a:ln>
        </p:spPr>
      </p:pic>
      <p:pic>
        <p:nvPicPr>
          <p:cNvPr id="243" name="Google Shape;243;p18"/>
          <p:cNvPicPr preferRelativeResize="0"/>
          <p:nvPr/>
        </p:nvPicPr>
        <p:blipFill rotWithShape="1">
          <a:blip r:embed="rId6">
            <a:alphaModFix/>
          </a:blip>
          <a:srcRect/>
          <a:stretch/>
        </p:blipFill>
        <p:spPr>
          <a:xfrm rot="911736">
            <a:off x="3057849" y="5536113"/>
            <a:ext cx="1080000" cy="108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7"/>
                                        </p:tgtEl>
                                        <p:attrNameLst>
                                          <p:attrName>style.visibility</p:attrName>
                                        </p:attrNameLst>
                                      </p:cBhvr>
                                      <p:to>
                                        <p:strVal val="visible"/>
                                      </p:to>
                                    </p:set>
                                    <p:animEffect transition="in" filter="fade">
                                      <p:cBhvr>
                                        <p:cTn id="7" dur="500"/>
                                        <p:tgtEl>
                                          <p:spTgt spid="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p:nvPr/>
        </p:nvSpPr>
        <p:spPr>
          <a:xfrm>
            <a:off x="1428898" y="673869"/>
            <a:ext cx="9585727" cy="57503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249" name="Google Shape;249;p19"/>
          <p:cNvSpPr/>
          <p:nvPr/>
        </p:nvSpPr>
        <p:spPr>
          <a:xfrm rot="-5400000">
            <a:off x="1576650" y="2402235"/>
            <a:ext cx="3438000" cy="373350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0" name="Google Shape;250;p19"/>
          <p:cNvPicPr preferRelativeResize="0"/>
          <p:nvPr/>
        </p:nvPicPr>
        <p:blipFill rotWithShape="1">
          <a:blip r:embed="rId3">
            <a:alphaModFix/>
          </a:blip>
          <a:srcRect l="635" r="-1"/>
          <a:stretch/>
        </p:blipFill>
        <p:spPr>
          <a:xfrm>
            <a:off x="1607631" y="2700147"/>
            <a:ext cx="3375991" cy="3135945"/>
          </a:xfrm>
          <a:prstGeom prst="rect">
            <a:avLst/>
          </a:prstGeom>
          <a:noFill/>
          <a:ln>
            <a:noFill/>
          </a:ln>
        </p:spPr>
      </p:pic>
      <p:sp>
        <p:nvSpPr>
          <p:cNvPr id="251" name="Google Shape;251;p19"/>
          <p:cNvSpPr/>
          <p:nvPr/>
        </p:nvSpPr>
        <p:spPr>
          <a:xfrm>
            <a:off x="-305407" y="1451322"/>
            <a:ext cx="12715424" cy="90963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2" name="Google Shape;252;p19"/>
          <p:cNvSpPr txBox="1"/>
          <p:nvPr/>
        </p:nvSpPr>
        <p:spPr>
          <a:xfrm>
            <a:off x="1428899" y="1598711"/>
            <a:ext cx="9722868"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800">
                <a:solidFill>
                  <a:schemeClr val="lt1"/>
                </a:solidFill>
                <a:latin typeface="Calibri"/>
                <a:ea typeface="Calibri"/>
                <a:cs typeface="Calibri"/>
                <a:sym typeface="Calibri"/>
              </a:rPr>
              <a:t>¿Qué pasa si a nuestro proceso investigativo incorporamos habilidades fuertes con el manejo de datos desde distintas fuentes y técnicas computacionales?</a:t>
            </a:r>
            <a:endParaRPr sz="1600"/>
          </a:p>
        </p:txBody>
      </p:sp>
      <p:sp>
        <p:nvSpPr>
          <p:cNvPr id="253" name="Google Shape;253;p19"/>
          <p:cNvSpPr/>
          <p:nvPr/>
        </p:nvSpPr>
        <p:spPr>
          <a:xfrm rot="-5400000">
            <a:off x="6708594" y="1544836"/>
            <a:ext cx="3438000" cy="544830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4" name="Google Shape;254;p19" descr="Understanding Data Science | LIPSINDIA BLOGs"/>
          <p:cNvPicPr preferRelativeResize="0"/>
          <p:nvPr/>
        </p:nvPicPr>
        <p:blipFill rotWithShape="1">
          <a:blip r:embed="rId4">
            <a:alphaModFix/>
          </a:blip>
          <a:srcRect/>
          <a:stretch/>
        </p:blipFill>
        <p:spPr>
          <a:xfrm>
            <a:off x="5862648" y="2863035"/>
            <a:ext cx="5151978" cy="28101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500"/>
                                        <p:tgtEl>
                                          <p:spTgt spid="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0"/>
          <p:cNvSpPr/>
          <p:nvPr/>
        </p:nvSpPr>
        <p:spPr>
          <a:xfrm>
            <a:off x="309512" y="1364132"/>
            <a:ext cx="11585700" cy="89370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0"/>
          <p:cNvSpPr/>
          <p:nvPr/>
        </p:nvSpPr>
        <p:spPr>
          <a:xfrm>
            <a:off x="309512" y="2498660"/>
            <a:ext cx="11585700" cy="2997600"/>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1" name="Google Shape;261;p20"/>
          <p:cNvSpPr txBox="1"/>
          <p:nvPr/>
        </p:nvSpPr>
        <p:spPr>
          <a:xfrm>
            <a:off x="605263" y="493833"/>
            <a:ext cx="9573600" cy="529500"/>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262" name="Google Shape;262;p20"/>
          <p:cNvSpPr txBox="1"/>
          <p:nvPr/>
        </p:nvSpPr>
        <p:spPr>
          <a:xfrm>
            <a:off x="1021070" y="1484355"/>
            <a:ext cx="10562400" cy="64629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En la ciencia de datos, buscamos generar conclusiones sobre una población a partir de una muestra, por lo general, ruidosa.</a:t>
            </a:r>
            <a:endParaRPr sz="1600"/>
          </a:p>
        </p:txBody>
      </p:sp>
      <p:sp>
        <p:nvSpPr>
          <p:cNvPr id="263" name="Google Shape;263;p20"/>
          <p:cNvSpPr/>
          <p:nvPr/>
        </p:nvSpPr>
        <p:spPr>
          <a:xfrm rot="-5400000">
            <a:off x="7526486" y="1205968"/>
            <a:ext cx="2550600" cy="5563500"/>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64" name="Google Shape;264;p20"/>
          <p:cNvGrpSpPr/>
          <p:nvPr/>
        </p:nvGrpSpPr>
        <p:grpSpPr>
          <a:xfrm>
            <a:off x="6024739" y="2848487"/>
            <a:ext cx="5345234" cy="2447589"/>
            <a:chOff x="3140009" y="2649894"/>
            <a:chExt cx="5655734" cy="2589767"/>
          </a:xfrm>
        </p:grpSpPr>
        <p:pic>
          <p:nvPicPr>
            <p:cNvPr id="265" name="Google Shape;265;p20" descr="Population vs Sample"/>
            <p:cNvPicPr preferRelativeResize="0"/>
            <p:nvPr/>
          </p:nvPicPr>
          <p:blipFill rotWithShape="1">
            <a:blip r:embed="rId3">
              <a:alphaModFix/>
            </a:blip>
            <a:srcRect l="7733" t="26485" r="9822" b="11474"/>
            <a:stretch/>
          </p:blipFill>
          <p:spPr>
            <a:xfrm flipH="1">
              <a:off x="3140009" y="2649894"/>
              <a:ext cx="5655734" cy="2212621"/>
            </a:xfrm>
            <a:prstGeom prst="rect">
              <a:avLst/>
            </a:prstGeom>
            <a:noFill/>
            <a:ln>
              <a:noFill/>
            </a:ln>
          </p:spPr>
        </p:pic>
        <p:sp>
          <p:nvSpPr>
            <p:cNvPr id="266" name="Google Shape;266;p20"/>
            <p:cNvSpPr/>
            <p:nvPr/>
          </p:nvSpPr>
          <p:spPr>
            <a:xfrm>
              <a:off x="5340523" y="3036711"/>
              <a:ext cx="1336856" cy="1088956"/>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7" name="Google Shape;267;p20"/>
            <p:cNvSpPr/>
            <p:nvPr/>
          </p:nvSpPr>
          <p:spPr>
            <a:xfrm>
              <a:off x="5301080" y="3530428"/>
              <a:ext cx="1159494" cy="451556"/>
            </a:xfrm>
            <a:prstGeom prst="rightArrow">
              <a:avLst>
                <a:gd name="adj1" fmla="val 50000"/>
                <a:gd name="adj2" fmla="val 50000"/>
              </a:avLst>
            </a:prstGeom>
            <a:solidFill>
              <a:schemeClr val="lt1"/>
            </a:solidFill>
            <a:ln w="127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400">
                  <a:solidFill>
                    <a:srgbClr val="7F7F7F"/>
                  </a:solidFill>
                  <a:latin typeface="Calibri"/>
                  <a:ea typeface="Calibri"/>
                  <a:cs typeface="Calibri"/>
                  <a:sym typeface="Calibri"/>
                </a:rPr>
                <a:t>Inferencia</a:t>
              </a:r>
              <a:endParaRPr/>
            </a:p>
          </p:txBody>
        </p:sp>
        <p:sp>
          <p:nvSpPr>
            <p:cNvPr id="268" name="Google Shape;268;p20"/>
            <p:cNvSpPr txBox="1"/>
            <p:nvPr/>
          </p:nvSpPr>
          <p:spPr>
            <a:xfrm>
              <a:off x="3758906" y="4881444"/>
              <a:ext cx="993422" cy="3582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600">
                  <a:solidFill>
                    <a:srgbClr val="7F7F7F"/>
                  </a:solidFill>
                  <a:latin typeface="Calibri"/>
                  <a:ea typeface="Calibri"/>
                  <a:cs typeface="Calibri"/>
                  <a:sym typeface="Calibri"/>
                </a:rPr>
                <a:t>Muestra</a:t>
              </a:r>
              <a:endParaRPr sz="1600">
                <a:solidFill>
                  <a:srgbClr val="7F7F7F"/>
                </a:solidFill>
                <a:latin typeface="Calibri"/>
                <a:ea typeface="Calibri"/>
                <a:cs typeface="Calibri"/>
                <a:sym typeface="Calibri"/>
              </a:endParaRPr>
            </a:p>
          </p:txBody>
        </p:sp>
        <p:sp>
          <p:nvSpPr>
            <p:cNvPr id="269" name="Google Shape;269;p20"/>
            <p:cNvSpPr txBox="1"/>
            <p:nvPr/>
          </p:nvSpPr>
          <p:spPr>
            <a:xfrm>
              <a:off x="7149796" y="4881444"/>
              <a:ext cx="1535287" cy="35821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600">
                  <a:solidFill>
                    <a:srgbClr val="7F7F7F"/>
                  </a:solidFill>
                  <a:latin typeface="Calibri"/>
                  <a:ea typeface="Calibri"/>
                  <a:cs typeface="Calibri"/>
                  <a:sym typeface="Calibri"/>
                </a:rPr>
                <a:t>Población</a:t>
              </a:r>
              <a:endParaRPr sz="1600">
                <a:solidFill>
                  <a:srgbClr val="7F7F7F"/>
                </a:solidFill>
                <a:latin typeface="Calibri"/>
                <a:ea typeface="Calibri"/>
                <a:cs typeface="Calibri"/>
                <a:sym typeface="Calibri"/>
              </a:endParaRPr>
            </a:p>
          </p:txBody>
        </p:sp>
      </p:grpSp>
      <p:sp>
        <p:nvSpPr>
          <p:cNvPr id="270" name="Google Shape;270;p20"/>
          <p:cNvSpPr/>
          <p:nvPr/>
        </p:nvSpPr>
        <p:spPr>
          <a:xfrm>
            <a:off x="1022688" y="2848514"/>
            <a:ext cx="4547100" cy="230910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20"/>
          <p:cNvSpPr txBox="1"/>
          <p:nvPr/>
        </p:nvSpPr>
        <p:spPr>
          <a:xfrm>
            <a:off x="1122833" y="3230321"/>
            <a:ext cx="4857000" cy="175470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800"/>
              <a:buFont typeface="Noto Sans Symbols"/>
              <a:buChar char="⮚"/>
            </a:pPr>
            <a:r>
              <a:rPr lang="es-MX" sz="1800">
                <a:solidFill>
                  <a:schemeClr val="lt1"/>
                </a:solidFill>
                <a:latin typeface="Calibri"/>
                <a:ea typeface="Calibri"/>
                <a:cs typeface="Calibri"/>
                <a:sym typeface="Calibri"/>
              </a:rPr>
              <a:t>¿Quién ganará las elecciones?</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MX" sz="1800">
                <a:solidFill>
                  <a:schemeClr val="lt1"/>
                </a:solidFill>
                <a:latin typeface="Calibri"/>
                <a:ea typeface="Calibri"/>
                <a:cs typeface="Calibri"/>
                <a:sym typeface="Calibri"/>
              </a:rPr>
              <a:t>¿Quiénes comprarán nuestros productos?</a:t>
            </a:r>
            <a:endParaRPr/>
          </a:p>
          <a:p>
            <a:pPr marL="285750" marR="0" lvl="0" indent="-171450" algn="just" rtl="0">
              <a:spcBef>
                <a:spcPts val="0"/>
              </a:spcBef>
              <a:spcAft>
                <a:spcPts val="0"/>
              </a:spcAft>
              <a:buClr>
                <a:schemeClr val="dk1"/>
              </a:buClr>
              <a:buSzPts val="1800"/>
              <a:buFont typeface="Noto Sans Symbols"/>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Noto Sans Symbols"/>
              <a:buChar char="⮚"/>
            </a:pPr>
            <a:r>
              <a:rPr lang="es-MX" sz="1800">
                <a:solidFill>
                  <a:schemeClr val="lt1"/>
                </a:solidFill>
                <a:latin typeface="Calibri"/>
                <a:ea typeface="Calibri"/>
                <a:cs typeface="Calibri"/>
                <a:sym typeface="Calibri"/>
              </a:rPr>
              <a:t>¿Cómo estará el tiempo mañana?</a:t>
            </a:r>
            <a:endParaRPr/>
          </a:p>
          <a:p>
            <a:pPr marL="285750" marR="0" lvl="0" indent="-171450" algn="l" rtl="0">
              <a:spcBef>
                <a:spcPts val="0"/>
              </a:spcBef>
              <a:spcAft>
                <a:spcPts val="0"/>
              </a:spcAft>
              <a:buClr>
                <a:schemeClr val="dk1"/>
              </a:buClr>
              <a:buSzPts val="1800"/>
              <a:buFont typeface="Noto Sans Symbols"/>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1"/>
                                        </p:tgtEl>
                                        <p:attrNameLst>
                                          <p:attrName>style.visibility</p:attrName>
                                        </p:attrNameLst>
                                      </p:cBhvr>
                                      <p:to>
                                        <p:strVal val="visible"/>
                                      </p:to>
                                    </p:set>
                                    <p:animEffect transition="in" filter="fade">
                                      <p:cBhvr>
                                        <p:cTn id="7" dur="5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1"/>
          <p:cNvSpPr txBox="1"/>
          <p:nvPr/>
        </p:nvSpPr>
        <p:spPr>
          <a:xfrm>
            <a:off x="942680" y="433129"/>
            <a:ext cx="10147359" cy="471340"/>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277" name="Google Shape;277;p21"/>
          <p:cNvSpPr/>
          <p:nvPr/>
        </p:nvSpPr>
        <p:spPr>
          <a:xfrm>
            <a:off x="-476897" y="1225485"/>
            <a:ext cx="13313229" cy="515646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21"/>
          <p:cNvSpPr txBox="1"/>
          <p:nvPr/>
        </p:nvSpPr>
        <p:spPr>
          <a:xfrm>
            <a:off x="963667" y="1545856"/>
            <a:ext cx="10855217" cy="4524275"/>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chemeClr val="lt1"/>
              </a:buClr>
              <a:buSzPts val="1800"/>
            </a:pPr>
            <a:r>
              <a:rPr lang="es-MX" sz="1800" dirty="0">
                <a:solidFill>
                  <a:schemeClr val="lt1"/>
                </a:solidFill>
                <a:latin typeface="Calibri"/>
                <a:ea typeface="Calibri"/>
                <a:cs typeface="Calibri"/>
                <a:sym typeface="Calibri"/>
              </a:rPr>
              <a:t>Algunos desafíos y dificultades que enfrentamos:</a:t>
            </a:r>
            <a:endParaRPr lang="es-ES" dirty="0"/>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¿Estamos tomando una muestra de datos representativa de la población sobre la cual queremos hacer inferencias?.</a:t>
            </a:r>
            <a:endParaRPr sz="1800" dirty="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¿Hemos considerado todas las variables? ¿Hay variables que contaminen nuestras conclusiones?.</a:t>
            </a:r>
            <a:endParaRPr sz="1800" dirty="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¿Hay sesgos sistemáticos en nuestros datos que desvíen los resultados?.</a:t>
            </a:r>
            <a:endParaRPr sz="1800" dirty="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¿Qué aleatoriedad hay en los datos?¿Cómo lidiar con aquello?.</a:t>
            </a:r>
            <a:endParaRPr sz="1800" dirty="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¿Estamos tratando de estimar un modelo subyacente del fenómeno estudiado?.</a:t>
            </a:r>
            <a:endParaRPr sz="1800" dirty="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R="0" lvl="0" algn="just" rtl="0">
              <a:spcBef>
                <a:spcPts val="0"/>
              </a:spcBef>
              <a:spcAft>
                <a:spcPts val="0"/>
              </a:spcAft>
              <a:buClr>
                <a:schemeClr val="lt1"/>
              </a:buClr>
              <a:buSzPts val="1800"/>
            </a:pPr>
            <a:r>
              <a:rPr lang="es-MX" sz="1800" dirty="0">
                <a:solidFill>
                  <a:schemeClr val="lt1"/>
                </a:solidFill>
                <a:latin typeface="Calibri"/>
                <a:ea typeface="Calibri"/>
                <a:cs typeface="Calibri"/>
                <a:sym typeface="Calibri"/>
              </a:rPr>
              <a:t>Hay dos fuentes de aleatoriedad e incerteza:</a:t>
            </a:r>
            <a:endParaRPr dirty="0">
              <a:solidFill>
                <a:schemeClr val="lt1"/>
              </a:solidFill>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La aleatoriedad e incerteza propia del proceso.</a:t>
            </a:r>
            <a:endParaRPr sz="1800" dirty="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800"/>
              <a:buFont typeface="Arial"/>
              <a:buChar char="•"/>
            </a:pPr>
            <a:r>
              <a:rPr lang="es-MX" sz="1800" dirty="0">
                <a:solidFill>
                  <a:schemeClr val="lt1"/>
                </a:solidFill>
                <a:latin typeface="Calibri"/>
                <a:ea typeface="Calibri"/>
                <a:cs typeface="Calibri"/>
                <a:sym typeface="Calibri"/>
              </a:rPr>
              <a:t>La incerteza asociada a los métodos de recolección de datos.</a:t>
            </a:r>
            <a:endParaRPr sz="1800" dirty="0">
              <a:solidFill>
                <a:schemeClr val="lt1"/>
              </a:solidFill>
              <a:latin typeface="Calibri"/>
              <a:ea typeface="Calibri"/>
              <a:cs typeface="Calibri"/>
              <a:sym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dirty="0">
                <a:solidFill>
                  <a:schemeClr val="lt1"/>
                </a:solidFill>
                <a:latin typeface="Calibri"/>
                <a:ea typeface="Calibri"/>
                <a:cs typeface="Calibri"/>
                <a:sym typeface="Calibri"/>
              </a:rPr>
              <a:t>Se hace necesario procedimientos, métodos y teoremas que nos permitan extraer significado e información a partir de la data generada por procesos estocásticos.</a:t>
            </a:r>
            <a:endParaRPr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6"/>
                                        </p:tgtEl>
                                        <p:attrNameLst>
                                          <p:attrName>style.visibility</p:attrName>
                                        </p:attrNameLst>
                                      </p:cBhvr>
                                      <p:to>
                                        <p:strVal val="visible"/>
                                      </p:to>
                                    </p:set>
                                    <p:animEffect transition="in" filter="fade">
                                      <p:cBhvr>
                                        <p:cTn id="7" dur="500"/>
                                        <p:tgtEl>
                                          <p:spTgt spid="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2"/>
          <p:cNvSpPr txBox="1"/>
          <p:nvPr/>
        </p:nvSpPr>
        <p:spPr>
          <a:xfrm>
            <a:off x="867266" y="1186520"/>
            <a:ext cx="5234302" cy="67873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284" name="Google Shape;284;p22"/>
          <p:cNvSpPr/>
          <p:nvPr/>
        </p:nvSpPr>
        <p:spPr>
          <a:xfrm>
            <a:off x="-404575" y="2015913"/>
            <a:ext cx="6800237" cy="3710442"/>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5" name="Google Shape;285;p22"/>
          <p:cNvSpPr txBox="1"/>
          <p:nvPr/>
        </p:nvSpPr>
        <p:spPr>
          <a:xfrm>
            <a:off x="864493" y="2175372"/>
            <a:ext cx="5250938"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Arial"/>
              </a:rPr>
              <a:t>La Ciencia de Datos es considerada una ciencia debido a que utiliza un enfoque sistemático y riguroso para la obtención, análisis e interpretación de datos con el fin de descubrir patrones, tendencias y relaciones en ellos.</a:t>
            </a:r>
            <a:endParaRPr sz="1600">
              <a:latin typeface="Calibri"/>
              <a:ea typeface="Calibri"/>
              <a:cs typeface="Calibri"/>
            </a:endParaRPr>
          </a:p>
          <a:p>
            <a:pPr marL="0" marR="0" lvl="0" indent="0" algn="just" rtl="0">
              <a:spcBef>
                <a:spcPts val="0"/>
              </a:spcBef>
              <a:spcAft>
                <a:spcPts val="0"/>
              </a:spcAft>
              <a:buNone/>
            </a:pPr>
            <a:endParaRPr sz="1800">
              <a:solidFill>
                <a:schemeClr val="lt1"/>
              </a:solidFill>
              <a:latin typeface="Calibri"/>
              <a:ea typeface="Calibri"/>
              <a:cs typeface="Calibri"/>
              <a:sym typeface="Arial"/>
            </a:endParaRPr>
          </a:p>
          <a:p>
            <a:pPr marL="0" marR="0" lvl="0" indent="0" algn="just" rtl="0">
              <a:spcBef>
                <a:spcPts val="0"/>
              </a:spcBef>
              <a:spcAft>
                <a:spcPts val="0"/>
              </a:spcAft>
              <a:buNone/>
            </a:pPr>
            <a:r>
              <a:rPr lang="es-MX" sz="1800">
                <a:solidFill>
                  <a:schemeClr val="lt1"/>
                </a:solidFill>
                <a:latin typeface="Calibri"/>
                <a:ea typeface="Calibri"/>
                <a:cs typeface="Calibri"/>
                <a:sym typeface="Arial"/>
              </a:rPr>
              <a:t>A través del método científico, la Ciencia de Datos utiliza una combinación de matemáticas, estadísticas, informática y habilidades de análisis para obtener conocimientos y comprensión de los datos, y para formular y probar hipótesis sobre los fenómenos observados.</a:t>
            </a:r>
            <a:endParaRPr sz="1600">
              <a:latin typeface="Calibri"/>
              <a:ea typeface="Calibri"/>
              <a:cs typeface="Calibri"/>
            </a:endParaRPr>
          </a:p>
        </p:txBody>
      </p:sp>
      <p:sp>
        <p:nvSpPr>
          <p:cNvPr id="286" name="Google Shape;286;p22"/>
          <p:cNvSpPr/>
          <p:nvPr/>
        </p:nvSpPr>
        <p:spPr>
          <a:xfrm rot="-5400000">
            <a:off x="6800446" y="1188043"/>
            <a:ext cx="4427622" cy="4649002"/>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7" name="Google Shape;287;p22" descr="Data Science - Imagen del punto de conversión del Data Science"/>
          <p:cNvPicPr preferRelativeResize="0"/>
          <p:nvPr/>
        </p:nvPicPr>
        <p:blipFill rotWithShape="1">
          <a:blip r:embed="rId3">
            <a:alphaModFix/>
          </a:blip>
          <a:srcRect l="26419" t="1" r="26297" b="1999"/>
          <a:stretch/>
        </p:blipFill>
        <p:spPr>
          <a:xfrm>
            <a:off x="6845488" y="1421272"/>
            <a:ext cx="4368801" cy="4200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3"/>
                                        </p:tgtEl>
                                        <p:attrNameLst>
                                          <p:attrName>style.visibility</p:attrName>
                                        </p:attrNameLst>
                                      </p:cBhvr>
                                      <p:to>
                                        <p:strVal val="visible"/>
                                      </p:to>
                                    </p:set>
                                    <p:animEffect transition="in" filter="fade">
                                      <p:cBhvr>
                                        <p:cTn id="7"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3"/>
          <p:cNvSpPr/>
          <p:nvPr/>
        </p:nvSpPr>
        <p:spPr>
          <a:xfrm>
            <a:off x="-363055" y="2092306"/>
            <a:ext cx="12085674" cy="289843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sp>
        <p:nvSpPr>
          <p:cNvPr id="293" name="Google Shape;293;p23"/>
          <p:cNvSpPr txBox="1"/>
          <p:nvPr/>
        </p:nvSpPr>
        <p:spPr>
          <a:xfrm>
            <a:off x="551619" y="1402776"/>
            <a:ext cx="10408810" cy="547854"/>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294" name="Google Shape;294;p23"/>
          <p:cNvSpPr/>
          <p:nvPr/>
        </p:nvSpPr>
        <p:spPr>
          <a:xfrm rot="-5400000">
            <a:off x="7334412" y="608362"/>
            <a:ext cx="2764279" cy="5859765"/>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chemeClr val="lt1"/>
              </a:solidFill>
              <a:latin typeface="Calibri"/>
              <a:ea typeface="Calibri"/>
              <a:cs typeface="Calibri"/>
              <a:sym typeface="Calibri"/>
            </a:endParaRPr>
          </a:p>
        </p:txBody>
      </p:sp>
      <p:pic>
        <p:nvPicPr>
          <p:cNvPr id="295" name="Google Shape;295;p23" descr="Lightbox"/>
          <p:cNvPicPr preferRelativeResize="0"/>
          <p:nvPr/>
        </p:nvPicPr>
        <p:blipFill rotWithShape="1">
          <a:blip r:embed="rId3">
            <a:alphaModFix/>
          </a:blip>
          <a:srcRect t="10947"/>
          <a:stretch/>
        </p:blipFill>
        <p:spPr>
          <a:xfrm>
            <a:off x="5900745" y="2293009"/>
            <a:ext cx="5641376" cy="2511875"/>
          </a:xfrm>
          <a:prstGeom prst="rect">
            <a:avLst/>
          </a:prstGeom>
          <a:noFill/>
          <a:ln>
            <a:noFill/>
          </a:ln>
        </p:spPr>
      </p:pic>
      <p:sp>
        <p:nvSpPr>
          <p:cNvPr id="296" name="Google Shape;296;p23"/>
          <p:cNvSpPr txBox="1"/>
          <p:nvPr/>
        </p:nvSpPr>
        <p:spPr>
          <a:xfrm>
            <a:off x="551619" y="2384082"/>
            <a:ext cx="4935574" cy="230832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Además, la Ciencia de Datos se basa en la recopilación y análisis de datos empíricos, lo que significa que se apoya en la evidencia que se obtiene a partir de la observación y experimentación en el mundo real. De esta manera, los datos se utilizan para validar y refutar las teorías y modelos que se construyen para explicar los fenómenos observados.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animEffect transition="in" filter="fade">
                                      <p:cBhvr>
                                        <p:cTn id="7" dur="500"/>
                                        <p:tgtEl>
                                          <p:spTgt spid="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4"/>
          <p:cNvSpPr/>
          <p:nvPr/>
        </p:nvSpPr>
        <p:spPr>
          <a:xfrm rot="-5400000">
            <a:off x="3357613" y="-1383821"/>
            <a:ext cx="5458397" cy="10176137"/>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2" name="Google Shape;302;p24"/>
          <p:cNvGrpSpPr/>
          <p:nvPr/>
        </p:nvGrpSpPr>
        <p:grpSpPr>
          <a:xfrm>
            <a:off x="1091674" y="1059210"/>
            <a:ext cx="10091916" cy="5164032"/>
            <a:chOff x="1037671" y="1151691"/>
            <a:chExt cx="10091916" cy="5164032"/>
          </a:xfrm>
        </p:grpSpPr>
        <p:sp>
          <p:nvSpPr>
            <p:cNvPr id="303" name="Google Shape;303;p24"/>
            <p:cNvSpPr/>
            <p:nvPr/>
          </p:nvSpPr>
          <p:spPr>
            <a:xfrm>
              <a:off x="9963984" y="2454222"/>
              <a:ext cx="704850" cy="3328289"/>
            </a:xfrm>
            <a:prstGeom prst="rect">
              <a:avLst/>
            </a:prstGeom>
            <a:solidFill>
              <a:srgbClr val="FBDFD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24"/>
            <p:cNvSpPr/>
            <p:nvPr/>
          </p:nvSpPr>
          <p:spPr>
            <a:xfrm>
              <a:off x="8255822" y="2454222"/>
              <a:ext cx="704850" cy="3328289"/>
            </a:xfrm>
            <a:prstGeom prst="rect">
              <a:avLst/>
            </a:prstGeom>
            <a:solidFill>
              <a:srgbClr val="FCED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24"/>
            <p:cNvSpPr/>
            <p:nvPr/>
          </p:nvSpPr>
          <p:spPr>
            <a:xfrm>
              <a:off x="6561342" y="2454222"/>
              <a:ext cx="704850" cy="3328289"/>
            </a:xfrm>
            <a:prstGeom prst="rect">
              <a:avLst/>
            </a:prstGeom>
            <a:solidFill>
              <a:srgbClr val="E6F2D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 name="Google Shape;306;p24"/>
            <p:cNvSpPr/>
            <p:nvPr/>
          </p:nvSpPr>
          <p:spPr>
            <a:xfrm>
              <a:off x="4846519" y="2454222"/>
              <a:ext cx="704850" cy="3328289"/>
            </a:xfrm>
            <a:prstGeom prst="rect">
              <a:avLst/>
            </a:prstGeom>
            <a:solidFill>
              <a:srgbClr val="C7F0F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7" name="Google Shape;307;p24"/>
            <p:cNvSpPr/>
            <p:nvPr/>
          </p:nvSpPr>
          <p:spPr>
            <a:xfrm>
              <a:off x="3143822" y="2454223"/>
              <a:ext cx="704850" cy="3328289"/>
            </a:xfrm>
            <a:prstGeom prst="rect">
              <a:avLst/>
            </a:prstGeom>
            <a:solidFill>
              <a:srgbClr val="DFE7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8" name="Google Shape;308;p24"/>
            <p:cNvSpPr/>
            <p:nvPr/>
          </p:nvSpPr>
          <p:spPr>
            <a:xfrm>
              <a:off x="1437216" y="2454224"/>
              <a:ext cx="704850" cy="3328289"/>
            </a:xfrm>
            <a:prstGeom prst="rect">
              <a:avLst/>
            </a:prstGeom>
            <a:solidFill>
              <a:srgbClr val="CDF0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9" name="Google Shape;309;p24"/>
            <p:cNvPicPr preferRelativeResize="0"/>
            <p:nvPr/>
          </p:nvPicPr>
          <p:blipFill rotWithShape="1">
            <a:blip r:embed="rId3">
              <a:alphaModFix/>
            </a:blip>
            <a:srcRect/>
            <a:stretch/>
          </p:blipFill>
          <p:spPr>
            <a:xfrm>
              <a:off x="1037671" y="1151691"/>
              <a:ext cx="9930449" cy="1320799"/>
            </a:xfrm>
            <a:prstGeom prst="rect">
              <a:avLst/>
            </a:prstGeom>
            <a:noFill/>
            <a:ln>
              <a:noFill/>
            </a:ln>
          </p:spPr>
        </p:pic>
        <p:sp>
          <p:nvSpPr>
            <p:cNvPr id="310" name="Google Shape;310;p24"/>
            <p:cNvSpPr txBox="1"/>
            <p:nvPr/>
          </p:nvSpPr>
          <p:spPr>
            <a:xfrm>
              <a:off x="1185334" y="2472490"/>
              <a:ext cx="1200787"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Definición del problema</a:t>
              </a:r>
              <a:endParaRPr/>
            </a:p>
          </p:txBody>
        </p:sp>
        <p:sp>
          <p:nvSpPr>
            <p:cNvPr id="311" name="Google Shape;311;p24"/>
            <p:cNvSpPr txBox="1"/>
            <p:nvPr/>
          </p:nvSpPr>
          <p:spPr>
            <a:xfrm>
              <a:off x="2917212" y="2454224"/>
              <a:ext cx="112888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Recopilación de datos</a:t>
              </a:r>
              <a:endParaRPr/>
            </a:p>
          </p:txBody>
        </p:sp>
        <p:sp>
          <p:nvSpPr>
            <p:cNvPr id="312" name="Google Shape;312;p24"/>
            <p:cNvSpPr txBox="1"/>
            <p:nvPr/>
          </p:nvSpPr>
          <p:spPr>
            <a:xfrm>
              <a:off x="4661285" y="2454224"/>
              <a:ext cx="112888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Preparación de datos</a:t>
              </a:r>
              <a:endParaRPr/>
            </a:p>
          </p:txBody>
        </p:sp>
        <p:sp>
          <p:nvSpPr>
            <p:cNvPr id="313" name="Google Shape;313;p24"/>
            <p:cNvSpPr txBox="1"/>
            <p:nvPr/>
          </p:nvSpPr>
          <p:spPr>
            <a:xfrm>
              <a:off x="6388485" y="2454224"/>
              <a:ext cx="112888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Análisis exploratorio</a:t>
              </a:r>
              <a:endParaRPr/>
            </a:p>
          </p:txBody>
        </p:sp>
        <p:sp>
          <p:nvSpPr>
            <p:cNvPr id="314" name="Google Shape;314;p24"/>
            <p:cNvSpPr txBox="1"/>
            <p:nvPr/>
          </p:nvSpPr>
          <p:spPr>
            <a:xfrm>
              <a:off x="7980731" y="2567114"/>
              <a:ext cx="139514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Modelamiento</a:t>
              </a:r>
              <a:endParaRPr/>
            </a:p>
          </p:txBody>
        </p:sp>
        <p:sp>
          <p:nvSpPr>
            <p:cNvPr id="315" name="Google Shape;315;p24"/>
            <p:cNvSpPr txBox="1"/>
            <p:nvPr/>
          </p:nvSpPr>
          <p:spPr>
            <a:xfrm>
              <a:off x="9685866" y="2454224"/>
              <a:ext cx="1388531"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1400">
                  <a:solidFill>
                    <a:schemeClr val="dk1"/>
                  </a:solidFill>
                  <a:latin typeface="Calibri"/>
                  <a:ea typeface="Calibri"/>
                  <a:cs typeface="Calibri"/>
                  <a:sym typeface="Calibri"/>
                </a:rPr>
                <a:t>Interpretación y comunicación</a:t>
              </a:r>
              <a:endParaRPr/>
            </a:p>
          </p:txBody>
        </p:sp>
        <p:sp>
          <p:nvSpPr>
            <p:cNvPr id="316" name="Google Shape;316;p24"/>
            <p:cNvSpPr txBox="1"/>
            <p:nvPr/>
          </p:nvSpPr>
          <p:spPr>
            <a:xfrm>
              <a:off x="1211461" y="3585240"/>
              <a:ext cx="1348450" cy="21236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identifica el problema que se va a abordar y se define claramente el objetivo del análisis de datos. También, se identifican los datos necesarios para resolver el problema.</a:t>
              </a:r>
              <a:endParaRPr sz="1100">
                <a:solidFill>
                  <a:schemeClr val="dk1"/>
                </a:solidFill>
                <a:latin typeface="Calibri"/>
                <a:ea typeface="Calibri"/>
                <a:cs typeface="Calibri"/>
                <a:sym typeface="Calibri"/>
              </a:endParaRPr>
            </a:p>
          </p:txBody>
        </p:sp>
        <p:sp>
          <p:nvSpPr>
            <p:cNvPr id="317" name="Google Shape;317;p24"/>
            <p:cNvSpPr txBox="1"/>
            <p:nvPr/>
          </p:nvSpPr>
          <p:spPr>
            <a:xfrm>
              <a:off x="2917212" y="3585240"/>
              <a:ext cx="1348450" cy="24622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recopilan los datos necesarios para el análisis a partir de diversas fuentes, como bases de datos, archivos y fuentes externas. También, se limpian y transforman los datos para asegurarse de que sean precisos y completos.</a:t>
              </a:r>
              <a:endParaRPr sz="1100">
                <a:solidFill>
                  <a:schemeClr val="dk1"/>
                </a:solidFill>
                <a:latin typeface="Calibri"/>
                <a:ea typeface="Calibri"/>
                <a:cs typeface="Calibri"/>
                <a:sym typeface="Calibri"/>
              </a:endParaRPr>
            </a:p>
          </p:txBody>
        </p:sp>
        <p:sp>
          <p:nvSpPr>
            <p:cNvPr id="318" name="Google Shape;318;p24"/>
            <p:cNvSpPr txBox="1"/>
            <p:nvPr/>
          </p:nvSpPr>
          <p:spPr>
            <a:xfrm>
              <a:off x="4649090" y="3514956"/>
              <a:ext cx="1377244"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seleccionan y preparan los datos para su uso en el modelo de análisis de datos. Esto incluye la selección de variables relevantes, la normalización y la estandarización de datos, y la división de datos en conjuntos de entrenamiento y prueba.</a:t>
              </a:r>
              <a:endParaRPr sz="1100">
                <a:solidFill>
                  <a:schemeClr val="dk1"/>
                </a:solidFill>
                <a:latin typeface="Calibri"/>
                <a:ea typeface="Calibri"/>
                <a:cs typeface="Calibri"/>
                <a:sym typeface="Calibri"/>
              </a:endParaRPr>
            </a:p>
          </p:txBody>
        </p:sp>
        <p:sp>
          <p:nvSpPr>
            <p:cNvPr id="319" name="Google Shape;319;p24"/>
            <p:cNvSpPr txBox="1"/>
            <p:nvPr/>
          </p:nvSpPr>
          <p:spPr>
            <a:xfrm>
              <a:off x="6352684" y="3514956"/>
              <a:ext cx="1270967" cy="26314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realizan diversas técnicas de visualización y análisis de datos para explorar patrones y tendencias. Esto ayuda a obtener una comprensión básica de los datos antes de proceder a técnicas de modelado más avanzadas.</a:t>
              </a:r>
              <a:endParaRPr sz="1100">
                <a:solidFill>
                  <a:schemeClr val="dk1"/>
                </a:solidFill>
                <a:latin typeface="Calibri"/>
                <a:ea typeface="Calibri"/>
                <a:cs typeface="Calibri"/>
                <a:sym typeface="Calibri"/>
              </a:endParaRPr>
            </a:p>
          </p:txBody>
        </p:sp>
        <p:sp>
          <p:nvSpPr>
            <p:cNvPr id="320" name="Google Shape;320;p24"/>
            <p:cNvSpPr txBox="1"/>
            <p:nvPr/>
          </p:nvSpPr>
          <p:spPr>
            <a:xfrm>
              <a:off x="8054550" y="3537333"/>
              <a:ext cx="1270967" cy="26314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construye y ajusta un modelo de análisis de datos que permita resolver el problema identificado. Esto puede implicar el uso de algoritmos de aprendizaje automático o de estadística para predecir o clasificar datos.</a:t>
              </a:r>
              <a:endParaRPr sz="1100">
                <a:solidFill>
                  <a:schemeClr val="dk1"/>
                </a:solidFill>
                <a:latin typeface="Calibri"/>
                <a:ea typeface="Calibri"/>
                <a:cs typeface="Calibri"/>
                <a:sym typeface="Calibri"/>
              </a:endParaRPr>
            </a:p>
          </p:txBody>
        </p:sp>
        <p:sp>
          <p:nvSpPr>
            <p:cNvPr id="321" name="Google Shape;321;p24"/>
            <p:cNvSpPr txBox="1"/>
            <p:nvPr/>
          </p:nvSpPr>
          <p:spPr>
            <a:xfrm>
              <a:off x="9747666" y="3514956"/>
              <a:ext cx="1381921" cy="1785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1100">
                  <a:solidFill>
                    <a:schemeClr val="dk1"/>
                  </a:solidFill>
                  <a:latin typeface="Calibri"/>
                  <a:ea typeface="Calibri"/>
                  <a:cs typeface="Calibri"/>
                  <a:sym typeface="Calibri"/>
                </a:rPr>
                <a:t>En esta etapa, se comunican las conclusiones y hallazgos a la organización, quienes pueden decidir realizar una explotación del modelo en el negocio.</a:t>
              </a:r>
              <a:endParaRPr sz="1100">
                <a:solidFill>
                  <a:schemeClr val="dk1"/>
                </a:solidFill>
                <a:latin typeface="Calibri"/>
                <a:ea typeface="Calibri"/>
                <a:cs typeface="Calibri"/>
                <a:sym typeface="Calibri"/>
              </a:endParaRPr>
            </a:p>
          </p:txBody>
        </p:sp>
        <p:cxnSp>
          <p:nvCxnSpPr>
            <p:cNvPr id="322" name="Google Shape;322;p24"/>
            <p:cNvCxnSpPr/>
            <p:nvPr/>
          </p:nvCxnSpPr>
          <p:spPr>
            <a:xfrm>
              <a:off x="1251199" y="3221305"/>
              <a:ext cx="1016000" cy="0"/>
            </a:xfrm>
            <a:prstGeom prst="straightConnector1">
              <a:avLst/>
            </a:prstGeom>
            <a:noFill/>
            <a:ln w="28575" cap="flat" cmpd="sng">
              <a:solidFill>
                <a:srgbClr val="06B3F9"/>
              </a:solidFill>
              <a:prstDash val="solid"/>
              <a:miter lim="800000"/>
              <a:headEnd type="none" w="sm" len="sm"/>
              <a:tailEnd type="none" w="sm" len="sm"/>
            </a:ln>
          </p:spPr>
        </p:cxnSp>
        <p:sp>
          <p:nvSpPr>
            <p:cNvPr id="323" name="Google Shape;323;p24"/>
            <p:cNvSpPr/>
            <p:nvPr/>
          </p:nvSpPr>
          <p:spPr>
            <a:xfrm>
              <a:off x="1575784" y="3035808"/>
              <a:ext cx="370995" cy="370995"/>
            </a:xfrm>
            <a:prstGeom prst="ellipse">
              <a:avLst/>
            </a:prstGeom>
            <a:solidFill>
              <a:schemeClr val="lt1"/>
            </a:solidFill>
            <a:ln w="28575" cap="flat" cmpd="sng">
              <a:solidFill>
                <a:srgbClr val="06B3F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06B3F9"/>
                  </a:solidFill>
                  <a:latin typeface="Calibri"/>
                  <a:ea typeface="Calibri"/>
                  <a:cs typeface="Calibri"/>
                  <a:sym typeface="Calibri"/>
                </a:rPr>
                <a:t>1</a:t>
              </a:r>
              <a:endParaRPr/>
            </a:p>
          </p:txBody>
        </p:sp>
        <p:cxnSp>
          <p:nvCxnSpPr>
            <p:cNvPr id="324" name="Google Shape;324;p24"/>
            <p:cNvCxnSpPr/>
            <p:nvPr/>
          </p:nvCxnSpPr>
          <p:spPr>
            <a:xfrm>
              <a:off x="2967111" y="3221305"/>
              <a:ext cx="1016000" cy="0"/>
            </a:xfrm>
            <a:prstGeom prst="straightConnector1">
              <a:avLst/>
            </a:prstGeom>
            <a:noFill/>
            <a:ln w="28575" cap="flat" cmpd="sng">
              <a:solidFill>
                <a:srgbClr val="658CA4"/>
              </a:solidFill>
              <a:prstDash val="solid"/>
              <a:miter lim="800000"/>
              <a:headEnd type="none" w="sm" len="sm"/>
              <a:tailEnd type="none" w="sm" len="sm"/>
            </a:ln>
          </p:spPr>
        </p:cxnSp>
        <p:sp>
          <p:nvSpPr>
            <p:cNvPr id="325" name="Google Shape;325;p24"/>
            <p:cNvSpPr/>
            <p:nvPr/>
          </p:nvSpPr>
          <p:spPr>
            <a:xfrm>
              <a:off x="3291696" y="3035808"/>
              <a:ext cx="370995" cy="370995"/>
            </a:xfrm>
            <a:prstGeom prst="ellipse">
              <a:avLst/>
            </a:prstGeom>
            <a:solidFill>
              <a:schemeClr val="lt1"/>
            </a:solidFill>
            <a:ln w="28575" cap="flat" cmpd="sng">
              <a:solidFill>
                <a:srgbClr val="658CA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658CA4"/>
                  </a:solidFill>
                  <a:latin typeface="Calibri"/>
                  <a:ea typeface="Calibri"/>
                  <a:cs typeface="Calibri"/>
                  <a:sym typeface="Calibri"/>
                </a:rPr>
                <a:t>2</a:t>
              </a:r>
              <a:endParaRPr/>
            </a:p>
          </p:txBody>
        </p:sp>
        <p:cxnSp>
          <p:nvCxnSpPr>
            <p:cNvPr id="326" name="Google Shape;326;p24"/>
            <p:cNvCxnSpPr/>
            <p:nvPr/>
          </p:nvCxnSpPr>
          <p:spPr>
            <a:xfrm>
              <a:off x="4694912" y="3221305"/>
              <a:ext cx="1016000" cy="0"/>
            </a:xfrm>
            <a:prstGeom prst="straightConnector1">
              <a:avLst/>
            </a:prstGeom>
            <a:noFill/>
            <a:ln w="28575" cap="flat" cmpd="sng">
              <a:solidFill>
                <a:srgbClr val="1790A6"/>
              </a:solidFill>
              <a:prstDash val="solid"/>
              <a:miter lim="800000"/>
              <a:headEnd type="none" w="sm" len="sm"/>
              <a:tailEnd type="none" w="sm" len="sm"/>
            </a:ln>
          </p:spPr>
        </p:cxnSp>
        <p:sp>
          <p:nvSpPr>
            <p:cNvPr id="327" name="Google Shape;327;p24"/>
            <p:cNvSpPr/>
            <p:nvPr/>
          </p:nvSpPr>
          <p:spPr>
            <a:xfrm>
              <a:off x="5019497" y="3035808"/>
              <a:ext cx="370995" cy="370995"/>
            </a:xfrm>
            <a:prstGeom prst="ellipse">
              <a:avLst/>
            </a:prstGeom>
            <a:solidFill>
              <a:schemeClr val="lt1"/>
            </a:solidFill>
            <a:ln w="28575" cap="flat" cmpd="sng">
              <a:solidFill>
                <a:srgbClr val="1790A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1790A6"/>
                  </a:solidFill>
                  <a:latin typeface="Calibri"/>
                  <a:ea typeface="Calibri"/>
                  <a:cs typeface="Calibri"/>
                  <a:sym typeface="Calibri"/>
                </a:rPr>
                <a:t>3</a:t>
              </a:r>
              <a:endParaRPr/>
            </a:p>
          </p:txBody>
        </p:sp>
        <p:cxnSp>
          <p:nvCxnSpPr>
            <p:cNvPr id="328" name="Google Shape;328;p24"/>
            <p:cNvCxnSpPr/>
            <p:nvPr/>
          </p:nvCxnSpPr>
          <p:spPr>
            <a:xfrm>
              <a:off x="6385643" y="3221305"/>
              <a:ext cx="1016000" cy="0"/>
            </a:xfrm>
            <a:prstGeom prst="straightConnector1">
              <a:avLst/>
            </a:prstGeom>
            <a:noFill/>
            <a:ln w="28575" cap="flat" cmpd="sng">
              <a:solidFill>
                <a:srgbClr val="88C43B"/>
              </a:solidFill>
              <a:prstDash val="solid"/>
              <a:miter lim="800000"/>
              <a:headEnd type="none" w="sm" len="sm"/>
              <a:tailEnd type="none" w="sm" len="sm"/>
            </a:ln>
          </p:spPr>
        </p:cxnSp>
        <p:sp>
          <p:nvSpPr>
            <p:cNvPr id="329" name="Google Shape;329;p24"/>
            <p:cNvSpPr/>
            <p:nvPr/>
          </p:nvSpPr>
          <p:spPr>
            <a:xfrm>
              <a:off x="6710228" y="3035808"/>
              <a:ext cx="370995" cy="370995"/>
            </a:xfrm>
            <a:prstGeom prst="ellipse">
              <a:avLst/>
            </a:prstGeom>
            <a:solidFill>
              <a:schemeClr val="lt1"/>
            </a:solidFill>
            <a:ln w="28575" cap="flat" cmpd="sng">
              <a:solidFill>
                <a:srgbClr val="88C43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88C43B"/>
                  </a:solidFill>
                  <a:latin typeface="Calibri"/>
                  <a:ea typeface="Calibri"/>
                  <a:cs typeface="Calibri"/>
                  <a:sym typeface="Calibri"/>
                </a:rPr>
                <a:t>4</a:t>
              </a:r>
              <a:endParaRPr/>
            </a:p>
          </p:txBody>
        </p:sp>
        <p:cxnSp>
          <p:nvCxnSpPr>
            <p:cNvPr id="330" name="Google Shape;330;p24"/>
            <p:cNvCxnSpPr/>
            <p:nvPr/>
          </p:nvCxnSpPr>
          <p:spPr>
            <a:xfrm>
              <a:off x="8111212" y="3221305"/>
              <a:ext cx="1016000" cy="0"/>
            </a:xfrm>
            <a:prstGeom prst="straightConnector1">
              <a:avLst/>
            </a:prstGeom>
            <a:noFill/>
            <a:ln w="28575" cap="flat" cmpd="sng">
              <a:solidFill>
                <a:srgbClr val="F3AC2B"/>
              </a:solidFill>
              <a:prstDash val="solid"/>
              <a:miter lim="800000"/>
              <a:headEnd type="none" w="sm" len="sm"/>
              <a:tailEnd type="none" w="sm" len="sm"/>
            </a:ln>
          </p:spPr>
        </p:cxnSp>
        <p:sp>
          <p:nvSpPr>
            <p:cNvPr id="331" name="Google Shape;331;p24"/>
            <p:cNvSpPr/>
            <p:nvPr/>
          </p:nvSpPr>
          <p:spPr>
            <a:xfrm>
              <a:off x="8435797" y="3035808"/>
              <a:ext cx="370995" cy="370995"/>
            </a:xfrm>
            <a:prstGeom prst="ellipse">
              <a:avLst/>
            </a:prstGeom>
            <a:solidFill>
              <a:schemeClr val="lt1"/>
            </a:solidFill>
            <a:ln w="28575" cap="flat" cmpd="sng">
              <a:solidFill>
                <a:srgbClr val="F3AC2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F3AC2B"/>
                  </a:solidFill>
                  <a:latin typeface="Calibri"/>
                  <a:ea typeface="Calibri"/>
                  <a:cs typeface="Calibri"/>
                  <a:sym typeface="Calibri"/>
                </a:rPr>
                <a:t>5</a:t>
              </a:r>
              <a:endParaRPr/>
            </a:p>
          </p:txBody>
        </p:sp>
        <p:cxnSp>
          <p:nvCxnSpPr>
            <p:cNvPr id="332" name="Google Shape;332;p24"/>
            <p:cNvCxnSpPr/>
            <p:nvPr/>
          </p:nvCxnSpPr>
          <p:spPr>
            <a:xfrm>
              <a:off x="9817980" y="3221305"/>
              <a:ext cx="1016000" cy="0"/>
            </a:xfrm>
            <a:prstGeom prst="straightConnector1">
              <a:avLst/>
            </a:prstGeom>
            <a:noFill/>
            <a:ln w="28575" cap="flat" cmpd="sng">
              <a:solidFill>
                <a:srgbClr val="EF6252"/>
              </a:solidFill>
              <a:prstDash val="solid"/>
              <a:miter lim="800000"/>
              <a:headEnd type="none" w="sm" len="sm"/>
              <a:tailEnd type="none" w="sm" len="sm"/>
            </a:ln>
          </p:spPr>
        </p:cxnSp>
        <p:sp>
          <p:nvSpPr>
            <p:cNvPr id="333" name="Google Shape;333;p24"/>
            <p:cNvSpPr/>
            <p:nvPr/>
          </p:nvSpPr>
          <p:spPr>
            <a:xfrm>
              <a:off x="10142565" y="3035808"/>
              <a:ext cx="370995" cy="370995"/>
            </a:xfrm>
            <a:prstGeom prst="ellipse">
              <a:avLst/>
            </a:prstGeom>
            <a:solidFill>
              <a:schemeClr val="lt1"/>
            </a:solidFill>
            <a:ln w="28575" cap="flat" cmpd="sng">
              <a:solidFill>
                <a:srgbClr val="EF62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b="1">
                  <a:solidFill>
                    <a:srgbClr val="EF6252"/>
                  </a:solidFill>
                  <a:latin typeface="Calibri"/>
                  <a:ea typeface="Calibri"/>
                  <a:cs typeface="Calibri"/>
                  <a:sym typeface="Calibri"/>
                </a:rPr>
                <a:t>6</a:t>
              </a:r>
              <a:endParaRPr/>
            </a:p>
          </p:txBody>
        </p:sp>
      </p:grpSp>
      <p:sp>
        <p:nvSpPr>
          <p:cNvPr id="334" name="Google Shape;334;p24"/>
          <p:cNvSpPr/>
          <p:nvPr/>
        </p:nvSpPr>
        <p:spPr>
          <a:xfrm>
            <a:off x="1265464" y="134918"/>
            <a:ext cx="4240263" cy="83099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Proceso Data Science</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5"/>
          <p:cNvSpPr txBox="1"/>
          <p:nvPr/>
        </p:nvSpPr>
        <p:spPr>
          <a:xfrm>
            <a:off x="333219" y="1383856"/>
            <a:ext cx="5223215" cy="56688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La Ciencia de los Datos</a:t>
            </a:r>
            <a:endParaRPr/>
          </a:p>
        </p:txBody>
      </p:sp>
      <p:sp>
        <p:nvSpPr>
          <p:cNvPr id="340" name="Google Shape;340;p25"/>
          <p:cNvSpPr/>
          <p:nvPr/>
        </p:nvSpPr>
        <p:spPr>
          <a:xfrm>
            <a:off x="-214842" y="2241694"/>
            <a:ext cx="5613821" cy="248750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1" name="Google Shape;341;p25"/>
          <p:cNvSpPr txBox="1"/>
          <p:nvPr/>
        </p:nvSpPr>
        <p:spPr>
          <a:xfrm>
            <a:off x="333219" y="2513254"/>
            <a:ext cx="4892505" cy="203128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En resumen, la Ciencia de Datos es una ciencia debido a que sigue un proceso riguroso y sistemático para la obtención, análisis e interpretación de datos, utiliza el método científico para formular y probar hipótesis, y se basa en datos empíricos para validar y refutar teorías y modelos.</a:t>
            </a:r>
            <a:endParaRPr sz="1800"/>
          </a:p>
        </p:txBody>
      </p:sp>
      <p:sp>
        <p:nvSpPr>
          <p:cNvPr id="342" name="Google Shape;342;p25"/>
          <p:cNvSpPr/>
          <p:nvPr/>
        </p:nvSpPr>
        <p:spPr>
          <a:xfrm rot="-5400000">
            <a:off x="6839271" y="290092"/>
            <a:ext cx="3914890" cy="6102419"/>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3" name="Google Shape;343;p25" descr="Ejemplo de modelos de series de tiempo (Modelos predictivos)"/>
          <p:cNvPicPr preferRelativeResize="0"/>
          <p:nvPr/>
        </p:nvPicPr>
        <p:blipFill rotWithShape="1">
          <a:blip r:embed="rId3">
            <a:alphaModFix/>
          </a:blip>
          <a:srcRect/>
          <a:stretch/>
        </p:blipFill>
        <p:spPr>
          <a:xfrm>
            <a:off x="5863453" y="1573772"/>
            <a:ext cx="5830465" cy="36065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9"/>
                                        </p:tgtEl>
                                        <p:attrNameLst>
                                          <p:attrName>style.visibility</p:attrName>
                                        </p:attrNameLst>
                                      </p:cBhvr>
                                      <p:to>
                                        <p:strVal val="visible"/>
                                      </p:to>
                                    </p:set>
                                    <p:animEffect transition="in" filter="fade">
                                      <p:cBhvr>
                                        <p:cTn id="7" dur="500"/>
                                        <p:tgtEl>
                                          <p:spTgt spid="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6"/>
          <p:cNvSpPr/>
          <p:nvPr/>
        </p:nvSpPr>
        <p:spPr>
          <a:xfrm>
            <a:off x="320511" y="1104432"/>
            <a:ext cx="11585691" cy="51266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9" name="Google Shape;349;p26"/>
          <p:cNvSpPr txBox="1"/>
          <p:nvPr/>
        </p:nvSpPr>
        <p:spPr>
          <a:xfrm>
            <a:off x="1093508" y="358218"/>
            <a:ext cx="9836275" cy="649843"/>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Investigación Reproducible</a:t>
            </a:r>
            <a:endParaRPr/>
          </a:p>
        </p:txBody>
      </p:sp>
      <p:sp>
        <p:nvSpPr>
          <p:cNvPr id="350" name="Google Shape;350;p26"/>
          <p:cNvSpPr/>
          <p:nvPr/>
        </p:nvSpPr>
        <p:spPr>
          <a:xfrm>
            <a:off x="320511" y="1784713"/>
            <a:ext cx="11576115" cy="3966093"/>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1" name="Google Shape;351;p26"/>
          <p:cNvSpPr txBox="1"/>
          <p:nvPr/>
        </p:nvSpPr>
        <p:spPr>
          <a:xfrm>
            <a:off x="1093509" y="2119956"/>
            <a:ext cx="6372520"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rgbClr val="7F7F7F"/>
                </a:solidFill>
                <a:latin typeface="Calibri"/>
                <a:ea typeface="Calibri"/>
                <a:cs typeface="Calibri"/>
                <a:sym typeface="Calibri"/>
              </a:rPr>
              <a:t>La investigación reproducible se refiere a la práctica de publicar y compartir investigaciones científicas de tal manera que otros investigadores puedan reproducir los resultados y verificar la validez de las conclusiones.</a:t>
            </a:r>
            <a:endParaRPr/>
          </a:p>
          <a:p>
            <a:pPr marL="0" marR="0" lvl="0" indent="0" algn="just" rtl="0">
              <a:spcBef>
                <a:spcPts val="0"/>
              </a:spcBef>
              <a:spcAft>
                <a:spcPts val="0"/>
              </a:spcAft>
              <a:buNone/>
            </a:pPr>
            <a:endParaRPr sz="1800">
              <a:solidFill>
                <a:srgbClr val="7F7F7F"/>
              </a:solidFill>
              <a:latin typeface="Calibri"/>
              <a:ea typeface="Calibri"/>
              <a:cs typeface="Calibri"/>
              <a:sym typeface="Calibri"/>
            </a:endParaRPr>
          </a:p>
          <a:p>
            <a:pPr marL="0" marR="0" lvl="0" indent="0" algn="just" rtl="0">
              <a:spcBef>
                <a:spcPts val="0"/>
              </a:spcBef>
              <a:spcAft>
                <a:spcPts val="0"/>
              </a:spcAft>
              <a:buNone/>
            </a:pPr>
            <a:r>
              <a:rPr lang="es-MX" sz="1800">
                <a:solidFill>
                  <a:srgbClr val="7F7F7F"/>
                </a:solidFill>
                <a:latin typeface="Calibri"/>
                <a:ea typeface="Calibri"/>
                <a:cs typeface="Calibri"/>
                <a:sym typeface="Calibri"/>
              </a:rPr>
              <a:t>La idea detrás de la investigación reproducible es que los resultados de una investigación deben ser capaces de ser verificados y validados por otros investigadores. Esto implica hacer que los datos, el software, los métodos y los análisis utilizados en una investigación sean accesibles y transparentes para que otros puedan replicar el estudio y llegar a los mismos resultados.</a:t>
            </a:r>
            <a:endParaRPr/>
          </a:p>
        </p:txBody>
      </p:sp>
      <p:sp>
        <p:nvSpPr>
          <p:cNvPr id="352" name="Google Shape;352;p26"/>
          <p:cNvSpPr txBox="1"/>
          <p:nvPr/>
        </p:nvSpPr>
        <p:spPr>
          <a:xfrm>
            <a:off x="989814" y="972866"/>
            <a:ext cx="8738648" cy="718695"/>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1800" b="1">
                <a:solidFill>
                  <a:schemeClr val="lt1"/>
                </a:solidFill>
                <a:latin typeface="Calibri"/>
                <a:ea typeface="Calibri"/>
                <a:cs typeface="Calibri"/>
                <a:sym typeface="Calibri"/>
              </a:rPr>
              <a:t>¿QUÉ ES INVESTIGACIÓN REPRODUCIBLE?</a:t>
            </a:r>
            <a:endParaRPr/>
          </a:p>
        </p:txBody>
      </p:sp>
      <p:pic>
        <p:nvPicPr>
          <p:cNvPr id="353" name="Google Shape;353;p26"/>
          <p:cNvPicPr preferRelativeResize="0"/>
          <p:nvPr/>
        </p:nvPicPr>
        <p:blipFill rotWithShape="1">
          <a:blip r:embed="rId3">
            <a:alphaModFix/>
          </a:blip>
          <a:srcRect/>
          <a:stretch/>
        </p:blipFill>
        <p:spPr>
          <a:xfrm>
            <a:off x="8208144" y="1989870"/>
            <a:ext cx="3248025" cy="3248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9"/>
                                        </p:tgtEl>
                                        <p:attrNameLst>
                                          <p:attrName>style.visibility</p:attrName>
                                        </p:attrNameLst>
                                      </p:cBhvr>
                                      <p:to>
                                        <p:strVal val="visible"/>
                                      </p:to>
                                    </p:set>
                                    <p:animEffect transition="in" filter="fade">
                                      <p:cBhvr>
                                        <p:cTn id="7" dur="500"/>
                                        <p:tgtEl>
                                          <p:spTgt spid="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7"/>
          <p:cNvSpPr/>
          <p:nvPr/>
        </p:nvSpPr>
        <p:spPr>
          <a:xfrm>
            <a:off x="320511" y="1784713"/>
            <a:ext cx="11576115" cy="3966093"/>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9" name="Google Shape;359;p27"/>
          <p:cNvSpPr txBox="1"/>
          <p:nvPr/>
        </p:nvSpPr>
        <p:spPr>
          <a:xfrm>
            <a:off x="766852" y="637192"/>
            <a:ext cx="1031096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¿Qué es Investigación Reproducible?</a:t>
            </a:r>
            <a:endParaRPr/>
          </a:p>
        </p:txBody>
      </p:sp>
      <p:pic>
        <p:nvPicPr>
          <p:cNvPr id="360" name="Google Shape;360;p27"/>
          <p:cNvPicPr preferRelativeResize="0"/>
          <p:nvPr/>
        </p:nvPicPr>
        <p:blipFill rotWithShape="1">
          <a:blip r:embed="rId3">
            <a:alphaModFix/>
          </a:blip>
          <a:srcRect/>
          <a:stretch/>
        </p:blipFill>
        <p:spPr>
          <a:xfrm>
            <a:off x="8208144" y="1989870"/>
            <a:ext cx="3248025" cy="3248025"/>
          </a:xfrm>
          <a:prstGeom prst="rect">
            <a:avLst/>
          </a:prstGeom>
          <a:noFill/>
          <a:ln>
            <a:noFill/>
          </a:ln>
        </p:spPr>
      </p:pic>
      <p:sp>
        <p:nvSpPr>
          <p:cNvPr id="361" name="Google Shape;361;p27"/>
          <p:cNvSpPr txBox="1"/>
          <p:nvPr/>
        </p:nvSpPr>
        <p:spPr>
          <a:xfrm>
            <a:off x="766852" y="2057906"/>
            <a:ext cx="6848237" cy="34163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rgbClr val="7F7F7F"/>
                </a:solidFill>
                <a:latin typeface="Calibri"/>
                <a:ea typeface="Calibri"/>
                <a:cs typeface="Calibri"/>
                <a:sym typeface="Calibri"/>
              </a:rPr>
              <a:t>Para lograr una investigación reproducible, se pueden utilizar diversas herramientas y prácticas, como la documentación detallada de los métodos y los procedimientos, el uso de software de control de versiones, la publicación de los datos y el código en línea, y la utilización de herramientas como los notebooks Jupyter para registrar el análisis y los resultados.</a:t>
            </a:r>
            <a:endParaRPr/>
          </a:p>
          <a:p>
            <a:pPr marL="0" marR="0" lvl="0" indent="0" algn="just" rtl="0">
              <a:spcBef>
                <a:spcPts val="0"/>
              </a:spcBef>
              <a:spcAft>
                <a:spcPts val="0"/>
              </a:spcAft>
              <a:buNone/>
            </a:pPr>
            <a:endParaRPr sz="1800">
              <a:solidFill>
                <a:srgbClr val="7F7F7F"/>
              </a:solidFill>
              <a:latin typeface="Calibri"/>
              <a:ea typeface="Calibri"/>
              <a:cs typeface="Calibri"/>
              <a:sym typeface="Calibri"/>
            </a:endParaRPr>
          </a:p>
          <a:p>
            <a:pPr marL="0" marR="0" lvl="0" indent="0" algn="just" rtl="0">
              <a:spcBef>
                <a:spcPts val="0"/>
              </a:spcBef>
              <a:spcAft>
                <a:spcPts val="0"/>
              </a:spcAft>
              <a:buNone/>
            </a:pPr>
            <a:r>
              <a:rPr lang="es-MX" sz="1800">
                <a:solidFill>
                  <a:srgbClr val="7F7F7F"/>
                </a:solidFill>
                <a:latin typeface="Calibri"/>
                <a:ea typeface="Calibri"/>
                <a:cs typeface="Calibri"/>
                <a:sym typeface="Calibri"/>
              </a:rPr>
              <a:t>La investigación reproducible es una práctica importante en la ciencia y la investigación, ya que ayuda a garantizar la transparencia y la validez de los resultados de la investigación, lo que a su vez promueve la confianza en la ciencia y mejora la calidad de la investigación en general.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8"/>
          <p:cNvSpPr txBox="1"/>
          <p:nvPr/>
        </p:nvSpPr>
        <p:spPr>
          <a:xfrm>
            <a:off x="1395167" y="374927"/>
            <a:ext cx="9636766" cy="57344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¿Qué es Investigación Reproducible?</a:t>
            </a:r>
            <a:endParaRPr sz="3200">
              <a:solidFill>
                <a:srgbClr val="7F7F7F"/>
              </a:solidFill>
              <a:latin typeface="Arial"/>
              <a:ea typeface="Arial"/>
              <a:cs typeface="Arial"/>
              <a:sym typeface="Arial"/>
            </a:endParaRPr>
          </a:p>
        </p:txBody>
      </p:sp>
      <p:sp>
        <p:nvSpPr>
          <p:cNvPr id="367" name="Google Shape;367;p28"/>
          <p:cNvSpPr/>
          <p:nvPr/>
        </p:nvSpPr>
        <p:spPr>
          <a:xfrm>
            <a:off x="0" y="1049052"/>
            <a:ext cx="12192000" cy="465271"/>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8" name="Google Shape;368;p28"/>
          <p:cNvSpPr/>
          <p:nvPr/>
        </p:nvSpPr>
        <p:spPr>
          <a:xfrm rot="16200000">
            <a:off x="3819249" y="-1299185"/>
            <a:ext cx="4841051" cy="10870776"/>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69" name="Google Shape;369;p28" descr="This is confusing!"/>
          <p:cNvPicPr preferRelativeResize="0"/>
          <p:nvPr/>
        </p:nvPicPr>
        <p:blipFill rotWithShape="1">
          <a:blip r:embed="rId3">
            <a:alphaModFix/>
          </a:blip>
          <a:srcRect/>
          <a:stretch/>
        </p:blipFill>
        <p:spPr>
          <a:xfrm>
            <a:off x="2649920" y="1811473"/>
            <a:ext cx="7127259" cy="4543628"/>
          </a:xfrm>
          <a:prstGeom prst="rect">
            <a:avLst/>
          </a:prstGeom>
          <a:noFill/>
          <a:ln>
            <a:noFill/>
          </a:ln>
        </p:spPr>
      </p:pic>
      <p:sp>
        <p:nvSpPr>
          <p:cNvPr id="370" name="Google Shape;370;p28"/>
          <p:cNvSpPr txBox="1"/>
          <p:nvPr/>
        </p:nvSpPr>
        <p:spPr>
          <a:xfrm>
            <a:off x="755632" y="1098803"/>
            <a:ext cx="11171266" cy="36929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dirty="0">
                <a:solidFill>
                  <a:srgbClr val="FFFFFF"/>
                </a:solidFill>
                <a:latin typeface="Calibri"/>
                <a:ea typeface="Calibri"/>
                <a:cs typeface="Calibri"/>
                <a:sym typeface="Calibri"/>
              </a:rPr>
              <a:t>Para entender qué es un análisis reproducible, partamos primero entendiendo ¿</a:t>
            </a:r>
            <a:r>
              <a:rPr lang="es-MX" sz="1800" i="1" dirty="0">
                <a:solidFill>
                  <a:srgbClr val="FFFFFF"/>
                </a:solidFill>
                <a:latin typeface="Calibri"/>
                <a:ea typeface="Calibri"/>
                <a:cs typeface="Calibri"/>
                <a:sym typeface="Calibri"/>
              </a:rPr>
              <a:t>Qué es un análisis no reproducible?</a:t>
            </a:r>
            <a:endParaRPr sz="1800" i="1" dirty="0">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6"/>
                                        </p:tgtEl>
                                        <p:attrNameLst>
                                          <p:attrName>style.visibility</p:attrName>
                                        </p:attrNameLst>
                                      </p:cBhvr>
                                      <p:to>
                                        <p:strVal val="visible"/>
                                      </p:to>
                                    </p:set>
                                    <p:animEffect transition="in" filter="fade">
                                      <p:cBhvr>
                                        <p:cTn id="7" dur="500"/>
                                        <p:tgtEl>
                                          <p:spTgt spid="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9"/>
          <p:cNvSpPr/>
          <p:nvPr/>
        </p:nvSpPr>
        <p:spPr>
          <a:xfrm>
            <a:off x="-274191" y="1336637"/>
            <a:ext cx="12735007" cy="3864013"/>
          </a:xfrm>
          <a:prstGeom prst="roundRect">
            <a:avLst>
              <a:gd name="adj" fmla="val 2971"/>
            </a:avLst>
          </a:prstGeom>
          <a:solidFill>
            <a:srgbClr val="8D3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6" name="Google Shape;376;p29"/>
          <p:cNvSpPr txBox="1"/>
          <p:nvPr/>
        </p:nvSpPr>
        <p:spPr>
          <a:xfrm>
            <a:off x="342646" y="1507024"/>
            <a:ext cx="4095513" cy="36932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Suponga que acaba de llegar a la organización y el anterior investigador le dejó una carpeta con esos archivos. ¿Por dónde partiría? No solamente hay múltiples versiones del script de análisis sino también, cerca de 30 datasets diferentes.</a:t>
            </a:r>
            <a:endParaRPr sz="1800"/>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MX" sz="1800">
                <a:solidFill>
                  <a:schemeClr val="lt1"/>
                </a:solidFill>
                <a:latin typeface="Calibri"/>
                <a:ea typeface="Calibri"/>
                <a:cs typeface="Calibri"/>
                <a:sym typeface="Calibri"/>
              </a:rPr>
              <a:t>Pareciera que hay un código que es el que tiene la versión final. Si lo inspeccionamos, ¿logramos saber cómo se condujo la investigación? Inspeccionemos segmentos del código.</a:t>
            </a:r>
            <a:endParaRPr sz="1800"/>
          </a:p>
        </p:txBody>
      </p:sp>
      <p:sp>
        <p:nvSpPr>
          <p:cNvPr id="377" name="Google Shape;377;p29"/>
          <p:cNvSpPr/>
          <p:nvPr/>
        </p:nvSpPr>
        <p:spPr>
          <a:xfrm rot="16200000">
            <a:off x="6599561" y="-354754"/>
            <a:ext cx="3527843" cy="7295096"/>
          </a:xfrm>
          <a:prstGeom prst="roundRect">
            <a:avLst>
              <a:gd name="adj" fmla="val 2971"/>
            </a:avLst>
          </a:prstGeom>
          <a:solidFill>
            <a:schemeClr val="lt1"/>
          </a:solid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78" name="Google Shape;378;p29"/>
          <p:cNvPicPr preferRelativeResize="0"/>
          <p:nvPr/>
        </p:nvPicPr>
        <p:blipFill rotWithShape="1">
          <a:blip r:embed="rId3">
            <a:alphaModFix/>
          </a:blip>
          <a:srcRect t="-664" b="25180"/>
          <a:stretch/>
        </p:blipFill>
        <p:spPr>
          <a:xfrm>
            <a:off x="4792624" y="1718710"/>
            <a:ext cx="7151710" cy="3157750"/>
          </a:xfrm>
          <a:prstGeom prst="rect">
            <a:avLst/>
          </a:prstGeom>
          <a:noFill/>
          <a:ln>
            <a:noFill/>
          </a:ln>
        </p:spPr>
      </p:pic>
      <p:sp>
        <p:nvSpPr>
          <p:cNvPr id="379" name="Google Shape;379;p29"/>
          <p:cNvSpPr/>
          <p:nvPr/>
        </p:nvSpPr>
        <p:spPr>
          <a:xfrm>
            <a:off x="342646" y="515356"/>
            <a:ext cx="10639720" cy="83099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¿Qué es Investigación Reproducible?</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9"/>
                                        </p:tgtEl>
                                        <p:attrNameLst>
                                          <p:attrName>style.visibility</p:attrName>
                                        </p:attrNameLst>
                                      </p:cBhvr>
                                      <p:to>
                                        <p:strVal val="visible"/>
                                      </p:to>
                                    </p:set>
                                    <p:animEffect transition="in" filter="fade">
                                      <p:cBhvr>
                                        <p:cTn id="7" dur="500"/>
                                        <p:tgtEl>
                                          <p:spTgt spid="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0"/>
          <p:cNvSpPr/>
          <p:nvPr/>
        </p:nvSpPr>
        <p:spPr>
          <a:xfrm>
            <a:off x="482329" y="1630098"/>
            <a:ext cx="3209827" cy="3641763"/>
          </a:xfrm>
          <a:prstGeom prst="roundRect">
            <a:avLst>
              <a:gd name="adj" fmla="val 2971"/>
            </a:avLst>
          </a:prstGeom>
          <a:solidFill>
            <a:srgbClr val="8D32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30"/>
          <p:cNvSpPr txBox="1"/>
          <p:nvPr/>
        </p:nvSpPr>
        <p:spPr>
          <a:xfrm>
            <a:off x="622098" y="2791146"/>
            <a:ext cx="2930287" cy="16311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a:solidFill>
                  <a:schemeClr val="lt1"/>
                </a:solidFill>
                <a:latin typeface="Calibri"/>
                <a:ea typeface="Calibri"/>
                <a:cs typeface="Calibri"/>
                <a:sym typeface="Calibri"/>
              </a:rPr>
              <a:t>Pareciera que no hay una dirección hacia dónde va la investigación, o al menos el código no es capaz de reflejarlo.</a:t>
            </a:r>
            <a:endParaRPr sz="1800"/>
          </a:p>
        </p:txBody>
      </p:sp>
      <p:sp>
        <p:nvSpPr>
          <p:cNvPr id="386" name="Google Shape;386;p30"/>
          <p:cNvSpPr/>
          <p:nvPr/>
        </p:nvSpPr>
        <p:spPr>
          <a:xfrm rot="-5400000">
            <a:off x="5480740" y="-487447"/>
            <a:ext cx="4591050" cy="7905753"/>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7" name="Google Shape;387;p30"/>
          <p:cNvPicPr preferRelativeResize="0"/>
          <p:nvPr/>
        </p:nvPicPr>
        <p:blipFill rotWithShape="1">
          <a:blip r:embed="rId3">
            <a:alphaModFix/>
          </a:blip>
          <a:srcRect b="27101"/>
          <a:stretch/>
        </p:blipFill>
        <p:spPr>
          <a:xfrm>
            <a:off x="3957871" y="1263568"/>
            <a:ext cx="7655834" cy="4374825"/>
          </a:xfrm>
          <a:prstGeom prst="rect">
            <a:avLst/>
          </a:prstGeom>
          <a:noFill/>
          <a:ln>
            <a:noFill/>
          </a:ln>
        </p:spPr>
      </p:pic>
      <p:sp>
        <p:nvSpPr>
          <p:cNvPr id="388" name="Google Shape;388;p30"/>
          <p:cNvSpPr txBox="1"/>
          <p:nvPr/>
        </p:nvSpPr>
        <p:spPr>
          <a:xfrm>
            <a:off x="622098" y="492747"/>
            <a:ext cx="10389728" cy="554595"/>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MX" sz="3200">
                <a:solidFill>
                  <a:srgbClr val="7F7F7F"/>
                </a:solidFill>
                <a:latin typeface="Arial"/>
                <a:ea typeface="Arial"/>
                <a:cs typeface="Arial"/>
                <a:sym typeface="Arial"/>
              </a:rPr>
              <a:t>¿Qué es Investigación Reproducible?</a:t>
            </a:r>
            <a:endParaRPr sz="3200">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8"/>
                                        </p:tgtEl>
                                        <p:attrNameLst>
                                          <p:attrName>style.visibility</p:attrName>
                                        </p:attrNameLst>
                                      </p:cBhvr>
                                      <p:to>
                                        <p:strVal val="visible"/>
                                      </p:to>
                                    </p:set>
                                    <p:animEffect transition="in" filter="fade">
                                      <p:cBhvr>
                                        <p:cTn id="7" dur="5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1"/>
          <p:cNvSpPr/>
          <p:nvPr/>
        </p:nvSpPr>
        <p:spPr>
          <a:xfrm>
            <a:off x="147484" y="2021714"/>
            <a:ext cx="11871690" cy="3966093"/>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MX" sz="1800">
                <a:solidFill>
                  <a:schemeClr val="lt1"/>
                </a:solidFill>
                <a:latin typeface="Calibri"/>
                <a:ea typeface="Calibri"/>
                <a:cs typeface="Calibri"/>
                <a:sym typeface="Calibri"/>
              </a:rPr>
              <a:t>,</a:t>
            </a:r>
            <a:endParaRPr sz="1800">
              <a:solidFill>
                <a:schemeClr val="lt1"/>
              </a:solidFill>
              <a:latin typeface="Calibri"/>
              <a:ea typeface="Calibri"/>
              <a:cs typeface="Calibri"/>
              <a:sym typeface="Calibri"/>
            </a:endParaRPr>
          </a:p>
        </p:txBody>
      </p:sp>
      <p:sp>
        <p:nvSpPr>
          <p:cNvPr id="394" name="Google Shape;394;p31"/>
          <p:cNvSpPr txBox="1"/>
          <p:nvPr/>
        </p:nvSpPr>
        <p:spPr>
          <a:xfrm>
            <a:off x="751497" y="472120"/>
            <a:ext cx="10524765" cy="555391"/>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Buenas Prácticas</a:t>
            </a:r>
            <a:endParaRPr/>
          </a:p>
        </p:txBody>
      </p:sp>
      <p:grpSp>
        <p:nvGrpSpPr>
          <p:cNvPr id="395" name="Google Shape;395;p31"/>
          <p:cNvGrpSpPr/>
          <p:nvPr/>
        </p:nvGrpSpPr>
        <p:grpSpPr>
          <a:xfrm>
            <a:off x="358602" y="2524119"/>
            <a:ext cx="2462364" cy="2479642"/>
            <a:chOff x="261786" y="1885948"/>
            <a:chExt cx="2014689" cy="2028826"/>
          </a:xfrm>
        </p:grpSpPr>
        <p:sp>
          <p:nvSpPr>
            <p:cNvPr id="396" name="Google Shape;396;p31"/>
            <p:cNvSpPr/>
            <p:nvPr/>
          </p:nvSpPr>
          <p:spPr>
            <a:xfrm rot="-5400000">
              <a:off x="254718" y="1893017"/>
              <a:ext cx="2028826" cy="2014689"/>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97" name="Google Shape;397;p31" descr="Download all files in Jupyter Notebook - Søren Friis Dam"/>
            <p:cNvPicPr preferRelativeResize="0"/>
            <p:nvPr/>
          </p:nvPicPr>
          <p:blipFill rotWithShape="1">
            <a:blip r:embed="rId3">
              <a:alphaModFix/>
            </a:blip>
            <a:srcRect r="3529"/>
            <a:stretch/>
          </p:blipFill>
          <p:spPr>
            <a:xfrm>
              <a:off x="378978" y="2016124"/>
              <a:ext cx="1756741" cy="1821024"/>
            </a:xfrm>
            <a:prstGeom prst="rect">
              <a:avLst/>
            </a:prstGeom>
            <a:noFill/>
            <a:ln w="9525" cap="flat" cmpd="sng">
              <a:solidFill>
                <a:srgbClr val="7F7F7F"/>
              </a:solidFill>
              <a:prstDash val="solid"/>
              <a:round/>
              <a:headEnd type="none" w="sm" len="sm"/>
              <a:tailEnd type="none" w="sm" len="sm"/>
            </a:ln>
          </p:spPr>
        </p:pic>
      </p:grpSp>
      <p:sp>
        <p:nvSpPr>
          <p:cNvPr id="398" name="Google Shape;398;p31"/>
          <p:cNvSpPr txBox="1"/>
          <p:nvPr/>
        </p:nvSpPr>
        <p:spPr>
          <a:xfrm>
            <a:off x="2913813" y="2524119"/>
            <a:ext cx="3318408" cy="26776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400" b="1" u="sng">
                <a:solidFill>
                  <a:srgbClr val="7F7F7F"/>
                </a:solidFill>
                <a:latin typeface="Calibri"/>
                <a:ea typeface="Calibri"/>
                <a:cs typeface="Calibri"/>
                <a:sym typeface="Calibri"/>
              </a:rPr>
              <a:t>Jupyter Notebook:</a:t>
            </a:r>
            <a:r>
              <a:rPr lang="es-MX" sz="1400" b="1">
                <a:solidFill>
                  <a:srgbClr val="7F7F7F"/>
                </a:solidFill>
                <a:latin typeface="Calibri"/>
                <a:ea typeface="Calibri"/>
                <a:cs typeface="Calibri"/>
                <a:sym typeface="Calibri"/>
              </a:rPr>
              <a:t> Es una aplicación web de código abierto que permite crear y compartir documentos interactivos que contienen código, visualizaciones, texto explicativo y otros elementos multimedia.</a:t>
            </a:r>
            <a:endParaRPr/>
          </a:p>
          <a:p>
            <a:pPr marL="0" marR="0" lvl="0" indent="0" algn="just" rtl="0">
              <a:spcBef>
                <a:spcPts val="0"/>
              </a:spcBef>
              <a:spcAft>
                <a:spcPts val="0"/>
              </a:spcAft>
              <a:buNone/>
            </a:pPr>
            <a:endParaRPr sz="1400" b="1">
              <a:solidFill>
                <a:srgbClr val="7F7F7F"/>
              </a:solidFill>
              <a:latin typeface="Calibri"/>
              <a:ea typeface="Calibri"/>
              <a:cs typeface="Calibri"/>
              <a:sym typeface="Calibri"/>
            </a:endParaRPr>
          </a:p>
          <a:p>
            <a:pPr marL="0" marR="0" lvl="0" indent="0" algn="just" rtl="0">
              <a:spcBef>
                <a:spcPts val="0"/>
              </a:spcBef>
              <a:spcAft>
                <a:spcPts val="0"/>
              </a:spcAft>
              <a:buNone/>
            </a:pPr>
            <a:r>
              <a:rPr lang="es-MX" sz="1400" b="1">
                <a:solidFill>
                  <a:srgbClr val="7F7F7F"/>
                </a:solidFill>
                <a:latin typeface="Calibri"/>
                <a:ea typeface="Calibri"/>
                <a:cs typeface="Calibri"/>
                <a:sym typeface="Calibri"/>
              </a:rPr>
              <a:t>Además, los notebooks Jupyter son una herramienta importante para la investigación reproducible, ya que permiten compartir código, datos y resultados en un formato accesible y fácil de reproducir.</a:t>
            </a:r>
            <a:endParaRPr/>
          </a:p>
        </p:txBody>
      </p:sp>
      <p:sp>
        <p:nvSpPr>
          <p:cNvPr id="399" name="Google Shape;399;p31"/>
          <p:cNvSpPr/>
          <p:nvPr/>
        </p:nvSpPr>
        <p:spPr>
          <a:xfrm>
            <a:off x="147484" y="1281136"/>
            <a:ext cx="11871690" cy="530689"/>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0" name="Google Shape;400;p31"/>
          <p:cNvSpPr/>
          <p:nvPr/>
        </p:nvSpPr>
        <p:spPr>
          <a:xfrm rot="-5400000">
            <a:off x="6362714" y="2582263"/>
            <a:ext cx="2578651" cy="2462364"/>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1" name="Google Shape;401;p31"/>
          <p:cNvSpPr txBox="1"/>
          <p:nvPr/>
        </p:nvSpPr>
        <p:spPr>
          <a:xfrm>
            <a:off x="8953588" y="2524119"/>
            <a:ext cx="2877051" cy="18158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400" b="1" u="sng">
                <a:solidFill>
                  <a:srgbClr val="7F7F7F"/>
                </a:solidFill>
                <a:latin typeface="Calibri"/>
                <a:ea typeface="Calibri"/>
                <a:cs typeface="Calibri"/>
                <a:sym typeface="Calibri"/>
              </a:rPr>
              <a:t>GitHub:</a:t>
            </a:r>
            <a:r>
              <a:rPr lang="es-MX" sz="1400" b="1">
                <a:solidFill>
                  <a:srgbClr val="7F7F7F"/>
                </a:solidFill>
                <a:latin typeface="Calibri"/>
                <a:ea typeface="Calibri"/>
                <a:cs typeface="Calibri"/>
                <a:sym typeface="Calibri"/>
              </a:rPr>
              <a:t> Es una plataforma de alojamiento y colaboración de proyectos de software que utiliza el sistema de control de versiones Git. GitHub permite a los desarrolladores compartir y colaborar en proyectos de software de manera fácil y eficiente.</a:t>
            </a:r>
            <a:endParaRPr/>
          </a:p>
        </p:txBody>
      </p:sp>
      <p:sp>
        <p:nvSpPr>
          <p:cNvPr id="403" name="Google Shape;403;p31"/>
          <p:cNvSpPr txBox="1"/>
          <p:nvPr/>
        </p:nvSpPr>
        <p:spPr>
          <a:xfrm>
            <a:off x="839758" y="1387164"/>
            <a:ext cx="10090025" cy="36929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Para realizar análisis reproducibles, podemos partir utilizando las siguientes herramientas:</a:t>
            </a:r>
            <a:endParaRPr sz="1600"/>
          </a:p>
        </p:txBody>
      </p:sp>
      <p:pic>
        <p:nvPicPr>
          <p:cNvPr id="2" name="Imagen 1" descr="GitHub Logo, Git Hub Icon With Text On White and Black Background ...">
            <a:extLst>
              <a:ext uri="{FF2B5EF4-FFF2-40B4-BE49-F238E27FC236}">
                <a16:creationId xmlns:a16="http://schemas.microsoft.com/office/drawing/2014/main" id="{FE39C951-9302-50BE-D13F-DB0353534DB1}"/>
              </a:ext>
            </a:extLst>
          </p:cNvPr>
          <p:cNvPicPr>
            <a:picLocks noChangeAspect="1"/>
          </p:cNvPicPr>
          <p:nvPr/>
        </p:nvPicPr>
        <p:blipFill rotWithShape="1">
          <a:blip r:embed="rId4"/>
          <a:srcRect r="50193" b="-1001"/>
          <a:stretch/>
        </p:blipFill>
        <p:spPr>
          <a:xfrm>
            <a:off x="6745817" y="2764366"/>
            <a:ext cx="1969556" cy="19991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4"/>
                                        </p:tgtEl>
                                        <p:attrNameLst>
                                          <p:attrName>style.visibility</p:attrName>
                                        </p:attrNameLst>
                                      </p:cBhvr>
                                      <p:to>
                                        <p:strVal val="visible"/>
                                      </p:to>
                                    </p:set>
                                    <p:animEffect transition="in" filter="fade">
                                      <p:cBhvr>
                                        <p:cTn id="7"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2"/>
          <p:cNvSpPr txBox="1"/>
          <p:nvPr/>
        </p:nvSpPr>
        <p:spPr>
          <a:xfrm>
            <a:off x="320510" y="1259839"/>
            <a:ext cx="11488954" cy="56560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Buenas Prácticas</a:t>
            </a:r>
            <a:endParaRPr/>
          </a:p>
        </p:txBody>
      </p:sp>
      <p:sp>
        <p:nvSpPr>
          <p:cNvPr id="409" name="Google Shape;409;p32"/>
          <p:cNvSpPr/>
          <p:nvPr/>
        </p:nvSpPr>
        <p:spPr>
          <a:xfrm>
            <a:off x="-774930" y="1970203"/>
            <a:ext cx="4622276" cy="3092624"/>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0" name="Google Shape;410;p32"/>
          <p:cNvSpPr txBox="1"/>
          <p:nvPr/>
        </p:nvSpPr>
        <p:spPr>
          <a:xfrm>
            <a:off x="320510" y="2084334"/>
            <a:ext cx="3397337" cy="286228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El siguiente, es un ejemplo de investigación reproducible. Se trata del repositorio Github del ministerio de ciencias y tecnología, el cual comparte datos de las estadísticas de contagios Covid en Chile y almacena notebooks reproducibles para facilitar el análisis a los investigadores.</a:t>
            </a:r>
            <a:endParaRPr sz="1800"/>
          </a:p>
        </p:txBody>
      </p:sp>
      <p:sp>
        <p:nvSpPr>
          <p:cNvPr id="411" name="Google Shape;411;p32"/>
          <p:cNvSpPr/>
          <p:nvPr/>
        </p:nvSpPr>
        <p:spPr>
          <a:xfrm rot="-5400000">
            <a:off x="6029916" y="-529474"/>
            <a:ext cx="3924300" cy="7886704"/>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12" name="Google Shape;412;p32"/>
          <p:cNvPicPr preferRelativeResize="0"/>
          <p:nvPr/>
        </p:nvPicPr>
        <p:blipFill rotWithShape="1">
          <a:blip r:embed="rId3">
            <a:alphaModFix/>
          </a:blip>
          <a:srcRect/>
          <a:stretch/>
        </p:blipFill>
        <p:spPr>
          <a:xfrm>
            <a:off x="4174668" y="1545390"/>
            <a:ext cx="7634796" cy="36867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5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3"/>
          <p:cNvSpPr txBox="1"/>
          <p:nvPr/>
        </p:nvSpPr>
        <p:spPr>
          <a:xfrm>
            <a:off x="1723810" y="0"/>
            <a:ext cx="8673955"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MX" sz="3200">
                <a:solidFill>
                  <a:srgbClr val="7F7F7F"/>
                </a:solidFill>
                <a:latin typeface="Arial"/>
                <a:ea typeface="Arial"/>
                <a:cs typeface="Arial"/>
                <a:sym typeface="Arial"/>
              </a:rPr>
              <a:t>Buenas Prácticas</a:t>
            </a:r>
            <a:endParaRPr/>
          </a:p>
        </p:txBody>
      </p:sp>
      <p:sp>
        <p:nvSpPr>
          <p:cNvPr id="418" name="Google Shape;418;p33"/>
          <p:cNvSpPr/>
          <p:nvPr/>
        </p:nvSpPr>
        <p:spPr>
          <a:xfrm>
            <a:off x="0" y="931994"/>
            <a:ext cx="12192000" cy="520776"/>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9" name="Google Shape;419;p33"/>
          <p:cNvSpPr txBox="1"/>
          <p:nvPr/>
        </p:nvSpPr>
        <p:spPr>
          <a:xfrm>
            <a:off x="1057060" y="1009498"/>
            <a:ext cx="10020208" cy="36929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1800">
                <a:solidFill>
                  <a:schemeClr val="lt1"/>
                </a:solidFill>
                <a:latin typeface="Calibri"/>
                <a:ea typeface="Calibri"/>
                <a:cs typeface="Calibri"/>
                <a:sym typeface="Calibri"/>
              </a:rPr>
              <a:t>Este es un ejemplo de un notebook reproducible. Recomendamos lo puedas revisar en detalle en el link</a:t>
            </a:r>
            <a:r>
              <a:rPr lang="es-MX" sz="1800">
                <a:solidFill>
                  <a:schemeClr val="lt1"/>
                </a:solidFill>
                <a:latin typeface="Arial"/>
                <a:ea typeface="Arial"/>
                <a:cs typeface="Arial"/>
                <a:sym typeface="Arial"/>
              </a:rPr>
              <a:t>.</a:t>
            </a:r>
            <a:endParaRPr sz="1600"/>
          </a:p>
        </p:txBody>
      </p:sp>
      <p:sp>
        <p:nvSpPr>
          <p:cNvPr id="420" name="Google Shape;420;p33"/>
          <p:cNvSpPr/>
          <p:nvPr/>
        </p:nvSpPr>
        <p:spPr>
          <a:xfrm rot="-5400000">
            <a:off x="3886104" y="-66215"/>
            <a:ext cx="4572000" cy="7886704"/>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21" name="Google Shape;421;p33"/>
          <p:cNvPicPr preferRelativeResize="0"/>
          <p:nvPr/>
        </p:nvPicPr>
        <p:blipFill rotWithShape="1">
          <a:blip r:embed="rId3">
            <a:alphaModFix/>
          </a:blip>
          <a:srcRect/>
          <a:stretch/>
        </p:blipFill>
        <p:spPr>
          <a:xfrm>
            <a:off x="2354705" y="1694690"/>
            <a:ext cx="7634797" cy="4368700"/>
          </a:xfrm>
          <a:prstGeom prst="rect">
            <a:avLst/>
          </a:prstGeom>
          <a:noFill/>
          <a:ln>
            <a:noFill/>
          </a:ln>
        </p:spPr>
      </p:pic>
      <p:sp>
        <p:nvSpPr>
          <p:cNvPr id="422" name="Google Shape;422;p33"/>
          <p:cNvSpPr txBox="1"/>
          <p:nvPr/>
        </p:nvSpPr>
        <p:spPr>
          <a:xfrm>
            <a:off x="2556233" y="6266691"/>
            <a:ext cx="5778633" cy="278406"/>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MX" sz="1200">
                <a:solidFill>
                  <a:srgbClr val="3F3F3F"/>
                </a:solidFill>
                <a:latin typeface="Calibri"/>
                <a:ea typeface="Calibri"/>
                <a:cs typeface="Calibri"/>
                <a:sym typeface="Calibri"/>
              </a:rPr>
              <a:t>https://github.com/MinCiencia/Datos-COVID19/blob/master/DataObservatory_ex1.ipynb</a:t>
            </a:r>
            <a:endParaRPr sz="1200">
              <a:solidFill>
                <a:srgbClr val="3F3F3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7"/>
                                        </p:tgtEl>
                                        <p:attrNameLst>
                                          <p:attrName>style.visibility</p:attrName>
                                        </p:attrNameLst>
                                      </p:cBhvr>
                                      <p:to>
                                        <p:strVal val="visible"/>
                                      </p:to>
                                    </p:set>
                                    <p:animEffect transition="in" filter="fade">
                                      <p:cBhvr>
                                        <p:cTn id="7" dur="500"/>
                                        <p:tgtEl>
                                          <p:spTgt spid="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4"/>
          <p:cNvSpPr/>
          <p:nvPr/>
        </p:nvSpPr>
        <p:spPr>
          <a:xfrm>
            <a:off x="-749030" y="3132234"/>
            <a:ext cx="7964307" cy="894946"/>
          </a:xfrm>
          <a:prstGeom prst="roundRect">
            <a:avLst>
              <a:gd name="adj" fmla="val 2778"/>
            </a:avLst>
          </a:prstGeom>
          <a:gradFill>
            <a:gsLst>
              <a:gs pos="0">
                <a:srgbClr val="451539"/>
              </a:gs>
              <a:gs pos="50000">
                <a:srgbClr val="641F53"/>
              </a:gs>
              <a:gs pos="100000">
                <a:srgbClr val="782663"/>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428" name="Google Shape;428;p34"/>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MX"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8"/>
                                        </p:tgtEl>
                                        <p:attrNameLst>
                                          <p:attrName>style.visibility</p:attrName>
                                        </p:attrNameLst>
                                      </p:cBhvr>
                                      <p:to>
                                        <p:strVal val="visible"/>
                                      </p:to>
                                    </p:set>
                                    <p:animEffect transition="in" filter="fade">
                                      <p:cBhvr>
                                        <p:cTn id="7" dur="5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5"/>
          <p:cNvSpPr txBox="1"/>
          <p:nvPr/>
        </p:nvSpPr>
        <p:spPr>
          <a:xfrm>
            <a:off x="462603" y="292496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MX" sz="3600" b="0" i="0" u="none" strike="noStrike" cap="none">
                <a:solidFill>
                  <a:srgbClr val="7F7F7F"/>
                </a:solidFill>
                <a:latin typeface="Arial"/>
                <a:ea typeface="Arial"/>
                <a:cs typeface="Arial"/>
                <a:sym typeface="Arial"/>
              </a:rPr>
              <a:t>Fin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33"/>
                                        </p:tgtEl>
                                        <p:attrNameLst>
                                          <p:attrName>style.visibility</p:attrName>
                                        </p:attrNameLst>
                                      </p:cBhvr>
                                      <p:to>
                                        <p:strVal val="visible"/>
                                      </p:to>
                                    </p:set>
                                    <p:animEffect transition="in" filter="fade">
                                      <p:cBhvr>
                                        <p:cTn id="7" dur="500"/>
                                        <p:tgtEl>
                                          <p:spTgt spid="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3383</Words>
  <Application>Microsoft Office PowerPoint</Application>
  <PresentationFormat>Panorámica</PresentationFormat>
  <Paragraphs>229</Paragraphs>
  <Slides>39</Slides>
  <Notes>39</Notes>
  <HiddenSlides>0</HiddenSlides>
  <MMClips>0</MMClips>
  <ScaleCrop>false</ScaleCrop>
  <HeadingPairs>
    <vt:vector size="4" baseType="variant">
      <vt:variant>
        <vt:lpstr>Tema</vt:lpstr>
      </vt:variant>
      <vt:variant>
        <vt:i4>1</vt:i4>
      </vt:variant>
      <vt:variant>
        <vt:lpstr>Títulos de diapositiva</vt:lpstr>
      </vt:variant>
      <vt:variant>
        <vt:i4>39</vt:i4>
      </vt:variant>
    </vt:vector>
  </HeadingPairs>
  <TitlesOfParts>
    <vt:vector size="40"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Diseño ITA</cp:lastModifiedBy>
  <cp:revision>201</cp:revision>
  <dcterms:created xsi:type="dcterms:W3CDTF">2023-01-03T12:28:26Z</dcterms:created>
  <dcterms:modified xsi:type="dcterms:W3CDTF">2025-09-26T11:46:56Z</dcterms:modified>
</cp:coreProperties>
</file>