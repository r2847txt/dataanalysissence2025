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62" r:id="rId5"/>
    <p:sldId id="739" r:id="rId6"/>
    <p:sldId id="595" r:id="rId7"/>
    <p:sldId id="737" r:id="rId8"/>
    <p:sldId id="733" r:id="rId9"/>
    <p:sldId id="741" r:id="rId10"/>
    <p:sldId id="738" r:id="rId11"/>
    <p:sldId id="740" r:id="rId12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980075"/>
    <a:srgbClr val="0468BE"/>
    <a:srgbClr val="98C340"/>
    <a:srgbClr val="F6A120"/>
    <a:srgbClr val="FD0075"/>
    <a:srgbClr val="252526"/>
    <a:srgbClr val="383838"/>
    <a:srgbClr val="1E1E1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E74504-0B21-0740-A1AD-0293D658E4FC}" v="2" dt="2025-09-26T11:47:05.41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1" autoAdjust="0"/>
    <p:restoredTop sz="96395" autoAdjust="0"/>
  </p:normalViewPr>
  <p:slideViewPr>
    <p:cSldViewPr snapToGrid="0">
      <p:cViewPr varScale="1">
        <p:scale>
          <a:sx n="111" d="100"/>
          <a:sy n="111" d="100"/>
        </p:scale>
        <p:origin x="63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89E74504-0B21-0740-A1AD-0293D658E4FC}"/>
    <pc:docChg chg="modSld">
      <pc:chgData name="Soraya Salazar" userId="S::soraya.salazar@kibernumacademy.com::fdf00a5c-f577-43dc-8064-9968cad83607" providerId="AD" clId="Web-{89E74504-0B21-0740-A1AD-0293D658E4FC}" dt="2025-09-26T11:47:05.417" v="0" actId="20577"/>
      <pc:docMkLst>
        <pc:docMk/>
      </pc:docMkLst>
      <pc:sldChg chg="modSp">
        <pc:chgData name="Soraya Salazar" userId="S::soraya.salazar@kibernumacademy.com::fdf00a5c-f577-43dc-8064-9968cad83607" providerId="AD" clId="Web-{89E74504-0B21-0740-A1AD-0293D658E4FC}" dt="2025-09-26T11:47:05.417" v="0" actId="20577"/>
        <pc:sldMkLst>
          <pc:docMk/>
          <pc:sldMk cId="1998777028" sldId="562"/>
        </pc:sldMkLst>
        <pc:spChg chg="mod">
          <ac:chgData name="Soraya Salazar" userId="S::soraya.salazar@kibernumacademy.com::fdf00a5c-f577-43dc-8064-9968cad83607" providerId="AD" clId="Web-{89E74504-0B21-0740-A1AD-0293D658E4FC}" dt="2025-09-26T11:47:05.417" v="0" actId="20577"/>
          <ac:spMkLst>
            <pc:docMk/>
            <pc:sldMk cId="1998777028" sldId="56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02FB8815-80A8-175E-A850-C2084DB0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6" name="Rectangle: Rounded Corners 22">
            <a:extLst>
              <a:ext uri="{FF2B5EF4-FFF2-40B4-BE49-F238E27FC236}">
                <a16:creationId xmlns:a16="http://schemas.microsoft.com/office/drawing/2014/main" id="{100F0B21-F305-84E0-FC1E-67639502205C}"/>
              </a:ext>
            </a:extLst>
          </p:cNvPr>
          <p:cNvSpPr/>
          <p:nvPr/>
        </p:nvSpPr>
        <p:spPr>
          <a:xfrm>
            <a:off x="4107397" y="3462134"/>
            <a:ext cx="7308567" cy="1846218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>
            <a:defPPr>
              <a:defRPr lang="es-ES_tradn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800" b="1" dirty="0"/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4328160" y="3683725"/>
            <a:ext cx="6792686" cy="1403036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Diseño De Un Experimento</a:t>
            </a:r>
            <a:endParaRPr lang="es-ES_tradnl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92;p1"/>
          <p:cNvSpPr txBox="1"/>
          <p:nvPr/>
        </p:nvSpPr>
        <p:spPr>
          <a:xfrm>
            <a:off x="4393185" y="3051142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Inferencia Estadística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/>
              <a:cs typeface="Arial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 bwMode="auto">
          <a:xfrm>
            <a:off x="6454843" y="1305735"/>
            <a:ext cx="6041957" cy="1358536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Actividad: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  <a:r>
              <a:rPr kumimoji="0" lang="es-MX" sz="3200" b="0" i="0" u="none" strike="noStrike" kern="1200" cap="none" spc="0" normalizeH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 Un Experimento</a:t>
            </a: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redondeado 4">
            <a:extLst>
              <a:ext uri="{FF2B5EF4-FFF2-40B4-BE49-F238E27FC236}">
                <a16:creationId xmlns:a16="http://schemas.microsoft.com/office/drawing/2014/main" id="{F54B704E-F625-E3FA-92EA-8240924D3BF1}"/>
              </a:ext>
            </a:extLst>
          </p:cNvPr>
          <p:cNvSpPr/>
          <p:nvPr/>
        </p:nvSpPr>
        <p:spPr>
          <a:xfrm>
            <a:off x="644757" y="1349553"/>
            <a:ext cx="5311415" cy="4412524"/>
          </a:xfrm>
          <a:prstGeom prst="roundRect">
            <a:avLst>
              <a:gd name="adj" fmla="val 2971"/>
            </a:avLst>
          </a:prstGeom>
          <a:solidFill>
            <a:srgbClr val="7FAEF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5 técnicas de análisis de datos para la precisión de tus informes">
            <a:extLst>
              <a:ext uri="{FF2B5EF4-FFF2-40B4-BE49-F238E27FC236}">
                <a16:creationId xmlns:a16="http://schemas.microsoft.com/office/drawing/2014/main" id="{2EF599DD-F081-0474-AC33-107E6F0B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55" y="1802674"/>
            <a:ext cx="4956418" cy="329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8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96484" y="1967067"/>
            <a:ext cx="7881460" cy="308189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1341120" y="2299847"/>
            <a:ext cx="7027817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b="1" dirty="0">
                <a:solidFill>
                  <a:schemeClr val="bg1"/>
                </a:solidFill>
                <a:latin typeface="+mn-lt"/>
              </a:rPr>
              <a:t>Grupos de trabajo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Grupos de 3 personas</a:t>
            </a:r>
          </a:p>
          <a:p>
            <a:pPr algn="just"/>
            <a:endParaRPr lang="es-ES" b="1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+mn-lt"/>
              </a:rPr>
              <a:t>Tiempo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25 minutos</a:t>
            </a:r>
          </a:p>
          <a:p>
            <a:pPr algn="just"/>
            <a:endParaRPr lang="es-ES" b="1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b="1" dirty="0">
                <a:solidFill>
                  <a:schemeClr val="bg1"/>
                </a:solidFill>
                <a:latin typeface="+mn-lt"/>
              </a:rPr>
              <a:t>Objetivo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Reconocer características del método científico en la ciencia de datos.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s-ES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696484" y="1072217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</a:p>
        </p:txBody>
      </p:sp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795295" y="1654629"/>
            <a:ext cx="4586603" cy="3857897"/>
          </a:xfrm>
          <a:prstGeom prst="roundRect">
            <a:avLst>
              <a:gd name="adj" fmla="val 2971"/>
            </a:avLst>
          </a:prstGeom>
          <a:solidFill>
            <a:srgbClr val="078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1289610" y="1943453"/>
            <a:ext cx="3625187" cy="3429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En esta actividad aplicaremos los conceptos del método científico aprendidos para resolver un problema cotidiano.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Para esto, haga un planteamiento metodológico y haga una planificación de la investigación.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+mn-lt"/>
              </a:rPr>
              <a:t>Utilice técnicas de recolección de datos y métodos computacionales para potenciar su planteamiento.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795295" y="1000545"/>
            <a:ext cx="10782300" cy="54369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¿En qué consiste la actividad?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redondeado 1">
            <a:extLst>
              <a:ext uri="{FF2B5EF4-FFF2-40B4-BE49-F238E27FC236}">
                <a16:creationId xmlns:a16="http://schemas.microsoft.com/office/drawing/2014/main" id="{AE874363-CE7D-F73A-B927-30692CFAD9FE}"/>
              </a:ext>
            </a:extLst>
          </p:cNvPr>
          <p:cNvSpPr/>
          <p:nvPr/>
        </p:nvSpPr>
        <p:spPr>
          <a:xfrm>
            <a:off x="6177074" y="1875417"/>
            <a:ext cx="5179791" cy="3442004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4" name="Picture 2" descr="What is the Scientific Method? - WorldAtlas.com">
            <a:extLst>
              <a:ext uri="{FF2B5EF4-FFF2-40B4-BE49-F238E27FC236}">
                <a16:creationId xmlns:a16="http://schemas.microsoft.com/office/drawing/2014/main" id="{0B6991B4-43F5-D042-4A28-DA03187AA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54" y="2033379"/>
            <a:ext cx="4652830" cy="310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6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69274" y="761409"/>
            <a:ext cx="11418204" cy="512898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236795" y="825799"/>
            <a:ext cx="9556568" cy="501675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Por ejemplo:</a:t>
            </a:r>
          </a:p>
          <a:p>
            <a:pPr algn="just"/>
            <a:endParaRPr lang="es-ES" sz="2000" b="1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Problema: “Estoy con sobrepeso”.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2000" b="1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Hipótesis: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 “El consumo de pan integral tiene un efecto en el peso”.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Diseño del Experimento: 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“Yo y mi familia estaremos 1 mes consumiendo marraqueta y otro mes consumiendo pan integral”.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Grupo de control: 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“Las mujeres de mi familia, comiendo marraqueta”.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Grupo de experimentación: 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“Los hombres de mi familia, comiendo pan de molde”.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Recolección de datos: 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“Medimos los pesos iniciales y finales de mi familia”.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+mn-lt"/>
              <a:ea typeface="Source Sans Pro"/>
              <a:cs typeface="Calibri"/>
            </a:endParaRP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  <a:cs typeface="Calibri"/>
              </a:rPr>
              <a:t>Continua...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28B3DCB-34FE-E29C-8D2B-5495ADE4CD10}"/>
              </a:ext>
            </a:extLst>
          </p:cNvPr>
          <p:cNvSpPr txBox="1">
            <a:spLocks/>
          </p:cNvSpPr>
          <p:nvPr/>
        </p:nvSpPr>
        <p:spPr bwMode="auto">
          <a:xfrm>
            <a:off x="923287" y="137543"/>
            <a:ext cx="10782300" cy="5765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¿En qué consiste la actividad?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22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69274" y="1281249"/>
            <a:ext cx="11418204" cy="3877123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236795" y="1737477"/>
            <a:ext cx="9556568" cy="286232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Continuación...</a:t>
            </a:r>
          </a:p>
          <a:p>
            <a:pPr marL="342900" indent="-342900" algn="just">
              <a:buFont typeface="Calibri Light" panose="020F0302020204030204"/>
              <a:buAutoNum type="arabicPeriod"/>
            </a:pPr>
            <a:endParaRPr lang="es-ES" sz="2000" b="1" dirty="0">
              <a:solidFill>
                <a:schemeClr val="bg1"/>
              </a:solidFill>
              <a:latin typeface="+mn-lt"/>
              <a:ea typeface="Source Sans Pro"/>
              <a:cs typeface="Calibri"/>
            </a:endParaRPr>
          </a:p>
          <a:p>
            <a:pPr algn="just"/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7. Análisis de los datos: 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“Tomamos el promedio de los pesos de cada grupo y los comparamos con los promedios finales. Observamos que no hay cambios significativos porque…” (puede utilizar la imaginación).</a:t>
            </a:r>
            <a:endParaRPr lang="es-ES" sz="2000">
              <a:solidFill>
                <a:schemeClr val="bg1"/>
              </a:solidFill>
              <a:latin typeface="+mn-lt"/>
              <a:ea typeface="Source Sans Pro"/>
              <a:cs typeface="Calibri" panose="020F0502020204030204"/>
            </a:endParaRPr>
          </a:p>
          <a:p>
            <a:pPr marL="342900" indent="-342900" algn="just">
              <a:buFont typeface="+mj-lt"/>
              <a:buAutoNum type="arabicPeriod"/>
            </a:pPr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algn="just"/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8.   Conclusiones: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 “Observamos que… y esto podría deberse a… etc.”</a:t>
            </a:r>
            <a:endParaRPr lang="es-ES" sz="2000" dirty="0">
              <a:solidFill>
                <a:schemeClr val="bg1"/>
              </a:solidFill>
              <a:latin typeface="+mn-lt"/>
              <a:ea typeface="Source Sans Pro"/>
              <a:cs typeface="Calibri" panose="020F0502020204030204"/>
            </a:endParaRPr>
          </a:p>
          <a:p>
            <a:pPr marL="342900" indent="-342900" algn="just">
              <a:buFont typeface="+mj-lt"/>
              <a:buAutoNum type="arabicPeriod"/>
            </a:pPr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algn="just"/>
            <a:r>
              <a:rPr lang="es-ES" sz="2000" b="1" dirty="0">
                <a:solidFill>
                  <a:schemeClr val="bg1"/>
                </a:solidFill>
                <a:latin typeface="+mn-lt"/>
                <a:ea typeface="Source Sans Pro"/>
              </a:rPr>
              <a:t>9.   Publicación de resultados: 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“Se presenta la siguiente infografía”.</a:t>
            </a:r>
            <a:endParaRPr lang="es-ES" sz="2000" dirty="0">
              <a:solidFill>
                <a:schemeClr val="bg1"/>
              </a:solidFill>
              <a:latin typeface="+mn-lt"/>
              <a:ea typeface="Source Sans Pro"/>
              <a:cs typeface="Calibri" panose="020F0502020204030204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28B3DCB-34FE-E29C-8D2B-5495ADE4CD10}"/>
              </a:ext>
            </a:extLst>
          </p:cNvPr>
          <p:cNvSpPr txBox="1">
            <a:spLocks/>
          </p:cNvSpPr>
          <p:nvPr/>
        </p:nvSpPr>
        <p:spPr bwMode="auto">
          <a:xfrm>
            <a:off x="923287" y="668222"/>
            <a:ext cx="10782300" cy="5765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¿En qué consiste la actividad?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74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544193" y="1898469"/>
            <a:ext cx="13119370" cy="3396341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4640061" y="2179244"/>
            <a:ext cx="6759459" cy="30162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900" dirty="0">
                <a:solidFill>
                  <a:schemeClr val="bg1"/>
                </a:solidFill>
                <a:latin typeface="+mn-lt"/>
              </a:rPr>
              <a:t>Suponga que ya ha finalizado el experimento y ahora quiere presentarle los resultados a su familia. Construya una infografía en donde presente la investigación realizada.</a:t>
            </a:r>
          </a:p>
          <a:p>
            <a:pPr algn="just"/>
            <a:endParaRPr lang="es-ES" sz="1900" dirty="0">
              <a:solidFill>
                <a:schemeClr val="bg1"/>
              </a:solidFill>
              <a:latin typeface="+mn-lt"/>
            </a:endParaRPr>
          </a:p>
          <a:p>
            <a:pPr algn="just"/>
            <a:r>
              <a:rPr lang="es-ES" sz="1900" dirty="0">
                <a:solidFill>
                  <a:schemeClr val="bg1"/>
                </a:solidFill>
                <a:latin typeface="+mn-lt"/>
              </a:rPr>
              <a:t>Se medirá lo siguiente: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900" dirty="0">
                <a:solidFill>
                  <a:schemeClr val="bg1"/>
                </a:solidFill>
                <a:latin typeface="+mn-lt"/>
              </a:rPr>
              <a:t>Creatividad.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900" dirty="0">
                <a:solidFill>
                  <a:schemeClr val="bg1"/>
                </a:solidFill>
                <a:latin typeface="+mn-lt"/>
              </a:rPr>
              <a:t>Utilización de los conceptos del método científico.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900" dirty="0">
                <a:solidFill>
                  <a:schemeClr val="bg1"/>
                </a:solidFill>
                <a:latin typeface="+mn-lt"/>
              </a:rPr>
              <a:t>Utilización de tecnologías. (recolección, procesamiento, </a:t>
            </a:r>
            <a:r>
              <a:rPr lang="es-ES" sz="1900" dirty="0" err="1">
                <a:solidFill>
                  <a:schemeClr val="bg1"/>
                </a:solidFill>
                <a:latin typeface="+mn-lt"/>
              </a:rPr>
              <a:t>etc</a:t>
            </a:r>
            <a:r>
              <a:rPr lang="es-ES" sz="1900" dirty="0">
                <a:solidFill>
                  <a:schemeClr val="bg1"/>
                </a:solidFill>
                <a:latin typeface="+mn-lt"/>
              </a:rPr>
              <a:t>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900" dirty="0">
                <a:solidFill>
                  <a:schemeClr val="bg1"/>
                </a:solidFill>
                <a:latin typeface="+mn-lt"/>
              </a:rPr>
              <a:t>Comunicación y presentación. (</a:t>
            </a:r>
            <a:r>
              <a:rPr lang="es-ES" sz="1900" dirty="0" err="1">
                <a:solidFill>
                  <a:schemeClr val="bg1"/>
                </a:solidFill>
                <a:latin typeface="+mn-lt"/>
              </a:rPr>
              <a:t>history</a:t>
            </a:r>
            <a:r>
              <a:rPr lang="es-ES" sz="1900" dirty="0">
                <a:solidFill>
                  <a:schemeClr val="bg1"/>
                </a:solidFill>
                <a:latin typeface="+mn-lt"/>
              </a:rPr>
              <a:t> </a:t>
            </a:r>
            <a:r>
              <a:rPr lang="es-ES" sz="1900" dirty="0" err="1">
                <a:solidFill>
                  <a:schemeClr val="bg1"/>
                </a:solidFill>
                <a:latin typeface="+mn-lt"/>
              </a:rPr>
              <a:t>telling</a:t>
            </a:r>
            <a:r>
              <a:rPr lang="es-ES" sz="1900" dirty="0">
                <a:solidFill>
                  <a:schemeClr val="bg1"/>
                </a:solidFill>
                <a:latin typeface="+mn-lt"/>
              </a:rPr>
              <a:t>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900" dirty="0">
                <a:solidFill>
                  <a:schemeClr val="bg1"/>
                </a:solidFill>
                <a:latin typeface="+mn-lt"/>
              </a:rPr>
              <a:t>Enfoque y pensamiento Data </a:t>
            </a:r>
            <a:r>
              <a:rPr lang="es-ES" sz="1900" dirty="0" err="1">
                <a:solidFill>
                  <a:schemeClr val="bg1"/>
                </a:solidFill>
                <a:latin typeface="+mn-lt"/>
              </a:rPr>
              <a:t>Scientist</a:t>
            </a:r>
            <a:r>
              <a:rPr lang="es-ES" sz="1900" dirty="0">
                <a:solidFill>
                  <a:schemeClr val="bg1"/>
                </a:solidFill>
                <a:latin typeface="+mn-lt"/>
              </a:rPr>
              <a:t>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4640060" y="876974"/>
            <a:ext cx="5605006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redondeado 1">
            <a:extLst>
              <a:ext uri="{FF2B5EF4-FFF2-40B4-BE49-F238E27FC236}">
                <a16:creationId xmlns:a16="http://schemas.microsoft.com/office/drawing/2014/main" id="{AE874363-CE7D-F73A-B927-30692CFAD9FE}"/>
              </a:ext>
            </a:extLst>
          </p:cNvPr>
          <p:cNvSpPr/>
          <p:nvPr/>
        </p:nvSpPr>
        <p:spPr>
          <a:xfrm>
            <a:off x="902058" y="363425"/>
            <a:ext cx="3380324" cy="6133169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029F534-7126-CB88-1017-5D71009AD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57" y="506700"/>
            <a:ext cx="3189925" cy="58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02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1442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26BDBF-E58D-4DAC-8738-D11056BF4C72}">
  <ds:schemaRefs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6171001b-fa9d-409b-8713-8b6a17935d68"/>
    <ds:schemaRef ds:uri="470d2f17-52cb-407b-8136-5e632d1cee0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8190</TotalTime>
  <Words>341</Words>
  <Application>Microsoft Office PowerPoint</Application>
  <PresentationFormat>Panorámica</PresentationFormat>
  <Paragraphs>53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 Actividad: Diseño De Un Experimento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272</cp:revision>
  <dcterms:created xsi:type="dcterms:W3CDTF">2023-01-03T12:28:26Z</dcterms:created>
  <dcterms:modified xsi:type="dcterms:W3CDTF">2025-09-26T11:47:05Z</dcterms:modified>
</cp:coreProperties>
</file>