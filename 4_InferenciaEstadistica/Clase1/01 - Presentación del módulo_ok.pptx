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62" r:id="rId5"/>
    <p:sldId id="675" r:id="rId6"/>
    <p:sldId id="676" r:id="rId7"/>
    <p:sldId id="677" r:id="rId8"/>
    <p:sldId id="678" r:id="rId9"/>
    <p:sldId id="679" r:id="rId10"/>
    <p:sldId id="680" r:id="rId11"/>
    <p:sldId id="681" r:id="rId12"/>
    <p:sldId id="682" r:id="rId13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1F5B"/>
    <a:srgbClr val="078CAE"/>
    <a:srgbClr val="F6A120"/>
    <a:srgbClr val="98C340"/>
    <a:srgbClr val="FD0075"/>
    <a:srgbClr val="252526"/>
    <a:srgbClr val="383838"/>
    <a:srgbClr val="1E1E1E"/>
    <a:srgbClr val="000000"/>
    <a:srgbClr val="4E7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C8663-161D-9EF8-1D98-4FE581D7B95E}" v="4" dt="2025-09-26T11:46:34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63" autoAdjust="0"/>
    <p:restoredTop sz="96395" autoAdjust="0"/>
  </p:normalViewPr>
  <p:slideViewPr>
    <p:cSldViewPr snapToGrid="0">
      <p:cViewPr varScale="1">
        <p:scale>
          <a:sx n="111" d="100"/>
          <a:sy n="111" d="100"/>
        </p:scale>
        <p:origin x="52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612C8663-161D-9EF8-1D98-4FE581D7B95E}"/>
    <pc:docChg chg="modSld">
      <pc:chgData name="Soraya Salazar" userId="S::soraya.salazar@kibernumacademy.com::fdf00a5c-f577-43dc-8064-9968cad83607" providerId="AD" clId="Web-{612C8663-161D-9EF8-1D98-4FE581D7B95E}" dt="2025-09-26T11:46:34.669" v="1" actId="20577"/>
      <pc:docMkLst>
        <pc:docMk/>
      </pc:docMkLst>
      <pc:sldChg chg="modSp">
        <pc:chgData name="Soraya Salazar" userId="S::soraya.salazar@kibernumacademy.com::fdf00a5c-f577-43dc-8064-9968cad83607" providerId="AD" clId="Web-{612C8663-161D-9EF8-1D98-4FE581D7B95E}" dt="2025-09-26T11:46:34.669" v="1" actId="20577"/>
        <pc:sldMkLst>
          <pc:docMk/>
          <pc:sldMk cId="1998777028" sldId="562"/>
        </pc:sldMkLst>
        <pc:spChg chg="mod">
          <ac:chgData name="Soraya Salazar" userId="S::soraya.salazar@kibernumacademy.com::fdf00a5c-f577-43dc-8064-9968cad83607" providerId="AD" clId="Web-{612C8663-161D-9EF8-1D98-4FE581D7B95E}" dt="2025-09-26T11:46:34.669" v="1" actId="20577"/>
          <ac:spMkLst>
            <pc:docMk/>
            <pc:sldMk cId="1998777028" sldId="562"/>
            <ac:spMk id="9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86C9B3-8CA1-4316-B2A8-C2AB3E5202A1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ACF776B3-81F4-49B8-996C-E0E8971CB28A}">
      <dgm:prSet phldrT="[Texto]" phldr="1"/>
      <dgm:spPr/>
      <dgm:t>
        <a:bodyPr/>
        <a:lstStyle/>
        <a:p>
          <a:endParaRPr lang="es-CL" dirty="0"/>
        </a:p>
      </dgm:t>
    </dgm:pt>
    <dgm:pt modelId="{41C4E4EE-2324-4FF1-BA78-4882005C9586}" type="sibTrans" cxnId="{5A64C6AC-4807-4DC4-9F2C-89D66A8AD3CD}">
      <dgm:prSet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es-CL"/>
        </a:p>
      </dgm:t>
    </dgm:pt>
    <dgm:pt modelId="{5FCC59EC-C1F9-4CEA-A4DE-8BD900E35E09}" type="parTrans" cxnId="{5A64C6AC-4807-4DC4-9F2C-89D66A8AD3CD}">
      <dgm:prSet/>
      <dgm:spPr/>
      <dgm:t>
        <a:bodyPr/>
        <a:lstStyle/>
        <a:p>
          <a:endParaRPr lang="es-CL"/>
        </a:p>
      </dgm:t>
    </dgm:pt>
    <dgm:pt modelId="{79CAE2F2-FABA-47D8-982E-5CB4A395EF22}" type="pres">
      <dgm:prSet presAssocID="{BD86C9B3-8CA1-4316-B2A8-C2AB3E5202A1}" presName="Name0" presStyleCnt="0">
        <dgm:presLayoutVars>
          <dgm:chMax val="7"/>
          <dgm:chPref val="7"/>
          <dgm:dir/>
        </dgm:presLayoutVars>
      </dgm:prSet>
      <dgm:spPr/>
    </dgm:pt>
    <dgm:pt modelId="{013A5190-13DA-4A06-B419-25DE0FAB7E44}" type="pres">
      <dgm:prSet presAssocID="{BD86C9B3-8CA1-4316-B2A8-C2AB3E5202A1}" presName="Name1" presStyleCnt="0"/>
      <dgm:spPr/>
    </dgm:pt>
    <dgm:pt modelId="{8D925382-CBF4-430D-82BE-B8BB91879A49}" type="pres">
      <dgm:prSet presAssocID="{41C4E4EE-2324-4FF1-BA78-4882005C9586}" presName="picture_1" presStyleCnt="0"/>
      <dgm:spPr/>
    </dgm:pt>
    <dgm:pt modelId="{CE843430-6A5D-49F2-8E4D-AF5FF0C06A1E}" type="pres">
      <dgm:prSet presAssocID="{41C4E4EE-2324-4FF1-BA78-4882005C9586}" presName="pictureRepeatNode" presStyleLbl="alignImgPlace1" presStyleIdx="0" presStyleCnt="1" custScaleX="133164" custScaleY="133164" custLinFactNeighborX="43990" custLinFactNeighborY="-15154"/>
      <dgm:spPr/>
    </dgm:pt>
    <dgm:pt modelId="{4D1A0FA8-12E9-4E0B-B90F-BFECD1796557}" type="pres">
      <dgm:prSet presAssocID="{ACF776B3-81F4-49B8-996C-E0E8971CB28A}" presName="text_1" presStyleLbl="node1" presStyleIdx="0" presStyleCnt="0" custFlipHor="1" custScaleX="5764" custScaleY="23463" custLinFactY="76911" custLinFactNeighborX="48144" custLinFactNeighborY="100000">
        <dgm:presLayoutVars>
          <dgm:bulletEnabled val="1"/>
        </dgm:presLayoutVars>
      </dgm:prSet>
      <dgm:spPr/>
    </dgm:pt>
  </dgm:ptLst>
  <dgm:cxnLst>
    <dgm:cxn modelId="{5B738359-CF87-4D17-AA4D-AA83AFE3F907}" type="presOf" srcId="{41C4E4EE-2324-4FF1-BA78-4882005C9586}" destId="{CE843430-6A5D-49F2-8E4D-AF5FF0C06A1E}" srcOrd="0" destOrd="0" presId="urn:microsoft.com/office/officeart/2008/layout/CircularPictureCallout"/>
    <dgm:cxn modelId="{657E2791-CA4B-40FB-90BF-78812BF2A593}" type="presOf" srcId="{BD86C9B3-8CA1-4316-B2A8-C2AB3E5202A1}" destId="{79CAE2F2-FABA-47D8-982E-5CB4A395EF22}" srcOrd="0" destOrd="0" presId="urn:microsoft.com/office/officeart/2008/layout/CircularPictureCallout"/>
    <dgm:cxn modelId="{5A64C6AC-4807-4DC4-9F2C-89D66A8AD3CD}" srcId="{BD86C9B3-8CA1-4316-B2A8-C2AB3E5202A1}" destId="{ACF776B3-81F4-49B8-996C-E0E8971CB28A}" srcOrd="0" destOrd="0" parTransId="{5FCC59EC-C1F9-4CEA-A4DE-8BD900E35E09}" sibTransId="{41C4E4EE-2324-4FF1-BA78-4882005C9586}"/>
    <dgm:cxn modelId="{13E97CFA-3B17-4F06-A16C-1BAE7169EB0A}" type="presOf" srcId="{ACF776B3-81F4-49B8-996C-E0E8971CB28A}" destId="{4D1A0FA8-12E9-4E0B-B90F-BFECD1796557}" srcOrd="0" destOrd="0" presId="urn:microsoft.com/office/officeart/2008/layout/CircularPictureCallout"/>
    <dgm:cxn modelId="{D705EB29-DDF4-4415-9FE9-BC5F828FF238}" type="presParOf" srcId="{79CAE2F2-FABA-47D8-982E-5CB4A395EF22}" destId="{013A5190-13DA-4A06-B419-25DE0FAB7E44}" srcOrd="0" destOrd="0" presId="urn:microsoft.com/office/officeart/2008/layout/CircularPictureCallout"/>
    <dgm:cxn modelId="{1F943456-73C0-4688-ADD0-958A0DE02B92}" type="presParOf" srcId="{013A5190-13DA-4A06-B419-25DE0FAB7E44}" destId="{8D925382-CBF4-430D-82BE-B8BB91879A49}" srcOrd="0" destOrd="0" presId="urn:microsoft.com/office/officeart/2008/layout/CircularPictureCallout"/>
    <dgm:cxn modelId="{29D11D95-0058-49A1-964D-AFA35907B414}" type="presParOf" srcId="{8D925382-CBF4-430D-82BE-B8BB91879A49}" destId="{CE843430-6A5D-49F2-8E4D-AF5FF0C06A1E}" srcOrd="0" destOrd="0" presId="urn:microsoft.com/office/officeart/2008/layout/CircularPictureCallout"/>
    <dgm:cxn modelId="{6BC5FF22-5F5A-4683-BE56-58E9A0F6C169}" type="presParOf" srcId="{013A5190-13DA-4A06-B419-25DE0FAB7E44}" destId="{4D1A0FA8-12E9-4E0B-B90F-BFECD1796557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86C9B3-8CA1-4316-B2A8-C2AB3E5202A1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ACF776B3-81F4-49B8-996C-E0E8971CB28A}">
      <dgm:prSet phldrT="[Texto]" phldr="1"/>
      <dgm:spPr/>
      <dgm:t>
        <a:bodyPr/>
        <a:lstStyle/>
        <a:p>
          <a:endParaRPr lang="es-CL" dirty="0"/>
        </a:p>
      </dgm:t>
    </dgm:pt>
    <dgm:pt modelId="{41C4E4EE-2324-4FF1-BA78-4882005C9586}" type="sibTrans" cxnId="{5A64C6AC-4807-4DC4-9F2C-89D66A8AD3CD}">
      <dgm:prSet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es-CL"/>
        </a:p>
      </dgm:t>
    </dgm:pt>
    <dgm:pt modelId="{5FCC59EC-C1F9-4CEA-A4DE-8BD900E35E09}" type="parTrans" cxnId="{5A64C6AC-4807-4DC4-9F2C-89D66A8AD3CD}">
      <dgm:prSet/>
      <dgm:spPr/>
      <dgm:t>
        <a:bodyPr/>
        <a:lstStyle/>
        <a:p>
          <a:endParaRPr lang="es-CL"/>
        </a:p>
      </dgm:t>
    </dgm:pt>
    <dgm:pt modelId="{79CAE2F2-FABA-47D8-982E-5CB4A395EF22}" type="pres">
      <dgm:prSet presAssocID="{BD86C9B3-8CA1-4316-B2A8-C2AB3E5202A1}" presName="Name0" presStyleCnt="0">
        <dgm:presLayoutVars>
          <dgm:chMax val="7"/>
          <dgm:chPref val="7"/>
          <dgm:dir/>
        </dgm:presLayoutVars>
      </dgm:prSet>
      <dgm:spPr/>
    </dgm:pt>
    <dgm:pt modelId="{013A5190-13DA-4A06-B419-25DE0FAB7E44}" type="pres">
      <dgm:prSet presAssocID="{BD86C9B3-8CA1-4316-B2A8-C2AB3E5202A1}" presName="Name1" presStyleCnt="0"/>
      <dgm:spPr/>
    </dgm:pt>
    <dgm:pt modelId="{8D925382-CBF4-430D-82BE-B8BB91879A49}" type="pres">
      <dgm:prSet presAssocID="{41C4E4EE-2324-4FF1-BA78-4882005C9586}" presName="picture_1" presStyleCnt="0"/>
      <dgm:spPr/>
    </dgm:pt>
    <dgm:pt modelId="{CE843430-6A5D-49F2-8E4D-AF5FF0C06A1E}" type="pres">
      <dgm:prSet presAssocID="{41C4E4EE-2324-4FF1-BA78-4882005C9586}" presName="pictureRepeatNode" presStyleLbl="alignImgPlace1" presStyleIdx="0" presStyleCnt="1" custScaleX="133164" custScaleY="133164" custLinFactNeighborX="32795" custLinFactNeighborY="4634"/>
      <dgm:spPr/>
    </dgm:pt>
    <dgm:pt modelId="{4D1A0FA8-12E9-4E0B-B90F-BFECD1796557}" type="pres">
      <dgm:prSet presAssocID="{ACF776B3-81F4-49B8-996C-E0E8971CB28A}" presName="text_1" presStyleLbl="node1" presStyleIdx="0" presStyleCnt="0" custFlipHor="1" custScaleX="5764" custScaleY="23463" custLinFactY="76911" custLinFactNeighborX="48144" custLinFactNeighborY="100000">
        <dgm:presLayoutVars>
          <dgm:bulletEnabled val="1"/>
        </dgm:presLayoutVars>
      </dgm:prSet>
      <dgm:spPr/>
    </dgm:pt>
  </dgm:ptLst>
  <dgm:cxnLst>
    <dgm:cxn modelId="{5B738359-CF87-4D17-AA4D-AA83AFE3F907}" type="presOf" srcId="{41C4E4EE-2324-4FF1-BA78-4882005C9586}" destId="{CE843430-6A5D-49F2-8E4D-AF5FF0C06A1E}" srcOrd="0" destOrd="0" presId="urn:microsoft.com/office/officeart/2008/layout/CircularPictureCallout"/>
    <dgm:cxn modelId="{657E2791-CA4B-40FB-90BF-78812BF2A593}" type="presOf" srcId="{BD86C9B3-8CA1-4316-B2A8-C2AB3E5202A1}" destId="{79CAE2F2-FABA-47D8-982E-5CB4A395EF22}" srcOrd="0" destOrd="0" presId="urn:microsoft.com/office/officeart/2008/layout/CircularPictureCallout"/>
    <dgm:cxn modelId="{5A64C6AC-4807-4DC4-9F2C-89D66A8AD3CD}" srcId="{BD86C9B3-8CA1-4316-B2A8-C2AB3E5202A1}" destId="{ACF776B3-81F4-49B8-996C-E0E8971CB28A}" srcOrd="0" destOrd="0" parTransId="{5FCC59EC-C1F9-4CEA-A4DE-8BD900E35E09}" sibTransId="{41C4E4EE-2324-4FF1-BA78-4882005C9586}"/>
    <dgm:cxn modelId="{13E97CFA-3B17-4F06-A16C-1BAE7169EB0A}" type="presOf" srcId="{ACF776B3-81F4-49B8-996C-E0E8971CB28A}" destId="{4D1A0FA8-12E9-4E0B-B90F-BFECD1796557}" srcOrd="0" destOrd="0" presId="urn:microsoft.com/office/officeart/2008/layout/CircularPictureCallout"/>
    <dgm:cxn modelId="{D705EB29-DDF4-4415-9FE9-BC5F828FF238}" type="presParOf" srcId="{79CAE2F2-FABA-47D8-982E-5CB4A395EF22}" destId="{013A5190-13DA-4A06-B419-25DE0FAB7E44}" srcOrd="0" destOrd="0" presId="urn:microsoft.com/office/officeart/2008/layout/CircularPictureCallout"/>
    <dgm:cxn modelId="{1F943456-73C0-4688-ADD0-958A0DE02B92}" type="presParOf" srcId="{013A5190-13DA-4A06-B419-25DE0FAB7E44}" destId="{8D925382-CBF4-430D-82BE-B8BB91879A49}" srcOrd="0" destOrd="0" presId="urn:microsoft.com/office/officeart/2008/layout/CircularPictureCallout"/>
    <dgm:cxn modelId="{29D11D95-0058-49A1-964D-AFA35907B414}" type="presParOf" srcId="{8D925382-CBF4-430D-82BE-B8BB91879A49}" destId="{CE843430-6A5D-49F2-8E4D-AF5FF0C06A1E}" srcOrd="0" destOrd="0" presId="urn:microsoft.com/office/officeart/2008/layout/CircularPictureCallout"/>
    <dgm:cxn modelId="{6BC5FF22-5F5A-4683-BE56-58E9A0F6C169}" type="presParOf" srcId="{013A5190-13DA-4A06-B419-25DE0FAB7E44}" destId="{4D1A0FA8-12E9-4E0B-B90F-BFECD1796557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43430-6A5D-49F2-8E4D-AF5FF0C06A1E}">
      <dsp:nvSpPr>
        <dsp:cNvPr id="0" name=""/>
        <dsp:cNvSpPr/>
      </dsp:nvSpPr>
      <dsp:spPr>
        <a:xfrm>
          <a:off x="1768973" y="0"/>
          <a:ext cx="3524500" cy="3524500"/>
        </a:xfrm>
        <a:prstGeom prst="ellipse">
          <a:avLst/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A0FA8-12E9-4E0B-B90F-BFECD1796557}">
      <dsp:nvSpPr>
        <dsp:cNvPr id="0" name=""/>
        <dsp:cNvSpPr/>
      </dsp:nvSpPr>
      <dsp:spPr>
        <a:xfrm flipH="1">
          <a:off x="3413435" y="3516041"/>
          <a:ext cx="97637" cy="20493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dirty="0"/>
        </a:p>
      </dsp:txBody>
      <dsp:txXfrm>
        <a:off x="3413435" y="3516041"/>
        <a:ext cx="97637" cy="2049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43430-6A5D-49F2-8E4D-AF5FF0C06A1E}">
      <dsp:nvSpPr>
        <dsp:cNvPr id="0" name=""/>
        <dsp:cNvSpPr/>
      </dsp:nvSpPr>
      <dsp:spPr>
        <a:xfrm>
          <a:off x="1851310" y="106614"/>
          <a:ext cx="3723255" cy="3723255"/>
        </a:xfrm>
        <a:prstGeom prst="ellipse">
          <a:avLst/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A0FA8-12E9-4E0B-B90F-BFECD1796557}">
      <dsp:nvSpPr>
        <dsp:cNvPr id="0" name=""/>
        <dsp:cNvSpPr/>
      </dsp:nvSpPr>
      <dsp:spPr>
        <a:xfrm flipH="1">
          <a:off x="3605926" y="3613382"/>
          <a:ext cx="103143" cy="2164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dirty="0"/>
        </a:p>
      </dsp:txBody>
      <dsp:txXfrm>
        <a:off x="3605926" y="3613382"/>
        <a:ext cx="103143" cy="216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833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22"/>
          <p:cNvSpPr/>
          <p:nvPr/>
        </p:nvSpPr>
        <p:spPr>
          <a:xfrm>
            <a:off x="3629507" y="3657600"/>
            <a:ext cx="7308567" cy="1799294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/>
          <a:p>
            <a:pPr algn="ctr">
              <a:defRPr/>
            </a:pPr>
            <a:endParaRPr lang="en-US" sz="2800" b="1" dirty="0"/>
          </a:p>
        </p:txBody>
      </p:sp>
      <p:sp>
        <p:nvSpPr>
          <p:cNvPr id="7" name="Título 1"/>
          <p:cNvSpPr>
            <a:spLocks noGrp="1"/>
          </p:cNvSpPr>
          <p:nvPr>
            <p:ph type="ctrTitle"/>
          </p:nvPr>
        </p:nvSpPr>
        <p:spPr>
          <a:xfrm>
            <a:off x="4047628" y="3815136"/>
            <a:ext cx="6472326" cy="1484222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CL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del Módulo</a:t>
            </a:r>
            <a:endParaRPr lang="es-ES_tradnl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92;p1"/>
          <p:cNvSpPr txBox="1"/>
          <p:nvPr/>
        </p:nvSpPr>
        <p:spPr>
          <a:xfrm>
            <a:off x="4047628" y="326881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Inferencia </a:t>
            </a:r>
            <a:r>
              <a:rPr lang="es-ES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Estadística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redondeado 15"/>
          <p:cNvSpPr/>
          <p:nvPr/>
        </p:nvSpPr>
        <p:spPr>
          <a:xfrm>
            <a:off x="5860869" y="-1025662"/>
            <a:ext cx="5355771" cy="6672836"/>
          </a:xfrm>
          <a:prstGeom prst="roundRect">
            <a:avLst>
              <a:gd name="adj" fmla="val 2778"/>
            </a:avLst>
          </a:prstGeom>
          <a:solidFill>
            <a:srgbClr val="701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 bwMode="auto">
          <a:xfrm>
            <a:off x="380293" y="407639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Presentación del módulo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505988" y="1775753"/>
            <a:ext cx="4324289" cy="3195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Open Sans" pitchFamily="2" charset="0"/>
                <a:cs typeface="Open Sans" pitchFamily="2" charset="0"/>
              </a:rPr>
              <a:t>Nombre</a:t>
            </a:r>
            <a:r>
              <a:rPr kumimoji="0" lang="es-ES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Open Sans" pitchFamily="2" charset="0"/>
                <a:cs typeface="Open Sans" pitchFamily="2" charset="0"/>
              </a:rPr>
              <a:t> del Módulo:</a:t>
            </a:r>
          </a:p>
          <a:p>
            <a:pPr lvl="0" algn="just">
              <a:lnSpc>
                <a:spcPts val="2160"/>
              </a:lnSpc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“Inferencia Estadística”.</a:t>
            </a: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Open Sans" pitchFamily="2" charset="0"/>
              <a:cs typeface="Open Sans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lang="es-ES" dirty="0">
              <a:solidFill>
                <a:srgbClr val="FFFFFF"/>
              </a:solidFill>
              <a:latin typeface="Calibri" panose="020F0502020204030204"/>
              <a:ea typeface="Open Sans" pitchFamily="2" charset="0"/>
              <a:cs typeface="Open Sans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Open Sans" pitchFamily="2" charset="0"/>
                <a:cs typeface="Open Sans" pitchFamily="2" charset="0"/>
              </a:rPr>
              <a:t>Duración:</a:t>
            </a:r>
          </a:p>
          <a:p>
            <a:pPr lvl="0" algn="just">
              <a:lnSpc>
                <a:spcPts val="2160"/>
              </a:lnSpc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24 horas </a:t>
            </a:r>
          </a:p>
          <a:p>
            <a:pPr marL="0" marR="0" lvl="0" indent="0" algn="just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Open Sans" pitchFamily="2" charset="0"/>
              <a:cs typeface="Open Sans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Open Sans" pitchFamily="2" charset="0"/>
                <a:cs typeface="Open Sans" pitchFamily="2" charset="0"/>
              </a:rPr>
              <a:t>Competencia del módulo:</a:t>
            </a:r>
          </a:p>
          <a:p>
            <a:pPr lvl="0" algn="just">
              <a:lnSpc>
                <a:spcPts val="2160"/>
              </a:lnSpc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“Elaborar inferencias estadísticas a una muestra para la estimación de una población”</a:t>
            </a:r>
          </a:p>
          <a:p>
            <a:pPr marL="0" marR="0" lvl="0" indent="0" algn="just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728" y="2575895"/>
            <a:ext cx="322811" cy="322811"/>
          </a:xfrm>
          <a:prstGeom prst="rect">
            <a:avLst/>
          </a:prstGeom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6DA5601-9A99-7640-C9D2-BA554A55B661}"/>
              </a:ext>
            </a:extLst>
          </p:cNvPr>
          <p:cNvGraphicFramePr/>
          <p:nvPr/>
        </p:nvGraphicFramePr>
        <p:xfrm>
          <a:off x="-561554" y="1775753"/>
          <a:ext cx="5293474" cy="3720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436E23D8-041C-A3DC-0A95-FF7A119950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034" y="1789264"/>
            <a:ext cx="322811" cy="322811"/>
          </a:xfrm>
          <a:prstGeom prst="rect">
            <a:avLst/>
          </a:prstGeom>
          <a:noFill/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050" y="3402212"/>
            <a:ext cx="322811" cy="32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1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 bwMode="auto">
          <a:xfrm>
            <a:off x="718763" y="347074"/>
            <a:ext cx="7562385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 esperado</a:t>
            </a:r>
          </a:p>
        </p:txBody>
      </p:sp>
      <p:sp>
        <p:nvSpPr>
          <p:cNvPr id="5" name="Rectángulo redondeado 14">
            <a:extLst>
              <a:ext uri="{FF2B5EF4-FFF2-40B4-BE49-F238E27FC236}">
                <a16:creationId xmlns:a16="http://schemas.microsoft.com/office/drawing/2014/main" id="{62C19520-3C27-97A1-FA66-919E66ACD2AC}"/>
              </a:ext>
            </a:extLst>
          </p:cNvPr>
          <p:cNvSpPr/>
          <p:nvPr/>
        </p:nvSpPr>
        <p:spPr>
          <a:xfrm>
            <a:off x="-725057" y="1406203"/>
            <a:ext cx="10554604" cy="3960890"/>
          </a:xfrm>
          <a:prstGeom prst="roundRect">
            <a:avLst>
              <a:gd name="adj" fmla="val 4466"/>
            </a:avLst>
          </a:prstGeom>
          <a:solidFill>
            <a:srgbClr val="701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DA603D-4F38-4477-ABCF-7D9BF773DD97}"/>
              </a:ext>
            </a:extLst>
          </p:cNvPr>
          <p:cNvSpPr txBox="1"/>
          <p:nvPr/>
        </p:nvSpPr>
        <p:spPr>
          <a:xfrm>
            <a:off x="718763" y="1612399"/>
            <a:ext cx="82696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</a:rPr>
              <a:t>Explicar los principales conceptos de probabilidad asociados a un evento aleatorio.</a:t>
            </a: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es-ES" dirty="0">
              <a:solidFill>
                <a:srgbClr val="FFFFFF"/>
              </a:solidFill>
            </a:endParaRP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</a:rPr>
              <a:t>Realizar cálculos de probabilidad seleccionando la distribución de probabilidad requerida para resolver un problema.</a:t>
            </a: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es-ES" dirty="0">
              <a:solidFill>
                <a:srgbClr val="FFFFFF"/>
              </a:solidFill>
            </a:endParaRP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</a:rPr>
              <a:t>Realizar cálculos de probabilidad utilizando la distribución </a:t>
            </a:r>
            <a:r>
              <a:rPr lang="es-ES" dirty="0" err="1">
                <a:solidFill>
                  <a:srgbClr val="FFFFFF"/>
                </a:solidFill>
              </a:rPr>
              <a:t>muestral</a:t>
            </a:r>
            <a:r>
              <a:rPr lang="es-ES" dirty="0">
                <a:solidFill>
                  <a:srgbClr val="FFFFFF"/>
                </a:solidFill>
              </a:rPr>
              <a:t> para resolver un problema.</a:t>
            </a: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es-ES" dirty="0">
              <a:solidFill>
                <a:srgbClr val="FFFFFF"/>
              </a:solidFill>
            </a:endParaRP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</a:rPr>
              <a:t>Realiza estimaciones de la media de una población utilizando intervalos de confianza a  partir de una muestra aleatoria.</a:t>
            </a: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es-ES" dirty="0">
              <a:solidFill>
                <a:srgbClr val="FFFFFF"/>
              </a:solidFill>
            </a:endParaRPr>
          </a:p>
          <a:p>
            <a:pPr marL="342900" indent="-342900" algn="just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dirty="0">
                <a:solidFill>
                  <a:srgbClr val="FFFFFF"/>
                </a:solidFill>
              </a:rPr>
              <a:t> Realiza una prueba de hipótesis para probar la validez de una aseveración acerca de un parámetro de la población.</a:t>
            </a:r>
          </a:p>
        </p:txBody>
      </p:sp>
    </p:spTree>
    <p:extLst>
      <p:ext uri="{BB962C8B-B14F-4D97-AF65-F5344CB8AC3E}">
        <p14:creationId xmlns:p14="http://schemas.microsoft.com/office/powerpoint/2010/main" val="134912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64397" y="-231112"/>
            <a:ext cx="4991100" cy="7395587"/>
          </a:xfrm>
          <a:prstGeom prst="roundRect">
            <a:avLst>
              <a:gd name="adj" fmla="val 2971"/>
            </a:avLst>
          </a:prstGeom>
          <a:solidFill>
            <a:srgbClr val="701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5794550" y="625631"/>
            <a:ext cx="5982328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Evaluación del Módulo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680076" y="2319049"/>
            <a:ext cx="4420998" cy="20313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prstClr val="white"/>
                </a:solidFill>
                <a:latin typeface="Source Sans Pro" panose="020B0503030403020204" pitchFamily="34" charset="0"/>
              </a:rPr>
              <a:t>20% Pruebas de conocimiento.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ES" b="1" dirty="0">
              <a:solidFill>
                <a:prstClr val="white"/>
              </a:solidFill>
              <a:latin typeface="Source Sans Pro" panose="020B0503030403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prstClr val="white"/>
                </a:solidFill>
                <a:latin typeface="Source Sans Pro" panose="020B0503030403020204" pitchFamily="34" charset="0"/>
              </a:rPr>
              <a:t>30% Ejecuciones prácticas parciales.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ES" b="1" dirty="0">
              <a:solidFill>
                <a:prstClr val="white"/>
              </a:solidFill>
              <a:latin typeface="Source Sans Pro" panose="020B0503030403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prstClr val="white"/>
                </a:solidFill>
                <a:latin typeface="Source Sans Pro" panose="020B0503030403020204" pitchFamily="34" charset="0"/>
              </a:rPr>
              <a:t>10% Participación en clases.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ES" b="1" dirty="0">
              <a:solidFill>
                <a:prstClr val="white"/>
              </a:solidFill>
              <a:latin typeface="Source Sans Pro" panose="020B0503030403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prstClr val="white"/>
                </a:solidFill>
                <a:latin typeface="Source Sans Pro" panose="020B0503030403020204" pitchFamily="34" charset="0"/>
              </a:rPr>
              <a:t>40% Trabajo final del módulo.</a:t>
            </a:r>
          </a:p>
        </p:txBody>
      </p:sp>
    </p:spTree>
    <p:extLst>
      <p:ext uri="{BB962C8B-B14F-4D97-AF65-F5344CB8AC3E}">
        <p14:creationId xmlns:p14="http://schemas.microsoft.com/office/powerpoint/2010/main" val="92023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93728" y="1734030"/>
            <a:ext cx="6574971" cy="3497701"/>
          </a:xfrm>
          <a:prstGeom prst="roundRect">
            <a:avLst>
              <a:gd name="adj" fmla="val 2971"/>
            </a:avLst>
          </a:prstGeom>
          <a:solidFill>
            <a:srgbClr val="701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es-ES" sz="2000" dirty="0">
              <a:solidFill>
                <a:srgbClr val="FFFFFF"/>
              </a:solidFill>
              <a:ea typeface="Open Sans" pitchFamily="2" charset="0"/>
              <a:cs typeface="Open Sans" pitchFamily="2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96678" y="725968"/>
            <a:ext cx="5337175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Sesiones del módulo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59DCED6-4BB9-9BFE-1316-1F2A67381644}"/>
              </a:ext>
            </a:extLst>
          </p:cNvPr>
          <p:cNvSpPr/>
          <p:nvPr/>
        </p:nvSpPr>
        <p:spPr>
          <a:xfrm>
            <a:off x="7914055" y="1552216"/>
            <a:ext cx="3524500" cy="3524500"/>
          </a:xfrm>
          <a:prstGeom prst="ellipse">
            <a:avLst/>
          </a:prstGeo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000" r="-2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CL"/>
          </a:p>
        </p:txBody>
      </p:sp>
      <p:sp>
        <p:nvSpPr>
          <p:cNvPr id="4" name="CuadroTexto 3"/>
          <p:cNvSpPr txBox="1"/>
          <p:nvPr/>
        </p:nvSpPr>
        <p:spPr>
          <a:xfrm>
            <a:off x="1057048" y="2075571"/>
            <a:ext cx="5216434" cy="2814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Método Científico y Ciencia de Datos.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Teoría de Probabilidades.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Distribución de Probabilidad.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Muestra y Muestreo.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Intervalos de Confianza.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n-US" sz="2000" dirty="0">
                <a:latin typeface="Calibri"/>
                <a:cs typeface="Calibri"/>
              </a:rPr>
              <a:t>Test de </a:t>
            </a:r>
            <a:r>
              <a:rPr lang="es-CL" sz="2000" dirty="0">
                <a:latin typeface="Calibri"/>
                <a:cs typeface="Calibri"/>
              </a:rPr>
              <a:t>Hipótesis</a:t>
            </a: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/>
                <a:cs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629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redondeado 15"/>
          <p:cNvSpPr/>
          <p:nvPr/>
        </p:nvSpPr>
        <p:spPr>
          <a:xfrm>
            <a:off x="6031842" y="-387943"/>
            <a:ext cx="4838849" cy="5877097"/>
          </a:xfrm>
          <a:prstGeom prst="roundRect">
            <a:avLst>
              <a:gd name="adj" fmla="val 2778"/>
            </a:avLst>
          </a:prstGeom>
          <a:solidFill>
            <a:srgbClr val="701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 bwMode="auto">
          <a:xfrm>
            <a:off x="399514" y="755725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Contenido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6DA5601-9A99-7640-C9D2-BA554A55B661}"/>
              </a:ext>
            </a:extLst>
          </p:cNvPr>
          <p:cNvGraphicFramePr/>
          <p:nvPr/>
        </p:nvGraphicFramePr>
        <p:xfrm>
          <a:off x="-519579" y="1659284"/>
          <a:ext cx="5591985" cy="3829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6709551" y="1388621"/>
            <a:ext cx="38278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Método Científico y Datos.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Probabilidad.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Distribución de probabilidad.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Muestras y muestreo.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Distribución </a:t>
            </a:r>
            <a:r>
              <a:rPr lang="es-ES" sz="2000" dirty="0" err="1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muestral</a:t>
            </a: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Intervalos de confianza.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es-ES" sz="2000" dirty="0">
                <a:solidFill>
                  <a:srgbClr val="FFFFFF"/>
                </a:solidFill>
                <a:latin typeface="Calibri" panose="020F0502020204030204"/>
                <a:ea typeface="Open Sans" pitchFamily="2" charset="0"/>
                <a:cs typeface="Open Sans" pitchFamily="2" charset="0"/>
              </a:rPr>
              <a:t>Test de hipótesis.</a:t>
            </a:r>
          </a:p>
        </p:txBody>
      </p:sp>
    </p:spTree>
    <p:extLst>
      <p:ext uri="{BB962C8B-B14F-4D97-AF65-F5344CB8AC3E}">
        <p14:creationId xmlns:p14="http://schemas.microsoft.com/office/powerpoint/2010/main" val="50891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1">
            <a:extLst>
              <a:ext uri="{FF2B5EF4-FFF2-40B4-BE49-F238E27FC236}">
                <a16:creationId xmlns:a16="http://schemas.microsoft.com/office/drawing/2014/main" id="{3433B0E6-8A41-6D32-C12B-55ACFBD4A1F4}"/>
              </a:ext>
            </a:extLst>
          </p:cNvPr>
          <p:cNvSpPr/>
          <p:nvPr/>
        </p:nvSpPr>
        <p:spPr>
          <a:xfrm>
            <a:off x="-475129" y="4385730"/>
            <a:ext cx="8472500" cy="746087"/>
          </a:xfrm>
          <a:prstGeom prst="roundRect">
            <a:avLst>
              <a:gd name="adj" fmla="val 2971"/>
            </a:avLst>
          </a:prstGeom>
          <a:solidFill>
            <a:srgbClr val="701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ángulo redondeado 1"/>
          <p:cNvSpPr/>
          <p:nvPr/>
        </p:nvSpPr>
        <p:spPr>
          <a:xfrm>
            <a:off x="-475129" y="1875450"/>
            <a:ext cx="8472500" cy="2270040"/>
          </a:xfrm>
          <a:prstGeom prst="roundRect">
            <a:avLst>
              <a:gd name="adj" fmla="val 2971"/>
            </a:avLst>
          </a:prstGeom>
          <a:solidFill>
            <a:srgbClr val="701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703629" y="59191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Consejos para el éxito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422275" y="2115690"/>
            <a:ext cx="7041235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Practicar lo más que puedan (recomendación: media hora por día).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sentirse frustrado o con miedo. Aprender de los errores al comienzo es clave del éxito.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 parte de una comunidad, compartir errores y soluciones.</a:t>
            </a:r>
          </a:p>
        </p:txBody>
      </p:sp>
      <p:sp>
        <p:nvSpPr>
          <p:cNvPr id="4" name="Rectángulo redondeado 4">
            <a:extLst>
              <a:ext uri="{FF2B5EF4-FFF2-40B4-BE49-F238E27FC236}">
                <a16:creationId xmlns:a16="http://schemas.microsoft.com/office/drawing/2014/main" id="{F54B704E-F625-E3FA-92EA-8240924D3BF1}"/>
              </a:ext>
            </a:extLst>
          </p:cNvPr>
          <p:cNvSpPr/>
          <p:nvPr/>
        </p:nvSpPr>
        <p:spPr>
          <a:xfrm>
            <a:off x="8391458" y="1875450"/>
            <a:ext cx="3585699" cy="3264414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20C1BD3A-C20B-E73B-0C72-B68C63F6A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231" y="2093425"/>
            <a:ext cx="2798152" cy="279815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DC9A9A9-F364-2816-8A57-DE2C899B557E}"/>
              </a:ext>
            </a:extLst>
          </p:cNvPr>
          <p:cNvSpPr txBox="1"/>
          <p:nvPr/>
        </p:nvSpPr>
        <p:spPr>
          <a:xfrm>
            <a:off x="279925" y="4555089"/>
            <a:ext cx="704123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“Tu FUTURO se decide por lo que haces HOY, no MAÑANA”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85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-585177" y="3057041"/>
            <a:ext cx="7639120" cy="1045333"/>
          </a:xfrm>
          <a:prstGeom prst="roundRect">
            <a:avLst>
              <a:gd name="adj" fmla="val 9640"/>
            </a:avLst>
          </a:prstGeom>
          <a:solidFill>
            <a:srgbClr val="701F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srgbClr val="008CAD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53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4;p8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97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26BDBF-E58D-4DAC-8738-D11056BF4C72}">
  <ds:schemaRefs>
    <ds:schemaRef ds:uri="http://purl.org/dc/terms/"/>
    <ds:schemaRef ds:uri="470d2f17-52cb-407b-8136-5e632d1cee08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171001b-fa9d-409b-8713-8b6a17935d68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8090</TotalTime>
  <Words>275</Words>
  <Application>Microsoft Office PowerPoint</Application>
  <PresentationFormat>Panorámica</PresentationFormat>
  <Paragraphs>53</Paragraphs>
  <Slides>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  Presentación del Módulo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283</cp:revision>
  <dcterms:created xsi:type="dcterms:W3CDTF">2023-01-03T12:28:26Z</dcterms:created>
  <dcterms:modified xsi:type="dcterms:W3CDTF">2025-09-26T11:46:39Z</dcterms:modified>
</cp:coreProperties>
</file>