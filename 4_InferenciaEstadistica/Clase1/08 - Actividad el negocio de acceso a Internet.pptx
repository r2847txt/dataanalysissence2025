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562" r:id="rId5"/>
    <p:sldId id="739" r:id="rId6"/>
    <p:sldId id="595" r:id="rId7"/>
    <p:sldId id="737" r:id="rId8"/>
    <p:sldId id="733" r:id="rId9"/>
    <p:sldId id="738" r:id="rId10"/>
  </p:sldIdLst>
  <p:sldSz cx="12192000" cy="6858000"/>
  <p:notesSz cx="6858000" cy="9144000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8CAE"/>
    <a:srgbClr val="98C340"/>
    <a:srgbClr val="F6A120"/>
    <a:srgbClr val="FD0075"/>
    <a:srgbClr val="252526"/>
    <a:srgbClr val="383838"/>
    <a:srgbClr val="1E1E1E"/>
    <a:srgbClr val="000000"/>
    <a:srgbClr val="4E7FDE"/>
    <a:srgbClr val="006B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6FA8D2-75DE-A3B3-ECD7-8F36976ED2D7}" v="4" dt="2025-09-26T11:47:49.804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91" autoAdjust="0"/>
    <p:restoredTop sz="96395" autoAdjust="0"/>
  </p:normalViewPr>
  <p:slideViewPr>
    <p:cSldViewPr snapToGrid="0">
      <p:cViewPr varScale="1">
        <p:scale>
          <a:sx n="76" d="100"/>
          <a:sy n="76" d="100"/>
        </p:scale>
        <p:origin x="114" y="3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886FA8D2-75DE-A3B3-ECD7-8F36976ED2D7}"/>
    <pc:docChg chg="modSld">
      <pc:chgData name="Soraya Salazar" userId="S::soraya.salazar@kibernumacademy.com::fdf00a5c-f577-43dc-8064-9968cad83607" providerId="AD" clId="Web-{886FA8D2-75DE-A3B3-ECD7-8F36976ED2D7}" dt="2025-09-26T11:47:49.804" v="1"/>
      <pc:docMkLst>
        <pc:docMk/>
      </pc:docMkLst>
      <pc:sldChg chg="delSp modSp">
        <pc:chgData name="Soraya Salazar" userId="S::soraya.salazar@kibernumacademy.com::fdf00a5c-f577-43dc-8064-9968cad83607" providerId="AD" clId="Web-{886FA8D2-75DE-A3B3-ECD7-8F36976ED2D7}" dt="2025-09-26T11:47:49.804" v="1"/>
        <pc:sldMkLst>
          <pc:docMk/>
          <pc:sldMk cId="1998777028" sldId="562"/>
        </pc:sldMkLst>
        <pc:spChg chg="del">
          <ac:chgData name="Soraya Salazar" userId="S::soraya.salazar@kibernumacademy.com::fdf00a5c-f577-43dc-8064-9968cad83607" providerId="AD" clId="Web-{886FA8D2-75DE-A3B3-ECD7-8F36976ED2D7}" dt="2025-09-26T11:47:49.804" v="1"/>
          <ac:spMkLst>
            <pc:docMk/>
            <pc:sldMk cId="1998777028" sldId="562"/>
            <ac:spMk id="8" creationId="{00000000-0000-0000-0000-000000000000}"/>
          </ac:spMkLst>
        </pc:spChg>
        <pc:spChg chg="mod">
          <ac:chgData name="Soraya Salazar" userId="S::soraya.salazar@kibernumacademy.com::fdf00a5c-f577-43dc-8064-9968cad83607" providerId="AD" clId="Web-{886FA8D2-75DE-A3B3-ECD7-8F36976ED2D7}" dt="2025-09-26T11:47:45.757" v="0" actId="20577"/>
          <ac:spMkLst>
            <pc:docMk/>
            <pc:sldMk cId="1998777028" sldId="562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214ECDC-27AA-4BAE-B04E-533364742B70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61DC0F2-0470-49B2-BD20-1BE6BAB0CFEB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3CE86C-1FAA-476E-8610-6CF612D82F6D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FDA0F7-3317-4A90-85A9-784F1E0F6A0E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69372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5A1AB2-ABDE-4AA7-B0BA-B4771DBF257E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CBBCA2-D1A3-4B4D-AC73-9D069169A434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5467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A1A31-6B2F-42D4-9D8B-250D0522AC84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48B1C2-5544-4117-B964-FFA2790965CB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4244721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90434-FF42-4568-BAFD-14D07093E120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203834-0EF4-4D06-A8D3-876274F5BE0F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93972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415DC-2033-47BD-86E8-F874CF6E7C58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8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9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3AF083-3250-4136-BEB9-7AF9A938BA7A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319215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8908FD-EE54-425E-B52D-A5E77FE0F4E1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4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C4D746-ECE6-4F12-9BD7-02F1A03DE9BC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15544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4B1D3B-28B6-43FE-A4A1-ACF50A9182C7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3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EC160-BB17-4C5C-A913-243CEE97784F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292166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2D298C-5E21-4FDC-838E-33C54A0835BE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1B316F-FC05-4AA9-8B17-611F2B66785A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524700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_tradnl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5492E0-A143-485F-B68F-8CC91249D59B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C192D6-CB19-4D76-BAD3-1D4E4EA927D1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63101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38D573-BBF9-4466-8100-20705A6765C2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F13FBE-C0B8-4F7C-B7BE-9681116FC5EC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856682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05822-3120-4BF7-B215-1DFE2C6DC6A3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9D8483-F2FB-4D92-932B-BB90B8B7CC0E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3455749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título del patrón</a:t>
            </a:r>
            <a:endParaRPr lang="es-ES_tradnl" altLang="en-US"/>
          </a:p>
        </p:txBody>
      </p:sp>
      <p:sp>
        <p:nvSpPr>
          <p:cNvPr id="1027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Editar el estilo de texto del patrón</a:t>
            </a:r>
          </a:p>
          <a:p>
            <a:pPr lvl="1"/>
            <a:r>
              <a:rPr lang="es-ES" altLang="en-US"/>
              <a:t>Segundo nivel</a:t>
            </a:r>
          </a:p>
          <a:p>
            <a:pPr lvl="2"/>
            <a:r>
              <a:rPr lang="es-ES" altLang="en-US"/>
              <a:t>Tercer nivel</a:t>
            </a:r>
          </a:p>
          <a:p>
            <a:pPr lvl="3"/>
            <a:r>
              <a:rPr lang="es-ES" altLang="en-US"/>
              <a:t>Cuarto nivel</a:t>
            </a:r>
          </a:p>
          <a:p>
            <a:pPr lvl="4"/>
            <a:r>
              <a:rPr lang="es-ES" altLang="en-US"/>
              <a:t>Quinto nivel</a:t>
            </a:r>
            <a:endParaRPr lang="es-ES_tradnl" alt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0F057B8-E3CD-456E-9A46-2B8B20AF9933}" type="datetimeFigureOut">
              <a:rPr lang="es-ES_tradnl"/>
              <a:pPr>
                <a:defRPr/>
              </a:pPr>
              <a:t>26/09/2025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F59D94CD-8797-4F90-8E76-E70F46B730A3}" type="slidenum">
              <a:rPr lang="es-ES_tradnl" altLang="es-CL"/>
              <a:pPr/>
              <a:t>‹Nº›</a:t>
            </a:fld>
            <a:endParaRPr lang="es-ES_tradnl" alt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02FB8815-80A8-175E-A850-C2084DB0D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37762"/>
          </a:xfrm>
          <a:prstGeom prst="rect">
            <a:avLst/>
          </a:prstGeom>
        </p:spPr>
      </p:pic>
      <p:sp>
        <p:nvSpPr>
          <p:cNvPr id="6" name="Rectangle: Rounded Corners 22">
            <a:extLst>
              <a:ext uri="{FF2B5EF4-FFF2-40B4-BE49-F238E27FC236}">
                <a16:creationId xmlns:a16="http://schemas.microsoft.com/office/drawing/2014/main" id="{100F0B21-F305-84E0-FC1E-67639502205C}"/>
              </a:ext>
            </a:extLst>
          </p:cNvPr>
          <p:cNvSpPr/>
          <p:nvPr/>
        </p:nvSpPr>
        <p:spPr>
          <a:xfrm>
            <a:off x="3715511" y="3918858"/>
            <a:ext cx="7308567" cy="1576252"/>
          </a:xfrm>
          <a:prstGeom prst="roundRect">
            <a:avLst>
              <a:gd name="adj" fmla="val 7874"/>
            </a:avLst>
          </a:prstGeom>
          <a:solidFill>
            <a:schemeClr val="tx1">
              <a:alpha val="76000"/>
            </a:schemeClr>
          </a:solidFill>
          <a:ln>
            <a:noFill/>
            <a:prstDash val="lg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540000" anchor="ctr"/>
          <a:lstStyle>
            <a:defPPr>
              <a:defRPr lang="es-ES_tradnl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2800" b="1" dirty="0"/>
          </a:p>
        </p:txBody>
      </p:sp>
      <p:sp>
        <p:nvSpPr>
          <p:cNvPr id="5" name="Título 1"/>
          <p:cNvSpPr>
            <a:spLocks noGrp="1"/>
          </p:cNvSpPr>
          <p:nvPr>
            <p:ph type="ctrTitle"/>
          </p:nvPr>
        </p:nvSpPr>
        <p:spPr>
          <a:xfrm>
            <a:off x="3936274" y="4014651"/>
            <a:ext cx="6792686" cy="1403036"/>
          </a:xfrm>
        </p:spPr>
        <p:txBody>
          <a:bodyPr rtlCol="0"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br>
              <a:rPr lang="es-CL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Actividad: El Negocio de Acceso a Internet</a:t>
            </a:r>
            <a:endParaRPr lang="es-ES_tradnl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Google Shape;92;p1"/>
          <p:cNvSpPr txBox="1"/>
          <p:nvPr/>
        </p:nvSpPr>
        <p:spPr>
          <a:xfrm>
            <a:off x="4001299" y="3382068"/>
            <a:ext cx="702277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Inferencia Estadística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877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 bwMode="auto">
          <a:xfrm>
            <a:off x="5869086" y="1305735"/>
            <a:ext cx="5983280" cy="1358536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Actividad: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El</a:t>
            </a:r>
            <a:r>
              <a:rPr kumimoji="0" lang="es-MX" sz="3200" b="0" i="0" u="none" strike="noStrike" kern="1200" cap="none" spc="0" normalizeH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Negocio de Acceso a Internet</a:t>
            </a:r>
            <a:endParaRPr kumimoji="0" lang="es-MX" sz="3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" name="Rectángulo redondeado 4">
            <a:extLst>
              <a:ext uri="{FF2B5EF4-FFF2-40B4-BE49-F238E27FC236}">
                <a16:creationId xmlns:a16="http://schemas.microsoft.com/office/drawing/2014/main" id="{F54B704E-F625-E3FA-92EA-8240924D3BF1}"/>
              </a:ext>
            </a:extLst>
          </p:cNvPr>
          <p:cNvSpPr/>
          <p:nvPr/>
        </p:nvSpPr>
        <p:spPr>
          <a:xfrm>
            <a:off x="289759" y="1305735"/>
            <a:ext cx="5311415" cy="4412524"/>
          </a:xfrm>
          <a:prstGeom prst="roundRect">
            <a:avLst>
              <a:gd name="adj" fmla="val 2971"/>
            </a:avLst>
          </a:prstGeom>
          <a:solidFill>
            <a:srgbClr val="7FAEF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 descr="5 técnicas de análisis de datos para la precisión de tus informes">
            <a:extLst>
              <a:ext uri="{FF2B5EF4-FFF2-40B4-BE49-F238E27FC236}">
                <a16:creationId xmlns:a16="http://schemas.microsoft.com/office/drawing/2014/main" id="{2EF599DD-F081-0474-AC33-107E6F0BE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57" y="1767840"/>
            <a:ext cx="4956418" cy="3297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5813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-258443" y="1993193"/>
            <a:ext cx="11341601" cy="3081890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23B3A0C-1C10-D786-1819-3C83846BFBD6}"/>
              </a:ext>
            </a:extLst>
          </p:cNvPr>
          <p:cNvSpPr txBox="1"/>
          <p:nvPr/>
        </p:nvSpPr>
        <p:spPr>
          <a:xfrm>
            <a:off x="1105988" y="2212761"/>
            <a:ext cx="9724921" cy="286232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+mn-lt"/>
              </a:rPr>
              <a:t>Grupos de trabajo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bg1"/>
                </a:solidFill>
                <a:latin typeface="+mn-lt"/>
              </a:rPr>
              <a:t>Grupos de 2 personas. (</a:t>
            </a:r>
            <a:r>
              <a:rPr lang="es-ES" dirty="0" err="1">
                <a:solidFill>
                  <a:schemeClr val="bg1"/>
                </a:solidFill>
                <a:latin typeface="+mn-lt"/>
              </a:rPr>
              <a:t>pair</a:t>
            </a:r>
            <a:r>
              <a:rPr lang="es-ES" dirty="0">
                <a:solidFill>
                  <a:schemeClr val="bg1"/>
                </a:solidFill>
                <a:latin typeface="+mn-lt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+mn-lt"/>
              </a:rPr>
              <a:t>programming</a:t>
            </a:r>
            <a:r>
              <a:rPr lang="es-ES" dirty="0">
                <a:solidFill>
                  <a:schemeClr val="bg1"/>
                </a:solidFill>
                <a:latin typeface="+mn-lt"/>
              </a:rPr>
              <a:t>)</a:t>
            </a:r>
          </a:p>
          <a:p>
            <a:endParaRPr lang="es-ES" b="1" dirty="0">
              <a:solidFill>
                <a:schemeClr val="bg1"/>
              </a:solidFill>
              <a:latin typeface="+mn-lt"/>
            </a:endParaRPr>
          </a:p>
          <a:p>
            <a:r>
              <a:rPr lang="es-ES" b="1" dirty="0">
                <a:solidFill>
                  <a:schemeClr val="bg1"/>
                </a:solidFill>
                <a:latin typeface="+mn-lt"/>
              </a:rPr>
              <a:t>Tiempo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bg1"/>
                </a:solidFill>
                <a:latin typeface="+mn-lt"/>
              </a:rPr>
              <a:t>25 minutos.</a:t>
            </a:r>
          </a:p>
          <a:p>
            <a:endParaRPr lang="es-ES" b="1" dirty="0">
              <a:solidFill>
                <a:schemeClr val="bg1"/>
              </a:solidFill>
              <a:latin typeface="+mn-lt"/>
            </a:endParaRPr>
          </a:p>
          <a:p>
            <a:r>
              <a:rPr lang="es-ES" b="1" dirty="0">
                <a:solidFill>
                  <a:schemeClr val="bg1"/>
                </a:solidFill>
                <a:latin typeface="+mn-lt"/>
              </a:rPr>
              <a:t>Objetivo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bg1"/>
                </a:solidFill>
                <a:latin typeface="+mn-lt"/>
              </a:rPr>
              <a:t>Utilizar instrucciones básicas Python para resolver un problema simple.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bg1"/>
                </a:solidFill>
                <a:latin typeface="+mn-lt"/>
              </a:rPr>
              <a:t>Aplicar propiedades de probabilidad para resolver un problema simple.</a:t>
            </a:r>
          </a:p>
          <a:p>
            <a:endParaRPr lang="es-ES" dirty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6EAE5E9-AA41-B6C1-2BE8-2CF9E5D4461A}"/>
              </a:ext>
            </a:extLst>
          </p:cNvPr>
          <p:cNvSpPr txBox="1">
            <a:spLocks/>
          </p:cNvSpPr>
          <p:nvPr/>
        </p:nvSpPr>
        <p:spPr bwMode="auto">
          <a:xfrm>
            <a:off x="1105988" y="1072217"/>
            <a:ext cx="10372796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MX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Instrucciones</a:t>
            </a:r>
          </a:p>
        </p:txBody>
      </p:sp>
    </p:spTree>
    <p:extLst>
      <p:ext uri="{BB962C8B-B14F-4D97-AF65-F5344CB8AC3E}">
        <p14:creationId xmlns:p14="http://schemas.microsoft.com/office/powerpoint/2010/main" val="254193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-258443" y="1040235"/>
            <a:ext cx="11341601" cy="5090599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23B3A0C-1C10-D786-1819-3C83846BFBD6}"/>
              </a:ext>
            </a:extLst>
          </p:cNvPr>
          <p:cNvSpPr txBox="1"/>
          <p:nvPr/>
        </p:nvSpPr>
        <p:spPr>
          <a:xfrm>
            <a:off x="792480" y="1177856"/>
            <a:ext cx="9988731" cy="480131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ES" b="1" dirty="0">
                <a:solidFill>
                  <a:schemeClr val="bg1"/>
                </a:solidFill>
                <a:latin typeface="+mn-lt"/>
              </a:rPr>
              <a:t>Considere el siguiente enunciado: </a:t>
            </a:r>
          </a:p>
          <a:p>
            <a:pPr algn="just"/>
            <a:endParaRPr lang="es-ES" dirty="0">
              <a:solidFill>
                <a:schemeClr val="bg1"/>
              </a:solidFill>
              <a:latin typeface="+mn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bg1"/>
                </a:solidFill>
                <a:latin typeface="+mn-lt"/>
              </a:rPr>
              <a:t>En la provincia de Soria, el negocio de acceso a Internet se reparte entre dos operadores, </a:t>
            </a:r>
            <a:r>
              <a:rPr lang="es-ES" dirty="0" err="1">
                <a:solidFill>
                  <a:schemeClr val="bg1"/>
                </a:solidFill>
                <a:latin typeface="+mn-lt"/>
              </a:rPr>
              <a:t>Timofónica</a:t>
            </a:r>
            <a:r>
              <a:rPr lang="es-ES" dirty="0">
                <a:solidFill>
                  <a:schemeClr val="bg1"/>
                </a:solidFill>
                <a:latin typeface="+mn-lt"/>
              </a:rPr>
              <a:t> y </a:t>
            </a:r>
            <a:r>
              <a:rPr lang="es-ES" dirty="0" err="1">
                <a:solidFill>
                  <a:schemeClr val="bg1"/>
                </a:solidFill>
                <a:latin typeface="+mn-lt"/>
              </a:rPr>
              <a:t>Robafone</a:t>
            </a:r>
            <a:r>
              <a:rPr lang="es-ES" dirty="0">
                <a:solidFill>
                  <a:schemeClr val="bg1"/>
                </a:solidFill>
                <a:latin typeface="+mn-lt"/>
              </a:rPr>
              <a:t> y dos únicas marcas de </a:t>
            </a:r>
            <a:r>
              <a:rPr lang="es-ES" dirty="0" err="1">
                <a:solidFill>
                  <a:schemeClr val="bg1"/>
                </a:solidFill>
                <a:latin typeface="+mn-lt"/>
              </a:rPr>
              <a:t>routers</a:t>
            </a:r>
            <a:r>
              <a:rPr lang="es-ES" dirty="0">
                <a:solidFill>
                  <a:schemeClr val="bg1"/>
                </a:solidFill>
                <a:latin typeface="+mn-lt"/>
              </a:rPr>
              <a:t>, </a:t>
            </a:r>
            <a:r>
              <a:rPr lang="es-ES" dirty="0" err="1">
                <a:solidFill>
                  <a:schemeClr val="bg1"/>
                </a:solidFill>
                <a:latin typeface="+mn-lt"/>
              </a:rPr>
              <a:t>Xisco</a:t>
            </a:r>
            <a:r>
              <a:rPr lang="es-ES" dirty="0">
                <a:solidFill>
                  <a:schemeClr val="bg1"/>
                </a:solidFill>
                <a:latin typeface="+mn-lt"/>
              </a:rPr>
              <a:t> y </a:t>
            </a:r>
            <a:r>
              <a:rPr lang="es-ES" dirty="0" err="1">
                <a:solidFill>
                  <a:schemeClr val="bg1"/>
                </a:solidFill>
                <a:latin typeface="+mn-lt"/>
              </a:rPr>
              <a:t>Nuaweii</a:t>
            </a:r>
            <a:r>
              <a:rPr lang="es-ES" dirty="0">
                <a:solidFill>
                  <a:schemeClr val="bg1"/>
                </a:solidFill>
                <a:latin typeface="+mn-lt"/>
              </a:rPr>
              <a:t>. En Soria, la cuota de mercado de </a:t>
            </a:r>
            <a:r>
              <a:rPr lang="es-ES" dirty="0" err="1">
                <a:solidFill>
                  <a:schemeClr val="bg1"/>
                </a:solidFill>
                <a:latin typeface="+mn-lt"/>
              </a:rPr>
              <a:t>Timofónica</a:t>
            </a:r>
            <a:r>
              <a:rPr lang="es-ES" dirty="0">
                <a:solidFill>
                  <a:schemeClr val="bg1"/>
                </a:solidFill>
                <a:latin typeface="+mn-lt"/>
              </a:rPr>
              <a:t> es del 60% y de </a:t>
            </a:r>
            <a:r>
              <a:rPr lang="es-ES" dirty="0" err="1">
                <a:solidFill>
                  <a:schemeClr val="bg1"/>
                </a:solidFill>
                <a:latin typeface="+mn-lt"/>
              </a:rPr>
              <a:t>Robafone</a:t>
            </a:r>
            <a:r>
              <a:rPr lang="es-ES" dirty="0">
                <a:solidFill>
                  <a:schemeClr val="bg1"/>
                </a:solidFill>
                <a:latin typeface="+mn-lt"/>
              </a:rPr>
              <a:t> el resto. El 70% de los usuarios dispone de </a:t>
            </a:r>
            <a:r>
              <a:rPr lang="es-ES" dirty="0" err="1">
                <a:solidFill>
                  <a:schemeClr val="bg1"/>
                </a:solidFill>
                <a:latin typeface="+mn-lt"/>
              </a:rPr>
              <a:t>router</a:t>
            </a:r>
            <a:r>
              <a:rPr lang="es-ES" dirty="0">
                <a:solidFill>
                  <a:schemeClr val="bg1"/>
                </a:solidFill>
                <a:latin typeface="+mn-lt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+mn-lt"/>
              </a:rPr>
              <a:t>Xisco</a:t>
            </a:r>
            <a:r>
              <a:rPr lang="es-ES" dirty="0">
                <a:solidFill>
                  <a:schemeClr val="bg1"/>
                </a:solidFill>
                <a:latin typeface="+mn-lt"/>
              </a:rPr>
              <a:t> y el 30% de ambas marcas. Además se sabe que la probabilidad de corte de acceso es 0.1 para usuarios de </a:t>
            </a:r>
            <a:r>
              <a:rPr lang="es-ES" dirty="0" err="1">
                <a:solidFill>
                  <a:schemeClr val="bg1"/>
                </a:solidFill>
                <a:latin typeface="+mn-lt"/>
              </a:rPr>
              <a:t>Timofónica</a:t>
            </a:r>
            <a:r>
              <a:rPr lang="es-ES" dirty="0">
                <a:solidFill>
                  <a:schemeClr val="bg1"/>
                </a:solidFill>
                <a:latin typeface="+mn-lt"/>
              </a:rPr>
              <a:t>, 0.15 para </a:t>
            </a:r>
            <a:r>
              <a:rPr lang="es-ES" dirty="0" err="1">
                <a:solidFill>
                  <a:schemeClr val="bg1"/>
                </a:solidFill>
                <a:latin typeface="+mn-lt"/>
              </a:rPr>
              <a:t>Robafone</a:t>
            </a:r>
            <a:r>
              <a:rPr lang="es-ES" dirty="0">
                <a:solidFill>
                  <a:schemeClr val="bg1"/>
                </a:solidFill>
                <a:latin typeface="+mn-lt"/>
              </a:rPr>
              <a:t> y 0.05 para </a:t>
            </a:r>
            <a:r>
              <a:rPr lang="es-ES" dirty="0" err="1">
                <a:solidFill>
                  <a:schemeClr val="bg1"/>
                </a:solidFill>
                <a:latin typeface="+mn-lt"/>
              </a:rPr>
              <a:t>routers</a:t>
            </a:r>
            <a:r>
              <a:rPr lang="es-ES" dirty="0">
                <a:solidFill>
                  <a:schemeClr val="bg1"/>
                </a:solidFill>
                <a:latin typeface="+mn-lt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+mn-lt"/>
              </a:rPr>
              <a:t>Xisco</a:t>
            </a:r>
            <a:r>
              <a:rPr lang="es-ES" dirty="0">
                <a:solidFill>
                  <a:schemeClr val="bg1"/>
                </a:solidFill>
                <a:latin typeface="+mn-lt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dirty="0">
              <a:solidFill>
                <a:schemeClr val="bg1"/>
              </a:solidFill>
              <a:latin typeface="+mn-lt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  <a:latin typeface="+mn-lt"/>
              </a:rPr>
              <a:t>Crear un script en Python que defina las probabilidades proporcionadas en el enunciado (usar un diccionario).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  <a:latin typeface="+mn-lt"/>
              </a:rPr>
              <a:t>Implementar en el script las </a:t>
            </a:r>
            <a:r>
              <a:rPr lang="es-ES">
                <a:solidFill>
                  <a:schemeClr val="bg1"/>
                </a:solidFill>
                <a:latin typeface="+mn-lt"/>
              </a:rPr>
              <a:t>expresiones correspondientes</a:t>
            </a:r>
            <a:r>
              <a:rPr lang="es-ES" dirty="0">
                <a:solidFill>
                  <a:schemeClr val="bg1"/>
                </a:solidFill>
                <a:latin typeface="+mn-lt"/>
              </a:rPr>
              <a:t> al Teorema de Bayes para responder las siguientes preguntas: </a:t>
            </a:r>
            <a:endParaRPr lang="es-ES" dirty="0">
              <a:solidFill>
                <a:schemeClr val="bg1"/>
              </a:solidFill>
              <a:latin typeface="+mn-lt"/>
              <a:ea typeface="Calibri"/>
              <a:cs typeface="Calibri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  <a:latin typeface="+mn-lt"/>
              </a:rPr>
              <a:t>¿Cuál es la probabilidad de que a un usuario se le corte el Internet?,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  <a:latin typeface="+mn-lt"/>
              </a:rPr>
              <a:t>Si se sabe que un usuario tiene la línea cortada, ¿cuál es la probabilidad de que tenga </a:t>
            </a:r>
            <a:r>
              <a:rPr lang="es-ES" dirty="0" err="1">
                <a:solidFill>
                  <a:schemeClr val="bg1"/>
                </a:solidFill>
                <a:latin typeface="+mn-lt"/>
              </a:rPr>
              <a:t>router</a:t>
            </a:r>
            <a:r>
              <a:rPr lang="es-ES" dirty="0">
                <a:solidFill>
                  <a:schemeClr val="bg1"/>
                </a:solidFill>
                <a:latin typeface="+mn-lt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+mn-lt"/>
              </a:rPr>
              <a:t>Xisco</a:t>
            </a:r>
            <a:r>
              <a:rPr lang="es-ES" dirty="0">
                <a:solidFill>
                  <a:schemeClr val="bg1"/>
                </a:solidFill>
                <a:latin typeface="+mn-lt"/>
              </a:rPr>
              <a:t> en casa?,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  <a:latin typeface="+mn-lt"/>
              </a:rPr>
              <a:t>¿Cuál es la probabilidad de que se produzca un corte a un usuario que no tiene un </a:t>
            </a:r>
            <a:r>
              <a:rPr lang="es-ES" dirty="0" err="1">
                <a:solidFill>
                  <a:schemeClr val="bg1"/>
                </a:solidFill>
                <a:latin typeface="+mn-lt"/>
              </a:rPr>
              <a:t>router</a:t>
            </a:r>
            <a:r>
              <a:rPr lang="es-ES" dirty="0">
                <a:solidFill>
                  <a:schemeClr val="bg1"/>
                </a:solidFill>
                <a:latin typeface="+mn-lt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+mn-lt"/>
              </a:rPr>
              <a:t>Xisco</a:t>
            </a:r>
            <a:r>
              <a:rPr lang="es-ES" dirty="0">
                <a:solidFill>
                  <a:schemeClr val="bg1"/>
                </a:solidFill>
                <a:latin typeface="+mn-lt"/>
              </a:rPr>
              <a:t>?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ES" dirty="0">
                <a:solidFill>
                  <a:schemeClr val="bg1"/>
                </a:solidFill>
                <a:latin typeface="+mn-lt"/>
              </a:rPr>
              <a:t>Interpretar los resultados obtenidos.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6EAE5E9-AA41-B6C1-2BE8-2CF9E5D4461A}"/>
              </a:ext>
            </a:extLst>
          </p:cNvPr>
          <p:cNvSpPr txBox="1">
            <a:spLocks/>
          </p:cNvSpPr>
          <p:nvPr/>
        </p:nvSpPr>
        <p:spPr bwMode="auto">
          <a:xfrm>
            <a:off x="511926" y="306359"/>
            <a:ext cx="10966858" cy="591263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¿En qué consiste la actividad?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566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-609600" y="1408748"/>
            <a:ext cx="10197737" cy="4350427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746CFDD-6FC3-5AA7-5C1D-362E2C5244F1}"/>
              </a:ext>
            </a:extLst>
          </p:cNvPr>
          <p:cNvSpPr txBox="1"/>
          <p:nvPr/>
        </p:nvSpPr>
        <p:spPr>
          <a:xfrm>
            <a:off x="1241065" y="1511858"/>
            <a:ext cx="8172901" cy="424731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...</a:t>
            </a:r>
          </a:p>
          <a:p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pr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 =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dict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()</a:t>
            </a:r>
          </a:p>
          <a:p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pr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["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Timofónica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"] =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xx</a:t>
            </a:r>
            <a:endParaRPr lang="es-ES" dirty="0">
              <a:solidFill>
                <a:schemeClr val="bg1"/>
              </a:solidFill>
              <a:latin typeface="+mn-lt"/>
              <a:ea typeface="Source Sans Pro"/>
            </a:endParaRPr>
          </a:p>
          <a:p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pr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["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Robafone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"] =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xx</a:t>
            </a:r>
            <a:endParaRPr lang="es-ES" dirty="0">
              <a:solidFill>
                <a:schemeClr val="bg1"/>
              </a:solidFill>
              <a:latin typeface="+mn-lt"/>
              <a:ea typeface="Source Sans Pro"/>
            </a:endParaRPr>
          </a:p>
          <a:p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pr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["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Xisco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"] =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xx</a:t>
            </a:r>
            <a:endParaRPr lang="es-ES" dirty="0">
              <a:solidFill>
                <a:schemeClr val="bg1"/>
              </a:solidFill>
              <a:latin typeface="+mn-lt"/>
              <a:ea typeface="Source Sans Pro"/>
            </a:endParaRPr>
          </a:p>
          <a:p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pr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["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Xisco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 Y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Nuaweii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"] =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xx</a:t>
            </a:r>
            <a:endParaRPr lang="es-ES" dirty="0">
              <a:solidFill>
                <a:schemeClr val="bg1"/>
              </a:solidFill>
              <a:latin typeface="+mn-lt"/>
              <a:ea typeface="Source Sans Pro"/>
            </a:endParaRPr>
          </a:p>
          <a:p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pr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["Corte |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Timofónica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"] =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xx</a:t>
            </a:r>
            <a:endParaRPr lang="es-ES" dirty="0">
              <a:solidFill>
                <a:schemeClr val="bg1"/>
              </a:solidFill>
              <a:latin typeface="+mn-lt"/>
              <a:ea typeface="Source Sans Pro"/>
            </a:endParaRPr>
          </a:p>
          <a:p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pr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["Corte |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Robafone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"] =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xx</a:t>
            </a:r>
            <a:endParaRPr lang="es-ES" dirty="0">
              <a:solidFill>
                <a:schemeClr val="bg1"/>
              </a:solidFill>
              <a:latin typeface="+mn-lt"/>
              <a:ea typeface="Source Sans Pro"/>
            </a:endParaRPr>
          </a:p>
          <a:p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pr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["Corte |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Xisco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"] =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xx</a:t>
            </a:r>
            <a:endParaRPr lang="es-ES" dirty="0">
              <a:solidFill>
                <a:schemeClr val="bg1"/>
              </a:solidFill>
              <a:latin typeface="+mn-lt"/>
              <a:ea typeface="Source Sans Pro"/>
            </a:endParaRPr>
          </a:p>
          <a:p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...</a:t>
            </a:r>
          </a:p>
          <a:p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pr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["Corte"] =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pr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["Corte |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Timofónica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"]*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pr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["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Timofónica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"] +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pr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["Corte |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Robafone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"]*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pr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["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Robafone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"]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pr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["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Timofónica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"] </a:t>
            </a:r>
          </a:p>
          <a:p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pr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["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Xisco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 | Corte"] =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pr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["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Xisco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"]*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pr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["Corte |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Xisco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"]/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pr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["Corte"]</a:t>
            </a:r>
          </a:p>
          <a:p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pr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["Corte |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Nuaweii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"] = (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pr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["Corte"] -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pr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["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Xisco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"]*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pr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["Corte | 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Xisco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"])/(1-pr["</a:t>
            </a:r>
            <a:r>
              <a:rPr lang="es-ES" dirty="0" err="1">
                <a:solidFill>
                  <a:schemeClr val="bg1"/>
                </a:solidFill>
                <a:latin typeface="+mn-lt"/>
                <a:ea typeface="Source Sans Pro"/>
              </a:rPr>
              <a:t>Xisco</a:t>
            </a:r>
            <a:r>
              <a:rPr lang="es-ES" dirty="0">
                <a:solidFill>
                  <a:schemeClr val="bg1"/>
                </a:solidFill>
                <a:latin typeface="+mn-lt"/>
                <a:ea typeface="Source Sans Pro"/>
              </a:rPr>
              <a:t>"])</a:t>
            </a:r>
          </a:p>
          <a:p>
            <a:endParaRPr lang="es-ES" dirty="0">
              <a:solidFill>
                <a:schemeClr val="bg1"/>
              </a:solidFill>
              <a:latin typeface="+mn-lt"/>
              <a:ea typeface="Source Sans Pro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28B3DCB-34FE-E29C-8D2B-5495ADE4CD10}"/>
              </a:ext>
            </a:extLst>
          </p:cNvPr>
          <p:cNvSpPr txBox="1">
            <a:spLocks/>
          </p:cNvSpPr>
          <p:nvPr/>
        </p:nvSpPr>
        <p:spPr bwMode="auto">
          <a:xfrm>
            <a:off x="1297670" y="503796"/>
            <a:ext cx="7933416" cy="10080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just" eaLnBrk="1" fontAlgn="auto" hangingPunct="1">
              <a:lnSpc>
                <a:spcPct val="100000"/>
              </a:lnSpc>
              <a:spcAft>
                <a:spcPts val="0"/>
              </a:spcAft>
              <a:defRPr/>
            </a:pPr>
            <a:r>
              <a:rPr lang="es-E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Ayuda</a:t>
            </a:r>
            <a:endParaRPr lang="es-MX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22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redondeado 6"/>
          <p:cNvSpPr/>
          <p:nvPr/>
        </p:nvSpPr>
        <p:spPr>
          <a:xfrm>
            <a:off x="1357459" y="754144"/>
            <a:ext cx="5599522" cy="5263123"/>
          </a:xfrm>
          <a:prstGeom prst="roundRect">
            <a:avLst>
              <a:gd name="adj" fmla="val 2971"/>
            </a:avLst>
          </a:prstGeom>
          <a:solidFill>
            <a:schemeClr val="bg1"/>
          </a:solidFill>
          <a:ln w="28575">
            <a:solidFill>
              <a:srgbClr val="078C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7303304" y="2590254"/>
            <a:ext cx="4920343" cy="1590900"/>
          </a:xfrm>
          <a:prstGeom prst="roundRect">
            <a:avLst>
              <a:gd name="adj" fmla="val 2971"/>
            </a:avLst>
          </a:prstGeom>
          <a:gradFill flip="none" rotWithShape="1">
            <a:gsLst>
              <a:gs pos="0">
                <a:srgbClr val="078CAE">
                  <a:shade val="30000"/>
                  <a:satMod val="115000"/>
                </a:srgbClr>
              </a:gs>
              <a:gs pos="50000">
                <a:srgbClr val="078CAE">
                  <a:shade val="67500"/>
                  <a:satMod val="115000"/>
                </a:srgbClr>
              </a:gs>
              <a:gs pos="100000">
                <a:srgbClr val="078CAE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980" y="1051873"/>
            <a:ext cx="5106479" cy="466766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145409" y="3062538"/>
            <a:ext cx="19833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L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¡Éxito!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9628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71001b-fa9d-409b-8713-8b6a17935d68"/>
    <lcf76f155ced4ddcb4097134ff3c332f xmlns="470d2f17-52cb-407b-8136-5e632d1cee0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9CD3420DD7C44287EDEB9C6D6708D7" ma:contentTypeVersion="15" ma:contentTypeDescription="Crear nuevo documento." ma:contentTypeScope="" ma:versionID="f7a9dcde27c9264a09c73004259269f1">
  <xsd:schema xmlns:xsd="http://www.w3.org/2001/XMLSchema" xmlns:xs="http://www.w3.org/2001/XMLSchema" xmlns:p="http://schemas.microsoft.com/office/2006/metadata/properties" xmlns:ns2="470d2f17-52cb-407b-8136-5e632d1cee08" xmlns:ns3="6171001b-fa9d-409b-8713-8b6a17935d68" targetNamespace="http://schemas.microsoft.com/office/2006/metadata/properties" ma:root="true" ma:fieldsID="674b5fe278d71baa753a58252eaf8fe3" ns2:_="" ns3:_="">
    <xsd:import namespace="470d2f17-52cb-407b-8136-5e632d1cee08"/>
    <xsd:import namespace="6171001b-fa9d-409b-8713-8b6a17935d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d2f17-52cb-407b-8136-5e632d1cee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5ecad781-11e1-4240-b729-e370ca3e03e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71001b-fa9d-409b-8713-8b6a17935d68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26c5a85-e9ed-4a7d-a8f2-1ac62c4b72da}" ma:internalName="TaxCatchAll" ma:showField="CatchAllData" ma:web="6171001b-fa9d-409b-8713-8b6a17935d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B05674-0616-4E66-A9FD-3C514085E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26BDBF-E58D-4DAC-8738-D11056BF4C72}">
  <ds:schemaRefs>
    <ds:schemaRef ds:uri="http://purl.org/dc/terms/"/>
    <ds:schemaRef ds:uri="http://schemas.openxmlformats.org/package/2006/metadata/core-properties"/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6171001b-fa9d-409b-8713-8b6a17935d68"/>
    <ds:schemaRef ds:uri="470d2f17-52cb-407b-8136-5e632d1cee08"/>
  </ds:schemaRefs>
</ds:datastoreItem>
</file>

<file path=customXml/itemProps3.xml><?xml version="1.0" encoding="utf-8"?>
<ds:datastoreItem xmlns:ds="http://schemas.openxmlformats.org/officeDocument/2006/customXml" ds:itemID="{DD405DB1-990F-4DDD-81A1-478BCA203F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0d2f17-52cb-407b-8136-5e632d1cee08"/>
    <ds:schemaRef ds:uri="6171001b-fa9d-409b-8713-8b6a17935d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8260</TotalTime>
  <Words>334</Words>
  <Application>Microsoft Office PowerPoint</Application>
  <PresentationFormat>Panorámica</PresentationFormat>
  <Paragraphs>42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Tema de Office</vt:lpstr>
      <vt:lpstr> Actividad: El Negocio de Acceso a Internet</vt:lpstr>
      <vt:lpstr>Presentación de PowerPoint</vt:lpstr>
      <vt:lpstr>Presentación de PowerPoint</vt:lpstr>
      <vt:lpstr>Presentación de PowerPoint</vt:lpstr>
      <vt:lpstr>Presentación de PowerPoint</vt:lpstr>
      <vt:lpstr>¡Éxito!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Kibernum</dc:creator>
  <cp:lastModifiedBy>kibernum</cp:lastModifiedBy>
  <cp:revision>247</cp:revision>
  <dcterms:created xsi:type="dcterms:W3CDTF">2023-01-03T12:28:26Z</dcterms:created>
  <dcterms:modified xsi:type="dcterms:W3CDTF">2025-09-26T11:47:52Z</dcterms:modified>
</cp:coreProperties>
</file>