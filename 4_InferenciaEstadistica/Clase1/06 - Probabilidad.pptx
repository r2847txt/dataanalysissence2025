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5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hQUX0jx68YiQ8ezmdMIDgQ0pv2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1237"/>
    <a:srgbClr val="98107C"/>
    <a:srgbClr val="5A2BAD"/>
    <a:srgbClr val="3D2F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811B23-E652-4236-E302-E64693B9985D}" v="2" dt="2025-09-26T11:47:38.113"/>
    <p1510:client id="{4C614F1F-B83D-43CC-DEF1-6CCD49928ED5}" v="1" dt="2025-09-26T11:48:04.555"/>
  </p1510:revLst>
</p1510:revInfo>
</file>

<file path=ppt/tableStyles.xml><?xml version="1.0" encoding="utf-8"?>
<a:tblStyleLst xmlns:a="http://schemas.openxmlformats.org/drawingml/2006/main" def="{2A2B32C6-60CB-4645-9B78-3058D3881BFF}">
  <a:tblStyle styleId="{2A2B32C6-60CB-4645-9B78-3058D3881BF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777C058-AF18-44A3-B130-BAA28ED228A2}"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8" Type="http://schemas.openxmlformats.org/officeDocument/2006/relationships/viewProps" Target="viewProps.xml"/><Relationship Id="rId5" Type="http://schemas.openxmlformats.org/officeDocument/2006/relationships/slide" Target="slides/slide3.xml"/><Relationship Id="rId61" Type="http://schemas.microsoft.com/office/2016/11/relationships/changesInfo" Target="changesInfos/changesInfo1.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customschemas.google.com/relationships/presentationmetadata" Target="metadata"/><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4C614F1F-B83D-43CC-DEF1-6CCD49928ED5}"/>
    <pc:docChg chg="modSld">
      <pc:chgData name="Soraya Salazar" userId="S::soraya.salazar@kibernumacademy.com::fdf00a5c-f577-43dc-8064-9968cad83607" providerId="AD" clId="Web-{4C614F1F-B83D-43CC-DEF1-6CCD49928ED5}" dt="2025-09-26T11:48:04.555" v="0"/>
      <pc:docMkLst>
        <pc:docMk/>
      </pc:docMkLst>
      <pc:sldChg chg="delSp">
        <pc:chgData name="Soraya Salazar" userId="S::soraya.salazar@kibernumacademy.com::fdf00a5c-f577-43dc-8064-9968cad83607" providerId="AD" clId="Web-{4C614F1F-B83D-43CC-DEF1-6CCD49928ED5}" dt="2025-09-26T11:48:04.555" v="0"/>
        <pc:sldMkLst>
          <pc:docMk/>
          <pc:sldMk cId="0" sldId="256"/>
        </pc:sldMkLst>
        <pc:spChg chg="del">
          <ac:chgData name="Soraya Salazar" userId="S::soraya.salazar@kibernumacademy.com::fdf00a5c-f577-43dc-8064-9968cad83607" providerId="AD" clId="Web-{4C614F1F-B83D-43CC-DEF1-6CCD49928ED5}" dt="2025-09-26T11:48:04.555" v="0"/>
          <ac:spMkLst>
            <pc:docMk/>
            <pc:sldMk cId="0" sldId="256"/>
            <ac:spMk id="165" creationId="{00000000-0000-0000-0000-000000000000}"/>
          </ac:spMkLst>
        </pc:spChg>
      </pc:sldChg>
    </pc:docChg>
  </pc:docChgLst>
  <pc:docChgLst>
    <pc:chgData name="Soraya Salazar" userId="S::soraya.salazar@kibernumacademy.com::fdf00a5c-f577-43dc-8064-9968cad83607" providerId="AD" clId="Web-{49811B23-E652-4236-E302-E64693B9985D}"/>
    <pc:docChg chg="modSld">
      <pc:chgData name="Soraya Salazar" userId="S::soraya.salazar@kibernumacademy.com::fdf00a5c-f577-43dc-8064-9968cad83607" providerId="AD" clId="Web-{49811B23-E652-4236-E302-E64693B9985D}" dt="2025-09-26T11:47:38.113" v="0" actId="20577"/>
      <pc:docMkLst>
        <pc:docMk/>
      </pc:docMkLst>
      <pc:sldChg chg="modSp">
        <pc:chgData name="Soraya Salazar" userId="S::soraya.salazar@kibernumacademy.com::fdf00a5c-f577-43dc-8064-9968cad83607" providerId="AD" clId="Web-{49811B23-E652-4236-E302-E64693B9985D}" dt="2025-09-26T11:47:38.113" v="0" actId="20577"/>
        <pc:sldMkLst>
          <pc:docMk/>
          <pc:sldMk cId="0" sldId="256"/>
        </pc:sldMkLst>
        <pc:spChg chg="mod">
          <ac:chgData name="Soraya Salazar" userId="S::soraya.salazar@kibernumacademy.com::fdf00a5c-f577-43dc-8064-9968cad83607" providerId="AD" clId="Web-{49811B23-E652-4236-E302-E64693B9985D}" dt="2025-09-26T11:47:38.113" v="0" actId="20577"/>
          <ac:spMkLst>
            <pc:docMk/>
            <pc:sldMk cId="0" sldId="256"/>
            <ac:spMk id="1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9" name="Google Shape;16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7" name="Google Shape;17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5" name="Google Shape;18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6" name="Google Shape;19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3" name="Google Shape;20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2" name="Google Shape;21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0" name="Google Shape;22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9" name="Google Shape;22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1" name="Google Shape;24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0" name="Google Shape;25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7" name="Google Shape;25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5" name="Google Shape;26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2" name="Google Shape;27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7" name="Google Shape;27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6" name="Google Shape;28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3" name="Google Shape;29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8" name="Google Shape;29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8" name="Google Shape;30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1" name="Google Shape;32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0" name="Google Shape;33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9" name="Google Shape;33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9" name="Google Shape;34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7" name="Google Shape;35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5" name="Google Shape;36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0" name="Google Shape;37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3" name="Google Shape;38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6" name="Google Shape;396;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7" name="Google Shape;40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4" name="Google Shape;41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7" name="Google Shape;43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4" name="Google Shape;44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6" name="Google Shape;45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3" name="Google Shape;50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1" name="Google Shape;51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0" name="Google Shape;52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9" name="Google Shape;529;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8" name="Google Shape;53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48" name="Google Shape;548;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9" name="Google Shape;55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68" name="Google Shape;56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8" name="Google Shape;578;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91" name="Google Shape;591;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96" name="Google Shape;596;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09" name="Google Shape;609;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20" name="Google Shape;620;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32" name="Google Shape;632;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38" name="Google Shape;638;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5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5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5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5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5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5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5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5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5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5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5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6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6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6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6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61"/>
          <p:cNvSpPr>
            <a:spLocks noGrp="1"/>
          </p:cNvSpPr>
          <p:nvPr>
            <p:ph type="pic" idx="2"/>
          </p:nvPr>
        </p:nvSpPr>
        <p:spPr>
          <a:xfrm>
            <a:off x="5183188" y="987425"/>
            <a:ext cx="6172200" cy="4873625"/>
          </a:xfrm>
          <a:prstGeom prst="rect">
            <a:avLst/>
          </a:prstGeom>
          <a:noFill/>
          <a:ln>
            <a:noFill/>
          </a:ln>
        </p:spPr>
      </p:sp>
      <p:sp>
        <p:nvSpPr>
          <p:cNvPr id="68" name="Google Shape;68;p6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6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6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6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90"/>
        <p:cNvGrpSpPr/>
        <p:nvPr/>
      </p:nvGrpSpPr>
      <p:grpSpPr>
        <a:xfrm>
          <a:off x="0" y="0"/>
          <a:ext cx="0" cy="0"/>
          <a:chOff x="0" y="0"/>
          <a:chExt cx="0" cy="0"/>
        </a:xfrm>
      </p:grpSpPr>
      <p:sp>
        <p:nvSpPr>
          <p:cNvPr id="91" name="Google Shape;91;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2" name="Google Shape;92;p5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6"/>
        <p:cNvGrpSpPr/>
        <p:nvPr/>
      </p:nvGrpSpPr>
      <p:grpSpPr>
        <a:xfrm>
          <a:off x="0" y="0"/>
          <a:ext cx="0" cy="0"/>
          <a:chOff x="0" y="0"/>
          <a:chExt cx="0" cy="0"/>
        </a:xfrm>
      </p:grpSpPr>
      <p:sp>
        <p:nvSpPr>
          <p:cNvPr id="97" name="Google Shape;97;p6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8" name="Google Shape;98;p6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9" name="Google Shape;99;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02"/>
        <p:cNvGrpSpPr/>
        <p:nvPr/>
      </p:nvGrpSpPr>
      <p:grpSpPr>
        <a:xfrm>
          <a:off x="0" y="0"/>
          <a:ext cx="0" cy="0"/>
          <a:chOff x="0" y="0"/>
          <a:chExt cx="0" cy="0"/>
        </a:xfrm>
      </p:grpSpPr>
      <p:sp>
        <p:nvSpPr>
          <p:cNvPr id="103" name="Google Shape;103;p6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4" name="Google Shape;104;p6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5" name="Google Shape;105;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08"/>
        <p:cNvGrpSpPr/>
        <p:nvPr/>
      </p:nvGrpSpPr>
      <p:grpSpPr>
        <a:xfrm>
          <a:off x="0" y="0"/>
          <a:ext cx="0" cy="0"/>
          <a:chOff x="0" y="0"/>
          <a:chExt cx="0" cy="0"/>
        </a:xfrm>
      </p:grpSpPr>
      <p:sp>
        <p:nvSpPr>
          <p:cNvPr id="109" name="Google Shape;109;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0" name="Google Shape;110;p6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15"/>
        <p:cNvGrpSpPr/>
        <p:nvPr/>
      </p:nvGrpSpPr>
      <p:grpSpPr>
        <a:xfrm>
          <a:off x="0" y="0"/>
          <a:ext cx="0" cy="0"/>
          <a:chOff x="0" y="0"/>
          <a:chExt cx="0" cy="0"/>
        </a:xfrm>
      </p:grpSpPr>
      <p:sp>
        <p:nvSpPr>
          <p:cNvPr id="116" name="Google Shape;116;p6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7" name="Google Shape;117;p6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6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6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6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24"/>
        <p:cNvGrpSpPr/>
        <p:nvPr/>
      </p:nvGrpSpPr>
      <p:grpSpPr>
        <a:xfrm>
          <a:off x="0" y="0"/>
          <a:ext cx="0" cy="0"/>
          <a:chOff x="0" y="0"/>
          <a:chExt cx="0" cy="0"/>
        </a:xfrm>
      </p:grpSpPr>
      <p:sp>
        <p:nvSpPr>
          <p:cNvPr id="125" name="Google Shape;125;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6" name="Google Shape;126;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29"/>
        <p:cNvGrpSpPr/>
        <p:nvPr/>
      </p:nvGrpSpPr>
      <p:grpSpPr>
        <a:xfrm>
          <a:off x="0" y="0"/>
          <a:ext cx="0" cy="0"/>
          <a:chOff x="0" y="0"/>
          <a:chExt cx="0" cy="0"/>
        </a:xfrm>
      </p:grpSpPr>
      <p:sp>
        <p:nvSpPr>
          <p:cNvPr id="130" name="Google Shape;130;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3"/>
        <p:cNvGrpSpPr/>
        <p:nvPr/>
      </p:nvGrpSpPr>
      <p:grpSpPr>
        <a:xfrm>
          <a:off x="0" y="0"/>
          <a:ext cx="0" cy="0"/>
          <a:chOff x="0" y="0"/>
          <a:chExt cx="0" cy="0"/>
        </a:xfrm>
      </p:grpSpPr>
      <p:sp>
        <p:nvSpPr>
          <p:cNvPr id="134" name="Google Shape;134;p7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5" name="Google Shape;135;p7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7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0"/>
        <p:cNvGrpSpPr/>
        <p:nvPr/>
      </p:nvGrpSpPr>
      <p:grpSpPr>
        <a:xfrm>
          <a:off x="0" y="0"/>
          <a:ext cx="0" cy="0"/>
          <a:chOff x="0" y="0"/>
          <a:chExt cx="0" cy="0"/>
        </a:xfrm>
      </p:grpSpPr>
      <p:sp>
        <p:nvSpPr>
          <p:cNvPr id="141" name="Google Shape;141;p7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2" name="Google Shape;142;p71"/>
          <p:cNvSpPr>
            <a:spLocks noGrp="1"/>
          </p:cNvSpPr>
          <p:nvPr>
            <p:ph type="pic" idx="2"/>
          </p:nvPr>
        </p:nvSpPr>
        <p:spPr>
          <a:xfrm>
            <a:off x="5183188" y="987425"/>
            <a:ext cx="6172200" cy="4873625"/>
          </a:xfrm>
          <a:prstGeom prst="rect">
            <a:avLst/>
          </a:prstGeom>
          <a:noFill/>
          <a:ln>
            <a:noFill/>
          </a:ln>
        </p:spPr>
      </p:sp>
      <p:sp>
        <p:nvSpPr>
          <p:cNvPr id="143" name="Google Shape;143;p7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47"/>
        <p:cNvGrpSpPr/>
        <p:nvPr/>
      </p:nvGrpSpPr>
      <p:grpSpPr>
        <a:xfrm>
          <a:off x="0" y="0"/>
          <a:ext cx="0" cy="0"/>
          <a:chOff x="0" y="0"/>
          <a:chExt cx="0" cy="0"/>
        </a:xfrm>
      </p:grpSpPr>
      <p:sp>
        <p:nvSpPr>
          <p:cNvPr id="148" name="Google Shape;148;p7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9" name="Google Shape;149;p7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3"/>
        <p:cNvGrpSpPr/>
        <p:nvPr/>
      </p:nvGrpSpPr>
      <p:grpSpPr>
        <a:xfrm>
          <a:off x="0" y="0"/>
          <a:ext cx="0" cy="0"/>
          <a:chOff x="0" y="0"/>
          <a:chExt cx="0" cy="0"/>
        </a:xfrm>
      </p:grpSpPr>
      <p:sp>
        <p:nvSpPr>
          <p:cNvPr id="154" name="Google Shape;154;p7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5" name="Google Shape;155;p7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5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84"/>
        <p:cNvGrpSpPr/>
        <p:nvPr/>
      </p:nvGrpSpPr>
      <p:grpSpPr>
        <a:xfrm>
          <a:off x="0" y="0"/>
          <a:ext cx="0" cy="0"/>
          <a:chOff x="0" y="0"/>
          <a:chExt cx="0" cy="0"/>
        </a:xfrm>
      </p:grpSpPr>
      <p:sp>
        <p:nvSpPr>
          <p:cNvPr id="85" name="Google Shape;85;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6" name="Google Shape;86;p5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jpeg"/><Relationship Id="rId7"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jpeg"/></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4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p:cNvGrpSpPr/>
        <p:nvPr/>
      </p:nvGrpSpPr>
      <p:grpSpPr>
        <a:xfrm>
          <a:off x="0" y="0"/>
          <a:ext cx="0" cy="0"/>
          <a:chOff x="0" y="0"/>
          <a:chExt cx="0" cy="0"/>
        </a:xfrm>
      </p:grpSpPr>
      <p:sp>
        <p:nvSpPr>
          <p:cNvPr id="163" name="Google Shape;163;p1"/>
          <p:cNvSpPr/>
          <p:nvPr/>
        </p:nvSpPr>
        <p:spPr>
          <a:xfrm>
            <a:off x="3857897" y="3417349"/>
            <a:ext cx="7281158" cy="1833919"/>
          </a:xfrm>
          <a:prstGeom prst="roundRect">
            <a:avLst>
              <a:gd name="adj" fmla="val 13820"/>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l" rtl="0">
              <a:spcBef>
                <a:spcPts val="0"/>
              </a:spcBef>
              <a:spcAft>
                <a:spcPts val="0"/>
              </a:spcAft>
              <a:buNone/>
            </a:pPr>
            <a:endParaRPr sz="2800" b="1" i="0" u="none" strike="noStrike" cap="none">
              <a:solidFill>
                <a:schemeClr val="lt1"/>
              </a:solidFill>
              <a:latin typeface="Arial"/>
              <a:ea typeface="Arial"/>
              <a:cs typeface="Arial"/>
              <a:sym typeface="Arial"/>
            </a:endParaRPr>
          </a:p>
        </p:txBody>
      </p:sp>
      <p:sp>
        <p:nvSpPr>
          <p:cNvPr id="164" name="Google Shape;164;p1"/>
          <p:cNvSpPr txBox="1"/>
          <p:nvPr/>
        </p:nvSpPr>
        <p:spPr>
          <a:xfrm>
            <a:off x="4169525" y="3696022"/>
            <a:ext cx="6757093" cy="139849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1400"/>
              <a:buFont typeface="Arial"/>
              <a:buNone/>
            </a:pPr>
            <a:endParaRPr sz="5000" b="1" i="0" u="none" strike="noStrike" cap="none">
              <a:solidFill>
                <a:srgbClr val="FFFFFF"/>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400"/>
              <a:buFont typeface="Arial"/>
              <a:buNone/>
            </a:pPr>
            <a:r>
              <a:rPr lang="es-ES" sz="5400" b="1" i="0" u="none" strike="noStrike" cap="none">
                <a:solidFill>
                  <a:srgbClr val="FFFFFF"/>
                </a:solidFill>
                <a:latin typeface="Arial"/>
                <a:ea typeface="Arial"/>
                <a:cs typeface="Arial"/>
                <a:sym typeface="Arial"/>
              </a:rPr>
              <a:t>Probabilidad</a:t>
            </a:r>
            <a:endParaRPr sz="5400" b="1" i="0" u="none" strike="noStrike" cap="none">
              <a:solidFill>
                <a:srgbClr val="FFFFFF"/>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400"/>
              <a:buFont typeface="Arial"/>
              <a:buNone/>
            </a:pPr>
            <a:endParaRPr sz="3000" b="1" i="0" u="none" strike="noStrike" cap="none">
              <a:solidFill>
                <a:srgbClr val="FFFFFF"/>
              </a:solidFill>
              <a:latin typeface="Calibri"/>
              <a:ea typeface="Calibri"/>
              <a:cs typeface="Calibri"/>
              <a:sym typeface="Calibri"/>
            </a:endParaRPr>
          </a:p>
        </p:txBody>
      </p:sp>
      <p:sp>
        <p:nvSpPr>
          <p:cNvPr id="166" name="Google Shape;166;p1"/>
          <p:cNvSpPr txBox="1"/>
          <p:nvPr/>
        </p:nvSpPr>
        <p:spPr>
          <a:xfrm>
            <a:off x="4169525" y="2899266"/>
            <a:ext cx="7022779"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u="none" strike="noStrike" cap="none">
                <a:solidFill>
                  <a:srgbClr val="FFFFFF"/>
                </a:solidFill>
                <a:latin typeface="Arial"/>
                <a:ea typeface="Arial"/>
                <a:cs typeface="Arial"/>
                <a:sym typeface="Arial"/>
              </a:rPr>
              <a:t> Inferencia Estadística</a:t>
            </a:r>
            <a:endParaRPr sz="18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5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p:cNvGrpSpPr/>
        <p:nvPr/>
      </p:nvGrpSpPr>
      <p:grpSpPr>
        <a:xfrm>
          <a:off x="0" y="0"/>
          <a:ext cx="0" cy="0"/>
          <a:chOff x="0" y="0"/>
          <a:chExt cx="0" cy="0"/>
        </a:xfrm>
      </p:grpSpPr>
      <p:sp>
        <p:nvSpPr>
          <p:cNvPr id="171" name="Google Shape;171;p2"/>
          <p:cNvSpPr txBox="1"/>
          <p:nvPr/>
        </p:nvSpPr>
        <p:spPr>
          <a:xfrm>
            <a:off x="670313" y="1308262"/>
            <a:ext cx="10654585"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b="0" i="0" u="none" strike="noStrike" cap="none">
                <a:solidFill>
                  <a:srgbClr val="7F7F7F"/>
                </a:solidFill>
                <a:latin typeface="Arial"/>
                <a:ea typeface="Arial"/>
                <a:cs typeface="Arial"/>
                <a:sym typeface="Arial"/>
              </a:rPr>
              <a:t>Objetivos</a:t>
            </a:r>
            <a:endParaRPr/>
          </a:p>
        </p:txBody>
      </p:sp>
      <p:sp>
        <p:nvSpPr>
          <p:cNvPr id="172" name="Google Shape;172;p2"/>
          <p:cNvSpPr/>
          <p:nvPr/>
        </p:nvSpPr>
        <p:spPr>
          <a:xfrm>
            <a:off x="-204507" y="2415807"/>
            <a:ext cx="7636439" cy="2078372"/>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3" name="Google Shape;173;p2"/>
          <p:cNvSpPr txBox="1"/>
          <p:nvPr/>
        </p:nvSpPr>
        <p:spPr>
          <a:xfrm>
            <a:off x="670313" y="2793273"/>
            <a:ext cx="6264110" cy="1323439"/>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rgbClr val="FFFFFF"/>
              </a:buClr>
              <a:buSzPts val="2000"/>
              <a:buFont typeface="Noto Sans Symbols"/>
              <a:buChar char="⮚"/>
            </a:pPr>
            <a:r>
              <a:rPr lang="es-ES" sz="2000" b="0" i="0" u="none" strike="noStrike" cap="none">
                <a:solidFill>
                  <a:srgbClr val="FFFFFF"/>
                </a:solidFill>
                <a:latin typeface="Calibri"/>
                <a:ea typeface="Calibri"/>
                <a:cs typeface="Calibri"/>
                <a:sym typeface="Calibri"/>
              </a:rPr>
              <a:t>Explicar los principales conceptos de probabilidad asociados a un evento aleatorio.</a:t>
            </a:r>
            <a:endParaRPr/>
          </a:p>
          <a:p>
            <a:pPr marL="285750" marR="0" lvl="0" indent="-158750" algn="just" rtl="0">
              <a:spcBef>
                <a:spcPts val="0"/>
              </a:spcBef>
              <a:spcAft>
                <a:spcPts val="0"/>
              </a:spcAft>
              <a:buClr>
                <a:srgbClr val="FFFFFF"/>
              </a:buClr>
              <a:buSzPts val="2000"/>
              <a:buFont typeface="Noto Sans Symbols"/>
              <a:buNone/>
            </a:pPr>
            <a:endParaRPr sz="2000" b="0" i="0" u="none" strike="noStrike" cap="none">
              <a:solidFill>
                <a:schemeClr val="dk1"/>
              </a:solidFill>
              <a:latin typeface="Calibri"/>
              <a:ea typeface="Calibri"/>
              <a:cs typeface="Calibri"/>
              <a:sym typeface="Calibri"/>
            </a:endParaRPr>
          </a:p>
          <a:p>
            <a:pPr marL="285750" marR="0" lvl="0" indent="-285750" algn="just" rtl="0">
              <a:spcBef>
                <a:spcPts val="0"/>
              </a:spcBef>
              <a:spcAft>
                <a:spcPts val="0"/>
              </a:spcAft>
              <a:buClr>
                <a:srgbClr val="FFFFFF"/>
              </a:buClr>
              <a:buSzPts val="2000"/>
              <a:buFont typeface="Noto Sans Symbols"/>
              <a:buChar char="⮚"/>
            </a:pPr>
            <a:r>
              <a:rPr lang="es-ES" sz="2000" b="0" i="0" u="none" strike="noStrike" cap="none">
                <a:solidFill>
                  <a:srgbClr val="FFFFFF"/>
                </a:solidFill>
                <a:latin typeface="Calibri"/>
                <a:ea typeface="Calibri"/>
                <a:cs typeface="Calibri"/>
                <a:sym typeface="Calibri"/>
              </a:rPr>
              <a:t>Realizar cálculos básicos de probabilidad.</a:t>
            </a:r>
            <a:endParaRPr/>
          </a:p>
        </p:txBody>
      </p:sp>
      <p:pic>
        <p:nvPicPr>
          <p:cNvPr id="174" name="Google Shape;174;p2"/>
          <p:cNvPicPr preferRelativeResize="0"/>
          <p:nvPr/>
        </p:nvPicPr>
        <p:blipFill rotWithShape="1">
          <a:blip r:embed="rId4">
            <a:alphaModFix/>
          </a:blip>
          <a:srcRect/>
          <a:stretch/>
        </p:blipFill>
        <p:spPr>
          <a:xfrm>
            <a:off x="8105505" y="1812293"/>
            <a:ext cx="3386542" cy="338654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8"/>
        <p:cNvGrpSpPr/>
        <p:nvPr/>
      </p:nvGrpSpPr>
      <p:grpSpPr>
        <a:xfrm>
          <a:off x="0" y="0"/>
          <a:ext cx="0" cy="0"/>
          <a:chOff x="0" y="0"/>
          <a:chExt cx="0" cy="0"/>
        </a:xfrm>
      </p:grpSpPr>
      <p:sp>
        <p:nvSpPr>
          <p:cNvPr id="179" name="Google Shape;179;p3"/>
          <p:cNvSpPr txBox="1"/>
          <p:nvPr/>
        </p:nvSpPr>
        <p:spPr>
          <a:xfrm>
            <a:off x="1622323" y="1073216"/>
            <a:ext cx="9634794" cy="553984"/>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endParaRPr sz="3200" b="0" i="0" u="none" strike="noStrike" cap="none">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r>
              <a:rPr lang="es-ES" sz="3200" b="0" i="0" u="none" strike="noStrike" cap="none">
                <a:solidFill>
                  <a:srgbClr val="7F7F7F"/>
                </a:solidFill>
                <a:latin typeface="Arial"/>
                <a:ea typeface="Arial"/>
                <a:cs typeface="Arial"/>
                <a:sym typeface="Arial"/>
              </a:rPr>
              <a:t>Contenido</a:t>
            </a:r>
            <a:endParaRPr sz="3200" b="0" i="0" u="none" strike="noStrike" cap="none">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endParaRPr sz="3200" b="0" i="0" u="none" strike="noStrike" cap="none">
              <a:solidFill>
                <a:srgbClr val="7F7F7F"/>
              </a:solidFill>
              <a:latin typeface="Arial"/>
              <a:ea typeface="Arial"/>
              <a:cs typeface="Arial"/>
              <a:sym typeface="Arial"/>
            </a:endParaRPr>
          </a:p>
        </p:txBody>
      </p:sp>
      <p:sp>
        <p:nvSpPr>
          <p:cNvPr id="180" name="Google Shape;180;p3"/>
          <p:cNvSpPr/>
          <p:nvPr/>
        </p:nvSpPr>
        <p:spPr>
          <a:xfrm>
            <a:off x="-109878" y="1810930"/>
            <a:ext cx="6726988" cy="3567706"/>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1" name="Google Shape;181;p3"/>
          <p:cNvSpPr txBox="1"/>
          <p:nvPr/>
        </p:nvSpPr>
        <p:spPr>
          <a:xfrm>
            <a:off x="1140543" y="2306957"/>
            <a:ext cx="4493342" cy="2400657"/>
          </a:xfrm>
          <a:prstGeom prst="rect">
            <a:avLst/>
          </a:prstGeom>
          <a:noFill/>
          <a:ln>
            <a:noFill/>
          </a:ln>
        </p:spPr>
        <p:txBody>
          <a:bodyPr spcFirstLastPara="1" wrap="square" lIns="91425" tIns="45700" rIns="91425" bIns="45700" anchor="t" anchorCtr="0">
            <a:spAutoFit/>
          </a:bodyPr>
          <a:lstStyle/>
          <a:p>
            <a:pPr marL="800100" marR="0" lvl="1" indent="-342900" algn="just" rtl="0">
              <a:lnSpc>
                <a:spcPct val="150000"/>
              </a:lnSpc>
              <a:spcBef>
                <a:spcPts val="0"/>
              </a:spcBef>
              <a:spcAft>
                <a:spcPts val="0"/>
              </a:spcAft>
              <a:buClr>
                <a:srgbClr val="FFFFFF"/>
              </a:buClr>
              <a:buSzPts val="2000"/>
              <a:buFont typeface="Noto Sans Symbols"/>
              <a:buChar char="⮚"/>
            </a:pPr>
            <a:r>
              <a:rPr lang="es-ES" sz="2000" b="0" i="0" u="none" strike="noStrike" cap="none">
                <a:solidFill>
                  <a:srgbClr val="FFFFFF"/>
                </a:solidFill>
                <a:latin typeface="Calibri"/>
                <a:ea typeface="Calibri"/>
                <a:cs typeface="Calibri"/>
                <a:sym typeface="Calibri"/>
              </a:rPr>
              <a:t>Probabilidad.</a:t>
            </a:r>
            <a:endParaRPr sz="2000" b="0" i="0" u="none" strike="noStrike" cap="none">
              <a:solidFill>
                <a:schemeClr val="dk1"/>
              </a:solidFill>
              <a:latin typeface="Calibri"/>
              <a:ea typeface="Calibri"/>
              <a:cs typeface="Calibri"/>
              <a:sym typeface="Calibri"/>
            </a:endParaRPr>
          </a:p>
          <a:p>
            <a:pPr marL="800100" marR="0" lvl="1" indent="-342900" algn="just" rtl="0">
              <a:lnSpc>
                <a:spcPct val="150000"/>
              </a:lnSpc>
              <a:spcBef>
                <a:spcPts val="0"/>
              </a:spcBef>
              <a:spcAft>
                <a:spcPts val="0"/>
              </a:spcAft>
              <a:buClr>
                <a:srgbClr val="FFFFFF"/>
              </a:buClr>
              <a:buSzPts val="2000"/>
              <a:buFont typeface="Noto Sans Symbols"/>
              <a:buChar char="⮚"/>
            </a:pPr>
            <a:r>
              <a:rPr lang="es-ES" sz="2000" b="0" i="0" u="none" strike="noStrike" cap="none">
                <a:solidFill>
                  <a:srgbClr val="FFFFFF"/>
                </a:solidFill>
                <a:latin typeface="Calibri"/>
                <a:ea typeface="Calibri"/>
                <a:cs typeface="Calibri"/>
                <a:sym typeface="Calibri"/>
              </a:rPr>
              <a:t>Suceso y Espacio Muestral.</a:t>
            </a:r>
            <a:endParaRPr sz="2000" b="0" i="0" u="none" strike="noStrike" cap="none">
              <a:solidFill>
                <a:schemeClr val="dk1"/>
              </a:solidFill>
              <a:latin typeface="Calibri"/>
              <a:ea typeface="Calibri"/>
              <a:cs typeface="Calibri"/>
              <a:sym typeface="Calibri"/>
            </a:endParaRPr>
          </a:p>
          <a:p>
            <a:pPr marL="800100" marR="0" lvl="1" indent="-342900" algn="just" rtl="0">
              <a:lnSpc>
                <a:spcPct val="150000"/>
              </a:lnSpc>
              <a:spcBef>
                <a:spcPts val="0"/>
              </a:spcBef>
              <a:spcAft>
                <a:spcPts val="0"/>
              </a:spcAft>
              <a:buClr>
                <a:srgbClr val="FFFFFF"/>
              </a:buClr>
              <a:buSzPts val="2000"/>
              <a:buFont typeface="Noto Sans Symbols"/>
              <a:buChar char="⮚"/>
            </a:pPr>
            <a:r>
              <a:rPr lang="es-ES" sz="2000" b="0" i="0" u="none" strike="noStrike" cap="none">
                <a:solidFill>
                  <a:srgbClr val="FFFFFF"/>
                </a:solidFill>
                <a:latin typeface="Calibri"/>
                <a:ea typeface="Calibri"/>
                <a:cs typeface="Calibri"/>
                <a:sym typeface="Calibri"/>
              </a:rPr>
              <a:t>Reglas aditivas y multiplicativas.</a:t>
            </a:r>
            <a:endParaRPr sz="2000" b="0" i="0" u="none" strike="noStrike" cap="none">
              <a:solidFill>
                <a:schemeClr val="dk1"/>
              </a:solidFill>
              <a:latin typeface="Calibri"/>
              <a:ea typeface="Calibri"/>
              <a:cs typeface="Calibri"/>
              <a:sym typeface="Calibri"/>
            </a:endParaRPr>
          </a:p>
          <a:p>
            <a:pPr marL="800100" marR="0" lvl="1" indent="-342900" algn="just" rtl="0">
              <a:lnSpc>
                <a:spcPct val="150000"/>
              </a:lnSpc>
              <a:spcBef>
                <a:spcPts val="0"/>
              </a:spcBef>
              <a:spcAft>
                <a:spcPts val="0"/>
              </a:spcAft>
              <a:buClr>
                <a:srgbClr val="FFFFFF"/>
              </a:buClr>
              <a:buSzPts val="2000"/>
              <a:buFont typeface="Noto Sans Symbols"/>
              <a:buChar char="⮚"/>
            </a:pPr>
            <a:r>
              <a:rPr lang="es-ES" sz="2000" b="0" i="0" u="none" strike="noStrike" cap="none">
                <a:solidFill>
                  <a:srgbClr val="FFFFFF"/>
                </a:solidFill>
                <a:latin typeface="Calibri"/>
                <a:ea typeface="Calibri"/>
                <a:cs typeface="Calibri"/>
                <a:sym typeface="Calibri"/>
              </a:rPr>
              <a:t>Probabilidad Condicionada.</a:t>
            </a:r>
            <a:endParaRPr sz="2000" b="0" i="0" u="none" strike="noStrike" cap="none">
              <a:solidFill>
                <a:schemeClr val="dk1"/>
              </a:solidFill>
              <a:latin typeface="Calibri"/>
              <a:ea typeface="Calibri"/>
              <a:cs typeface="Calibri"/>
              <a:sym typeface="Calibri"/>
            </a:endParaRPr>
          </a:p>
          <a:p>
            <a:pPr marL="800100" marR="0" lvl="1" indent="-342900" algn="just" rtl="0">
              <a:lnSpc>
                <a:spcPct val="150000"/>
              </a:lnSpc>
              <a:spcBef>
                <a:spcPts val="0"/>
              </a:spcBef>
              <a:spcAft>
                <a:spcPts val="0"/>
              </a:spcAft>
              <a:buClr>
                <a:srgbClr val="FFFFFF"/>
              </a:buClr>
              <a:buSzPts val="2000"/>
              <a:buFont typeface="Noto Sans Symbols"/>
              <a:buChar char="⮚"/>
            </a:pPr>
            <a:r>
              <a:rPr lang="es-ES" sz="2000" b="0" i="0" u="none" strike="noStrike" cap="none">
                <a:solidFill>
                  <a:srgbClr val="FFFFFF"/>
                </a:solidFill>
                <a:latin typeface="Calibri"/>
                <a:ea typeface="Calibri"/>
                <a:cs typeface="Calibri"/>
                <a:sym typeface="Calibri"/>
              </a:rPr>
              <a:t>Árboles de Probabilidad.</a:t>
            </a:r>
            <a:endParaRPr sz="1200" b="0" i="0" u="none" strike="noStrike" cap="none">
              <a:solidFill>
                <a:schemeClr val="dk1"/>
              </a:solidFill>
              <a:latin typeface="Calibri"/>
              <a:ea typeface="Calibri"/>
              <a:cs typeface="Calibri"/>
              <a:sym typeface="Calibri"/>
            </a:endParaRPr>
          </a:p>
        </p:txBody>
      </p:sp>
      <p:pic>
        <p:nvPicPr>
          <p:cNvPr id="182" name="Google Shape;182;p3"/>
          <p:cNvPicPr preferRelativeResize="0"/>
          <p:nvPr/>
        </p:nvPicPr>
        <p:blipFill rotWithShape="1">
          <a:blip r:embed="rId4">
            <a:alphaModFix/>
          </a:blip>
          <a:srcRect/>
          <a:stretch/>
        </p:blipFill>
        <p:spPr>
          <a:xfrm>
            <a:off x="7449261" y="1827640"/>
            <a:ext cx="3567706" cy="356770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6"/>
        <p:cNvGrpSpPr/>
        <p:nvPr/>
      </p:nvGrpSpPr>
      <p:grpSpPr>
        <a:xfrm>
          <a:off x="0" y="0"/>
          <a:ext cx="0" cy="0"/>
          <a:chOff x="0" y="0"/>
          <a:chExt cx="0" cy="0"/>
        </a:xfrm>
      </p:grpSpPr>
      <p:sp>
        <p:nvSpPr>
          <p:cNvPr id="187" name="Google Shape;187;p4"/>
          <p:cNvSpPr/>
          <p:nvPr/>
        </p:nvSpPr>
        <p:spPr>
          <a:xfrm>
            <a:off x="1007911" y="1387815"/>
            <a:ext cx="9919102" cy="4107360"/>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8" name="Google Shape;188;p4"/>
          <p:cNvSpPr/>
          <p:nvPr/>
        </p:nvSpPr>
        <p:spPr>
          <a:xfrm>
            <a:off x="7682722" y="1437693"/>
            <a:ext cx="3180056" cy="3982614"/>
          </a:xfrm>
          <a:prstGeom prst="roundRect">
            <a:avLst>
              <a:gd name="adj" fmla="val 4466"/>
            </a:avLst>
          </a:prstGeom>
          <a:solidFill>
            <a:schemeClr val="lt1"/>
          </a:solidFill>
          <a:ln w="28575"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9" name="Google Shape;189;p4"/>
          <p:cNvSpPr txBox="1"/>
          <p:nvPr/>
        </p:nvSpPr>
        <p:spPr>
          <a:xfrm>
            <a:off x="1353777" y="429630"/>
            <a:ext cx="922737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b="0" i="0" u="none" strike="noStrike" cap="none">
                <a:solidFill>
                  <a:srgbClr val="7F7F7F"/>
                </a:solidFill>
                <a:latin typeface="Arial"/>
                <a:ea typeface="Arial"/>
                <a:cs typeface="Arial"/>
                <a:sym typeface="Arial"/>
              </a:rPr>
              <a:t>¿Qué significa Probabilidad?</a:t>
            </a:r>
            <a:endParaRPr/>
          </a:p>
        </p:txBody>
      </p:sp>
      <p:sp>
        <p:nvSpPr>
          <p:cNvPr id="190" name="Google Shape;190;p4"/>
          <p:cNvSpPr/>
          <p:nvPr/>
        </p:nvSpPr>
        <p:spPr>
          <a:xfrm>
            <a:off x="1944162" y="1997838"/>
            <a:ext cx="4984673"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0" i="0" u="none" strike="noStrike" cap="none">
                <a:solidFill>
                  <a:schemeClr val="lt1"/>
                </a:solidFill>
                <a:latin typeface="Calibri"/>
                <a:ea typeface="Calibri"/>
                <a:cs typeface="Calibri"/>
                <a:sym typeface="Calibri"/>
              </a:rPr>
              <a:t>La probabilidad es una medida numérica que se utiliza para cuantificar la posibilidad o chance de que un evento o suceso ocurra en una situación determinada. En otras palabras, es la medida de la certidumbre o incertidumbre de que algo suceda.</a:t>
            </a:r>
            <a:endParaRPr/>
          </a:p>
          <a:p>
            <a:pPr marL="0" marR="0" lvl="0" indent="0" algn="just" rtl="0">
              <a:spcBef>
                <a:spcPts val="0"/>
              </a:spcBef>
              <a:spcAft>
                <a:spcPts val="0"/>
              </a:spcAft>
              <a:buNone/>
            </a:pPr>
            <a:endParaRPr sz="1800" b="0" i="0" u="none" strike="noStrike" cap="none">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0" i="0" u="none" strike="noStrike" cap="none">
                <a:solidFill>
                  <a:schemeClr val="lt1"/>
                </a:solidFill>
                <a:latin typeface="Calibri"/>
                <a:ea typeface="Calibri"/>
                <a:cs typeface="Calibri"/>
                <a:sym typeface="Calibri"/>
              </a:rPr>
              <a:t>Por ejemplo, si la probabilidad de que llueva mañana es 0.5, entonces esto significa que hay una chance del 50% de que llueva y una chance del 50% de que no llueva.c</a:t>
            </a:r>
            <a:endParaRPr sz="1800" b="0" i="0" u="none" strike="noStrike" cap="none">
              <a:solidFill>
                <a:schemeClr val="lt1"/>
              </a:solidFill>
              <a:latin typeface="Calibri"/>
              <a:ea typeface="Calibri"/>
              <a:cs typeface="Calibri"/>
              <a:sym typeface="Calibri"/>
            </a:endParaRPr>
          </a:p>
        </p:txBody>
      </p:sp>
      <p:pic>
        <p:nvPicPr>
          <p:cNvPr id="191" name="Google Shape;191;p4"/>
          <p:cNvPicPr preferRelativeResize="0"/>
          <p:nvPr/>
        </p:nvPicPr>
        <p:blipFill rotWithShape="1">
          <a:blip r:embed="rId4">
            <a:alphaModFix/>
          </a:blip>
          <a:srcRect/>
          <a:stretch/>
        </p:blipFill>
        <p:spPr>
          <a:xfrm>
            <a:off x="1450074" y="1997838"/>
            <a:ext cx="335654" cy="335654"/>
          </a:xfrm>
          <a:prstGeom prst="rect">
            <a:avLst/>
          </a:prstGeom>
          <a:noFill/>
          <a:ln>
            <a:noFill/>
          </a:ln>
        </p:spPr>
      </p:pic>
      <p:pic>
        <p:nvPicPr>
          <p:cNvPr id="192" name="Google Shape;192;p4"/>
          <p:cNvPicPr preferRelativeResize="0"/>
          <p:nvPr/>
        </p:nvPicPr>
        <p:blipFill rotWithShape="1">
          <a:blip r:embed="rId4">
            <a:alphaModFix/>
          </a:blip>
          <a:srcRect/>
          <a:stretch/>
        </p:blipFill>
        <p:spPr>
          <a:xfrm>
            <a:off x="1441864" y="3653618"/>
            <a:ext cx="335654" cy="335654"/>
          </a:xfrm>
          <a:prstGeom prst="rect">
            <a:avLst/>
          </a:prstGeom>
          <a:noFill/>
          <a:ln>
            <a:noFill/>
          </a:ln>
        </p:spPr>
      </p:pic>
      <p:pic>
        <p:nvPicPr>
          <p:cNvPr id="193" name="Google Shape;193;p4"/>
          <p:cNvPicPr preferRelativeResize="0"/>
          <p:nvPr/>
        </p:nvPicPr>
        <p:blipFill rotWithShape="1">
          <a:blip r:embed="rId5">
            <a:alphaModFix/>
          </a:blip>
          <a:srcRect/>
          <a:stretch/>
        </p:blipFill>
        <p:spPr>
          <a:xfrm>
            <a:off x="7854776" y="1538368"/>
            <a:ext cx="2835947" cy="378126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9"/>
                                        </p:tgtEl>
                                        <p:attrNameLst>
                                          <p:attrName>style.visibility</p:attrName>
                                        </p:attrNameLst>
                                      </p:cBhvr>
                                      <p:to>
                                        <p:strVal val="visible"/>
                                      </p:to>
                                    </p:set>
                                    <p:animEffect transition="in" filter="fade">
                                      <p:cBhvr>
                                        <p:cTn id="7" dur="500"/>
                                        <p:tgtEl>
                                          <p:spTgt spid="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7"/>
        <p:cNvGrpSpPr/>
        <p:nvPr/>
      </p:nvGrpSpPr>
      <p:grpSpPr>
        <a:xfrm>
          <a:off x="0" y="0"/>
          <a:ext cx="0" cy="0"/>
          <a:chOff x="0" y="0"/>
          <a:chExt cx="0" cy="0"/>
        </a:xfrm>
      </p:grpSpPr>
      <p:sp>
        <p:nvSpPr>
          <p:cNvPr id="198" name="Google Shape;198;p5"/>
          <p:cNvSpPr/>
          <p:nvPr/>
        </p:nvSpPr>
        <p:spPr>
          <a:xfrm>
            <a:off x="1713792" y="1854437"/>
            <a:ext cx="8925722" cy="3623418"/>
          </a:xfrm>
          <a:prstGeom prst="roundRect">
            <a:avLst>
              <a:gd name="adj" fmla="val 4466"/>
            </a:avLst>
          </a:prstGeom>
          <a:solidFill>
            <a:schemeClr val="lt1"/>
          </a:solidFill>
          <a:ln w="28575"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9" name="Google Shape;199;p5"/>
          <p:cNvSpPr txBox="1"/>
          <p:nvPr/>
        </p:nvSpPr>
        <p:spPr>
          <a:xfrm>
            <a:off x="1713792" y="846375"/>
            <a:ext cx="9003369"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b="0" i="0" u="none" strike="noStrike" cap="none">
                <a:solidFill>
                  <a:srgbClr val="7F7F7F"/>
                </a:solidFill>
                <a:latin typeface="Arial"/>
                <a:ea typeface="Arial"/>
                <a:cs typeface="Arial"/>
                <a:sym typeface="Arial"/>
              </a:rPr>
              <a:t>¿Qué significa Probabilidad?</a:t>
            </a:r>
            <a:endParaRPr/>
          </a:p>
        </p:txBody>
      </p:sp>
      <p:grpSp>
        <p:nvGrpSpPr>
          <p:cNvPr id="11" name="Grupo 10">
            <a:extLst>
              <a:ext uri="{FF2B5EF4-FFF2-40B4-BE49-F238E27FC236}">
                <a16:creationId xmlns:a16="http://schemas.microsoft.com/office/drawing/2014/main" id="{D8E76A66-3022-C11C-5153-F53C47E425A6}"/>
              </a:ext>
            </a:extLst>
          </p:cNvPr>
          <p:cNvGrpSpPr/>
          <p:nvPr/>
        </p:nvGrpSpPr>
        <p:grpSpPr>
          <a:xfrm>
            <a:off x="2383972" y="2242320"/>
            <a:ext cx="7707084" cy="2814995"/>
            <a:chOff x="2383972" y="2242320"/>
            <a:chExt cx="7707084" cy="2814995"/>
          </a:xfrm>
        </p:grpSpPr>
        <p:pic>
          <p:nvPicPr>
            <p:cNvPr id="200" name="Google Shape;200;p5"/>
            <p:cNvPicPr preferRelativeResize="0"/>
            <p:nvPr/>
          </p:nvPicPr>
          <p:blipFill rotWithShape="1">
            <a:blip r:embed="rId4">
              <a:alphaModFix/>
            </a:blip>
            <a:srcRect/>
            <a:stretch/>
          </p:blipFill>
          <p:spPr>
            <a:xfrm>
              <a:off x="2563981" y="2242320"/>
              <a:ext cx="7149144" cy="2814995"/>
            </a:xfrm>
            <a:prstGeom prst="rect">
              <a:avLst/>
            </a:prstGeom>
            <a:noFill/>
            <a:ln>
              <a:noFill/>
            </a:ln>
          </p:spPr>
        </p:pic>
        <p:sp>
          <p:nvSpPr>
            <p:cNvPr id="3" name="Rectángulo 2">
              <a:extLst>
                <a:ext uri="{FF2B5EF4-FFF2-40B4-BE49-F238E27FC236}">
                  <a16:creationId xmlns:a16="http://schemas.microsoft.com/office/drawing/2014/main" id="{92F2EB97-81C8-D903-8615-1D0616BBDCE6}"/>
                </a:ext>
              </a:extLst>
            </p:cNvPr>
            <p:cNvSpPr/>
            <p:nvPr/>
          </p:nvSpPr>
          <p:spPr>
            <a:xfrm>
              <a:off x="2558142" y="3091542"/>
              <a:ext cx="7162800" cy="2503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37851785-C214-263B-4EC5-95E1D4F4ED21}"/>
                </a:ext>
              </a:extLst>
            </p:cNvPr>
            <p:cNvSpPr txBox="1"/>
            <p:nvPr/>
          </p:nvSpPr>
          <p:spPr>
            <a:xfrm>
              <a:off x="2383972" y="3015342"/>
              <a:ext cx="164374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2000">
                  <a:solidFill>
                    <a:srgbClr val="C00000"/>
                  </a:solidFill>
                  <a:latin typeface="Calibri"/>
                  <a:cs typeface="Calibri"/>
                </a:rPr>
                <a:t>Imposible</a:t>
              </a:r>
            </a:p>
          </p:txBody>
        </p:sp>
        <p:sp>
          <p:nvSpPr>
            <p:cNvPr id="4" name="CuadroTexto 3">
              <a:extLst>
                <a:ext uri="{FF2B5EF4-FFF2-40B4-BE49-F238E27FC236}">
                  <a16:creationId xmlns:a16="http://schemas.microsoft.com/office/drawing/2014/main" id="{5FAA4905-684B-D5EC-CD91-A8C67C92BE29}"/>
                </a:ext>
              </a:extLst>
            </p:cNvPr>
            <p:cNvSpPr txBox="1"/>
            <p:nvPr/>
          </p:nvSpPr>
          <p:spPr>
            <a:xfrm>
              <a:off x="3690257" y="2862941"/>
              <a:ext cx="164374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2000">
                  <a:solidFill>
                    <a:srgbClr val="B41237"/>
                  </a:solidFill>
                  <a:latin typeface="Calibri"/>
                  <a:cs typeface="Calibri"/>
                </a:rPr>
                <a:t>Poco probable</a:t>
              </a:r>
            </a:p>
          </p:txBody>
        </p:sp>
        <p:sp>
          <p:nvSpPr>
            <p:cNvPr id="5" name="CuadroTexto 4">
              <a:extLst>
                <a:ext uri="{FF2B5EF4-FFF2-40B4-BE49-F238E27FC236}">
                  <a16:creationId xmlns:a16="http://schemas.microsoft.com/office/drawing/2014/main" id="{FE06A193-B17E-FA1F-B84D-42532C7485FA}"/>
                </a:ext>
              </a:extLst>
            </p:cNvPr>
            <p:cNvSpPr txBox="1"/>
            <p:nvPr/>
          </p:nvSpPr>
          <p:spPr>
            <a:xfrm>
              <a:off x="8447314" y="3015341"/>
              <a:ext cx="164374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2000">
                  <a:solidFill>
                    <a:srgbClr val="3D2FF8"/>
                  </a:solidFill>
                  <a:latin typeface="Calibri"/>
                  <a:cs typeface="Calibri"/>
                </a:rPr>
                <a:t>Certeza</a:t>
              </a:r>
            </a:p>
          </p:txBody>
        </p:sp>
        <p:sp>
          <p:nvSpPr>
            <p:cNvPr id="6" name="CuadroTexto 5">
              <a:extLst>
                <a:ext uri="{FF2B5EF4-FFF2-40B4-BE49-F238E27FC236}">
                  <a16:creationId xmlns:a16="http://schemas.microsoft.com/office/drawing/2014/main" id="{6F6E589A-8B39-0765-5ABB-3432684E91E0}"/>
                </a:ext>
              </a:extLst>
            </p:cNvPr>
            <p:cNvSpPr txBox="1"/>
            <p:nvPr/>
          </p:nvSpPr>
          <p:spPr>
            <a:xfrm>
              <a:off x="7271657" y="2862941"/>
              <a:ext cx="149134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2000">
                  <a:solidFill>
                    <a:srgbClr val="5A2BAD"/>
                  </a:solidFill>
                  <a:latin typeface="Calibri"/>
                  <a:cs typeface="Calibri"/>
                </a:rPr>
                <a:t>Muy probable</a:t>
              </a:r>
            </a:p>
          </p:txBody>
        </p:sp>
        <p:sp>
          <p:nvSpPr>
            <p:cNvPr id="7" name="CuadroTexto 6">
              <a:extLst>
                <a:ext uri="{FF2B5EF4-FFF2-40B4-BE49-F238E27FC236}">
                  <a16:creationId xmlns:a16="http://schemas.microsoft.com/office/drawing/2014/main" id="{988C63B6-F74C-3917-FBF9-59F5CBAD7D6D}"/>
                </a:ext>
              </a:extLst>
            </p:cNvPr>
            <p:cNvSpPr txBox="1"/>
            <p:nvPr/>
          </p:nvSpPr>
          <p:spPr>
            <a:xfrm>
              <a:off x="5399315" y="3026227"/>
              <a:ext cx="164374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2000">
                  <a:solidFill>
                    <a:srgbClr val="98107C"/>
                  </a:solidFill>
                  <a:latin typeface="Calibri"/>
                  <a:cs typeface="Calibri"/>
                </a:rPr>
                <a:t>Igual chance</a:t>
              </a:r>
            </a:p>
          </p:txBody>
        </p:sp>
      </p:grpSp>
      <p:sp>
        <p:nvSpPr>
          <p:cNvPr id="8" name="Rectángulo 7">
            <a:extLst>
              <a:ext uri="{FF2B5EF4-FFF2-40B4-BE49-F238E27FC236}">
                <a16:creationId xmlns:a16="http://schemas.microsoft.com/office/drawing/2014/main" id="{6B208BD7-6347-5C24-AFC0-09F50779F090}"/>
              </a:ext>
            </a:extLst>
          </p:cNvPr>
          <p:cNvSpPr/>
          <p:nvPr/>
        </p:nvSpPr>
        <p:spPr>
          <a:xfrm>
            <a:off x="3156857" y="4855029"/>
            <a:ext cx="6161314" cy="2721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28B288B3-D1AD-7899-74A6-84D50CED5B21}"/>
              </a:ext>
            </a:extLst>
          </p:cNvPr>
          <p:cNvSpPr txBox="1"/>
          <p:nvPr/>
        </p:nvSpPr>
        <p:spPr>
          <a:xfrm>
            <a:off x="2743200" y="4778826"/>
            <a:ext cx="25907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2000">
                <a:solidFill>
                  <a:srgbClr val="B41237"/>
                </a:solidFill>
                <a:latin typeface="Calibri"/>
                <a:cs typeface="Calibri"/>
              </a:rPr>
              <a:t>1 de 6 de chance</a:t>
            </a:r>
          </a:p>
        </p:txBody>
      </p:sp>
      <p:sp>
        <p:nvSpPr>
          <p:cNvPr id="10" name="CuadroTexto 9">
            <a:extLst>
              <a:ext uri="{FF2B5EF4-FFF2-40B4-BE49-F238E27FC236}">
                <a16:creationId xmlns:a16="http://schemas.microsoft.com/office/drawing/2014/main" id="{05DD7C12-97FA-4778-FCA1-32B35C0AA07C}"/>
              </a:ext>
            </a:extLst>
          </p:cNvPr>
          <p:cNvSpPr txBox="1"/>
          <p:nvPr/>
        </p:nvSpPr>
        <p:spPr>
          <a:xfrm>
            <a:off x="6890657" y="4789711"/>
            <a:ext cx="25907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2000">
                <a:solidFill>
                  <a:srgbClr val="B41237"/>
                </a:solidFill>
                <a:latin typeface="Calibri"/>
                <a:cs typeface="Calibri"/>
              </a:rPr>
              <a:t>4 de 5 de chance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fade">
                                      <p:cBhvr>
                                        <p:cTn id="7" dur="5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4"/>
        <p:cNvGrpSpPr/>
        <p:nvPr/>
      </p:nvGrpSpPr>
      <p:grpSpPr>
        <a:xfrm>
          <a:off x="0" y="0"/>
          <a:ext cx="0" cy="0"/>
          <a:chOff x="0" y="0"/>
          <a:chExt cx="0" cy="0"/>
        </a:xfrm>
      </p:grpSpPr>
      <p:sp>
        <p:nvSpPr>
          <p:cNvPr id="205" name="Google Shape;205;p6"/>
          <p:cNvSpPr/>
          <p:nvPr/>
        </p:nvSpPr>
        <p:spPr>
          <a:xfrm>
            <a:off x="-507610" y="1730455"/>
            <a:ext cx="11000386" cy="3443621"/>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6" name="Google Shape;206;p6"/>
          <p:cNvSpPr txBox="1"/>
          <p:nvPr/>
        </p:nvSpPr>
        <p:spPr>
          <a:xfrm>
            <a:off x="616621" y="722393"/>
            <a:ext cx="10552804"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b="0" i="0" u="none" strike="noStrike" cap="none">
                <a:solidFill>
                  <a:srgbClr val="7F7F7F"/>
                </a:solidFill>
                <a:latin typeface="Arial"/>
                <a:ea typeface="Arial"/>
                <a:cs typeface="Arial"/>
                <a:sym typeface="Arial"/>
              </a:rPr>
              <a:t>¿Qué significa Probabilidad?</a:t>
            </a:r>
            <a:endParaRPr/>
          </a:p>
        </p:txBody>
      </p:sp>
      <p:sp>
        <p:nvSpPr>
          <p:cNvPr id="207" name="Google Shape;207;p6"/>
          <p:cNvSpPr/>
          <p:nvPr/>
        </p:nvSpPr>
        <p:spPr>
          <a:xfrm>
            <a:off x="1205365" y="2047172"/>
            <a:ext cx="8823169" cy="258532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0" i="0" u="none" strike="noStrike" cap="none">
                <a:solidFill>
                  <a:schemeClr val="lt1"/>
                </a:solidFill>
                <a:latin typeface="Calibri"/>
                <a:ea typeface="Calibri"/>
                <a:cs typeface="Calibri"/>
                <a:sym typeface="Calibri"/>
              </a:rPr>
              <a:t>La Teoría de Probabilidades, es una rama de las matemáticas que se ocupa del estudio de los fenómenos aleatorios y la cuantificación de la incertidumbre asociada a ellos. La teoría de probabilidades se utiliza para modelar y analizar situaciones en las que el resultado es incierto o aleatorio.</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La teoría de probabilidades tiene muchas aplicaciones en diversos campos, como la estadística, la física, la ingeniería, la economía, la informática, entre otros. Se utiliza para hacer predicciones y tomar decisiones en situaciones inciertas, como en la evaluación de riesgos, el diseño de experimentos, la optimización de procesos, entre otros.</a:t>
            </a:r>
            <a:endParaRPr/>
          </a:p>
        </p:txBody>
      </p:sp>
      <p:pic>
        <p:nvPicPr>
          <p:cNvPr id="208" name="Google Shape;208;p6"/>
          <p:cNvPicPr preferRelativeResize="0"/>
          <p:nvPr/>
        </p:nvPicPr>
        <p:blipFill rotWithShape="1">
          <a:blip r:embed="rId4">
            <a:alphaModFix/>
          </a:blip>
          <a:srcRect/>
          <a:stretch/>
        </p:blipFill>
        <p:spPr>
          <a:xfrm>
            <a:off x="626454" y="2139451"/>
            <a:ext cx="410183" cy="410183"/>
          </a:xfrm>
          <a:prstGeom prst="rect">
            <a:avLst/>
          </a:prstGeom>
          <a:noFill/>
          <a:ln>
            <a:noFill/>
          </a:ln>
        </p:spPr>
      </p:pic>
      <p:pic>
        <p:nvPicPr>
          <p:cNvPr id="209" name="Google Shape;209;p6"/>
          <p:cNvPicPr preferRelativeResize="0"/>
          <p:nvPr/>
        </p:nvPicPr>
        <p:blipFill rotWithShape="1">
          <a:blip r:embed="rId4">
            <a:alphaModFix/>
          </a:blip>
          <a:srcRect/>
          <a:stretch/>
        </p:blipFill>
        <p:spPr>
          <a:xfrm>
            <a:off x="626454" y="3492893"/>
            <a:ext cx="410183" cy="41018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3"/>
        <p:cNvGrpSpPr/>
        <p:nvPr/>
      </p:nvGrpSpPr>
      <p:grpSpPr>
        <a:xfrm>
          <a:off x="0" y="0"/>
          <a:ext cx="0" cy="0"/>
          <a:chOff x="0" y="0"/>
          <a:chExt cx="0" cy="0"/>
        </a:xfrm>
      </p:grpSpPr>
      <p:sp>
        <p:nvSpPr>
          <p:cNvPr id="214" name="Google Shape;214;p7"/>
          <p:cNvSpPr/>
          <p:nvPr/>
        </p:nvSpPr>
        <p:spPr>
          <a:xfrm>
            <a:off x="1722150" y="2014300"/>
            <a:ext cx="8060400" cy="2625600"/>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 name="Google Shape;215;p7"/>
          <p:cNvSpPr txBox="1"/>
          <p:nvPr/>
        </p:nvSpPr>
        <p:spPr>
          <a:xfrm>
            <a:off x="2192316" y="1130990"/>
            <a:ext cx="10552800" cy="1008000"/>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a:solidFill>
                  <a:srgbClr val="7F7F7F"/>
                </a:solidFill>
                <a:latin typeface="Arial"/>
                <a:ea typeface="Arial"/>
                <a:cs typeface="Arial"/>
                <a:sym typeface="Arial"/>
              </a:rPr>
              <a:t>Definición Probabilidad</a:t>
            </a:r>
            <a:endParaRPr sz="3200">
              <a:solidFill>
                <a:srgbClr val="7F7F7F"/>
              </a:solidFill>
              <a:latin typeface="Arial"/>
              <a:ea typeface="Arial"/>
              <a:cs typeface="Arial"/>
              <a:sym typeface="Arial"/>
            </a:endParaRPr>
          </a:p>
        </p:txBody>
      </p:sp>
      <p:sp>
        <p:nvSpPr>
          <p:cNvPr id="216" name="Google Shape;216;p7"/>
          <p:cNvSpPr txBox="1"/>
          <p:nvPr/>
        </p:nvSpPr>
        <p:spPr>
          <a:xfrm>
            <a:off x="2319687" y="2263799"/>
            <a:ext cx="6753000" cy="2062200"/>
          </a:xfrm>
          <a:prstGeom prst="rect">
            <a:avLst/>
          </a:prstGeom>
          <a:blipFill rotWithShape="1">
            <a:blip r:embed="rId4">
              <a:alphaModFix/>
            </a:blip>
            <a:stretch>
              <a:fillRect t="-1478" r="-72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solidFill>
                  <a:srgbClr val="FFFFFF"/>
                </a:solidFill>
                <a:latin typeface="Calibri"/>
                <a:ea typeface="Calibri"/>
                <a:cs typeface="Calibri"/>
                <a:sym typeface="Calibri"/>
              </a:rPr>
              <a:t> </a:t>
            </a:r>
            <a:endParaRPr>
              <a:solidFill>
                <a:srgbClr val="FFFFFF"/>
              </a:solidFill>
            </a:endParaRPr>
          </a:p>
        </p:txBody>
      </p:sp>
      <p:pic>
        <p:nvPicPr>
          <p:cNvPr id="217" name="Google Shape;217;p7"/>
          <p:cNvPicPr preferRelativeResize="0"/>
          <p:nvPr/>
        </p:nvPicPr>
        <p:blipFill rotWithShape="1">
          <a:blip r:embed="rId5">
            <a:alphaModFix/>
          </a:blip>
          <a:srcRect/>
          <a:stretch/>
        </p:blipFill>
        <p:spPr>
          <a:xfrm>
            <a:off x="2245741" y="2351748"/>
            <a:ext cx="252000" cy="252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5"/>
                                        </p:tgtEl>
                                        <p:attrNameLst>
                                          <p:attrName>style.visibility</p:attrName>
                                        </p:attrNameLst>
                                      </p:cBhvr>
                                      <p:to>
                                        <p:strVal val="visible"/>
                                      </p:to>
                                    </p:set>
                                    <p:animEffect transition="in" filter="fade">
                                      <p:cBhvr>
                                        <p:cTn id="7"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1"/>
        <p:cNvGrpSpPr/>
        <p:nvPr/>
      </p:nvGrpSpPr>
      <p:grpSpPr>
        <a:xfrm>
          <a:off x="0" y="0"/>
          <a:ext cx="0" cy="0"/>
          <a:chOff x="0" y="0"/>
          <a:chExt cx="0" cy="0"/>
        </a:xfrm>
      </p:grpSpPr>
      <p:sp>
        <p:nvSpPr>
          <p:cNvPr id="222" name="Google Shape;222;p8"/>
          <p:cNvSpPr/>
          <p:nvPr/>
        </p:nvSpPr>
        <p:spPr>
          <a:xfrm>
            <a:off x="729843" y="1473192"/>
            <a:ext cx="11142734" cy="3952437"/>
          </a:xfrm>
          <a:prstGeom prst="roundRect">
            <a:avLst>
              <a:gd name="adj" fmla="val 4466"/>
            </a:avLst>
          </a:prstGeom>
          <a:solidFill>
            <a:srgbClr val="8234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8"/>
          <p:cNvSpPr/>
          <p:nvPr/>
        </p:nvSpPr>
        <p:spPr>
          <a:xfrm>
            <a:off x="8196045" y="1720142"/>
            <a:ext cx="3308217" cy="3431896"/>
          </a:xfrm>
          <a:prstGeom prst="roundRect">
            <a:avLst>
              <a:gd name="adj" fmla="val 4466"/>
            </a:avLst>
          </a:prstGeom>
          <a:solidFill>
            <a:schemeClr val="lt1"/>
          </a:solidFill>
          <a:ln w="28575"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 name="Google Shape;224;p8"/>
          <p:cNvSpPr/>
          <p:nvPr/>
        </p:nvSpPr>
        <p:spPr>
          <a:xfrm>
            <a:off x="1513509" y="1735718"/>
            <a:ext cx="6494500" cy="3416320"/>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Por ejemplo, considere la siguiente ruleta con 16 zonas de distinto color: 7 rojas, 5 azules, 3 verdes y 1 amarilla.</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Cada color tiene una probabilidad distinta de salir tras hacer girar la ruleta:</a:t>
            </a:r>
            <a:endParaRPr/>
          </a:p>
          <a:p>
            <a:pPr marL="285750" marR="0" lvl="0" indent="-171450" algn="just" rtl="0">
              <a:spcBef>
                <a:spcPts val="0"/>
              </a:spcBef>
              <a:spcAft>
                <a:spcPts val="0"/>
              </a:spcAft>
              <a:buClr>
                <a:schemeClr val="dk1"/>
              </a:buClr>
              <a:buSzPts val="1800"/>
              <a:buFont typeface="Noto Sans Symbols"/>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La probabilidad de que salga color rojo es 7/16.</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La probabilidad de que salga color azul es 5/16.</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La probabilidad de que salga color verde es 3/16.</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La probabilidad de que salga color amarillo es 1/16.</a:t>
            </a:r>
            <a:endParaRPr/>
          </a:p>
          <a:p>
            <a:pPr marL="285750" marR="0" lvl="0" indent="-171450" algn="l"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s-ES" sz="1800" b="1">
                <a:solidFill>
                  <a:schemeClr val="lt1"/>
                </a:solidFill>
                <a:latin typeface="Calibri"/>
                <a:ea typeface="Calibri"/>
                <a:cs typeface="Calibri"/>
                <a:sym typeface="Calibri"/>
              </a:rPr>
              <a:t>     P(A) = (𝐶𝑎𝑠𝑜𝑠 𝑓𝑎𝑣𝑜𝑟𝑎𝑏𝑙𝑒𝑠) / (𝐶𝑎𝑠𝑜𝑠 𝑝𝑜𝑠𝑖𝑏𝑙𝑒𝑠)</a:t>
            </a:r>
            <a:endParaRPr/>
          </a:p>
        </p:txBody>
      </p:sp>
      <p:pic>
        <p:nvPicPr>
          <p:cNvPr id="225" name="Google Shape;225;p8"/>
          <p:cNvPicPr preferRelativeResize="0"/>
          <p:nvPr/>
        </p:nvPicPr>
        <p:blipFill rotWithShape="1">
          <a:blip r:embed="rId4">
            <a:alphaModFix/>
          </a:blip>
          <a:srcRect/>
          <a:stretch/>
        </p:blipFill>
        <p:spPr>
          <a:xfrm>
            <a:off x="8572118" y="2064546"/>
            <a:ext cx="2670404" cy="2645815"/>
          </a:xfrm>
          <a:prstGeom prst="rect">
            <a:avLst/>
          </a:prstGeom>
          <a:noFill/>
          <a:ln>
            <a:noFill/>
          </a:ln>
        </p:spPr>
      </p:pic>
      <p:sp>
        <p:nvSpPr>
          <p:cNvPr id="226" name="Google Shape;226;p8"/>
          <p:cNvSpPr/>
          <p:nvPr/>
        </p:nvSpPr>
        <p:spPr>
          <a:xfrm>
            <a:off x="1513509" y="893448"/>
            <a:ext cx="4626588"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a:solidFill>
                  <a:srgbClr val="7F7F7F"/>
                </a:solidFill>
                <a:latin typeface="Arial"/>
                <a:ea typeface="Arial"/>
                <a:cs typeface="Arial"/>
                <a:sym typeface="Arial"/>
              </a:rPr>
              <a:t>Ejemplo de Probabilidad</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6"/>
                                        </p:tgtEl>
                                        <p:attrNameLst>
                                          <p:attrName>style.visibility</p:attrName>
                                        </p:attrNameLst>
                                      </p:cBhvr>
                                      <p:to>
                                        <p:strVal val="visible"/>
                                      </p:to>
                                    </p:set>
                                    <p:animEffect transition="in" filter="fade">
                                      <p:cBhvr>
                                        <p:cTn id="7" dur="500"/>
                                        <p:tgtEl>
                                          <p:spTgt spid="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0"/>
        <p:cNvGrpSpPr/>
        <p:nvPr/>
      </p:nvGrpSpPr>
      <p:grpSpPr>
        <a:xfrm>
          <a:off x="0" y="0"/>
          <a:ext cx="0" cy="0"/>
          <a:chOff x="0" y="0"/>
          <a:chExt cx="0" cy="0"/>
        </a:xfrm>
      </p:grpSpPr>
      <p:sp>
        <p:nvSpPr>
          <p:cNvPr id="231" name="Google Shape;231;p9"/>
          <p:cNvSpPr/>
          <p:nvPr/>
        </p:nvSpPr>
        <p:spPr>
          <a:xfrm>
            <a:off x="695437" y="1199937"/>
            <a:ext cx="10638428" cy="5033623"/>
          </a:xfrm>
          <a:prstGeom prst="roundRect">
            <a:avLst>
              <a:gd name="adj" fmla="val 4466"/>
            </a:avLst>
          </a:prstGeom>
          <a:solidFill>
            <a:schemeClr val="lt1"/>
          </a:solidFill>
          <a:ln w="28575"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9"/>
          <p:cNvSpPr/>
          <p:nvPr/>
        </p:nvSpPr>
        <p:spPr>
          <a:xfrm>
            <a:off x="972244" y="1401659"/>
            <a:ext cx="10151476" cy="40934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rgbClr val="595959"/>
                </a:solidFill>
                <a:latin typeface="Calibri"/>
                <a:ea typeface="Calibri"/>
                <a:cs typeface="Calibri"/>
                <a:sym typeface="Calibri"/>
              </a:rPr>
              <a:t>¿Cuál es la probabilidad de que al lanzar un dado salga un número mayor a 4?</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s-ES" sz="2000">
                <a:solidFill>
                  <a:srgbClr val="595959"/>
                </a:solidFill>
                <a:latin typeface="Calibri"/>
                <a:ea typeface="Calibri"/>
                <a:cs typeface="Calibri"/>
                <a:sym typeface="Calibri"/>
              </a:rPr>
              <a:t>¿Cuál es la probabilidad de que al lanzar un dado salga un número mayor a 5?</a:t>
            </a:r>
            <a:endParaRPr/>
          </a:p>
          <a:p>
            <a:pPr marL="0" marR="0" lvl="0" indent="0" algn="l" rtl="0">
              <a:spcBef>
                <a:spcPts val="0"/>
              </a:spcBef>
              <a:spcAft>
                <a:spcPts val="0"/>
              </a:spcAft>
              <a:buNone/>
            </a:pPr>
            <a:endParaRPr sz="2000">
              <a:solidFill>
                <a:srgbClr val="595959"/>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s-ES" sz="2000">
                <a:solidFill>
                  <a:srgbClr val="595959"/>
                </a:solidFill>
                <a:latin typeface="Calibri"/>
                <a:ea typeface="Calibri"/>
                <a:cs typeface="Calibri"/>
                <a:sym typeface="Calibri"/>
              </a:rPr>
              <a:t>¿Cuál es la probabilidad de que al lanzar un dado salga número impar?</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s-ES" sz="2000">
                <a:solidFill>
                  <a:srgbClr val="595959"/>
                </a:solidFill>
                <a:latin typeface="Calibri"/>
                <a:ea typeface="Calibri"/>
                <a:cs typeface="Calibri"/>
                <a:sym typeface="Calibri"/>
              </a:rPr>
              <a:t>¿Cuál es la probabilidad de que al lanzar un dado salga número par?</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s-ES" sz="2000">
                <a:solidFill>
                  <a:srgbClr val="595959"/>
                </a:solidFill>
                <a:latin typeface="Calibri"/>
                <a:ea typeface="Calibri"/>
                <a:cs typeface="Calibri"/>
                <a:sym typeface="Calibri"/>
              </a:rPr>
              <a:t>¿Cuál es la probabilidad de que al lanzar un dado salga 1?</a:t>
            </a:r>
            <a:endParaRPr/>
          </a:p>
        </p:txBody>
      </p:sp>
      <p:sp>
        <p:nvSpPr>
          <p:cNvPr id="233" name="Google Shape;233;p9"/>
          <p:cNvSpPr/>
          <p:nvPr/>
        </p:nvSpPr>
        <p:spPr>
          <a:xfrm>
            <a:off x="1062883" y="1799286"/>
            <a:ext cx="9845336" cy="445833"/>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4" name="Google Shape;234;p9"/>
          <p:cNvSpPr/>
          <p:nvPr/>
        </p:nvSpPr>
        <p:spPr>
          <a:xfrm>
            <a:off x="1062883" y="2747112"/>
            <a:ext cx="9845336" cy="445833"/>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5" name="Google Shape;235;p9"/>
          <p:cNvSpPr/>
          <p:nvPr/>
        </p:nvSpPr>
        <p:spPr>
          <a:xfrm>
            <a:off x="1062883" y="3673821"/>
            <a:ext cx="9845336" cy="445833"/>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6" name="Google Shape;236;p9"/>
          <p:cNvSpPr/>
          <p:nvPr/>
        </p:nvSpPr>
        <p:spPr>
          <a:xfrm>
            <a:off x="1062883" y="4600530"/>
            <a:ext cx="9845336" cy="445833"/>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7" name="Google Shape;237;p9"/>
          <p:cNvSpPr/>
          <p:nvPr/>
        </p:nvSpPr>
        <p:spPr>
          <a:xfrm>
            <a:off x="1062883" y="5523167"/>
            <a:ext cx="9845336" cy="445833"/>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8" name="Google Shape;238;p9"/>
          <p:cNvSpPr txBox="1"/>
          <p:nvPr/>
        </p:nvSpPr>
        <p:spPr>
          <a:xfrm>
            <a:off x="1062883" y="547812"/>
            <a:ext cx="10270982" cy="559338"/>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Probabilidad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8"/>
                                        </p:tgtEl>
                                        <p:attrNameLst>
                                          <p:attrName>style.visibility</p:attrName>
                                        </p:attrNameLst>
                                      </p:cBhvr>
                                      <p:to>
                                        <p:strVal val="visible"/>
                                      </p:to>
                                    </p:set>
                                    <p:animEffect transition="in" filter="fade">
                                      <p:cBhvr>
                                        <p:cTn id="7" dur="500"/>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2"/>
        <p:cNvGrpSpPr/>
        <p:nvPr/>
      </p:nvGrpSpPr>
      <p:grpSpPr>
        <a:xfrm>
          <a:off x="0" y="0"/>
          <a:ext cx="0" cy="0"/>
          <a:chOff x="0" y="0"/>
          <a:chExt cx="0" cy="0"/>
        </a:xfrm>
      </p:grpSpPr>
      <p:sp>
        <p:nvSpPr>
          <p:cNvPr id="243" name="Google Shape;243;p10"/>
          <p:cNvSpPr/>
          <p:nvPr/>
        </p:nvSpPr>
        <p:spPr>
          <a:xfrm>
            <a:off x="276837" y="1592826"/>
            <a:ext cx="11543250" cy="3854245"/>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 name="Google Shape;244;p10"/>
          <p:cNvSpPr/>
          <p:nvPr/>
        </p:nvSpPr>
        <p:spPr>
          <a:xfrm>
            <a:off x="7485866" y="1905899"/>
            <a:ext cx="4274070" cy="3154930"/>
          </a:xfrm>
          <a:prstGeom prst="roundRect">
            <a:avLst>
              <a:gd name="adj" fmla="val 4466"/>
            </a:avLst>
          </a:prstGeom>
          <a:solidFill>
            <a:schemeClr val="lt1"/>
          </a:solidFill>
          <a:ln w="28575"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10"/>
          <p:cNvSpPr txBox="1"/>
          <p:nvPr/>
        </p:nvSpPr>
        <p:spPr>
          <a:xfrm>
            <a:off x="832828" y="747487"/>
            <a:ext cx="10927107"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a:solidFill>
                  <a:srgbClr val="7F7F7F"/>
                </a:solidFill>
                <a:latin typeface="Arial"/>
                <a:ea typeface="Arial"/>
                <a:cs typeface="Arial"/>
                <a:sym typeface="Arial"/>
              </a:rPr>
              <a:t>Paradoja del Cumpleaños</a:t>
            </a:r>
            <a:endParaRPr/>
          </a:p>
        </p:txBody>
      </p:sp>
      <p:sp>
        <p:nvSpPr>
          <p:cNvPr id="246" name="Google Shape;246;p10"/>
          <p:cNvSpPr/>
          <p:nvPr/>
        </p:nvSpPr>
        <p:spPr>
          <a:xfrm>
            <a:off x="832829" y="1921842"/>
            <a:ext cx="6290881" cy="3416320"/>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Esta paradoja hace la siguiente pregunta: ¿cuántas personas se necesitan como mínimo para que sea más probable que al menos 2 de ellas cumplan años el mismo día? </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A pesar de lo que nos indica la intuición, si mantenemos el supuesto de que los años tienen 365 días, la paradoja establece que hacen falta 23 personas para que haya una probabilidad del 50% de que al menos 2 de ellas cumplan años el mismo día. </a:t>
            </a:r>
            <a:endParaRPr/>
          </a:p>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Y resulta que, si en una fiesta hay más de 57 invitados, la probabilidad de que dos personas cumplan años el mismo día es del 99% .</a:t>
            </a:r>
            <a:endParaRPr/>
          </a:p>
        </p:txBody>
      </p:sp>
      <p:pic>
        <p:nvPicPr>
          <p:cNvPr id="247" name="Google Shape;247;p10" descr="Niños celebrando fiesta de cumpleaños | Foto Gratis"/>
          <p:cNvPicPr preferRelativeResize="0"/>
          <p:nvPr/>
        </p:nvPicPr>
        <p:blipFill rotWithShape="1">
          <a:blip r:embed="rId4">
            <a:alphaModFix/>
          </a:blip>
          <a:srcRect/>
          <a:stretch/>
        </p:blipFill>
        <p:spPr>
          <a:xfrm>
            <a:off x="7733381" y="2170326"/>
            <a:ext cx="3779039" cy="251734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5"/>
                                        </p:tgtEl>
                                        <p:attrNameLst>
                                          <p:attrName>style.visibility</p:attrName>
                                        </p:attrNameLst>
                                      </p:cBhvr>
                                      <p:to>
                                        <p:strVal val="visible"/>
                                      </p:to>
                                    </p:set>
                                    <p:animEffect transition="in" filter="fade">
                                      <p:cBhvr>
                                        <p:cTn id="7" dur="500"/>
                                        <p:tgtEl>
                                          <p:spTgt spid="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1"/>
        <p:cNvGrpSpPr/>
        <p:nvPr/>
      </p:nvGrpSpPr>
      <p:grpSpPr>
        <a:xfrm>
          <a:off x="0" y="0"/>
          <a:ext cx="0" cy="0"/>
          <a:chOff x="0" y="0"/>
          <a:chExt cx="0" cy="0"/>
        </a:xfrm>
      </p:grpSpPr>
      <p:sp>
        <p:nvSpPr>
          <p:cNvPr id="252" name="Google Shape;252;p11"/>
          <p:cNvSpPr/>
          <p:nvPr/>
        </p:nvSpPr>
        <p:spPr>
          <a:xfrm>
            <a:off x="-517443" y="2414761"/>
            <a:ext cx="8007721" cy="2993624"/>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3" name="Google Shape;253;p11"/>
          <p:cNvSpPr/>
          <p:nvPr/>
        </p:nvSpPr>
        <p:spPr>
          <a:xfrm>
            <a:off x="793602" y="2721446"/>
            <a:ext cx="5501744"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a:solidFill>
                  <a:schemeClr val="lt1"/>
                </a:solidFill>
                <a:latin typeface="Calibri"/>
                <a:ea typeface="Calibri"/>
                <a:cs typeface="Calibri"/>
                <a:sym typeface="Calibri"/>
              </a:rPr>
              <a:t>Para determinar la probabilidad, tenemos varios enfoques:</a:t>
            </a:r>
            <a:endParaRPr sz="1800"/>
          </a:p>
          <a:p>
            <a:pPr marL="0" marR="0" lvl="0" indent="0" algn="l" rtl="0">
              <a:spcBef>
                <a:spcPts val="0"/>
              </a:spcBef>
              <a:spcAft>
                <a:spcPts val="0"/>
              </a:spcAft>
              <a:buNone/>
            </a:pPr>
            <a:endParaRPr sz="24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s-ES" sz="2400">
                <a:solidFill>
                  <a:schemeClr val="lt1"/>
                </a:solidFill>
                <a:latin typeface="Calibri"/>
                <a:ea typeface="Calibri"/>
                <a:cs typeface="Calibri"/>
                <a:sym typeface="Calibri"/>
              </a:rPr>
              <a:t>Interpretación frecuentista .</a:t>
            </a:r>
            <a:endParaRPr sz="1800"/>
          </a:p>
          <a:p>
            <a:pPr marL="0" marR="0" lvl="0" indent="0" algn="l" rtl="0">
              <a:spcBef>
                <a:spcPts val="0"/>
              </a:spcBef>
              <a:spcAft>
                <a:spcPts val="0"/>
              </a:spcAft>
              <a:buNone/>
            </a:pPr>
            <a:endParaRPr sz="24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s-ES" sz="2400">
                <a:solidFill>
                  <a:schemeClr val="lt1"/>
                </a:solidFill>
                <a:latin typeface="Calibri"/>
                <a:ea typeface="Calibri"/>
                <a:cs typeface="Calibri"/>
                <a:sym typeface="Calibri"/>
              </a:rPr>
              <a:t>Interpretación clásica.</a:t>
            </a:r>
            <a:endParaRPr sz="2400">
              <a:solidFill>
                <a:schemeClr val="lt1"/>
              </a:solidFill>
              <a:latin typeface="Calibri"/>
              <a:ea typeface="Calibri"/>
              <a:cs typeface="Calibri"/>
              <a:sym typeface="Calibri"/>
            </a:endParaRPr>
          </a:p>
        </p:txBody>
      </p:sp>
      <p:sp>
        <p:nvSpPr>
          <p:cNvPr id="254" name="Google Shape;254;p11"/>
          <p:cNvSpPr txBox="1"/>
          <p:nvPr/>
        </p:nvSpPr>
        <p:spPr>
          <a:xfrm>
            <a:off x="793602" y="1120949"/>
            <a:ext cx="10375823"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a:solidFill>
                  <a:srgbClr val="7F7F7F"/>
                </a:solidFill>
                <a:latin typeface="Arial"/>
                <a:ea typeface="Arial"/>
                <a:cs typeface="Arial"/>
                <a:sym typeface="Arial"/>
              </a:rPr>
              <a:t>Enfoques de Probabilidad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4"/>
                                        </p:tgtEl>
                                        <p:attrNameLst>
                                          <p:attrName>style.visibility</p:attrName>
                                        </p:attrNameLst>
                                      </p:cBhvr>
                                      <p:to>
                                        <p:strVal val="visible"/>
                                      </p:to>
                                    </p:set>
                                    <p:animEffect transition="in" filter="fade">
                                      <p:cBhvr>
                                        <p:cTn id="7" dur="5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8"/>
        <p:cNvGrpSpPr/>
        <p:nvPr/>
      </p:nvGrpSpPr>
      <p:grpSpPr>
        <a:xfrm>
          <a:off x="0" y="0"/>
          <a:ext cx="0" cy="0"/>
          <a:chOff x="0" y="0"/>
          <a:chExt cx="0" cy="0"/>
        </a:xfrm>
      </p:grpSpPr>
      <p:sp>
        <p:nvSpPr>
          <p:cNvPr id="259" name="Google Shape;259;p12"/>
          <p:cNvSpPr/>
          <p:nvPr/>
        </p:nvSpPr>
        <p:spPr>
          <a:xfrm>
            <a:off x="-517443" y="1509379"/>
            <a:ext cx="11000386" cy="3968632"/>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12"/>
          <p:cNvSpPr txBox="1"/>
          <p:nvPr/>
        </p:nvSpPr>
        <p:spPr>
          <a:xfrm>
            <a:off x="1195533" y="868871"/>
            <a:ext cx="10094571" cy="633879"/>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Interpretación Frecuentista</a:t>
            </a:r>
            <a:endParaRPr sz="3200">
              <a:solidFill>
                <a:srgbClr val="7F7F7F"/>
              </a:solidFill>
              <a:latin typeface="Arial"/>
              <a:ea typeface="Arial"/>
              <a:cs typeface="Arial"/>
              <a:sym typeface="Arial"/>
            </a:endParaRPr>
          </a:p>
        </p:txBody>
      </p:sp>
      <p:sp>
        <p:nvSpPr>
          <p:cNvPr id="261" name="Google Shape;261;p12"/>
          <p:cNvSpPr/>
          <p:nvPr/>
        </p:nvSpPr>
        <p:spPr>
          <a:xfrm>
            <a:off x="1195533" y="1849208"/>
            <a:ext cx="8823169" cy="3159583"/>
          </a:xfrm>
          <a:prstGeom prst="rect">
            <a:avLst/>
          </a:prstGeom>
          <a:blipFill rotWithShape="1">
            <a:blip r:embed="rId4">
              <a:alphaModFix/>
            </a:blip>
            <a:stretch>
              <a:fillRect l="-552" t="-961" r="-621" b="-192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pic>
        <p:nvPicPr>
          <p:cNvPr id="262" name="Google Shape;262;p12"/>
          <p:cNvPicPr preferRelativeResize="0"/>
          <p:nvPr/>
        </p:nvPicPr>
        <p:blipFill rotWithShape="1">
          <a:blip r:embed="rId5">
            <a:alphaModFix/>
          </a:blip>
          <a:srcRect/>
          <a:stretch/>
        </p:blipFill>
        <p:spPr>
          <a:xfrm>
            <a:off x="641789" y="1923408"/>
            <a:ext cx="330074" cy="3300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fade">
                                      <p:cBhvr>
                                        <p:cTn id="7" dur="500"/>
                                        <p:tgtEl>
                                          <p:spTgt spid="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6"/>
        <p:cNvGrpSpPr/>
        <p:nvPr/>
      </p:nvGrpSpPr>
      <p:grpSpPr>
        <a:xfrm>
          <a:off x="0" y="0"/>
          <a:ext cx="0" cy="0"/>
          <a:chOff x="0" y="0"/>
          <a:chExt cx="0" cy="0"/>
        </a:xfrm>
      </p:grpSpPr>
      <p:sp>
        <p:nvSpPr>
          <p:cNvPr id="267" name="Google Shape;267;p13"/>
          <p:cNvSpPr/>
          <p:nvPr/>
        </p:nvSpPr>
        <p:spPr>
          <a:xfrm>
            <a:off x="595807" y="2532636"/>
            <a:ext cx="11000386" cy="2559481"/>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8" name="Google Shape;268;p13"/>
          <p:cNvSpPr/>
          <p:nvPr/>
        </p:nvSpPr>
        <p:spPr>
          <a:xfrm>
            <a:off x="1684415" y="2764557"/>
            <a:ext cx="8823169" cy="2327560"/>
          </a:xfrm>
          <a:prstGeom prst="rect">
            <a:avLst/>
          </a:prstGeom>
          <a:blipFill rotWithShape="1">
            <a:blip r:embed="rId4">
              <a:alphaModFix/>
            </a:blip>
            <a:stretch>
              <a:fillRect l="-549" t="-1573" r="-55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69" name="Google Shape;269;p13"/>
          <p:cNvSpPr txBox="1"/>
          <p:nvPr/>
        </p:nvSpPr>
        <p:spPr>
          <a:xfrm>
            <a:off x="1684415" y="1612490"/>
            <a:ext cx="6948698" cy="620614"/>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Interpretación Clásica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9"/>
                                        </p:tgtEl>
                                        <p:attrNameLst>
                                          <p:attrName>style.visibility</p:attrName>
                                        </p:attrNameLst>
                                      </p:cBhvr>
                                      <p:to>
                                        <p:strVal val="visible"/>
                                      </p:to>
                                    </p:set>
                                    <p:animEffect transition="in" filter="fade">
                                      <p:cBhvr>
                                        <p:cTn id="7" dur="500"/>
                                        <p:tgtEl>
                                          <p:spTgt spid="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3"/>
        <p:cNvGrpSpPr/>
        <p:nvPr/>
      </p:nvGrpSpPr>
      <p:grpSpPr>
        <a:xfrm>
          <a:off x="0" y="0"/>
          <a:ext cx="0" cy="0"/>
          <a:chOff x="0" y="0"/>
          <a:chExt cx="0" cy="0"/>
        </a:xfrm>
      </p:grpSpPr>
      <p:sp>
        <p:nvSpPr>
          <p:cNvPr id="274" name="Google Shape;274;p14"/>
          <p:cNvSpPr txBox="1"/>
          <p:nvPr/>
        </p:nvSpPr>
        <p:spPr>
          <a:xfrm>
            <a:off x="744179" y="3062620"/>
            <a:ext cx="7446092"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600">
                <a:solidFill>
                  <a:srgbClr val="7F7F7F"/>
                </a:solidFill>
                <a:latin typeface="Arial"/>
                <a:ea typeface="Arial"/>
                <a:cs typeface="Arial"/>
                <a:sym typeface="Arial"/>
              </a:rPr>
              <a:t>Suceso y Espacio Muestral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4"/>
                                        </p:tgtEl>
                                        <p:attrNameLst>
                                          <p:attrName>style.visibility</p:attrName>
                                        </p:attrNameLst>
                                      </p:cBhvr>
                                      <p:to>
                                        <p:strVal val="visible"/>
                                      </p:to>
                                    </p:set>
                                    <p:animEffect transition="in" filter="fade">
                                      <p:cBhvr>
                                        <p:cTn id="7" dur="500"/>
                                        <p:tgtEl>
                                          <p:spTgt spid="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8"/>
        <p:cNvGrpSpPr/>
        <p:nvPr/>
      </p:nvGrpSpPr>
      <p:grpSpPr>
        <a:xfrm>
          <a:off x="0" y="0"/>
          <a:ext cx="0" cy="0"/>
          <a:chOff x="0" y="0"/>
          <a:chExt cx="0" cy="0"/>
        </a:xfrm>
      </p:grpSpPr>
      <p:sp>
        <p:nvSpPr>
          <p:cNvPr id="279" name="Google Shape;279;p15"/>
          <p:cNvSpPr/>
          <p:nvPr/>
        </p:nvSpPr>
        <p:spPr>
          <a:xfrm>
            <a:off x="1248697" y="2676730"/>
            <a:ext cx="9537300" cy="3238500"/>
          </a:xfrm>
          <a:prstGeom prst="roundRect">
            <a:avLst>
              <a:gd name="adj" fmla="val 4466"/>
            </a:avLst>
          </a:prstGeom>
          <a:solidFill>
            <a:schemeClr val="lt1"/>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0" name="Google Shape;280;p15"/>
          <p:cNvSpPr/>
          <p:nvPr/>
        </p:nvSpPr>
        <p:spPr>
          <a:xfrm>
            <a:off x="0" y="1115581"/>
            <a:ext cx="12398400" cy="1308000"/>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 name="Google Shape;281;p15"/>
          <p:cNvSpPr/>
          <p:nvPr/>
        </p:nvSpPr>
        <p:spPr>
          <a:xfrm>
            <a:off x="1248697" y="1307951"/>
            <a:ext cx="9537300" cy="9234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Espacio Muestral </a:t>
            </a:r>
            <a:r>
              <a:rPr lang="es-ES" sz="1800">
                <a:solidFill>
                  <a:schemeClr val="lt1"/>
                </a:solidFill>
                <a:latin typeface="Calibri"/>
                <a:ea typeface="Calibri"/>
                <a:cs typeface="Calibri"/>
                <a:sym typeface="Calibri"/>
              </a:rPr>
              <a:t>es el conjunto formado por todos los posibles resultados que pueden darse en un experimento aleatorio. Cada uno de estos resultados es conocido como </a:t>
            </a:r>
            <a:r>
              <a:rPr lang="es-ES" sz="1800" b="1">
                <a:solidFill>
                  <a:schemeClr val="lt1"/>
                </a:solidFill>
                <a:latin typeface="Calibri"/>
                <a:ea typeface="Calibri"/>
                <a:cs typeface="Calibri"/>
                <a:sym typeface="Calibri"/>
              </a:rPr>
              <a:t>evento o suceso elemental</a:t>
            </a:r>
            <a:r>
              <a:rPr lang="es-ES" sz="1800">
                <a:solidFill>
                  <a:schemeClr val="lt1"/>
                </a:solidFill>
                <a:latin typeface="Calibri"/>
                <a:ea typeface="Calibri"/>
                <a:cs typeface="Calibri"/>
                <a:sym typeface="Calibri"/>
              </a:rPr>
              <a:t>. </a:t>
            </a:r>
            <a:r>
              <a:rPr lang="es-ES" sz="1800" b="1">
                <a:solidFill>
                  <a:schemeClr val="lt1"/>
                </a:solidFill>
                <a:latin typeface="Calibri"/>
                <a:ea typeface="Calibri"/>
                <a:cs typeface="Calibri"/>
                <a:sym typeface="Calibri"/>
              </a:rPr>
              <a:t>Por ejemplo:</a:t>
            </a:r>
            <a:endParaRPr/>
          </a:p>
        </p:txBody>
      </p:sp>
      <p:pic>
        <p:nvPicPr>
          <p:cNvPr id="282" name="Google Shape;282;p15"/>
          <p:cNvPicPr preferRelativeResize="0"/>
          <p:nvPr/>
        </p:nvPicPr>
        <p:blipFill rotWithShape="1">
          <a:blip r:embed="rId4">
            <a:alphaModFix/>
          </a:blip>
          <a:srcRect t="2356"/>
          <a:stretch/>
        </p:blipFill>
        <p:spPr>
          <a:xfrm>
            <a:off x="4186769" y="2788622"/>
            <a:ext cx="3314477" cy="3014715"/>
          </a:xfrm>
          <a:prstGeom prst="rect">
            <a:avLst/>
          </a:prstGeom>
          <a:noFill/>
          <a:ln>
            <a:noFill/>
          </a:ln>
        </p:spPr>
      </p:pic>
      <p:sp>
        <p:nvSpPr>
          <p:cNvPr id="283" name="Google Shape;283;p15"/>
          <p:cNvSpPr txBox="1"/>
          <p:nvPr/>
        </p:nvSpPr>
        <p:spPr>
          <a:xfrm>
            <a:off x="1248697" y="107519"/>
            <a:ext cx="9952800" cy="1008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Suceso y Espacio Muestral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3"/>
                                        </p:tgtEl>
                                        <p:attrNameLst>
                                          <p:attrName>style.visibility</p:attrName>
                                        </p:attrNameLst>
                                      </p:cBhvr>
                                      <p:to>
                                        <p:strVal val="visible"/>
                                      </p:to>
                                    </p:set>
                                    <p:animEffect transition="in" filter="fade">
                                      <p:cBhvr>
                                        <p:cTn id="7" dur="5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7"/>
        <p:cNvGrpSpPr/>
        <p:nvPr/>
      </p:nvGrpSpPr>
      <p:grpSpPr>
        <a:xfrm>
          <a:off x="0" y="0"/>
          <a:ext cx="0" cy="0"/>
          <a:chOff x="0" y="0"/>
          <a:chExt cx="0" cy="0"/>
        </a:xfrm>
      </p:grpSpPr>
      <p:sp>
        <p:nvSpPr>
          <p:cNvPr id="288" name="Google Shape;288;p16"/>
          <p:cNvSpPr/>
          <p:nvPr/>
        </p:nvSpPr>
        <p:spPr>
          <a:xfrm>
            <a:off x="-428953" y="1313280"/>
            <a:ext cx="11506572" cy="4173822"/>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9" name="Google Shape;289;p16"/>
          <p:cNvSpPr txBox="1"/>
          <p:nvPr/>
        </p:nvSpPr>
        <p:spPr>
          <a:xfrm>
            <a:off x="793602" y="619873"/>
            <a:ext cx="9825237" cy="62931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Suceso y Espacio Muestral</a:t>
            </a:r>
            <a:endParaRPr/>
          </a:p>
        </p:txBody>
      </p:sp>
      <p:sp>
        <p:nvSpPr>
          <p:cNvPr id="290" name="Google Shape;290;p16"/>
          <p:cNvSpPr/>
          <p:nvPr/>
        </p:nvSpPr>
        <p:spPr>
          <a:xfrm>
            <a:off x="793602" y="1692031"/>
            <a:ext cx="9972721"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Se denomina evento o suceso a cualquier subconjunto del espacio muestral formado por sucesos elementales.</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s-ES" sz="1800" b="1">
                <a:solidFill>
                  <a:schemeClr val="lt1"/>
                </a:solidFill>
                <a:latin typeface="Calibri"/>
                <a:ea typeface="Calibri"/>
                <a:cs typeface="Calibri"/>
                <a:sym typeface="Calibri"/>
              </a:rPr>
              <a:t>Ejemplo</a:t>
            </a:r>
            <a:r>
              <a:rPr lang="es-ES" sz="1800">
                <a:solidFill>
                  <a:schemeClr val="lt1"/>
                </a:solidFill>
                <a:latin typeface="Calibri"/>
                <a:ea typeface="Calibri"/>
                <a:cs typeface="Calibri"/>
                <a:sym typeface="Calibri"/>
              </a:rPr>
              <a:t>: Lanzamiento de un dado.</a:t>
            </a:r>
            <a:endParaRPr/>
          </a:p>
          <a:p>
            <a:pPr marL="0" marR="0" lvl="0" indent="0" algn="l" rtl="0">
              <a:spcBef>
                <a:spcPts val="0"/>
              </a:spcBef>
              <a:spcAft>
                <a:spcPts val="0"/>
              </a:spcAft>
              <a:buNone/>
            </a:pPr>
            <a:r>
              <a:rPr lang="es-ES" sz="1800" b="1">
                <a:solidFill>
                  <a:schemeClr val="lt1"/>
                </a:solidFill>
                <a:latin typeface="Calibri"/>
                <a:ea typeface="Calibri"/>
                <a:cs typeface="Calibri"/>
                <a:sym typeface="Calibri"/>
              </a:rPr>
              <a:t>Suceso A</a:t>
            </a:r>
            <a:r>
              <a:rPr lang="es-ES" sz="1800">
                <a:solidFill>
                  <a:schemeClr val="lt1"/>
                </a:solidFill>
                <a:latin typeface="Calibri"/>
                <a:ea typeface="Calibri"/>
                <a:cs typeface="Calibri"/>
                <a:sym typeface="Calibri"/>
              </a:rPr>
              <a:t>: Obtener un número par</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Un suceso </a:t>
            </a:r>
            <a:r>
              <a:rPr lang="es-ES" sz="1800" b="1">
                <a:solidFill>
                  <a:schemeClr val="lt1"/>
                </a:solidFill>
                <a:latin typeface="Calibri"/>
                <a:ea typeface="Calibri"/>
                <a:cs typeface="Calibri"/>
                <a:sym typeface="Calibri"/>
              </a:rPr>
              <a:t>es seguro </a:t>
            </a:r>
            <a:r>
              <a:rPr lang="es-ES" sz="1800">
                <a:solidFill>
                  <a:schemeClr val="lt1"/>
                </a:solidFill>
                <a:latin typeface="Calibri"/>
                <a:ea typeface="Calibri"/>
                <a:cs typeface="Calibri"/>
                <a:sym typeface="Calibri"/>
              </a:rPr>
              <a:t>cuando coincide con el espacio muestral del experimento.</a:t>
            </a:r>
            <a:endParaRPr/>
          </a:p>
          <a:p>
            <a:pPr marL="285750" marR="0" lvl="0" indent="-285750" algn="l"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Un suceso </a:t>
            </a:r>
            <a:r>
              <a:rPr lang="es-ES" sz="1800" b="1">
                <a:solidFill>
                  <a:schemeClr val="lt1"/>
                </a:solidFill>
                <a:latin typeface="Calibri"/>
                <a:ea typeface="Calibri"/>
                <a:cs typeface="Calibri"/>
                <a:sym typeface="Calibri"/>
              </a:rPr>
              <a:t>es imposible </a:t>
            </a:r>
            <a:r>
              <a:rPr lang="es-ES" sz="1800">
                <a:solidFill>
                  <a:schemeClr val="lt1"/>
                </a:solidFill>
                <a:latin typeface="Calibri"/>
                <a:ea typeface="Calibri"/>
                <a:cs typeface="Calibri"/>
                <a:sym typeface="Calibri"/>
              </a:rPr>
              <a:t>si nunca ocurre, o, si no se presenta al realizar un experimento aleatorio.</a:t>
            </a:r>
            <a:endParaRPr/>
          </a:p>
          <a:p>
            <a:pPr marL="285750" marR="0" lvl="0" indent="-285750" algn="l"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Dos sucesos son </a:t>
            </a:r>
            <a:r>
              <a:rPr lang="es-ES" sz="1800" b="1">
                <a:solidFill>
                  <a:schemeClr val="lt1"/>
                </a:solidFill>
                <a:latin typeface="Calibri"/>
                <a:ea typeface="Calibri"/>
                <a:cs typeface="Calibri"/>
                <a:sym typeface="Calibri"/>
              </a:rPr>
              <a:t>mutuamente excluyentes </a:t>
            </a:r>
            <a:r>
              <a:rPr lang="es-ES" sz="1800">
                <a:solidFill>
                  <a:schemeClr val="lt1"/>
                </a:solidFill>
                <a:latin typeface="Calibri"/>
                <a:ea typeface="Calibri"/>
                <a:cs typeface="Calibri"/>
                <a:sym typeface="Calibri"/>
              </a:rPr>
              <a:t>o disjuntos si no pueden suceder simultáneamente, es decir, si y sólo si su intersección es vacía.</a:t>
            </a:r>
            <a:endParaRPr/>
          </a:p>
          <a:p>
            <a:pPr marL="285750" marR="0" lvl="0" indent="-285750" algn="l"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La cantidad de elementos que componen un suceso A se denomina </a:t>
            </a:r>
            <a:r>
              <a:rPr lang="es-ES" sz="1800" b="1">
                <a:solidFill>
                  <a:schemeClr val="lt1"/>
                </a:solidFill>
                <a:latin typeface="Calibri"/>
                <a:ea typeface="Calibri"/>
                <a:cs typeface="Calibri"/>
                <a:sym typeface="Calibri"/>
              </a:rPr>
              <a:t>cardinalidad</a:t>
            </a:r>
            <a:r>
              <a:rPr lang="es-ES" sz="1800">
                <a:solidFill>
                  <a:schemeClr val="lt1"/>
                </a:solidFill>
                <a:latin typeface="Calibri"/>
                <a:ea typeface="Calibri"/>
                <a:cs typeface="Calibri"/>
                <a:sym typeface="Calibri"/>
              </a:rPr>
              <a:t> de A y se denota #𝐴.</a:t>
            </a:r>
            <a:endParaRPr/>
          </a:p>
          <a:p>
            <a:pPr marL="285750" marR="0" lvl="0" indent="-285750" algn="l"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Análogamente se denota </a:t>
            </a:r>
            <a:r>
              <a:rPr lang="es-ES" sz="1800" b="1">
                <a:solidFill>
                  <a:schemeClr val="lt1"/>
                </a:solidFill>
                <a:latin typeface="Calibri"/>
                <a:ea typeface="Calibri"/>
                <a:cs typeface="Calibri"/>
                <a:sym typeface="Calibri"/>
              </a:rPr>
              <a:t>#Ω</a:t>
            </a:r>
            <a:r>
              <a:rPr lang="es-ES" sz="1800">
                <a:solidFill>
                  <a:schemeClr val="lt1"/>
                </a:solidFill>
                <a:latin typeface="Calibri"/>
                <a:ea typeface="Calibri"/>
                <a:cs typeface="Calibri"/>
                <a:sym typeface="Calibri"/>
              </a:rPr>
              <a:t> es la cantidad de resultados posibles de un experimento aleatorio.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9"/>
                                        </p:tgtEl>
                                        <p:attrNameLst>
                                          <p:attrName>style.visibility</p:attrName>
                                        </p:attrNameLst>
                                      </p:cBhvr>
                                      <p:to>
                                        <p:strVal val="visible"/>
                                      </p:to>
                                    </p:set>
                                    <p:animEffect transition="in" filter="fade">
                                      <p:cBhvr>
                                        <p:cTn id="7" dur="500"/>
                                        <p:tgtEl>
                                          <p:spTgt spid="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4"/>
        <p:cNvGrpSpPr/>
        <p:nvPr/>
      </p:nvGrpSpPr>
      <p:grpSpPr>
        <a:xfrm>
          <a:off x="0" y="0"/>
          <a:ext cx="0" cy="0"/>
          <a:chOff x="0" y="0"/>
          <a:chExt cx="0" cy="0"/>
        </a:xfrm>
      </p:grpSpPr>
      <p:sp>
        <p:nvSpPr>
          <p:cNvPr id="295" name="Google Shape;295;p17"/>
          <p:cNvSpPr txBox="1"/>
          <p:nvPr/>
        </p:nvSpPr>
        <p:spPr>
          <a:xfrm>
            <a:off x="1182386" y="3416582"/>
            <a:ext cx="10782300" cy="75229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endParaRPr sz="3600">
              <a:solidFill>
                <a:srgbClr val="7F7F7F"/>
              </a:solidFill>
              <a:latin typeface="Arial"/>
              <a:ea typeface="Arial"/>
              <a:cs typeface="Arial"/>
              <a:sym typeface="Arial"/>
            </a:endParaRPr>
          </a:p>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Ejemplos de Suceso y Espacio Muestral</a:t>
            </a:r>
            <a:endParaRPr sz="3600">
              <a:solidFill>
                <a:srgbClr val="7F7F7F"/>
              </a:solidFill>
              <a:latin typeface="Arial"/>
              <a:ea typeface="Arial"/>
              <a:cs typeface="Arial"/>
              <a:sym typeface="Arial"/>
            </a:endParaRPr>
          </a:p>
          <a:p>
            <a:pPr marL="0" marR="0" lvl="0" indent="0" algn="just" rtl="0">
              <a:lnSpc>
                <a:spcPct val="90000"/>
              </a:lnSpc>
              <a:spcBef>
                <a:spcPts val="0"/>
              </a:spcBef>
              <a:spcAft>
                <a:spcPts val="0"/>
              </a:spcAft>
              <a:buNone/>
            </a:pPr>
            <a:endParaRPr sz="36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5"/>
                                        </p:tgtEl>
                                        <p:attrNameLst>
                                          <p:attrName>style.visibility</p:attrName>
                                        </p:attrNameLst>
                                      </p:cBhvr>
                                      <p:to>
                                        <p:strVal val="visible"/>
                                      </p:to>
                                    </p:set>
                                    <p:animEffect transition="in" filter="fade">
                                      <p:cBhvr>
                                        <p:cTn id="7" dur="500"/>
                                        <p:tgtEl>
                                          <p:spTgt spid="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9"/>
        <p:cNvGrpSpPr/>
        <p:nvPr/>
      </p:nvGrpSpPr>
      <p:grpSpPr>
        <a:xfrm>
          <a:off x="0" y="0"/>
          <a:ext cx="0" cy="0"/>
          <a:chOff x="0" y="0"/>
          <a:chExt cx="0" cy="0"/>
        </a:xfrm>
      </p:grpSpPr>
      <p:sp>
        <p:nvSpPr>
          <p:cNvPr id="300" name="Google Shape;300;p18"/>
          <p:cNvSpPr/>
          <p:nvPr/>
        </p:nvSpPr>
        <p:spPr>
          <a:xfrm>
            <a:off x="7903028" y="816429"/>
            <a:ext cx="3672349" cy="4619058"/>
          </a:xfrm>
          <a:prstGeom prst="roundRect">
            <a:avLst>
              <a:gd name="adj" fmla="val 4466"/>
            </a:avLst>
          </a:prstGeom>
          <a:solidFill>
            <a:srgbClr val="000000"/>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1" name="Google Shape;301;p18"/>
          <p:cNvSpPr/>
          <p:nvPr/>
        </p:nvSpPr>
        <p:spPr>
          <a:xfrm>
            <a:off x="-424873" y="2130576"/>
            <a:ext cx="8100291" cy="2062733"/>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2" name="Google Shape;302;p18"/>
          <p:cNvSpPr txBox="1"/>
          <p:nvPr/>
        </p:nvSpPr>
        <p:spPr>
          <a:xfrm>
            <a:off x="1582993" y="1122514"/>
            <a:ext cx="958643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Ejemplo 1</a:t>
            </a:r>
            <a:endParaRPr/>
          </a:p>
        </p:txBody>
      </p:sp>
      <p:sp>
        <p:nvSpPr>
          <p:cNvPr id="303" name="Google Shape;303;p18"/>
          <p:cNvSpPr/>
          <p:nvPr/>
        </p:nvSpPr>
        <p:spPr>
          <a:xfrm>
            <a:off x="1512817" y="2413407"/>
            <a:ext cx="5742238" cy="14773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Se tienen 20 tarjetas numeradas correlativamente del 1 al 20 en una bolsa no transparente. Si se extrae una tarjeta:</a:t>
            </a:r>
            <a:endParaRPr sz="1800">
              <a:solidFill>
                <a:schemeClr val="lt1"/>
              </a:solidFill>
              <a:latin typeface="Calibri"/>
              <a:ea typeface="Calibri"/>
              <a:cs typeface="Calibri"/>
              <a:sym typeface="Calibri"/>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1800"/>
              <a:buFont typeface="Calibri"/>
              <a:buAutoNum type="arabicPeriod"/>
            </a:pPr>
            <a:r>
              <a:rPr lang="es-ES" sz="1800">
                <a:solidFill>
                  <a:schemeClr val="lt1"/>
                </a:solidFill>
                <a:latin typeface="Calibri"/>
                <a:ea typeface="Calibri"/>
                <a:cs typeface="Calibri"/>
                <a:sym typeface="Calibri"/>
              </a:rPr>
              <a:t>¿Cuál es la probabilidad de extraer un número par?</a:t>
            </a:r>
            <a:endParaRPr/>
          </a:p>
          <a:p>
            <a:pPr marL="342900" marR="0" lvl="0" indent="-342900" algn="just" rtl="0">
              <a:spcBef>
                <a:spcPts val="0"/>
              </a:spcBef>
              <a:spcAft>
                <a:spcPts val="0"/>
              </a:spcAft>
              <a:buClr>
                <a:schemeClr val="lt1"/>
              </a:buClr>
              <a:buSzPts val="1800"/>
              <a:buFont typeface="Calibri"/>
              <a:buAutoNum type="arabicPeriod"/>
            </a:pPr>
            <a:r>
              <a:rPr lang="es-ES" sz="1800">
                <a:solidFill>
                  <a:schemeClr val="lt1"/>
                </a:solidFill>
                <a:latin typeface="Calibri"/>
                <a:ea typeface="Calibri"/>
                <a:cs typeface="Calibri"/>
                <a:sym typeface="Calibri"/>
              </a:rPr>
              <a:t>¿Cuál es la probabilidad de extraer un múltiplo de 3?</a:t>
            </a:r>
            <a:endParaRPr/>
          </a:p>
        </p:txBody>
      </p:sp>
      <p:pic>
        <p:nvPicPr>
          <p:cNvPr id="304" name="Google Shape;304;p18" descr="Free photo vertical shot of playing cards spilling out from a black top hat isolated on a black background"/>
          <p:cNvPicPr preferRelativeResize="0"/>
          <p:nvPr/>
        </p:nvPicPr>
        <p:blipFill rotWithShape="1">
          <a:blip r:embed="rId4">
            <a:alphaModFix/>
          </a:blip>
          <a:srcRect/>
          <a:stretch/>
        </p:blipFill>
        <p:spPr>
          <a:xfrm>
            <a:off x="8281590" y="958349"/>
            <a:ext cx="2887835" cy="4335215"/>
          </a:xfrm>
          <a:prstGeom prst="rect">
            <a:avLst/>
          </a:prstGeom>
          <a:noFill/>
          <a:ln>
            <a:noFill/>
          </a:ln>
        </p:spPr>
      </p:pic>
      <p:pic>
        <p:nvPicPr>
          <p:cNvPr id="305" name="Google Shape;305;p18"/>
          <p:cNvPicPr preferRelativeResize="0"/>
          <p:nvPr/>
        </p:nvPicPr>
        <p:blipFill rotWithShape="1">
          <a:blip r:embed="rId5">
            <a:alphaModFix/>
          </a:blip>
          <a:srcRect/>
          <a:stretch/>
        </p:blipFill>
        <p:spPr>
          <a:xfrm>
            <a:off x="1058954" y="2529097"/>
            <a:ext cx="252000" cy="252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500"/>
                                        <p:tgtEl>
                                          <p:spTgt spid="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9"/>
        <p:cNvGrpSpPr/>
        <p:nvPr/>
      </p:nvGrpSpPr>
      <p:grpSpPr>
        <a:xfrm>
          <a:off x="0" y="0"/>
          <a:ext cx="0" cy="0"/>
          <a:chOff x="0" y="0"/>
          <a:chExt cx="0" cy="0"/>
        </a:xfrm>
      </p:grpSpPr>
      <p:sp>
        <p:nvSpPr>
          <p:cNvPr id="310" name="Google Shape;310;p19"/>
          <p:cNvSpPr/>
          <p:nvPr/>
        </p:nvSpPr>
        <p:spPr>
          <a:xfrm>
            <a:off x="595807" y="1248122"/>
            <a:ext cx="10690143" cy="4747854"/>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 name="Google Shape;311;p19"/>
          <p:cNvSpPr/>
          <p:nvPr/>
        </p:nvSpPr>
        <p:spPr>
          <a:xfrm>
            <a:off x="1039519" y="1580518"/>
            <a:ext cx="8823169"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Espacio Muestra𝑙={1,2,3,4,5,6,7,8,9,10,11,12,13,14,15,16,17,18,19,20} </a:t>
            </a:r>
            <a:endParaRPr/>
          </a:p>
          <a:p>
            <a:pPr marL="0" marR="0" lvl="0" indent="0" algn="l" rtl="0">
              <a:spcBef>
                <a:spcPts val="0"/>
              </a:spcBef>
              <a:spcAft>
                <a:spcPts val="0"/>
              </a:spcAft>
              <a:buNone/>
            </a:pPr>
            <a:r>
              <a:rPr lang="es-ES" sz="1800">
                <a:solidFill>
                  <a:schemeClr val="lt1"/>
                </a:solidFill>
                <a:latin typeface="Calibri"/>
                <a:ea typeface="Calibri"/>
                <a:cs typeface="Calibri"/>
                <a:sym typeface="Calibri"/>
              </a:rPr>
              <a:t>#Ω=20</a:t>
            </a: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s-ES" sz="1800">
                <a:solidFill>
                  <a:schemeClr val="lt1"/>
                </a:solidFill>
                <a:latin typeface="Calibri"/>
                <a:ea typeface="Calibri"/>
                <a:cs typeface="Calibri"/>
                <a:sym typeface="Calibri"/>
              </a:rPr>
              <a:t>¿Cuál es la probabilidad de extraer un número par?</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s-ES" sz="1800">
                <a:solidFill>
                  <a:schemeClr val="lt1"/>
                </a:solidFill>
                <a:latin typeface="Calibri"/>
                <a:ea typeface="Calibri"/>
                <a:cs typeface="Calibri"/>
                <a:sym typeface="Calibri"/>
              </a:rPr>
              <a:t>¿Cuál es la probabilidad de extraer un múltiplo de 3?</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2" name="Google Shape;312;p19"/>
          <p:cNvSpPr txBox="1"/>
          <p:nvPr/>
        </p:nvSpPr>
        <p:spPr>
          <a:xfrm>
            <a:off x="1631775" y="2753541"/>
            <a:ext cx="3460071" cy="369332"/>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13" name="Google Shape;313;p19"/>
          <p:cNvSpPr txBox="1"/>
          <p:nvPr/>
        </p:nvSpPr>
        <p:spPr>
          <a:xfrm>
            <a:off x="1386770" y="3021222"/>
            <a:ext cx="1373819" cy="369332"/>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14" name="Google Shape;314;p19"/>
          <p:cNvSpPr txBox="1"/>
          <p:nvPr/>
        </p:nvSpPr>
        <p:spPr>
          <a:xfrm>
            <a:off x="1039519" y="3380825"/>
            <a:ext cx="2744342" cy="491609"/>
          </a:xfrm>
          <a:prstGeom prst="rect">
            <a:avLst/>
          </a:prstGeom>
          <a:blipFill rotWithShape="1">
            <a:blip r:embed="rId6">
              <a:alphaModFix/>
            </a:blip>
            <a:stretch>
              <a:fillRect b="-249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15" name="Google Shape;315;p19"/>
          <p:cNvSpPr txBox="1"/>
          <p:nvPr/>
        </p:nvSpPr>
        <p:spPr>
          <a:xfrm>
            <a:off x="1388418" y="4646592"/>
            <a:ext cx="2744342"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16" name="Google Shape;316;p19"/>
          <p:cNvSpPr txBox="1"/>
          <p:nvPr/>
        </p:nvSpPr>
        <p:spPr>
          <a:xfrm>
            <a:off x="1386770" y="4914273"/>
            <a:ext cx="1142999"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17" name="Google Shape;317;p19"/>
          <p:cNvSpPr txBox="1"/>
          <p:nvPr/>
        </p:nvSpPr>
        <p:spPr>
          <a:xfrm>
            <a:off x="1039519" y="5206827"/>
            <a:ext cx="2129829" cy="485774"/>
          </a:xfrm>
          <a:prstGeom prst="rect">
            <a:avLst/>
          </a:prstGeom>
          <a:blipFill rotWithShape="1">
            <a:blip r:embed="rId9">
              <a:alphaModFix/>
            </a:blip>
            <a:stretch>
              <a:fillRect b="-12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18" name="Google Shape;318;p19"/>
          <p:cNvSpPr txBox="1"/>
          <p:nvPr/>
        </p:nvSpPr>
        <p:spPr>
          <a:xfrm>
            <a:off x="1039519" y="800296"/>
            <a:ext cx="10556674" cy="456514"/>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Ejemplo 1</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8"/>
                                        </p:tgtEl>
                                        <p:attrNameLst>
                                          <p:attrName>style.visibility</p:attrName>
                                        </p:attrNameLst>
                                      </p:cBhvr>
                                      <p:to>
                                        <p:strVal val="visible"/>
                                      </p:to>
                                    </p:set>
                                    <p:animEffect transition="in" filter="fade">
                                      <p:cBhvr>
                                        <p:cTn id="7" dur="500"/>
                                        <p:tgtEl>
                                          <p:spTgt spid="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2"/>
        <p:cNvGrpSpPr/>
        <p:nvPr/>
      </p:nvGrpSpPr>
      <p:grpSpPr>
        <a:xfrm>
          <a:off x="0" y="0"/>
          <a:ext cx="0" cy="0"/>
          <a:chOff x="0" y="0"/>
          <a:chExt cx="0" cy="0"/>
        </a:xfrm>
      </p:grpSpPr>
      <p:sp>
        <p:nvSpPr>
          <p:cNvPr id="323" name="Google Shape;323;p20"/>
          <p:cNvSpPr/>
          <p:nvPr/>
        </p:nvSpPr>
        <p:spPr>
          <a:xfrm>
            <a:off x="525183" y="1258529"/>
            <a:ext cx="11411177" cy="5142271"/>
          </a:xfrm>
          <a:prstGeom prst="roundRect">
            <a:avLst>
              <a:gd name="adj" fmla="val 4466"/>
            </a:avLst>
          </a:prstGeom>
          <a:solidFill>
            <a:schemeClr val="lt1"/>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 name="Google Shape;324;p20"/>
          <p:cNvSpPr txBox="1"/>
          <p:nvPr/>
        </p:nvSpPr>
        <p:spPr>
          <a:xfrm>
            <a:off x="884517" y="1535996"/>
            <a:ext cx="10782300"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dk1"/>
                </a:solidFill>
                <a:latin typeface="Calibri"/>
                <a:ea typeface="Calibri"/>
                <a:cs typeface="Calibri"/>
                <a:sym typeface="Calibri"/>
              </a:rPr>
              <a:t>Se encuestaron a alumnos de enseñanza media de un colegio particular sobre las preferencias de los deportes que practican, entregándose las respuestas en la siguiente tabla:</a:t>
            </a:r>
            <a:endParaRPr/>
          </a:p>
        </p:txBody>
      </p:sp>
      <p:sp>
        <p:nvSpPr>
          <p:cNvPr id="325" name="Google Shape;325;p20"/>
          <p:cNvSpPr txBox="1"/>
          <p:nvPr/>
        </p:nvSpPr>
        <p:spPr>
          <a:xfrm>
            <a:off x="998319" y="5371308"/>
            <a:ext cx="10195361" cy="646331"/>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1800"/>
              <a:buFont typeface="Calibri"/>
              <a:buAutoNum type="alphaLcParenR"/>
            </a:pPr>
            <a:r>
              <a:rPr lang="es-ES" sz="1800">
                <a:solidFill>
                  <a:schemeClr val="dk1"/>
                </a:solidFill>
                <a:latin typeface="Calibri"/>
                <a:ea typeface="Calibri"/>
                <a:cs typeface="Calibri"/>
                <a:sym typeface="Calibri"/>
              </a:rPr>
              <a:t>Si se escoge un alumno al azar. Determine la probabilidad que practique tenis.</a:t>
            </a:r>
            <a:endParaRPr/>
          </a:p>
          <a:p>
            <a:pPr marL="342900" marR="0" lvl="0" indent="-342900" algn="just" rtl="0">
              <a:spcBef>
                <a:spcPts val="0"/>
              </a:spcBef>
              <a:spcAft>
                <a:spcPts val="0"/>
              </a:spcAft>
              <a:buClr>
                <a:schemeClr val="dk1"/>
              </a:buClr>
              <a:buSzPts val="1800"/>
              <a:buFont typeface="Calibri"/>
              <a:buAutoNum type="alphaLcParenR"/>
            </a:pPr>
            <a:r>
              <a:rPr lang="es-ES" sz="1800">
                <a:solidFill>
                  <a:schemeClr val="dk1"/>
                </a:solidFill>
                <a:latin typeface="Calibri"/>
                <a:ea typeface="Calibri"/>
                <a:cs typeface="Calibri"/>
                <a:sym typeface="Calibri"/>
              </a:rPr>
              <a:t>¿Cuál es la probabilidad que un alumno no juegue tenis?</a:t>
            </a:r>
            <a:endParaRPr/>
          </a:p>
        </p:txBody>
      </p:sp>
      <p:graphicFrame>
        <p:nvGraphicFramePr>
          <p:cNvPr id="326" name="Google Shape;326;p20"/>
          <p:cNvGraphicFramePr/>
          <p:nvPr/>
        </p:nvGraphicFramePr>
        <p:xfrm>
          <a:off x="2427476" y="2493867"/>
          <a:ext cx="7170225" cy="2494340"/>
        </p:xfrm>
        <a:graphic>
          <a:graphicData uri="http://schemas.openxmlformats.org/drawingml/2006/table">
            <a:tbl>
              <a:tblPr firstRow="1" bandRow="1">
                <a:noFill/>
                <a:tableStyleId>{2A2B32C6-60CB-4645-9B78-3058D3881BFF}</a:tableStyleId>
              </a:tblPr>
              <a:tblGrid>
                <a:gridCol w="2390075">
                  <a:extLst>
                    <a:ext uri="{9D8B030D-6E8A-4147-A177-3AD203B41FA5}">
                      <a16:colId xmlns:a16="http://schemas.microsoft.com/office/drawing/2014/main" val="20000"/>
                    </a:ext>
                  </a:extLst>
                </a:gridCol>
                <a:gridCol w="2390075">
                  <a:extLst>
                    <a:ext uri="{9D8B030D-6E8A-4147-A177-3AD203B41FA5}">
                      <a16:colId xmlns:a16="http://schemas.microsoft.com/office/drawing/2014/main" val="20001"/>
                    </a:ext>
                  </a:extLst>
                </a:gridCol>
                <a:gridCol w="2390075">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s-ES" sz="1800" u="none" strike="noStrike" cap="none"/>
                        <a:t>Deporte</a:t>
                      </a:r>
                      <a:endParaRPr/>
                    </a:p>
                  </a:txBody>
                  <a:tcPr marL="91450" marR="91450" marT="45725" marB="45725"/>
                </a:tc>
                <a:tc>
                  <a:txBody>
                    <a:bodyPr/>
                    <a:lstStyle/>
                    <a:p>
                      <a:pPr marL="0" marR="0" lvl="0" indent="0" algn="ctr" rtl="0">
                        <a:spcBef>
                          <a:spcPts val="0"/>
                        </a:spcBef>
                        <a:spcAft>
                          <a:spcPts val="0"/>
                        </a:spcAft>
                        <a:buNone/>
                      </a:pPr>
                      <a:r>
                        <a:rPr lang="es-ES" sz="1800"/>
                        <a:t>Número de alumnos que lo práctica</a:t>
                      </a:r>
                      <a:endParaRPr sz="1800"/>
                    </a:p>
                  </a:txBody>
                  <a:tcPr marL="91450" marR="91450" marT="45725" marB="45725"/>
                </a:tc>
                <a:tc>
                  <a:txBody>
                    <a:bodyPr/>
                    <a:lstStyle/>
                    <a:p>
                      <a:pPr marL="0" marR="0" lvl="0" indent="0" algn="ctr" rtl="0">
                        <a:spcBef>
                          <a:spcPts val="0"/>
                        </a:spcBef>
                        <a:spcAft>
                          <a:spcPts val="0"/>
                        </a:spcAft>
                        <a:buNone/>
                      </a:pPr>
                      <a:r>
                        <a:rPr lang="es-ES" sz="1800"/>
                        <a:t> f relativa</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s-ES" sz="1800"/>
                        <a:t>Futbol</a:t>
                      </a:r>
                      <a:endParaRPr/>
                    </a:p>
                  </a:txBody>
                  <a:tcPr marL="91450" marR="91450" marT="45725" marB="45725"/>
                </a:tc>
                <a:tc>
                  <a:txBody>
                    <a:bodyPr/>
                    <a:lstStyle/>
                    <a:p>
                      <a:pPr marL="0" marR="0" lvl="0" indent="0" algn="ctr" rtl="0">
                        <a:spcBef>
                          <a:spcPts val="0"/>
                        </a:spcBef>
                        <a:spcAft>
                          <a:spcPts val="0"/>
                        </a:spcAft>
                        <a:buNone/>
                      </a:pPr>
                      <a:r>
                        <a:rPr lang="es-ES" sz="1800"/>
                        <a:t>120</a:t>
                      </a:r>
                      <a:endParaRPr/>
                    </a:p>
                  </a:txBody>
                  <a:tcPr marL="91450" marR="91450" marT="45725" marB="45725"/>
                </a:tc>
                <a:tc>
                  <a:txBody>
                    <a:bodyPr/>
                    <a:lstStyle/>
                    <a:p>
                      <a:pPr marL="0" marR="0" lvl="0" indent="0" algn="ctr" rtl="0">
                        <a:spcBef>
                          <a:spcPts val="0"/>
                        </a:spcBef>
                        <a:spcAft>
                          <a:spcPts val="0"/>
                        </a:spcAft>
                        <a:buNone/>
                      </a:pPr>
                      <a:r>
                        <a:rPr lang="es-ES" sz="1800"/>
                        <a:t>0,48</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s-ES" sz="1800"/>
                        <a:t>Tenis</a:t>
                      </a:r>
                      <a:endParaRPr/>
                    </a:p>
                  </a:txBody>
                  <a:tcPr marL="91450" marR="91450" marT="45725" marB="45725"/>
                </a:tc>
                <a:tc>
                  <a:txBody>
                    <a:bodyPr/>
                    <a:lstStyle/>
                    <a:p>
                      <a:pPr marL="0" marR="0" lvl="0" indent="0" algn="ctr" rtl="0">
                        <a:spcBef>
                          <a:spcPts val="0"/>
                        </a:spcBef>
                        <a:spcAft>
                          <a:spcPts val="0"/>
                        </a:spcAft>
                        <a:buNone/>
                      </a:pPr>
                      <a:r>
                        <a:rPr lang="es-ES" sz="1800"/>
                        <a:t>22</a:t>
                      </a:r>
                      <a:endParaRPr/>
                    </a:p>
                  </a:txBody>
                  <a:tcPr marL="91450" marR="91450" marT="45725" marB="45725"/>
                </a:tc>
                <a:tc>
                  <a:txBody>
                    <a:bodyPr/>
                    <a:lstStyle/>
                    <a:p>
                      <a:pPr marL="0" marR="0" lvl="0" indent="0" algn="ctr" rtl="0">
                        <a:spcBef>
                          <a:spcPts val="0"/>
                        </a:spcBef>
                        <a:spcAft>
                          <a:spcPts val="0"/>
                        </a:spcAft>
                        <a:buNone/>
                      </a:pPr>
                      <a:r>
                        <a:rPr lang="es-ES" sz="1800"/>
                        <a:t>0,088</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s-ES" sz="1800"/>
                        <a:t>Handball</a:t>
                      </a:r>
                      <a:endParaRPr sz="1800"/>
                    </a:p>
                  </a:txBody>
                  <a:tcPr marL="91450" marR="91450" marT="45725" marB="45725"/>
                </a:tc>
                <a:tc>
                  <a:txBody>
                    <a:bodyPr/>
                    <a:lstStyle/>
                    <a:p>
                      <a:pPr marL="0" marR="0" lvl="0" indent="0" algn="ctr" rtl="0">
                        <a:spcBef>
                          <a:spcPts val="0"/>
                        </a:spcBef>
                        <a:spcAft>
                          <a:spcPts val="0"/>
                        </a:spcAft>
                        <a:buNone/>
                      </a:pPr>
                      <a:r>
                        <a:rPr lang="es-ES" sz="1800"/>
                        <a:t>38</a:t>
                      </a:r>
                      <a:endParaRPr/>
                    </a:p>
                  </a:txBody>
                  <a:tcPr marL="91450" marR="91450" marT="45725" marB="45725"/>
                </a:tc>
                <a:tc>
                  <a:txBody>
                    <a:bodyPr/>
                    <a:lstStyle/>
                    <a:p>
                      <a:pPr marL="0" marR="0" lvl="0" indent="0" algn="ctr" rtl="0">
                        <a:spcBef>
                          <a:spcPts val="0"/>
                        </a:spcBef>
                        <a:spcAft>
                          <a:spcPts val="0"/>
                        </a:spcAft>
                        <a:buNone/>
                      </a:pPr>
                      <a:r>
                        <a:rPr lang="es-ES" sz="1800"/>
                        <a:t>0,152</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s-ES" sz="1800"/>
                        <a:t>Voleibol</a:t>
                      </a:r>
                      <a:endParaRPr/>
                    </a:p>
                  </a:txBody>
                  <a:tcPr marL="91450" marR="91450" marT="45725" marB="45725"/>
                </a:tc>
                <a:tc>
                  <a:txBody>
                    <a:bodyPr/>
                    <a:lstStyle/>
                    <a:p>
                      <a:pPr marL="0" marR="0" lvl="0" indent="0" algn="ctr" rtl="0">
                        <a:spcBef>
                          <a:spcPts val="0"/>
                        </a:spcBef>
                        <a:spcAft>
                          <a:spcPts val="0"/>
                        </a:spcAft>
                        <a:buNone/>
                      </a:pPr>
                      <a:r>
                        <a:rPr lang="es-ES" sz="1800"/>
                        <a:t>56</a:t>
                      </a:r>
                      <a:endParaRPr/>
                    </a:p>
                  </a:txBody>
                  <a:tcPr marL="91450" marR="91450" marT="45725" marB="45725"/>
                </a:tc>
                <a:tc>
                  <a:txBody>
                    <a:bodyPr/>
                    <a:lstStyle/>
                    <a:p>
                      <a:pPr marL="0" marR="0" lvl="0" indent="0" algn="ctr" rtl="0">
                        <a:spcBef>
                          <a:spcPts val="0"/>
                        </a:spcBef>
                        <a:spcAft>
                          <a:spcPts val="0"/>
                        </a:spcAft>
                        <a:buNone/>
                      </a:pPr>
                      <a:r>
                        <a:rPr lang="es-ES" sz="1800"/>
                        <a:t>0,224</a:t>
                      </a:r>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s-ES" sz="1800"/>
                        <a:t>Otros</a:t>
                      </a:r>
                      <a:endParaRPr/>
                    </a:p>
                  </a:txBody>
                  <a:tcPr marL="91450" marR="91450" marT="45725" marB="45725"/>
                </a:tc>
                <a:tc>
                  <a:txBody>
                    <a:bodyPr/>
                    <a:lstStyle/>
                    <a:p>
                      <a:pPr marL="0" marR="0" lvl="0" indent="0" algn="ctr" rtl="0">
                        <a:spcBef>
                          <a:spcPts val="0"/>
                        </a:spcBef>
                        <a:spcAft>
                          <a:spcPts val="0"/>
                        </a:spcAft>
                        <a:buNone/>
                      </a:pPr>
                      <a:r>
                        <a:rPr lang="es-ES" sz="1800"/>
                        <a:t>14</a:t>
                      </a:r>
                      <a:endParaRPr/>
                    </a:p>
                  </a:txBody>
                  <a:tcPr marL="91450" marR="91450" marT="45725" marB="45725"/>
                </a:tc>
                <a:tc>
                  <a:txBody>
                    <a:bodyPr/>
                    <a:lstStyle/>
                    <a:p>
                      <a:pPr marL="0" marR="0" lvl="0" indent="0" algn="ctr" rtl="0">
                        <a:spcBef>
                          <a:spcPts val="0"/>
                        </a:spcBef>
                        <a:spcAft>
                          <a:spcPts val="0"/>
                        </a:spcAft>
                        <a:buNone/>
                      </a:pPr>
                      <a:r>
                        <a:rPr lang="es-ES" sz="1800"/>
                        <a:t>0,056</a:t>
                      </a:r>
                      <a:endParaRPr/>
                    </a:p>
                  </a:txBody>
                  <a:tcPr marL="91450" marR="91450" marT="45725" marB="45725"/>
                </a:tc>
                <a:extLst>
                  <a:ext uri="{0D108BD9-81ED-4DB2-BD59-A6C34878D82A}">
                    <a16:rowId xmlns:a16="http://schemas.microsoft.com/office/drawing/2014/main" val="10005"/>
                  </a:ext>
                </a:extLst>
              </a:tr>
            </a:tbl>
          </a:graphicData>
        </a:graphic>
      </p:graphicFrame>
      <p:sp>
        <p:nvSpPr>
          <p:cNvPr id="327" name="Google Shape;327;p20"/>
          <p:cNvSpPr txBox="1"/>
          <p:nvPr/>
        </p:nvSpPr>
        <p:spPr>
          <a:xfrm>
            <a:off x="884517" y="586876"/>
            <a:ext cx="10422966" cy="506969"/>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Ejemplo 2</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7"/>
                                        </p:tgtEl>
                                        <p:attrNameLst>
                                          <p:attrName>style.visibility</p:attrName>
                                        </p:attrNameLst>
                                      </p:cBhvr>
                                      <p:to>
                                        <p:strVal val="visible"/>
                                      </p:to>
                                    </p:set>
                                    <p:animEffect transition="in" filter="fade">
                                      <p:cBhvr>
                                        <p:cTn id="7" dur="500"/>
                                        <p:tgtEl>
                                          <p:spTgt spid="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1"/>
        <p:cNvGrpSpPr/>
        <p:nvPr/>
      </p:nvGrpSpPr>
      <p:grpSpPr>
        <a:xfrm>
          <a:off x="0" y="0"/>
          <a:ext cx="0" cy="0"/>
          <a:chOff x="0" y="0"/>
          <a:chExt cx="0" cy="0"/>
        </a:xfrm>
      </p:grpSpPr>
      <p:sp>
        <p:nvSpPr>
          <p:cNvPr id="332" name="Google Shape;332;p21"/>
          <p:cNvSpPr/>
          <p:nvPr/>
        </p:nvSpPr>
        <p:spPr>
          <a:xfrm>
            <a:off x="525184" y="2211967"/>
            <a:ext cx="11438216" cy="3382878"/>
          </a:xfrm>
          <a:prstGeom prst="roundRect">
            <a:avLst>
              <a:gd name="adj" fmla="val 4466"/>
            </a:avLst>
          </a:prstGeom>
          <a:solidFill>
            <a:schemeClr val="lt1"/>
          </a:solidFill>
          <a:ln w="28575"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 name="Google Shape;333;p21"/>
          <p:cNvSpPr/>
          <p:nvPr/>
        </p:nvSpPr>
        <p:spPr>
          <a:xfrm>
            <a:off x="-517443" y="1721954"/>
            <a:ext cx="6803943" cy="4315052"/>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 name="Google Shape;334;p21"/>
          <p:cNvSpPr/>
          <p:nvPr/>
        </p:nvSpPr>
        <p:spPr>
          <a:xfrm>
            <a:off x="525184" y="2027172"/>
            <a:ext cx="5302398" cy="34163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Conceptos básicos sobre conjuntos: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Conjunto</a:t>
            </a:r>
            <a:r>
              <a:rPr lang="es-ES" sz="1800">
                <a:solidFill>
                  <a:schemeClr val="lt1"/>
                </a:solidFill>
                <a:latin typeface="Calibri"/>
                <a:ea typeface="Calibri"/>
                <a:cs typeface="Calibri"/>
                <a:sym typeface="Calibri"/>
              </a:rPr>
              <a:t>: Es una colección de elementos. Se denotan con letras mayúsculas. El conjunto formado por todos los elementos. En probabilidad el universo es el espacio muestral(Ω).</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Cardinalidad de un conjunto</a:t>
            </a:r>
            <a:r>
              <a:rPr lang="es-ES" sz="1800">
                <a:solidFill>
                  <a:schemeClr val="lt1"/>
                </a:solidFill>
                <a:latin typeface="Calibri"/>
                <a:ea typeface="Calibri"/>
                <a:cs typeface="Calibri"/>
                <a:sym typeface="Calibri"/>
              </a:rPr>
              <a:t>: es la cantidad de elementos que tiene y se denota por #𝐴.</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Complemento de A</a:t>
            </a:r>
            <a:r>
              <a:rPr lang="es-ES" sz="1800">
                <a:solidFill>
                  <a:schemeClr val="lt1"/>
                </a:solidFill>
                <a:latin typeface="Calibri"/>
                <a:ea typeface="Calibri"/>
                <a:cs typeface="Calibri"/>
                <a:sym typeface="Calibri"/>
              </a:rPr>
              <a:t>: es el conjunto formado por los elementos que no pertenecen a A.</a:t>
            </a:r>
            <a:endParaRPr/>
          </a:p>
        </p:txBody>
      </p:sp>
      <p:pic>
        <p:nvPicPr>
          <p:cNvPr id="335" name="Google Shape;335;p21"/>
          <p:cNvPicPr preferRelativeResize="0"/>
          <p:nvPr/>
        </p:nvPicPr>
        <p:blipFill rotWithShape="1">
          <a:blip r:embed="rId4">
            <a:alphaModFix/>
          </a:blip>
          <a:srcRect/>
          <a:stretch/>
        </p:blipFill>
        <p:spPr>
          <a:xfrm>
            <a:off x="6456593" y="2633250"/>
            <a:ext cx="5295904" cy="2540312"/>
          </a:xfrm>
          <a:prstGeom prst="rect">
            <a:avLst/>
          </a:prstGeom>
          <a:noFill/>
          <a:ln>
            <a:noFill/>
          </a:ln>
        </p:spPr>
      </p:pic>
      <p:sp>
        <p:nvSpPr>
          <p:cNvPr id="336" name="Google Shape;336;p21"/>
          <p:cNvSpPr txBox="1"/>
          <p:nvPr/>
        </p:nvSpPr>
        <p:spPr>
          <a:xfrm>
            <a:off x="525184" y="907977"/>
            <a:ext cx="10782300" cy="662624"/>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Propiedades de la Probabilidad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6"/>
                                        </p:tgtEl>
                                        <p:attrNameLst>
                                          <p:attrName>style.visibility</p:attrName>
                                        </p:attrNameLst>
                                      </p:cBhvr>
                                      <p:to>
                                        <p:strVal val="visible"/>
                                      </p:to>
                                    </p:set>
                                    <p:animEffect transition="in" filter="fade">
                                      <p:cBhvr>
                                        <p:cTn id="7" dur="500"/>
                                        <p:tgtEl>
                                          <p:spTgt spid="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0"/>
        <p:cNvGrpSpPr/>
        <p:nvPr/>
      </p:nvGrpSpPr>
      <p:grpSpPr>
        <a:xfrm>
          <a:off x="0" y="0"/>
          <a:ext cx="0" cy="0"/>
          <a:chOff x="0" y="0"/>
          <a:chExt cx="0" cy="0"/>
        </a:xfrm>
      </p:grpSpPr>
      <p:sp>
        <p:nvSpPr>
          <p:cNvPr id="341" name="Google Shape;341;p22"/>
          <p:cNvSpPr/>
          <p:nvPr/>
        </p:nvSpPr>
        <p:spPr>
          <a:xfrm>
            <a:off x="525184" y="1248697"/>
            <a:ext cx="10958894" cy="5275911"/>
          </a:xfrm>
          <a:prstGeom prst="roundRect">
            <a:avLst>
              <a:gd name="adj" fmla="val 4466"/>
            </a:avLst>
          </a:prstGeom>
          <a:solidFill>
            <a:schemeClr val="lt1"/>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2" name="Google Shape;342;p22"/>
          <p:cNvSpPr txBox="1"/>
          <p:nvPr/>
        </p:nvSpPr>
        <p:spPr>
          <a:xfrm>
            <a:off x="880908" y="1528096"/>
            <a:ext cx="1018786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Arial"/>
                <a:ea typeface="Arial"/>
                <a:cs typeface="Arial"/>
                <a:sym typeface="Arial"/>
              </a:rPr>
              <a:t>Unión de conjuntos</a:t>
            </a:r>
            <a:r>
              <a:rPr lang="es-ES" sz="1800">
                <a:solidFill>
                  <a:srgbClr val="595959"/>
                </a:solidFill>
                <a:latin typeface="Arial"/>
                <a:ea typeface="Arial"/>
                <a:cs typeface="Arial"/>
                <a:sym typeface="Arial"/>
              </a:rPr>
              <a:t>: Corresponde a los conjuntos formados por los elementos que pertenecen a A o los elementos que pertenecen a B</a:t>
            </a:r>
            <a:endParaRPr/>
          </a:p>
        </p:txBody>
      </p:sp>
      <p:pic>
        <p:nvPicPr>
          <p:cNvPr id="343" name="Google Shape;343;p22"/>
          <p:cNvPicPr preferRelativeResize="0"/>
          <p:nvPr/>
        </p:nvPicPr>
        <p:blipFill rotWithShape="1">
          <a:blip r:embed="rId4">
            <a:alphaModFix/>
          </a:blip>
          <a:srcRect t="15414"/>
          <a:stretch/>
        </p:blipFill>
        <p:spPr>
          <a:xfrm>
            <a:off x="3448718" y="2398678"/>
            <a:ext cx="4505674" cy="1600540"/>
          </a:xfrm>
          <a:prstGeom prst="rect">
            <a:avLst/>
          </a:prstGeom>
          <a:noFill/>
          <a:ln>
            <a:noFill/>
          </a:ln>
        </p:spPr>
      </p:pic>
      <p:sp>
        <p:nvSpPr>
          <p:cNvPr id="344" name="Google Shape;344;p22"/>
          <p:cNvSpPr txBox="1"/>
          <p:nvPr/>
        </p:nvSpPr>
        <p:spPr>
          <a:xfrm>
            <a:off x="880908" y="4025532"/>
            <a:ext cx="102783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Arial"/>
                <a:ea typeface="Arial"/>
                <a:cs typeface="Arial"/>
                <a:sym typeface="Arial"/>
              </a:rPr>
              <a:t>Intersección de conjuntos</a:t>
            </a:r>
            <a:r>
              <a:rPr lang="es-ES" sz="1800">
                <a:solidFill>
                  <a:srgbClr val="595959"/>
                </a:solidFill>
                <a:latin typeface="Arial"/>
                <a:ea typeface="Arial"/>
                <a:cs typeface="Arial"/>
                <a:sym typeface="Arial"/>
              </a:rPr>
              <a:t>: Corresponden a los elementos que están simultáneamente en A y en B</a:t>
            </a:r>
            <a:endParaRPr/>
          </a:p>
        </p:txBody>
      </p:sp>
      <p:pic>
        <p:nvPicPr>
          <p:cNvPr id="345" name="Google Shape;345;p22"/>
          <p:cNvPicPr preferRelativeResize="0"/>
          <p:nvPr/>
        </p:nvPicPr>
        <p:blipFill rotWithShape="1">
          <a:blip r:embed="rId5">
            <a:alphaModFix/>
          </a:blip>
          <a:srcRect/>
          <a:stretch/>
        </p:blipFill>
        <p:spPr>
          <a:xfrm>
            <a:off x="3448718" y="4585287"/>
            <a:ext cx="4336663" cy="1660682"/>
          </a:xfrm>
          <a:prstGeom prst="rect">
            <a:avLst/>
          </a:prstGeom>
          <a:noFill/>
          <a:ln>
            <a:noFill/>
          </a:ln>
        </p:spPr>
      </p:pic>
      <p:sp>
        <p:nvSpPr>
          <p:cNvPr id="346" name="Google Shape;346;p22"/>
          <p:cNvSpPr txBox="1"/>
          <p:nvPr/>
        </p:nvSpPr>
        <p:spPr>
          <a:xfrm>
            <a:off x="880908" y="407909"/>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Propiedades de la Probabilidad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6"/>
                                        </p:tgtEl>
                                        <p:attrNameLst>
                                          <p:attrName>style.visibility</p:attrName>
                                        </p:attrNameLst>
                                      </p:cBhvr>
                                      <p:to>
                                        <p:strVal val="visible"/>
                                      </p:to>
                                    </p:set>
                                    <p:animEffect transition="in" filter="fade">
                                      <p:cBhvr>
                                        <p:cTn id="7" dur="500"/>
                                        <p:tgtEl>
                                          <p:spTgt spid="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0"/>
        <p:cNvGrpSpPr/>
        <p:nvPr/>
      </p:nvGrpSpPr>
      <p:grpSpPr>
        <a:xfrm>
          <a:off x="0" y="0"/>
          <a:ext cx="0" cy="0"/>
          <a:chOff x="0" y="0"/>
          <a:chExt cx="0" cy="0"/>
        </a:xfrm>
      </p:grpSpPr>
      <p:sp>
        <p:nvSpPr>
          <p:cNvPr id="351" name="Google Shape;351;p23"/>
          <p:cNvSpPr/>
          <p:nvPr/>
        </p:nvSpPr>
        <p:spPr>
          <a:xfrm>
            <a:off x="969091" y="1248697"/>
            <a:ext cx="7019883" cy="4999703"/>
          </a:xfrm>
          <a:prstGeom prst="roundRect">
            <a:avLst>
              <a:gd name="adj" fmla="val 4466"/>
            </a:avLst>
          </a:prstGeom>
          <a:solidFill>
            <a:schemeClr val="lt1"/>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52" name="Google Shape;352;p23"/>
          <p:cNvPicPr preferRelativeResize="0"/>
          <p:nvPr/>
        </p:nvPicPr>
        <p:blipFill rotWithShape="1">
          <a:blip r:embed="rId4">
            <a:alphaModFix/>
          </a:blip>
          <a:srcRect/>
          <a:stretch/>
        </p:blipFill>
        <p:spPr>
          <a:xfrm>
            <a:off x="2371776" y="2353834"/>
            <a:ext cx="4075007" cy="3416647"/>
          </a:xfrm>
          <a:prstGeom prst="rect">
            <a:avLst/>
          </a:prstGeom>
          <a:noFill/>
          <a:ln w="9525" cap="flat" cmpd="sng">
            <a:solidFill>
              <a:srgbClr val="7F7F7F"/>
            </a:solidFill>
            <a:prstDash val="solid"/>
            <a:round/>
            <a:headEnd type="none" w="sm" len="sm"/>
            <a:tailEnd type="none" w="sm" len="sm"/>
          </a:ln>
        </p:spPr>
      </p:pic>
      <p:sp>
        <p:nvSpPr>
          <p:cNvPr id="353" name="Google Shape;353;p23"/>
          <p:cNvSpPr txBox="1"/>
          <p:nvPr/>
        </p:nvSpPr>
        <p:spPr>
          <a:xfrm>
            <a:off x="5334" y="1710509"/>
            <a:ext cx="919766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b="1">
                <a:solidFill>
                  <a:srgbClr val="595959"/>
                </a:solidFill>
                <a:latin typeface="Calibri"/>
                <a:ea typeface="Calibri"/>
                <a:cs typeface="Calibri"/>
                <a:sym typeface="Calibri"/>
              </a:rPr>
              <a:t>Complemento de A</a:t>
            </a:r>
            <a:r>
              <a:rPr lang="es-ES" sz="1800">
                <a:solidFill>
                  <a:srgbClr val="595959"/>
                </a:solidFill>
                <a:latin typeface="Calibri"/>
                <a:ea typeface="Calibri"/>
                <a:cs typeface="Calibri"/>
                <a:sym typeface="Calibri"/>
              </a:rPr>
              <a:t>: Son todos los elementos que no están en A.</a:t>
            </a:r>
            <a:endParaRPr/>
          </a:p>
        </p:txBody>
      </p:sp>
      <p:sp>
        <p:nvSpPr>
          <p:cNvPr id="354" name="Google Shape;354;p23"/>
          <p:cNvSpPr/>
          <p:nvPr/>
        </p:nvSpPr>
        <p:spPr>
          <a:xfrm>
            <a:off x="1485251" y="492907"/>
            <a:ext cx="5878532"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3200">
                <a:solidFill>
                  <a:srgbClr val="7F7F7F"/>
                </a:solidFill>
                <a:latin typeface="Arial"/>
                <a:ea typeface="Arial"/>
                <a:cs typeface="Arial"/>
                <a:sym typeface="Arial"/>
              </a:rPr>
              <a:t>Propiedades de la Probabilidad</a:t>
            </a:r>
            <a:endParaRPr sz="3200">
              <a:solidFill>
                <a:srgbClr val="7F7F7F"/>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8"/>
        <p:cNvGrpSpPr/>
        <p:nvPr/>
      </p:nvGrpSpPr>
      <p:grpSpPr>
        <a:xfrm>
          <a:off x="0" y="0"/>
          <a:ext cx="0" cy="0"/>
          <a:chOff x="0" y="0"/>
          <a:chExt cx="0" cy="0"/>
        </a:xfrm>
      </p:grpSpPr>
      <p:sp>
        <p:nvSpPr>
          <p:cNvPr id="359" name="Google Shape;359;p24"/>
          <p:cNvSpPr/>
          <p:nvPr/>
        </p:nvSpPr>
        <p:spPr>
          <a:xfrm>
            <a:off x="1278195" y="1303125"/>
            <a:ext cx="7422915" cy="4945275"/>
          </a:xfrm>
          <a:prstGeom prst="roundRect">
            <a:avLst>
              <a:gd name="adj" fmla="val 4466"/>
            </a:avLst>
          </a:prstGeom>
          <a:solidFill>
            <a:schemeClr val="lt1"/>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0" name="Google Shape;360;p24"/>
          <p:cNvSpPr txBox="1"/>
          <p:nvPr/>
        </p:nvSpPr>
        <p:spPr>
          <a:xfrm>
            <a:off x="1948543" y="1554835"/>
            <a:ext cx="61722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b="1">
                <a:solidFill>
                  <a:schemeClr val="dk1"/>
                </a:solidFill>
                <a:latin typeface="Calibri"/>
                <a:ea typeface="Calibri"/>
                <a:cs typeface="Calibri"/>
                <a:sym typeface="Calibri"/>
              </a:rPr>
              <a:t>Diferencia entre A y B: </a:t>
            </a:r>
            <a:r>
              <a:rPr lang="es-ES" sz="1800">
                <a:solidFill>
                  <a:schemeClr val="dk1"/>
                </a:solidFill>
                <a:latin typeface="Calibri"/>
                <a:ea typeface="Calibri"/>
                <a:cs typeface="Calibri"/>
                <a:sym typeface="Calibri"/>
              </a:rPr>
              <a:t>Corresponde a los elementos que están en A y que no están en B.</a:t>
            </a:r>
            <a:endParaRPr/>
          </a:p>
        </p:txBody>
      </p:sp>
      <p:pic>
        <p:nvPicPr>
          <p:cNvPr id="361" name="Google Shape;361;p24"/>
          <p:cNvPicPr preferRelativeResize="0"/>
          <p:nvPr/>
        </p:nvPicPr>
        <p:blipFill rotWithShape="1">
          <a:blip r:embed="rId4">
            <a:alphaModFix/>
          </a:blip>
          <a:srcRect/>
          <a:stretch/>
        </p:blipFill>
        <p:spPr>
          <a:xfrm>
            <a:off x="2334857" y="2489177"/>
            <a:ext cx="5018572" cy="3400862"/>
          </a:xfrm>
          <a:prstGeom prst="rect">
            <a:avLst/>
          </a:prstGeom>
          <a:noFill/>
          <a:ln>
            <a:noFill/>
          </a:ln>
        </p:spPr>
      </p:pic>
      <p:sp>
        <p:nvSpPr>
          <p:cNvPr id="362" name="Google Shape;362;p24"/>
          <p:cNvSpPr txBox="1"/>
          <p:nvPr/>
        </p:nvSpPr>
        <p:spPr>
          <a:xfrm>
            <a:off x="1278194" y="333392"/>
            <a:ext cx="10029289"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Propiedades de la Probabilidad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2"/>
                                        </p:tgtEl>
                                        <p:attrNameLst>
                                          <p:attrName>style.visibility</p:attrName>
                                        </p:attrNameLst>
                                      </p:cBhvr>
                                      <p:to>
                                        <p:strVal val="visible"/>
                                      </p:to>
                                    </p:set>
                                    <p:animEffect transition="in" filter="fade">
                                      <p:cBhvr>
                                        <p:cTn id="7" dur="500"/>
                                        <p:tgtEl>
                                          <p:spTgt spid="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6"/>
        <p:cNvGrpSpPr/>
        <p:nvPr/>
      </p:nvGrpSpPr>
      <p:grpSpPr>
        <a:xfrm>
          <a:off x="0" y="0"/>
          <a:ext cx="0" cy="0"/>
          <a:chOff x="0" y="0"/>
          <a:chExt cx="0" cy="0"/>
        </a:xfrm>
      </p:grpSpPr>
      <p:sp>
        <p:nvSpPr>
          <p:cNvPr id="367" name="Google Shape;367;p25"/>
          <p:cNvSpPr txBox="1"/>
          <p:nvPr/>
        </p:nvSpPr>
        <p:spPr>
          <a:xfrm>
            <a:off x="1182386" y="3416582"/>
            <a:ext cx="10782300" cy="75229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Clr>
                <a:schemeClr val="dk1"/>
              </a:buClr>
              <a:buSzPts val="3600"/>
              <a:buFont typeface="Calibri"/>
              <a:buNone/>
            </a:pPr>
            <a:endParaRPr sz="3600" b="0" i="0" u="none" strike="noStrike" cap="none">
              <a:solidFill>
                <a:srgbClr val="7F7F7F"/>
              </a:solidFill>
              <a:latin typeface="Arial"/>
              <a:ea typeface="Arial"/>
              <a:cs typeface="Arial"/>
              <a:sym typeface="Arial"/>
            </a:endParaRPr>
          </a:p>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Reglas Aditivas y Multiplicativas</a:t>
            </a:r>
            <a:endParaRPr/>
          </a:p>
          <a:p>
            <a:pPr marL="0" marR="0" lvl="0" indent="0" algn="just" rtl="0">
              <a:lnSpc>
                <a:spcPct val="90000"/>
              </a:lnSpc>
              <a:spcBef>
                <a:spcPts val="0"/>
              </a:spcBef>
              <a:spcAft>
                <a:spcPts val="0"/>
              </a:spcAft>
              <a:buClr>
                <a:schemeClr val="dk1"/>
              </a:buClr>
              <a:buSzPts val="3600"/>
              <a:buFont typeface="Calibri"/>
              <a:buNone/>
            </a:pPr>
            <a:endParaRPr sz="3600" b="0" i="0" u="none" strike="noStrike" cap="none">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7"/>
                                        </p:tgtEl>
                                        <p:attrNameLst>
                                          <p:attrName>style.visibility</p:attrName>
                                        </p:attrNameLst>
                                      </p:cBhvr>
                                      <p:to>
                                        <p:strVal val="visible"/>
                                      </p:to>
                                    </p:set>
                                    <p:animEffect transition="in" filter="fade">
                                      <p:cBhvr>
                                        <p:cTn id="7" dur="500"/>
                                        <p:tgtEl>
                                          <p:spTgt spid="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1"/>
        <p:cNvGrpSpPr/>
        <p:nvPr/>
      </p:nvGrpSpPr>
      <p:grpSpPr>
        <a:xfrm>
          <a:off x="0" y="0"/>
          <a:ext cx="0" cy="0"/>
          <a:chOff x="0" y="0"/>
          <a:chExt cx="0" cy="0"/>
        </a:xfrm>
      </p:grpSpPr>
      <p:sp>
        <p:nvSpPr>
          <p:cNvPr id="372" name="Google Shape;372;p26"/>
          <p:cNvSpPr/>
          <p:nvPr/>
        </p:nvSpPr>
        <p:spPr>
          <a:xfrm>
            <a:off x="563958" y="1032387"/>
            <a:ext cx="10958894" cy="5390920"/>
          </a:xfrm>
          <a:prstGeom prst="roundRect">
            <a:avLst>
              <a:gd name="adj" fmla="val 4466"/>
            </a:avLst>
          </a:prstGeom>
          <a:solidFill>
            <a:schemeClr val="lt1"/>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3" name="Google Shape;373;p26"/>
          <p:cNvSpPr txBox="1"/>
          <p:nvPr/>
        </p:nvSpPr>
        <p:spPr>
          <a:xfrm>
            <a:off x="786693" y="2330213"/>
            <a:ext cx="9192519"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Calibri"/>
                <a:ea typeface="Calibri"/>
                <a:cs typeface="Calibri"/>
                <a:sym typeface="Calibri"/>
              </a:rPr>
              <a:t>Se definen dos sucesos:</a:t>
            </a:r>
            <a:endParaRPr/>
          </a:p>
          <a:p>
            <a:pPr marL="0" marR="0" lvl="0" indent="0" algn="l" rtl="0">
              <a:spcBef>
                <a:spcPts val="0"/>
              </a:spcBef>
              <a:spcAft>
                <a:spcPts val="0"/>
              </a:spcAft>
              <a:buNone/>
            </a:pPr>
            <a:r>
              <a:rPr lang="es-ES" sz="1800" b="1">
                <a:solidFill>
                  <a:srgbClr val="595959"/>
                </a:solidFill>
                <a:latin typeface="Calibri"/>
                <a:ea typeface="Calibri"/>
                <a:cs typeface="Calibri"/>
                <a:sym typeface="Calibri"/>
              </a:rPr>
              <a:t>A:</a:t>
            </a:r>
            <a:r>
              <a:rPr lang="es-ES" sz="1800">
                <a:solidFill>
                  <a:srgbClr val="595959"/>
                </a:solidFill>
                <a:latin typeface="Calibri"/>
                <a:ea typeface="Calibri"/>
                <a:cs typeface="Calibri"/>
                <a:sym typeface="Calibri"/>
              </a:rPr>
              <a:t> Obtener un número menor que dos</a:t>
            </a:r>
            <a:endParaRPr/>
          </a:p>
          <a:p>
            <a:pPr marL="0" marR="0" lvl="0" indent="0" algn="l" rtl="0">
              <a:spcBef>
                <a:spcPts val="0"/>
              </a:spcBef>
              <a:spcAft>
                <a:spcPts val="0"/>
              </a:spcAft>
              <a:buNone/>
            </a:pPr>
            <a:r>
              <a:rPr lang="es-ES" sz="1800">
                <a:solidFill>
                  <a:srgbClr val="595959"/>
                </a:solidFill>
                <a:latin typeface="Calibri"/>
                <a:ea typeface="Calibri"/>
                <a:cs typeface="Calibri"/>
                <a:sym typeface="Calibri"/>
              </a:rPr>
              <a:t>A = { 1 }</a:t>
            </a:r>
            <a:endParaRPr/>
          </a:p>
          <a:p>
            <a:pPr marL="0" marR="0" lvl="0" indent="0" algn="l" rtl="0">
              <a:spcBef>
                <a:spcPts val="0"/>
              </a:spcBef>
              <a:spcAft>
                <a:spcPts val="0"/>
              </a:spcAft>
              <a:buNone/>
            </a:pPr>
            <a:endParaRPr sz="1800">
              <a:solidFill>
                <a:srgbClr val="595959"/>
              </a:solidFill>
              <a:latin typeface="Calibri"/>
              <a:ea typeface="Calibri"/>
              <a:cs typeface="Calibri"/>
              <a:sym typeface="Calibri"/>
            </a:endParaRPr>
          </a:p>
          <a:p>
            <a:pPr marL="0" marR="0" lvl="0" indent="0" algn="l" rtl="0">
              <a:spcBef>
                <a:spcPts val="0"/>
              </a:spcBef>
              <a:spcAft>
                <a:spcPts val="0"/>
              </a:spcAft>
              <a:buNone/>
            </a:pPr>
            <a:r>
              <a:rPr lang="es-ES" sz="1800" b="1">
                <a:solidFill>
                  <a:srgbClr val="595959"/>
                </a:solidFill>
                <a:latin typeface="Calibri"/>
                <a:ea typeface="Calibri"/>
                <a:cs typeface="Calibri"/>
                <a:sym typeface="Calibri"/>
              </a:rPr>
              <a:t>B:</a:t>
            </a:r>
            <a:r>
              <a:rPr lang="es-ES" sz="1800">
                <a:solidFill>
                  <a:srgbClr val="595959"/>
                </a:solidFill>
                <a:latin typeface="Calibri"/>
                <a:ea typeface="Calibri"/>
                <a:cs typeface="Calibri"/>
                <a:sym typeface="Calibri"/>
              </a:rPr>
              <a:t> Obtener un numero par</a:t>
            </a:r>
            <a:endParaRPr/>
          </a:p>
          <a:p>
            <a:pPr marL="0" marR="0" lvl="0" indent="0" algn="l" rtl="0">
              <a:spcBef>
                <a:spcPts val="0"/>
              </a:spcBef>
              <a:spcAft>
                <a:spcPts val="0"/>
              </a:spcAft>
              <a:buNone/>
            </a:pPr>
            <a:r>
              <a:rPr lang="es-ES" sz="1800">
                <a:solidFill>
                  <a:srgbClr val="595959"/>
                </a:solidFill>
                <a:latin typeface="Calibri"/>
                <a:ea typeface="Calibri"/>
                <a:cs typeface="Calibri"/>
                <a:sym typeface="Calibri"/>
              </a:rPr>
              <a:t>B = { 2, 4, 6}</a:t>
            </a:r>
            <a:endParaRPr/>
          </a:p>
        </p:txBody>
      </p:sp>
      <p:sp>
        <p:nvSpPr>
          <p:cNvPr id="374" name="Google Shape;374;p26"/>
          <p:cNvSpPr txBox="1"/>
          <p:nvPr/>
        </p:nvSpPr>
        <p:spPr>
          <a:xfrm>
            <a:off x="786693" y="4372683"/>
            <a:ext cx="944444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595959"/>
                </a:solidFill>
                <a:latin typeface="Calibri"/>
                <a:ea typeface="Calibri"/>
                <a:cs typeface="Calibri"/>
                <a:sym typeface="Calibri"/>
              </a:rPr>
              <a:t>Si ahora queremos obtener la probabilidad de  A U B, entonces los casos favorables serán:</a:t>
            </a:r>
            <a:endParaRPr/>
          </a:p>
        </p:txBody>
      </p:sp>
      <p:sp>
        <p:nvSpPr>
          <p:cNvPr id="375" name="Google Shape;375;p26"/>
          <p:cNvSpPr txBox="1"/>
          <p:nvPr/>
        </p:nvSpPr>
        <p:spPr>
          <a:xfrm>
            <a:off x="802238" y="5293217"/>
            <a:ext cx="97548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595959"/>
                </a:solidFill>
                <a:latin typeface="Calibri"/>
                <a:ea typeface="Calibri"/>
                <a:cs typeface="Calibri"/>
                <a:sym typeface="Calibri"/>
              </a:rPr>
              <a:t>Es decir, al ser </a:t>
            </a:r>
            <a:r>
              <a:rPr lang="es-ES" sz="1800" b="1">
                <a:solidFill>
                  <a:srgbClr val="595959"/>
                </a:solidFill>
                <a:latin typeface="Calibri"/>
                <a:ea typeface="Calibri"/>
                <a:cs typeface="Calibri"/>
                <a:sym typeface="Calibri"/>
              </a:rPr>
              <a:t>disjuntos o mutuamente </a:t>
            </a:r>
            <a:r>
              <a:rPr lang="es-ES" sz="1800">
                <a:solidFill>
                  <a:srgbClr val="595959"/>
                </a:solidFill>
                <a:latin typeface="Calibri"/>
                <a:ea typeface="Calibri"/>
                <a:cs typeface="Calibri"/>
                <a:sym typeface="Calibri"/>
              </a:rPr>
              <a:t>excluyentes, se tiene:</a:t>
            </a:r>
            <a:endParaRPr/>
          </a:p>
        </p:txBody>
      </p:sp>
      <p:sp>
        <p:nvSpPr>
          <p:cNvPr id="376" name="Google Shape;376;p26"/>
          <p:cNvSpPr txBox="1"/>
          <p:nvPr/>
        </p:nvSpPr>
        <p:spPr>
          <a:xfrm>
            <a:off x="786693" y="1256672"/>
            <a:ext cx="429957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b="1">
                <a:solidFill>
                  <a:srgbClr val="595959"/>
                </a:solidFill>
                <a:latin typeface="Calibri"/>
                <a:ea typeface="Calibri"/>
                <a:cs typeface="Calibri"/>
                <a:sym typeface="Calibri"/>
              </a:rPr>
              <a:t>Imagina el experimento de lanzar un dado:</a:t>
            </a:r>
            <a:endParaRPr/>
          </a:p>
        </p:txBody>
      </p:sp>
      <p:sp>
        <p:nvSpPr>
          <p:cNvPr id="377" name="Google Shape;377;p26"/>
          <p:cNvSpPr txBox="1"/>
          <p:nvPr/>
        </p:nvSpPr>
        <p:spPr>
          <a:xfrm>
            <a:off x="4343221" y="1758278"/>
            <a:ext cx="2368118" cy="369332"/>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78" name="Google Shape;378;p26"/>
          <p:cNvSpPr txBox="1"/>
          <p:nvPr/>
        </p:nvSpPr>
        <p:spPr>
          <a:xfrm>
            <a:off x="4477400" y="5841125"/>
            <a:ext cx="3132000" cy="369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a:solidFill>
                  <a:srgbClr val="595959"/>
                </a:solidFill>
                <a:latin typeface="Arial"/>
                <a:ea typeface="Arial"/>
                <a:cs typeface="Arial"/>
                <a:sym typeface="Arial"/>
              </a:rPr>
              <a:t>P(A U B) = P(A) + P(B)</a:t>
            </a:r>
            <a:endParaRPr/>
          </a:p>
        </p:txBody>
      </p:sp>
      <p:sp>
        <p:nvSpPr>
          <p:cNvPr id="379" name="Google Shape;379;p26"/>
          <p:cNvSpPr txBox="1"/>
          <p:nvPr/>
        </p:nvSpPr>
        <p:spPr>
          <a:xfrm>
            <a:off x="4968255" y="4813717"/>
            <a:ext cx="21503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a:solidFill>
                  <a:srgbClr val="595959"/>
                </a:solidFill>
                <a:latin typeface="Arial"/>
                <a:ea typeface="Arial"/>
                <a:cs typeface="Arial"/>
                <a:sym typeface="Arial"/>
              </a:rPr>
              <a:t>A U B = { 1, 2, 4, 6}</a:t>
            </a:r>
            <a:endParaRPr/>
          </a:p>
        </p:txBody>
      </p:sp>
      <p:sp>
        <p:nvSpPr>
          <p:cNvPr id="380" name="Google Shape;380;p26"/>
          <p:cNvSpPr/>
          <p:nvPr/>
        </p:nvSpPr>
        <p:spPr>
          <a:xfrm>
            <a:off x="786693" y="309350"/>
            <a:ext cx="369344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a:solidFill>
                  <a:srgbClr val="7F7F7F"/>
                </a:solidFill>
                <a:latin typeface="Arial"/>
                <a:ea typeface="Arial"/>
                <a:cs typeface="Arial"/>
                <a:sym typeface="Arial"/>
              </a:rPr>
              <a:t>Regla de la Adición</a:t>
            </a:r>
            <a:endParaRPr sz="3200">
              <a:solidFill>
                <a:srgbClr val="7F7F7F"/>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4"/>
        <p:cNvGrpSpPr/>
        <p:nvPr/>
      </p:nvGrpSpPr>
      <p:grpSpPr>
        <a:xfrm>
          <a:off x="0" y="0"/>
          <a:ext cx="0" cy="0"/>
          <a:chOff x="0" y="0"/>
          <a:chExt cx="0" cy="0"/>
        </a:xfrm>
      </p:grpSpPr>
      <p:sp>
        <p:nvSpPr>
          <p:cNvPr id="385" name="Google Shape;385;p27"/>
          <p:cNvSpPr/>
          <p:nvPr/>
        </p:nvSpPr>
        <p:spPr>
          <a:xfrm>
            <a:off x="601353" y="1193138"/>
            <a:ext cx="10958894" cy="5119171"/>
          </a:xfrm>
          <a:prstGeom prst="roundRect">
            <a:avLst>
              <a:gd name="adj" fmla="val 4466"/>
            </a:avLst>
          </a:prstGeom>
          <a:solidFill>
            <a:schemeClr val="lt1"/>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6" name="Google Shape;386;p27"/>
          <p:cNvSpPr txBox="1"/>
          <p:nvPr/>
        </p:nvSpPr>
        <p:spPr>
          <a:xfrm>
            <a:off x="601353" y="392286"/>
            <a:ext cx="11079159" cy="520557"/>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Regla de la Adición</a:t>
            </a:r>
            <a:endParaRPr/>
          </a:p>
        </p:txBody>
      </p:sp>
      <p:sp>
        <p:nvSpPr>
          <p:cNvPr id="387" name="Google Shape;387;p27"/>
          <p:cNvSpPr txBox="1"/>
          <p:nvPr/>
        </p:nvSpPr>
        <p:spPr>
          <a:xfrm>
            <a:off x="990138" y="2407545"/>
            <a:ext cx="9192600" cy="1754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Calibri"/>
                <a:ea typeface="Calibri"/>
                <a:cs typeface="Calibri"/>
                <a:sym typeface="Calibri"/>
              </a:rPr>
              <a:t>Se definen dos sucesos:</a:t>
            </a:r>
            <a:endParaRPr/>
          </a:p>
          <a:p>
            <a:pPr marL="0" marR="0" lvl="0" indent="0" algn="l" rtl="0">
              <a:spcBef>
                <a:spcPts val="0"/>
              </a:spcBef>
              <a:spcAft>
                <a:spcPts val="0"/>
              </a:spcAft>
              <a:buNone/>
            </a:pPr>
            <a:r>
              <a:rPr lang="es-ES" sz="1800" b="1">
                <a:solidFill>
                  <a:srgbClr val="595959"/>
                </a:solidFill>
                <a:latin typeface="Calibri"/>
                <a:ea typeface="Calibri"/>
                <a:cs typeface="Calibri"/>
                <a:sym typeface="Calibri"/>
              </a:rPr>
              <a:t>A:</a:t>
            </a:r>
            <a:r>
              <a:rPr lang="es-ES" sz="1800">
                <a:solidFill>
                  <a:srgbClr val="595959"/>
                </a:solidFill>
                <a:latin typeface="Calibri"/>
                <a:ea typeface="Calibri"/>
                <a:cs typeface="Calibri"/>
                <a:sym typeface="Calibri"/>
              </a:rPr>
              <a:t> Obtener un numero par</a:t>
            </a:r>
            <a:endParaRPr/>
          </a:p>
          <a:p>
            <a:pPr marL="0" marR="0" lvl="0" indent="0" algn="l" rtl="0">
              <a:spcBef>
                <a:spcPts val="0"/>
              </a:spcBef>
              <a:spcAft>
                <a:spcPts val="0"/>
              </a:spcAft>
              <a:buNone/>
            </a:pPr>
            <a:r>
              <a:rPr lang="es-ES" sz="1800">
                <a:solidFill>
                  <a:srgbClr val="595959"/>
                </a:solidFill>
                <a:latin typeface="Calibri"/>
                <a:ea typeface="Calibri"/>
                <a:cs typeface="Calibri"/>
                <a:sym typeface="Calibri"/>
              </a:rPr>
              <a:t>A = { 2, 4, 6 }</a:t>
            </a:r>
            <a:endParaRPr/>
          </a:p>
          <a:p>
            <a:pPr marL="0" marR="0" lvl="0" indent="0" algn="l" rtl="0">
              <a:spcBef>
                <a:spcPts val="0"/>
              </a:spcBef>
              <a:spcAft>
                <a:spcPts val="0"/>
              </a:spcAft>
              <a:buNone/>
            </a:pPr>
            <a:endParaRPr sz="1800">
              <a:solidFill>
                <a:srgbClr val="595959"/>
              </a:solidFill>
              <a:latin typeface="Calibri"/>
              <a:ea typeface="Calibri"/>
              <a:cs typeface="Calibri"/>
              <a:sym typeface="Calibri"/>
            </a:endParaRPr>
          </a:p>
          <a:p>
            <a:pPr marL="0" marR="0" lvl="0" indent="0" algn="l" rtl="0">
              <a:spcBef>
                <a:spcPts val="0"/>
              </a:spcBef>
              <a:spcAft>
                <a:spcPts val="0"/>
              </a:spcAft>
              <a:buNone/>
            </a:pPr>
            <a:r>
              <a:rPr lang="es-ES" sz="1800" b="1">
                <a:solidFill>
                  <a:srgbClr val="595959"/>
                </a:solidFill>
                <a:latin typeface="Calibri"/>
                <a:ea typeface="Calibri"/>
                <a:cs typeface="Calibri"/>
                <a:sym typeface="Calibri"/>
              </a:rPr>
              <a:t>B:</a:t>
            </a:r>
            <a:r>
              <a:rPr lang="es-ES" sz="1800">
                <a:solidFill>
                  <a:srgbClr val="595959"/>
                </a:solidFill>
                <a:latin typeface="Calibri"/>
                <a:ea typeface="Calibri"/>
                <a:cs typeface="Calibri"/>
                <a:sym typeface="Calibri"/>
              </a:rPr>
              <a:t> Obtener un numero primo</a:t>
            </a:r>
            <a:endParaRPr/>
          </a:p>
          <a:p>
            <a:pPr marL="0" marR="0" lvl="0" indent="0" algn="l" rtl="0">
              <a:spcBef>
                <a:spcPts val="0"/>
              </a:spcBef>
              <a:spcAft>
                <a:spcPts val="0"/>
              </a:spcAft>
              <a:buNone/>
            </a:pPr>
            <a:r>
              <a:rPr lang="es-ES" sz="1800">
                <a:solidFill>
                  <a:srgbClr val="595959"/>
                </a:solidFill>
                <a:latin typeface="Calibri"/>
                <a:ea typeface="Calibri"/>
                <a:cs typeface="Calibri"/>
                <a:sym typeface="Calibri"/>
              </a:rPr>
              <a:t>B = { 2, 3, 5 }</a:t>
            </a:r>
            <a:endParaRPr/>
          </a:p>
        </p:txBody>
      </p:sp>
      <p:sp>
        <p:nvSpPr>
          <p:cNvPr id="388" name="Google Shape;388;p27"/>
          <p:cNvSpPr txBox="1"/>
          <p:nvPr/>
        </p:nvSpPr>
        <p:spPr>
          <a:xfrm>
            <a:off x="990138" y="4395410"/>
            <a:ext cx="9444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595959"/>
                </a:solidFill>
                <a:latin typeface="Calibri"/>
                <a:ea typeface="Calibri"/>
                <a:cs typeface="Calibri"/>
                <a:sym typeface="Calibri"/>
              </a:rPr>
              <a:t>Si ahora queremos obtener la probabilidad de  A U B, entonces los casos favorables serán:</a:t>
            </a:r>
            <a:endParaRPr/>
          </a:p>
        </p:txBody>
      </p:sp>
      <p:sp>
        <p:nvSpPr>
          <p:cNvPr id="389" name="Google Shape;389;p27"/>
          <p:cNvSpPr txBox="1"/>
          <p:nvPr/>
        </p:nvSpPr>
        <p:spPr>
          <a:xfrm>
            <a:off x="990138" y="5310715"/>
            <a:ext cx="97548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595959"/>
                </a:solidFill>
                <a:latin typeface="Calibri"/>
                <a:ea typeface="Calibri"/>
                <a:cs typeface="Calibri"/>
                <a:sym typeface="Calibri"/>
              </a:rPr>
              <a:t>En este caso, hay elementos comunes entre A y B, por lo tanto:</a:t>
            </a:r>
            <a:endParaRPr/>
          </a:p>
        </p:txBody>
      </p:sp>
      <p:sp>
        <p:nvSpPr>
          <p:cNvPr id="390" name="Google Shape;390;p27"/>
          <p:cNvSpPr txBox="1"/>
          <p:nvPr/>
        </p:nvSpPr>
        <p:spPr>
          <a:xfrm>
            <a:off x="990138" y="1397649"/>
            <a:ext cx="4299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Calibri"/>
                <a:ea typeface="Calibri"/>
                <a:cs typeface="Calibri"/>
                <a:sym typeface="Calibri"/>
              </a:rPr>
              <a:t>Imagina el experimento de lanzar un dado:</a:t>
            </a:r>
            <a:endParaRPr/>
          </a:p>
        </p:txBody>
      </p:sp>
      <p:sp>
        <p:nvSpPr>
          <p:cNvPr id="391" name="Google Shape;391;p27"/>
          <p:cNvSpPr txBox="1"/>
          <p:nvPr/>
        </p:nvSpPr>
        <p:spPr>
          <a:xfrm>
            <a:off x="5003866" y="1859872"/>
            <a:ext cx="2368200" cy="36930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92" name="Google Shape;392;p27"/>
          <p:cNvSpPr txBox="1"/>
          <p:nvPr/>
        </p:nvSpPr>
        <p:spPr>
          <a:xfrm>
            <a:off x="4269676" y="4845888"/>
            <a:ext cx="2621100" cy="369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a:solidFill>
                  <a:srgbClr val="595959"/>
                </a:solidFill>
                <a:latin typeface="Arial"/>
                <a:ea typeface="Arial"/>
                <a:cs typeface="Arial"/>
                <a:sym typeface="Arial"/>
              </a:rPr>
              <a:t>A U B = { </a:t>
            </a:r>
            <a:r>
              <a:rPr lang="es-ES" sz="1800" b="1">
                <a:solidFill>
                  <a:srgbClr val="595959"/>
                </a:solidFill>
                <a:latin typeface="Arial"/>
                <a:ea typeface="Arial"/>
                <a:cs typeface="Arial"/>
                <a:sym typeface="Arial"/>
              </a:rPr>
              <a:t>2</a:t>
            </a:r>
            <a:r>
              <a:rPr lang="es-ES" sz="1800">
                <a:solidFill>
                  <a:srgbClr val="595959"/>
                </a:solidFill>
                <a:latin typeface="Arial"/>
                <a:ea typeface="Arial"/>
                <a:cs typeface="Arial"/>
                <a:sym typeface="Arial"/>
              </a:rPr>
              <a:t>, 3, 4, 5, 6}</a:t>
            </a:r>
            <a:endParaRPr/>
          </a:p>
        </p:txBody>
      </p:sp>
      <p:sp>
        <p:nvSpPr>
          <p:cNvPr id="393" name="Google Shape;393;p27"/>
          <p:cNvSpPr txBox="1"/>
          <p:nvPr/>
        </p:nvSpPr>
        <p:spPr>
          <a:xfrm>
            <a:off x="3929042" y="5738515"/>
            <a:ext cx="4689300" cy="369300"/>
          </a:xfrm>
          <a:prstGeom prst="rect">
            <a:avLst/>
          </a:prstGeom>
          <a:blipFill rotWithShape="1">
            <a:blip r:embed="rId5">
              <a:alphaModFix/>
            </a:blip>
            <a:stretch>
              <a:fillRect b="-1475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6"/>
                                        </p:tgtEl>
                                        <p:attrNameLst>
                                          <p:attrName>style.visibility</p:attrName>
                                        </p:attrNameLst>
                                      </p:cBhvr>
                                      <p:to>
                                        <p:strVal val="visible"/>
                                      </p:to>
                                    </p:set>
                                    <p:animEffect transition="in" filter="fade">
                                      <p:cBhvr>
                                        <p:cTn id="7" dur="500"/>
                                        <p:tgtEl>
                                          <p:spTgt spid="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7"/>
        <p:cNvGrpSpPr/>
        <p:nvPr/>
      </p:nvGrpSpPr>
      <p:grpSpPr>
        <a:xfrm>
          <a:off x="0" y="0"/>
          <a:ext cx="0" cy="0"/>
          <a:chOff x="0" y="0"/>
          <a:chExt cx="0" cy="0"/>
        </a:xfrm>
      </p:grpSpPr>
      <p:sp>
        <p:nvSpPr>
          <p:cNvPr id="398" name="Google Shape;398;p28"/>
          <p:cNvSpPr/>
          <p:nvPr/>
        </p:nvSpPr>
        <p:spPr>
          <a:xfrm>
            <a:off x="660855" y="1264982"/>
            <a:ext cx="10940901" cy="5009228"/>
          </a:xfrm>
          <a:prstGeom prst="roundRect">
            <a:avLst>
              <a:gd name="adj" fmla="val 4466"/>
            </a:avLst>
          </a:prstGeom>
          <a:solidFill>
            <a:schemeClr val="lt1"/>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9" name="Google Shape;399;p28"/>
          <p:cNvSpPr txBox="1"/>
          <p:nvPr/>
        </p:nvSpPr>
        <p:spPr>
          <a:xfrm>
            <a:off x="5540978" y="2766587"/>
            <a:ext cx="3247910" cy="369332"/>
          </a:xfrm>
          <a:prstGeom prst="rect">
            <a:avLst/>
          </a:prstGeom>
          <a:blipFill rotWithShape="1">
            <a:blip r:embed="rId4">
              <a:alphaModFix/>
            </a:blip>
            <a:stretch>
              <a:fillRect b="-1333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00" name="Google Shape;400;p28"/>
          <p:cNvSpPr txBox="1"/>
          <p:nvPr/>
        </p:nvSpPr>
        <p:spPr>
          <a:xfrm>
            <a:off x="1266380" y="1652735"/>
            <a:ext cx="1047372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En un experimento, dos sucesos son mutuamente excluyentes si la ocurrencia de uno excluye la ocurrencia de otro, por lo tanto, la intersección es vacía.</a:t>
            </a:r>
            <a:endParaRPr/>
          </a:p>
        </p:txBody>
      </p:sp>
      <p:sp>
        <p:nvSpPr>
          <p:cNvPr id="401" name="Google Shape;401;p28"/>
          <p:cNvSpPr txBox="1"/>
          <p:nvPr/>
        </p:nvSpPr>
        <p:spPr>
          <a:xfrm>
            <a:off x="3993140" y="5266088"/>
            <a:ext cx="4689216" cy="369332"/>
          </a:xfrm>
          <a:prstGeom prst="rect">
            <a:avLst/>
          </a:prstGeom>
          <a:blipFill rotWithShape="1">
            <a:blip r:embed="rId5">
              <a:alphaModFix/>
            </a:blip>
            <a:stretch>
              <a:fillRect b="-1333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02" name="Google Shape;402;p28"/>
          <p:cNvSpPr txBox="1"/>
          <p:nvPr/>
        </p:nvSpPr>
        <p:spPr>
          <a:xfrm>
            <a:off x="3055230" y="2766587"/>
            <a:ext cx="2323730" cy="369332"/>
          </a:xfrm>
          <a:prstGeom prst="rect">
            <a:avLst/>
          </a:prstGeom>
          <a:blipFill rotWithShape="1">
            <a:blip r:embed="rId6">
              <a:alphaModFix/>
            </a:blip>
            <a:stretch>
              <a:fillRect b="-166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03" name="Google Shape;403;p28"/>
          <p:cNvSpPr txBox="1"/>
          <p:nvPr/>
        </p:nvSpPr>
        <p:spPr>
          <a:xfrm>
            <a:off x="1266381" y="3980660"/>
            <a:ext cx="10142736" cy="646331"/>
          </a:xfrm>
          <a:prstGeom prst="rect">
            <a:avLst/>
          </a:prstGeom>
          <a:blipFill rotWithShape="1">
            <a:blip r:embed="rId7">
              <a:alphaModFix/>
            </a:blip>
            <a:stretch>
              <a:fillRect l="-540" t="-5659" b="-1415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04" name="Google Shape;404;p28"/>
          <p:cNvSpPr txBox="1"/>
          <p:nvPr/>
        </p:nvSpPr>
        <p:spPr>
          <a:xfrm>
            <a:off x="660855" y="545247"/>
            <a:ext cx="10646629" cy="533383"/>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Propiedades de la Probabilidad</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4"/>
                                        </p:tgtEl>
                                        <p:attrNameLst>
                                          <p:attrName>style.visibility</p:attrName>
                                        </p:attrNameLst>
                                      </p:cBhvr>
                                      <p:to>
                                        <p:strVal val="visible"/>
                                      </p:to>
                                    </p:set>
                                    <p:animEffect transition="in" filter="fade">
                                      <p:cBhvr>
                                        <p:cTn id="7" dur="500"/>
                                        <p:tgtEl>
                                          <p:spTgt spid="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8"/>
        <p:cNvGrpSpPr/>
        <p:nvPr/>
      </p:nvGrpSpPr>
      <p:grpSpPr>
        <a:xfrm>
          <a:off x="0" y="0"/>
          <a:ext cx="0" cy="0"/>
          <a:chOff x="0" y="0"/>
          <a:chExt cx="0" cy="0"/>
        </a:xfrm>
      </p:grpSpPr>
      <p:sp>
        <p:nvSpPr>
          <p:cNvPr id="409" name="Google Shape;409;p29"/>
          <p:cNvSpPr/>
          <p:nvPr/>
        </p:nvSpPr>
        <p:spPr>
          <a:xfrm>
            <a:off x="937500" y="1467400"/>
            <a:ext cx="10404300" cy="4606500"/>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0" name="Google Shape;410;p29"/>
          <p:cNvSpPr/>
          <p:nvPr/>
        </p:nvSpPr>
        <p:spPr>
          <a:xfrm>
            <a:off x="1340247" y="1700795"/>
            <a:ext cx="9806135" cy="3970318"/>
          </a:xfrm>
          <a:prstGeom prst="rect">
            <a:avLst/>
          </a:prstGeom>
          <a:blipFill rotWithShape="1">
            <a:blip r:embed="rId4">
              <a:alphaModFix/>
            </a:blip>
            <a:stretch>
              <a:fillRect l="-559" t="-767" b="-153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11" name="Google Shape;411;p29"/>
          <p:cNvSpPr txBox="1"/>
          <p:nvPr/>
        </p:nvSpPr>
        <p:spPr>
          <a:xfrm>
            <a:off x="1340247" y="609543"/>
            <a:ext cx="10255945" cy="5709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600">
                <a:solidFill>
                  <a:srgbClr val="7F7F7F"/>
                </a:solidFill>
                <a:latin typeface="Arial"/>
                <a:ea typeface="Arial"/>
                <a:cs typeface="Arial"/>
                <a:sym typeface="Arial"/>
              </a:rPr>
              <a:t>Regla Multiplicativa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1"/>
                                        </p:tgtEl>
                                        <p:attrNameLst>
                                          <p:attrName>style.visibility</p:attrName>
                                        </p:attrNameLst>
                                      </p:cBhvr>
                                      <p:to>
                                        <p:strVal val="visible"/>
                                      </p:to>
                                    </p:set>
                                    <p:animEffect transition="in" filter="fade">
                                      <p:cBhvr>
                                        <p:cTn id="7" dur="500"/>
                                        <p:tgtEl>
                                          <p:spTgt spid="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5"/>
        <p:cNvGrpSpPr/>
        <p:nvPr/>
      </p:nvGrpSpPr>
      <p:grpSpPr>
        <a:xfrm>
          <a:off x="0" y="0"/>
          <a:ext cx="0" cy="0"/>
          <a:chOff x="0" y="0"/>
          <a:chExt cx="0" cy="0"/>
        </a:xfrm>
      </p:grpSpPr>
      <p:sp>
        <p:nvSpPr>
          <p:cNvPr id="416" name="Google Shape;416;p30"/>
          <p:cNvSpPr/>
          <p:nvPr/>
        </p:nvSpPr>
        <p:spPr>
          <a:xfrm>
            <a:off x="-517443" y="1721955"/>
            <a:ext cx="12604668" cy="3721538"/>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7" name="Google Shape;417;p30"/>
          <p:cNvSpPr/>
          <p:nvPr/>
        </p:nvSpPr>
        <p:spPr>
          <a:xfrm>
            <a:off x="6191250" y="1795533"/>
            <a:ext cx="5810250" cy="3547992"/>
          </a:xfrm>
          <a:prstGeom prst="roundRect">
            <a:avLst>
              <a:gd name="adj" fmla="val 4466"/>
            </a:avLst>
          </a:prstGeom>
          <a:solidFill>
            <a:schemeClr val="lt1"/>
          </a:solidFill>
          <a:ln w="28575"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8" name="Google Shape;418;p30"/>
          <p:cNvSpPr/>
          <p:nvPr/>
        </p:nvSpPr>
        <p:spPr>
          <a:xfrm>
            <a:off x="477079" y="1956207"/>
            <a:ext cx="5302398" cy="34163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Se tiene una bolsa negra con 5 bolitas azules, tres bolitas verdes, y 4 rojas. Si extraemos dos bolas, ¿cuál es la probabilidad de extraer una bola azul y una bola verde?</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Para resolver este problema, tenemos dos enfoques:</a:t>
            </a:r>
            <a:endParaRPr/>
          </a:p>
          <a:p>
            <a:pPr marL="285750" marR="0" lvl="0" indent="-285750" algn="just" rtl="0">
              <a:spcBef>
                <a:spcPts val="0"/>
              </a:spcBef>
              <a:spcAft>
                <a:spcPts val="0"/>
              </a:spcAft>
              <a:buClr>
                <a:schemeClr val="lt1"/>
              </a:buClr>
              <a:buSzPts val="1800"/>
              <a:buFont typeface="Arial"/>
              <a:buChar char="•"/>
            </a:pPr>
            <a:r>
              <a:rPr lang="es-ES" sz="1800" b="1">
                <a:solidFill>
                  <a:schemeClr val="lt1"/>
                </a:solidFill>
                <a:latin typeface="Calibri"/>
                <a:ea typeface="Calibri"/>
                <a:cs typeface="Calibri"/>
                <a:sym typeface="Calibri"/>
              </a:rPr>
              <a:t>Con reposición</a:t>
            </a:r>
            <a:r>
              <a:rPr lang="es-ES" sz="1800">
                <a:solidFill>
                  <a:schemeClr val="lt1"/>
                </a:solidFill>
                <a:latin typeface="Calibri"/>
                <a:ea typeface="Calibri"/>
                <a:cs typeface="Calibri"/>
                <a:sym typeface="Calibri"/>
              </a:rPr>
              <a:t>, es decir, se saca una bolita y se vuelve a poner dentro de la bolsa para la segunda extracción.</a:t>
            </a:r>
            <a:endParaRPr/>
          </a:p>
          <a:p>
            <a:pPr marL="285750" marR="0" lvl="0" indent="-285750" algn="just" rtl="0">
              <a:spcBef>
                <a:spcPts val="0"/>
              </a:spcBef>
              <a:spcAft>
                <a:spcPts val="0"/>
              </a:spcAft>
              <a:buClr>
                <a:schemeClr val="lt1"/>
              </a:buClr>
              <a:buSzPts val="1800"/>
              <a:buFont typeface="Arial"/>
              <a:buChar char="•"/>
            </a:pPr>
            <a:r>
              <a:rPr lang="es-ES" sz="1800" b="1">
                <a:solidFill>
                  <a:schemeClr val="lt1"/>
                </a:solidFill>
                <a:latin typeface="Calibri"/>
                <a:ea typeface="Calibri"/>
                <a:cs typeface="Calibri"/>
                <a:sym typeface="Calibri"/>
              </a:rPr>
              <a:t>Sin reposición</a:t>
            </a:r>
            <a:r>
              <a:rPr lang="es-ES" sz="1800">
                <a:solidFill>
                  <a:schemeClr val="lt1"/>
                </a:solidFill>
                <a:latin typeface="Calibri"/>
                <a:ea typeface="Calibri"/>
                <a:cs typeface="Calibri"/>
                <a:sym typeface="Calibri"/>
              </a:rPr>
              <a:t>, es decir, se saca una bolita y no se devuelve a la bolsa para realizar la segunda extracción.</a:t>
            </a:r>
            <a:endParaRPr/>
          </a:p>
        </p:txBody>
      </p:sp>
      <p:sp>
        <p:nvSpPr>
          <p:cNvPr id="419" name="Google Shape;419;p30"/>
          <p:cNvSpPr/>
          <p:nvPr/>
        </p:nvSpPr>
        <p:spPr>
          <a:xfrm>
            <a:off x="7329127" y="2925770"/>
            <a:ext cx="204186" cy="204186"/>
          </a:xfrm>
          <a:prstGeom prst="ellipse">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0" name="Google Shape;420;p30"/>
          <p:cNvSpPr/>
          <p:nvPr/>
        </p:nvSpPr>
        <p:spPr>
          <a:xfrm>
            <a:off x="7633927" y="2945744"/>
            <a:ext cx="204186" cy="204186"/>
          </a:xfrm>
          <a:prstGeom prst="ellipse">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1" name="Google Shape;421;p30"/>
          <p:cNvSpPr/>
          <p:nvPr/>
        </p:nvSpPr>
        <p:spPr>
          <a:xfrm>
            <a:off x="7533313" y="3250066"/>
            <a:ext cx="204186" cy="204186"/>
          </a:xfrm>
          <a:prstGeom prst="ellipse">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2" name="Google Shape;422;p30"/>
          <p:cNvSpPr/>
          <p:nvPr/>
        </p:nvSpPr>
        <p:spPr>
          <a:xfrm>
            <a:off x="7838113" y="2752120"/>
            <a:ext cx="204186" cy="204186"/>
          </a:xfrm>
          <a:prstGeom prst="ellipse">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3" name="Google Shape;423;p30"/>
          <p:cNvSpPr/>
          <p:nvPr/>
        </p:nvSpPr>
        <p:spPr>
          <a:xfrm>
            <a:off x="7940206" y="3067004"/>
            <a:ext cx="204186" cy="204186"/>
          </a:xfrm>
          <a:prstGeom prst="ellipse">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4" name="Google Shape;424;p30"/>
          <p:cNvSpPr/>
          <p:nvPr/>
        </p:nvSpPr>
        <p:spPr>
          <a:xfrm>
            <a:off x="9029201" y="3021347"/>
            <a:ext cx="204186" cy="204186"/>
          </a:xfrm>
          <a:prstGeom prst="ellipse">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5" name="Google Shape;425;p30"/>
          <p:cNvSpPr/>
          <p:nvPr/>
        </p:nvSpPr>
        <p:spPr>
          <a:xfrm>
            <a:off x="9131294" y="2772891"/>
            <a:ext cx="204186" cy="204186"/>
          </a:xfrm>
          <a:prstGeom prst="ellipse">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6" name="Google Shape;426;p30"/>
          <p:cNvSpPr/>
          <p:nvPr/>
        </p:nvSpPr>
        <p:spPr>
          <a:xfrm>
            <a:off x="9335480" y="3021758"/>
            <a:ext cx="204186" cy="204186"/>
          </a:xfrm>
          <a:prstGeom prst="ellipse">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7" name="Google Shape;427;p30"/>
          <p:cNvSpPr/>
          <p:nvPr/>
        </p:nvSpPr>
        <p:spPr>
          <a:xfrm>
            <a:off x="10322382" y="3048576"/>
            <a:ext cx="204186" cy="204186"/>
          </a:xfrm>
          <a:prstGeom prst="ellipse">
            <a:avLst/>
          </a:prstGeom>
          <a:solidFill>
            <a:srgbClr val="FF0000"/>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8" name="Google Shape;428;p30"/>
          <p:cNvSpPr/>
          <p:nvPr/>
        </p:nvSpPr>
        <p:spPr>
          <a:xfrm>
            <a:off x="10424475" y="2800120"/>
            <a:ext cx="204186" cy="204186"/>
          </a:xfrm>
          <a:prstGeom prst="ellipse">
            <a:avLst/>
          </a:prstGeom>
          <a:solidFill>
            <a:srgbClr val="FF0000"/>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9" name="Google Shape;429;p30"/>
          <p:cNvSpPr/>
          <p:nvPr/>
        </p:nvSpPr>
        <p:spPr>
          <a:xfrm>
            <a:off x="10628661" y="3048987"/>
            <a:ext cx="204186" cy="204186"/>
          </a:xfrm>
          <a:prstGeom prst="ellipse">
            <a:avLst/>
          </a:prstGeom>
          <a:solidFill>
            <a:srgbClr val="FF0000"/>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0" name="Google Shape;430;p30"/>
          <p:cNvSpPr/>
          <p:nvPr/>
        </p:nvSpPr>
        <p:spPr>
          <a:xfrm>
            <a:off x="10492537" y="3299507"/>
            <a:ext cx="204186" cy="204186"/>
          </a:xfrm>
          <a:prstGeom prst="ellipse">
            <a:avLst/>
          </a:prstGeom>
          <a:solidFill>
            <a:srgbClr val="FF0000"/>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1" name="Google Shape;431;p30"/>
          <p:cNvSpPr txBox="1"/>
          <p:nvPr/>
        </p:nvSpPr>
        <p:spPr>
          <a:xfrm>
            <a:off x="8241311" y="4200078"/>
            <a:ext cx="177003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600">
                <a:solidFill>
                  <a:schemeClr val="dk1"/>
                </a:solidFill>
                <a:latin typeface="Calibri"/>
                <a:ea typeface="Calibri"/>
                <a:cs typeface="Calibri"/>
                <a:sym typeface="Calibri"/>
              </a:rPr>
              <a:t>P(   )  = ?</a:t>
            </a:r>
            <a:endParaRPr/>
          </a:p>
        </p:txBody>
      </p:sp>
      <p:sp>
        <p:nvSpPr>
          <p:cNvPr id="432" name="Google Shape;432;p30"/>
          <p:cNvSpPr/>
          <p:nvPr/>
        </p:nvSpPr>
        <p:spPr>
          <a:xfrm>
            <a:off x="8667591" y="4460531"/>
            <a:ext cx="204186" cy="204186"/>
          </a:xfrm>
          <a:prstGeom prst="ellipse">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33" name="Google Shape;433;p30"/>
          <p:cNvSpPr/>
          <p:nvPr/>
        </p:nvSpPr>
        <p:spPr>
          <a:xfrm>
            <a:off x="8825015" y="4353954"/>
            <a:ext cx="204186" cy="204186"/>
          </a:xfrm>
          <a:prstGeom prst="ellipse">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34" name="Google Shape;434;p30"/>
          <p:cNvSpPr txBox="1"/>
          <p:nvPr/>
        </p:nvSpPr>
        <p:spPr>
          <a:xfrm>
            <a:off x="436432" y="1015686"/>
            <a:ext cx="11565068" cy="706267"/>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Ejemplo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4"/>
                                        </p:tgtEl>
                                        <p:attrNameLst>
                                          <p:attrName>style.visibility</p:attrName>
                                        </p:attrNameLst>
                                      </p:cBhvr>
                                      <p:to>
                                        <p:strVal val="visible"/>
                                      </p:to>
                                    </p:set>
                                    <p:animEffect transition="in" filter="fade">
                                      <p:cBhvr>
                                        <p:cTn id="7" dur="500"/>
                                        <p:tgtEl>
                                          <p:spTgt spid="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8"/>
        <p:cNvGrpSpPr/>
        <p:nvPr/>
      </p:nvGrpSpPr>
      <p:grpSpPr>
        <a:xfrm>
          <a:off x="0" y="0"/>
          <a:ext cx="0" cy="0"/>
          <a:chOff x="0" y="0"/>
          <a:chExt cx="0" cy="0"/>
        </a:xfrm>
      </p:grpSpPr>
      <p:sp>
        <p:nvSpPr>
          <p:cNvPr id="439" name="Google Shape;439;p31"/>
          <p:cNvSpPr/>
          <p:nvPr/>
        </p:nvSpPr>
        <p:spPr>
          <a:xfrm>
            <a:off x="1023937" y="1137032"/>
            <a:ext cx="10487025" cy="5185479"/>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0" name="Google Shape;440;p31"/>
          <p:cNvSpPr txBox="1"/>
          <p:nvPr/>
        </p:nvSpPr>
        <p:spPr>
          <a:xfrm>
            <a:off x="1140542" y="410351"/>
            <a:ext cx="10370420" cy="55187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Ejemplo (A)</a:t>
            </a:r>
            <a:endParaRPr sz="3200">
              <a:solidFill>
                <a:srgbClr val="7F7F7F"/>
              </a:solidFill>
              <a:latin typeface="Arial"/>
              <a:ea typeface="Arial"/>
              <a:cs typeface="Arial"/>
              <a:sym typeface="Arial"/>
            </a:endParaRPr>
          </a:p>
        </p:txBody>
      </p:sp>
      <p:sp>
        <p:nvSpPr>
          <p:cNvPr id="441" name="Google Shape;441;p31"/>
          <p:cNvSpPr/>
          <p:nvPr/>
        </p:nvSpPr>
        <p:spPr>
          <a:xfrm>
            <a:off x="1423840" y="1400714"/>
            <a:ext cx="9891860" cy="4921797"/>
          </a:xfrm>
          <a:prstGeom prst="rect">
            <a:avLst/>
          </a:prstGeom>
          <a:blipFill rotWithShape="1">
            <a:blip r:embed="rId4">
              <a:alphaModFix/>
            </a:blip>
            <a:stretch>
              <a:fillRect l="-616" t="-742" r="-49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0"/>
                                        </p:tgtEl>
                                        <p:attrNameLst>
                                          <p:attrName>style.visibility</p:attrName>
                                        </p:attrNameLst>
                                      </p:cBhvr>
                                      <p:to>
                                        <p:strVal val="visible"/>
                                      </p:to>
                                    </p:set>
                                    <p:animEffect transition="in" filter="fade">
                                      <p:cBhvr>
                                        <p:cTn id="7" dur="500"/>
                                        <p:tgtEl>
                                          <p:spTgt spid="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5"/>
        <p:cNvGrpSpPr/>
        <p:nvPr/>
      </p:nvGrpSpPr>
      <p:grpSpPr>
        <a:xfrm>
          <a:off x="0" y="0"/>
          <a:ext cx="0" cy="0"/>
          <a:chOff x="0" y="0"/>
          <a:chExt cx="0" cy="0"/>
        </a:xfrm>
      </p:grpSpPr>
      <p:sp>
        <p:nvSpPr>
          <p:cNvPr id="446" name="Google Shape;446;p32"/>
          <p:cNvSpPr/>
          <p:nvPr/>
        </p:nvSpPr>
        <p:spPr>
          <a:xfrm>
            <a:off x="704850" y="1374249"/>
            <a:ext cx="10782300" cy="4682221"/>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7" name="Google Shape;447;p32"/>
          <p:cNvSpPr txBox="1"/>
          <p:nvPr/>
        </p:nvSpPr>
        <p:spPr>
          <a:xfrm>
            <a:off x="845574" y="634381"/>
            <a:ext cx="10641576" cy="523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Ejemplo (B)</a:t>
            </a:r>
            <a:endParaRPr sz="3200">
              <a:solidFill>
                <a:srgbClr val="7F7F7F"/>
              </a:solidFill>
              <a:latin typeface="Arial"/>
              <a:ea typeface="Arial"/>
              <a:cs typeface="Arial"/>
              <a:sym typeface="Arial"/>
            </a:endParaRPr>
          </a:p>
        </p:txBody>
      </p:sp>
      <p:sp>
        <p:nvSpPr>
          <p:cNvPr id="448" name="Google Shape;448;p32"/>
          <p:cNvSpPr/>
          <p:nvPr/>
        </p:nvSpPr>
        <p:spPr>
          <a:xfrm>
            <a:off x="1061890" y="1703078"/>
            <a:ext cx="9826546" cy="424727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B) Con Reposición de bolas.</a:t>
            </a:r>
            <a:endParaRPr sz="1800" b="1">
              <a:solidFill>
                <a:schemeClr val="lt1"/>
              </a:solidFill>
              <a:latin typeface="Calibri"/>
              <a:ea typeface="Calibri"/>
              <a:cs typeface="Calibri"/>
              <a:sym typeface="Calibri"/>
            </a:endParaRPr>
          </a:p>
          <a:p>
            <a:pPr marL="0" marR="0" lvl="0" indent="0" algn="just" rtl="0">
              <a:spcBef>
                <a:spcPts val="0"/>
              </a:spcBef>
              <a:spcAft>
                <a:spcPts val="0"/>
              </a:spcAft>
              <a:buNone/>
            </a:pPr>
            <a:endParaRPr sz="1800" b="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0">
                <a:solidFill>
                  <a:schemeClr val="lt1"/>
                </a:solidFill>
                <a:latin typeface="Calibri"/>
                <a:ea typeface="Calibri"/>
                <a:cs typeface="Calibri"/>
                <a:sym typeface="Calibri"/>
              </a:rPr>
              <a:t>Ahora no se devuelva la primera bolita extraída, por lo tanto, lo que sucede en la primera extracción afecta el número de casos posibles, ya que disminuye en una bolita los casos posibles para la segunda extracción. Por esto se llama probabilidad condicional, dado que el resultado de A afecta a B. Por lo tanto,</a:t>
            </a:r>
            <a:endParaRPr/>
          </a:p>
          <a:p>
            <a:pPr marL="0" marR="0" lvl="0" indent="0" algn="just" rtl="0">
              <a:spcBef>
                <a:spcPts val="0"/>
              </a:spcBef>
              <a:spcAft>
                <a:spcPts val="0"/>
              </a:spcAft>
              <a:buNone/>
            </a:pPr>
            <a:endParaRPr sz="1800" b="1">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P(A)=5/12     </a:t>
            </a:r>
            <a:endParaRPr/>
          </a:p>
          <a:p>
            <a:pPr marL="0" marR="0" lvl="0" indent="0" algn="just" rtl="0">
              <a:spcBef>
                <a:spcPts val="0"/>
              </a:spcBef>
              <a:spcAft>
                <a:spcPts val="0"/>
              </a:spcAft>
              <a:buNone/>
            </a:pPr>
            <a:endParaRPr sz="1800" b="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0">
                <a:solidFill>
                  <a:schemeClr val="lt1"/>
                </a:solidFill>
                <a:latin typeface="Calibri"/>
                <a:ea typeface="Calibri"/>
                <a:cs typeface="Calibri"/>
                <a:sym typeface="Calibri"/>
              </a:rPr>
              <a:t>Y, como no devuelvo la bolita, ahora hay 11 casos posibles para la segunda extracción. Por esto</a:t>
            </a:r>
            <a:r>
              <a:rPr lang="es-ES" sz="1800">
                <a:solidFill>
                  <a:schemeClr val="lt1"/>
                </a:solidFill>
                <a:latin typeface="Calibri"/>
                <a:ea typeface="Calibri"/>
                <a:cs typeface="Calibri"/>
                <a:sym typeface="Calibri"/>
              </a:rPr>
              <a:t>:</a:t>
            </a:r>
            <a:endParaRPr sz="1800" b="0">
              <a:solidFill>
                <a:schemeClr val="lt1"/>
              </a:solidFill>
              <a:latin typeface="Calibri"/>
              <a:ea typeface="Calibri"/>
              <a:cs typeface="Calibri"/>
              <a:sym typeface="Calibri"/>
            </a:endParaRPr>
          </a:p>
          <a:p>
            <a:pPr marL="0" marR="0" lvl="0" indent="0" algn="just" rtl="0">
              <a:spcBef>
                <a:spcPts val="0"/>
              </a:spcBef>
              <a:spcAft>
                <a:spcPts val="0"/>
              </a:spcAft>
              <a:buNone/>
            </a:pPr>
            <a:endParaRPr sz="1800" b="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P(B/A)= 3/11</a:t>
            </a:r>
            <a:endParaRPr/>
          </a:p>
          <a:p>
            <a:pPr marL="0" marR="0" lvl="0" indent="0" algn="just" rtl="0">
              <a:spcBef>
                <a:spcPts val="0"/>
              </a:spcBef>
              <a:spcAft>
                <a:spcPts val="0"/>
              </a:spcAft>
              <a:buNone/>
            </a:pPr>
            <a:endParaRPr sz="1800" b="1">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0">
                <a:solidFill>
                  <a:schemeClr val="lt1"/>
                </a:solidFill>
                <a:latin typeface="Calibri"/>
                <a:ea typeface="Calibri"/>
                <a:cs typeface="Calibri"/>
                <a:sym typeface="Calibri"/>
              </a:rPr>
              <a:t>En consecuencia,</a:t>
            </a:r>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𝑃(𝐴∩𝐵)=5/12∙3/11=15/132</a:t>
            </a:r>
            <a:endParaRPr sz="1800" b="1">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7"/>
                                        </p:tgtEl>
                                        <p:attrNameLst>
                                          <p:attrName>style.visibility</p:attrName>
                                        </p:attrNameLst>
                                      </p:cBhvr>
                                      <p:to>
                                        <p:strVal val="visible"/>
                                      </p:to>
                                    </p:set>
                                    <p:animEffect transition="in" filter="fade">
                                      <p:cBhvr>
                                        <p:cTn id="7" dur="500"/>
                                        <p:tgtEl>
                                          <p:spTgt spid="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52"/>
        <p:cNvGrpSpPr/>
        <p:nvPr/>
      </p:nvGrpSpPr>
      <p:grpSpPr>
        <a:xfrm>
          <a:off x="0" y="0"/>
          <a:ext cx="0" cy="0"/>
          <a:chOff x="0" y="0"/>
          <a:chExt cx="0" cy="0"/>
        </a:xfrm>
      </p:grpSpPr>
      <p:sp>
        <p:nvSpPr>
          <p:cNvPr id="453" name="Google Shape;453;p33"/>
          <p:cNvSpPr txBox="1"/>
          <p:nvPr/>
        </p:nvSpPr>
        <p:spPr>
          <a:xfrm>
            <a:off x="1182386" y="3416582"/>
            <a:ext cx="10782300" cy="75229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Clr>
                <a:schemeClr val="dk1"/>
              </a:buClr>
              <a:buSzPts val="3600"/>
              <a:buFont typeface="Calibri"/>
              <a:buNone/>
            </a:pPr>
            <a:endParaRPr sz="3600" b="0" i="0" u="none" strike="noStrike" cap="none">
              <a:solidFill>
                <a:srgbClr val="7F7F7F"/>
              </a:solidFill>
              <a:latin typeface="Arial"/>
              <a:ea typeface="Arial"/>
              <a:cs typeface="Arial"/>
              <a:sym typeface="Arial"/>
            </a:endParaRPr>
          </a:p>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Probabilidad Condicional</a:t>
            </a:r>
            <a:endParaRPr/>
          </a:p>
          <a:p>
            <a:pPr marL="0" marR="0" lvl="0" indent="0" algn="just" rtl="0">
              <a:lnSpc>
                <a:spcPct val="90000"/>
              </a:lnSpc>
              <a:spcBef>
                <a:spcPts val="0"/>
              </a:spcBef>
              <a:spcAft>
                <a:spcPts val="0"/>
              </a:spcAft>
              <a:buClr>
                <a:schemeClr val="dk1"/>
              </a:buClr>
              <a:buSzPts val="3600"/>
              <a:buFont typeface="Calibri"/>
              <a:buNone/>
            </a:pPr>
            <a:endParaRPr sz="3600" b="0" i="0" u="none" strike="noStrike" cap="none">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3"/>
                                        </p:tgtEl>
                                        <p:attrNameLst>
                                          <p:attrName>style.visibility</p:attrName>
                                        </p:attrNameLst>
                                      </p:cBhvr>
                                      <p:to>
                                        <p:strVal val="visible"/>
                                      </p:to>
                                    </p:set>
                                    <p:animEffect transition="in" filter="fade">
                                      <p:cBhvr>
                                        <p:cTn id="7" dur="500"/>
                                        <p:tgtEl>
                                          <p:spTgt spid="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57"/>
        <p:cNvGrpSpPr/>
        <p:nvPr/>
      </p:nvGrpSpPr>
      <p:grpSpPr>
        <a:xfrm>
          <a:off x="0" y="0"/>
          <a:ext cx="0" cy="0"/>
          <a:chOff x="0" y="0"/>
          <a:chExt cx="0" cy="0"/>
        </a:xfrm>
      </p:grpSpPr>
      <p:sp>
        <p:nvSpPr>
          <p:cNvPr id="458" name="Google Shape;458;p34"/>
          <p:cNvSpPr txBox="1"/>
          <p:nvPr/>
        </p:nvSpPr>
        <p:spPr>
          <a:xfrm>
            <a:off x="1409700" y="690009"/>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Tipos de Probabilidades</a:t>
            </a:r>
            <a:endParaRPr/>
          </a:p>
        </p:txBody>
      </p:sp>
      <p:sp>
        <p:nvSpPr>
          <p:cNvPr id="459" name="Google Shape;459;p34"/>
          <p:cNvSpPr/>
          <p:nvPr/>
        </p:nvSpPr>
        <p:spPr>
          <a:xfrm>
            <a:off x="1398412" y="1553497"/>
            <a:ext cx="9212438" cy="4611329"/>
          </a:xfrm>
          <a:prstGeom prst="roundRect">
            <a:avLst>
              <a:gd name="adj" fmla="val 4466"/>
            </a:avLst>
          </a:prstGeom>
          <a:solidFill>
            <a:schemeClr val="lt1"/>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0" name="Google Shape;460;p34"/>
          <p:cNvSpPr/>
          <p:nvPr/>
        </p:nvSpPr>
        <p:spPr>
          <a:xfrm>
            <a:off x="1698778" y="1678419"/>
            <a:ext cx="2082800" cy="682625"/>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0475" tIns="44450" rIns="90475" bIns="44450" anchor="ctr" anchorCtr="0">
            <a:noAutofit/>
          </a:bodyPr>
          <a:lstStyle/>
          <a:p>
            <a:pPr marL="0" marR="0" lvl="0" indent="0" algn="ctr" rtl="0">
              <a:lnSpc>
                <a:spcPct val="90000"/>
              </a:lnSpc>
              <a:spcBef>
                <a:spcPts val="0"/>
              </a:spcBef>
              <a:spcAft>
                <a:spcPts val="0"/>
              </a:spcAft>
              <a:buNone/>
            </a:pPr>
            <a:r>
              <a:rPr lang="es-ES" sz="2000" b="1">
                <a:solidFill>
                  <a:srgbClr val="595959"/>
                </a:solidFill>
                <a:latin typeface="Arial"/>
                <a:ea typeface="Arial"/>
                <a:cs typeface="Arial"/>
                <a:sym typeface="Arial"/>
              </a:rPr>
              <a:t>Marginal</a:t>
            </a:r>
            <a:endParaRPr/>
          </a:p>
        </p:txBody>
      </p:sp>
      <p:sp>
        <p:nvSpPr>
          <p:cNvPr id="461" name="Google Shape;461;p34"/>
          <p:cNvSpPr/>
          <p:nvPr/>
        </p:nvSpPr>
        <p:spPr>
          <a:xfrm>
            <a:off x="1698778" y="2435890"/>
            <a:ext cx="2082800" cy="3463925"/>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182550" tIns="182550" rIns="182550" bIns="182550" anchor="t" anchorCtr="0">
            <a:noAutofit/>
          </a:bodyPr>
          <a:lstStyle/>
          <a:p>
            <a:pPr marL="0" marR="0" lvl="0" indent="0" algn="l" rtl="0">
              <a:spcBef>
                <a:spcPts val="0"/>
              </a:spcBef>
              <a:spcAft>
                <a:spcPts val="0"/>
              </a:spcAft>
              <a:buNone/>
            </a:pPr>
            <a:endParaRPr sz="1800">
              <a:solidFill>
                <a:srgbClr val="595959"/>
              </a:solidFill>
              <a:latin typeface="Arial"/>
              <a:ea typeface="Arial"/>
              <a:cs typeface="Arial"/>
              <a:sym typeface="Arial"/>
            </a:endParaRPr>
          </a:p>
          <a:p>
            <a:pPr marL="0" marR="0" lvl="0" indent="0" algn="ctr" rtl="0">
              <a:spcBef>
                <a:spcPts val="1800"/>
              </a:spcBef>
              <a:spcAft>
                <a:spcPts val="0"/>
              </a:spcAft>
              <a:buNone/>
            </a:pPr>
            <a:r>
              <a:rPr lang="es-ES" sz="1800">
                <a:solidFill>
                  <a:srgbClr val="595959"/>
                </a:solidFill>
                <a:latin typeface="Arial"/>
                <a:ea typeface="Arial"/>
                <a:cs typeface="Arial"/>
                <a:sym typeface="Arial"/>
              </a:rPr>
              <a:t>La probabilidad de que ocurra   </a:t>
            </a:r>
            <a:r>
              <a:rPr lang="es-ES" sz="1800" b="1">
                <a:solidFill>
                  <a:srgbClr val="595959"/>
                </a:solidFill>
                <a:latin typeface="Arial"/>
                <a:ea typeface="Arial"/>
                <a:cs typeface="Arial"/>
                <a:sym typeface="Arial"/>
              </a:rPr>
              <a:t>X</a:t>
            </a:r>
            <a:endParaRPr sz="1800">
              <a:solidFill>
                <a:srgbClr val="595959"/>
              </a:solidFill>
              <a:latin typeface="Arial"/>
              <a:ea typeface="Arial"/>
              <a:cs typeface="Arial"/>
              <a:sym typeface="Arial"/>
            </a:endParaRPr>
          </a:p>
        </p:txBody>
      </p:sp>
      <p:sp>
        <p:nvSpPr>
          <p:cNvPr id="462" name="Google Shape;462;p34"/>
          <p:cNvSpPr/>
          <p:nvPr/>
        </p:nvSpPr>
        <p:spPr>
          <a:xfrm>
            <a:off x="3847546" y="1678419"/>
            <a:ext cx="2082800" cy="682625"/>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0475" tIns="44450" rIns="90475" bIns="44450" anchor="ctr" anchorCtr="0">
            <a:noAutofit/>
          </a:bodyPr>
          <a:lstStyle/>
          <a:p>
            <a:pPr marL="0" marR="0" lvl="0" indent="0" algn="ctr" rtl="0">
              <a:lnSpc>
                <a:spcPct val="90000"/>
              </a:lnSpc>
              <a:spcBef>
                <a:spcPts val="0"/>
              </a:spcBef>
              <a:spcAft>
                <a:spcPts val="0"/>
              </a:spcAft>
              <a:buNone/>
            </a:pPr>
            <a:r>
              <a:rPr lang="es-ES" sz="2000" b="1">
                <a:solidFill>
                  <a:srgbClr val="595959"/>
                </a:solidFill>
                <a:latin typeface="Arial"/>
                <a:ea typeface="Arial"/>
                <a:cs typeface="Arial"/>
                <a:sym typeface="Arial"/>
              </a:rPr>
              <a:t>Unión</a:t>
            </a:r>
            <a:endParaRPr/>
          </a:p>
        </p:txBody>
      </p:sp>
      <p:sp>
        <p:nvSpPr>
          <p:cNvPr id="463" name="Google Shape;463;p34"/>
          <p:cNvSpPr/>
          <p:nvPr/>
        </p:nvSpPr>
        <p:spPr>
          <a:xfrm>
            <a:off x="3847546" y="2435890"/>
            <a:ext cx="2082800" cy="3463925"/>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182550" tIns="182550" rIns="182550" bIns="182550" anchor="t" anchorCtr="0">
            <a:noAutofit/>
          </a:bodyPr>
          <a:lstStyle/>
          <a:p>
            <a:pPr marL="0" marR="0" lvl="0" indent="0" algn="l" rtl="0">
              <a:spcBef>
                <a:spcPts val="0"/>
              </a:spcBef>
              <a:spcAft>
                <a:spcPts val="0"/>
              </a:spcAft>
              <a:buNone/>
            </a:pPr>
            <a:endParaRPr sz="1800">
              <a:solidFill>
                <a:srgbClr val="595959"/>
              </a:solidFill>
              <a:latin typeface="Arial"/>
              <a:ea typeface="Arial"/>
              <a:cs typeface="Arial"/>
              <a:sym typeface="Arial"/>
            </a:endParaRPr>
          </a:p>
          <a:p>
            <a:pPr marL="0" marR="0" lvl="0" indent="0" algn="ctr" rtl="0">
              <a:spcBef>
                <a:spcPts val="1800"/>
              </a:spcBef>
              <a:spcAft>
                <a:spcPts val="0"/>
              </a:spcAft>
              <a:buNone/>
            </a:pPr>
            <a:r>
              <a:rPr lang="es-ES" sz="1800">
                <a:solidFill>
                  <a:srgbClr val="595959"/>
                </a:solidFill>
                <a:latin typeface="Arial"/>
                <a:ea typeface="Arial"/>
                <a:cs typeface="Arial"/>
                <a:sym typeface="Arial"/>
              </a:rPr>
              <a:t>La probabilidad de que ocurra   </a:t>
            </a:r>
            <a:r>
              <a:rPr lang="es-ES" sz="1800" b="1">
                <a:solidFill>
                  <a:srgbClr val="595959"/>
                </a:solidFill>
                <a:latin typeface="Arial"/>
                <a:ea typeface="Arial"/>
                <a:cs typeface="Arial"/>
                <a:sym typeface="Arial"/>
              </a:rPr>
              <a:t>X o Y</a:t>
            </a:r>
            <a:endParaRPr sz="1800">
              <a:solidFill>
                <a:srgbClr val="595959"/>
              </a:solidFill>
              <a:latin typeface="Arial"/>
              <a:ea typeface="Arial"/>
              <a:cs typeface="Arial"/>
              <a:sym typeface="Arial"/>
            </a:endParaRPr>
          </a:p>
        </p:txBody>
      </p:sp>
      <p:sp>
        <p:nvSpPr>
          <p:cNvPr id="464" name="Google Shape;464;p34"/>
          <p:cNvSpPr/>
          <p:nvPr/>
        </p:nvSpPr>
        <p:spPr>
          <a:xfrm>
            <a:off x="5987436" y="1678419"/>
            <a:ext cx="2082800" cy="682625"/>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0475" tIns="44450" rIns="90475" bIns="44450" anchor="ctr" anchorCtr="0">
            <a:noAutofit/>
          </a:bodyPr>
          <a:lstStyle/>
          <a:p>
            <a:pPr marL="0" marR="0" lvl="0" indent="0" algn="ctr" rtl="0">
              <a:lnSpc>
                <a:spcPct val="90000"/>
              </a:lnSpc>
              <a:spcBef>
                <a:spcPts val="0"/>
              </a:spcBef>
              <a:spcAft>
                <a:spcPts val="0"/>
              </a:spcAft>
              <a:buNone/>
            </a:pPr>
            <a:r>
              <a:rPr lang="es-ES" sz="2000" b="1">
                <a:solidFill>
                  <a:srgbClr val="595959"/>
                </a:solidFill>
                <a:latin typeface="Arial"/>
                <a:ea typeface="Arial"/>
                <a:cs typeface="Arial"/>
                <a:sym typeface="Arial"/>
              </a:rPr>
              <a:t>Conjunta</a:t>
            </a:r>
            <a:endParaRPr/>
          </a:p>
        </p:txBody>
      </p:sp>
      <p:sp>
        <p:nvSpPr>
          <p:cNvPr id="465" name="Google Shape;465;p34"/>
          <p:cNvSpPr/>
          <p:nvPr/>
        </p:nvSpPr>
        <p:spPr>
          <a:xfrm>
            <a:off x="5987436" y="2435890"/>
            <a:ext cx="2082800" cy="3463925"/>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182550" tIns="182550" rIns="182550" bIns="182550" anchor="t" anchorCtr="0">
            <a:noAutofit/>
          </a:bodyPr>
          <a:lstStyle/>
          <a:p>
            <a:pPr marL="0" marR="0" lvl="0" indent="0" algn="l" rtl="0">
              <a:spcBef>
                <a:spcPts val="0"/>
              </a:spcBef>
              <a:spcAft>
                <a:spcPts val="0"/>
              </a:spcAft>
              <a:buNone/>
            </a:pPr>
            <a:endParaRPr sz="1800">
              <a:solidFill>
                <a:srgbClr val="595959"/>
              </a:solidFill>
              <a:latin typeface="Arial"/>
              <a:ea typeface="Arial"/>
              <a:cs typeface="Arial"/>
              <a:sym typeface="Arial"/>
            </a:endParaRPr>
          </a:p>
          <a:p>
            <a:pPr marL="0" marR="0" lvl="0" indent="0" algn="ctr" rtl="0">
              <a:spcBef>
                <a:spcPts val="1800"/>
              </a:spcBef>
              <a:spcAft>
                <a:spcPts val="0"/>
              </a:spcAft>
              <a:buNone/>
            </a:pPr>
            <a:r>
              <a:rPr lang="es-ES" sz="1800">
                <a:solidFill>
                  <a:srgbClr val="595959"/>
                </a:solidFill>
                <a:latin typeface="Arial"/>
                <a:ea typeface="Arial"/>
                <a:cs typeface="Arial"/>
                <a:sym typeface="Arial"/>
              </a:rPr>
              <a:t>La probabilidad de que ocurra   </a:t>
            </a:r>
            <a:r>
              <a:rPr lang="es-ES" sz="1800" b="1">
                <a:solidFill>
                  <a:srgbClr val="595959"/>
                </a:solidFill>
                <a:latin typeface="Arial"/>
                <a:ea typeface="Arial"/>
                <a:cs typeface="Arial"/>
                <a:sym typeface="Arial"/>
              </a:rPr>
              <a:t>X e Y</a:t>
            </a:r>
            <a:endParaRPr sz="1800">
              <a:solidFill>
                <a:srgbClr val="595959"/>
              </a:solidFill>
              <a:latin typeface="Arial"/>
              <a:ea typeface="Arial"/>
              <a:cs typeface="Arial"/>
              <a:sym typeface="Arial"/>
            </a:endParaRPr>
          </a:p>
        </p:txBody>
      </p:sp>
      <p:sp>
        <p:nvSpPr>
          <p:cNvPr id="466" name="Google Shape;466;p34"/>
          <p:cNvSpPr/>
          <p:nvPr/>
        </p:nvSpPr>
        <p:spPr>
          <a:xfrm>
            <a:off x="8145082" y="1678419"/>
            <a:ext cx="2082800" cy="682625"/>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0475" tIns="44450" rIns="90475" bIns="44450" anchor="ctr" anchorCtr="0">
            <a:noAutofit/>
          </a:bodyPr>
          <a:lstStyle/>
          <a:p>
            <a:pPr marL="0" marR="0" lvl="0" indent="0" algn="ctr" rtl="0">
              <a:lnSpc>
                <a:spcPct val="90000"/>
              </a:lnSpc>
              <a:spcBef>
                <a:spcPts val="0"/>
              </a:spcBef>
              <a:spcAft>
                <a:spcPts val="0"/>
              </a:spcAft>
              <a:buNone/>
            </a:pPr>
            <a:r>
              <a:rPr lang="es-ES" sz="2000" b="1">
                <a:solidFill>
                  <a:srgbClr val="595959"/>
                </a:solidFill>
                <a:latin typeface="Arial"/>
                <a:ea typeface="Arial"/>
                <a:cs typeface="Arial"/>
                <a:sym typeface="Arial"/>
              </a:rPr>
              <a:t>Condicional</a:t>
            </a:r>
            <a:endParaRPr/>
          </a:p>
        </p:txBody>
      </p:sp>
      <p:sp>
        <p:nvSpPr>
          <p:cNvPr id="467" name="Google Shape;467;p34"/>
          <p:cNvSpPr/>
          <p:nvPr/>
        </p:nvSpPr>
        <p:spPr>
          <a:xfrm>
            <a:off x="8145082" y="2435890"/>
            <a:ext cx="2082800" cy="3463925"/>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182550" tIns="182550" rIns="182550" bIns="182550" anchor="t" anchorCtr="0">
            <a:noAutofit/>
          </a:bodyPr>
          <a:lstStyle/>
          <a:p>
            <a:pPr marL="0" marR="0" lvl="0" indent="0" algn="l" rtl="0">
              <a:spcBef>
                <a:spcPts val="0"/>
              </a:spcBef>
              <a:spcAft>
                <a:spcPts val="0"/>
              </a:spcAft>
              <a:buNone/>
            </a:pPr>
            <a:endParaRPr sz="1800">
              <a:solidFill>
                <a:srgbClr val="595959"/>
              </a:solidFill>
              <a:latin typeface="Arial"/>
              <a:ea typeface="Arial"/>
              <a:cs typeface="Arial"/>
              <a:sym typeface="Arial"/>
            </a:endParaRPr>
          </a:p>
          <a:p>
            <a:pPr marL="0" marR="0" lvl="0" indent="0" algn="ctr" rtl="0">
              <a:spcBef>
                <a:spcPts val="1800"/>
              </a:spcBef>
              <a:spcAft>
                <a:spcPts val="0"/>
              </a:spcAft>
              <a:buNone/>
            </a:pPr>
            <a:r>
              <a:rPr lang="es-ES" sz="1800">
                <a:solidFill>
                  <a:srgbClr val="595959"/>
                </a:solidFill>
                <a:latin typeface="Arial"/>
                <a:ea typeface="Arial"/>
                <a:cs typeface="Arial"/>
                <a:sym typeface="Arial"/>
              </a:rPr>
              <a:t>La probabilidad de que ocurra   </a:t>
            </a:r>
            <a:r>
              <a:rPr lang="es-ES" sz="1800" b="1">
                <a:solidFill>
                  <a:srgbClr val="595959"/>
                </a:solidFill>
                <a:latin typeface="Arial"/>
                <a:ea typeface="Arial"/>
                <a:cs typeface="Arial"/>
                <a:sym typeface="Arial"/>
              </a:rPr>
              <a:t>X sabiendo que ha ocurrido Y</a:t>
            </a:r>
            <a:endParaRPr sz="1800">
              <a:solidFill>
                <a:srgbClr val="595959"/>
              </a:solidFill>
              <a:latin typeface="Arial"/>
              <a:ea typeface="Arial"/>
              <a:cs typeface="Arial"/>
              <a:sym typeface="Arial"/>
            </a:endParaRPr>
          </a:p>
        </p:txBody>
      </p:sp>
      <p:grpSp>
        <p:nvGrpSpPr>
          <p:cNvPr id="468" name="Google Shape;468;p34"/>
          <p:cNvGrpSpPr/>
          <p:nvPr/>
        </p:nvGrpSpPr>
        <p:grpSpPr>
          <a:xfrm>
            <a:off x="3999946" y="4509165"/>
            <a:ext cx="1787525" cy="1276350"/>
            <a:chOff x="1660" y="2972"/>
            <a:chExt cx="1126" cy="804"/>
          </a:xfrm>
        </p:grpSpPr>
        <p:sp>
          <p:nvSpPr>
            <p:cNvPr id="469" name="Google Shape;469;p34"/>
            <p:cNvSpPr/>
            <p:nvPr/>
          </p:nvSpPr>
          <p:spPr>
            <a:xfrm>
              <a:off x="1660" y="2992"/>
              <a:ext cx="1126" cy="784"/>
            </a:xfrm>
            <a:prstGeom prst="rect">
              <a:avLst/>
            </a:prstGeom>
            <a:noFill/>
            <a:ln w="508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grpSp>
          <p:nvGrpSpPr>
            <p:cNvPr id="470" name="Google Shape;470;p34"/>
            <p:cNvGrpSpPr/>
            <p:nvPr/>
          </p:nvGrpSpPr>
          <p:grpSpPr>
            <a:xfrm>
              <a:off x="1752" y="3216"/>
              <a:ext cx="956" cy="521"/>
              <a:chOff x="1752" y="3216"/>
              <a:chExt cx="956" cy="521"/>
            </a:xfrm>
          </p:grpSpPr>
          <p:grpSp>
            <p:nvGrpSpPr>
              <p:cNvPr id="471" name="Google Shape;471;p34"/>
              <p:cNvGrpSpPr/>
              <p:nvPr/>
            </p:nvGrpSpPr>
            <p:grpSpPr>
              <a:xfrm>
                <a:off x="1752" y="3216"/>
                <a:ext cx="956" cy="521"/>
                <a:chOff x="1752" y="3216"/>
                <a:chExt cx="956" cy="521"/>
              </a:xfrm>
            </p:grpSpPr>
            <p:sp>
              <p:nvSpPr>
                <p:cNvPr id="472" name="Google Shape;472;p34" descr="Wide upward diagonal"/>
                <p:cNvSpPr/>
                <p:nvPr/>
              </p:nvSpPr>
              <p:spPr>
                <a:xfrm>
                  <a:off x="1752" y="3225"/>
                  <a:ext cx="568" cy="512"/>
                </a:xfrm>
                <a:prstGeom prst="ellipse">
                  <a:avLst/>
                </a:prstGeom>
                <a:solidFill>
                  <a:schemeClr val="dk1"/>
                </a:solidFill>
                <a:ln w="508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473" name="Google Shape;473;p34" descr="Wide upward diagonal"/>
                <p:cNvSpPr/>
                <p:nvPr/>
              </p:nvSpPr>
              <p:spPr>
                <a:xfrm>
                  <a:off x="2139" y="3216"/>
                  <a:ext cx="569" cy="512"/>
                </a:xfrm>
                <a:prstGeom prst="ellipse">
                  <a:avLst/>
                </a:prstGeom>
                <a:solidFill>
                  <a:schemeClr val="dk1"/>
                </a:solidFill>
                <a:ln w="50800" cap="flat" cmpd="sng">
                  <a:solidFill>
                    <a:schemeClr val="fo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grpSp>
          <p:sp>
            <p:nvSpPr>
              <p:cNvPr id="474" name="Google Shape;474;p34"/>
              <p:cNvSpPr/>
              <p:nvPr/>
            </p:nvSpPr>
            <p:spPr>
              <a:xfrm>
                <a:off x="2223" y="3282"/>
                <a:ext cx="106" cy="404"/>
              </a:xfrm>
              <a:custGeom>
                <a:avLst/>
                <a:gdLst/>
                <a:ahLst/>
                <a:cxnLst/>
                <a:rect l="l" t="t" r="r" b="b"/>
                <a:pathLst>
                  <a:path w="106" h="404" extrusionOk="0">
                    <a:moveTo>
                      <a:pt x="0" y="0"/>
                    </a:moveTo>
                    <a:lnTo>
                      <a:pt x="7" y="5"/>
                    </a:lnTo>
                    <a:lnTo>
                      <a:pt x="15" y="10"/>
                    </a:lnTo>
                    <a:lnTo>
                      <a:pt x="22" y="17"/>
                    </a:lnTo>
                    <a:lnTo>
                      <a:pt x="27" y="24"/>
                    </a:lnTo>
                    <a:lnTo>
                      <a:pt x="34" y="29"/>
                    </a:lnTo>
                    <a:lnTo>
                      <a:pt x="37" y="36"/>
                    </a:lnTo>
                    <a:lnTo>
                      <a:pt x="44" y="39"/>
                    </a:lnTo>
                    <a:lnTo>
                      <a:pt x="49" y="46"/>
                    </a:lnTo>
                    <a:lnTo>
                      <a:pt x="56" y="51"/>
                    </a:lnTo>
                    <a:lnTo>
                      <a:pt x="61" y="58"/>
                    </a:lnTo>
                    <a:lnTo>
                      <a:pt x="66" y="66"/>
                    </a:lnTo>
                    <a:lnTo>
                      <a:pt x="71" y="73"/>
                    </a:lnTo>
                    <a:lnTo>
                      <a:pt x="73" y="80"/>
                    </a:lnTo>
                    <a:lnTo>
                      <a:pt x="76" y="87"/>
                    </a:lnTo>
                    <a:lnTo>
                      <a:pt x="81" y="95"/>
                    </a:lnTo>
                    <a:lnTo>
                      <a:pt x="85" y="102"/>
                    </a:lnTo>
                    <a:lnTo>
                      <a:pt x="88" y="109"/>
                    </a:lnTo>
                    <a:lnTo>
                      <a:pt x="90" y="117"/>
                    </a:lnTo>
                    <a:lnTo>
                      <a:pt x="95" y="124"/>
                    </a:lnTo>
                    <a:lnTo>
                      <a:pt x="98" y="131"/>
                    </a:lnTo>
                    <a:lnTo>
                      <a:pt x="100" y="138"/>
                    </a:lnTo>
                    <a:lnTo>
                      <a:pt x="103" y="146"/>
                    </a:lnTo>
                    <a:lnTo>
                      <a:pt x="103" y="153"/>
                    </a:lnTo>
                    <a:lnTo>
                      <a:pt x="105" y="160"/>
                    </a:lnTo>
                    <a:lnTo>
                      <a:pt x="105" y="168"/>
                    </a:lnTo>
                    <a:lnTo>
                      <a:pt x="105" y="175"/>
                    </a:lnTo>
                    <a:lnTo>
                      <a:pt x="105" y="182"/>
                    </a:lnTo>
                    <a:lnTo>
                      <a:pt x="105" y="189"/>
                    </a:lnTo>
                    <a:lnTo>
                      <a:pt x="105" y="197"/>
                    </a:lnTo>
                    <a:lnTo>
                      <a:pt x="105" y="204"/>
                    </a:lnTo>
                    <a:lnTo>
                      <a:pt x="105" y="211"/>
                    </a:lnTo>
                    <a:lnTo>
                      <a:pt x="105" y="218"/>
                    </a:lnTo>
                    <a:lnTo>
                      <a:pt x="105" y="226"/>
                    </a:lnTo>
                    <a:lnTo>
                      <a:pt x="105" y="233"/>
                    </a:lnTo>
                    <a:lnTo>
                      <a:pt x="105" y="240"/>
                    </a:lnTo>
                    <a:lnTo>
                      <a:pt x="105" y="248"/>
                    </a:lnTo>
                    <a:lnTo>
                      <a:pt x="105" y="255"/>
                    </a:lnTo>
                    <a:lnTo>
                      <a:pt x="100" y="262"/>
                    </a:lnTo>
                    <a:lnTo>
                      <a:pt x="100" y="269"/>
                    </a:lnTo>
                    <a:lnTo>
                      <a:pt x="93" y="277"/>
                    </a:lnTo>
                    <a:lnTo>
                      <a:pt x="90" y="284"/>
                    </a:lnTo>
                    <a:lnTo>
                      <a:pt x="90" y="291"/>
                    </a:lnTo>
                    <a:lnTo>
                      <a:pt x="83" y="296"/>
                    </a:lnTo>
                    <a:lnTo>
                      <a:pt x="81" y="303"/>
                    </a:lnTo>
                    <a:lnTo>
                      <a:pt x="81" y="311"/>
                    </a:lnTo>
                    <a:lnTo>
                      <a:pt x="76" y="318"/>
                    </a:lnTo>
                    <a:lnTo>
                      <a:pt x="71" y="325"/>
                    </a:lnTo>
                    <a:lnTo>
                      <a:pt x="66" y="333"/>
                    </a:lnTo>
                    <a:lnTo>
                      <a:pt x="61" y="340"/>
                    </a:lnTo>
                    <a:lnTo>
                      <a:pt x="59" y="347"/>
                    </a:lnTo>
                    <a:lnTo>
                      <a:pt x="54" y="354"/>
                    </a:lnTo>
                    <a:lnTo>
                      <a:pt x="46" y="359"/>
                    </a:lnTo>
                    <a:lnTo>
                      <a:pt x="42" y="367"/>
                    </a:lnTo>
                    <a:lnTo>
                      <a:pt x="34" y="371"/>
                    </a:lnTo>
                    <a:lnTo>
                      <a:pt x="27" y="376"/>
                    </a:lnTo>
                    <a:lnTo>
                      <a:pt x="22" y="384"/>
                    </a:lnTo>
                    <a:lnTo>
                      <a:pt x="17" y="391"/>
                    </a:lnTo>
                    <a:lnTo>
                      <a:pt x="10" y="396"/>
                    </a:lnTo>
                    <a:lnTo>
                      <a:pt x="2" y="403"/>
                    </a:lnTo>
                  </a:path>
                </a:pathLst>
              </a:custGeom>
              <a:noFill/>
              <a:ln w="50800" cap="rnd"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475" name="Google Shape;475;p34"/>
            <p:cNvSpPr/>
            <p:nvPr/>
          </p:nvSpPr>
          <p:spPr>
            <a:xfrm>
              <a:off x="2267" y="2972"/>
              <a:ext cx="276" cy="32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s-ES" sz="1800" b="1">
                  <a:solidFill>
                    <a:schemeClr val="folHlink"/>
                  </a:solidFill>
                  <a:latin typeface="Times New Roman"/>
                  <a:ea typeface="Times New Roman"/>
                  <a:cs typeface="Times New Roman"/>
                  <a:sym typeface="Times New Roman"/>
                </a:rPr>
                <a:t>Y</a:t>
              </a:r>
              <a:endParaRPr/>
            </a:p>
          </p:txBody>
        </p:sp>
        <p:sp>
          <p:nvSpPr>
            <p:cNvPr id="476" name="Google Shape;476;p34"/>
            <p:cNvSpPr/>
            <p:nvPr/>
          </p:nvSpPr>
          <p:spPr>
            <a:xfrm>
              <a:off x="1901" y="2984"/>
              <a:ext cx="276" cy="32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s-ES" sz="1800" b="1">
                  <a:solidFill>
                    <a:schemeClr val="accent2"/>
                  </a:solidFill>
                  <a:latin typeface="Times New Roman"/>
                  <a:ea typeface="Times New Roman"/>
                  <a:cs typeface="Times New Roman"/>
                  <a:sym typeface="Times New Roman"/>
                </a:rPr>
                <a:t>X</a:t>
              </a:r>
              <a:endParaRPr/>
            </a:p>
          </p:txBody>
        </p:sp>
      </p:grpSp>
      <p:sp>
        <p:nvSpPr>
          <p:cNvPr id="477" name="Google Shape;477;p34"/>
          <p:cNvSpPr/>
          <p:nvPr/>
        </p:nvSpPr>
        <p:spPr>
          <a:xfrm>
            <a:off x="6149361" y="4531390"/>
            <a:ext cx="1787525" cy="1244600"/>
          </a:xfrm>
          <a:prstGeom prst="rect">
            <a:avLst/>
          </a:prstGeom>
          <a:noFill/>
          <a:ln w="508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grpSp>
        <p:nvGrpSpPr>
          <p:cNvPr id="478" name="Google Shape;478;p34"/>
          <p:cNvGrpSpPr/>
          <p:nvPr/>
        </p:nvGrpSpPr>
        <p:grpSpPr>
          <a:xfrm>
            <a:off x="6295411" y="4885403"/>
            <a:ext cx="1517650" cy="828675"/>
            <a:chOff x="3078" y="3209"/>
            <a:chExt cx="956" cy="522"/>
          </a:xfrm>
        </p:grpSpPr>
        <p:sp>
          <p:nvSpPr>
            <p:cNvPr id="479" name="Google Shape;479;p34"/>
            <p:cNvSpPr/>
            <p:nvPr/>
          </p:nvSpPr>
          <p:spPr>
            <a:xfrm>
              <a:off x="3078" y="3219"/>
              <a:ext cx="569" cy="512"/>
            </a:xfrm>
            <a:prstGeom prst="ellipse">
              <a:avLst/>
            </a:prstGeom>
            <a:solidFill>
              <a:schemeClr val="dk1"/>
            </a:solidFill>
            <a:ln w="508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480" name="Google Shape;480;p34"/>
            <p:cNvSpPr/>
            <p:nvPr/>
          </p:nvSpPr>
          <p:spPr>
            <a:xfrm>
              <a:off x="3466" y="3209"/>
              <a:ext cx="568" cy="512"/>
            </a:xfrm>
            <a:prstGeom prst="ellipse">
              <a:avLst/>
            </a:prstGeom>
            <a:solidFill>
              <a:schemeClr val="dk1"/>
            </a:solidFill>
            <a:ln w="50800" cap="flat" cmpd="sng">
              <a:solidFill>
                <a:schemeClr val="fo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grpSp>
      <p:grpSp>
        <p:nvGrpSpPr>
          <p:cNvPr id="481" name="Google Shape;481;p34"/>
          <p:cNvGrpSpPr/>
          <p:nvPr/>
        </p:nvGrpSpPr>
        <p:grpSpPr>
          <a:xfrm>
            <a:off x="6905011" y="4975890"/>
            <a:ext cx="304800" cy="657225"/>
            <a:chOff x="3462" y="3266"/>
            <a:chExt cx="192" cy="414"/>
          </a:xfrm>
        </p:grpSpPr>
        <p:sp>
          <p:nvSpPr>
            <p:cNvPr id="482" name="Google Shape;482;p34" descr="Wide upward diagonal"/>
            <p:cNvSpPr/>
            <p:nvPr/>
          </p:nvSpPr>
          <p:spPr>
            <a:xfrm>
              <a:off x="3549" y="3276"/>
              <a:ext cx="105" cy="404"/>
            </a:xfrm>
            <a:custGeom>
              <a:avLst/>
              <a:gdLst/>
              <a:ahLst/>
              <a:cxnLst/>
              <a:rect l="l" t="t" r="r" b="b"/>
              <a:pathLst>
                <a:path w="105" h="404" extrusionOk="0">
                  <a:moveTo>
                    <a:pt x="0" y="0"/>
                  </a:moveTo>
                  <a:lnTo>
                    <a:pt x="7" y="5"/>
                  </a:lnTo>
                  <a:lnTo>
                    <a:pt x="15" y="10"/>
                  </a:lnTo>
                  <a:lnTo>
                    <a:pt x="22" y="17"/>
                  </a:lnTo>
                  <a:lnTo>
                    <a:pt x="27" y="24"/>
                  </a:lnTo>
                  <a:lnTo>
                    <a:pt x="34" y="29"/>
                  </a:lnTo>
                  <a:lnTo>
                    <a:pt x="36" y="36"/>
                  </a:lnTo>
                  <a:lnTo>
                    <a:pt x="44" y="39"/>
                  </a:lnTo>
                  <a:lnTo>
                    <a:pt x="48" y="46"/>
                  </a:lnTo>
                  <a:lnTo>
                    <a:pt x="56" y="51"/>
                  </a:lnTo>
                  <a:lnTo>
                    <a:pt x="60" y="58"/>
                  </a:lnTo>
                  <a:lnTo>
                    <a:pt x="65" y="66"/>
                  </a:lnTo>
                  <a:lnTo>
                    <a:pt x="70" y="73"/>
                  </a:lnTo>
                  <a:lnTo>
                    <a:pt x="73" y="80"/>
                  </a:lnTo>
                  <a:lnTo>
                    <a:pt x="75" y="87"/>
                  </a:lnTo>
                  <a:lnTo>
                    <a:pt x="80" y="95"/>
                  </a:lnTo>
                  <a:lnTo>
                    <a:pt x="85" y="102"/>
                  </a:lnTo>
                  <a:lnTo>
                    <a:pt x="87" y="109"/>
                  </a:lnTo>
                  <a:lnTo>
                    <a:pt x="89" y="117"/>
                  </a:lnTo>
                  <a:lnTo>
                    <a:pt x="94" y="124"/>
                  </a:lnTo>
                  <a:lnTo>
                    <a:pt x="97" y="131"/>
                  </a:lnTo>
                  <a:lnTo>
                    <a:pt x="99" y="138"/>
                  </a:lnTo>
                  <a:lnTo>
                    <a:pt x="102" y="146"/>
                  </a:lnTo>
                  <a:lnTo>
                    <a:pt x="102" y="153"/>
                  </a:lnTo>
                  <a:lnTo>
                    <a:pt x="104" y="160"/>
                  </a:lnTo>
                  <a:lnTo>
                    <a:pt x="104" y="168"/>
                  </a:lnTo>
                  <a:lnTo>
                    <a:pt x="104" y="175"/>
                  </a:lnTo>
                  <a:lnTo>
                    <a:pt x="104" y="182"/>
                  </a:lnTo>
                  <a:lnTo>
                    <a:pt x="104" y="189"/>
                  </a:lnTo>
                  <a:lnTo>
                    <a:pt x="104" y="197"/>
                  </a:lnTo>
                  <a:lnTo>
                    <a:pt x="104" y="204"/>
                  </a:lnTo>
                  <a:lnTo>
                    <a:pt x="104" y="211"/>
                  </a:lnTo>
                  <a:lnTo>
                    <a:pt x="104" y="218"/>
                  </a:lnTo>
                  <a:lnTo>
                    <a:pt x="104" y="226"/>
                  </a:lnTo>
                  <a:lnTo>
                    <a:pt x="104" y="233"/>
                  </a:lnTo>
                  <a:lnTo>
                    <a:pt x="104" y="240"/>
                  </a:lnTo>
                  <a:lnTo>
                    <a:pt x="104" y="248"/>
                  </a:lnTo>
                  <a:lnTo>
                    <a:pt x="104" y="255"/>
                  </a:lnTo>
                  <a:lnTo>
                    <a:pt x="99" y="262"/>
                  </a:lnTo>
                  <a:lnTo>
                    <a:pt x="99" y="269"/>
                  </a:lnTo>
                  <a:lnTo>
                    <a:pt x="92" y="277"/>
                  </a:lnTo>
                  <a:lnTo>
                    <a:pt x="89" y="284"/>
                  </a:lnTo>
                  <a:lnTo>
                    <a:pt x="89" y="291"/>
                  </a:lnTo>
                  <a:lnTo>
                    <a:pt x="82" y="296"/>
                  </a:lnTo>
                  <a:lnTo>
                    <a:pt x="80" y="303"/>
                  </a:lnTo>
                  <a:lnTo>
                    <a:pt x="80" y="311"/>
                  </a:lnTo>
                  <a:lnTo>
                    <a:pt x="75" y="318"/>
                  </a:lnTo>
                  <a:lnTo>
                    <a:pt x="70" y="325"/>
                  </a:lnTo>
                  <a:lnTo>
                    <a:pt x="65" y="333"/>
                  </a:lnTo>
                  <a:lnTo>
                    <a:pt x="60" y="340"/>
                  </a:lnTo>
                  <a:lnTo>
                    <a:pt x="58" y="347"/>
                  </a:lnTo>
                  <a:lnTo>
                    <a:pt x="53" y="354"/>
                  </a:lnTo>
                  <a:lnTo>
                    <a:pt x="46" y="359"/>
                  </a:lnTo>
                  <a:lnTo>
                    <a:pt x="41" y="367"/>
                  </a:lnTo>
                  <a:lnTo>
                    <a:pt x="34" y="371"/>
                  </a:lnTo>
                  <a:lnTo>
                    <a:pt x="27" y="376"/>
                  </a:lnTo>
                  <a:lnTo>
                    <a:pt x="22" y="384"/>
                  </a:lnTo>
                  <a:lnTo>
                    <a:pt x="17" y="391"/>
                  </a:lnTo>
                  <a:lnTo>
                    <a:pt x="10" y="396"/>
                  </a:lnTo>
                  <a:lnTo>
                    <a:pt x="2" y="403"/>
                  </a:lnTo>
                </a:path>
              </a:pathLst>
            </a:custGeom>
            <a:solidFill>
              <a:schemeClr val="dk1"/>
            </a:solidFill>
            <a:ln w="50800" cap="rnd"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3" name="Google Shape;483;p34" descr="Wide upward diagonal"/>
            <p:cNvSpPr/>
            <p:nvPr/>
          </p:nvSpPr>
          <p:spPr>
            <a:xfrm>
              <a:off x="3462" y="3266"/>
              <a:ext cx="117" cy="407"/>
            </a:xfrm>
            <a:custGeom>
              <a:avLst/>
              <a:gdLst/>
              <a:ahLst/>
              <a:cxnLst/>
              <a:rect l="l" t="t" r="r" b="b"/>
              <a:pathLst>
                <a:path w="117" h="407" extrusionOk="0">
                  <a:moveTo>
                    <a:pt x="99" y="0"/>
                  </a:moveTo>
                  <a:lnTo>
                    <a:pt x="94" y="7"/>
                  </a:lnTo>
                  <a:lnTo>
                    <a:pt x="87" y="12"/>
                  </a:lnTo>
                  <a:lnTo>
                    <a:pt x="85" y="19"/>
                  </a:lnTo>
                  <a:lnTo>
                    <a:pt x="77" y="22"/>
                  </a:lnTo>
                  <a:lnTo>
                    <a:pt x="73" y="29"/>
                  </a:lnTo>
                  <a:lnTo>
                    <a:pt x="65" y="34"/>
                  </a:lnTo>
                  <a:lnTo>
                    <a:pt x="63" y="41"/>
                  </a:lnTo>
                  <a:lnTo>
                    <a:pt x="58" y="49"/>
                  </a:lnTo>
                  <a:lnTo>
                    <a:pt x="51" y="56"/>
                  </a:lnTo>
                  <a:lnTo>
                    <a:pt x="46" y="63"/>
                  </a:lnTo>
                  <a:lnTo>
                    <a:pt x="39" y="68"/>
                  </a:lnTo>
                  <a:lnTo>
                    <a:pt x="34" y="75"/>
                  </a:lnTo>
                  <a:lnTo>
                    <a:pt x="31" y="83"/>
                  </a:lnTo>
                  <a:lnTo>
                    <a:pt x="27" y="90"/>
                  </a:lnTo>
                  <a:lnTo>
                    <a:pt x="24" y="97"/>
                  </a:lnTo>
                  <a:lnTo>
                    <a:pt x="22" y="105"/>
                  </a:lnTo>
                  <a:lnTo>
                    <a:pt x="19" y="112"/>
                  </a:lnTo>
                  <a:lnTo>
                    <a:pt x="17" y="119"/>
                  </a:lnTo>
                  <a:lnTo>
                    <a:pt x="12" y="126"/>
                  </a:lnTo>
                  <a:lnTo>
                    <a:pt x="10" y="134"/>
                  </a:lnTo>
                  <a:lnTo>
                    <a:pt x="7" y="141"/>
                  </a:lnTo>
                  <a:lnTo>
                    <a:pt x="7" y="148"/>
                  </a:lnTo>
                  <a:lnTo>
                    <a:pt x="7" y="156"/>
                  </a:lnTo>
                  <a:lnTo>
                    <a:pt x="5" y="163"/>
                  </a:lnTo>
                  <a:lnTo>
                    <a:pt x="2" y="170"/>
                  </a:lnTo>
                  <a:lnTo>
                    <a:pt x="2" y="177"/>
                  </a:lnTo>
                  <a:lnTo>
                    <a:pt x="0" y="185"/>
                  </a:lnTo>
                  <a:lnTo>
                    <a:pt x="0" y="192"/>
                  </a:lnTo>
                  <a:lnTo>
                    <a:pt x="0" y="199"/>
                  </a:lnTo>
                  <a:lnTo>
                    <a:pt x="0" y="207"/>
                  </a:lnTo>
                  <a:lnTo>
                    <a:pt x="0" y="214"/>
                  </a:lnTo>
                  <a:lnTo>
                    <a:pt x="0" y="221"/>
                  </a:lnTo>
                  <a:lnTo>
                    <a:pt x="0" y="229"/>
                  </a:lnTo>
                  <a:lnTo>
                    <a:pt x="0" y="236"/>
                  </a:lnTo>
                  <a:lnTo>
                    <a:pt x="2" y="243"/>
                  </a:lnTo>
                  <a:lnTo>
                    <a:pt x="5" y="250"/>
                  </a:lnTo>
                  <a:lnTo>
                    <a:pt x="7" y="258"/>
                  </a:lnTo>
                  <a:lnTo>
                    <a:pt x="10" y="265"/>
                  </a:lnTo>
                  <a:lnTo>
                    <a:pt x="10" y="272"/>
                  </a:lnTo>
                  <a:lnTo>
                    <a:pt x="12" y="280"/>
                  </a:lnTo>
                  <a:lnTo>
                    <a:pt x="15" y="287"/>
                  </a:lnTo>
                  <a:lnTo>
                    <a:pt x="17" y="294"/>
                  </a:lnTo>
                  <a:lnTo>
                    <a:pt x="22" y="301"/>
                  </a:lnTo>
                  <a:lnTo>
                    <a:pt x="24" y="309"/>
                  </a:lnTo>
                  <a:lnTo>
                    <a:pt x="29" y="316"/>
                  </a:lnTo>
                  <a:lnTo>
                    <a:pt x="34" y="323"/>
                  </a:lnTo>
                  <a:lnTo>
                    <a:pt x="39" y="331"/>
                  </a:lnTo>
                  <a:lnTo>
                    <a:pt x="44" y="338"/>
                  </a:lnTo>
                  <a:lnTo>
                    <a:pt x="48" y="345"/>
                  </a:lnTo>
                  <a:lnTo>
                    <a:pt x="53" y="353"/>
                  </a:lnTo>
                  <a:lnTo>
                    <a:pt x="58" y="360"/>
                  </a:lnTo>
                  <a:lnTo>
                    <a:pt x="63" y="367"/>
                  </a:lnTo>
                  <a:lnTo>
                    <a:pt x="70" y="372"/>
                  </a:lnTo>
                  <a:lnTo>
                    <a:pt x="75" y="379"/>
                  </a:lnTo>
                  <a:lnTo>
                    <a:pt x="80" y="387"/>
                  </a:lnTo>
                  <a:lnTo>
                    <a:pt x="87" y="391"/>
                  </a:lnTo>
                  <a:lnTo>
                    <a:pt x="94" y="396"/>
                  </a:lnTo>
                  <a:lnTo>
                    <a:pt x="102" y="399"/>
                  </a:lnTo>
                  <a:lnTo>
                    <a:pt x="109" y="401"/>
                  </a:lnTo>
                  <a:lnTo>
                    <a:pt x="116" y="406"/>
                  </a:lnTo>
                </a:path>
              </a:pathLst>
            </a:custGeom>
            <a:solidFill>
              <a:schemeClr val="dk1"/>
            </a:solidFill>
            <a:ln w="508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484" name="Google Shape;484;p34"/>
          <p:cNvGrpSpPr/>
          <p:nvPr/>
        </p:nvGrpSpPr>
        <p:grpSpPr>
          <a:xfrm>
            <a:off x="8757857" y="4733003"/>
            <a:ext cx="908050" cy="812800"/>
            <a:chOff x="4590" y="3221"/>
            <a:chExt cx="572" cy="512"/>
          </a:xfrm>
        </p:grpSpPr>
        <p:sp>
          <p:nvSpPr>
            <p:cNvPr id="485" name="Google Shape;485;p34"/>
            <p:cNvSpPr/>
            <p:nvPr/>
          </p:nvSpPr>
          <p:spPr>
            <a:xfrm>
              <a:off x="4594" y="3221"/>
              <a:ext cx="568" cy="512"/>
            </a:xfrm>
            <a:prstGeom prst="ellipse">
              <a:avLst/>
            </a:prstGeom>
            <a:solidFill>
              <a:schemeClr val="dk1"/>
            </a:solidFill>
            <a:ln w="50800" cap="flat" cmpd="sng">
              <a:solidFill>
                <a:schemeClr val="fo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486" name="Google Shape;486;p34"/>
            <p:cNvSpPr/>
            <p:nvPr/>
          </p:nvSpPr>
          <p:spPr>
            <a:xfrm>
              <a:off x="4839" y="3313"/>
              <a:ext cx="276" cy="32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s-ES" sz="1800" b="1">
                  <a:solidFill>
                    <a:schemeClr val="folHlink"/>
                  </a:solidFill>
                  <a:latin typeface="Times New Roman"/>
                  <a:ea typeface="Times New Roman"/>
                  <a:cs typeface="Times New Roman"/>
                  <a:sym typeface="Times New Roman"/>
                </a:rPr>
                <a:t>Y</a:t>
              </a:r>
              <a:endParaRPr/>
            </a:p>
          </p:txBody>
        </p:sp>
        <p:grpSp>
          <p:nvGrpSpPr>
            <p:cNvPr id="487" name="Google Shape;487;p34"/>
            <p:cNvGrpSpPr/>
            <p:nvPr/>
          </p:nvGrpSpPr>
          <p:grpSpPr>
            <a:xfrm>
              <a:off x="4590" y="3278"/>
              <a:ext cx="192" cy="414"/>
              <a:chOff x="4590" y="3278"/>
              <a:chExt cx="192" cy="414"/>
            </a:xfrm>
          </p:grpSpPr>
          <p:sp>
            <p:nvSpPr>
              <p:cNvPr id="488" name="Google Shape;488;p34" descr="Wide upward diagonal"/>
              <p:cNvSpPr/>
              <p:nvPr/>
            </p:nvSpPr>
            <p:spPr>
              <a:xfrm>
                <a:off x="4677" y="3288"/>
                <a:ext cx="105" cy="404"/>
              </a:xfrm>
              <a:custGeom>
                <a:avLst/>
                <a:gdLst/>
                <a:ahLst/>
                <a:cxnLst/>
                <a:rect l="l" t="t" r="r" b="b"/>
                <a:pathLst>
                  <a:path w="105" h="404" extrusionOk="0">
                    <a:moveTo>
                      <a:pt x="0" y="0"/>
                    </a:moveTo>
                    <a:lnTo>
                      <a:pt x="7" y="5"/>
                    </a:lnTo>
                    <a:lnTo>
                      <a:pt x="15" y="10"/>
                    </a:lnTo>
                    <a:lnTo>
                      <a:pt x="22" y="17"/>
                    </a:lnTo>
                    <a:lnTo>
                      <a:pt x="27" y="24"/>
                    </a:lnTo>
                    <a:lnTo>
                      <a:pt x="34" y="29"/>
                    </a:lnTo>
                    <a:lnTo>
                      <a:pt x="36" y="36"/>
                    </a:lnTo>
                    <a:lnTo>
                      <a:pt x="44" y="39"/>
                    </a:lnTo>
                    <a:lnTo>
                      <a:pt x="48" y="46"/>
                    </a:lnTo>
                    <a:lnTo>
                      <a:pt x="56" y="51"/>
                    </a:lnTo>
                    <a:lnTo>
                      <a:pt x="60" y="58"/>
                    </a:lnTo>
                    <a:lnTo>
                      <a:pt x="65" y="66"/>
                    </a:lnTo>
                    <a:lnTo>
                      <a:pt x="70" y="73"/>
                    </a:lnTo>
                    <a:lnTo>
                      <a:pt x="73" y="80"/>
                    </a:lnTo>
                    <a:lnTo>
                      <a:pt x="75" y="87"/>
                    </a:lnTo>
                    <a:lnTo>
                      <a:pt x="80" y="95"/>
                    </a:lnTo>
                    <a:lnTo>
                      <a:pt x="85" y="102"/>
                    </a:lnTo>
                    <a:lnTo>
                      <a:pt x="87" y="109"/>
                    </a:lnTo>
                    <a:lnTo>
                      <a:pt x="89" y="117"/>
                    </a:lnTo>
                    <a:lnTo>
                      <a:pt x="94" y="124"/>
                    </a:lnTo>
                    <a:lnTo>
                      <a:pt x="97" y="131"/>
                    </a:lnTo>
                    <a:lnTo>
                      <a:pt x="99" y="138"/>
                    </a:lnTo>
                    <a:lnTo>
                      <a:pt x="102" y="146"/>
                    </a:lnTo>
                    <a:lnTo>
                      <a:pt x="102" y="153"/>
                    </a:lnTo>
                    <a:lnTo>
                      <a:pt x="104" y="160"/>
                    </a:lnTo>
                    <a:lnTo>
                      <a:pt x="104" y="168"/>
                    </a:lnTo>
                    <a:lnTo>
                      <a:pt x="104" y="175"/>
                    </a:lnTo>
                    <a:lnTo>
                      <a:pt x="104" y="182"/>
                    </a:lnTo>
                    <a:lnTo>
                      <a:pt x="104" y="189"/>
                    </a:lnTo>
                    <a:lnTo>
                      <a:pt x="104" y="197"/>
                    </a:lnTo>
                    <a:lnTo>
                      <a:pt x="104" y="204"/>
                    </a:lnTo>
                    <a:lnTo>
                      <a:pt x="104" y="211"/>
                    </a:lnTo>
                    <a:lnTo>
                      <a:pt x="104" y="218"/>
                    </a:lnTo>
                    <a:lnTo>
                      <a:pt x="104" y="226"/>
                    </a:lnTo>
                    <a:lnTo>
                      <a:pt x="104" y="233"/>
                    </a:lnTo>
                    <a:lnTo>
                      <a:pt x="104" y="240"/>
                    </a:lnTo>
                    <a:lnTo>
                      <a:pt x="104" y="248"/>
                    </a:lnTo>
                    <a:lnTo>
                      <a:pt x="104" y="255"/>
                    </a:lnTo>
                    <a:lnTo>
                      <a:pt x="99" y="262"/>
                    </a:lnTo>
                    <a:lnTo>
                      <a:pt x="99" y="269"/>
                    </a:lnTo>
                    <a:lnTo>
                      <a:pt x="92" y="277"/>
                    </a:lnTo>
                    <a:lnTo>
                      <a:pt x="89" y="284"/>
                    </a:lnTo>
                    <a:lnTo>
                      <a:pt x="89" y="291"/>
                    </a:lnTo>
                    <a:lnTo>
                      <a:pt x="82" y="296"/>
                    </a:lnTo>
                    <a:lnTo>
                      <a:pt x="80" y="303"/>
                    </a:lnTo>
                    <a:lnTo>
                      <a:pt x="80" y="311"/>
                    </a:lnTo>
                    <a:lnTo>
                      <a:pt x="75" y="318"/>
                    </a:lnTo>
                    <a:lnTo>
                      <a:pt x="70" y="325"/>
                    </a:lnTo>
                    <a:lnTo>
                      <a:pt x="65" y="333"/>
                    </a:lnTo>
                    <a:lnTo>
                      <a:pt x="60" y="340"/>
                    </a:lnTo>
                    <a:lnTo>
                      <a:pt x="58" y="347"/>
                    </a:lnTo>
                    <a:lnTo>
                      <a:pt x="53" y="354"/>
                    </a:lnTo>
                    <a:lnTo>
                      <a:pt x="46" y="359"/>
                    </a:lnTo>
                    <a:lnTo>
                      <a:pt x="41" y="367"/>
                    </a:lnTo>
                    <a:lnTo>
                      <a:pt x="34" y="371"/>
                    </a:lnTo>
                    <a:lnTo>
                      <a:pt x="27" y="376"/>
                    </a:lnTo>
                    <a:lnTo>
                      <a:pt x="22" y="384"/>
                    </a:lnTo>
                    <a:lnTo>
                      <a:pt x="17" y="391"/>
                    </a:lnTo>
                    <a:lnTo>
                      <a:pt x="10" y="396"/>
                    </a:lnTo>
                    <a:lnTo>
                      <a:pt x="2" y="403"/>
                    </a:lnTo>
                  </a:path>
                </a:pathLst>
              </a:custGeom>
              <a:solidFill>
                <a:schemeClr val="dk1"/>
              </a:solidFill>
              <a:ln w="50800" cap="rnd"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9" name="Google Shape;489;p34" descr="Wide upward diagonal"/>
              <p:cNvSpPr/>
              <p:nvPr/>
            </p:nvSpPr>
            <p:spPr>
              <a:xfrm>
                <a:off x="4590" y="3278"/>
                <a:ext cx="117" cy="407"/>
              </a:xfrm>
              <a:custGeom>
                <a:avLst/>
                <a:gdLst/>
                <a:ahLst/>
                <a:cxnLst/>
                <a:rect l="l" t="t" r="r" b="b"/>
                <a:pathLst>
                  <a:path w="117" h="407" extrusionOk="0">
                    <a:moveTo>
                      <a:pt x="99" y="0"/>
                    </a:moveTo>
                    <a:lnTo>
                      <a:pt x="94" y="7"/>
                    </a:lnTo>
                    <a:lnTo>
                      <a:pt x="87" y="12"/>
                    </a:lnTo>
                    <a:lnTo>
                      <a:pt x="85" y="19"/>
                    </a:lnTo>
                    <a:lnTo>
                      <a:pt x="77" y="22"/>
                    </a:lnTo>
                    <a:lnTo>
                      <a:pt x="73" y="29"/>
                    </a:lnTo>
                    <a:lnTo>
                      <a:pt x="65" y="34"/>
                    </a:lnTo>
                    <a:lnTo>
                      <a:pt x="63" y="41"/>
                    </a:lnTo>
                    <a:lnTo>
                      <a:pt x="58" y="49"/>
                    </a:lnTo>
                    <a:lnTo>
                      <a:pt x="51" y="56"/>
                    </a:lnTo>
                    <a:lnTo>
                      <a:pt x="46" y="63"/>
                    </a:lnTo>
                    <a:lnTo>
                      <a:pt x="39" y="68"/>
                    </a:lnTo>
                    <a:lnTo>
                      <a:pt x="34" y="75"/>
                    </a:lnTo>
                    <a:lnTo>
                      <a:pt x="31" y="83"/>
                    </a:lnTo>
                    <a:lnTo>
                      <a:pt x="27" y="90"/>
                    </a:lnTo>
                    <a:lnTo>
                      <a:pt x="24" y="97"/>
                    </a:lnTo>
                    <a:lnTo>
                      <a:pt x="22" y="105"/>
                    </a:lnTo>
                    <a:lnTo>
                      <a:pt x="19" y="112"/>
                    </a:lnTo>
                    <a:lnTo>
                      <a:pt x="17" y="119"/>
                    </a:lnTo>
                    <a:lnTo>
                      <a:pt x="12" y="126"/>
                    </a:lnTo>
                    <a:lnTo>
                      <a:pt x="10" y="134"/>
                    </a:lnTo>
                    <a:lnTo>
                      <a:pt x="7" y="141"/>
                    </a:lnTo>
                    <a:lnTo>
                      <a:pt x="7" y="148"/>
                    </a:lnTo>
                    <a:lnTo>
                      <a:pt x="7" y="156"/>
                    </a:lnTo>
                    <a:lnTo>
                      <a:pt x="5" y="163"/>
                    </a:lnTo>
                    <a:lnTo>
                      <a:pt x="2" y="170"/>
                    </a:lnTo>
                    <a:lnTo>
                      <a:pt x="2" y="177"/>
                    </a:lnTo>
                    <a:lnTo>
                      <a:pt x="0" y="185"/>
                    </a:lnTo>
                    <a:lnTo>
                      <a:pt x="0" y="192"/>
                    </a:lnTo>
                    <a:lnTo>
                      <a:pt x="0" y="199"/>
                    </a:lnTo>
                    <a:lnTo>
                      <a:pt x="0" y="207"/>
                    </a:lnTo>
                    <a:lnTo>
                      <a:pt x="0" y="214"/>
                    </a:lnTo>
                    <a:lnTo>
                      <a:pt x="0" y="221"/>
                    </a:lnTo>
                    <a:lnTo>
                      <a:pt x="0" y="229"/>
                    </a:lnTo>
                    <a:lnTo>
                      <a:pt x="0" y="236"/>
                    </a:lnTo>
                    <a:lnTo>
                      <a:pt x="2" y="243"/>
                    </a:lnTo>
                    <a:lnTo>
                      <a:pt x="5" y="250"/>
                    </a:lnTo>
                    <a:lnTo>
                      <a:pt x="7" y="258"/>
                    </a:lnTo>
                    <a:lnTo>
                      <a:pt x="10" y="265"/>
                    </a:lnTo>
                    <a:lnTo>
                      <a:pt x="10" y="272"/>
                    </a:lnTo>
                    <a:lnTo>
                      <a:pt x="12" y="280"/>
                    </a:lnTo>
                    <a:lnTo>
                      <a:pt x="15" y="287"/>
                    </a:lnTo>
                    <a:lnTo>
                      <a:pt x="17" y="294"/>
                    </a:lnTo>
                    <a:lnTo>
                      <a:pt x="22" y="301"/>
                    </a:lnTo>
                    <a:lnTo>
                      <a:pt x="24" y="309"/>
                    </a:lnTo>
                    <a:lnTo>
                      <a:pt x="29" y="316"/>
                    </a:lnTo>
                    <a:lnTo>
                      <a:pt x="34" y="323"/>
                    </a:lnTo>
                    <a:lnTo>
                      <a:pt x="39" y="331"/>
                    </a:lnTo>
                    <a:lnTo>
                      <a:pt x="44" y="338"/>
                    </a:lnTo>
                    <a:lnTo>
                      <a:pt x="48" y="345"/>
                    </a:lnTo>
                    <a:lnTo>
                      <a:pt x="53" y="353"/>
                    </a:lnTo>
                    <a:lnTo>
                      <a:pt x="58" y="360"/>
                    </a:lnTo>
                    <a:lnTo>
                      <a:pt x="63" y="367"/>
                    </a:lnTo>
                    <a:lnTo>
                      <a:pt x="70" y="372"/>
                    </a:lnTo>
                    <a:lnTo>
                      <a:pt x="75" y="379"/>
                    </a:lnTo>
                    <a:lnTo>
                      <a:pt x="80" y="387"/>
                    </a:lnTo>
                    <a:lnTo>
                      <a:pt x="87" y="391"/>
                    </a:lnTo>
                    <a:lnTo>
                      <a:pt x="94" y="396"/>
                    </a:lnTo>
                    <a:lnTo>
                      <a:pt x="102" y="399"/>
                    </a:lnTo>
                    <a:lnTo>
                      <a:pt x="109" y="401"/>
                    </a:lnTo>
                    <a:lnTo>
                      <a:pt x="116" y="406"/>
                    </a:lnTo>
                  </a:path>
                </a:pathLst>
              </a:custGeom>
              <a:solidFill>
                <a:schemeClr val="dk1"/>
              </a:solidFill>
              <a:ln w="508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490" name="Google Shape;490;p34"/>
          <p:cNvGrpSpPr/>
          <p:nvPr/>
        </p:nvGrpSpPr>
        <p:grpSpPr>
          <a:xfrm>
            <a:off x="1889278" y="4528215"/>
            <a:ext cx="1768475" cy="1257300"/>
            <a:chOff x="364" y="2984"/>
            <a:chExt cx="1114" cy="792"/>
          </a:xfrm>
        </p:grpSpPr>
        <p:sp>
          <p:nvSpPr>
            <p:cNvPr id="491" name="Google Shape;491;p34"/>
            <p:cNvSpPr/>
            <p:nvPr/>
          </p:nvSpPr>
          <p:spPr>
            <a:xfrm>
              <a:off x="364" y="2992"/>
              <a:ext cx="1114" cy="784"/>
            </a:xfrm>
            <a:prstGeom prst="rect">
              <a:avLst/>
            </a:prstGeom>
            <a:noFill/>
            <a:ln w="508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492" name="Google Shape;492;p34" descr="Wide upward diagonal"/>
            <p:cNvSpPr/>
            <p:nvPr/>
          </p:nvSpPr>
          <p:spPr>
            <a:xfrm>
              <a:off x="455" y="3225"/>
              <a:ext cx="562" cy="512"/>
            </a:xfrm>
            <a:prstGeom prst="ellipse">
              <a:avLst/>
            </a:prstGeom>
            <a:solidFill>
              <a:schemeClr val="dk1"/>
            </a:solidFill>
            <a:ln w="508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493" name="Google Shape;493;p34"/>
            <p:cNvSpPr/>
            <p:nvPr/>
          </p:nvSpPr>
          <p:spPr>
            <a:xfrm>
              <a:off x="602" y="2984"/>
              <a:ext cx="276" cy="325"/>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s-ES" sz="1800" b="1">
                  <a:solidFill>
                    <a:schemeClr val="accent2"/>
                  </a:solidFill>
                  <a:latin typeface="Times New Roman"/>
                  <a:ea typeface="Times New Roman"/>
                  <a:cs typeface="Times New Roman"/>
                  <a:sym typeface="Times New Roman"/>
                </a:rPr>
                <a:t>X</a:t>
              </a:r>
              <a:endParaRPr/>
            </a:p>
          </p:txBody>
        </p:sp>
      </p:grpSp>
      <p:sp>
        <p:nvSpPr>
          <p:cNvPr id="494" name="Google Shape;494;p34"/>
          <p:cNvSpPr txBox="1"/>
          <p:nvPr/>
        </p:nvSpPr>
        <p:spPr>
          <a:xfrm>
            <a:off x="2105293" y="2643853"/>
            <a:ext cx="1236644" cy="40011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95" name="Google Shape;495;p34"/>
          <p:cNvSpPr txBox="1"/>
          <p:nvPr/>
        </p:nvSpPr>
        <p:spPr>
          <a:xfrm>
            <a:off x="4225489" y="2622305"/>
            <a:ext cx="1236644" cy="400110"/>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96" name="Google Shape;496;p34"/>
          <p:cNvSpPr txBox="1"/>
          <p:nvPr/>
        </p:nvSpPr>
        <p:spPr>
          <a:xfrm>
            <a:off x="6219050" y="2622305"/>
            <a:ext cx="1557659" cy="400110"/>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97" name="Google Shape;497;p34"/>
          <p:cNvSpPr txBox="1"/>
          <p:nvPr/>
        </p:nvSpPr>
        <p:spPr>
          <a:xfrm>
            <a:off x="8461003" y="2653083"/>
            <a:ext cx="1441431" cy="369332"/>
          </a:xfrm>
          <a:prstGeom prst="rect">
            <a:avLst/>
          </a:prstGeom>
          <a:blipFill rotWithShape="1">
            <a:blip r:embed="rId7">
              <a:alphaModFix/>
            </a:blip>
            <a:stretch>
              <a:fillRect b="-1311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98" name="Google Shape;498;p34"/>
          <p:cNvSpPr/>
          <p:nvPr/>
        </p:nvSpPr>
        <p:spPr>
          <a:xfrm>
            <a:off x="7109799" y="4517717"/>
            <a:ext cx="438150" cy="515937"/>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s-ES" sz="1800" b="1">
                <a:solidFill>
                  <a:schemeClr val="folHlink"/>
                </a:solidFill>
                <a:latin typeface="Times New Roman"/>
                <a:ea typeface="Times New Roman"/>
                <a:cs typeface="Times New Roman"/>
                <a:sym typeface="Times New Roman"/>
              </a:rPr>
              <a:t>Y</a:t>
            </a:r>
            <a:endParaRPr/>
          </a:p>
        </p:txBody>
      </p:sp>
      <p:sp>
        <p:nvSpPr>
          <p:cNvPr id="499" name="Google Shape;499;p34"/>
          <p:cNvSpPr/>
          <p:nvPr/>
        </p:nvSpPr>
        <p:spPr>
          <a:xfrm>
            <a:off x="6530361" y="4518690"/>
            <a:ext cx="438150" cy="515938"/>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s-ES" sz="1800" b="1">
                <a:solidFill>
                  <a:schemeClr val="accent2"/>
                </a:solidFill>
                <a:latin typeface="Times New Roman"/>
                <a:ea typeface="Times New Roman"/>
                <a:cs typeface="Times New Roman"/>
                <a:sym typeface="Times New Roman"/>
              </a:rPr>
              <a:t>X</a:t>
            </a:r>
            <a:endParaRPr/>
          </a:p>
        </p:txBody>
      </p:sp>
      <p:sp>
        <p:nvSpPr>
          <p:cNvPr id="500" name="Google Shape;500;p34"/>
          <p:cNvSpPr/>
          <p:nvPr/>
        </p:nvSpPr>
        <p:spPr>
          <a:xfrm>
            <a:off x="8287957" y="4515515"/>
            <a:ext cx="1787525" cy="1244600"/>
          </a:xfrm>
          <a:prstGeom prst="rect">
            <a:avLst/>
          </a:prstGeom>
          <a:noFill/>
          <a:ln w="508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8"/>
                                        </p:tgtEl>
                                        <p:attrNameLst>
                                          <p:attrName>style.visibility</p:attrName>
                                        </p:attrNameLst>
                                      </p:cBhvr>
                                      <p:to>
                                        <p:strVal val="visible"/>
                                      </p:to>
                                    </p:set>
                                    <p:animEffect transition="in" filter="fade">
                                      <p:cBhvr>
                                        <p:cTn id="7" dur="500"/>
                                        <p:tgtEl>
                                          <p:spTgt spid="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4"/>
        <p:cNvGrpSpPr/>
        <p:nvPr/>
      </p:nvGrpSpPr>
      <p:grpSpPr>
        <a:xfrm>
          <a:off x="0" y="0"/>
          <a:ext cx="0" cy="0"/>
          <a:chOff x="0" y="0"/>
          <a:chExt cx="0" cy="0"/>
        </a:xfrm>
      </p:grpSpPr>
      <p:sp>
        <p:nvSpPr>
          <p:cNvPr id="505" name="Google Shape;505;p35"/>
          <p:cNvSpPr/>
          <p:nvPr/>
        </p:nvSpPr>
        <p:spPr>
          <a:xfrm>
            <a:off x="-468281" y="2234739"/>
            <a:ext cx="11506572" cy="2541587"/>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6" name="Google Shape;506;p35"/>
          <p:cNvSpPr txBox="1"/>
          <p:nvPr/>
        </p:nvSpPr>
        <p:spPr>
          <a:xfrm>
            <a:off x="560439" y="1226677"/>
            <a:ext cx="1060898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Probabilidad Condicional</a:t>
            </a:r>
            <a:endParaRPr/>
          </a:p>
        </p:txBody>
      </p:sp>
      <p:sp>
        <p:nvSpPr>
          <p:cNvPr id="507" name="Google Shape;507;p35"/>
          <p:cNvSpPr/>
          <p:nvPr/>
        </p:nvSpPr>
        <p:spPr>
          <a:xfrm>
            <a:off x="560439" y="2678486"/>
            <a:ext cx="10055679"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Se llama probabilidad de A condicionada a, o probabilidad de un suceso A sabiendo que se ha producido un suceso B a:</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08" name="Google Shape;508;p35"/>
          <p:cNvSpPr txBox="1"/>
          <p:nvPr/>
        </p:nvSpPr>
        <p:spPr>
          <a:xfrm>
            <a:off x="3589432" y="3636561"/>
            <a:ext cx="3066066" cy="640816"/>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06"/>
                                        </p:tgtEl>
                                        <p:attrNameLst>
                                          <p:attrName>style.visibility</p:attrName>
                                        </p:attrNameLst>
                                      </p:cBhvr>
                                      <p:to>
                                        <p:strVal val="visible"/>
                                      </p:to>
                                    </p:set>
                                    <p:animEffect transition="in" filter="fade">
                                      <p:cBhvr>
                                        <p:cTn id="7" dur="500"/>
                                        <p:tgtEl>
                                          <p:spTgt spid="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12"/>
        <p:cNvGrpSpPr/>
        <p:nvPr/>
      </p:nvGrpSpPr>
      <p:grpSpPr>
        <a:xfrm>
          <a:off x="0" y="0"/>
          <a:ext cx="0" cy="0"/>
          <a:chOff x="0" y="0"/>
          <a:chExt cx="0" cy="0"/>
        </a:xfrm>
      </p:grpSpPr>
      <p:sp>
        <p:nvSpPr>
          <p:cNvPr id="513" name="Google Shape;513;p36"/>
          <p:cNvSpPr txBox="1"/>
          <p:nvPr/>
        </p:nvSpPr>
        <p:spPr>
          <a:xfrm>
            <a:off x="616553" y="536182"/>
            <a:ext cx="10782300" cy="623145"/>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Ejemplo 1</a:t>
            </a:r>
            <a:endParaRPr/>
          </a:p>
        </p:txBody>
      </p:sp>
      <p:sp>
        <p:nvSpPr>
          <p:cNvPr id="514" name="Google Shape;514;p36"/>
          <p:cNvSpPr/>
          <p:nvPr/>
        </p:nvSpPr>
        <p:spPr>
          <a:xfrm>
            <a:off x="616553" y="1281556"/>
            <a:ext cx="10958894" cy="4849762"/>
          </a:xfrm>
          <a:prstGeom prst="roundRect">
            <a:avLst>
              <a:gd name="adj" fmla="val 4466"/>
            </a:avLst>
          </a:prstGeom>
          <a:solidFill>
            <a:schemeClr val="lt1"/>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823471"/>
              </a:solidFill>
              <a:latin typeface="Calibri"/>
              <a:ea typeface="Calibri"/>
              <a:cs typeface="Calibri"/>
              <a:sym typeface="Calibri"/>
            </a:endParaRPr>
          </a:p>
        </p:txBody>
      </p:sp>
      <p:sp>
        <p:nvSpPr>
          <p:cNvPr id="515" name="Google Shape;515;p36"/>
          <p:cNvSpPr txBox="1"/>
          <p:nvPr/>
        </p:nvSpPr>
        <p:spPr>
          <a:xfrm>
            <a:off x="942942" y="1634212"/>
            <a:ext cx="9978501" cy="356478"/>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3F3F3F"/>
              </a:buClr>
              <a:buSzPts val="1800"/>
              <a:buFont typeface="Calibri"/>
              <a:buNone/>
            </a:pPr>
            <a:r>
              <a:rPr lang="es-ES" sz="1800" b="0" i="0" u="none" strike="noStrike" cap="none">
                <a:solidFill>
                  <a:srgbClr val="3F3F3F"/>
                </a:solidFill>
                <a:latin typeface="Calibri"/>
                <a:ea typeface="Calibri"/>
                <a:cs typeface="Calibri"/>
                <a:sym typeface="Calibri"/>
              </a:rPr>
              <a:t>¿Cuál es la probabilidad que una carta escogida al azar sea un AS, sabiendo que es roja?</a:t>
            </a:r>
            <a:endParaRPr/>
          </a:p>
        </p:txBody>
      </p:sp>
      <p:pic>
        <p:nvPicPr>
          <p:cNvPr id="516" name="Google Shape;516;p36"/>
          <p:cNvPicPr preferRelativeResize="0"/>
          <p:nvPr/>
        </p:nvPicPr>
        <p:blipFill rotWithShape="1">
          <a:blip r:embed="rId4">
            <a:alphaModFix/>
          </a:blip>
          <a:srcRect/>
          <a:stretch/>
        </p:blipFill>
        <p:spPr>
          <a:xfrm>
            <a:off x="3065167" y="2424491"/>
            <a:ext cx="5734050" cy="2190750"/>
          </a:xfrm>
          <a:prstGeom prst="rect">
            <a:avLst/>
          </a:prstGeom>
          <a:noFill/>
          <a:ln>
            <a:noFill/>
          </a:ln>
        </p:spPr>
      </p:pic>
      <p:sp>
        <p:nvSpPr>
          <p:cNvPr id="517" name="Google Shape;517;p36"/>
          <p:cNvSpPr txBox="1"/>
          <p:nvPr/>
        </p:nvSpPr>
        <p:spPr>
          <a:xfrm>
            <a:off x="2897430" y="5111449"/>
            <a:ext cx="6069523" cy="640816"/>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3"/>
                                        </p:tgtEl>
                                        <p:attrNameLst>
                                          <p:attrName>style.visibility</p:attrName>
                                        </p:attrNameLst>
                                      </p:cBhvr>
                                      <p:to>
                                        <p:strVal val="visible"/>
                                      </p:to>
                                    </p:set>
                                    <p:animEffect transition="in" filter="fade">
                                      <p:cBhvr>
                                        <p:cTn id="7" dur="500"/>
                                        <p:tgtEl>
                                          <p:spTgt spid="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21"/>
        <p:cNvGrpSpPr/>
        <p:nvPr/>
      </p:nvGrpSpPr>
      <p:grpSpPr>
        <a:xfrm>
          <a:off x="0" y="0"/>
          <a:ext cx="0" cy="0"/>
          <a:chOff x="0" y="0"/>
          <a:chExt cx="0" cy="0"/>
        </a:xfrm>
      </p:grpSpPr>
      <p:sp>
        <p:nvSpPr>
          <p:cNvPr id="522" name="Google Shape;522;p37"/>
          <p:cNvSpPr/>
          <p:nvPr/>
        </p:nvSpPr>
        <p:spPr>
          <a:xfrm>
            <a:off x="938061" y="1248697"/>
            <a:ext cx="10133140" cy="4999703"/>
          </a:xfrm>
          <a:prstGeom prst="roundRect">
            <a:avLst>
              <a:gd name="adj" fmla="val 4466"/>
            </a:avLst>
          </a:prstGeom>
          <a:solidFill>
            <a:schemeClr val="lt1"/>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3" name="Google Shape;523;p37"/>
          <p:cNvSpPr txBox="1"/>
          <p:nvPr/>
        </p:nvSpPr>
        <p:spPr>
          <a:xfrm>
            <a:off x="1209368" y="1769254"/>
            <a:ext cx="9556955" cy="665313"/>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3F3F3F"/>
              </a:buClr>
              <a:buSzPts val="1800"/>
              <a:buFont typeface="Calibri"/>
              <a:buNone/>
            </a:pPr>
            <a:r>
              <a:rPr lang="es-ES" sz="1800" b="0" i="0" u="none" strike="noStrike" cap="none">
                <a:solidFill>
                  <a:srgbClr val="3F3F3F"/>
                </a:solidFill>
                <a:latin typeface="Calibri"/>
                <a:ea typeface="Calibri"/>
                <a:cs typeface="Calibri"/>
                <a:sym typeface="Calibri"/>
              </a:rPr>
              <a:t>¿Qué resultado arrojaría si te piden el cálculo al revés? Es decir, la probabilidad que sea roja, sabiendo que es un AS.</a:t>
            </a:r>
            <a:endParaRPr/>
          </a:p>
        </p:txBody>
      </p:sp>
      <p:pic>
        <p:nvPicPr>
          <p:cNvPr id="524" name="Google Shape;524;p37"/>
          <p:cNvPicPr preferRelativeResize="0"/>
          <p:nvPr/>
        </p:nvPicPr>
        <p:blipFill rotWithShape="1">
          <a:blip r:embed="rId4">
            <a:alphaModFix/>
          </a:blip>
          <a:srcRect/>
          <a:stretch/>
        </p:blipFill>
        <p:spPr>
          <a:xfrm>
            <a:off x="3049942" y="2728210"/>
            <a:ext cx="5734050" cy="2190750"/>
          </a:xfrm>
          <a:prstGeom prst="rect">
            <a:avLst/>
          </a:prstGeom>
          <a:noFill/>
          <a:ln>
            <a:noFill/>
          </a:ln>
        </p:spPr>
      </p:pic>
      <p:sp>
        <p:nvSpPr>
          <p:cNvPr id="525" name="Google Shape;525;p37"/>
          <p:cNvSpPr txBox="1"/>
          <p:nvPr/>
        </p:nvSpPr>
        <p:spPr>
          <a:xfrm>
            <a:off x="2864450" y="5512822"/>
            <a:ext cx="6069523" cy="307777"/>
          </a:xfrm>
          <a:prstGeom prst="rect">
            <a:avLst/>
          </a:prstGeom>
          <a:blipFill rotWithShape="1">
            <a:blip r:embed="rId5">
              <a:alphaModFix/>
            </a:blip>
            <a:stretch>
              <a:fillRect b="-3137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26" name="Google Shape;526;p37"/>
          <p:cNvSpPr txBox="1"/>
          <p:nvPr/>
        </p:nvSpPr>
        <p:spPr>
          <a:xfrm>
            <a:off x="938060" y="333392"/>
            <a:ext cx="10369423"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Ejemplo 2</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26"/>
                                        </p:tgtEl>
                                        <p:attrNameLst>
                                          <p:attrName>style.visibility</p:attrName>
                                        </p:attrNameLst>
                                      </p:cBhvr>
                                      <p:to>
                                        <p:strVal val="visible"/>
                                      </p:to>
                                    </p:set>
                                    <p:animEffect transition="in" filter="fade">
                                      <p:cBhvr>
                                        <p:cTn id="7" dur="500"/>
                                        <p:tgtEl>
                                          <p:spTgt spid="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0"/>
        <p:cNvGrpSpPr/>
        <p:nvPr/>
      </p:nvGrpSpPr>
      <p:grpSpPr>
        <a:xfrm>
          <a:off x="0" y="0"/>
          <a:ext cx="0" cy="0"/>
          <a:chOff x="0" y="0"/>
          <a:chExt cx="0" cy="0"/>
        </a:xfrm>
      </p:grpSpPr>
      <p:sp>
        <p:nvSpPr>
          <p:cNvPr id="531" name="Google Shape;531;p38"/>
          <p:cNvSpPr txBox="1"/>
          <p:nvPr/>
        </p:nvSpPr>
        <p:spPr>
          <a:xfrm>
            <a:off x="436432" y="713892"/>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Propiedades de la Probabilidad</a:t>
            </a:r>
            <a:endParaRPr/>
          </a:p>
        </p:txBody>
      </p:sp>
      <p:sp>
        <p:nvSpPr>
          <p:cNvPr id="532" name="Google Shape;532;p38"/>
          <p:cNvSpPr/>
          <p:nvPr/>
        </p:nvSpPr>
        <p:spPr>
          <a:xfrm>
            <a:off x="227225" y="1664383"/>
            <a:ext cx="11737550" cy="3593417"/>
          </a:xfrm>
          <a:prstGeom prst="roundRect">
            <a:avLst>
              <a:gd name="adj" fmla="val 4466"/>
            </a:avLst>
          </a:prstGeom>
          <a:solidFill>
            <a:schemeClr val="lt1"/>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33" name="Google Shape;533;p38" descr="http://ariadna.aprenderapensar.net/files/2012/07/examen-en-iguales-condiciones1-300x234.jpg"/>
          <p:cNvPicPr preferRelativeResize="0"/>
          <p:nvPr/>
        </p:nvPicPr>
        <p:blipFill rotWithShape="1">
          <a:blip r:embed="rId4">
            <a:alphaModFix/>
          </a:blip>
          <a:srcRect/>
          <a:stretch/>
        </p:blipFill>
        <p:spPr>
          <a:xfrm>
            <a:off x="7864490" y="1963718"/>
            <a:ext cx="3757132" cy="2930563"/>
          </a:xfrm>
          <a:prstGeom prst="rect">
            <a:avLst/>
          </a:prstGeom>
          <a:noFill/>
          <a:ln>
            <a:noFill/>
          </a:ln>
        </p:spPr>
      </p:pic>
      <p:pic>
        <p:nvPicPr>
          <p:cNvPr id="534" name="Google Shape;534;p38"/>
          <p:cNvPicPr preferRelativeResize="0"/>
          <p:nvPr/>
        </p:nvPicPr>
        <p:blipFill rotWithShape="1">
          <a:blip r:embed="rId5">
            <a:alphaModFix/>
          </a:blip>
          <a:srcRect/>
          <a:stretch/>
        </p:blipFill>
        <p:spPr>
          <a:xfrm>
            <a:off x="436432" y="2467391"/>
            <a:ext cx="7077578" cy="2062465"/>
          </a:xfrm>
          <a:prstGeom prst="rect">
            <a:avLst/>
          </a:prstGeom>
          <a:noFill/>
          <a:ln>
            <a:noFill/>
          </a:ln>
        </p:spPr>
      </p:pic>
      <p:sp>
        <p:nvSpPr>
          <p:cNvPr id="535" name="Google Shape;535;p38"/>
          <p:cNvSpPr/>
          <p:nvPr/>
        </p:nvSpPr>
        <p:spPr>
          <a:xfrm>
            <a:off x="436432" y="2387232"/>
            <a:ext cx="3302501" cy="35898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1"/>
                                        </p:tgtEl>
                                        <p:attrNameLst>
                                          <p:attrName>style.visibility</p:attrName>
                                        </p:attrNameLst>
                                      </p:cBhvr>
                                      <p:to>
                                        <p:strVal val="visible"/>
                                      </p:to>
                                    </p:set>
                                    <p:animEffect transition="in" filter="fade">
                                      <p:cBhvr>
                                        <p:cTn id="7" dur="500"/>
                                        <p:tgtEl>
                                          <p:spTgt spid="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9"/>
        <p:cNvGrpSpPr/>
        <p:nvPr/>
      </p:nvGrpSpPr>
      <p:grpSpPr>
        <a:xfrm>
          <a:off x="0" y="0"/>
          <a:ext cx="0" cy="0"/>
          <a:chOff x="0" y="0"/>
          <a:chExt cx="0" cy="0"/>
        </a:xfrm>
      </p:grpSpPr>
      <p:sp>
        <p:nvSpPr>
          <p:cNvPr id="540" name="Google Shape;540;p39"/>
          <p:cNvSpPr/>
          <p:nvPr/>
        </p:nvSpPr>
        <p:spPr>
          <a:xfrm>
            <a:off x="-480075" y="2125667"/>
            <a:ext cx="6935829" cy="2406398"/>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1" name="Google Shape;541;p39"/>
          <p:cNvSpPr txBox="1"/>
          <p:nvPr/>
        </p:nvSpPr>
        <p:spPr>
          <a:xfrm>
            <a:off x="513882" y="1117605"/>
            <a:ext cx="10871872"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Ejemplo 2</a:t>
            </a:r>
            <a:endParaRPr/>
          </a:p>
        </p:txBody>
      </p:sp>
      <p:sp>
        <p:nvSpPr>
          <p:cNvPr id="542" name="Google Shape;542;p39"/>
          <p:cNvSpPr/>
          <p:nvPr/>
        </p:nvSpPr>
        <p:spPr>
          <a:xfrm>
            <a:off x="6418386" y="1355623"/>
            <a:ext cx="5067300" cy="4081338"/>
          </a:xfrm>
          <a:prstGeom prst="roundRect">
            <a:avLst>
              <a:gd name="adj" fmla="val 4466"/>
            </a:avLst>
          </a:prstGeom>
          <a:solidFill>
            <a:schemeClr val="lt1"/>
          </a:solidFill>
          <a:ln w="28575"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543" name="Google Shape;543;p39"/>
          <p:cNvGraphicFramePr/>
          <p:nvPr/>
        </p:nvGraphicFramePr>
        <p:xfrm>
          <a:off x="6616947" y="1607349"/>
          <a:ext cx="4486275" cy="1036600"/>
        </p:xfrm>
        <a:graphic>
          <a:graphicData uri="http://schemas.openxmlformats.org/drawingml/2006/table">
            <a:tbl>
              <a:tblPr>
                <a:noFill/>
                <a:tableStyleId>{3777C058-AF18-44A3-B130-BAA28ED228A2}</a:tableStyleId>
              </a:tblPr>
              <a:tblGrid>
                <a:gridCol w="84295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1306525">
                  <a:extLst>
                    <a:ext uri="{9D8B030D-6E8A-4147-A177-3AD203B41FA5}">
                      <a16:colId xmlns:a16="http://schemas.microsoft.com/office/drawing/2014/main" val="20002"/>
                    </a:ext>
                  </a:extLst>
                </a:gridCol>
                <a:gridCol w="1460500">
                  <a:extLst>
                    <a:ext uri="{9D8B030D-6E8A-4147-A177-3AD203B41FA5}">
                      <a16:colId xmlns:a16="http://schemas.microsoft.com/office/drawing/2014/main" val="20003"/>
                    </a:ext>
                  </a:extLst>
                </a:gridCol>
              </a:tblGrid>
              <a:tr h="259150">
                <a:tc rowSpan="2">
                  <a:txBody>
                    <a:bodyPr/>
                    <a:lstStyle/>
                    <a:p>
                      <a:pPr marL="0" marR="0" lvl="0" indent="0" algn="just"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Color del pelo</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gridSpan="3">
                  <a:txBody>
                    <a:bodyPr/>
                    <a:lstStyle/>
                    <a:p>
                      <a:pPr marL="0" marR="0" lvl="0" indent="0" algn="ctr" rtl="0">
                        <a:lnSpc>
                          <a:spcPct val="100000"/>
                        </a:lnSpc>
                        <a:spcBef>
                          <a:spcPts val="0"/>
                        </a:spcBef>
                        <a:spcAft>
                          <a:spcPts val="0"/>
                        </a:spcAft>
                        <a:buClr>
                          <a:schemeClr val="lt1"/>
                        </a:buClr>
                        <a:buSzPts val="1100"/>
                        <a:buFont typeface="Arial"/>
                        <a:buNone/>
                      </a:pPr>
                      <a:r>
                        <a:rPr lang="es-ES" sz="1100" b="0" i="0" u="none" strike="noStrike" cap="none">
                          <a:solidFill>
                            <a:schemeClr val="lt1"/>
                          </a:solidFill>
                          <a:latin typeface="Arial"/>
                          <a:ea typeface="Arial"/>
                          <a:cs typeface="Arial"/>
                          <a:sym typeface="Arial"/>
                        </a:rPr>
                        <a:t>Color de los ojos</a:t>
                      </a:r>
                      <a:endParaRPr sz="1800" b="0" i="0" u="none" strike="noStrike" cap="none">
                        <a:solidFill>
                          <a:schemeClr val="lt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dk2"/>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259150">
                <a:tc vMerge="1">
                  <a:txBody>
                    <a:bodyPr/>
                    <a:lstStyle/>
                    <a:p>
                      <a:endParaRPr lang="es-ES"/>
                    </a:p>
                  </a:txBody>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Café</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Azul</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Otro</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59150">
                <a:tc>
                  <a:txBody>
                    <a:bodyPr/>
                    <a:lstStyle/>
                    <a:p>
                      <a:pPr marL="0" marR="0" lvl="0" indent="0" algn="just"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Negro</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70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30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20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59150">
                <a:tc>
                  <a:txBody>
                    <a:bodyPr/>
                    <a:lstStyle/>
                    <a:p>
                      <a:pPr marL="0" marR="0" lvl="0" indent="0" algn="just"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Rubio</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20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110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50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544" name="Google Shape;544;p39" descr="This Random Face Generator Gives Us The Glimpse of A Future Where We No ..."/>
          <p:cNvPicPr preferRelativeResize="0"/>
          <p:nvPr/>
        </p:nvPicPr>
        <p:blipFill rotWithShape="1">
          <a:blip r:embed="rId4">
            <a:alphaModFix/>
          </a:blip>
          <a:srcRect/>
          <a:stretch/>
        </p:blipFill>
        <p:spPr>
          <a:xfrm>
            <a:off x="6616947" y="2977149"/>
            <a:ext cx="4486275" cy="2235661"/>
          </a:xfrm>
          <a:prstGeom prst="rect">
            <a:avLst/>
          </a:prstGeom>
          <a:noFill/>
          <a:ln>
            <a:noFill/>
          </a:ln>
        </p:spPr>
      </p:pic>
      <p:sp>
        <p:nvSpPr>
          <p:cNvPr id="545" name="Google Shape;545;p39"/>
          <p:cNvSpPr/>
          <p:nvPr/>
        </p:nvSpPr>
        <p:spPr>
          <a:xfrm>
            <a:off x="513882" y="2313203"/>
            <a:ext cx="5395306" cy="20313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Suponga que se estudia si el color del pelo está asociado al color de los ojos. Se analizaron 300 personas seleccionadas aleatoriamente con los siguientes resultados. Si se selecciona una de estas personas al azar, encuentre la probabilidad de que la persona tenga el pelo negro, dado que tiene los ojos café.</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41"/>
                                        </p:tgtEl>
                                        <p:attrNameLst>
                                          <p:attrName>style.visibility</p:attrName>
                                        </p:attrNameLst>
                                      </p:cBhvr>
                                      <p:to>
                                        <p:strVal val="visible"/>
                                      </p:to>
                                    </p:set>
                                    <p:animEffect transition="in" filter="fade">
                                      <p:cBhvr>
                                        <p:cTn id="7" dur="500"/>
                                        <p:tgtEl>
                                          <p:spTgt spid="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9"/>
        <p:cNvGrpSpPr/>
        <p:nvPr/>
      </p:nvGrpSpPr>
      <p:grpSpPr>
        <a:xfrm>
          <a:off x="0" y="0"/>
          <a:ext cx="0" cy="0"/>
          <a:chOff x="0" y="0"/>
          <a:chExt cx="0" cy="0"/>
        </a:xfrm>
      </p:grpSpPr>
      <p:sp>
        <p:nvSpPr>
          <p:cNvPr id="550" name="Google Shape;550;p40"/>
          <p:cNvSpPr txBox="1"/>
          <p:nvPr/>
        </p:nvSpPr>
        <p:spPr>
          <a:xfrm>
            <a:off x="1157248" y="491613"/>
            <a:ext cx="10457720" cy="68333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Ejemplo 2</a:t>
            </a:r>
            <a:endParaRPr/>
          </a:p>
        </p:txBody>
      </p:sp>
      <p:sp>
        <p:nvSpPr>
          <p:cNvPr id="551" name="Google Shape;551;p40"/>
          <p:cNvSpPr/>
          <p:nvPr/>
        </p:nvSpPr>
        <p:spPr>
          <a:xfrm>
            <a:off x="1058926" y="1199536"/>
            <a:ext cx="10133140" cy="4994788"/>
          </a:xfrm>
          <a:prstGeom prst="roundRect">
            <a:avLst>
              <a:gd name="adj" fmla="val 4466"/>
            </a:avLst>
          </a:prstGeom>
          <a:solidFill>
            <a:schemeClr val="lt1"/>
          </a:solidFill>
          <a:ln w="38100"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2" name="Google Shape;552;p40"/>
          <p:cNvSpPr txBox="1"/>
          <p:nvPr/>
        </p:nvSpPr>
        <p:spPr>
          <a:xfrm>
            <a:off x="1460667" y="1335344"/>
            <a:ext cx="9650273"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3F3F3F"/>
                </a:solidFill>
                <a:latin typeface="Calibri"/>
                <a:ea typeface="Calibri"/>
                <a:cs typeface="Calibri"/>
                <a:sym typeface="Calibri"/>
              </a:rPr>
              <a:t>Primero asignamos letras a los eventos y calculamos los </a:t>
            </a:r>
            <a:r>
              <a:rPr lang="es-ES" sz="1800" b="1">
                <a:solidFill>
                  <a:srgbClr val="3F3F3F"/>
                </a:solidFill>
                <a:latin typeface="Calibri"/>
                <a:ea typeface="Calibri"/>
                <a:cs typeface="Calibri"/>
                <a:sym typeface="Calibri"/>
              </a:rPr>
              <a:t>totales</a:t>
            </a:r>
            <a:r>
              <a:rPr lang="es-ES" sz="1800">
                <a:solidFill>
                  <a:srgbClr val="3F3F3F"/>
                </a:solidFill>
                <a:latin typeface="Calibri"/>
                <a:ea typeface="Calibri"/>
                <a:cs typeface="Calibri"/>
                <a:sym typeface="Calibri"/>
              </a:rPr>
              <a:t> de la tabla:</a:t>
            </a:r>
            <a:endParaRPr/>
          </a:p>
        </p:txBody>
      </p:sp>
      <p:graphicFrame>
        <p:nvGraphicFramePr>
          <p:cNvPr id="553" name="Google Shape;553;p40"/>
          <p:cNvGraphicFramePr/>
          <p:nvPr/>
        </p:nvGraphicFramePr>
        <p:xfrm>
          <a:off x="4154615" y="2006400"/>
          <a:ext cx="3941750" cy="1295440"/>
        </p:xfrm>
        <a:graphic>
          <a:graphicData uri="http://schemas.openxmlformats.org/drawingml/2006/table">
            <a:tbl>
              <a:tblPr>
                <a:noFill/>
                <a:tableStyleId>{3777C058-AF18-44A3-B130-BAA28ED228A2}</a:tableStyleId>
              </a:tblPr>
              <a:tblGrid>
                <a:gridCol w="842950">
                  <a:extLst>
                    <a:ext uri="{9D8B030D-6E8A-4147-A177-3AD203B41FA5}">
                      <a16:colId xmlns:a16="http://schemas.microsoft.com/office/drawing/2014/main" val="20000"/>
                    </a:ext>
                  </a:extLst>
                </a:gridCol>
                <a:gridCol w="669925">
                  <a:extLst>
                    <a:ext uri="{9D8B030D-6E8A-4147-A177-3AD203B41FA5}">
                      <a16:colId xmlns:a16="http://schemas.microsoft.com/office/drawing/2014/main" val="20001"/>
                    </a:ext>
                  </a:extLst>
                </a:gridCol>
                <a:gridCol w="809625">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809625">
                  <a:extLst>
                    <a:ext uri="{9D8B030D-6E8A-4147-A177-3AD203B41FA5}">
                      <a16:colId xmlns:a16="http://schemas.microsoft.com/office/drawing/2014/main" val="20004"/>
                    </a:ext>
                  </a:extLst>
                </a:gridCol>
              </a:tblGrid>
              <a:tr h="518150">
                <a:tc>
                  <a:txBody>
                    <a:bodyPr/>
                    <a:lstStyle/>
                    <a:p>
                      <a:pPr marL="0" marR="0" lvl="0" indent="0" algn="l" rtl="0">
                        <a:lnSpc>
                          <a:spcPct val="100000"/>
                        </a:lnSpc>
                        <a:spcBef>
                          <a:spcPts val="0"/>
                        </a:spcBef>
                        <a:spcAft>
                          <a:spcPts val="0"/>
                        </a:spcAft>
                        <a:buClr>
                          <a:schemeClr val="dk1"/>
                        </a:buClr>
                        <a:buSzPts val="2800"/>
                        <a:buFont typeface="Calibri"/>
                        <a:buNone/>
                      </a:pPr>
                      <a:endParaRPr sz="2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1" i="0" u="none" strike="noStrike" cap="none">
                          <a:solidFill>
                            <a:schemeClr val="dk1"/>
                          </a:solidFill>
                          <a:latin typeface="Arial"/>
                          <a:ea typeface="Arial"/>
                          <a:cs typeface="Arial"/>
                          <a:sym typeface="Arial"/>
                        </a:rPr>
                        <a:t>C</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1" i="0" u="none" strike="noStrike" cap="none">
                          <a:solidFill>
                            <a:schemeClr val="dk1"/>
                          </a:solidFill>
                          <a:latin typeface="Arial"/>
                          <a:ea typeface="Arial"/>
                          <a:cs typeface="Arial"/>
                          <a:sym typeface="Arial"/>
                        </a:rPr>
                        <a:t>A</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1" i="0" u="none" strike="noStrike" cap="none">
                          <a:solidFill>
                            <a:schemeClr val="dk1"/>
                          </a:solidFill>
                          <a:latin typeface="Arial"/>
                          <a:ea typeface="Arial"/>
                          <a:cs typeface="Arial"/>
                          <a:sym typeface="Arial"/>
                        </a:rPr>
                        <a:t>O</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1" i="0" u="none" strike="noStrike" cap="none">
                          <a:solidFill>
                            <a:schemeClr val="dk1"/>
                          </a:solidFill>
                          <a:latin typeface="Arial"/>
                          <a:ea typeface="Arial"/>
                          <a:cs typeface="Arial"/>
                          <a:sym typeface="Arial"/>
                        </a:rPr>
                        <a:t>Total</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59075">
                <a:tc>
                  <a:txBody>
                    <a:bodyPr/>
                    <a:lstStyle/>
                    <a:p>
                      <a:pPr marL="0" marR="0" lvl="0" indent="0" algn="just" rtl="0">
                        <a:lnSpc>
                          <a:spcPct val="100000"/>
                        </a:lnSpc>
                        <a:spcBef>
                          <a:spcPts val="0"/>
                        </a:spcBef>
                        <a:spcAft>
                          <a:spcPts val="0"/>
                        </a:spcAft>
                        <a:buClr>
                          <a:schemeClr val="dk1"/>
                        </a:buClr>
                        <a:buSzPts val="1100"/>
                        <a:buFont typeface="Arial"/>
                        <a:buNone/>
                      </a:pPr>
                      <a:r>
                        <a:rPr lang="es-ES" sz="1100" b="1" i="0" u="none" strike="noStrike" cap="none">
                          <a:solidFill>
                            <a:schemeClr val="dk1"/>
                          </a:solidFill>
                          <a:latin typeface="Arial"/>
                          <a:ea typeface="Arial"/>
                          <a:cs typeface="Arial"/>
                          <a:sym typeface="Arial"/>
                        </a:rPr>
                        <a:t>N</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100"/>
                        <a:buFont typeface="Arial"/>
                        <a:buNone/>
                      </a:pPr>
                      <a:r>
                        <a:rPr lang="es-ES" sz="1100" b="0" i="0" u="none" strike="noStrike" cap="none">
                          <a:solidFill>
                            <a:srgbClr val="FF0000"/>
                          </a:solidFill>
                          <a:latin typeface="Arial"/>
                          <a:ea typeface="Arial"/>
                          <a:cs typeface="Arial"/>
                          <a:sym typeface="Arial"/>
                        </a:rPr>
                        <a:t>70</a:t>
                      </a:r>
                      <a:endParaRPr sz="1800" b="0" i="0" u="none" strike="noStrike" cap="none">
                        <a:solidFill>
                          <a:srgbClr val="FF0000"/>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30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20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1" i="0" u="none" strike="noStrike" cap="none">
                          <a:solidFill>
                            <a:schemeClr val="dk1"/>
                          </a:solidFill>
                          <a:latin typeface="Arial"/>
                          <a:ea typeface="Arial"/>
                          <a:cs typeface="Arial"/>
                          <a:sym typeface="Arial"/>
                        </a:rPr>
                        <a:t>120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59075">
                <a:tc>
                  <a:txBody>
                    <a:bodyPr/>
                    <a:lstStyle/>
                    <a:p>
                      <a:pPr marL="0" marR="0" lvl="0" indent="0" algn="just" rtl="0">
                        <a:lnSpc>
                          <a:spcPct val="100000"/>
                        </a:lnSpc>
                        <a:spcBef>
                          <a:spcPts val="0"/>
                        </a:spcBef>
                        <a:spcAft>
                          <a:spcPts val="0"/>
                        </a:spcAft>
                        <a:buClr>
                          <a:schemeClr val="dk1"/>
                        </a:buClr>
                        <a:buSzPts val="1100"/>
                        <a:buFont typeface="Arial"/>
                        <a:buNone/>
                      </a:pPr>
                      <a:r>
                        <a:rPr lang="es-ES" sz="1100" b="1" i="0" u="none" strike="noStrike" cap="none">
                          <a:solidFill>
                            <a:schemeClr val="dk1"/>
                          </a:solidFill>
                          <a:latin typeface="Arial"/>
                          <a:ea typeface="Arial"/>
                          <a:cs typeface="Arial"/>
                          <a:sym typeface="Arial"/>
                        </a:rPr>
                        <a:t>R</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20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110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0" i="0" u="none" strike="noStrike" cap="none">
                          <a:solidFill>
                            <a:schemeClr val="dk1"/>
                          </a:solidFill>
                          <a:latin typeface="Arial"/>
                          <a:ea typeface="Arial"/>
                          <a:cs typeface="Arial"/>
                          <a:sym typeface="Arial"/>
                        </a:rPr>
                        <a:t>50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1" i="0" u="none" strike="noStrike" cap="none">
                          <a:solidFill>
                            <a:schemeClr val="dk1"/>
                          </a:solidFill>
                          <a:latin typeface="Arial"/>
                          <a:ea typeface="Arial"/>
                          <a:cs typeface="Arial"/>
                          <a:sym typeface="Arial"/>
                        </a:rPr>
                        <a:t>180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59075">
                <a:tc>
                  <a:txBody>
                    <a:bodyPr/>
                    <a:lstStyle/>
                    <a:p>
                      <a:pPr marL="0" marR="0" lvl="0" indent="0" algn="just" rtl="0">
                        <a:lnSpc>
                          <a:spcPct val="100000"/>
                        </a:lnSpc>
                        <a:spcBef>
                          <a:spcPts val="0"/>
                        </a:spcBef>
                        <a:spcAft>
                          <a:spcPts val="0"/>
                        </a:spcAft>
                        <a:buClr>
                          <a:schemeClr val="dk1"/>
                        </a:buClr>
                        <a:buSzPts val="1100"/>
                        <a:buFont typeface="Arial"/>
                        <a:buNone/>
                      </a:pPr>
                      <a:r>
                        <a:rPr lang="es-ES" sz="1100" b="1" i="0" u="none" strike="noStrike" cap="none">
                          <a:solidFill>
                            <a:schemeClr val="dk1"/>
                          </a:solidFill>
                          <a:latin typeface="Arial"/>
                          <a:ea typeface="Arial"/>
                          <a:cs typeface="Arial"/>
                          <a:sym typeface="Arial"/>
                        </a:rPr>
                        <a:t>Total</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100"/>
                        <a:buFont typeface="Arial"/>
                        <a:buNone/>
                      </a:pPr>
                      <a:r>
                        <a:rPr lang="es-ES" sz="1100" b="1" i="0" u="none" strike="noStrike" cap="none">
                          <a:solidFill>
                            <a:srgbClr val="FF0000"/>
                          </a:solidFill>
                          <a:latin typeface="Arial"/>
                          <a:ea typeface="Arial"/>
                          <a:cs typeface="Arial"/>
                          <a:sym typeface="Arial"/>
                        </a:rPr>
                        <a:t>90</a:t>
                      </a:r>
                      <a:endParaRPr sz="1800" b="0" i="0" u="none" strike="noStrike" cap="none">
                        <a:solidFill>
                          <a:srgbClr val="FF0000"/>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1" i="0" u="none" strike="noStrike" cap="none">
                          <a:solidFill>
                            <a:schemeClr val="dk1"/>
                          </a:solidFill>
                          <a:latin typeface="Arial"/>
                          <a:ea typeface="Arial"/>
                          <a:cs typeface="Arial"/>
                          <a:sym typeface="Arial"/>
                        </a:rPr>
                        <a:t>140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1" i="0" u="none" strike="noStrike" cap="none">
                          <a:solidFill>
                            <a:schemeClr val="dk1"/>
                          </a:solidFill>
                          <a:latin typeface="Arial"/>
                          <a:ea typeface="Arial"/>
                          <a:cs typeface="Arial"/>
                          <a:sym typeface="Arial"/>
                        </a:rPr>
                        <a:t>70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ES" sz="1100" b="1" i="0" u="none" strike="noStrike" cap="none">
                          <a:solidFill>
                            <a:schemeClr val="dk1"/>
                          </a:solidFill>
                          <a:latin typeface="Arial"/>
                          <a:ea typeface="Arial"/>
                          <a:cs typeface="Arial"/>
                          <a:sym typeface="Arial"/>
                        </a:rPr>
                        <a:t>300</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54" name="Google Shape;554;p40"/>
          <p:cNvSpPr txBox="1"/>
          <p:nvPr/>
        </p:nvSpPr>
        <p:spPr>
          <a:xfrm>
            <a:off x="2732356" y="3652878"/>
            <a:ext cx="6598281" cy="512704"/>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55" name="Google Shape;555;p40"/>
          <p:cNvSpPr txBox="1"/>
          <p:nvPr/>
        </p:nvSpPr>
        <p:spPr>
          <a:xfrm>
            <a:off x="4580015" y="4566229"/>
            <a:ext cx="3411575" cy="512704"/>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56" name="Google Shape;556;p40"/>
          <p:cNvSpPr/>
          <p:nvPr/>
        </p:nvSpPr>
        <p:spPr>
          <a:xfrm>
            <a:off x="1499329" y="5430011"/>
            <a:ext cx="9464867" cy="646331"/>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s-ES" sz="1800">
                <a:solidFill>
                  <a:schemeClr val="dk1"/>
                </a:solidFill>
                <a:latin typeface="Calibri"/>
                <a:ea typeface="Calibri"/>
                <a:cs typeface="Calibri"/>
                <a:sym typeface="Calibri"/>
              </a:rPr>
              <a:t>Por lo tanto, hay un 78% de probabilidad de escoger a una persona que tenga el pelo negro, dado que tiene ojos café.</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0"/>
                                        </p:tgtEl>
                                        <p:attrNameLst>
                                          <p:attrName>style.visibility</p:attrName>
                                        </p:attrNameLst>
                                      </p:cBhvr>
                                      <p:to>
                                        <p:strVal val="visible"/>
                                      </p:to>
                                    </p:set>
                                    <p:animEffect transition="in" filter="fade">
                                      <p:cBhvr>
                                        <p:cTn id="7" dur="500"/>
                                        <p:tgtEl>
                                          <p:spTgt spid="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60"/>
        <p:cNvGrpSpPr/>
        <p:nvPr/>
      </p:nvGrpSpPr>
      <p:grpSpPr>
        <a:xfrm>
          <a:off x="0" y="0"/>
          <a:ext cx="0" cy="0"/>
          <a:chOff x="0" y="0"/>
          <a:chExt cx="0" cy="0"/>
        </a:xfrm>
      </p:grpSpPr>
      <p:sp>
        <p:nvSpPr>
          <p:cNvPr id="561" name="Google Shape;561;p41"/>
          <p:cNvSpPr txBox="1"/>
          <p:nvPr/>
        </p:nvSpPr>
        <p:spPr>
          <a:xfrm>
            <a:off x="1216027" y="716112"/>
            <a:ext cx="9797886"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Ejemplo 3</a:t>
            </a:r>
            <a:endParaRPr/>
          </a:p>
        </p:txBody>
      </p:sp>
      <p:sp>
        <p:nvSpPr>
          <p:cNvPr id="562" name="Google Shape;562;p41"/>
          <p:cNvSpPr/>
          <p:nvPr/>
        </p:nvSpPr>
        <p:spPr>
          <a:xfrm>
            <a:off x="6880040" y="1784929"/>
            <a:ext cx="5093191" cy="3064883"/>
          </a:xfrm>
          <a:prstGeom prst="roundRect">
            <a:avLst>
              <a:gd name="adj" fmla="val 4466"/>
            </a:avLst>
          </a:prstGeom>
          <a:solidFill>
            <a:schemeClr val="lt1"/>
          </a:solidFill>
          <a:ln w="28575"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3" name="Google Shape;563;p41"/>
          <p:cNvSpPr/>
          <p:nvPr/>
        </p:nvSpPr>
        <p:spPr>
          <a:xfrm>
            <a:off x="163374" y="1592825"/>
            <a:ext cx="11906864" cy="3618271"/>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4" name="Google Shape;564;p41"/>
          <p:cNvSpPr/>
          <p:nvPr/>
        </p:nvSpPr>
        <p:spPr>
          <a:xfrm>
            <a:off x="1216027" y="2199957"/>
            <a:ext cx="5553399" cy="20313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Arial"/>
                <a:ea typeface="Arial"/>
                <a:cs typeface="Arial"/>
                <a:sym typeface="Arial"/>
              </a:rPr>
              <a:t>Imagina que se lanza un dado honesto de seis caras. Se definen los siguientes eventos:</a:t>
            </a:r>
            <a:endParaRPr/>
          </a:p>
          <a:p>
            <a:pPr marL="0" marR="0" lvl="0" indent="0" algn="just" rtl="0">
              <a:spcBef>
                <a:spcPts val="0"/>
              </a:spcBef>
              <a:spcAft>
                <a:spcPts val="0"/>
              </a:spcAft>
              <a:buNone/>
            </a:pPr>
            <a:endParaRPr sz="1800">
              <a:solidFill>
                <a:schemeClr val="lt1"/>
              </a:solidFill>
              <a:latin typeface="Arial"/>
              <a:ea typeface="Arial"/>
              <a:cs typeface="Arial"/>
              <a:sym typeface="Arial"/>
            </a:endParaRPr>
          </a:p>
          <a:p>
            <a:pPr marL="0" marR="0" lvl="0" indent="0" algn="just" rtl="0">
              <a:spcBef>
                <a:spcPts val="0"/>
              </a:spcBef>
              <a:spcAft>
                <a:spcPts val="0"/>
              </a:spcAft>
              <a:buNone/>
            </a:pPr>
            <a:r>
              <a:rPr lang="es-ES" sz="1800">
                <a:solidFill>
                  <a:schemeClr val="lt1"/>
                </a:solidFill>
                <a:latin typeface="Arial"/>
                <a:ea typeface="Arial"/>
                <a:cs typeface="Arial"/>
                <a:sym typeface="Arial"/>
              </a:rPr>
              <a:t>A: El puntaje obtenido es un número mayor que 2.</a:t>
            </a:r>
            <a:endParaRPr sz="1800">
              <a:solidFill>
                <a:schemeClr val="lt1"/>
              </a:solidFill>
              <a:latin typeface="Arial"/>
              <a:ea typeface="Arial"/>
              <a:cs typeface="Arial"/>
              <a:sym typeface="Arial"/>
            </a:endParaRPr>
          </a:p>
          <a:p>
            <a:pPr marL="0" marR="0" lvl="0" indent="0" algn="just" rtl="0">
              <a:spcBef>
                <a:spcPts val="0"/>
              </a:spcBef>
              <a:spcAft>
                <a:spcPts val="0"/>
              </a:spcAft>
              <a:buNone/>
            </a:pPr>
            <a:r>
              <a:rPr lang="es-ES" sz="1800">
                <a:solidFill>
                  <a:schemeClr val="lt1"/>
                </a:solidFill>
                <a:latin typeface="Arial"/>
                <a:ea typeface="Arial"/>
                <a:cs typeface="Arial"/>
                <a:sym typeface="Arial"/>
              </a:rPr>
              <a:t>B: El puntaje obtenido es un número menor que 5.</a:t>
            </a:r>
            <a:endParaRPr sz="1800">
              <a:solidFill>
                <a:schemeClr val="lt1"/>
              </a:solidFill>
              <a:latin typeface="Arial"/>
              <a:ea typeface="Arial"/>
              <a:cs typeface="Arial"/>
              <a:sym typeface="Arial"/>
            </a:endParaRPr>
          </a:p>
          <a:p>
            <a:pPr marL="0" marR="0" lvl="0" indent="0" algn="just" rtl="0">
              <a:spcBef>
                <a:spcPts val="0"/>
              </a:spcBef>
              <a:spcAft>
                <a:spcPts val="0"/>
              </a:spcAft>
              <a:buNone/>
            </a:pPr>
            <a:endParaRPr sz="1800">
              <a:solidFill>
                <a:schemeClr val="lt1"/>
              </a:solidFill>
              <a:latin typeface="Arial"/>
              <a:ea typeface="Arial"/>
              <a:cs typeface="Arial"/>
              <a:sym typeface="Arial"/>
            </a:endParaRPr>
          </a:p>
          <a:p>
            <a:pPr marL="0" marR="0" lvl="0" indent="0" algn="just" rtl="0">
              <a:spcBef>
                <a:spcPts val="0"/>
              </a:spcBef>
              <a:spcAft>
                <a:spcPts val="0"/>
              </a:spcAft>
              <a:buNone/>
            </a:pPr>
            <a:r>
              <a:rPr lang="es-ES" sz="1800" b="1">
                <a:solidFill>
                  <a:schemeClr val="lt1"/>
                </a:solidFill>
                <a:latin typeface="Arial"/>
                <a:ea typeface="Arial"/>
                <a:cs typeface="Arial"/>
                <a:sym typeface="Arial"/>
              </a:rPr>
              <a:t>Calcula la probabilidad de A dado que ha sucedido B.</a:t>
            </a:r>
            <a:endParaRPr/>
          </a:p>
        </p:txBody>
      </p:sp>
      <p:pic>
        <p:nvPicPr>
          <p:cNvPr id="565" name="Google Shape;565;p41" descr="Rolling the Dice with your Life - Fin Tips Financial Services"/>
          <p:cNvPicPr preferRelativeResize="0"/>
          <p:nvPr/>
        </p:nvPicPr>
        <p:blipFill rotWithShape="1">
          <a:blip r:embed="rId4">
            <a:alphaModFix/>
          </a:blip>
          <a:srcRect/>
          <a:stretch/>
        </p:blipFill>
        <p:spPr>
          <a:xfrm>
            <a:off x="7662377" y="1939278"/>
            <a:ext cx="3351536" cy="289225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1"/>
                                        </p:tgtEl>
                                        <p:attrNameLst>
                                          <p:attrName>style.visibility</p:attrName>
                                        </p:attrNameLst>
                                      </p:cBhvr>
                                      <p:to>
                                        <p:strVal val="visible"/>
                                      </p:to>
                                    </p:set>
                                    <p:animEffect transition="in" filter="fade">
                                      <p:cBhvr>
                                        <p:cTn id="7" dur="500"/>
                                        <p:tgtEl>
                                          <p:spTgt spid="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69"/>
        <p:cNvGrpSpPr/>
        <p:nvPr/>
      </p:nvGrpSpPr>
      <p:grpSpPr>
        <a:xfrm>
          <a:off x="0" y="0"/>
          <a:ext cx="0" cy="0"/>
          <a:chOff x="0" y="0"/>
          <a:chExt cx="0" cy="0"/>
        </a:xfrm>
      </p:grpSpPr>
      <p:sp>
        <p:nvSpPr>
          <p:cNvPr id="570" name="Google Shape;570;p42"/>
          <p:cNvSpPr txBox="1"/>
          <p:nvPr/>
        </p:nvSpPr>
        <p:spPr>
          <a:xfrm>
            <a:off x="1220503" y="333392"/>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Ejemplo 3</a:t>
            </a:r>
            <a:endParaRPr/>
          </a:p>
        </p:txBody>
      </p:sp>
      <p:sp>
        <p:nvSpPr>
          <p:cNvPr id="571" name="Google Shape;571;p42"/>
          <p:cNvSpPr/>
          <p:nvPr/>
        </p:nvSpPr>
        <p:spPr>
          <a:xfrm>
            <a:off x="938061" y="1248697"/>
            <a:ext cx="10133140" cy="4999703"/>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2" name="Google Shape;572;p42"/>
          <p:cNvSpPr txBox="1"/>
          <p:nvPr/>
        </p:nvSpPr>
        <p:spPr>
          <a:xfrm>
            <a:off x="5035796" y="5240787"/>
            <a:ext cx="2120407" cy="461024"/>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73" name="Google Shape;573;p42"/>
          <p:cNvSpPr txBox="1"/>
          <p:nvPr/>
        </p:nvSpPr>
        <p:spPr>
          <a:xfrm>
            <a:off x="1220503" y="1578042"/>
            <a:ext cx="5664261" cy="1354217"/>
          </a:xfrm>
          <a:prstGeom prst="rect">
            <a:avLst/>
          </a:prstGeom>
          <a:blipFill rotWithShape="1">
            <a:blip r:embed="rId5">
              <a:alphaModFix/>
            </a:blip>
            <a:stretch>
              <a:fillRect l="-860" t="-2702" b="-450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74" name="Google Shape;574;p42"/>
          <p:cNvSpPr txBox="1"/>
          <p:nvPr/>
        </p:nvSpPr>
        <p:spPr>
          <a:xfrm>
            <a:off x="1220503" y="3305472"/>
            <a:ext cx="9049203"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Arial"/>
                <a:ea typeface="Arial"/>
                <a:cs typeface="Arial"/>
                <a:sym typeface="Arial"/>
              </a:rPr>
              <a:t>Recuerda que el evento A/B </a:t>
            </a:r>
            <a:r>
              <a:rPr lang="es-ES" sz="1800">
                <a:solidFill>
                  <a:schemeClr val="lt1"/>
                </a:solidFill>
                <a:latin typeface="Calibri"/>
                <a:ea typeface="Calibri"/>
                <a:cs typeface="Calibri"/>
                <a:sym typeface="Calibri"/>
              </a:rPr>
              <a:t>corresponde</a:t>
            </a:r>
            <a:r>
              <a:rPr lang="es-ES" sz="1800">
                <a:solidFill>
                  <a:schemeClr val="lt1"/>
                </a:solidFill>
                <a:latin typeface="Arial"/>
                <a:ea typeface="Arial"/>
                <a:cs typeface="Arial"/>
                <a:sym typeface="Arial"/>
              </a:rPr>
              <a:t> a los elementos de </a:t>
            </a:r>
            <a:r>
              <a:rPr lang="es-ES" sz="1800" b="1">
                <a:solidFill>
                  <a:schemeClr val="lt1"/>
                </a:solidFill>
                <a:latin typeface="Arial"/>
                <a:ea typeface="Arial"/>
                <a:cs typeface="Arial"/>
                <a:sym typeface="Arial"/>
              </a:rPr>
              <a:t>A dado que ya se sabe que sucedió B.</a:t>
            </a:r>
            <a:endParaRPr/>
          </a:p>
        </p:txBody>
      </p:sp>
      <p:sp>
        <p:nvSpPr>
          <p:cNvPr id="575" name="Google Shape;575;p42"/>
          <p:cNvSpPr txBox="1"/>
          <p:nvPr/>
        </p:nvSpPr>
        <p:spPr>
          <a:xfrm>
            <a:off x="1220503" y="3970675"/>
            <a:ext cx="9676097"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Arial"/>
                <a:ea typeface="Arial"/>
                <a:cs typeface="Arial"/>
                <a:sym typeface="Arial"/>
              </a:rPr>
              <a:t>Por lo tanto, se tiene </a:t>
            </a:r>
            <a:r>
              <a:rPr lang="es-ES" sz="1800">
                <a:solidFill>
                  <a:schemeClr val="lt1"/>
                </a:solidFill>
                <a:latin typeface="Calibri"/>
                <a:ea typeface="Calibri"/>
                <a:cs typeface="Calibri"/>
                <a:sym typeface="Calibri"/>
              </a:rPr>
              <a:t>A/B</a:t>
            </a:r>
            <a:r>
              <a:rPr lang="es-ES" sz="1800">
                <a:solidFill>
                  <a:schemeClr val="lt1"/>
                </a:solidFill>
                <a:latin typeface="Arial"/>
                <a:ea typeface="Arial"/>
                <a:cs typeface="Arial"/>
                <a:sym typeface="Arial"/>
              </a:rPr>
              <a:t>={3,4}, ya que se ha ocurrido B, el espacio muestral se reduce a cuatro elementos, de los cuales dos pertenecen a A.</a:t>
            </a:r>
            <a:endParaRPr/>
          </a:p>
          <a:p>
            <a:pPr marL="0" marR="0" lvl="0" indent="0" algn="l" rtl="0">
              <a:spcBef>
                <a:spcPts val="0"/>
              </a:spcBef>
              <a:spcAft>
                <a:spcPts val="0"/>
              </a:spcAft>
              <a:buNone/>
            </a:pPr>
            <a:endParaRPr sz="1800">
              <a:solidFill>
                <a:schemeClr val="lt1"/>
              </a:solidFill>
              <a:latin typeface="Arial"/>
              <a:ea typeface="Arial"/>
              <a:cs typeface="Arial"/>
              <a:sym typeface="Arial"/>
            </a:endParaRPr>
          </a:p>
          <a:p>
            <a:pPr marL="0" marR="0" lvl="0" indent="0" algn="l" rtl="0">
              <a:spcBef>
                <a:spcPts val="0"/>
              </a:spcBef>
              <a:spcAft>
                <a:spcPts val="0"/>
              </a:spcAft>
              <a:buNone/>
            </a:pPr>
            <a:r>
              <a:rPr lang="es-ES" sz="1800">
                <a:solidFill>
                  <a:schemeClr val="lt1"/>
                </a:solidFill>
                <a:latin typeface="Arial"/>
                <a:ea typeface="Arial"/>
                <a:cs typeface="Arial"/>
                <a:sym typeface="Arial"/>
              </a:rPr>
              <a:t>Por lo tanto,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70"/>
                                        </p:tgtEl>
                                        <p:attrNameLst>
                                          <p:attrName>style.visibility</p:attrName>
                                        </p:attrNameLst>
                                      </p:cBhvr>
                                      <p:to>
                                        <p:strVal val="visible"/>
                                      </p:to>
                                    </p:set>
                                    <p:animEffect transition="in" filter="fade">
                                      <p:cBhvr>
                                        <p:cTn id="7" dur="500"/>
                                        <p:tgtEl>
                                          <p:spTgt spid="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79"/>
        <p:cNvGrpSpPr/>
        <p:nvPr/>
      </p:nvGrpSpPr>
      <p:grpSpPr>
        <a:xfrm>
          <a:off x="0" y="0"/>
          <a:ext cx="0" cy="0"/>
          <a:chOff x="0" y="0"/>
          <a:chExt cx="0" cy="0"/>
        </a:xfrm>
      </p:grpSpPr>
      <p:sp>
        <p:nvSpPr>
          <p:cNvPr id="580" name="Google Shape;580;p43"/>
          <p:cNvSpPr txBox="1"/>
          <p:nvPr/>
        </p:nvSpPr>
        <p:spPr>
          <a:xfrm>
            <a:off x="2379430" y="581485"/>
            <a:ext cx="3646844"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Ejemplo 3</a:t>
            </a:r>
            <a:endParaRPr/>
          </a:p>
        </p:txBody>
      </p:sp>
      <p:sp>
        <p:nvSpPr>
          <p:cNvPr id="581" name="Google Shape;581;p43"/>
          <p:cNvSpPr/>
          <p:nvPr/>
        </p:nvSpPr>
        <p:spPr>
          <a:xfrm>
            <a:off x="2252511" y="1436914"/>
            <a:ext cx="7120089" cy="4811486"/>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2" name="Google Shape;582;p43"/>
          <p:cNvSpPr txBox="1"/>
          <p:nvPr/>
        </p:nvSpPr>
        <p:spPr>
          <a:xfrm>
            <a:off x="2979014" y="1987687"/>
            <a:ext cx="609452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Aplicando fórmulas:</a:t>
            </a:r>
            <a:endParaRPr/>
          </a:p>
        </p:txBody>
      </p:sp>
      <p:sp>
        <p:nvSpPr>
          <p:cNvPr id="583" name="Google Shape;583;p43"/>
          <p:cNvSpPr txBox="1"/>
          <p:nvPr/>
        </p:nvSpPr>
        <p:spPr>
          <a:xfrm>
            <a:off x="6820216" y="2568809"/>
            <a:ext cx="2068496" cy="612732"/>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84" name="Google Shape;584;p43"/>
          <p:cNvSpPr txBox="1"/>
          <p:nvPr/>
        </p:nvSpPr>
        <p:spPr>
          <a:xfrm>
            <a:off x="3208677" y="2569835"/>
            <a:ext cx="1561406" cy="611706"/>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85" name="Google Shape;585;p43"/>
          <p:cNvSpPr txBox="1"/>
          <p:nvPr/>
        </p:nvSpPr>
        <p:spPr>
          <a:xfrm>
            <a:off x="5076896" y="2569835"/>
            <a:ext cx="1561406" cy="611706"/>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86" name="Google Shape;586;p43"/>
          <p:cNvSpPr txBox="1"/>
          <p:nvPr/>
        </p:nvSpPr>
        <p:spPr>
          <a:xfrm>
            <a:off x="3506825" y="4102391"/>
            <a:ext cx="2927212" cy="512704"/>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87" name="Google Shape;587;p43"/>
          <p:cNvSpPr txBox="1"/>
          <p:nvPr/>
        </p:nvSpPr>
        <p:spPr>
          <a:xfrm>
            <a:off x="2979014" y="3457300"/>
            <a:ext cx="609452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Por lo tanto,</a:t>
            </a:r>
            <a:endParaRPr/>
          </a:p>
        </p:txBody>
      </p:sp>
      <p:sp>
        <p:nvSpPr>
          <p:cNvPr id="588" name="Google Shape;588;p43"/>
          <p:cNvSpPr txBox="1"/>
          <p:nvPr/>
        </p:nvSpPr>
        <p:spPr>
          <a:xfrm>
            <a:off x="2979014" y="5232834"/>
            <a:ext cx="609452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Con ambos métodos se llega al mismo resultado.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80"/>
                                        </p:tgtEl>
                                        <p:attrNameLst>
                                          <p:attrName>style.visibility</p:attrName>
                                        </p:attrNameLst>
                                      </p:cBhvr>
                                      <p:to>
                                        <p:strVal val="visible"/>
                                      </p:to>
                                    </p:set>
                                    <p:animEffect transition="in" filter="fade">
                                      <p:cBhvr>
                                        <p:cTn id="7" dur="500"/>
                                        <p:tgtEl>
                                          <p:spTgt spid="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2"/>
        <p:cNvGrpSpPr/>
        <p:nvPr/>
      </p:nvGrpSpPr>
      <p:grpSpPr>
        <a:xfrm>
          <a:off x="0" y="0"/>
          <a:ext cx="0" cy="0"/>
          <a:chOff x="0" y="0"/>
          <a:chExt cx="0" cy="0"/>
        </a:xfrm>
      </p:grpSpPr>
      <p:sp>
        <p:nvSpPr>
          <p:cNvPr id="593" name="Google Shape;593;p44"/>
          <p:cNvSpPr txBox="1"/>
          <p:nvPr/>
        </p:nvSpPr>
        <p:spPr>
          <a:xfrm>
            <a:off x="1182386" y="3416582"/>
            <a:ext cx="10782300" cy="75229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Clr>
                <a:schemeClr val="dk1"/>
              </a:buClr>
              <a:buSzPts val="3600"/>
              <a:buFont typeface="Calibri"/>
              <a:buNone/>
            </a:pPr>
            <a:endParaRPr sz="3600" b="0" i="0" u="none" strike="noStrike" cap="none">
              <a:solidFill>
                <a:srgbClr val="7F7F7F"/>
              </a:solidFill>
              <a:latin typeface="Arial"/>
              <a:ea typeface="Arial"/>
              <a:cs typeface="Arial"/>
              <a:sym typeface="Arial"/>
            </a:endParaRPr>
          </a:p>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Árbol de Probabilidades</a:t>
            </a:r>
            <a:endParaRPr/>
          </a:p>
          <a:p>
            <a:pPr marL="0" marR="0" lvl="0" indent="0" algn="just" rtl="0">
              <a:lnSpc>
                <a:spcPct val="90000"/>
              </a:lnSpc>
              <a:spcBef>
                <a:spcPts val="0"/>
              </a:spcBef>
              <a:spcAft>
                <a:spcPts val="0"/>
              </a:spcAft>
              <a:buClr>
                <a:schemeClr val="dk1"/>
              </a:buClr>
              <a:buSzPts val="3600"/>
              <a:buFont typeface="Calibri"/>
              <a:buNone/>
            </a:pPr>
            <a:endParaRPr sz="3600" b="0" i="0" u="none" strike="noStrike" cap="none">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93"/>
                                        </p:tgtEl>
                                        <p:attrNameLst>
                                          <p:attrName>style.visibility</p:attrName>
                                        </p:attrNameLst>
                                      </p:cBhvr>
                                      <p:to>
                                        <p:strVal val="visible"/>
                                      </p:to>
                                    </p:set>
                                    <p:animEffect transition="in" filter="fade">
                                      <p:cBhvr>
                                        <p:cTn id="7" dur="500"/>
                                        <p:tgtEl>
                                          <p:spTgt spid="5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7"/>
        <p:cNvGrpSpPr/>
        <p:nvPr/>
      </p:nvGrpSpPr>
      <p:grpSpPr>
        <a:xfrm>
          <a:off x="0" y="0"/>
          <a:ext cx="0" cy="0"/>
          <a:chOff x="0" y="0"/>
          <a:chExt cx="0" cy="0"/>
        </a:xfrm>
      </p:grpSpPr>
      <p:sp>
        <p:nvSpPr>
          <p:cNvPr id="598" name="Google Shape;598;p45"/>
          <p:cNvSpPr/>
          <p:nvPr/>
        </p:nvSpPr>
        <p:spPr>
          <a:xfrm>
            <a:off x="452284" y="1625859"/>
            <a:ext cx="11376720" cy="4630992"/>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9" name="Google Shape;599;p45"/>
          <p:cNvSpPr txBox="1"/>
          <p:nvPr/>
        </p:nvSpPr>
        <p:spPr>
          <a:xfrm>
            <a:off x="651387" y="154458"/>
            <a:ext cx="10825200" cy="580500"/>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Árbol de Probabilidades</a:t>
            </a:r>
            <a:endParaRPr/>
          </a:p>
        </p:txBody>
      </p:sp>
      <p:sp>
        <p:nvSpPr>
          <p:cNvPr id="600" name="Google Shape;600;p45"/>
          <p:cNvSpPr/>
          <p:nvPr/>
        </p:nvSpPr>
        <p:spPr>
          <a:xfrm>
            <a:off x="804732" y="1760130"/>
            <a:ext cx="5093190" cy="4362450"/>
          </a:xfrm>
          <a:prstGeom prst="roundRect">
            <a:avLst>
              <a:gd name="adj" fmla="val 4466"/>
            </a:avLst>
          </a:prstGeom>
          <a:solidFill>
            <a:schemeClr val="lt1"/>
          </a:solidFill>
          <a:ln w="28575"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1" name="Google Shape;601;p45"/>
          <p:cNvSpPr/>
          <p:nvPr/>
        </p:nvSpPr>
        <p:spPr>
          <a:xfrm>
            <a:off x="6250369" y="2475800"/>
            <a:ext cx="5302398" cy="258532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En una academia hay 3 aulas: el aula roja, el aula azul y el aula negra. </a:t>
            </a:r>
            <a:endParaRPr sz="1800">
              <a:solidFill>
                <a:schemeClr val="lt1"/>
              </a:solidFill>
              <a:latin typeface="Calibri"/>
              <a:ea typeface="Calibri"/>
              <a:cs typeface="Calibri"/>
              <a:sym typeface="Calibri"/>
            </a:endParaRPr>
          </a:p>
          <a:p>
            <a:pPr marL="285750" marR="0" lvl="0" indent="-171450" algn="just" rtl="0">
              <a:spcBef>
                <a:spcPts val="0"/>
              </a:spcBef>
              <a:spcAft>
                <a:spcPts val="0"/>
              </a:spcAft>
              <a:buClr>
                <a:schemeClr val="dk1"/>
              </a:buClr>
              <a:buSzPts val="1800"/>
              <a:buFont typeface="Noto Sans Symbols"/>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El aula roja tiene al 50 % de los estudiantes de la academia.</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El aula azul al 30 %.</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El aula negra al 20 %.</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 Además, en cada aula hay un 40 % de hombres.</a:t>
            </a:r>
            <a:endParaRPr/>
          </a:p>
        </p:txBody>
      </p:sp>
      <p:grpSp>
        <p:nvGrpSpPr>
          <p:cNvPr id="602" name="Google Shape;602;p45"/>
          <p:cNvGrpSpPr/>
          <p:nvPr/>
        </p:nvGrpSpPr>
        <p:grpSpPr>
          <a:xfrm>
            <a:off x="1038663" y="1910065"/>
            <a:ext cx="4625327" cy="4058080"/>
            <a:chOff x="6147349" y="1893204"/>
            <a:chExt cx="4625327" cy="4058080"/>
          </a:xfrm>
        </p:grpSpPr>
        <p:pic>
          <p:nvPicPr>
            <p:cNvPr id="603" name="Google Shape;603;p45"/>
            <p:cNvPicPr preferRelativeResize="0"/>
            <p:nvPr/>
          </p:nvPicPr>
          <p:blipFill rotWithShape="1">
            <a:blip r:embed="rId4">
              <a:alphaModFix/>
            </a:blip>
            <a:srcRect/>
            <a:stretch/>
          </p:blipFill>
          <p:spPr>
            <a:xfrm>
              <a:off x="6481654" y="1893204"/>
              <a:ext cx="4291022" cy="3950677"/>
            </a:xfrm>
            <a:prstGeom prst="rect">
              <a:avLst/>
            </a:prstGeom>
            <a:noFill/>
            <a:ln>
              <a:noFill/>
            </a:ln>
          </p:spPr>
        </p:pic>
        <p:sp>
          <p:nvSpPr>
            <p:cNvPr id="604" name="Google Shape;604;p45"/>
            <p:cNvSpPr txBox="1"/>
            <p:nvPr/>
          </p:nvSpPr>
          <p:spPr>
            <a:xfrm>
              <a:off x="6147349" y="5382872"/>
              <a:ext cx="1125416" cy="568412"/>
            </a:xfrm>
            <a:prstGeom prst="rect">
              <a:avLst/>
            </a:prstGeom>
            <a:solidFill>
              <a:srgbClr val="FFFFFF"/>
            </a:solid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605" name="Google Shape;605;p45"/>
          <p:cNvSpPr/>
          <p:nvPr/>
        </p:nvSpPr>
        <p:spPr>
          <a:xfrm>
            <a:off x="452284" y="751427"/>
            <a:ext cx="11355476" cy="799856"/>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6" name="Google Shape;606;p45"/>
          <p:cNvSpPr txBox="1"/>
          <p:nvPr/>
        </p:nvSpPr>
        <p:spPr>
          <a:xfrm>
            <a:off x="727587" y="822183"/>
            <a:ext cx="1069749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Los diagramas de árbol son muy útiles para el cálculo de probabilidades, sus ramas nos indican los distintos resultados al realizar experimentos sucesivos.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99"/>
                                        </p:tgtEl>
                                        <p:attrNameLst>
                                          <p:attrName>style.visibility</p:attrName>
                                        </p:attrNameLst>
                                      </p:cBhvr>
                                      <p:to>
                                        <p:strVal val="visible"/>
                                      </p:to>
                                    </p:set>
                                    <p:animEffect transition="in" filter="fade">
                                      <p:cBhvr>
                                        <p:cTn id="7" dur="500"/>
                                        <p:tgtEl>
                                          <p:spTgt spid="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10"/>
        <p:cNvGrpSpPr/>
        <p:nvPr/>
      </p:nvGrpSpPr>
      <p:grpSpPr>
        <a:xfrm>
          <a:off x="0" y="0"/>
          <a:ext cx="0" cy="0"/>
          <a:chOff x="0" y="0"/>
          <a:chExt cx="0" cy="0"/>
        </a:xfrm>
      </p:grpSpPr>
      <p:sp>
        <p:nvSpPr>
          <p:cNvPr id="611" name="Google Shape;611;p46"/>
          <p:cNvSpPr txBox="1"/>
          <p:nvPr/>
        </p:nvSpPr>
        <p:spPr>
          <a:xfrm>
            <a:off x="169608" y="684404"/>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Diagrama de Árbol</a:t>
            </a:r>
            <a:endParaRPr/>
          </a:p>
        </p:txBody>
      </p:sp>
      <p:sp>
        <p:nvSpPr>
          <p:cNvPr id="612" name="Google Shape;612;p46"/>
          <p:cNvSpPr/>
          <p:nvPr/>
        </p:nvSpPr>
        <p:spPr>
          <a:xfrm>
            <a:off x="3864079" y="873027"/>
            <a:ext cx="7892866" cy="5111946"/>
          </a:xfrm>
          <a:prstGeom prst="roundRect">
            <a:avLst>
              <a:gd name="adj" fmla="val 4466"/>
            </a:avLst>
          </a:prstGeom>
          <a:solidFill>
            <a:schemeClr val="lt1"/>
          </a:solidFill>
          <a:ln w="28575"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3" name="Google Shape;613;p46"/>
          <p:cNvSpPr/>
          <p:nvPr/>
        </p:nvSpPr>
        <p:spPr>
          <a:xfrm>
            <a:off x="-567077" y="2028452"/>
            <a:ext cx="4396531" cy="2622112"/>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4" name="Google Shape;614;p46"/>
          <p:cNvSpPr/>
          <p:nvPr/>
        </p:nvSpPr>
        <p:spPr>
          <a:xfrm>
            <a:off x="203493" y="2691989"/>
            <a:ext cx="3274035" cy="120028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Ahora calculamos la probabilidad de que si se selecciona un estudiante al azar, este sea un hombre del aula azul.</a:t>
            </a:r>
            <a:r>
              <a:rPr lang="es-ES" sz="1800">
                <a:solidFill>
                  <a:schemeClr val="lt1"/>
                </a:solidFill>
                <a:latin typeface="Arial"/>
                <a:ea typeface="Arial"/>
                <a:cs typeface="Arial"/>
                <a:sym typeface="Arial"/>
              </a:rPr>
              <a:t> </a:t>
            </a:r>
            <a:endParaRPr/>
          </a:p>
        </p:txBody>
      </p:sp>
      <p:grpSp>
        <p:nvGrpSpPr>
          <p:cNvPr id="615" name="Google Shape;615;p46"/>
          <p:cNvGrpSpPr/>
          <p:nvPr/>
        </p:nvGrpSpPr>
        <p:grpSpPr>
          <a:xfrm>
            <a:off x="3946074" y="1303037"/>
            <a:ext cx="7720742" cy="4251925"/>
            <a:chOff x="2235629" y="1786498"/>
            <a:chExt cx="7720742" cy="4251925"/>
          </a:xfrm>
        </p:grpSpPr>
        <p:pic>
          <p:nvPicPr>
            <p:cNvPr id="616" name="Google Shape;616;p46"/>
            <p:cNvPicPr preferRelativeResize="0"/>
            <p:nvPr/>
          </p:nvPicPr>
          <p:blipFill rotWithShape="1">
            <a:blip r:embed="rId4">
              <a:alphaModFix/>
            </a:blip>
            <a:srcRect/>
            <a:stretch/>
          </p:blipFill>
          <p:spPr>
            <a:xfrm>
              <a:off x="2235629" y="1786498"/>
              <a:ext cx="7720742" cy="4137323"/>
            </a:xfrm>
            <a:prstGeom prst="rect">
              <a:avLst/>
            </a:prstGeom>
            <a:noFill/>
            <a:ln>
              <a:noFill/>
            </a:ln>
          </p:spPr>
        </p:pic>
        <p:sp>
          <p:nvSpPr>
            <p:cNvPr id="617" name="Google Shape;617;p46"/>
            <p:cNvSpPr txBox="1"/>
            <p:nvPr/>
          </p:nvSpPr>
          <p:spPr>
            <a:xfrm>
              <a:off x="2235629" y="5470011"/>
              <a:ext cx="953965" cy="568412"/>
            </a:xfrm>
            <a:prstGeom prst="rect">
              <a:avLst/>
            </a:prstGeom>
            <a:solidFill>
              <a:srgbClr val="FFFFFF"/>
            </a:solid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11"/>
                                        </p:tgtEl>
                                        <p:attrNameLst>
                                          <p:attrName>style.visibility</p:attrName>
                                        </p:attrNameLst>
                                      </p:cBhvr>
                                      <p:to>
                                        <p:strVal val="visible"/>
                                      </p:to>
                                    </p:set>
                                    <p:animEffect transition="in" filter="fade">
                                      <p:cBhvr>
                                        <p:cTn id="7" dur="500"/>
                                        <p:tgtEl>
                                          <p:spTgt spid="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21"/>
        <p:cNvGrpSpPr/>
        <p:nvPr/>
      </p:nvGrpSpPr>
      <p:grpSpPr>
        <a:xfrm>
          <a:off x="0" y="0"/>
          <a:ext cx="0" cy="0"/>
          <a:chOff x="0" y="0"/>
          <a:chExt cx="0" cy="0"/>
        </a:xfrm>
      </p:grpSpPr>
      <p:sp>
        <p:nvSpPr>
          <p:cNvPr id="622" name="Google Shape;622;p47"/>
          <p:cNvSpPr txBox="1"/>
          <p:nvPr/>
        </p:nvSpPr>
        <p:spPr>
          <a:xfrm>
            <a:off x="666750" y="347751"/>
            <a:ext cx="10551982" cy="498187"/>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Diagrama de Árbol</a:t>
            </a:r>
            <a:endParaRPr/>
          </a:p>
        </p:txBody>
      </p:sp>
      <p:sp>
        <p:nvSpPr>
          <p:cNvPr id="623" name="Google Shape;623;p47"/>
          <p:cNvSpPr/>
          <p:nvPr/>
        </p:nvSpPr>
        <p:spPr>
          <a:xfrm>
            <a:off x="734392" y="2002536"/>
            <a:ext cx="10484340" cy="4336027"/>
          </a:xfrm>
          <a:prstGeom prst="roundRect">
            <a:avLst>
              <a:gd name="adj" fmla="val 4466"/>
            </a:avLst>
          </a:prstGeom>
          <a:solidFill>
            <a:schemeClr val="lt1"/>
          </a:solidFill>
          <a:ln w="28575" cap="flat" cmpd="sng">
            <a:solidFill>
              <a:srgbClr val="8234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4" name="Google Shape;624;p47"/>
          <p:cNvSpPr/>
          <p:nvPr/>
        </p:nvSpPr>
        <p:spPr>
          <a:xfrm>
            <a:off x="-270899" y="952286"/>
            <a:ext cx="12701024" cy="837555"/>
          </a:xfrm>
          <a:prstGeom prst="roundRect">
            <a:avLst>
              <a:gd name="adj" fmla="val 4466"/>
            </a:avLst>
          </a:prstGeom>
          <a:gradFill>
            <a:gsLst>
              <a:gs pos="0">
                <a:srgbClr val="4E1A42"/>
              </a:gs>
              <a:gs pos="50000">
                <a:srgbClr val="702660"/>
              </a:gs>
              <a:gs pos="100000">
                <a:srgbClr val="872E74"/>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5" name="Google Shape;625;p47"/>
          <p:cNvSpPr/>
          <p:nvPr/>
        </p:nvSpPr>
        <p:spPr>
          <a:xfrm>
            <a:off x="666750" y="1057516"/>
            <a:ext cx="1055198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Arial"/>
                <a:ea typeface="Arial"/>
                <a:cs typeface="Arial"/>
                <a:sym typeface="Arial"/>
              </a:rPr>
              <a:t>Si se selecciona un estudiante al azar, </a:t>
            </a:r>
            <a:r>
              <a:rPr lang="es-ES" sz="1800" b="1">
                <a:solidFill>
                  <a:schemeClr val="lt1"/>
                </a:solidFill>
                <a:latin typeface="Arial"/>
                <a:ea typeface="Arial"/>
                <a:cs typeface="Arial"/>
                <a:sym typeface="Arial"/>
              </a:rPr>
              <a:t>¿cuál es la probabilidad de que sea un estudiante hombre del aula negra o un hombre del aula azul?</a:t>
            </a:r>
            <a:endParaRPr/>
          </a:p>
        </p:txBody>
      </p:sp>
      <p:grpSp>
        <p:nvGrpSpPr>
          <p:cNvPr id="626" name="Google Shape;626;p47"/>
          <p:cNvGrpSpPr/>
          <p:nvPr/>
        </p:nvGrpSpPr>
        <p:grpSpPr>
          <a:xfrm>
            <a:off x="1017431" y="2391529"/>
            <a:ext cx="7250881" cy="3933849"/>
            <a:chOff x="1386851" y="1834942"/>
            <a:chExt cx="7250881" cy="3933849"/>
          </a:xfrm>
        </p:grpSpPr>
        <p:pic>
          <p:nvPicPr>
            <p:cNvPr id="627" name="Google Shape;627;p47"/>
            <p:cNvPicPr preferRelativeResize="0"/>
            <p:nvPr/>
          </p:nvPicPr>
          <p:blipFill rotWithShape="1">
            <a:blip r:embed="rId4">
              <a:alphaModFix/>
            </a:blip>
            <a:srcRect/>
            <a:stretch/>
          </p:blipFill>
          <p:spPr>
            <a:xfrm>
              <a:off x="1472881" y="1834942"/>
              <a:ext cx="7164851" cy="3933849"/>
            </a:xfrm>
            <a:prstGeom prst="rect">
              <a:avLst/>
            </a:prstGeom>
            <a:noFill/>
            <a:ln>
              <a:noFill/>
            </a:ln>
          </p:spPr>
        </p:pic>
        <p:sp>
          <p:nvSpPr>
            <p:cNvPr id="628" name="Google Shape;628;p47"/>
            <p:cNvSpPr txBox="1"/>
            <p:nvPr/>
          </p:nvSpPr>
          <p:spPr>
            <a:xfrm>
              <a:off x="1386851" y="5199172"/>
              <a:ext cx="817563" cy="568412"/>
            </a:xfrm>
            <a:prstGeom prst="rect">
              <a:avLst/>
            </a:prstGeom>
            <a:solidFill>
              <a:srgbClr val="FFFFFF"/>
            </a:solid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629" name="Google Shape;629;p47"/>
          <p:cNvSpPr/>
          <p:nvPr/>
        </p:nvSpPr>
        <p:spPr>
          <a:xfrm>
            <a:off x="8409831" y="3524508"/>
            <a:ext cx="2667381" cy="1077218"/>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rgbClr val="7F7F7F"/>
                </a:solidFill>
                <a:latin typeface="Calibri"/>
                <a:ea typeface="Calibri"/>
                <a:cs typeface="Calibri"/>
                <a:sym typeface="Calibri"/>
              </a:rPr>
              <a:t>Recuerda que multiplicamos cuando avanzamos hacia la derecha y sumamos cuando avanzamos hacia abajo.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22"/>
                                        </p:tgtEl>
                                        <p:attrNameLst>
                                          <p:attrName>style.visibility</p:attrName>
                                        </p:attrNameLst>
                                      </p:cBhvr>
                                      <p:to>
                                        <p:strVal val="visible"/>
                                      </p:to>
                                    </p:set>
                                    <p:animEffect transition="in" filter="fade">
                                      <p:cBhvr>
                                        <p:cTn id="7" dur="500"/>
                                        <p:tgtEl>
                                          <p:spTgt spid="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48"/>
          <p:cNvSpPr/>
          <p:nvPr/>
        </p:nvSpPr>
        <p:spPr>
          <a:xfrm>
            <a:off x="-749030" y="3132234"/>
            <a:ext cx="7964307" cy="894946"/>
          </a:xfrm>
          <a:prstGeom prst="roundRect">
            <a:avLst>
              <a:gd name="adj" fmla="val 2778"/>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35" name="Google Shape;635;p48"/>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600"/>
              <a:buFont typeface="Arial"/>
              <a:buNone/>
            </a:pPr>
            <a:r>
              <a:rPr lang="es-ES" sz="3600" b="0" i="0" u="none" strike="noStrike" cap="none">
                <a:solidFill>
                  <a:srgbClr val="FFFFFF"/>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35"/>
                                        </p:tgtEl>
                                        <p:attrNameLst>
                                          <p:attrName>style.visibility</p:attrName>
                                        </p:attrNameLst>
                                      </p:cBhvr>
                                      <p:to>
                                        <p:strVal val="visible"/>
                                      </p:to>
                                    </p:set>
                                    <p:animEffect transition="in" filter="fade">
                                      <p:cBhvr>
                                        <p:cTn id="7" dur="500"/>
                                        <p:tgtEl>
                                          <p:spTgt spid="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49"/>
          <p:cNvSpPr txBox="1"/>
          <p:nvPr/>
        </p:nvSpPr>
        <p:spPr>
          <a:xfrm>
            <a:off x="462603" y="2924969"/>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3600"/>
              <a:buFont typeface="Arial"/>
              <a:buNone/>
            </a:pPr>
            <a:r>
              <a:rPr lang="es-ES" sz="3600" b="0" i="0" u="none" strike="noStrike" cap="none">
                <a:solidFill>
                  <a:srgbClr val="7F7F7F"/>
                </a:solidFill>
                <a:latin typeface="Arial"/>
                <a:ea typeface="Arial"/>
                <a:cs typeface="Arial"/>
                <a:sym typeface="Arial"/>
              </a:rPr>
              <a:t>Fin presentación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0"/>
                                        </p:tgtEl>
                                        <p:attrNameLst>
                                          <p:attrName>style.visibility</p:attrName>
                                        </p:attrNameLst>
                                      </p:cBhvr>
                                      <p:to>
                                        <p:strVal val="visible"/>
                                      </p:to>
                                    </p:set>
                                    <p:animEffect transition="in" filter="fade">
                                      <p:cBhvr>
                                        <p:cTn id="7" dur="500"/>
                                        <p:tgtEl>
                                          <p:spTgt spid="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49</Slides>
  <Notes>49</Notes>
  <HiddenSlides>0</HiddenSlides>
  <ScaleCrop>false</ScaleCrop>
  <HeadingPairs>
    <vt:vector size="4" baseType="variant">
      <vt:variant>
        <vt:lpstr>Theme</vt:lpstr>
      </vt:variant>
      <vt:variant>
        <vt:i4>2</vt:i4>
      </vt:variant>
      <vt:variant>
        <vt:lpstr>Slide Titles</vt:lpstr>
      </vt:variant>
      <vt:variant>
        <vt:i4>49</vt:i4>
      </vt:variant>
    </vt:vector>
  </HeadingPairs>
  <TitlesOfParts>
    <vt:vector size="51" baseType="lpstr">
      <vt:lpstr>Tema de Office</vt:lpstr>
      <vt:lpstr>1_Tema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Kibernum</dc:creator>
  <cp:revision>1</cp:revision>
  <dcterms:created xsi:type="dcterms:W3CDTF">2023-01-03T12:28:26Z</dcterms:created>
  <dcterms:modified xsi:type="dcterms:W3CDTF">2025-09-26T11:48:45Z</dcterms:modified>
</cp:coreProperties>
</file>