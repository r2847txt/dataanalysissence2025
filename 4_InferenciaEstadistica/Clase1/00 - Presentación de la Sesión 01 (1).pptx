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3" r:id="rId9"/>
    <p:sldId id="268" r:id="rId10"/>
    <p:sldId id="269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RkBPOB0YgDATrxJPpYZ1emibB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B3E61B-CCFB-CD22-3A53-D441D84BA47A}" v="8" dt="2025-09-26T11:46:20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2" autoAdjust="0"/>
  </p:normalViewPr>
  <p:slideViewPr>
    <p:cSldViewPr snapToGrid="0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ACB3E61B-CCFB-CD22-3A53-D441D84BA47A}"/>
    <pc:docChg chg="modSld">
      <pc:chgData name="Soraya Salazar" userId="S::soraya.salazar@kibernumacademy.com::fdf00a5c-f577-43dc-8064-9968cad83607" providerId="AD" clId="Web-{ACB3E61B-CCFB-CD22-3A53-D441D84BA47A}" dt="2025-09-26T11:46:20.177" v="5" actId="20577"/>
      <pc:docMkLst>
        <pc:docMk/>
      </pc:docMkLst>
      <pc:sldChg chg="modSp">
        <pc:chgData name="Soraya Salazar" userId="S::soraya.salazar@kibernumacademy.com::fdf00a5c-f577-43dc-8064-9968cad83607" providerId="AD" clId="Web-{ACB3E61B-CCFB-CD22-3A53-D441D84BA47A}" dt="2025-09-26T11:46:20.177" v="5" actId="20577"/>
        <pc:sldMkLst>
          <pc:docMk/>
          <pc:sldMk cId="0" sldId="256"/>
        </pc:sldMkLst>
        <pc:spChg chg="mod">
          <ac:chgData name="Soraya Salazar" userId="S::soraya.salazar@kibernumacademy.com::fdf00a5c-f577-43dc-8064-9968cad83607" providerId="AD" clId="Web-{ACB3E61B-CCFB-CD22-3A53-D441D84BA47A}" dt="2025-09-26T11:46:20.177" v="5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906982" y="3257006"/>
            <a:ext cx="7102763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169525" y="3123426"/>
            <a:ext cx="6757093" cy="19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la Sesión</a:t>
            </a:r>
            <a:endParaRPr lang="es-CL" sz="3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Google Shape;92;p1"/>
          <p:cNvSpPr txBox="1"/>
          <p:nvPr/>
        </p:nvSpPr>
        <p:spPr>
          <a:xfrm>
            <a:off x="4169525" y="2783416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Inferencia Estadística</a:t>
            </a:r>
            <a:endParaRPr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408168"/>
            <a:ext cx="10515600" cy="1325563"/>
          </a:xfrm>
        </p:spPr>
        <p:txBody>
          <a:bodyPr/>
          <a:lstStyle/>
          <a:p>
            <a: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Repaso y Activación de Conceptos: </a:t>
            </a:r>
            <a:b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br>
              <a:rPr lang="es-ES" sz="3600" dirty="0">
                <a:latin typeface="+mj-lt"/>
              </a:rPr>
            </a:br>
            <a: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“Preparándonos para avanzar”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5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757382" y="3400280"/>
            <a:ext cx="7774334" cy="2428604"/>
          </a:xfrm>
          <a:prstGeom prst="roundRect">
            <a:avLst>
              <a:gd name="adj" fmla="val 4466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24021" y="4260659"/>
            <a:ext cx="716175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buClr>
                <a:schemeClr val="lt1"/>
              </a:buClr>
              <a:buSzPts val="1800"/>
            </a:pPr>
            <a:r>
              <a:rPr lang="es-E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Explicar los principales conceptos de probabilidad asociados a un evento aleatorio.</a:t>
            </a:r>
            <a:endParaRPr sz="18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57382" y="1391415"/>
            <a:ext cx="7774335" cy="932997"/>
          </a:xfrm>
          <a:prstGeom prst="roundRect">
            <a:avLst>
              <a:gd name="adj" fmla="val 4466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924021" y="1459221"/>
            <a:ext cx="7074670" cy="75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ES" sz="28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Método Científico y Ciencia de Datos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98;p2"/>
          <p:cNvSpPr txBox="1"/>
          <p:nvPr/>
        </p:nvSpPr>
        <p:spPr>
          <a:xfrm>
            <a:off x="-262704" y="441923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Título de la sesión</a:t>
            </a:r>
            <a:endParaRPr dirty="0"/>
          </a:p>
        </p:txBody>
      </p:sp>
      <p:sp>
        <p:nvSpPr>
          <p:cNvPr id="10" name="Google Shape;98;p2"/>
          <p:cNvSpPr txBox="1"/>
          <p:nvPr/>
        </p:nvSpPr>
        <p:spPr>
          <a:xfrm>
            <a:off x="-150094" y="2392218"/>
            <a:ext cx="436828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Aprendizajes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1017556" y="2333286"/>
            <a:ext cx="5948218" cy="2861681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770" y="2834803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1146404" y="2333286"/>
            <a:ext cx="6031345" cy="29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Bienvenida</a:t>
            </a: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  <a:sym typeface="Arial"/>
              </a:rPr>
              <a:t> al </a:t>
            </a: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Módulo</a:t>
            </a: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  <a:sym typeface="Arial"/>
              </a:rPr>
              <a:t>.</a:t>
            </a:r>
            <a:endParaRPr lang="es-CL" sz="20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s-CL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Método Científico.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s-CL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Reforzar y profundizar conceptos (asincrónico).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bg1"/>
              </a:solidFill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770" y="3370475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769" y="3915383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8;p2"/>
          <p:cNvSpPr txBox="1"/>
          <p:nvPr/>
        </p:nvSpPr>
        <p:spPr>
          <a:xfrm>
            <a:off x="439260" y="1112363"/>
            <a:ext cx="3975723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Temáticas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6317819" y="-1933211"/>
            <a:ext cx="4553382" cy="7365792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8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18" name="Google Shape;118;p4"/>
          <p:cNvGrpSpPr/>
          <p:nvPr/>
        </p:nvGrpSpPr>
        <p:grpSpPr>
          <a:xfrm>
            <a:off x="1078806" y="1749685"/>
            <a:ext cx="3524500" cy="3630571"/>
            <a:chOff x="842747" y="90401"/>
            <a:chExt cx="3524500" cy="3630571"/>
          </a:xfrm>
        </p:grpSpPr>
        <p:sp>
          <p:nvSpPr>
            <p:cNvPr id="119" name="Google Shape;119;p4"/>
            <p:cNvSpPr/>
            <p:nvPr/>
          </p:nvSpPr>
          <p:spPr>
            <a:xfrm>
              <a:off x="842747" y="90401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8" r="-24998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176182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3650392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6578869" y="1761820"/>
            <a:ext cx="3949794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Sincrónicas (3 </a:t>
            </a:r>
            <a:r>
              <a:rPr lang="es-CL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sz="2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Bienvenida al módulo.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rgbClr val="FFFFFF"/>
                </a:solidFill>
                <a:latin typeface="Calibri"/>
                <a:cs typeface="Calibri"/>
              </a:rPr>
              <a:t>Método Científico. </a:t>
            </a: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Asincrónicas (1 </a:t>
            </a:r>
            <a:r>
              <a:rPr lang="es-CL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sz="2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Reforzamiento de conceptos.</a:t>
            </a:r>
            <a:endParaRPr lang="es-CL" sz="2000" dirty="0">
              <a:solidFill>
                <a:schemeClr val="lt1"/>
              </a:solidFill>
              <a:latin typeface="Calibri"/>
              <a:cs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983657" y="424325"/>
            <a:ext cx="447690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s-CL" sz="3200" dirty="0">
                <a:solidFill>
                  <a:srgbClr val="7F7F7F"/>
                </a:solidFill>
              </a:rPr>
              <a:t>Estructura de la Sesión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364" y="2309091"/>
            <a:ext cx="3722254" cy="2262909"/>
          </a:xfrm>
          <a:prstGeom prst="rect">
            <a:avLst/>
          </a:prstGeom>
        </p:spPr>
      </p:pic>
      <p:sp>
        <p:nvSpPr>
          <p:cNvPr id="130" name="Google Shape;130;p5"/>
          <p:cNvSpPr/>
          <p:nvPr/>
        </p:nvSpPr>
        <p:spPr>
          <a:xfrm>
            <a:off x="993711" y="-110835"/>
            <a:ext cx="5111525" cy="7195126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6039374" y="655781"/>
            <a:ext cx="534906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s-CL" sz="3200" dirty="0">
                <a:solidFill>
                  <a:srgbClr val="7F7F7F"/>
                </a:solidFill>
              </a:rPr>
              <a:t>. Bienvenida al módulo</a:t>
            </a:r>
          </a:p>
        </p:txBody>
      </p:sp>
      <p:sp>
        <p:nvSpPr>
          <p:cNvPr id="132" name="Google Shape;132;p5"/>
          <p:cNvSpPr txBox="1"/>
          <p:nvPr/>
        </p:nvSpPr>
        <p:spPr>
          <a:xfrm>
            <a:off x="1320326" y="1663843"/>
            <a:ext cx="4719048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l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Presentación</a:t>
            </a:r>
            <a:r>
              <a:rPr lang="en-US" sz="2000" dirty="0">
                <a:solidFill>
                  <a:schemeClr val="l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n-US" sz="2000" dirty="0">
                <a:solidFill>
                  <a:schemeClr val="l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“</a:t>
            </a:r>
            <a:r>
              <a:rPr lang="en-US" sz="2000" dirty="0" err="1">
                <a:solidFill>
                  <a:schemeClr val="l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Presentación</a:t>
            </a:r>
            <a:r>
              <a:rPr lang="en-US" sz="2000" dirty="0">
                <a:solidFill>
                  <a:schemeClr val="l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del módulo.pptx”</a:t>
            </a:r>
          </a:p>
          <a:p>
            <a:pPr lvl="0">
              <a:buClr>
                <a:schemeClr val="lt1"/>
              </a:buClr>
              <a:buSzPts val="2000"/>
            </a:pPr>
            <a:endParaRPr lang="es-ES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342900" lvl="0" indent="-342900" algn="just">
              <a:lnSpc>
                <a:spcPct val="150000"/>
              </a:lnSpc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l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   Aprendizaje esperado.</a:t>
            </a:r>
          </a:p>
          <a:p>
            <a:pPr marL="342900" lvl="0" indent="-342900" algn="just">
              <a:lnSpc>
                <a:spcPct val="150000"/>
              </a:lnSpc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l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   Temáticas.</a:t>
            </a:r>
          </a:p>
          <a:p>
            <a:pPr marL="342900" lvl="0" indent="-342900" algn="just">
              <a:lnSpc>
                <a:spcPct val="150000"/>
              </a:lnSpc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l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   Modo de evaluación.</a:t>
            </a:r>
          </a:p>
          <a:p>
            <a:pPr lvl="0" algn="just">
              <a:lnSpc>
                <a:spcPct val="150000"/>
              </a:lnSpc>
              <a:buClr>
                <a:schemeClr val="lt1"/>
              </a:buClr>
              <a:buSzPts val="2000"/>
            </a:pPr>
            <a:endParaRPr lang="es-ES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 algn="just">
              <a:lnSpc>
                <a:spcPct val="150000"/>
              </a:lnSpc>
              <a:buClr>
                <a:schemeClr val="lt1"/>
              </a:buClr>
              <a:buSzPts val="2000"/>
            </a:pPr>
            <a:r>
              <a:rPr lang="es-ES" sz="2000" dirty="0">
                <a:solidFill>
                  <a:schemeClr val="l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          </a:t>
            </a:r>
          </a:p>
          <a:p>
            <a:pPr lvl="0">
              <a:buClr>
                <a:schemeClr val="lt1"/>
              </a:buClr>
              <a:buSzPts val="2000"/>
            </a:pPr>
            <a:r>
              <a:rPr lang="es-ES" sz="2000" dirty="0">
                <a:solidFill>
                  <a:schemeClr val="lt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        </a:t>
            </a:r>
            <a:endParaRPr lang="en-US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endParaRPr lang="en-US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663" y="2486079"/>
            <a:ext cx="3393656" cy="19089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983" y="1870385"/>
            <a:ext cx="5310076" cy="3715965"/>
          </a:xfrm>
          <a:prstGeom prst="rect">
            <a:avLst/>
          </a:prstGeom>
        </p:spPr>
      </p:pic>
      <p:sp>
        <p:nvSpPr>
          <p:cNvPr id="137" name="Google Shape;137;p6"/>
          <p:cNvSpPr/>
          <p:nvPr/>
        </p:nvSpPr>
        <p:spPr>
          <a:xfrm>
            <a:off x="527446" y="-37817"/>
            <a:ext cx="5233659" cy="7184985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5705888" y="923308"/>
            <a:ext cx="6155186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</a:rPr>
              <a:t>2. Método Científico</a:t>
            </a:r>
          </a:p>
        </p:txBody>
      </p:sp>
      <p:sp>
        <p:nvSpPr>
          <p:cNvPr id="139" name="Google Shape;139;p6"/>
          <p:cNvSpPr txBox="1"/>
          <p:nvPr/>
        </p:nvSpPr>
        <p:spPr>
          <a:xfrm>
            <a:off x="669306" y="2327956"/>
            <a:ext cx="5114959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 </a:t>
            </a:r>
            <a:endParaRPr lang="es-CL" dirty="0"/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“Método científico y ciencia de datos.pptx”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“Ley de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Benford.ipynb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“Diseño de un experimento.pptx”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“Autoevaluación.xlsx”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buClr>
                <a:schemeClr val="lt1"/>
              </a:buClr>
              <a:buSzPts val="2000"/>
              <a:buFont typeface="Arial"/>
              <a:buChar char="•"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307" y="2109637"/>
            <a:ext cx="2733547" cy="153762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5"/>
          <a:srcRect t="9604" r="28047" b="27425"/>
          <a:stretch/>
        </p:blipFill>
        <p:spPr>
          <a:xfrm>
            <a:off x="6614240" y="3755591"/>
            <a:ext cx="3060367" cy="15065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0519" y="3319064"/>
            <a:ext cx="2871540" cy="16152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3730556" y="1899355"/>
            <a:ext cx="8703965" cy="2715491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697427" y="891293"/>
            <a:ext cx="46261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buFont typeface="Arial"/>
              <a:buNone/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</a:rPr>
              <a:t>3. Desafío Sesión</a:t>
            </a:r>
          </a:p>
        </p:txBody>
      </p:sp>
      <p:sp>
        <p:nvSpPr>
          <p:cNvPr id="153" name="Google Shape;153;p8"/>
          <p:cNvSpPr txBox="1"/>
          <p:nvPr/>
        </p:nvSpPr>
        <p:spPr>
          <a:xfrm>
            <a:off x="4340334" y="2326707"/>
            <a:ext cx="7484407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dirty="0">
              <a:solidFill>
                <a:schemeClr val="lt1"/>
              </a:solidFill>
            </a:endParaRP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Guía Autoestudio: "Caso Mejora Rendimiento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Estudiantes.ipynb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Lectura Complementaria: "Lectura -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Reproducibility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Jupyter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Notebook.ipynb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"</a:t>
            </a: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0564" y="3283816"/>
            <a:ext cx="10515600" cy="1325563"/>
          </a:xfrm>
        </p:spPr>
        <p:txBody>
          <a:bodyPr/>
          <a:lstStyle/>
          <a:p>
            <a:pPr algn="just">
              <a:spcBef>
                <a:spcPct val="0"/>
              </a:spcBef>
              <a:defRPr/>
            </a:pPr>
            <a:r>
              <a:rPr lang="es-ES" sz="32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Cierre de la Sesión</a:t>
            </a:r>
            <a:endParaRPr lang="en-US" sz="32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56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 noGrp="1"/>
          </p:cNvSpPr>
          <p:nvPr>
            <p:ph type="title"/>
          </p:nvPr>
        </p:nvSpPr>
        <p:spPr bwMode="auto">
          <a:xfrm>
            <a:off x="838200" y="15353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Recapitulación y Reflexión: </a:t>
            </a:r>
            <a:b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</a:br>
            <a:b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</a:b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“Lo que hemos aprendido hoy”</a:t>
            </a:r>
          </a:p>
        </p:txBody>
      </p:sp>
    </p:spTree>
    <p:extLst>
      <p:ext uri="{BB962C8B-B14F-4D97-AF65-F5344CB8AC3E}">
        <p14:creationId xmlns:p14="http://schemas.microsoft.com/office/powerpoint/2010/main" val="27144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4138384" y="1954130"/>
            <a:ext cx="8472500" cy="2382886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653183" y="475023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éxito!</a:t>
            </a:r>
            <a:endParaRPr lang="es-CL" dirty="0"/>
          </a:p>
        </p:txBody>
      </p:sp>
      <p:sp>
        <p:nvSpPr>
          <p:cNvPr id="160" name="Google Shape;160;p9"/>
          <p:cNvSpPr txBox="1"/>
          <p:nvPr/>
        </p:nvSpPr>
        <p:spPr>
          <a:xfrm>
            <a:off x="4596567" y="2196555"/>
            <a:ext cx="70412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Practica, practica y practica…</a:t>
            </a:r>
            <a:endParaRPr lang="es-CL" sz="2000" dirty="0">
              <a:solidFill>
                <a:schemeClr val="lt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No te sientas frustrado ni sientas que no sirves para </a:t>
            </a:r>
            <a:r>
              <a:rPr lang="es-CL" sz="2000" dirty="0">
                <a:solidFill>
                  <a:schemeClr val="lt1"/>
                </a:solidFill>
              </a:rPr>
              <a:t>esto</a:t>
            </a:r>
            <a:r>
              <a:rPr lang="es-CL" sz="2000" dirty="0">
                <a:solidFill>
                  <a:schemeClr val="lt1"/>
                </a:solidFill>
                <a:sym typeface="Arial"/>
              </a:rPr>
              <a:t>, la partida siempre cuesta un poco más.</a:t>
            </a: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184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Siéntete parte de la comunidad, comparte.</a:t>
            </a:r>
            <a:endParaRPr lang="es-CL" sz="2000" dirty="0">
              <a:solidFill>
                <a:schemeClr val="lt1"/>
              </a:solidFill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07866" y="1604297"/>
            <a:ext cx="2929631" cy="41306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9" descr="Arnold Schwarzenegger: The Celebrity Apprentice Host - NBC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730" y="1771219"/>
            <a:ext cx="2694618" cy="274870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3" name="Google Shape;163;p9"/>
          <p:cNvSpPr/>
          <p:nvPr/>
        </p:nvSpPr>
        <p:spPr>
          <a:xfrm>
            <a:off x="807866" y="4611829"/>
            <a:ext cx="2929631" cy="1215048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92D050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890685" y="4611829"/>
            <a:ext cx="2748708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CL" sz="1600" b="1" dirty="0">
                <a:solidFill>
                  <a:schemeClr val="lt1"/>
                </a:solidFill>
                <a:sym typeface="Arial"/>
              </a:rPr>
              <a:t>“Tu FUTURO se decide por lo que haces HOY, </a:t>
            </a:r>
            <a:endParaRPr lang="es-CL" sz="1600" dirty="0">
              <a:solidFill>
                <a:schemeClr val="lt1"/>
              </a:solidFill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dirty="0">
                <a:solidFill>
                  <a:schemeClr val="lt1"/>
                </a:solidFill>
                <a:sym typeface="Arial"/>
              </a:rPr>
              <a:t>no MAÑANA”</a:t>
            </a:r>
            <a:endParaRPr lang="es-CL" sz="1600">
              <a:solidFill>
                <a:schemeClr val="lt1"/>
              </a:solidFill>
            </a:endParaRPr>
          </a:p>
          <a:p>
            <a:pPr marL="285750" marR="0" lvl="0" indent="-1841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1600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 descr="Patrón de fon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/>
          <p:nvPr/>
        </p:nvSpPr>
        <p:spPr>
          <a:xfrm>
            <a:off x="-585177" y="3057041"/>
            <a:ext cx="7270376" cy="1045333"/>
          </a:xfrm>
          <a:prstGeom prst="roundRect">
            <a:avLst>
              <a:gd name="adj" fmla="val 9640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2401240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lang="es-CL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de la Sesión</a:t>
            </a:r>
            <a:endParaRPr lang="es-C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264</Words>
  <Application>Microsoft Office PowerPoint</Application>
  <PresentationFormat>Panorámica</PresentationFormat>
  <Paragraphs>61</Paragraphs>
  <Slides>13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la Sesión</vt:lpstr>
      <vt:lpstr>Repaso y Activación de Conceptos:   “Preparándonos para avanzar”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de la Sesión</vt:lpstr>
      <vt:lpstr>Recapitulación y Reflexión:   “Lo que hemos aprendido hoy”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sesión</dc:title>
  <dc:creator>Kibernum</dc:creator>
  <cp:lastModifiedBy>Diseño ITA</cp:lastModifiedBy>
  <cp:revision>73</cp:revision>
  <dcterms:created xsi:type="dcterms:W3CDTF">2023-01-03T12:28:26Z</dcterms:created>
  <dcterms:modified xsi:type="dcterms:W3CDTF">2025-09-26T11:46:23Z</dcterms:modified>
</cp:coreProperties>
</file>