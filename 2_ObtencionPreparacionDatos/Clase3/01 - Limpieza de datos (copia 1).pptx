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gfhVknb+Tt1rDIWfj00hp/89yz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21" Type="http://schemas.openxmlformats.org/officeDocument/2006/relationships/slide" Target="slides/slide17.xml"/><Relationship Id="rId43" Type="http://customschemas.google.com/relationships/presentationmetadata" Target="meta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5" name="Google Shape;11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8" name="Google Shape;12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46" name="Google Shape;1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3" name="Google Shape;16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0" name="Google Shape;190;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5" name="Google Shape;19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04" name="Google Shape;20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21" name="Google Shape;22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30" name="Google Shape;23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42" name="Google Shape;24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4" name="Google Shape;25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67" name="Google Shape;26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1" name="Google Shape;28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1" name="Google Shape;29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0" name="Google Shape;30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9" name="Google Shape;30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6" name="Google Shape;31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5" name="Google Shape;32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5" name="Google Shape;33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8" name="Google Shape;34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1" name="Google Shape;36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72" name="Google Shape;37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81" name="Google Shape;38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0" name="Google Shape;39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7" name="Google Shape;39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04" name="Google Shape;40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13" name="Google Shape;41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23" name="Google Shape;42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34" name="Google Shape;43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55" name="Google Shape;45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64" name="Google Shape;46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75" name="Google Shape;47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82" name="Google Shape;48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88" name="Google Shape;48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3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3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 name="Google Shape;23;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4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9" name="Google Shape;29;p4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5" name="Google Shape;35;p4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4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2" name="Google Shape;42;p4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4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4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1" name="Google Shape;51;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4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0" name="Google Shape;60;p4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4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4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7" name="Google Shape;67;p47"/>
          <p:cNvSpPr/>
          <p:nvPr>
            <p:ph idx="2" type="pic"/>
          </p:nvPr>
        </p:nvSpPr>
        <p:spPr>
          <a:xfrm>
            <a:off x="5183188" y="987425"/>
            <a:ext cx="6172200" cy="4873625"/>
          </a:xfrm>
          <a:prstGeom prst="rect">
            <a:avLst/>
          </a:prstGeom>
          <a:noFill/>
          <a:ln>
            <a:noFill/>
          </a:ln>
        </p:spPr>
      </p:sp>
      <p:sp>
        <p:nvSpPr>
          <p:cNvPr id="68" name="Google Shape;68;p4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4" name="Google Shape;74;p4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4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0" name="Google Shape;80;p4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7.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1" name="Google Shape;11;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1.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7.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7.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7.jp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Un conjunto de letras negras en un fondo blanco&#10;&#10;Descripción generada automáticamente con confianza media" id="88" name="Google Shape;88;p1"/>
          <p:cNvPicPr preferRelativeResize="0"/>
          <p:nvPr/>
        </p:nvPicPr>
        <p:blipFill rotWithShape="1">
          <a:blip r:embed="rId3">
            <a:alphaModFix/>
          </a:blip>
          <a:srcRect b="0" l="0" r="0" t="0"/>
          <a:stretch/>
        </p:blipFill>
        <p:spPr>
          <a:xfrm>
            <a:off x="0" y="0"/>
            <a:ext cx="12192000" cy="7037762"/>
          </a:xfrm>
          <a:prstGeom prst="rect">
            <a:avLst/>
          </a:prstGeom>
          <a:noFill/>
          <a:ln>
            <a:noFill/>
          </a:ln>
        </p:spPr>
      </p:pic>
      <p:sp>
        <p:nvSpPr>
          <p:cNvPr id="89" name="Google Shape;89;p1"/>
          <p:cNvSpPr/>
          <p:nvPr/>
        </p:nvSpPr>
        <p:spPr>
          <a:xfrm>
            <a:off x="4024783" y="4169488"/>
            <a:ext cx="7160735" cy="1655893"/>
          </a:xfrm>
          <a:prstGeom prst="roundRect">
            <a:avLst>
              <a:gd fmla="val 7874" name="adj"/>
            </a:avLst>
          </a:prstGeom>
          <a:solidFill>
            <a:schemeClr val="dk1">
              <a:alpha val="75294"/>
            </a:schemeClr>
          </a:solidFill>
          <a:ln>
            <a:noFill/>
          </a:ln>
        </p:spPr>
        <p:txBody>
          <a:bodyPr anchorCtr="0" anchor="ctr" bIns="45700" lIns="91425" spcFirstLastPara="1" rIns="540000"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chemeClr val="lt1"/>
              </a:solidFill>
              <a:latin typeface="Calibri"/>
              <a:ea typeface="Calibri"/>
              <a:cs typeface="Calibri"/>
              <a:sym typeface="Calibri"/>
            </a:endParaRPr>
          </a:p>
        </p:txBody>
      </p:sp>
      <p:sp>
        <p:nvSpPr>
          <p:cNvPr id="90" name="Google Shape;90;p1"/>
          <p:cNvSpPr txBox="1"/>
          <p:nvPr>
            <p:ph type="ctrTitle"/>
          </p:nvPr>
        </p:nvSpPr>
        <p:spPr>
          <a:xfrm>
            <a:off x="4699056" y="4541884"/>
            <a:ext cx="6160532" cy="9111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SzPts val="1400"/>
              <a:buNone/>
            </a:pPr>
            <a:r>
              <a:rPr b="1" lang="es-ES" sz="5000">
                <a:solidFill>
                  <a:schemeClr val="lt1"/>
                </a:solidFill>
                <a:latin typeface="Arial"/>
                <a:ea typeface="Arial"/>
                <a:cs typeface="Arial"/>
                <a:sym typeface="Arial"/>
              </a:rPr>
              <a:t>Limpieza  de Datos</a:t>
            </a:r>
            <a:endParaRPr b="1" sz="5000">
              <a:solidFill>
                <a:schemeClr val="lt1"/>
              </a:solidFill>
              <a:latin typeface="Arial"/>
              <a:ea typeface="Arial"/>
              <a:cs typeface="Arial"/>
              <a:sym typeface="Arial"/>
            </a:endParaRPr>
          </a:p>
        </p:txBody>
      </p:sp>
      <p:sp>
        <p:nvSpPr>
          <p:cNvPr id="91" name="Google Shape;91;p1"/>
          <p:cNvSpPr txBox="1"/>
          <p:nvPr/>
        </p:nvSpPr>
        <p:spPr>
          <a:xfrm>
            <a:off x="4699056" y="3612425"/>
            <a:ext cx="616554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Arial"/>
              <a:buNone/>
            </a:pPr>
            <a:r>
              <a:rPr b="1" i="0" lang="es-ES" sz="1800" u="none" cap="none" strike="noStrike">
                <a:solidFill>
                  <a:schemeClr val="lt1"/>
                </a:solidFill>
                <a:latin typeface="Arial"/>
                <a:ea typeface="Arial"/>
                <a:cs typeface="Arial"/>
                <a:sym typeface="Arial"/>
              </a:rPr>
              <a:t>Obtención y Preparación de Datos</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500"/>
                                        <p:tgtEl>
                                          <p:spTgt spid="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p:nvPr/>
        </p:nvSpPr>
        <p:spPr>
          <a:xfrm>
            <a:off x="6068292" y="-387943"/>
            <a:ext cx="3745011" cy="5768199"/>
          </a:xfrm>
          <a:prstGeom prst="roundRect">
            <a:avLst>
              <a:gd fmla="val 2778"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 name="Google Shape;97;p2"/>
          <p:cNvSpPr txBox="1"/>
          <p:nvPr/>
        </p:nvSpPr>
        <p:spPr>
          <a:xfrm>
            <a:off x="505438" y="651222"/>
            <a:ext cx="5293474" cy="100806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Limpieza de Datos</a:t>
            </a:r>
            <a:endParaRPr b="0" i="0" sz="3200" u="none" cap="none" strike="noStrike">
              <a:solidFill>
                <a:srgbClr val="7F7F7F"/>
              </a:solidFill>
              <a:latin typeface="Arial"/>
              <a:ea typeface="Arial"/>
              <a:cs typeface="Arial"/>
              <a:sym typeface="Arial"/>
            </a:endParaRPr>
          </a:p>
        </p:txBody>
      </p:sp>
      <p:sp>
        <p:nvSpPr>
          <p:cNvPr id="98" name="Google Shape;98;p2"/>
          <p:cNvSpPr txBox="1"/>
          <p:nvPr/>
        </p:nvSpPr>
        <p:spPr>
          <a:xfrm>
            <a:off x="6434407" y="2600090"/>
            <a:ext cx="3662322" cy="189128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rgbClr val="FFFFFF"/>
              </a:buClr>
              <a:buSzPts val="2000"/>
              <a:buFont typeface="Arial"/>
              <a:buChar char="•"/>
            </a:pPr>
            <a:r>
              <a:rPr b="0" i="0" lang="es-ES" sz="2000" u="none" cap="none" strike="noStrike">
                <a:solidFill>
                  <a:srgbClr val="FFFFFF"/>
                </a:solidFill>
                <a:latin typeface="Calibri"/>
                <a:ea typeface="Calibri"/>
                <a:cs typeface="Calibri"/>
                <a:sym typeface="Calibri"/>
              </a:rPr>
              <a:t>Calidad de datos.</a:t>
            </a:r>
            <a:endParaRPr b="0" i="0" sz="2000" u="none" cap="none" strike="noStrike">
              <a:solidFill>
                <a:schemeClr val="dk1"/>
              </a:solidFill>
              <a:latin typeface="Calibri"/>
              <a:ea typeface="Calibri"/>
              <a:cs typeface="Calibri"/>
              <a:sym typeface="Calibri"/>
            </a:endParaRPr>
          </a:p>
          <a:p>
            <a:pPr indent="-342900" lvl="0" marL="342900" marR="0" rtl="0" algn="just">
              <a:lnSpc>
                <a:spcPct val="150000"/>
              </a:lnSpc>
              <a:spcBef>
                <a:spcPts val="0"/>
              </a:spcBef>
              <a:spcAft>
                <a:spcPts val="0"/>
              </a:spcAft>
              <a:buClr>
                <a:srgbClr val="FFFFFF"/>
              </a:buClr>
              <a:buSzPts val="2000"/>
              <a:buFont typeface="Arial"/>
              <a:buChar char="•"/>
            </a:pPr>
            <a:r>
              <a:rPr b="0" i="0" lang="es-ES" sz="2000" u="none" cap="none" strike="noStrike">
                <a:solidFill>
                  <a:srgbClr val="FFFFFF"/>
                </a:solidFill>
                <a:latin typeface="Calibri"/>
                <a:ea typeface="Calibri"/>
                <a:cs typeface="Calibri"/>
                <a:sym typeface="Calibri"/>
              </a:rPr>
              <a:t>Valores perdidos.</a:t>
            </a:r>
            <a:endParaRPr b="0" i="0" sz="2000" u="none" cap="none" strike="noStrike">
              <a:solidFill>
                <a:schemeClr val="dk1"/>
              </a:solidFill>
              <a:latin typeface="Calibri"/>
              <a:ea typeface="Calibri"/>
              <a:cs typeface="Calibri"/>
              <a:sym typeface="Calibri"/>
            </a:endParaRPr>
          </a:p>
          <a:p>
            <a:pPr indent="-342900" lvl="0" marL="342900" marR="0" rtl="0" algn="just">
              <a:lnSpc>
                <a:spcPct val="150000"/>
              </a:lnSpc>
              <a:spcBef>
                <a:spcPts val="0"/>
              </a:spcBef>
              <a:spcAft>
                <a:spcPts val="0"/>
              </a:spcAft>
              <a:buClr>
                <a:srgbClr val="FFFFFF"/>
              </a:buClr>
              <a:buSzPts val="2000"/>
              <a:buFont typeface="Arial"/>
              <a:buChar char="•"/>
            </a:pPr>
            <a:r>
              <a:rPr b="0" i="0" lang="es-ES" sz="2000" u="none" cap="none" strike="noStrike">
                <a:solidFill>
                  <a:srgbClr val="FFFFFF"/>
                </a:solidFill>
                <a:latin typeface="Calibri"/>
                <a:ea typeface="Calibri"/>
                <a:cs typeface="Calibri"/>
                <a:sym typeface="Calibri"/>
              </a:rPr>
              <a:t>Técnicas de imputación.</a:t>
            </a:r>
            <a:endParaRPr b="0" i="0" sz="2000" u="none" cap="none" strike="noStrike">
              <a:solidFill>
                <a:schemeClr val="dk1"/>
              </a:solidFill>
              <a:latin typeface="Calibri"/>
              <a:ea typeface="Calibri"/>
              <a:cs typeface="Calibri"/>
              <a:sym typeface="Calibri"/>
            </a:endParaRPr>
          </a:p>
          <a:p>
            <a:pPr indent="-342900" lvl="0" marL="342900" marR="0" rtl="0" algn="just">
              <a:lnSpc>
                <a:spcPct val="150000"/>
              </a:lnSpc>
              <a:spcBef>
                <a:spcPts val="0"/>
              </a:spcBef>
              <a:spcAft>
                <a:spcPts val="0"/>
              </a:spcAft>
              <a:buClr>
                <a:srgbClr val="FFFFFF"/>
              </a:buClr>
              <a:buSzPts val="2000"/>
              <a:buFont typeface="Arial"/>
              <a:buChar char="•"/>
            </a:pPr>
            <a:r>
              <a:rPr b="0" i="0" lang="es-ES" sz="2000" u="none" cap="none" strike="noStrike">
                <a:solidFill>
                  <a:srgbClr val="FFFFFF"/>
                </a:solidFill>
                <a:latin typeface="Calibri"/>
                <a:ea typeface="Calibri"/>
                <a:cs typeface="Calibri"/>
                <a:sym typeface="Calibri"/>
              </a:rPr>
              <a:t>Valores atípicos.</a:t>
            </a:r>
            <a:endParaRPr b="0" i="0" sz="2000" u="none" cap="none" strike="noStrike">
              <a:solidFill>
                <a:schemeClr val="dk1"/>
              </a:solidFill>
              <a:latin typeface="Calibri"/>
              <a:ea typeface="Calibri"/>
              <a:cs typeface="Calibri"/>
              <a:sym typeface="Calibri"/>
            </a:endParaRPr>
          </a:p>
        </p:txBody>
      </p:sp>
      <p:grpSp>
        <p:nvGrpSpPr>
          <p:cNvPr id="99" name="Google Shape;99;p2"/>
          <p:cNvGrpSpPr/>
          <p:nvPr/>
        </p:nvGrpSpPr>
        <p:grpSpPr>
          <a:xfrm>
            <a:off x="1120545" y="1659284"/>
            <a:ext cx="3524500" cy="3720972"/>
            <a:chOff x="884486" y="0"/>
            <a:chExt cx="3524500" cy="3720972"/>
          </a:xfrm>
        </p:grpSpPr>
        <p:sp>
          <p:nvSpPr>
            <p:cNvPr id="100" name="Google Shape;100;p2"/>
            <p:cNvSpPr/>
            <p:nvPr/>
          </p:nvSpPr>
          <p:spPr>
            <a:xfrm>
              <a:off x="884486" y="0"/>
              <a:ext cx="3524500" cy="3524500"/>
            </a:xfrm>
            <a:prstGeom prst="ellipse">
              <a:avLst/>
            </a:prstGeom>
            <a:blipFill rotWithShape="1">
              <a:blip r:embed="rId3">
                <a:alphaModFix/>
              </a:blip>
              <a:stretch>
                <a:fillRect b="0" l="-24995" r="-24994"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
            <p:cNvSpPr/>
            <p:nvPr/>
          </p:nvSpPr>
          <p:spPr>
            <a:xfrm flipH="1">
              <a:off x="3413435" y="3516041"/>
              <a:ext cx="97637" cy="20493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
            <p:cNvSpPr txBox="1"/>
            <p:nvPr/>
          </p:nvSpPr>
          <p:spPr>
            <a:xfrm>
              <a:off x="3413435" y="3516041"/>
              <a:ext cx="97637" cy="204931"/>
            </a:xfrm>
            <a:prstGeom prst="rect">
              <a:avLst/>
            </a:prstGeom>
            <a:noFill/>
            <a:ln>
              <a:noFill/>
            </a:ln>
          </p:spPr>
          <p:txBody>
            <a:bodyPr anchorCtr="0" anchor="b" bIns="0" lIns="0" spcFirstLastPara="1" rIns="0" wrap="square" tIns="0">
              <a:noAutofit/>
            </a:bodyPr>
            <a:lstStyle/>
            <a:p>
              <a:pPr indent="0" lvl="0" marL="0" marR="0" rtl="0" algn="ctr">
                <a:lnSpc>
                  <a:spcPct val="90000"/>
                </a:lnSpc>
                <a:spcBef>
                  <a:spcPts val="0"/>
                </a:spcBef>
                <a:spcAft>
                  <a:spcPts val="0"/>
                </a:spcAft>
                <a:buClr>
                  <a:srgbClr val="000000"/>
                </a:buClr>
                <a:buSzPts val="500"/>
                <a:buFont typeface="Arial"/>
                <a:buNone/>
              </a:pPr>
              <a:r>
                <a:t/>
              </a:r>
              <a:endParaRPr b="0" i="0" sz="500" u="none" cap="none" strike="noStrike">
                <a:solidFill>
                  <a:schemeClr val="lt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500"/>
                                        <p:tgtEl>
                                          <p:spTgt spid="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nvSpPr>
        <p:spPr>
          <a:xfrm>
            <a:off x="1155863" y="709002"/>
            <a:ext cx="9645161"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Calidad de Datos</a:t>
            </a:r>
            <a:endParaRPr b="0" i="0" sz="1400" u="none" cap="none" strike="noStrike">
              <a:solidFill>
                <a:srgbClr val="000000"/>
              </a:solidFill>
              <a:latin typeface="Arial"/>
              <a:ea typeface="Arial"/>
              <a:cs typeface="Arial"/>
              <a:sym typeface="Arial"/>
            </a:endParaRPr>
          </a:p>
        </p:txBody>
      </p:sp>
      <p:sp>
        <p:nvSpPr>
          <p:cNvPr id="108" name="Google Shape;108;p3"/>
          <p:cNvSpPr/>
          <p:nvPr/>
        </p:nvSpPr>
        <p:spPr>
          <a:xfrm>
            <a:off x="1155863" y="2074986"/>
            <a:ext cx="9645161" cy="3270005"/>
          </a:xfrm>
          <a:prstGeom prst="roundRect">
            <a:avLst>
              <a:gd fmla="val 4466" name="adj"/>
            </a:avLst>
          </a:prstGeom>
          <a:solidFill>
            <a:schemeClr val="lt1"/>
          </a:solidFill>
          <a:ln cap="flat" cmpd="sng" w="3810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Peter Aiken / Anything Awesome Home Page" id="109" name="Google Shape;109;p3"/>
          <p:cNvPicPr preferRelativeResize="0"/>
          <p:nvPr/>
        </p:nvPicPr>
        <p:blipFill rotWithShape="1">
          <a:blip r:embed="rId3">
            <a:alphaModFix/>
          </a:blip>
          <a:srcRect b="0" l="0" r="0" t="0"/>
          <a:stretch/>
        </p:blipFill>
        <p:spPr>
          <a:xfrm>
            <a:off x="1439068" y="2367203"/>
            <a:ext cx="9078750" cy="2440114"/>
          </a:xfrm>
          <a:prstGeom prst="rect">
            <a:avLst/>
          </a:prstGeom>
          <a:noFill/>
          <a:ln>
            <a:noFill/>
          </a:ln>
        </p:spPr>
      </p:pic>
      <p:sp>
        <p:nvSpPr>
          <p:cNvPr id="110" name="Google Shape;110;p3"/>
          <p:cNvSpPr txBox="1"/>
          <p:nvPr/>
        </p:nvSpPr>
        <p:spPr>
          <a:xfrm>
            <a:off x="2085975" y="4887685"/>
            <a:ext cx="12192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Datos Malos</a:t>
            </a:r>
            <a:endParaRPr/>
          </a:p>
        </p:txBody>
      </p:sp>
      <p:sp>
        <p:nvSpPr>
          <p:cNvPr id="111" name="Google Shape;111;p3"/>
          <p:cNvSpPr txBox="1"/>
          <p:nvPr/>
        </p:nvSpPr>
        <p:spPr>
          <a:xfrm>
            <a:off x="8486775" y="4887684"/>
            <a:ext cx="1647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Malos Resultados</a:t>
            </a:r>
            <a:endParaRPr/>
          </a:p>
        </p:txBody>
      </p:sp>
      <p:sp>
        <p:nvSpPr>
          <p:cNvPr id="112" name="Google Shape;112;p3"/>
          <p:cNvSpPr txBox="1"/>
          <p:nvPr/>
        </p:nvSpPr>
        <p:spPr>
          <a:xfrm>
            <a:off x="5153025" y="4887684"/>
            <a:ext cx="16478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Cosa Asombrosa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500"/>
                                        <p:tgtEl>
                                          <p:spTgt spid="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p:nvPr/>
        </p:nvSpPr>
        <p:spPr>
          <a:xfrm>
            <a:off x="912472" y="1549376"/>
            <a:ext cx="10479593" cy="4285621"/>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What to do with Bad Data? Make it BIG | What&amp;#39;s The Big Data?" id="118" name="Google Shape;118;p4"/>
          <p:cNvPicPr preferRelativeResize="0"/>
          <p:nvPr/>
        </p:nvPicPr>
        <p:blipFill rotWithShape="1">
          <a:blip r:embed="rId3">
            <a:alphaModFix/>
          </a:blip>
          <a:srcRect b="0" l="0" r="0" t="0"/>
          <a:stretch/>
        </p:blipFill>
        <p:spPr>
          <a:xfrm>
            <a:off x="2394769" y="1929513"/>
            <a:ext cx="7504113" cy="2284375"/>
          </a:xfrm>
          <a:prstGeom prst="rect">
            <a:avLst/>
          </a:prstGeom>
          <a:noFill/>
          <a:ln>
            <a:noFill/>
          </a:ln>
        </p:spPr>
      </p:pic>
      <p:sp>
        <p:nvSpPr>
          <p:cNvPr id="119" name="Google Shape;119;p4"/>
          <p:cNvSpPr txBox="1"/>
          <p:nvPr/>
        </p:nvSpPr>
        <p:spPr>
          <a:xfrm>
            <a:off x="770959" y="458631"/>
            <a:ext cx="8335108"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Calidad de Datos</a:t>
            </a:r>
            <a:endParaRPr b="0" i="0" sz="1400" u="none" cap="none" strike="noStrike">
              <a:solidFill>
                <a:srgbClr val="000000"/>
              </a:solidFill>
              <a:latin typeface="Arial"/>
              <a:ea typeface="Arial"/>
              <a:cs typeface="Arial"/>
              <a:sym typeface="Arial"/>
            </a:endParaRPr>
          </a:p>
        </p:txBody>
      </p:sp>
      <p:sp>
        <p:nvSpPr>
          <p:cNvPr id="120" name="Google Shape;120;p4"/>
          <p:cNvSpPr txBox="1"/>
          <p:nvPr/>
        </p:nvSpPr>
        <p:spPr>
          <a:xfrm>
            <a:off x="2390775" y="4354286"/>
            <a:ext cx="1219200"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Usa la base de datos CRS para dimensionar el mercado</a:t>
            </a:r>
            <a:endParaRPr/>
          </a:p>
        </p:txBody>
      </p:sp>
      <p:sp>
        <p:nvSpPr>
          <p:cNvPr id="121" name="Google Shape;121;p4"/>
          <p:cNvSpPr txBox="1"/>
          <p:nvPr/>
        </p:nvSpPr>
        <p:spPr>
          <a:xfrm>
            <a:off x="3609975" y="4354286"/>
            <a:ext cx="1219200" cy="73866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Esa data está incorrecta</a:t>
            </a:r>
            <a:endParaRPr b="0" i="0" sz="1400" u="none" cap="none" strike="noStrike">
              <a:solidFill>
                <a:srgbClr val="000000"/>
              </a:solidFill>
              <a:latin typeface="Arial"/>
              <a:ea typeface="Arial"/>
              <a:cs typeface="Arial"/>
              <a:sym typeface="Arial"/>
            </a:endParaRPr>
          </a:p>
        </p:txBody>
      </p:sp>
      <p:sp>
        <p:nvSpPr>
          <p:cNvPr id="122" name="Google Shape;122;p4"/>
          <p:cNvSpPr txBox="1"/>
          <p:nvPr/>
        </p:nvSpPr>
        <p:spPr>
          <a:xfrm>
            <a:off x="4938032" y="4354286"/>
            <a:ext cx="121920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Entonces usa la base de datos SIBSS</a:t>
            </a:r>
            <a:endParaRPr/>
          </a:p>
        </p:txBody>
      </p:sp>
      <p:sp>
        <p:nvSpPr>
          <p:cNvPr id="123" name="Google Shape;123;p4"/>
          <p:cNvSpPr txBox="1"/>
          <p:nvPr/>
        </p:nvSpPr>
        <p:spPr>
          <a:xfrm>
            <a:off x="6157232" y="4354286"/>
            <a:ext cx="1219200" cy="73866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Esa data también está incorrecta</a:t>
            </a:r>
            <a:endParaRPr/>
          </a:p>
        </p:txBody>
      </p:sp>
      <p:sp>
        <p:nvSpPr>
          <p:cNvPr id="124" name="Google Shape;124;p4"/>
          <p:cNvSpPr txBox="1"/>
          <p:nvPr/>
        </p:nvSpPr>
        <p:spPr>
          <a:xfrm>
            <a:off x="7583260" y="4354286"/>
            <a:ext cx="12192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¿Las puedes promediar?</a:t>
            </a:r>
            <a:endParaRPr/>
          </a:p>
        </p:txBody>
      </p:sp>
      <p:sp>
        <p:nvSpPr>
          <p:cNvPr id="125" name="Google Shape;125;p4"/>
          <p:cNvSpPr txBox="1"/>
          <p:nvPr/>
        </p:nvSpPr>
        <p:spPr>
          <a:xfrm>
            <a:off x="8671831" y="4354286"/>
            <a:ext cx="1219200" cy="95410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Seguro. También las puedo multiplicar.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p:nvPr/>
        </p:nvSpPr>
        <p:spPr>
          <a:xfrm>
            <a:off x="783351" y="1182773"/>
            <a:ext cx="10583009" cy="4932485"/>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Breaking Bad Data" id="131" name="Google Shape;131;p5"/>
          <p:cNvPicPr preferRelativeResize="0"/>
          <p:nvPr/>
        </p:nvPicPr>
        <p:blipFill rotWithShape="1">
          <a:blip r:embed="rId3">
            <a:alphaModFix/>
          </a:blip>
          <a:srcRect b="0" l="0" r="0" t="0"/>
          <a:stretch/>
        </p:blipFill>
        <p:spPr>
          <a:xfrm>
            <a:off x="1132908" y="1454479"/>
            <a:ext cx="5235693" cy="4389071"/>
          </a:xfrm>
          <a:prstGeom prst="rect">
            <a:avLst/>
          </a:prstGeom>
          <a:noFill/>
          <a:ln>
            <a:noFill/>
          </a:ln>
        </p:spPr>
      </p:pic>
      <p:sp>
        <p:nvSpPr>
          <p:cNvPr id="132" name="Google Shape;132;p5"/>
          <p:cNvSpPr txBox="1"/>
          <p:nvPr/>
        </p:nvSpPr>
        <p:spPr>
          <a:xfrm>
            <a:off x="787926" y="430327"/>
            <a:ext cx="3422925" cy="627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Calidad de Datos</a:t>
            </a:r>
            <a:endParaRPr b="0" i="0" sz="1400" u="none" cap="none" strike="noStrike">
              <a:solidFill>
                <a:srgbClr val="000000"/>
              </a:solidFill>
              <a:latin typeface="Arial"/>
              <a:ea typeface="Arial"/>
              <a:cs typeface="Arial"/>
              <a:sym typeface="Arial"/>
            </a:endParaRPr>
          </a:p>
        </p:txBody>
      </p:sp>
      <p:sp>
        <p:nvSpPr>
          <p:cNvPr id="133" name="Google Shape;133;p5"/>
          <p:cNvSpPr txBox="1"/>
          <p:nvPr/>
        </p:nvSpPr>
        <p:spPr>
          <a:xfrm>
            <a:off x="6951890" y="1589313"/>
            <a:ext cx="3831771" cy="224676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2000"/>
              <a:buFont typeface="Arial"/>
              <a:buChar char="•"/>
            </a:pPr>
            <a:r>
              <a:rPr b="0" i="0" lang="es-ES" sz="2000" u="none" cap="none" strike="noStrike">
                <a:solidFill>
                  <a:srgbClr val="000000"/>
                </a:solidFill>
                <a:latin typeface="Calibri"/>
                <a:ea typeface="Calibri"/>
                <a:cs typeface="Calibri"/>
                <a:sym typeface="Calibri"/>
              </a:rPr>
              <a:t>23% De la data de clientes se cree que es inexacta</a:t>
            </a:r>
            <a:endParaRPr/>
          </a:p>
          <a:p>
            <a:pPr indent="-158750" lvl="0" marL="28575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a:p>
            <a:pPr indent="-285750" lvl="0" marL="285750" marR="0" rtl="0" algn="l">
              <a:lnSpc>
                <a:spcPct val="100000"/>
              </a:lnSpc>
              <a:spcBef>
                <a:spcPts val="0"/>
              </a:spcBef>
              <a:spcAft>
                <a:spcPts val="0"/>
              </a:spcAft>
              <a:buClr>
                <a:srgbClr val="000000"/>
              </a:buClr>
              <a:buSzPts val="2000"/>
              <a:buFont typeface="Arial"/>
              <a:buChar char="•"/>
            </a:pPr>
            <a:r>
              <a:rPr b="0" i="0" lang="es-ES" sz="2000" u="none" cap="none" strike="noStrike">
                <a:solidFill>
                  <a:srgbClr val="000000"/>
                </a:solidFill>
                <a:latin typeface="Calibri"/>
                <a:ea typeface="Calibri"/>
                <a:cs typeface="Calibri"/>
                <a:sym typeface="Calibri"/>
              </a:rPr>
              <a:t>92% de las organizaciones han experimentado problemas como resultado de data inexacta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p:nvPr/>
        </p:nvSpPr>
        <p:spPr>
          <a:xfrm>
            <a:off x="896814" y="1710836"/>
            <a:ext cx="10243039" cy="3930455"/>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 name="Google Shape;139;p6"/>
          <p:cNvSpPr txBox="1"/>
          <p:nvPr/>
        </p:nvSpPr>
        <p:spPr>
          <a:xfrm>
            <a:off x="1485355" y="3643948"/>
            <a:ext cx="9178835"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000"/>
              <a:buFont typeface="Arial"/>
              <a:buNone/>
            </a:pPr>
            <a:r>
              <a:rPr b="0" i="0" lang="es-ES" sz="2000" u="none" cap="none" strike="noStrike">
                <a:solidFill>
                  <a:srgbClr val="7F7F7F"/>
                </a:solidFill>
                <a:latin typeface="Calibri"/>
                <a:ea typeface="Calibri"/>
                <a:cs typeface="Calibri"/>
                <a:sym typeface="Calibri"/>
              </a:rPr>
              <a:t>Cuando los datos son incorrectos, pueden inducir a conclusiones falsas y a tomar decisiones incorrectas</a:t>
            </a:r>
            <a:r>
              <a:rPr b="0" i="0" lang="es-ES" sz="2000" u="none" cap="none" strike="noStrike">
                <a:solidFill>
                  <a:srgbClr val="7F7F7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40" name="Google Shape;140;p6"/>
          <p:cNvSpPr/>
          <p:nvPr/>
        </p:nvSpPr>
        <p:spPr>
          <a:xfrm>
            <a:off x="1336445" y="2492015"/>
            <a:ext cx="9476057" cy="11079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1" i="0" lang="es-ES" sz="6600" u="none" cap="none" strike="noStrike">
                <a:solidFill>
                  <a:srgbClr val="D5DBE5"/>
                </a:solidFill>
                <a:latin typeface="Calibri"/>
                <a:ea typeface="Calibri"/>
                <a:cs typeface="Calibri"/>
                <a:sym typeface="Calibri"/>
              </a:rPr>
              <a:t>Bad Data = Bad DECISIONS</a:t>
            </a:r>
            <a:endParaRPr b="0" i="0" sz="1400" u="none" cap="none" strike="noStrike">
              <a:solidFill>
                <a:srgbClr val="000000"/>
              </a:solidFill>
              <a:latin typeface="Arial"/>
              <a:ea typeface="Arial"/>
              <a:cs typeface="Arial"/>
              <a:sym typeface="Arial"/>
            </a:endParaRPr>
          </a:p>
        </p:txBody>
      </p:sp>
      <p:sp>
        <p:nvSpPr>
          <p:cNvPr id="141" name="Google Shape;141;p6"/>
          <p:cNvSpPr txBox="1"/>
          <p:nvPr/>
        </p:nvSpPr>
        <p:spPr>
          <a:xfrm>
            <a:off x="894806" y="728052"/>
            <a:ext cx="9191354" cy="68421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Calidad de Datos</a:t>
            </a:r>
            <a:endParaRPr b="0" i="0" sz="1400" u="none" cap="none" strike="noStrike">
              <a:solidFill>
                <a:srgbClr val="000000"/>
              </a:solidFill>
              <a:latin typeface="Arial"/>
              <a:ea typeface="Arial"/>
              <a:cs typeface="Arial"/>
              <a:sym typeface="Arial"/>
            </a:endParaRPr>
          </a:p>
        </p:txBody>
      </p:sp>
      <p:sp>
        <p:nvSpPr>
          <p:cNvPr id="142" name="Google Shape;142;p6"/>
          <p:cNvSpPr txBox="1"/>
          <p:nvPr/>
        </p:nvSpPr>
        <p:spPr>
          <a:xfrm>
            <a:off x="1411060" y="2336346"/>
            <a:ext cx="27432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Mala Data</a:t>
            </a:r>
            <a:endParaRPr/>
          </a:p>
        </p:txBody>
      </p:sp>
      <p:sp>
        <p:nvSpPr>
          <p:cNvPr id="143" name="Google Shape;143;p6"/>
          <p:cNvSpPr txBox="1"/>
          <p:nvPr/>
        </p:nvSpPr>
        <p:spPr>
          <a:xfrm>
            <a:off x="5402035" y="2336346"/>
            <a:ext cx="27432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Malas Decisiones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500"/>
                                        <p:tgtEl>
                                          <p:spTgt spid="139"/>
                                        </p:tgtEl>
                                      </p:cBhvr>
                                    </p:animEffect>
                                  </p:childTnLst>
                                </p:cTn>
                              </p:par>
                              <p:par>
                                <p:cTn fill="hold" nodeType="with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500"/>
                                        <p:tgtEl>
                                          <p:spTgt spid="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7"/>
          <p:cNvSpPr txBox="1"/>
          <p:nvPr/>
        </p:nvSpPr>
        <p:spPr>
          <a:xfrm>
            <a:off x="1541346" y="55609"/>
            <a:ext cx="9365465"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La Regla del 1-10-100</a:t>
            </a:r>
            <a:endParaRPr b="0" i="0" sz="1400" u="none" cap="none" strike="noStrike">
              <a:solidFill>
                <a:srgbClr val="000000"/>
              </a:solidFill>
              <a:latin typeface="Arial"/>
              <a:ea typeface="Arial"/>
              <a:cs typeface="Arial"/>
              <a:sym typeface="Arial"/>
            </a:endParaRPr>
          </a:p>
        </p:txBody>
      </p:sp>
      <p:sp>
        <p:nvSpPr>
          <p:cNvPr id="149" name="Google Shape;149;p7"/>
          <p:cNvSpPr/>
          <p:nvPr/>
        </p:nvSpPr>
        <p:spPr>
          <a:xfrm>
            <a:off x="1200293" y="1186164"/>
            <a:ext cx="9657697" cy="4748677"/>
          </a:xfrm>
          <a:prstGeom prst="roundRect">
            <a:avLst>
              <a:gd fmla="val 2971" name="adj"/>
            </a:avLst>
          </a:prstGeom>
          <a:solidFill>
            <a:schemeClr val="lt1"/>
          </a:solidFill>
          <a:ln cap="flat" cmpd="sng" w="3810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0" name="Google Shape;150;p7"/>
          <p:cNvSpPr/>
          <p:nvPr/>
        </p:nvSpPr>
        <p:spPr>
          <a:xfrm>
            <a:off x="1465932" y="5277480"/>
            <a:ext cx="9126420" cy="58473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s-ES" sz="1600" u="none" cap="none" strike="noStrike">
                <a:solidFill>
                  <a:srgbClr val="7F7F7F"/>
                </a:solidFill>
                <a:latin typeface="Calibri"/>
                <a:ea typeface="Calibri"/>
                <a:cs typeface="Calibri"/>
                <a:sym typeface="Calibri"/>
              </a:rPr>
              <a:t>La regla del 1-10-100 es un concepto de gestión de la calidad desarrollado por G. Loabovitz y por Y. Chang que es usado para cuantificar los costos ocultos de la baja calidad.</a:t>
            </a:r>
            <a:endParaRPr b="0" i="0" sz="1400" u="none" cap="none" strike="noStrike">
              <a:solidFill>
                <a:srgbClr val="000000"/>
              </a:solidFill>
              <a:latin typeface="Arial"/>
              <a:ea typeface="Arial"/>
              <a:cs typeface="Arial"/>
              <a:sym typeface="Arial"/>
            </a:endParaRPr>
          </a:p>
        </p:txBody>
      </p:sp>
      <p:grpSp>
        <p:nvGrpSpPr>
          <p:cNvPr id="151" name="Google Shape;151;p7"/>
          <p:cNvGrpSpPr/>
          <p:nvPr/>
        </p:nvGrpSpPr>
        <p:grpSpPr>
          <a:xfrm>
            <a:off x="1857700" y="1417789"/>
            <a:ext cx="5662634" cy="3546880"/>
            <a:chOff x="0" y="0"/>
            <a:chExt cx="5662634" cy="3546880"/>
          </a:xfrm>
        </p:grpSpPr>
        <p:sp>
          <p:nvSpPr>
            <p:cNvPr id="152" name="Google Shape;152;p7"/>
            <p:cNvSpPr/>
            <p:nvPr/>
          </p:nvSpPr>
          <p:spPr>
            <a:xfrm>
              <a:off x="1887545" y="0"/>
              <a:ext cx="1887544" cy="1182293"/>
            </a:xfrm>
            <a:prstGeom prst="trapezoid">
              <a:avLst>
                <a:gd fmla="val 79826" name="adj"/>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7"/>
            <p:cNvSpPr txBox="1"/>
            <p:nvPr/>
          </p:nvSpPr>
          <p:spPr>
            <a:xfrm>
              <a:off x="1887545" y="0"/>
              <a:ext cx="1887544" cy="1182293"/>
            </a:xfrm>
            <a:prstGeom prst="rect">
              <a:avLst/>
            </a:prstGeom>
            <a:noFill/>
            <a:ln>
              <a:noFill/>
            </a:ln>
          </p:spPr>
          <p:txBody>
            <a:bodyPr anchorCtr="0" anchor="ctr" bIns="55875" lIns="55875" spcFirstLastPara="1" rIns="55875" wrap="square" tIns="55875">
              <a:noAutofit/>
            </a:bodyPr>
            <a:lstStyle/>
            <a:p>
              <a:pPr indent="0" lvl="0" marL="0" marR="0" rtl="0" algn="ctr">
                <a:lnSpc>
                  <a:spcPct val="90000"/>
                </a:lnSpc>
                <a:spcBef>
                  <a:spcPts val="0"/>
                </a:spcBef>
                <a:spcAft>
                  <a:spcPts val="0"/>
                </a:spcAft>
                <a:buClr>
                  <a:srgbClr val="000000"/>
                </a:buClr>
                <a:buSzPts val="4400"/>
                <a:buFont typeface="Arial"/>
                <a:buNone/>
              </a:pPr>
              <a:r>
                <a:rPr b="0" i="0" lang="es-ES" sz="4400" u="none" cap="none" strike="noStrike">
                  <a:solidFill>
                    <a:schemeClr val="lt1"/>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154" name="Google Shape;154;p7"/>
            <p:cNvSpPr/>
            <p:nvPr/>
          </p:nvSpPr>
          <p:spPr>
            <a:xfrm>
              <a:off x="943772" y="1182293"/>
              <a:ext cx="3775089" cy="1182293"/>
            </a:xfrm>
            <a:prstGeom prst="trapezoid">
              <a:avLst>
                <a:gd fmla="val 79826" name="adj"/>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7"/>
            <p:cNvSpPr txBox="1"/>
            <p:nvPr/>
          </p:nvSpPr>
          <p:spPr>
            <a:xfrm>
              <a:off x="1604413" y="1182293"/>
              <a:ext cx="2453808" cy="1182293"/>
            </a:xfrm>
            <a:prstGeom prst="rect">
              <a:avLst/>
            </a:prstGeom>
            <a:noFill/>
            <a:ln>
              <a:noFill/>
            </a:ln>
          </p:spPr>
          <p:txBody>
            <a:bodyPr anchorCtr="0" anchor="ctr" bIns="55875" lIns="55875" spcFirstLastPara="1" rIns="55875" wrap="square" tIns="55875">
              <a:noAutofit/>
            </a:bodyPr>
            <a:lstStyle/>
            <a:p>
              <a:pPr indent="0" lvl="0" marL="0" marR="0" rtl="0" algn="ctr">
                <a:lnSpc>
                  <a:spcPct val="90000"/>
                </a:lnSpc>
                <a:spcBef>
                  <a:spcPts val="0"/>
                </a:spcBef>
                <a:spcAft>
                  <a:spcPts val="0"/>
                </a:spcAft>
                <a:buClr>
                  <a:srgbClr val="000000"/>
                </a:buClr>
                <a:buSzPts val="4400"/>
                <a:buFont typeface="Arial"/>
                <a:buNone/>
              </a:pPr>
              <a:r>
                <a:rPr b="0" i="0" lang="es-ES" sz="4400" u="none" cap="none" strike="noStrike">
                  <a:solidFill>
                    <a:schemeClr val="lt1"/>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p:txBody>
        </p:sp>
        <p:sp>
          <p:nvSpPr>
            <p:cNvPr id="156" name="Google Shape;156;p7"/>
            <p:cNvSpPr/>
            <p:nvPr/>
          </p:nvSpPr>
          <p:spPr>
            <a:xfrm>
              <a:off x="0" y="2364587"/>
              <a:ext cx="5662634" cy="1182293"/>
            </a:xfrm>
            <a:prstGeom prst="trapezoid">
              <a:avLst>
                <a:gd fmla="val 79826" name="adj"/>
              </a:avLst>
            </a:prstGeom>
            <a:solidFill>
              <a:schemeClr val="accent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7"/>
            <p:cNvSpPr txBox="1"/>
            <p:nvPr/>
          </p:nvSpPr>
          <p:spPr>
            <a:xfrm>
              <a:off x="990961" y="2364587"/>
              <a:ext cx="3680712" cy="1182293"/>
            </a:xfrm>
            <a:prstGeom prst="rect">
              <a:avLst/>
            </a:prstGeom>
            <a:noFill/>
            <a:ln>
              <a:noFill/>
            </a:ln>
          </p:spPr>
          <p:txBody>
            <a:bodyPr anchorCtr="0" anchor="ctr" bIns="55875" lIns="55875" spcFirstLastPara="1" rIns="55875" wrap="square" tIns="55875">
              <a:noAutofit/>
            </a:bodyPr>
            <a:lstStyle/>
            <a:p>
              <a:pPr indent="0" lvl="0" marL="0" marR="0" rtl="0" algn="ctr">
                <a:lnSpc>
                  <a:spcPct val="90000"/>
                </a:lnSpc>
                <a:spcBef>
                  <a:spcPts val="0"/>
                </a:spcBef>
                <a:spcAft>
                  <a:spcPts val="0"/>
                </a:spcAft>
                <a:buClr>
                  <a:srgbClr val="000000"/>
                </a:buClr>
                <a:buSzPts val="4400"/>
                <a:buFont typeface="Arial"/>
                <a:buNone/>
              </a:pPr>
              <a:r>
                <a:rPr b="0" i="0" lang="es-ES" sz="4400" u="none" cap="none" strike="noStrike">
                  <a:solidFill>
                    <a:schemeClr val="lt1"/>
                  </a:solidFill>
                  <a:latin typeface="Calibri"/>
                  <a:ea typeface="Calibri"/>
                  <a:cs typeface="Calibri"/>
                  <a:sym typeface="Calibri"/>
                </a:rPr>
                <a:t>$100</a:t>
              </a:r>
              <a:endParaRPr b="0" i="0" sz="1400" u="none" cap="none" strike="noStrike">
                <a:solidFill>
                  <a:srgbClr val="000000"/>
                </a:solidFill>
                <a:latin typeface="Arial"/>
                <a:ea typeface="Arial"/>
                <a:cs typeface="Arial"/>
                <a:sym typeface="Arial"/>
              </a:endParaRPr>
            </a:p>
          </p:txBody>
        </p:sp>
      </p:grpSp>
      <p:sp>
        <p:nvSpPr>
          <p:cNvPr id="158" name="Google Shape;158;p7"/>
          <p:cNvSpPr txBox="1"/>
          <p:nvPr/>
        </p:nvSpPr>
        <p:spPr>
          <a:xfrm>
            <a:off x="6831118" y="1537212"/>
            <a:ext cx="2431348"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7F7F7F"/>
                </a:solidFill>
                <a:latin typeface="Calibri"/>
                <a:ea typeface="Calibri"/>
                <a:cs typeface="Calibri"/>
                <a:sym typeface="Calibri"/>
              </a:rPr>
              <a:t>Costo de Prevención</a:t>
            </a:r>
            <a:endParaRPr b="0" i="0" sz="1400" u="none" cap="none" strike="noStrike">
              <a:solidFill>
                <a:srgbClr val="000000"/>
              </a:solidFill>
              <a:latin typeface="Arial"/>
              <a:ea typeface="Arial"/>
              <a:cs typeface="Arial"/>
              <a:sym typeface="Arial"/>
            </a:endParaRPr>
          </a:p>
        </p:txBody>
      </p:sp>
      <p:sp>
        <p:nvSpPr>
          <p:cNvPr id="159" name="Google Shape;159;p7"/>
          <p:cNvSpPr txBox="1"/>
          <p:nvPr/>
        </p:nvSpPr>
        <p:spPr>
          <a:xfrm>
            <a:off x="7593803" y="2713286"/>
            <a:ext cx="2389705"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7F7F7F"/>
                </a:solidFill>
                <a:latin typeface="Calibri"/>
                <a:ea typeface="Calibri"/>
                <a:cs typeface="Calibri"/>
                <a:sym typeface="Calibri"/>
              </a:rPr>
              <a:t>Costo de Corrección</a:t>
            </a:r>
            <a:endParaRPr b="0" i="0" sz="1400" u="none" cap="none" strike="noStrike">
              <a:solidFill>
                <a:srgbClr val="000000"/>
              </a:solidFill>
              <a:latin typeface="Arial"/>
              <a:ea typeface="Arial"/>
              <a:cs typeface="Arial"/>
              <a:sym typeface="Arial"/>
            </a:endParaRPr>
          </a:p>
        </p:txBody>
      </p:sp>
      <p:sp>
        <p:nvSpPr>
          <p:cNvPr id="160" name="Google Shape;160;p7"/>
          <p:cNvSpPr txBox="1"/>
          <p:nvPr/>
        </p:nvSpPr>
        <p:spPr>
          <a:xfrm>
            <a:off x="8283544" y="3998368"/>
            <a:ext cx="169996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7F7F7F"/>
                </a:solidFill>
                <a:latin typeface="Calibri"/>
                <a:ea typeface="Calibri"/>
                <a:cs typeface="Calibri"/>
                <a:sym typeface="Calibri"/>
              </a:rPr>
              <a:t>Costo de Falla</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8"/>
          <p:cNvSpPr/>
          <p:nvPr/>
        </p:nvSpPr>
        <p:spPr>
          <a:xfrm>
            <a:off x="183823" y="298565"/>
            <a:ext cx="7678500" cy="6315900"/>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 name="Google Shape;166;p8"/>
          <p:cNvSpPr txBox="1"/>
          <p:nvPr/>
        </p:nvSpPr>
        <p:spPr>
          <a:xfrm>
            <a:off x="7856377" y="1443344"/>
            <a:ext cx="3798637" cy="100806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Calidad de Datos</a:t>
            </a:r>
            <a:endParaRPr b="0" i="0" sz="1400" u="none" cap="none" strike="noStrike">
              <a:solidFill>
                <a:srgbClr val="000000"/>
              </a:solidFill>
              <a:latin typeface="Arial"/>
              <a:ea typeface="Arial"/>
              <a:cs typeface="Arial"/>
              <a:sym typeface="Arial"/>
            </a:endParaRPr>
          </a:p>
        </p:txBody>
      </p:sp>
      <p:grpSp>
        <p:nvGrpSpPr>
          <p:cNvPr id="167" name="Google Shape;167;p8"/>
          <p:cNvGrpSpPr/>
          <p:nvPr/>
        </p:nvGrpSpPr>
        <p:grpSpPr>
          <a:xfrm>
            <a:off x="1639254" y="1206093"/>
            <a:ext cx="4644705" cy="5009297"/>
            <a:chOff x="1455431" y="-119114"/>
            <a:chExt cx="4644705" cy="5009297"/>
          </a:xfrm>
        </p:grpSpPr>
        <p:sp>
          <p:nvSpPr>
            <p:cNvPr id="168" name="Google Shape;168;p8"/>
            <p:cNvSpPr/>
            <p:nvPr/>
          </p:nvSpPr>
          <p:spPr>
            <a:xfrm>
              <a:off x="2454558" y="1062308"/>
              <a:ext cx="2646452" cy="2646452"/>
            </a:xfrm>
            <a:prstGeom prst="ellipse">
              <a:avLst/>
            </a:prstGeom>
            <a:solidFill>
              <a:srgbClr val="599BD5">
                <a:alpha val="49411"/>
              </a:srgbClr>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8"/>
            <p:cNvSpPr txBox="1"/>
            <p:nvPr/>
          </p:nvSpPr>
          <p:spPr>
            <a:xfrm>
              <a:off x="2842122" y="1449872"/>
              <a:ext cx="1871324" cy="1871324"/>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rgbClr val="000000"/>
                </a:buClr>
                <a:buSzPts val="3600"/>
                <a:buFont typeface="Arial"/>
                <a:buNone/>
              </a:pPr>
              <a:r>
                <a:rPr b="0" i="0" lang="es-ES" sz="3600" u="none" cap="none" strike="noStrike">
                  <a:solidFill>
                    <a:srgbClr val="3A3838"/>
                  </a:solidFill>
                  <a:latin typeface="Arial"/>
                  <a:ea typeface="Arial"/>
                  <a:cs typeface="Arial"/>
                  <a:sym typeface="Arial"/>
                </a:rPr>
                <a:t>Calidad de Datos</a:t>
              </a:r>
              <a:endParaRPr b="0" i="0" sz="1400" u="none" cap="none" strike="noStrike">
                <a:solidFill>
                  <a:srgbClr val="000000"/>
                </a:solidFill>
                <a:latin typeface="Arial"/>
                <a:ea typeface="Arial"/>
                <a:cs typeface="Arial"/>
                <a:sym typeface="Arial"/>
              </a:endParaRPr>
            </a:p>
          </p:txBody>
        </p:sp>
        <p:sp>
          <p:nvSpPr>
            <p:cNvPr id="170" name="Google Shape;170;p8"/>
            <p:cNvSpPr/>
            <p:nvPr/>
          </p:nvSpPr>
          <p:spPr>
            <a:xfrm>
              <a:off x="2982275" y="-119114"/>
              <a:ext cx="1659603" cy="1562399"/>
            </a:xfrm>
            <a:prstGeom prst="ellipse">
              <a:avLst/>
            </a:prstGeom>
            <a:solidFill>
              <a:srgbClr val="599BD5">
                <a:alpha val="49411"/>
              </a:srgbClr>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8"/>
            <p:cNvSpPr txBox="1"/>
            <p:nvPr/>
          </p:nvSpPr>
          <p:spPr>
            <a:xfrm>
              <a:off x="3225318" y="109694"/>
              <a:ext cx="1173517" cy="1104783"/>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0" i="0" lang="es-ES" sz="1600" u="none" cap="none" strike="noStrike">
                  <a:solidFill>
                    <a:srgbClr val="3A3838"/>
                  </a:solidFill>
                  <a:latin typeface="Arial"/>
                  <a:ea typeface="Arial"/>
                  <a:cs typeface="Arial"/>
                  <a:sym typeface="Arial"/>
                </a:rPr>
                <a:t>Exactitud</a:t>
              </a:r>
              <a:endParaRPr b="0" i="0" sz="1400" u="none" cap="none" strike="noStrike">
                <a:solidFill>
                  <a:srgbClr val="000000"/>
                </a:solidFill>
                <a:latin typeface="Arial"/>
                <a:ea typeface="Arial"/>
                <a:cs typeface="Arial"/>
                <a:sym typeface="Arial"/>
              </a:endParaRPr>
            </a:p>
          </p:txBody>
        </p:sp>
        <p:sp>
          <p:nvSpPr>
            <p:cNvPr id="172" name="Google Shape;172;p8"/>
            <p:cNvSpPr/>
            <p:nvPr/>
          </p:nvSpPr>
          <p:spPr>
            <a:xfrm>
              <a:off x="4440533" y="742610"/>
              <a:ext cx="1659603" cy="1562399"/>
            </a:xfrm>
            <a:prstGeom prst="ellipse">
              <a:avLst/>
            </a:prstGeom>
            <a:solidFill>
              <a:srgbClr val="599BD5">
                <a:alpha val="49411"/>
              </a:srgbClr>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8"/>
            <p:cNvSpPr txBox="1"/>
            <p:nvPr/>
          </p:nvSpPr>
          <p:spPr>
            <a:xfrm>
              <a:off x="4683576" y="971418"/>
              <a:ext cx="1173517" cy="1104783"/>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0" i="0" lang="es-ES" sz="1600" u="none" cap="none" strike="noStrike">
                  <a:solidFill>
                    <a:srgbClr val="3A3838"/>
                  </a:solidFill>
                  <a:latin typeface="Arial"/>
                  <a:ea typeface="Arial"/>
                  <a:cs typeface="Arial"/>
                  <a:sym typeface="Arial"/>
                </a:rPr>
                <a:t>Integridad</a:t>
              </a:r>
              <a:endParaRPr b="0" i="0" sz="1400" u="none" cap="none" strike="noStrike">
                <a:solidFill>
                  <a:srgbClr val="000000"/>
                </a:solidFill>
                <a:latin typeface="Arial"/>
                <a:ea typeface="Arial"/>
                <a:cs typeface="Arial"/>
                <a:sym typeface="Arial"/>
              </a:endParaRPr>
            </a:p>
          </p:txBody>
        </p:sp>
        <p:sp>
          <p:nvSpPr>
            <p:cNvPr id="174" name="Google Shape;174;p8"/>
            <p:cNvSpPr/>
            <p:nvPr/>
          </p:nvSpPr>
          <p:spPr>
            <a:xfrm>
              <a:off x="4440804" y="2466112"/>
              <a:ext cx="1659061" cy="1562293"/>
            </a:xfrm>
            <a:prstGeom prst="ellipse">
              <a:avLst/>
            </a:prstGeom>
            <a:solidFill>
              <a:srgbClr val="599BD5">
                <a:alpha val="49411"/>
              </a:srgbClr>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8"/>
            <p:cNvSpPr txBox="1"/>
            <p:nvPr/>
          </p:nvSpPr>
          <p:spPr>
            <a:xfrm>
              <a:off x="4683768" y="2694905"/>
              <a:ext cx="1173133" cy="1104707"/>
            </a:xfrm>
            <a:prstGeom prst="rect">
              <a:avLst/>
            </a:prstGeom>
            <a:noFill/>
            <a:ln>
              <a:noFill/>
            </a:ln>
          </p:spPr>
          <p:txBody>
            <a:bodyPr anchorCtr="0" anchor="ctr" bIns="17775" lIns="17775" spcFirstLastPara="1" rIns="17775" wrap="square" tIns="17775">
              <a:noAutofit/>
            </a:bodyPr>
            <a:lstStyle/>
            <a:p>
              <a:pPr indent="0" lvl="0" marL="0" marR="0" rtl="0" algn="ctr">
                <a:lnSpc>
                  <a:spcPct val="90000"/>
                </a:lnSpc>
                <a:spcBef>
                  <a:spcPts val="0"/>
                </a:spcBef>
                <a:spcAft>
                  <a:spcPts val="0"/>
                </a:spcAft>
                <a:buClr>
                  <a:srgbClr val="000000"/>
                </a:buClr>
                <a:buSzPts val="1400"/>
                <a:buFont typeface="Arial"/>
                <a:buNone/>
              </a:pPr>
              <a:r>
                <a:rPr b="0" i="0" lang="es-ES" sz="1400" u="none" cap="none" strike="noStrike">
                  <a:solidFill>
                    <a:srgbClr val="3A3838"/>
                  </a:solidFill>
                  <a:latin typeface="Arial"/>
                  <a:ea typeface="Arial"/>
                  <a:cs typeface="Arial"/>
                  <a:sym typeface="Arial"/>
                </a:rPr>
                <a:t>Consistencia</a:t>
              </a:r>
              <a:endParaRPr b="0" i="0" sz="1400" u="none" cap="none" strike="noStrike">
                <a:solidFill>
                  <a:srgbClr val="000000"/>
                </a:solidFill>
                <a:latin typeface="Arial"/>
                <a:ea typeface="Arial"/>
                <a:cs typeface="Arial"/>
                <a:sym typeface="Arial"/>
              </a:endParaRPr>
            </a:p>
          </p:txBody>
        </p:sp>
        <p:sp>
          <p:nvSpPr>
            <p:cNvPr id="176" name="Google Shape;176;p8"/>
            <p:cNvSpPr/>
            <p:nvPr/>
          </p:nvSpPr>
          <p:spPr>
            <a:xfrm>
              <a:off x="2947982" y="3327784"/>
              <a:ext cx="1659603" cy="1562399"/>
            </a:xfrm>
            <a:prstGeom prst="ellipse">
              <a:avLst/>
            </a:prstGeom>
            <a:solidFill>
              <a:srgbClr val="599BD5">
                <a:alpha val="49411"/>
              </a:srgbClr>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8"/>
            <p:cNvSpPr txBox="1"/>
            <p:nvPr/>
          </p:nvSpPr>
          <p:spPr>
            <a:xfrm>
              <a:off x="3191025" y="3556592"/>
              <a:ext cx="1173517" cy="1104783"/>
            </a:xfrm>
            <a:prstGeom prst="rect">
              <a:avLst/>
            </a:prstGeom>
            <a:noFill/>
            <a:ln>
              <a:noFill/>
            </a:ln>
          </p:spPr>
          <p:txBody>
            <a:bodyPr anchorCtr="0" anchor="ctr" bIns="17775" lIns="17775" spcFirstLastPara="1" rIns="17775" wrap="square" tIns="17775">
              <a:noAutofit/>
            </a:bodyPr>
            <a:lstStyle/>
            <a:p>
              <a:pPr indent="0" lvl="0" marL="0" marR="0" rtl="0" algn="ctr">
                <a:lnSpc>
                  <a:spcPct val="90000"/>
                </a:lnSpc>
                <a:spcBef>
                  <a:spcPts val="0"/>
                </a:spcBef>
                <a:spcAft>
                  <a:spcPts val="0"/>
                </a:spcAft>
                <a:buClr>
                  <a:srgbClr val="000000"/>
                </a:buClr>
                <a:buSzPts val="1400"/>
                <a:buFont typeface="Arial"/>
                <a:buNone/>
              </a:pPr>
              <a:r>
                <a:rPr b="0" i="0" lang="es-ES" sz="1400" u="none" cap="none" strike="noStrike">
                  <a:solidFill>
                    <a:srgbClr val="3A3838"/>
                  </a:solidFill>
                  <a:latin typeface="Arial"/>
                  <a:ea typeface="Arial"/>
                  <a:cs typeface="Arial"/>
                  <a:sym typeface="Arial"/>
                </a:rPr>
                <a:t>Uniformidad</a:t>
              </a:r>
              <a:endParaRPr b="0" i="0" sz="1400" u="none" cap="none" strike="noStrike">
                <a:solidFill>
                  <a:srgbClr val="000000"/>
                </a:solidFill>
                <a:latin typeface="Arial"/>
                <a:ea typeface="Arial"/>
                <a:cs typeface="Arial"/>
                <a:sym typeface="Arial"/>
              </a:endParaRPr>
            </a:p>
          </p:txBody>
        </p:sp>
        <p:sp>
          <p:nvSpPr>
            <p:cNvPr id="178" name="Google Shape;178;p8"/>
            <p:cNvSpPr/>
            <p:nvPr/>
          </p:nvSpPr>
          <p:spPr>
            <a:xfrm>
              <a:off x="1455431" y="2466059"/>
              <a:ext cx="1659603" cy="1562399"/>
            </a:xfrm>
            <a:prstGeom prst="ellipse">
              <a:avLst/>
            </a:prstGeom>
            <a:solidFill>
              <a:srgbClr val="599BD5">
                <a:alpha val="49411"/>
              </a:srgbClr>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8"/>
            <p:cNvSpPr txBox="1"/>
            <p:nvPr/>
          </p:nvSpPr>
          <p:spPr>
            <a:xfrm>
              <a:off x="1698474" y="2694867"/>
              <a:ext cx="1173517" cy="1104783"/>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0" i="0" lang="es-ES" sz="1600" u="none" cap="none" strike="noStrike">
                  <a:solidFill>
                    <a:srgbClr val="3A3838"/>
                  </a:solidFill>
                  <a:latin typeface="Arial"/>
                  <a:ea typeface="Arial"/>
                  <a:cs typeface="Arial"/>
                  <a:sym typeface="Arial"/>
                </a:rPr>
                <a:t>Densidad</a:t>
              </a:r>
              <a:endParaRPr b="0" i="0" sz="1400" u="none" cap="none" strike="noStrike">
                <a:solidFill>
                  <a:srgbClr val="000000"/>
                </a:solidFill>
                <a:latin typeface="Arial"/>
                <a:ea typeface="Arial"/>
                <a:cs typeface="Arial"/>
                <a:sym typeface="Arial"/>
              </a:endParaRPr>
            </a:p>
          </p:txBody>
        </p:sp>
        <p:sp>
          <p:nvSpPr>
            <p:cNvPr id="180" name="Google Shape;180;p8"/>
            <p:cNvSpPr/>
            <p:nvPr/>
          </p:nvSpPr>
          <p:spPr>
            <a:xfrm>
              <a:off x="1455431" y="742610"/>
              <a:ext cx="1659603" cy="1562399"/>
            </a:xfrm>
            <a:prstGeom prst="ellipse">
              <a:avLst/>
            </a:prstGeom>
            <a:solidFill>
              <a:srgbClr val="599BD5">
                <a:alpha val="49411"/>
              </a:srgbClr>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8"/>
            <p:cNvSpPr txBox="1"/>
            <p:nvPr/>
          </p:nvSpPr>
          <p:spPr>
            <a:xfrm>
              <a:off x="1698474" y="971418"/>
              <a:ext cx="1173517" cy="1104783"/>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0" i="0" lang="es-ES" sz="1600" u="none" cap="none" strike="noStrike">
                  <a:solidFill>
                    <a:srgbClr val="3A3838"/>
                  </a:solidFill>
                  <a:latin typeface="Arial"/>
                  <a:ea typeface="Arial"/>
                  <a:cs typeface="Arial"/>
                  <a:sym typeface="Arial"/>
                </a:rPr>
                <a:t>Unicidad</a:t>
              </a:r>
              <a:endParaRPr b="0" i="0" sz="1400" u="none" cap="none" strike="noStrike">
                <a:solidFill>
                  <a:srgbClr val="000000"/>
                </a:solidFill>
                <a:latin typeface="Arial"/>
                <a:ea typeface="Arial"/>
                <a:cs typeface="Arial"/>
                <a:sym typeface="Arial"/>
              </a:endParaRPr>
            </a:p>
          </p:txBody>
        </p:sp>
      </p:grpSp>
      <p:sp>
        <p:nvSpPr>
          <p:cNvPr id="182" name="Google Shape;182;p8"/>
          <p:cNvSpPr txBox="1"/>
          <p:nvPr/>
        </p:nvSpPr>
        <p:spPr>
          <a:xfrm>
            <a:off x="136547" y="2453385"/>
            <a:ext cx="1483112"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548135"/>
                </a:solidFill>
                <a:latin typeface="Calibri"/>
                <a:ea typeface="Calibri"/>
                <a:cs typeface="Calibri"/>
                <a:sym typeface="Calibri"/>
              </a:rPr>
              <a:t>Relacionado con los datos duplicados</a:t>
            </a:r>
            <a:endParaRPr b="0" i="0" sz="1400" u="none" cap="none" strike="noStrike">
              <a:solidFill>
                <a:srgbClr val="000000"/>
              </a:solidFill>
              <a:latin typeface="Arial"/>
              <a:ea typeface="Arial"/>
              <a:cs typeface="Arial"/>
              <a:sym typeface="Arial"/>
            </a:endParaRPr>
          </a:p>
        </p:txBody>
      </p:sp>
      <p:sp>
        <p:nvSpPr>
          <p:cNvPr id="183" name="Google Shape;183;p8"/>
          <p:cNvSpPr txBox="1"/>
          <p:nvPr/>
        </p:nvSpPr>
        <p:spPr>
          <a:xfrm>
            <a:off x="136547" y="3969410"/>
            <a:ext cx="1483112" cy="116955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98C340"/>
                </a:solidFill>
                <a:latin typeface="Calibri"/>
                <a:ea typeface="Calibri"/>
                <a:cs typeface="Calibri"/>
                <a:sym typeface="Calibri"/>
              </a:rPr>
              <a:t>Cociente de valores omitidos sobre el número de valores totales</a:t>
            </a:r>
            <a:endParaRPr b="0" i="0" sz="1400" u="none" cap="none" strike="noStrike">
              <a:solidFill>
                <a:srgbClr val="000000"/>
              </a:solidFill>
              <a:latin typeface="Arial"/>
              <a:ea typeface="Arial"/>
              <a:cs typeface="Arial"/>
              <a:sym typeface="Arial"/>
            </a:endParaRPr>
          </a:p>
        </p:txBody>
      </p:sp>
      <p:sp>
        <p:nvSpPr>
          <p:cNvPr id="184" name="Google Shape;184;p8"/>
          <p:cNvSpPr txBox="1"/>
          <p:nvPr/>
        </p:nvSpPr>
        <p:spPr>
          <a:xfrm>
            <a:off x="6256280" y="3969410"/>
            <a:ext cx="1483112" cy="9541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98C340"/>
                </a:solidFill>
                <a:latin typeface="Calibri"/>
                <a:ea typeface="Calibri"/>
                <a:cs typeface="Calibri"/>
                <a:sym typeface="Calibri"/>
              </a:rPr>
              <a:t>Corrección de contradicciones  y anomalías sintácticas</a:t>
            </a:r>
            <a:endParaRPr b="0" i="0" sz="1400" u="none" cap="none" strike="noStrike">
              <a:solidFill>
                <a:srgbClr val="000000"/>
              </a:solidFill>
              <a:latin typeface="Arial"/>
              <a:ea typeface="Arial"/>
              <a:cs typeface="Arial"/>
              <a:sym typeface="Arial"/>
            </a:endParaRPr>
          </a:p>
        </p:txBody>
      </p:sp>
      <p:sp>
        <p:nvSpPr>
          <p:cNvPr id="185" name="Google Shape;185;p8"/>
          <p:cNvSpPr txBox="1"/>
          <p:nvPr/>
        </p:nvSpPr>
        <p:spPr>
          <a:xfrm>
            <a:off x="3204990" y="6205167"/>
            <a:ext cx="1483112"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548135"/>
                </a:solidFill>
                <a:latin typeface="Calibri"/>
                <a:ea typeface="Calibri"/>
                <a:cs typeface="Calibri"/>
                <a:sym typeface="Calibri"/>
              </a:rPr>
              <a:t>Irregularidades</a:t>
            </a:r>
            <a:endParaRPr b="0" i="0" sz="1400" u="none" cap="none" strike="noStrike">
              <a:solidFill>
                <a:srgbClr val="000000"/>
              </a:solidFill>
              <a:latin typeface="Arial"/>
              <a:ea typeface="Arial"/>
              <a:cs typeface="Arial"/>
              <a:sym typeface="Arial"/>
            </a:endParaRPr>
          </a:p>
        </p:txBody>
      </p:sp>
      <p:sp>
        <p:nvSpPr>
          <p:cNvPr id="186" name="Google Shape;186;p8"/>
          <p:cNvSpPr txBox="1"/>
          <p:nvPr/>
        </p:nvSpPr>
        <p:spPr>
          <a:xfrm>
            <a:off x="6331789" y="2453385"/>
            <a:ext cx="1483112" cy="9541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548135"/>
                </a:solidFill>
                <a:latin typeface="Calibri"/>
                <a:ea typeface="Calibri"/>
                <a:cs typeface="Calibri"/>
                <a:sym typeface="Calibri"/>
              </a:rPr>
              <a:t>Que se mantenga inalterada ante accidentes o eventos</a:t>
            </a:r>
            <a:endParaRPr b="0" i="0" sz="1400" u="none" cap="none" strike="noStrike">
              <a:solidFill>
                <a:srgbClr val="000000"/>
              </a:solidFill>
              <a:latin typeface="Arial"/>
              <a:ea typeface="Arial"/>
              <a:cs typeface="Arial"/>
              <a:sym typeface="Arial"/>
            </a:endParaRPr>
          </a:p>
        </p:txBody>
      </p:sp>
      <p:sp>
        <p:nvSpPr>
          <p:cNvPr id="187" name="Google Shape;187;p8"/>
          <p:cNvSpPr txBox="1"/>
          <p:nvPr/>
        </p:nvSpPr>
        <p:spPr>
          <a:xfrm>
            <a:off x="3214417" y="442742"/>
            <a:ext cx="1483112"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98C340"/>
                </a:solidFill>
                <a:latin typeface="Calibri"/>
                <a:ea typeface="Calibri"/>
                <a:cs typeface="Calibri"/>
                <a:sym typeface="Calibri"/>
              </a:rPr>
              <a:t>Si el valor almacenado es el valor correcto</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5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SzPts val="1400"/>
              <a:buNone/>
            </a:pPr>
            <a:r>
              <a:rPr lang="es-ES" sz="3600">
                <a:solidFill>
                  <a:srgbClr val="595959"/>
                </a:solidFill>
              </a:rPr>
              <a:t>Limpieza de Datos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9"/>
          <p:cNvSpPr/>
          <p:nvPr/>
        </p:nvSpPr>
        <p:spPr>
          <a:xfrm>
            <a:off x="7085027" y="2043954"/>
            <a:ext cx="4540625" cy="3442447"/>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8" name="Google Shape;198;p9"/>
          <p:cNvSpPr txBox="1"/>
          <p:nvPr/>
        </p:nvSpPr>
        <p:spPr>
          <a:xfrm>
            <a:off x="327431" y="971352"/>
            <a:ext cx="10782300"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Causas de los Valores Perdidos</a:t>
            </a:r>
            <a:endParaRPr b="0" i="0" sz="1400" u="none" cap="none" strike="noStrike">
              <a:solidFill>
                <a:srgbClr val="000000"/>
              </a:solidFill>
              <a:latin typeface="Arial"/>
              <a:ea typeface="Arial"/>
              <a:cs typeface="Arial"/>
              <a:sym typeface="Arial"/>
            </a:endParaRPr>
          </a:p>
        </p:txBody>
      </p:sp>
      <p:sp>
        <p:nvSpPr>
          <p:cNvPr id="199" name="Google Shape;199;p9"/>
          <p:cNvSpPr/>
          <p:nvPr/>
        </p:nvSpPr>
        <p:spPr>
          <a:xfrm>
            <a:off x="-339634" y="1983251"/>
            <a:ext cx="7023238" cy="3503150"/>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0" name="Google Shape;200;p9"/>
          <p:cNvSpPr txBox="1"/>
          <p:nvPr/>
        </p:nvSpPr>
        <p:spPr>
          <a:xfrm>
            <a:off x="554412" y="2151275"/>
            <a:ext cx="5901600" cy="317005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Algunos casos típicos, por la cual se generan valores perdidos en los datos son los siguientes:</a:t>
            </a:r>
            <a:endParaRPr b="0" i="0" sz="20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800"/>
              <a:buFont typeface="Arial"/>
              <a:buChar char="•"/>
            </a:pPr>
            <a:r>
              <a:rPr b="0" i="0" lang="es-ES" sz="2000" u="none" cap="none" strike="noStrike">
                <a:solidFill>
                  <a:schemeClr val="lt1"/>
                </a:solidFill>
                <a:latin typeface="Calibri"/>
                <a:ea typeface="Calibri"/>
                <a:cs typeface="Calibri"/>
                <a:sym typeface="Calibri"/>
              </a:rPr>
              <a:t>El usuario olvidó completar un campo de información.</a:t>
            </a:r>
            <a:endParaRPr b="0" i="0" sz="2000" u="none" cap="none" strike="noStrike">
              <a:solidFill>
                <a:srgbClr val="000000"/>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800"/>
              <a:buFont typeface="Arial"/>
              <a:buChar char="•"/>
            </a:pPr>
            <a:r>
              <a:rPr b="0" i="0" lang="es-ES" sz="2000" u="none" cap="none" strike="noStrike">
                <a:solidFill>
                  <a:schemeClr val="lt1"/>
                </a:solidFill>
                <a:latin typeface="Calibri"/>
                <a:ea typeface="Calibri"/>
                <a:cs typeface="Calibri"/>
                <a:sym typeface="Calibri"/>
              </a:rPr>
              <a:t>Se perdieron datos durante el proceso manual de transferencia desde una fuente de datos legada.</a:t>
            </a:r>
            <a:endParaRPr b="0" i="0" sz="2000" u="none" cap="none" strike="noStrike">
              <a:solidFill>
                <a:srgbClr val="000000"/>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800"/>
              <a:buFont typeface="Arial"/>
              <a:buChar char="•"/>
            </a:pPr>
            <a:r>
              <a:rPr b="0" i="0" lang="es-ES" sz="2000" u="none" cap="none" strike="noStrike">
                <a:solidFill>
                  <a:schemeClr val="lt1"/>
                </a:solidFill>
                <a:latin typeface="Calibri"/>
                <a:ea typeface="Calibri"/>
                <a:cs typeface="Calibri"/>
                <a:sym typeface="Calibri"/>
              </a:rPr>
              <a:t>Hubo un error de programación.</a:t>
            </a:r>
            <a:endParaRPr b="0" i="0" sz="2000" u="none" cap="none" strike="noStrike">
              <a:solidFill>
                <a:srgbClr val="000000"/>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800"/>
              <a:buFont typeface="Arial"/>
              <a:buChar char="•"/>
            </a:pPr>
            <a:r>
              <a:rPr b="0" i="0" lang="es-ES" sz="2000" u="none" cap="none" strike="noStrike">
                <a:solidFill>
                  <a:schemeClr val="lt1"/>
                </a:solidFill>
                <a:latin typeface="Calibri"/>
                <a:ea typeface="Calibri"/>
                <a:cs typeface="Calibri"/>
                <a:sym typeface="Calibri"/>
              </a:rPr>
              <a:t>El usuario simplemente no quiso compartir cierta información.</a:t>
            </a:r>
            <a:endParaRPr b="0" i="0" sz="2000" u="none" cap="none" strike="noStrike">
              <a:solidFill>
                <a:srgbClr val="000000"/>
              </a:solidFill>
              <a:latin typeface="Calibri"/>
              <a:ea typeface="Calibri"/>
              <a:cs typeface="Calibri"/>
              <a:sym typeface="Calibri"/>
            </a:endParaRPr>
          </a:p>
        </p:txBody>
      </p:sp>
      <p:pic>
        <p:nvPicPr>
          <p:cNvPr descr="Dealing with missing values in predictive models" id="201" name="Google Shape;201;p9"/>
          <p:cNvPicPr preferRelativeResize="0"/>
          <p:nvPr/>
        </p:nvPicPr>
        <p:blipFill rotWithShape="1">
          <a:blip r:embed="rId3">
            <a:alphaModFix/>
          </a:blip>
          <a:srcRect b="0" l="27912" r="0" t="0"/>
          <a:stretch/>
        </p:blipFill>
        <p:spPr>
          <a:xfrm>
            <a:off x="7274927" y="2204477"/>
            <a:ext cx="4119833" cy="3076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0"/>
          <p:cNvSpPr/>
          <p:nvPr/>
        </p:nvSpPr>
        <p:spPr>
          <a:xfrm>
            <a:off x="7916443" y="664015"/>
            <a:ext cx="3394953" cy="5092350"/>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7" name="Google Shape;207;p10"/>
          <p:cNvSpPr txBox="1"/>
          <p:nvPr/>
        </p:nvSpPr>
        <p:spPr>
          <a:xfrm>
            <a:off x="703267" y="545124"/>
            <a:ext cx="10782300"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Plan de Acción</a:t>
            </a:r>
            <a:endParaRPr b="0" i="0" sz="3200" u="none" cap="none" strike="noStrike">
              <a:solidFill>
                <a:srgbClr val="000000"/>
              </a:solidFill>
              <a:latin typeface="Arial"/>
              <a:ea typeface="Arial"/>
              <a:cs typeface="Arial"/>
              <a:sym typeface="Arial"/>
            </a:endParaRPr>
          </a:p>
        </p:txBody>
      </p:sp>
      <p:sp>
        <p:nvSpPr>
          <p:cNvPr id="208" name="Google Shape;208;p10"/>
          <p:cNvSpPr/>
          <p:nvPr/>
        </p:nvSpPr>
        <p:spPr>
          <a:xfrm>
            <a:off x="-430306" y="1384536"/>
            <a:ext cx="7928385" cy="4371829"/>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9" name="Google Shape;209;p10"/>
          <p:cNvSpPr txBox="1"/>
          <p:nvPr/>
        </p:nvSpPr>
        <p:spPr>
          <a:xfrm>
            <a:off x="704075" y="1562036"/>
            <a:ext cx="6079902" cy="378561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Lo primero, es entender los datos que estamos trabajando (Análisis Exploratorio):</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800"/>
              <a:buFont typeface="Arial"/>
              <a:buChar char="•"/>
            </a:pPr>
            <a:r>
              <a:rPr b="0" i="0" lang="es-ES" sz="2000" u="none" cap="none" strike="noStrike">
                <a:solidFill>
                  <a:schemeClr val="lt1"/>
                </a:solidFill>
                <a:latin typeface="Calibri"/>
                <a:ea typeface="Calibri"/>
                <a:cs typeface="Calibri"/>
                <a:sym typeface="Calibri"/>
              </a:rPr>
              <a:t>¿Qué atributos (features) posee?.</a:t>
            </a:r>
            <a:endParaRPr b="0" i="0" sz="20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800"/>
              <a:buFont typeface="Arial"/>
              <a:buChar char="•"/>
            </a:pPr>
            <a:r>
              <a:rPr b="0" i="0" lang="es-ES" sz="2000" u="none" cap="none" strike="noStrike">
                <a:solidFill>
                  <a:schemeClr val="lt1"/>
                </a:solidFill>
                <a:latin typeface="Calibri"/>
                <a:ea typeface="Calibri"/>
                <a:cs typeface="Calibri"/>
                <a:sym typeface="Calibri"/>
              </a:rPr>
              <a:t>¿Cuáles son los tipos de dato que esperamos de cada uno de ellos?.</a:t>
            </a:r>
            <a:endParaRPr b="0" i="0" sz="20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800"/>
              <a:buFont typeface="Arial"/>
              <a:buChar char="•"/>
            </a:pPr>
            <a:r>
              <a:rPr b="0" i="0" lang="es-ES" sz="2000" u="none" cap="none" strike="noStrike">
                <a:solidFill>
                  <a:schemeClr val="lt1"/>
                </a:solidFill>
                <a:latin typeface="Calibri"/>
                <a:ea typeface="Calibri"/>
                <a:cs typeface="Calibri"/>
                <a:sym typeface="Calibri"/>
              </a:rPr>
              <a:t>¿Hay valores perdidos que son obvios de encontrar? (con una librería o software).</a:t>
            </a:r>
            <a:endParaRPr b="0" i="0" sz="20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lt1"/>
              </a:buClr>
              <a:buSzPts val="1800"/>
              <a:buFont typeface="Arial"/>
              <a:buChar char="•"/>
            </a:pPr>
            <a:r>
              <a:rPr b="0" i="0" lang="es-ES" sz="2000" u="none" cap="none" strike="noStrike">
                <a:solidFill>
                  <a:schemeClr val="lt1"/>
                </a:solidFill>
                <a:latin typeface="Calibri"/>
                <a:ea typeface="Calibri"/>
                <a:cs typeface="Calibri"/>
                <a:sym typeface="Calibri"/>
              </a:rPr>
              <a:t>¿Hay otro tipo de valores perdidos que no son tan obvios de encontrar? (no son tan fáciles de detectar con una librería o software).</a:t>
            </a:r>
            <a:endParaRPr b="0" i="0" sz="20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lt1"/>
              </a:buClr>
              <a:buSzPts val="1800"/>
              <a:buFont typeface="Arial"/>
              <a:buChar char="•"/>
            </a:pPr>
            <a:r>
              <a:rPr b="0" i="0" lang="es-ES" sz="2000" u="none" cap="none" strike="noStrike">
                <a:solidFill>
                  <a:schemeClr val="lt1"/>
                </a:solidFill>
                <a:latin typeface="Calibri"/>
                <a:ea typeface="Calibri"/>
                <a:cs typeface="Calibri"/>
                <a:sym typeface="Calibri"/>
              </a:rPr>
              <a:t>Valores erróneos.</a:t>
            </a:r>
            <a:endParaRPr b="0" i="0" sz="2000" u="none" cap="none" strike="noStrike">
              <a:solidFill>
                <a:srgbClr val="000000"/>
              </a:solidFill>
              <a:latin typeface="Arial"/>
              <a:ea typeface="Arial"/>
              <a:cs typeface="Arial"/>
              <a:sym typeface="Arial"/>
            </a:endParaRPr>
          </a:p>
        </p:txBody>
      </p:sp>
      <p:sp>
        <p:nvSpPr>
          <p:cNvPr id="210" name="Google Shape;210;p10"/>
          <p:cNvSpPr/>
          <p:nvPr/>
        </p:nvSpPr>
        <p:spPr>
          <a:xfrm>
            <a:off x="8526486" y="872801"/>
            <a:ext cx="2185639" cy="680225"/>
          </a:xfrm>
          <a:prstGeom prst="roundRect">
            <a:avLst>
              <a:gd fmla="val 16667" name="adj"/>
            </a:avLst>
          </a:prstGeom>
          <a:solidFill>
            <a:srgbClr val="98C34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ES" sz="1600" u="none" cap="none" strike="noStrike">
                <a:solidFill>
                  <a:schemeClr val="lt1"/>
                </a:solidFill>
                <a:latin typeface="Calibri"/>
                <a:ea typeface="Calibri"/>
                <a:cs typeface="Calibri"/>
                <a:sym typeface="Calibri"/>
              </a:rPr>
              <a:t>Entendimiento de los Atributos</a:t>
            </a:r>
            <a:endParaRPr b="0" i="0" sz="1400" u="none" cap="none" strike="noStrike">
              <a:solidFill>
                <a:srgbClr val="000000"/>
              </a:solidFill>
              <a:latin typeface="Arial"/>
              <a:ea typeface="Arial"/>
              <a:cs typeface="Arial"/>
              <a:sym typeface="Arial"/>
            </a:endParaRPr>
          </a:p>
        </p:txBody>
      </p:sp>
      <p:sp>
        <p:nvSpPr>
          <p:cNvPr id="211" name="Google Shape;211;p10"/>
          <p:cNvSpPr/>
          <p:nvPr/>
        </p:nvSpPr>
        <p:spPr>
          <a:xfrm>
            <a:off x="8526487" y="1923380"/>
            <a:ext cx="2185639" cy="680225"/>
          </a:xfrm>
          <a:prstGeom prst="roundRect">
            <a:avLst>
              <a:gd fmla="val 16667" name="adj"/>
            </a:avLst>
          </a:prstGeom>
          <a:solidFill>
            <a:srgbClr val="98C34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ES" sz="1600" u="none" cap="none" strike="noStrike">
                <a:solidFill>
                  <a:schemeClr val="lt1"/>
                </a:solidFill>
                <a:latin typeface="Calibri"/>
                <a:ea typeface="Calibri"/>
                <a:cs typeface="Calibri"/>
                <a:sym typeface="Calibri"/>
              </a:rPr>
              <a:t>Entendimiento tipos de dato esperados</a:t>
            </a:r>
            <a:endParaRPr b="0" i="0" sz="1400" u="none" cap="none" strike="noStrike">
              <a:solidFill>
                <a:srgbClr val="000000"/>
              </a:solidFill>
              <a:latin typeface="Arial"/>
              <a:ea typeface="Arial"/>
              <a:cs typeface="Arial"/>
              <a:sym typeface="Arial"/>
            </a:endParaRPr>
          </a:p>
        </p:txBody>
      </p:sp>
      <p:sp>
        <p:nvSpPr>
          <p:cNvPr id="212" name="Google Shape;212;p10"/>
          <p:cNvSpPr/>
          <p:nvPr/>
        </p:nvSpPr>
        <p:spPr>
          <a:xfrm>
            <a:off x="8526487" y="2871233"/>
            <a:ext cx="2185639" cy="680225"/>
          </a:xfrm>
          <a:prstGeom prst="roundRect">
            <a:avLst>
              <a:gd fmla="val 16667" name="adj"/>
            </a:avLst>
          </a:prstGeom>
          <a:solidFill>
            <a:srgbClr val="98C34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ES" sz="1600" u="none" cap="none" strike="noStrike">
                <a:solidFill>
                  <a:schemeClr val="lt1"/>
                </a:solidFill>
                <a:latin typeface="Calibri"/>
                <a:ea typeface="Calibri"/>
                <a:cs typeface="Calibri"/>
                <a:sym typeface="Calibri"/>
              </a:rPr>
              <a:t>Detectar valores perdidos evidentes</a:t>
            </a:r>
            <a:endParaRPr b="0" i="0" sz="1400" u="none" cap="none" strike="noStrike">
              <a:solidFill>
                <a:srgbClr val="000000"/>
              </a:solidFill>
              <a:latin typeface="Arial"/>
              <a:ea typeface="Arial"/>
              <a:cs typeface="Arial"/>
              <a:sym typeface="Arial"/>
            </a:endParaRPr>
          </a:p>
        </p:txBody>
      </p:sp>
      <p:sp>
        <p:nvSpPr>
          <p:cNvPr id="213" name="Google Shape;213;p10"/>
          <p:cNvSpPr/>
          <p:nvPr/>
        </p:nvSpPr>
        <p:spPr>
          <a:xfrm>
            <a:off x="8526487" y="3843752"/>
            <a:ext cx="2185639" cy="680225"/>
          </a:xfrm>
          <a:prstGeom prst="roundRect">
            <a:avLst>
              <a:gd fmla="val 16667" name="adj"/>
            </a:avLst>
          </a:prstGeom>
          <a:solidFill>
            <a:srgbClr val="98C34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ES" sz="1600" u="none" cap="none" strike="noStrike">
                <a:solidFill>
                  <a:schemeClr val="lt1"/>
                </a:solidFill>
                <a:latin typeface="Calibri"/>
                <a:ea typeface="Calibri"/>
                <a:cs typeface="Calibri"/>
                <a:sym typeface="Calibri"/>
              </a:rPr>
              <a:t>Detectar valores perdidos no evidentes</a:t>
            </a:r>
            <a:endParaRPr b="0" i="0" sz="1400" u="none" cap="none" strike="noStrike">
              <a:solidFill>
                <a:srgbClr val="000000"/>
              </a:solidFill>
              <a:latin typeface="Arial"/>
              <a:ea typeface="Arial"/>
              <a:cs typeface="Arial"/>
              <a:sym typeface="Arial"/>
            </a:endParaRPr>
          </a:p>
        </p:txBody>
      </p:sp>
      <p:sp>
        <p:nvSpPr>
          <p:cNvPr id="214" name="Google Shape;214;p10"/>
          <p:cNvSpPr/>
          <p:nvPr/>
        </p:nvSpPr>
        <p:spPr>
          <a:xfrm>
            <a:off x="8526486" y="4820997"/>
            <a:ext cx="2185639" cy="680225"/>
          </a:xfrm>
          <a:prstGeom prst="roundRect">
            <a:avLst>
              <a:gd fmla="val 16667" name="adj"/>
            </a:avLst>
          </a:prstGeom>
          <a:solidFill>
            <a:srgbClr val="98C34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ES" sz="1600" u="none" cap="none" strike="noStrike">
                <a:solidFill>
                  <a:schemeClr val="lt1"/>
                </a:solidFill>
                <a:latin typeface="Calibri"/>
                <a:ea typeface="Calibri"/>
                <a:cs typeface="Calibri"/>
                <a:sym typeface="Calibri"/>
              </a:rPr>
              <a:t>Detectar errores</a:t>
            </a:r>
            <a:endParaRPr b="0" i="0" sz="1400" u="none" cap="none" strike="noStrike">
              <a:solidFill>
                <a:srgbClr val="000000"/>
              </a:solidFill>
              <a:latin typeface="Arial"/>
              <a:ea typeface="Arial"/>
              <a:cs typeface="Arial"/>
              <a:sym typeface="Arial"/>
            </a:endParaRPr>
          </a:p>
        </p:txBody>
      </p:sp>
      <p:cxnSp>
        <p:nvCxnSpPr>
          <p:cNvPr id="215" name="Google Shape;215;p10"/>
          <p:cNvCxnSpPr>
            <a:stCxn id="210" idx="2"/>
            <a:endCxn id="211" idx="0"/>
          </p:cNvCxnSpPr>
          <p:nvPr/>
        </p:nvCxnSpPr>
        <p:spPr>
          <a:xfrm>
            <a:off x="9619306" y="1553026"/>
            <a:ext cx="0" cy="370500"/>
          </a:xfrm>
          <a:prstGeom prst="straightConnector1">
            <a:avLst/>
          </a:prstGeom>
          <a:noFill/>
          <a:ln cap="flat" cmpd="sng" w="9525">
            <a:solidFill>
              <a:srgbClr val="385623"/>
            </a:solidFill>
            <a:prstDash val="solid"/>
            <a:miter lim="800000"/>
            <a:headEnd len="sm" w="sm" type="none"/>
            <a:tailEnd len="med" w="med" type="triangle"/>
          </a:ln>
        </p:spPr>
      </p:cxnSp>
      <p:cxnSp>
        <p:nvCxnSpPr>
          <p:cNvPr id="216" name="Google Shape;216;p10"/>
          <p:cNvCxnSpPr>
            <a:stCxn id="211" idx="2"/>
            <a:endCxn id="212" idx="0"/>
          </p:cNvCxnSpPr>
          <p:nvPr/>
        </p:nvCxnSpPr>
        <p:spPr>
          <a:xfrm>
            <a:off x="9619307" y="2603605"/>
            <a:ext cx="0" cy="267600"/>
          </a:xfrm>
          <a:prstGeom prst="straightConnector1">
            <a:avLst/>
          </a:prstGeom>
          <a:noFill/>
          <a:ln cap="flat" cmpd="sng" w="9525">
            <a:solidFill>
              <a:srgbClr val="385623"/>
            </a:solidFill>
            <a:prstDash val="solid"/>
            <a:miter lim="800000"/>
            <a:headEnd len="sm" w="sm" type="none"/>
            <a:tailEnd len="med" w="med" type="triangle"/>
          </a:ln>
        </p:spPr>
      </p:cxnSp>
      <p:cxnSp>
        <p:nvCxnSpPr>
          <p:cNvPr id="217" name="Google Shape;217;p10"/>
          <p:cNvCxnSpPr>
            <a:stCxn id="212" idx="2"/>
            <a:endCxn id="213" idx="0"/>
          </p:cNvCxnSpPr>
          <p:nvPr/>
        </p:nvCxnSpPr>
        <p:spPr>
          <a:xfrm>
            <a:off x="9619307" y="3551458"/>
            <a:ext cx="0" cy="292200"/>
          </a:xfrm>
          <a:prstGeom prst="straightConnector1">
            <a:avLst/>
          </a:prstGeom>
          <a:noFill/>
          <a:ln cap="flat" cmpd="sng" w="9525">
            <a:solidFill>
              <a:srgbClr val="385623"/>
            </a:solidFill>
            <a:prstDash val="solid"/>
            <a:miter lim="800000"/>
            <a:headEnd len="sm" w="sm" type="none"/>
            <a:tailEnd len="med" w="med" type="triangle"/>
          </a:ln>
        </p:spPr>
      </p:cxnSp>
      <p:cxnSp>
        <p:nvCxnSpPr>
          <p:cNvPr id="218" name="Google Shape;218;p10"/>
          <p:cNvCxnSpPr>
            <a:stCxn id="213" idx="2"/>
            <a:endCxn id="214" idx="0"/>
          </p:cNvCxnSpPr>
          <p:nvPr/>
        </p:nvCxnSpPr>
        <p:spPr>
          <a:xfrm>
            <a:off x="9619307" y="4523977"/>
            <a:ext cx="0" cy="297000"/>
          </a:xfrm>
          <a:prstGeom prst="straightConnector1">
            <a:avLst/>
          </a:prstGeom>
          <a:noFill/>
          <a:ln cap="flat" cmpd="sng" w="9525">
            <a:solidFill>
              <a:srgbClr val="548135"/>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1"/>
          <p:cNvSpPr/>
          <p:nvPr/>
        </p:nvSpPr>
        <p:spPr>
          <a:xfrm>
            <a:off x="-228461" y="1370860"/>
            <a:ext cx="12864354" cy="1062109"/>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4" name="Google Shape;224;p11"/>
          <p:cNvSpPr txBox="1"/>
          <p:nvPr/>
        </p:nvSpPr>
        <p:spPr>
          <a:xfrm>
            <a:off x="1195323" y="322615"/>
            <a:ext cx="9172909" cy="846308"/>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3200"/>
              <a:buFont typeface="Arial"/>
              <a:buNone/>
            </a:pPr>
            <a:r>
              <a:t/>
            </a:r>
            <a:endParaRPr b="0" i="0" sz="3200" u="none" cap="none" strike="noStrike">
              <a:solidFill>
                <a:srgbClr val="7F7F7F"/>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Dataset de Ejemplo</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3200"/>
              <a:buFont typeface="Arial"/>
              <a:buNone/>
            </a:pPr>
            <a:r>
              <a:t/>
            </a:r>
            <a:endParaRPr b="0" i="0" sz="3200" u="none" cap="none" strike="noStrike">
              <a:solidFill>
                <a:srgbClr val="7F7F7F"/>
              </a:solidFill>
              <a:latin typeface="Arial"/>
              <a:ea typeface="Arial"/>
              <a:cs typeface="Arial"/>
              <a:sym typeface="Arial"/>
            </a:endParaRPr>
          </a:p>
        </p:txBody>
      </p:sp>
      <p:sp>
        <p:nvSpPr>
          <p:cNvPr id="225" name="Google Shape;225;p11"/>
          <p:cNvSpPr/>
          <p:nvPr/>
        </p:nvSpPr>
        <p:spPr>
          <a:xfrm>
            <a:off x="1981816" y="2720457"/>
            <a:ext cx="7811400" cy="2935800"/>
          </a:xfrm>
          <a:prstGeom prst="roundRect">
            <a:avLst>
              <a:gd fmla="val 2971" name="adj"/>
            </a:avLst>
          </a:prstGeom>
          <a:solidFill>
            <a:schemeClr val="dk1"/>
          </a:solid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26" name="Google Shape;226;p11"/>
          <p:cNvPicPr preferRelativeResize="0"/>
          <p:nvPr/>
        </p:nvPicPr>
        <p:blipFill rotWithShape="1">
          <a:blip r:embed="rId3">
            <a:alphaModFix/>
          </a:blip>
          <a:srcRect b="0" l="0" r="0" t="0"/>
          <a:stretch/>
        </p:blipFill>
        <p:spPr>
          <a:xfrm>
            <a:off x="2320818" y="3005263"/>
            <a:ext cx="7133305" cy="2366056"/>
          </a:xfrm>
          <a:prstGeom prst="rect">
            <a:avLst/>
          </a:prstGeom>
          <a:noFill/>
          <a:ln>
            <a:noFill/>
          </a:ln>
        </p:spPr>
      </p:pic>
      <p:sp>
        <p:nvSpPr>
          <p:cNvPr id="227" name="Google Shape;227;p11"/>
          <p:cNvSpPr txBox="1"/>
          <p:nvPr/>
        </p:nvSpPr>
        <p:spPr>
          <a:xfrm>
            <a:off x="1195323" y="1525688"/>
            <a:ext cx="9588940" cy="1061789"/>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None/>
            </a:pPr>
            <a:r>
              <a:rPr b="0" i="0" lang="es-ES" sz="1800" u="none" cap="none" strike="noStrike">
                <a:solidFill>
                  <a:schemeClr val="lt1"/>
                </a:solidFill>
                <a:latin typeface="Calibri"/>
                <a:ea typeface="Calibri"/>
                <a:cs typeface="Calibri"/>
                <a:sym typeface="Calibri"/>
              </a:rPr>
              <a:t>El siguiente dataset corresponde a una empresa dedicada al corretaje de propiedades. Cada registro se correlaciona a una propiedad de su inventario. Nótese que se aprecian datos faltantes y erróneos.</a:t>
            </a:r>
            <a:endParaRPr b="0" i="0" sz="1400" u="none" cap="none" strike="noStrike">
              <a:solidFill>
                <a:schemeClr val="lt1"/>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2"/>
          <p:cNvSpPr/>
          <p:nvPr/>
        </p:nvSpPr>
        <p:spPr>
          <a:xfrm>
            <a:off x="-360436" y="1345682"/>
            <a:ext cx="12864354" cy="882146"/>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3" name="Google Shape;233;p12"/>
          <p:cNvSpPr/>
          <p:nvPr/>
        </p:nvSpPr>
        <p:spPr>
          <a:xfrm>
            <a:off x="2169030" y="2489880"/>
            <a:ext cx="7967100" cy="2958300"/>
          </a:xfrm>
          <a:prstGeom prst="roundRect">
            <a:avLst>
              <a:gd fmla="val 2971" name="adj"/>
            </a:avLst>
          </a:prstGeom>
          <a:solidFill>
            <a:schemeClr val="lt1"/>
          </a:solidFill>
          <a:ln cap="flat" cmpd="sng" w="3810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4" name="Google Shape;234;p12"/>
          <p:cNvSpPr txBox="1"/>
          <p:nvPr/>
        </p:nvSpPr>
        <p:spPr>
          <a:xfrm>
            <a:off x="998457" y="270147"/>
            <a:ext cx="9875520"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Analizando los atributos y sus tipos de datos</a:t>
            </a:r>
            <a:endParaRPr b="0" i="0" sz="3200" u="none" cap="none" strike="noStrike">
              <a:solidFill>
                <a:srgbClr val="7F7F7F"/>
              </a:solidFill>
              <a:latin typeface="Arial"/>
              <a:ea typeface="Arial"/>
              <a:cs typeface="Arial"/>
              <a:sym typeface="Arial"/>
            </a:endParaRPr>
          </a:p>
        </p:txBody>
      </p:sp>
      <p:pic>
        <p:nvPicPr>
          <p:cNvPr id="235" name="Google Shape;235;p12"/>
          <p:cNvPicPr preferRelativeResize="0"/>
          <p:nvPr/>
        </p:nvPicPr>
        <p:blipFill rotWithShape="1">
          <a:blip r:embed="rId3">
            <a:alphaModFix/>
          </a:blip>
          <a:srcRect b="0" l="0" r="0" t="0"/>
          <a:stretch/>
        </p:blipFill>
        <p:spPr>
          <a:xfrm>
            <a:off x="2341856" y="2571374"/>
            <a:ext cx="7621301" cy="2663017"/>
          </a:xfrm>
          <a:prstGeom prst="rect">
            <a:avLst/>
          </a:prstGeom>
          <a:noFill/>
          <a:ln>
            <a:noFill/>
          </a:ln>
        </p:spPr>
      </p:pic>
      <p:cxnSp>
        <p:nvCxnSpPr>
          <p:cNvPr id="236" name="Google Shape;236;p12"/>
          <p:cNvCxnSpPr/>
          <p:nvPr/>
        </p:nvCxnSpPr>
        <p:spPr>
          <a:xfrm flipH="1" rot="10800000">
            <a:off x="9176117" y="3386151"/>
            <a:ext cx="391800" cy="8700"/>
          </a:xfrm>
          <a:prstGeom prst="straightConnector1">
            <a:avLst/>
          </a:prstGeom>
          <a:noFill/>
          <a:ln cap="flat" cmpd="sng" w="38100">
            <a:solidFill>
              <a:srgbClr val="BBD6EE"/>
            </a:solidFill>
            <a:prstDash val="solid"/>
            <a:miter lim="800000"/>
            <a:headEnd len="sm" w="sm" type="none"/>
            <a:tailEnd len="sm" w="sm" type="none"/>
          </a:ln>
        </p:spPr>
      </p:cxnSp>
      <p:cxnSp>
        <p:nvCxnSpPr>
          <p:cNvPr id="237" name="Google Shape;237;p12"/>
          <p:cNvCxnSpPr/>
          <p:nvPr/>
        </p:nvCxnSpPr>
        <p:spPr>
          <a:xfrm flipH="1" rot="10800000">
            <a:off x="9184826" y="3695305"/>
            <a:ext cx="391800" cy="8700"/>
          </a:xfrm>
          <a:prstGeom prst="straightConnector1">
            <a:avLst/>
          </a:prstGeom>
          <a:noFill/>
          <a:ln cap="flat" cmpd="sng" w="57150">
            <a:solidFill>
              <a:srgbClr val="DDEAF6"/>
            </a:solidFill>
            <a:prstDash val="solid"/>
            <a:miter lim="800000"/>
            <a:headEnd len="sm" w="sm" type="none"/>
            <a:tailEnd len="sm" w="sm" type="none"/>
          </a:ln>
        </p:spPr>
      </p:cxnSp>
      <p:cxnSp>
        <p:nvCxnSpPr>
          <p:cNvPr id="238" name="Google Shape;238;p12"/>
          <p:cNvCxnSpPr/>
          <p:nvPr/>
        </p:nvCxnSpPr>
        <p:spPr>
          <a:xfrm>
            <a:off x="9718158" y="3690583"/>
            <a:ext cx="180900" cy="9000"/>
          </a:xfrm>
          <a:prstGeom prst="straightConnector1">
            <a:avLst/>
          </a:prstGeom>
          <a:noFill/>
          <a:ln cap="flat" cmpd="sng" w="57150">
            <a:solidFill>
              <a:srgbClr val="DDEAF6"/>
            </a:solidFill>
            <a:prstDash val="solid"/>
            <a:miter lim="800000"/>
            <a:headEnd len="sm" w="sm" type="none"/>
            <a:tailEnd len="sm" w="sm" type="none"/>
          </a:ln>
        </p:spPr>
      </p:cxnSp>
      <p:sp>
        <p:nvSpPr>
          <p:cNvPr id="239" name="Google Shape;239;p12"/>
          <p:cNvSpPr txBox="1"/>
          <p:nvPr/>
        </p:nvSpPr>
        <p:spPr>
          <a:xfrm>
            <a:off x="1011093" y="1428432"/>
            <a:ext cx="7794126" cy="707886"/>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s-ES" sz="2000" u="none" cap="none" strike="noStrike">
                <a:solidFill>
                  <a:schemeClr val="lt1"/>
                </a:solidFill>
                <a:latin typeface="Calibri"/>
                <a:ea typeface="Calibri"/>
                <a:cs typeface="Calibri"/>
                <a:sym typeface="Calibri"/>
              </a:rPr>
              <a:t>A continuación, se describen las columnas de este </a:t>
            </a:r>
            <a:r>
              <a:rPr b="1" i="0" lang="es-ES" sz="2000" u="none" cap="none" strike="noStrike">
                <a:solidFill>
                  <a:schemeClr val="lt1"/>
                </a:solidFill>
                <a:latin typeface="Calibri"/>
                <a:ea typeface="Calibri"/>
                <a:cs typeface="Calibri"/>
                <a:sym typeface="Calibri"/>
              </a:rPr>
              <a:t>dataset</a:t>
            </a:r>
            <a:r>
              <a:rPr b="0" i="0" lang="es-ES" sz="2000" u="none" cap="none" strike="noStrike">
                <a:solidFill>
                  <a:schemeClr val="lt1"/>
                </a:solidFill>
                <a:latin typeface="Calibri"/>
                <a:ea typeface="Calibri"/>
                <a:cs typeface="Calibri"/>
                <a:sym typeface="Calibri"/>
              </a:rPr>
              <a:t> y los tipos de datos esperados.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13"/>
          <p:cNvPicPr preferRelativeResize="0"/>
          <p:nvPr/>
        </p:nvPicPr>
        <p:blipFill rotWithShape="1">
          <a:blip r:embed="rId3">
            <a:alphaModFix/>
          </a:blip>
          <a:srcRect b="0" l="0" r="0" t="0"/>
          <a:stretch/>
        </p:blipFill>
        <p:spPr>
          <a:xfrm>
            <a:off x="766479" y="1084082"/>
            <a:ext cx="10781919" cy="895284"/>
          </a:xfrm>
          <a:prstGeom prst="rect">
            <a:avLst/>
          </a:prstGeom>
          <a:noFill/>
          <a:ln>
            <a:noFill/>
          </a:ln>
        </p:spPr>
      </p:pic>
      <p:pic>
        <p:nvPicPr>
          <p:cNvPr id="245" name="Google Shape;245;p13"/>
          <p:cNvPicPr preferRelativeResize="0"/>
          <p:nvPr/>
        </p:nvPicPr>
        <p:blipFill rotWithShape="1">
          <a:blip r:embed="rId3">
            <a:alphaModFix/>
          </a:blip>
          <a:srcRect b="0" l="0" r="0" t="0"/>
          <a:stretch/>
        </p:blipFill>
        <p:spPr>
          <a:xfrm>
            <a:off x="7891324" y="2778622"/>
            <a:ext cx="2994466" cy="1126661"/>
          </a:xfrm>
          <a:prstGeom prst="rect">
            <a:avLst/>
          </a:prstGeom>
          <a:noFill/>
          <a:ln>
            <a:noFill/>
          </a:ln>
        </p:spPr>
      </p:pic>
      <p:sp>
        <p:nvSpPr>
          <p:cNvPr id="246" name="Google Shape;246;p13"/>
          <p:cNvSpPr txBox="1"/>
          <p:nvPr/>
        </p:nvSpPr>
        <p:spPr>
          <a:xfrm>
            <a:off x="766479" y="292716"/>
            <a:ext cx="10460821"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Identificación de valores perdidos estándar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7F7F7F"/>
              </a:solidFill>
              <a:latin typeface="Arial"/>
              <a:ea typeface="Arial"/>
              <a:cs typeface="Arial"/>
              <a:sym typeface="Arial"/>
            </a:endParaRPr>
          </a:p>
        </p:txBody>
      </p:sp>
      <p:sp>
        <p:nvSpPr>
          <p:cNvPr id="247" name="Google Shape;247;p13"/>
          <p:cNvSpPr/>
          <p:nvPr/>
        </p:nvSpPr>
        <p:spPr>
          <a:xfrm>
            <a:off x="766479" y="2150135"/>
            <a:ext cx="6527260" cy="3939368"/>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48" name="Google Shape;248;p13"/>
          <p:cNvPicPr preferRelativeResize="0"/>
          <p:nvPr/>
        </p:nvPicPr>
        <p:blipFill rotWithShape="1">
          <a:blip r:embed="rId4">
            <a:alphaModFix/>
          </a:blip>
          <a:srcRect b="0" l="0" r="0" t="0"/>
          <a:stretch/>
        </p:blipFill>
        <p:spPr>
          <a:xfrm>
            <a:off x="1019789" y="2356179"/>
            <a:ext cx="6020640" cy="3515216"/>
          </a:xfrm>
          <a:prstGeom prst="rect">
            <a:avLst/>
          </a:prstGeom>
          <a:noFill/>
          <a:ln>
            <a:noFill/>
          </a:ln>
        </p:spPr>
      </p:pic>
      <p:sp>
        <p:nvSpPr>
          <p:cNvPr id="249" name="Google Shape;249;p13"/>
          <p:cNvSpPr txBox="1"/>
          <p:nvPr/>
        </p:nvSpPr>
        <p:spPr>
          <a:xfrm>
            <a:off x="8094891" y="2988009"/>
            <a:ext cx="2658359"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La librería Pandas los representa con </a:t>
            </a:r>
            <a:r>
              <a:rPr b="1" i="0" lang="es-ES" sz="2000" u="none" cap="none" strike="noStrike">
                <a:solidFill>
                  <a:schemeClr val="lt1"/>
                </a:solidFill>
                <a:latin typeface="Calibri"/>
                <a:ea typeface="Calibri"/>
                <a:cs typeface="Calibri"/>
                <a:sym typeface="Calibri"/>
              </a:rPr>
              <a:t>NaN.</a:t>
            </a:r>
            <a:endParaRPr b="0" i="0" sz="1400" u="none" cap="none" strike="noStrike">
              <a:solidFill>
                <a:srgbClr val="000000"/>
              </a:solidFill>
              <a:latin typeface="Arial"/>
              <a:ea typeface="Arial"/>
              <a:cs typeface="Arial"/>
              <a:sym typeface="Arial"/>
            </a:endParaRPr>
          </a:p>
        </p:txBody>
      </p:sp>
      <p:cxnSp>
        <p:nvCxnSpPr>
          <p:cNvPr id="250" name="Google Shape;250;p13"/>
          <p:cNvCxnSpPr/>
          <p:nvPr/>
        </p:nvCxnSpPr>
        <p:spPr>
          <a:xfrm flipH="1">
            <a:off x="7040429" y="4119819"/>
            <a:ext cx="1513503" cy="1285064"/>
          </a:xfrm>
          <a:prstGeom prst="straightConnector1">
            <a:avLst/>
          </a:prstGeom>
          <a:noFill/>
          <a:ln cap="flat" cmpd="sng" w="15875">
            <a:solidFill>
              <a:srgbClr val="98C340"/>
            </a:solidFill>
            <a:prstDash val="solid"/>
            <a:miter lim="800000"/>
            <a:headEnd len="sm" w="sm" type="none"/>
            <a:tailEnd len="med" w="med" type="triangle"/>
          </a:ln>
        </p:spPr>
      </p:cxnSp>
      <p:sp>
        <p:nvSpPr>
          <p:cNvPr id="251" name="Google Shape;251;p13"/>
          <p:cNvSpPr txBox="1"/>
          <p:nvPr/>
        </p:nvSpPr>
        <p:spPr>
          <a:xfrm>
            <a:off x="914399" y="1188312"/>
            <a:ext cx="10501460" cy="707886"/>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Los valores perdidos estándar son aquellos que pueden ser identificados fácilmente por un software o por una librería porque son reconocibles.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14"/>
          <p:cNvPicPr preferRelativeResize="0"/>
          <p:nvPr/>
        </p:nvPicPr>
        <p:blipFill rotWithShape="1">
          <a:blip r:embed="rId3">
            <a:alphaModFix/>
          </a:blip>
          <a:srcRect b="0" l="0" r="0" t="0"/>
          <a:stretch/>
        </p:blipFill>
        <p:spPr>
          <a:xfrm>
            <a:off x="1823058" y="2705258"/>
            <a:ext cx="3500885" cy="1493593"/>
          </a:xfrm>
          <a:prstGeom prst="rect">
            <a:avLst/>
          </a:prstGeom>
          <a:noFill/>
          <a:ln>
            <a:noFill/>
          </a:ln>
        </p:spPr>
      </p:pic>
      <p:pic>
        <p:nvPicPr>
          <p:cNvPr id="257" name="Google Shape;257;p14"/>
          <p:cNvPicPr preferRelativeResize="0"/>
          <p:nvPr/>
        </p:nvPicPr>
        <p:blipFill rotWithShape="1">
          <a:blip r:embed="rId3">
            <a:alphaModFix/>
          </a:blip>
          <a:srcRect b="0" l="0" r="0" t="0"/>
          <a:stretch/>
        </p:blipFill>
        <p:spPr>
          <a:xfrm>
            <a:off x="892006" y="1059084"/>
            <a:ext cx="10391880" cy="895284"/>
          </a:xfrm>
          <a:prstGeom prst="rect">
            <a:avLst/>
          </a:prstGeom>
          <a:noFill/>
          <a:ln>
            <a:noFill/>
          </a:ln>
        </p:spPr>
      </p:pic>
      <p:sp>
        <p:nvSpPr>
          <p:cNvPr id="258" name="Google Shape;258;p14"/>
          <p:cNvSpPr/>
          <p:nvPr/>
        </p:nvSpPr>
        <p:spPr>
          <a:xfrm>
            <a:off x="1138490" y="149374"/>
            <a:ext cx="7972054" cy="73975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Identificación de valores perdidos estándar</a:t>
            </a:r>
            <a:endParaRPr b="0" i="0" sz="1400" u="none" cap="none" strike="noStrike">
              <a:solidFill>
                <a:srgbClr val="000000"/>
              </a:solidFill>
              <a:latin typeface="Arial"/>
              <a:ea typeface="Arial"/>
              <a:cs typeface="Arial"/>
              <a:sym typeface="Arial"/>
            </a:endParaRPr>
          </a:p>
        </p:txBody>
      </p:sp>
      <p:sp>
        <p:nvSpPr>
          <p:cNvPr id="259" name="Google Shape;259;p14"/>
          <p:cNvSpPr txBox="1"/>
          <p:nvPr/>
        </p:nvSpPr>
        <p:spPr>
          <a:xfrm>
            <a:off x="985134" y="1208188"/>
            <a:ext cx="10520313"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La librería Pandas identifica fácilmente los valores perdidos evidentes, el método isnull(), retorna una matriz con True en donde determina que existe un valor perdido.</a:t>
            </a:r>
            <a:endParaRPr b="0" i="0" sz="1400" u="none" cap="none" strike="noStrike">
              <a:solidFill>
                <a:srgbClr val="000000"/>
              </a:solidFill>
              <a:latin typeface="Arial"/>
              <a:ea typeface="Arial"/>
              <a:cs typeface="Arial"/>
              <a:sym typeface="Arial"/>
            </a:endParaRPr>
          </a:p>
        </p:txBody>
      </p:sp>
      <p:sp>
        <p:nvSpPr>
          <p:cNvPr id="260" name="Google Shape;260;p14"/>
          <p:cNvSpPr/>
          <p:nvPr/>
        </p:nvSpPr>
        <p:spPr>
          <a:xfrm>
            <a:off x="5982540" y="1985117"/>
            <a:ext cx="5301345" cy="4250484"/>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61" name="Google Shape;261;p14"/>
          <p:cNvPicPr preferRelativeResize="0"/>
          <p:nvPr/>
        </p:nvPicPr>
        <p:blipFill rotWithShape="1">
          <a:blip r:embed="rId4">
            <a:alphaModFix/>
          </a:blip>
          <a:srcRect b="0" l="0" r="0" t="0"/>
          <a:stretch/>
        </p:blipFill>
        <p:spPr>
          <a:xfrm>
            <a:off x="6437927" y="2148614"/>
            <a:ext cx="4405832" cy="2248157"/>
          </a:xfrm>
          <a:prstGeom prst="rect">
            <a:avLst/>
          </a:prstGeom>
          <a:noFill/>
          <a:ln>
            <a:noFill/>
          </a:ln>
        </p:spPr>
      </p:pic>
      <p:pic>
        <p:nvPicPr>
          <p:cNvPr id="262" name="Google Shape;262;p14"/>
          <p:cNvPicPr preferRelativeResize="0"/>
          <p:nvPr/>
        </p:nvPicPr>
        <p:blipFill rotWithShape="1">
          <a:blip r:embed="rId5">
            <a:alphaModFix/>
          </a:blip>
          <a:srcRect b="0" l="0" r="0" t="0"/>
          <a:stretch/>
        </p:blipFill>
        <p:spPr>
          <a:xfrm>
            <a:off x="6417047" y="4580574"/>
            <a:ext cx="4426712" cy="1280684"/>
          </a:xfrm>
          <a:prstGeom prst="rect">
            <a:avLst/>
          </a:prstGeom>
          <a:noFill/>
          <a:ln>
            <a:noFill/>
          </a:ln>
        </p:spPr>
      </p:pic>
      <p:sp>
        <p:nvSpPr>
          <p:cNvPr id="263" name="Google Shape;263;p14"/>
          <p:cNvSpPr txBox="1"/>
          <p:nvPr/>
        </p:nvSpPr>
        <p:spPr>
          <a:xfrm>
            <a:off x="1938622" y="2913445"/>
            <a:ext cx="3269755" cy="107721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s-ES" sz="1600" u="none" cap="none" strike="noStrike">
                <a:solidFill>
                  <a:schemeClr val="lt1"/>
                </a:solidFill>
                <a:latin typeface="Calibri"/>
                <a:ea typeface="Calibri"/>
                <a:cs typeface="Calibri"/>
                <a:sym typeface="Calibri"/>
              </a:rPr>
              <a:t>Con esta instrucción podemos contabilizar la cantidad de valores perdidos evidentes que existe en un dataframe.</a:t>
            </a:r>
            <a:endParaRPr b="0" i="0" sz="1400" u="none" cap="none" strike="noStrike">
              <a:solidFill>
                <a:srgbClr val="000000"/>
              </a:solidFill>
              <a:latin typeface="Arial"/>
              <a:ea typeface="Arial"/>
              <a:cs typeface="Arial"/>
              <a:sym typeface="Arial"/>
            </a:endParaRPr>
          </a:p>
        </p:txBody>
      </p:sp>
      <p:cxnSp>
        <p:nvCxnSpPr>
          <p:cNvPr id="264" name="Google Shape;264;p14"/>
          <p:cNvCxnSpPr/>
          <p:nvPr/>
        </p:nvCxnSpPr>
        <p:spPr>
          <a:xfrm>
            <a:off x="4486019" y="4147794"/>
            <a:ext cx="2049943" cy="493528"/>
          </a:xfrm>
          <a:prstGeom prst="straightConnector1">
            <a:avLst/>
          </a:prstGeom>
          <a:noFill/>
          <a:ln cap="flat" cmpd="sng" w="9525">
            <a:solidFill>
              <a:srgbClr val="757070"/>
            </a:solidFill>
            <a:prstDash val="solid"/>
            <a:miter lim="800000"/>
            <a:headEnd len="sm" w="sm"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5"/>
          <p:cNvSpPr/>
          <p:nvPr/>
        </p:nvSpPr>
        <p:spPr>
          <a:xfrm>
            <a:off x="7083324" y="1465551"/>
            <a:ext cx="5451000" cy="1467900"/>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0" name="Google Shape;270;p15"/>
          <p:cNvSpPr txBox="1"/>
          <p:nvPr/>
        </p:nvSpPr>
        <p:spPr>
          <a:xfrm>
            <a:off x="6507167" y="534124"/>
            <a:ext cx="5845435" cy="1030086"/>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Valores perdidos no estándar</a:t>
            </a:r>
            <a:endParaRPr b="0" i="0" sz="3600" u="none" cap="none" strike="noStrike">
              <a:solidFill>
                <a:srgbClr val="7F7F7F"/>
              </a:solidFill>
              <a:latin typeface="Arial"/>
              <a:ea typeface="Arial"/>
              <a:cs typeface="Arial"/>
              <a:sym typeface="Arial"/>
            </a:endParaRPr>
          </a:p>
        </p:txBody>
      </p:sp>
      <p:sp>
        <p:nvSpPr>
          <p:cNvPr id="271" name="Google Shape;271;p15"/>
          <p:cNvSpPr/>
          <p:nvPr/>
        </p:nvSpPr>
        <p:spPr>
          <a:xfrm>
            <a:off x="473423" y="648057"/>
            <a:ext cx="6031200" cy="5681100"/>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72" name="Google Shape;272;p15"/>
          <p:cNvPicPr preferRelativeResize="0"/>
          <p:nvPr/>
        </p:nvPicPr>
        <p:blipFill rotWithShape="1">
          <a:blip r:embed="rId3">
            <a:alphaModFix/>
          </a:blip>
          <a:srcRect b="0" l="0" r="0" t="23446"/>
          <a:stretch/>
        </p:blipFill>
        <p:spPr>
          <a:xfrm>
            <a:off x="715305" y="825395"/>
            <a:ext cx="5570439" cy="2489834"/>
          </a:xfrm>
          <a:prstGeom prst="rect">
            <a:avLst/>
          </a:prstGeom>
          <a:noFill/>
          <a:ln>
            <a:noFill/>
          </a:ln>
        </p:spPr>
      </p:pic>
      <p:sp>
        <p:nvSpPr>
          <p:cNvPr id="273" name="Google Shape;273;p15"/>
          <p:cNvSpPr txBox="1"/>
          <p:nvPr/>
        </p:nvSpPr>
        <p:spPr>
          <a:xfrm>
            <a:off x="7216947" y="1593167"/>
            <a:ext cx="3976500" cy="1200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Acá apreciamos que cuando se hizo ingreso de la información, también se utilizó una forma no estándar de señalar valores vacíos (na, --)</a:t>
            </a:r>
            <a:endParaRPr b="0" i="0" sz="1400" u="none" cap="none" strike="noStrike">
              <a:solidFill>
                <a:srgbClr val="000000"/>
              </a:solidFill>
              <a:latin typeface="Arial"/>
              <a:ea typeface="Arial"/>
              <a:cs typeface="Arial"/>
              <a:sym typeface="Arial"/>
            </a:endParaRPr>
          </a:p>
        </p:txBody>
      </p:sp>
      <p:cxnSp>
        <p:nvCxnSpPr>
          <p:cNvPr id="274" name="Google Shape;274;p15"/>
          <p:cNvCxnSpPr/>
          <p:nvPr/>
        </p:nvCxnSpPr>
        <p:spPr>
          <a:xfrm rot="10800000">
            <a:off x="6285867" y="1471866"/>
            <a:ext cx="915300" cy="321000"/>
          </a:xfrm>
          <a:prstGeom prst="straightConnector1">
            <a:avLst/>
          </a:prstGeom>
          <a:noFill/>
          <a:ln cap="flat" cmpd="sng" w="9525">
            <a:solidFill>
              <a:srgbClr val="A5A5A5"/>
            </a:solidFill>
            <a:prstDash val="solid"/>
            <a:miter lim="800000"/>
            <a:headEnd len="sm" w="sm" type="none"/>
            <a:tailEnd len="med" w="med" type="triangle"/>
          </a:ln>
        </p:spPr>
      </p:cxnSp>
      <p:cxnSp>
        <p:nvCxnSpPr>
          <p:cNvPr id="275" name="Google Shape;275;p15"/>
          <p:cNvCxnSpPr/>
          <p:nvPr/>
        </p:nvCxnSpPr>
        <p:spPr>
          <a:xfrm flipH="1">
            <a:off x="5238567" y="2093941"/>
            <a:ext cx="1962600" cy="999900"/>
          </a:xfrm>
          <a:prstGeom prst="straightConnector1">
            <a:avLst/>
          </a:prstGeom>
          <a:noFill/>
          <a:ln cap="flat" cmpd="sng" w="9525">
            <a:solidFill>
              <a:srgbClr val="A5A5A5"/>
            </a:solidFill>
            <a:prstDash val="solid"/>
            <a:miter lim="800000"/>
            <a:headEnd len="sm" w="sm" type="none"/>
            <a:tailEnd len="med" w="med" type="triangle"/>
          </a:ln>
        </p:spPr>
      </p:cxnSp>
      <p:sp>
        <p:nvSpPr>
          <p:cNvPr id="276" name="Google Shape;276;p15"/>
          <p:cNvSpPr/>
          <p:nvPr/>
        </p:nvSpPr>
        <p:spPr>
          <a:xfrm>
            <a:off x="5836490" y="1366160"/>
            <a:ext cx="401400" cy="211800"/>
          </a:xfrm>
          <a:prstGeom prst="rect">
            <a:avLst/>
          </a:prstGeom>
          <a:no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7" name="Google Shape;277;p15"/>
          <p:cNvSpPr/>
          <p:nvPr/>
        </p:nvSpPr>
        <p:spPr>
          <a:xfrm>
            <a:off x="4752408" y="2990480"/>
            <a:ext cx="401400" cy="211800"/>
          </a:xfrm>
          <a:prstGeom prst="rect">
            <a:avLst/>
          </a:prstGeom>
          <a:no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78" name="Google Shape;278;p15"/>
          <p:cNvPicPr preferRelativeResize="0"/>
          <p:nvPr/>
        </p:nvPicPr>
        <p:blipFill rotWithShape="1">
          <a:blip r:embed="rId4">
            <a:alphaModFix/>
          </a:blip>
          <a:srcRect b="0" l="0" r="0" t="0"/>
          <a:stretch/>
        </p:blipFill>
        <p:spPr>
          <a:xfrm>
            <a:off x="715793" y="3315229"/>
            <a:ext cx="5570438" cy="284241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16"/>
          <p:cNvPicPr preferRelativeResize="0"/>
          <p:nvPr/>
        </p:nvPicPr>
        <p:blipFill rotWithShape="1">
          <a:blip r:embed="rId3">
            <a:alphaModFix/>
          </a:blip>
          <a:srcRect b="0" l="0" r="0" t="0"/>
          <a:stretch/>
        </p:blipFill>
        <p:spPr>
          <a:xfrm>
            <a:off x="-603316" y="1192598"/>
            <a:ext cx="13338927" cy="895284"/>
          </a:xfrm>
          <a:prstGeom prst="rect">
            <a:avLst/>
          </a:prstGeom>
          <a:noFill/>
          <a:ln>
            <a:noFill/>
          </a:ln>
        </p:spPr>
      </p:pic>
      <p:sp>
        <p:nvSpPr>
          <p:cNvPr id="284" name="Google Shape;284;p16"/>
          <p:cNvSpPr txBox="1"/>
          <p:nvPr/>
        </p:nvSpPr>
        <p:spPr>
          <a:xfrm>
            <a:off x="1220111" y="306796"/>
            <a:ext cx="10239109"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7F7F7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Corrigiendo valores perdidos no-estándar</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3200"/>
              <a:buFont typeface="Arial"/>
              <a:buNone/>
            </a:pPr>
            <a:r>
              <a:t/>
            </a:r>
            <a:endParaRPr b="0" i="0" sz="3200" u="none" cap="none" strike="noStrike">
              <a:solidFill>
                <a:srgbClr val="7F7F7F"/>
              </a:solidFill>
              <a:latin typeface="Arial"/>
              <a:ea typeface="Arial"/>
              <a:cs typeface="Arial"/>
              <a:sym typeface="Arial"/>
            </a:endParaRPr>
          </a:p>
        </p:txBody>
      </p:sp>
      <p:sp>
        <p:nvSpPr>
          <p:cNvPr id="285" name="Google Shape;285;p16"/>
          <p:cNvSpPr/>
          <p:nvPr/>
        </p:nvSpPr>
        <p:spPr>
          <a:xfrm>
            <a:off x="1148267" y="2717240"/>
            <a:ext cx="6566170" cy="3614490"/>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86" name="Google Shape;286;p16"/>
          <p:cNvPicPr preferRelativeResize="0"/>
          <p:nvPr/>
        </p:nvPicPr>
        <p:blipFill rotWithShape="1">
          <a:blip r:embed="rId4">
            <a:alphaModFix/>
          </a:blip>
          <a:srcRect b="0" l="0" r="0" t="0"/>
          <a:stretch/>
        </p:blipFill>
        <p:spPr>
          <a:xfrm>
            <a:off x="1465208" y="2895482"/>
            <a:ext cx="6096851" cy="3258005"/>
          </a:xfrm>
          <a:prstGeom prst="rect">
            <a:avLst/>
          </a:prstGeom>
          <a:noFill/>
          <a:ln>
            <a:noFill/>
          </a:ln>
        </p:spPr>
      </p:pic>
      <p:cxnSp>
        <p:nvCxnSpPr>
          <p:cNvPr id="287" name="Google Shape;287;p16"/>
          <p:cNvCxnSpPr/>
          <p:nvPr/>
        </p:nvCxnSpPr>
        <p:spPr>
          <a:xfrm>
            <a:off x="2984686" y="2162344"/>
            <a:ext cx="1579809" cy="762872"/>
          </a:xfrm>
          <a:prstGeom prst="straightConnector1">
            <a:avLst/>
          </a:prstGeom>
          <a:noFill/>
          <a:ln cap="flat" cmpd="sng" w="9525">
            <a:solidFill>
              <a:srgbClr val="757070"/>
            </a:solidFill>
            <a:prstDash val="solid"/>
            <a:miter lim="800000"/>
            <a:headEnd len="sm" w="sm" type="none"/>
            <a:tailEnd len="med" w="med" type="triangle"/>
          </a:ln>
        </p:spPr>
      </p:cxnSp>
      <p:sp>
        <p:nvSpPr>
          <p:cNvPr id="288" name="Google Shape;288;p16"/>
          <p:cNvSpPr txBox="1"/>
          <p:nvPr/>
        </p:nvSpPr>
        <p:spPr>
          <a:xfrm>
            <a:off x="1220111" y="1440185"/>
            <a:ext cx="8998545" cy="40011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Especificamos las etiquetas que deseamos que sean reconocidas como, valores NaN.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500"/>
                                        <p:tgtEl>
                                          <p:spTgt spid="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id="293" name="Google Shape;293;p17"/>
          <p:cNvPicPr preferRelativeResize="0"/>
          <p:nvPr/>
        </p:nvPicPr>
        <p:blipFill rotWithShape="1">
          <a:blip r:embed="rId3">
            <a:alphaModFix/>
          </a:blip>
          <a:srcRect b="0" l="0" r="0" t="0"/>
          <a:stretch/>
        </p:blipFill>
        <p:spPr>
          <a:xfrm>
            <a:off x="-942679" y="1059084"/>
            <a:ext cx="15309128" cy="976456"/>
          </a:xfrm>
          <a:prstGeom prst="rect">
            <a:avLst/>
          </a:prstGeom>
          <a:noFill/>
          <a:ln>
            <a:noFill/>
          </a:ln>
        </p:spPr>
      </p:pic>
      <p:sp>
        <p:nvSpPr>
          <p:cNvPr id="294" name="Google Shape;294;p17"/>
          <p:cNvSpPr txBox="1"/>
          <p:nvPr/>
        </p:nvSpPr>
        <p:spPr>
          <a:xfrm>
            <a:off x="2003898" y="301632"/>
            <a:ext cx="10782300" cy="622169"/>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3200"/>
              <a:buFont typeface="Arial"/>
              <a:buNone/>
            </a:pPr>
            <a:r>
              <a:t/>
            </a:r>
            <a:endParaRPr b="0" i="0" sz="3200" u="none" cap="none" strike="noStrike">
              <a:solidFill>
                <a:srgbClr val="7F7F7F"/>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Valores perdidos no esperados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3200"/>
              <a:buFont typeface="Arial"/>
              <a:buNone/>
            </a:pPr>
            <a:r>
              <a:t/>
            </a:r>
            <a:endParaRPr b="0" i="0" sz="3200" u="none" cap="none" strike="noStrike">
              <a:solidFill>
                <a:srgbClr val="7F7F7F"/>
              </a:solidFill>
              <a:latin typeface="Arial"/>
              <a:ea typeface="Arial"/>
              <a:cs typeface="Arial"/>
              <a:sym typeface="Arial"/>
            </a:endParaRPr>
          </a:p>
        </p:txBody>
      </p:sp>
      <p:sp>
        <p:nvSpPr>
          <p:cNvPr id="295" name="Google Shape;295;p17"/>
          <p:cNvSpPr/>
          <p:nvPr/>
        </p:nvSpPr>
        <p:spPr>
          <a:xfrm>
            <a:off x="2003898" y="2197875"/>
            <a:ext cx="7791856" cy="3638430"/>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96" name="Google Shape;296;p17"/>
          <p:cNvPicPr preferRelativeResize="0"/>
          <p:nvPr/>
        </p:nvPicPr>
        <p:blipFill rotWithShape="1">
          <a:blip r:embed="rId4">
            <a:alphaModFix/>
          </a:blip>
          <a:srcRect b="0" l="0" r="0" t="23446"/>
          <a:stretch/>
        </p:blipFill>
        <p:spPr>
          <a:xfrm>
            <a:off x="2304802" y="2468441"/>
            <a:ext cx="7171644" cy="3205529"/>
          </a:xfrm>
          <a:prstGeom prst="rect">
            <a:avLst/>
          </a:prstGeom>
          <a:noFill/>
          <a:ln>
            <a:noFill/>
          </a:ln>
        </p:spPr>
      </p:pic>
      <p:sp>
        <p:nvSpPr>
          <p:cNvPr id="297" name="Google Shape;297;p17"/>
          <p:cNvSpPr txBox="1"/>
          <p:nvPr/>
        </p:nvSpPr>
        <p:spPr>
          <a:xfrm>
            <a:off x="2003898" y="1193611"/>
            <a:ext cx="7791856"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Hay valores que no son detectados como perdidos, pero son no-esperados. Estos valores deberán ser procesados posteriormente en la etapa de Data Wrangling.</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18"/>
          <p:cNvPicPr preferRelativeResize="0"/>
          <p:nvPr/>
        </p:nvPicPr>
        <p:blipFill rotWithShape="1">
          <a:blip r:embed="rId3">
            <a:alphaModFix/>
          </a:blip>
          <a:srcRect b="0" l="0" r="0" t="0"/>
          <a:stretch/>
        </p:blipFill>
        <p:spPr>
          <a:xfrm>
            <a:off x="7412177" y="2178658"/>
            <a:ext cx="5262659" cy="1937283"/>
          </a:xfrm>
          <a:prstGeom prst="rect">
            <a:avLst/>
          </a:prstGeom>
          <a:noFill/>
          <a:ln>
            <a:noFill/>
          </a:ln>
        </p:spPr>
      </p:pic>
      <p:sp>
        <p:nvSpPr>
          <p:cNvPr id="303" name="Google Shape;303;p18"/>
          <p:cNvSpPr txBox="1"/>
          <p:nvPr/>
        </p:nvSpPr>
        <p:spPr>
          <a:xfrm>
            <a:off x="678763" y="676641"/>
            <a:ext cx="7216808" cy="820132"/>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3200"/>
              <a:buFont typeface="Arial"/>
              <a:buNone/>
            </a:pPr>
            <a:r>
              <a:t/>
            </a:r>
            <a:endParaRPr b="0" i="0" sz="3200" u="none" cap="none" strike="noStrike">
              <a:solidFill>
                <a:srgbClr val="7F7F7F"/>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Valores perdidos no esperados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3200"/>
              <a:buFont typeface="Arial"/>
              <a:buNone/>
            </a:pPr>
            <a:r>
              <a:t/>
            </a:r>
            <a:endParaRPr b="0" i="0" sz="3200" u="none" cap="none" strike="noStrike">
              <a:solidFill>
                <a:srgbClr val="7F7F7F"/>
              </a:solidFill>
              <a:latin typeface="Arial"/>
              <a:ea typeface="Arial"/>
              <a:cs typeface="Arial"/>
              <a:sym typeface="Arial"/>
            </a:endParaRPr>
          </a:p>
        </p:txBody>
      </p:sp>
      <p:sp>
        <p:nvSpPr>
          <p:cNvPr id="304" name="Google Shape;304;p18"/>
          <p:cNvSpPr/>
          <p:nvPr/>
        </p:nvSpPr>
        <p:spPr>
          <a:xfrm>
            <a:off x="310048" y="1997445"/>
            <a:ext cx="7470844" cy="3638430"/>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05" name="Google Shape;305;p18"/>
          <p:cNvPicPr preferRelativeResize="0"/>
          <p:nvPr/>
        </p:nvPicPr>
        <p:blipFill rotWithShape="1">
          <a:blip r:embed="rId4">
            <a:alphaModFix/>
          </a:blip>
          <a:srcRect b="0" l="0" r="0" t="0"/>
          <a:stretch/>
        </p:blipFill>
        <p:spPr>
          <a:xfrm>
            <a:off x="678763" y="2178658"/>
            <a:ext cx="6733414" cy="3276003"/>
          </a:xfrm>
          <a:prstGeom prst="rect">
            <a:avLst/>
          </a:prstGeom>
          <a:noFill/>
          <a:ln>
            <a:noFill/>
          </a:ln>
        </p:spPr>
      </p:pic>
      <p:sp>
        <p:nvSpPr>
          <p:cNvPr id="306" name="Google Shape;306;p18"/>
          <p:cNvSpPr txBox="1"/>
          <p:nvPr/>
        </p:nvSpPr>
        <p:spPr>
          <a:xfrm>
            <a:off x="8097625" y="2434649"/>
            <a:ext cx="3610466" cy="1323439"/>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Por lo pronto, acá se presenta una forma sencilla verificar el contenido de una columna para chequear valores no esperados.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9"/>
          <p:cNvSpPr/>
          <p:nvPr/>
        </p:nvSpPr>
        <p:spPr>
          <a:xfrm>
            <a:off x="1536570" y="1574276"/>
            <a:ext cx="9285402" cy="4034672"/>
          </a:xfrm>
          <a:prstGeom prst="roundRect">
            <a:avLst>
              <a:gd fmla="val 2971" name="adj"/>
            </a:avLst>
          </a:prstGeom>
          <a:solidFill>
            <a:schemeClr val="lt1"/>
          </a:solidFill>
          <a:ln cap="flat" cmpd="sng" w="3810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2" name="Google Shape;312;p19"/>
          <p:cNvSpPr txBox="1"/>
          <p:nvPr/>
        </p:nvSpPr>
        <p:spPr>
          <a:xfrm>
            <a:off x="1536570" y="478490"/>
            <a:ext cx="6692484"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Tratamiento de los valores perdidos</a:t>
            </a:r>
            <a:endParaRPr b="0" i="0" sz="1400" u="none" cap="none" strike="noStrike">
              <a:solidFill>
                <a:srgbClr val="000000"/>
              </a:solidFill>
              <a:latin typeface="Arial"/>
              <a:ea typeface="Arial"/>
              <a:cs typeface="Arial"/>
              <a:sym typeface="Arial"/>
            </a:endParaRPr>
          </a:p>
        </p:txBody>
      </p:sp>
      <p:pic>
        <p:nvPicPr>
          <p:cNvPr id="313" name="Google Shape;313;p19"/>
          <p:cNvPicPr preferRelativeResize="0"/>
          <p:nvPr/>
        </p:nvPicPr>
        <p:blipFill rotWithShape="1">
          <a:blip r:embed="rId3">
            <a:alphaModFix/>
          </a:blip>
          <a:srcRect b="0" l="0" r="0" t="0"/>
          <a:stretch/>
        </p:blipFill>
        <p:spPr>
          <a:xfrm>
            <a:off x="2835584" y="1749725"/>
            <a:ext cx="6432470" cy="3683774"/>
          </a:xfrm>
          <a:prstGeom prst="rect">
            <a:avLst/>
          </a:prstGeom>
          <a:solidFill>
            <a:schemeClr val="lt1"/>
          </a:solid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0"/>
          <p:cNvSpPr/>
          <p:nvPr/>
        </p:nvSpPr>
        <p:spPr>
          <a:xfrm>
            <a:off x="-457004" y="2808163"/>
            <a:ext cx="5383931" cy="2269213"/>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9" name="Google Shape;319;p20"/>
          <p:cNvSpPr txBox="1"/>
          <p:nvPr/>
        </p:nvSpPr>
        <p:spPr>
          <a:xfrm>
            <a:off x="512375" y="664586"/>
            <a:ext cx="8676234"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0" i="0" lang="es-ES" sz="3600" u="none" cap="none" strike="noStrike">
                <a:solidFill>
                  <a:srgbClr val="7F7F7F"/>
                </a:solidFill>
                <a:latin typeface="Arial"/>
                <a:ea typeface="Arial"/>
                <a:cs typeface="Arial"/>
                <a:sym typeface="Arial"/>
              </a:rPr>
              <a:t>Tratamiento de los valores perdidos</a:t>
            </a:r>
            <a:endParaRPr b="0" i="0" sz="3600" u="none" cap="none" strike="noStrike">
              <a:solidFill>
                <a:srgbClr val="7F7F7F"/>
              </a:solidFill>
              <a:latin typeface="Arial"/>
              <a:ea typeface="Arial"/>
              <a:cs typeface="Arial"/>
              <a:sym typeface="Arial"/>
            </a:endParaRPr>
          </a:p>
        </p:txBody>
      </p:sp>
      <p:sp>
        <p:nvSpPr>
          <p:cNvPr id="320" name="Google Shape;320;p20"/>
          <p:cNvSpPr txBox="1"/>
          <p:nvPr/>
        </p:nvSpPr>
        <p:spPr>
          <a:xfrm>
            <a:off x="403984" y="3143726"/>
            <a:ext cx="4156256" cy="163121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Una vez identificados los valores perdidos debemos decidir qué hacer con ellos. La respuesta dependerá del contexto del problema. Las siguientes son posibles alternativas:</a:t>
            </a:r>
            <a:endParaRPr b="0" i="0" sz="1400" u="none" cap="none" strike="noStrike">
              <a:solidFill>
                <a:srgbClr val="000000"/>
              </a:solidFill>
              <a:latin typeface="Arial"/>
              <a:ea typeface="Arial"/>
              <a:cs typeface="Arial"/>
              <a:sym typeface="Arial"/>
            </a:endParaRPr>
          </a:p>
        </p:txBody>
      </p:sp>
      <p:sp>
        <p:nvSpPr>
          <p:cNvPr id="321" name="Google Shape;321;p20"/>
          <p:cNvSpPr/>
          <p:nvPr/>
        </p:nvSpPr>
        <p:spPr>
          <a:xfrm>
            <a:off x="4926927" y="2123159"/>
            <a:ext cx="6712085" cy="3337289"/>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22" name="Google Shape;322;p20"/>
          <p:cNvPicPr preferRelativeResize="0"/>
          <p:nvPr/>
        </p:nvPicPr>
        <p:blipFill rotWithShape="1">
          <a:blip r:embed="rId3">
            <a:alphaModFix/>
          </a:blip>
          <a:srcRect b="0" l="0" r="8370" t="0"/>
          <a:stretch/>
        </p:blipFill>
        <p:spPr>
          <a:xfrm>
            <a:off x="5581326" y="2511532"/>
            <a:ext cx="5711985" cy="256054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500"/>
                                        <p:tgtEl>
                                          <p:spTgt spid="3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id="327" name="Google Shape;327;p21"/>
          <p:cNvPicPr preferRelativeResize="0"/>
          <p:nvPr/>
        </p:nvPicPr>
        <p:blipFill rotWithShape="1">
          <a:blip r:embed="rId3">
            <a:alphaModFix/>
          </a:blip>
          <a:srcRect b="0" l="0" r="0" t="0"/>
          <a:stretch/>
        </p:blipFill>
        <p:spPr>
          <a:xfrm>
            <a:off x="-259797" y="1476315"/>
            <a:ext cx="12631244" cy="1308089"/>
          </a:xfrm>
          <a:prstGeom prst="rect">
            <a:avLst/>
          </a:prstGeom>
          <a:noFill/>
          <a:ln>
            <a:noFill/>
          </a:ln>
        </p:spPr>
      </p:pic>
      <p:sp>
        <p:nvSpPr>
          <p:cNvPr id="328" name="Google Shape;328;p21"/>
          <p:cNvSpPr/>
          <p:nvPr/>
        </p:nvSpPr>
        <p:spPr>
          <a:xfrm>
            <a:off x="632767" y="3078076"/>
            <a:ext cx="10771347" cy="2684772"/>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9" name="Google Shape;329;p21"/>
          <p:cNvSpPr txBox="1"/>
          <p:nvPr>
            <p:ph type="title"/>
          </p:nvPr>
        </p:nvSpPr>
        <p:spPr>
          <a:xfrm>
            <a:off x="598713" y="512463"/>
            <a:ext cx="10515600" cy="97184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es-ES" sz="3200">
                <a:solidFill>
                  <a:srgbClr val="7F7F7F"/>
                </a:solidFill>
                <a:latin typeface="Arial"/>
                <a:ea typeface="Arial"/>
                <a:cs typeface="Arial"/>
                <a:sym typeface="Arial"/>
              </a:rPr>
              <a:t>Filtrado de filas con valores perdidos</a:t>
            </a:r>
            <a:endParaRPr/>
          </a:p>
        </p:txBody>
      </p:sp>
      <p:pic>
        <p:nvPicPr>
          <p:cNvPr id="330" name="Google Shape;330;p21"/>
          <p:cNvPicPr preferRelativeResize="0"/>
          <p:nvPr/>
        </p:nvPicPr>
        <p:blipFill rotWithShape="1">
          <a:blip r:embed="rId4">
            <a:alphaModFix/>
          </a:blip>
          <a:srcRect b="0" l="0" r="0" t="0"/>
          <a:stretch/>
        </p:blipFill>
        <p:spPr>
          <a:xfrm>
            <a:off x="2707358" y="3290061"/>
            <a:ext cx="6694950" cy="1238250"/>
          </a:xfrm>
          <a:prstGeom prst="rect">
            <a:avLst/>
          </a:prstGeom>
          <a:noFill/>
          <a:ln>
            <a:noFill/>
          </a:ln>
        </p:spPr>
      </p:pic>
      <p:sp>
        <p:nvSpPr>
          <p:cNvPr id="331" name="Google Shape;331;p21"/>
          <p:cNvSpPr/>
          <p:nvPr/>
        </p:nvSpPr>
        <p:spPr>
          <a:xfrm>
            <a:off x="1401886" y="4953474"/>
            <a:ext cx="9341963" cy="52318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7F7F7F"/>
                </a:solidFill>
                <a:latin typeface="Calibri"/>
                <a:ea typeface="Calibri"/>
                <a:cs typeface="Calibri"/>
                <a:sym typeface="Calibri"/>
              </a:rPr>
              <a:t>El método dropna() por defecto elimina todas las filas que contienen al menos un valor perdido. En este ejemplo, sólo quedó una única fila que no contenía ningún valor perdido</a:t>
            </a:r>
            <a:r>
              <a:rPr b="0" i="0" lang="es-ES" sz="1400" u="none" cap="none" strike="noStrike">
                <a:solidFill>
                  <a:srgbClr val="7F7F7F"/>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
        <p:nvSpPr>
          <p:cNvPr id="332" name="Google Shape;332;p21"/>
          <p:cNvSpPr txBox="1"/>
          <p:nvPr/>
        </p:nvSpPr>
        <p:spPr>
          <a:xfrm>
            <a:off x="632764" y="1651356"/>
            <a:ext cx="10771347" cy="92333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En este método, se eliminan las filas que contienen valores perdidos. Sin embargo, este método es recomendado si los valores perdidos son pocos en comparación con todo el set de datos, ya que podría suceder que quede una cantidad de registros insuficientes para llevar a cabo los análisis.</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2"/>
          <p:cNvSpPr/>
          <p:nvPr/>
        </p:nvSpPr>
        <p:spPr>
          <a:xfrm>
            <a:off x="1670245" y="2360558"/>
            <a:ext cx="8839200" cy="3485400"/>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8" name="Google Shape;338;p22"/>
          <p:cNvSpPr txBox="1"/>
          <p:nvPr/>
        </p:nvSpPr>
        <p:spPr>
          <a:xfrm>
            <a:off x="1621102" y="395914"/>
            <a:ext cx="10782300" cy="731156"/>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Filtrado de columnas con valores perdidos</a:t>
            </a:r>
            <a:endParaRPr b="0" i="0" sz="1400" u="none" cap="none" strike="noStrike">
              <a:solidFill>
                <a:srgbClr val="000000"/>
              </a:solidFill>
              <a:latin typeface="Arial"/>
              <a:ea typeface="Arial"/>
              <a:cs typeface="Arial"/>
              <a:sym typeface="Arial"/>
            </a:endParaRPr>
          </a:p>
        </p:txBody>
      </p:sp>
      <p:sp>
        <p:nvSpPr>
          <p:cNvPr id="339" name="Google Shape;339;p22"/>
          <p:cNvSpPr/>
          <p:nvPr/>
        </p:nvSpPr>
        <p:spPr>
          <a:xfrm>
            <a:off x="-434058" y="1134909"/>
            <a:ext cx="12837460" cy="1038580"/>
          </a:xfrm>
          <a:prstGeom prst="roundRect">
            <a:avLst>
              <a:gd fmla="val 2971" name="adj"/>
            </a:avLst>
          </a:prstGeom>
          <a:solidFill>
            <a:srgbClr val="98C3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0" name="Google Shape;340;p22"/>
          <p:cNvSpPr txBox="1"/>
          <p:nvPr/>
        </p:nvSpPr>
        <p:spPr>
          <a:xfrm>
            <a:off x="1654156" y="1277889"/>
            <a:ext cx="8452840" cy="90359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Si la cantidad de valores perdidos en una columna es alto, se podría considerar la opción de realizar una eliminación de la columna.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pic>
        <p:nvPicPr>
          <p:cNvPr id="341" name="Google Shape;341;p22"/>
          <p:cNvPicPr preferRelativeResize="0"/>
          <p:nvPr/>
        </p:nvPicPr>
        <p:blipFill rotWithShape="1">
          <a:blip r:embed="rId3">
            <a:alphaModFix/>
          </a:blip>
          <a:srcRect b="0" l="0" r="0" t="0"/>
          <a:stretch/>
        </p:blipFill>
        <p:spPr>
          <a:xfrm>
            <a:off x="2304511" y="2491328"/>
            <a:ext cx="6508747" cy="3223768"/>
          </a:xfrm>
          <a:prstGeom prst="rect">
            <a:avLst/>
          </a:prstGeom>
          <a:noFill/>
          <a:ln>
            <a:noFill/>
          </a:ln>
        </p:spPr>
      </p:pic>
      <p:sp>
        <p:nvSpPr>
          <p:cNvPr id="342" name="Google Shape;342;p22"/>
          <p:cNvSpPr txBox="1"/>
          <p:nvPr/>
        </p:nvSpPr>
        <p:spPr>
          <a:xfrm>
            <a:off x="5163624" y="3203667"/>
            <a:ext cx="4751700" cy="830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200"/>
              <a:buFont typeface="Arial"/>
              <a:buNone/>
            </a:pPr>
            <a:r>
              <a:rPr b="0" i="0" lang="es-ES" sz="1200" u="none" cap="none" strike="noStrike">
                <a:solidFill>
                  <a:srgbClr val="7F7F7F"/>
                </a:solidFill>
                <a:latin typeface="Arial"/>
                <a:ea typeface="Arial"/>
                <a:cs typeface="Arial"/>
                <a:sym typeface="Arial"/>
              </a:rPr>
              <a:t>El método </a:t>
            </a:r>
            <a:r>
              <a:rPr b="1" i="0" lang="es-ES" sz="1200" u="none" cap="none" strike="noStrike">
                <a:solidFill>
                  <a:srgbClr val="7F7F7F"/>
                </a:solidFill>
                <a:latin typeface="Arial"/>
                <a:ea typeface="Arial"/>
                <a:cs typeface="Arial"/>
                <a:sym typeface="Arial"/>
              </a:rPr>
              <a:t>dropna()</a:t>
            </a:r>
            <a:r>
              <a:rPr b="0" i="0" lang="es-ES" sz="1200" u="none" cap="none" strike="noStrike">
                <a:solidFill>
                  <a:srgbClr val="7F7F7F"/>
                </a:solidFill>
                <a:latin typeface="Arial"/>
                <a:ea typeface="Arial"/>
                <a:cs typeface="Arial"/>
                <a:sym typeface="Arial"/>
              </a:rPr>
              <a:t> también, puede eliminar columnas que contengan al menos un valor perdido, especificando el parámetro </a:t>
            </a:r>
            <a:r>
              <a:rPr b="1" i="0" lang="es-ES" sz="1200" u="none" cap="none" strike="noStrike">
                <a:solidFill>
                  <a:srgbClr val="7F7F7F"/>
                </a:solidFill>
                <a:latin typeface="Arial"/>
                <a:ea typeface="Arial"/>
                <a:cs typeface="Arial"/>
                <a:sym typeface="Arial"/>
              </a:rPr>
              <a:t>axis=1 </a:t>
            </a:r>
            <a:r>
              <a:rPr b="0" i="0" lang="es-ES" sz="1200" u="none" cap="none" strike="noStrike">
                <a:solidFill>
                  <a:srgbClr val="7F7F7F"/>
                </a:solidFill>
                <a:latin typeface="Arial"/>
                <a:ea typeface="Arial"/>
                <a:cs typeface="Arial"/>
                <a:sym typeface="Arial"/>
              </a:rPr>
              <a:t>. En este caso, sólo quedó una sola columna que no contenía valores nulos.</a:t>
            </a:r>
            <a:endParaRPr b="0" i="0" sz="1200" u="none" cap="none" strike="noStrike">
              <a:solidFill>
                <a:srgbClr val="000000"/>
              </a:solidFill>
              <a:latin typeface="Arial"/>
              <a:ea typeface="Arial"/>
              <a:cs typeface="Arial"/>
              <a:sym typeface="Arial"/>
            </a:endParaRPr>
          </a:p>
        </p:txBody>
      </p:sp>
      <p:cxnSp>
        <p:nvCxnSpPr>
          <p:cNvPr id="343" name="Google Shape;343;p22"/>
          <p:cNvCxnSpPr/>
          <p:nvPr/>
        </p:nvCxnSpPr>
        <p:spPr>
          <a:xfrm rot="10800000">
            <a:off x="3794097" y="2747110"/>
            <a:ext cx="1277100" cy="800700"/>
          </a:xfrm>
          <a:prstGeom prst="straightConnector1">
            <a:avLst/>
          </a:prstGeom>
          <a:noFill/>
          <a:ln cap="flat" cmpd="sng" w="9525">
            <a:solidFill>
              <a:schemeClr val="accent1"/>
            </a:solidFill>
            <a:prstDash val="solid"/>
            <a:miter lim="800000"/>
            <a:headEnd len="sm" w="sm" type="none"/>
            <a:tailEnd len="med" w="med" type="triangle"/>
          </a:ln>
        </p:spPr>
      </p:cxnSp>
      <p:sp>
        <p:nvSpPr>
          <p:cNvPr id="344" name="Google Shape;344;p22"/>
          <p:cNvSpPr txBox="1"/>
          <p:nvPr/>
        </p:nvSpPr>
        <p:spPr>
          <a:xfrm>
            <a:off x="5923219" y="4540154"/>
            <a:ext cx="4176600" cy="276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rgbClr val="7F7F7F"/>
                </a:solidFill>
                <a:latin typeface="Arial"/>
                <a:ea typeface="Arial"/>
                <a:cs typeface="Arial"/>
                <a:sym typeface="Arial"/>
              </a:rPr>
              <a:t>Por defecto, axis=0, es decir, el método elimina filas</a:t>
            </a:r>
            <a:endParaRPr b="0" i="0" sz="1200" u="none" cap="none" strike="noStrike">
              <a:solidFill>
                <a:srgbClr val="000000"/>
              </a:solidFill>
              <a:latin typeface="Arial"/>
              <a:ea typeface="Arial"/>
              <a:cs typeface="Arial"/>
              <a:sym typeface="Arial"/>
            </a:endParaRPr>
          </a:p>
        </p:txBody>
      </p:sp>
      <p:pic>
        <p:nvPicPr>
          <p:cNvPr id="345" name="Google Shape;345;p22"/>
          <p:cNvPicPr preferRelativeResize="0"/>
          <p:nvPr/>
        </p:nvPicPr>
        <p:blipFill rotWithShape="1">
          <a:blip r:embed="rId4">
            <a:alphaModFix/>
          </a:blip>
          <a:srcRect b="0" l="0" r="0" t="0"/>
          <a:stretch/>
        </p:blipFill>
        <p:spPr>
          <a:xfrm>
            <a:off x="5554278" y="4482100"/>
            <a:ext cx="364672" cy="39596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5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3"/>
          <p:cNvSpPr/>
          <p:nvPr/>
        </p:nvSpPr>
        <p:spPr>
          <a:xfrm>
            <a:off x="1212972" y="2459582"/>
            <a:ext cx="10091054" cy="3611561"/>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1" name="Google Shape;351;p23"/>
          <p:cNvSpPr txBox="1"/>
          <p:nvPr/>
        </p:nvSpPr>
        <p:spPr>
          <a:xfrm>
            <a:off x="1115000" y="199597"/>
            <a:ext cx="10782300" cy="731156"/>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Filtrando subset de valores perdidos</a:t>
            </a:r>
            <a:endParaRPr b="0" i="0" sz="3200" u="none" cap="none" strike="noStrike">
              <a:solidFill>
                <a:srgbClr val="7F7F7F"/>
              </a:solidFill>
              <a:latin typeface="Arial"/>
              <a:ea typeface="Arial"/>
              <a:cs typeface="Arial"/>
              <a:sym typeface="Arial"/>
            </a:endParaRPr>
          </a:p>
        </p:txBody>
      </p:sp>
      <p:sp>
        <p:nvSpPr>
          <p:cNvPr id="352" name="Google Shape;352;p23"/>
          <p:cNvSpPr/>
          <p:nvPr/>
        </p:nvSpPr>
        <p:spPr>
          <a:xfrm>
            <a:off x="-344422" y="1035047"/>
            <a:ext cx="12756777" cy="1212751"/>
          </a:xfrm>
          <a:prstGeom prst="roundRect">
            <a:avLst>
              <a:gd fmla="val 2971" name="adj"/>
            </a:avLst>
          </a:prstGeom>
          <a:solidFill>
            <a:srgbClr val="98C3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3" name="Google Shape;353;p23"/>
          <p:cNvSpPr txBox="1"/>
          <p:nvPr/>
        </p:nvSpPr>
        <p:spPr>
          <a:xfrm>
            <a:off x="1115000" y="1083204"/>
            <a:ext cx="10091056" cy="132339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Utilizar dropna() “a secas” puede ser un tanto exagerado, a veces tomaremos la decisión de eliminar o no un registro en base a las columnas claves. Para esto, podemos utilizar el parámetro subset.</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p:txBody>
      </p:sp>
      <p:pic>
        <p:nvPicPr>
          <p:cNvPr id="354" name="Google Shape;354;p23"/>
          <p:cNvPicPr preferRelativeResize="0"/>
          <p:nvPr/>
        </p:nvPicPr>
        <p:blipFill rotWithShape="1">
          <a:blip r:embed="rId3">
            <a:alphaModFix/>
          </a:blip>
          <a:srcRect b="0" l="0" r="0" t="0"/>
          <a:stretch/>
        </p:blipFill>
        <p:spPr>
          <a:xfrm>
            <a:off x="5443224" y="5237706"/>
            <a:ext cx="419100" cy="504825"/>
          </a:xfrm>
          <a:prstGeom prst="rect">
            <a:avLst/>
          </a:prstGeom>
          <a:noFill/>
          <a:ln>
            <a:noFill/>
          </a:ln>
        </p:spPr>
      </p:pic>
      <p:pic>
        <p:nvPicPr>
          <p:cNvPr id="355" name="Google Shape;355;p23"/>
          <p:cNvPicPr preferRelativeResize="0"/>
          <p:nvPr/>
        </p:nvPicPr>
        <p:blipFill rotWithShape="1">
          <a:blip r:embed="rId4">
            <a:alphaModFix/>
          </a:blip>
          <a:srcRect b="0" l="0" r="0" t="0"/>
          <a:stretch/>
        </p:blipFill>
        <p:spPr>
          <a:xfrm>
            <a:off x="2332261" y="2585650"/>
            <a:ext cx="6058746" cy="1971950"/>
          </a:xfrm>
          <a:prstGeom prst="rect">
            <a:avLst/>
          </a:prstGeom>
          <a:noFill/>
          <a:ln>
            <a:noFill/>
          </a:ln>
        </p:spPr>
      </p:pic>
      <p:sp>
        <p:nvSpPr>
          <p:cNvPr id="356" name="Google Shape;356;p23"/>
          <p:cNvSpPr txBox="1"/>
          <p:nvPr/>
        </p:nvSpPr>
        <p:spPr>
          <a:xfrm>
            <a:off x="5967084" y="5161105"/>
            <a:ext cx="3444205" cy="67710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200"/>
              <a:buFont typeface="Arial"/>
              <a:buNone/>
            </a:pPr>
            <a:r>
              <a:rPr b="0" i="0" lang="es-ES" sz="1200" u="none" cap="none" strike="noStrike">
                <a:solidFill>
                  <a:srgbClr val="595959"/>
                </a:solidFill>
                <a:latin typeface="Calibri"/>
                <a:ea typeface="Calibri"/>
                <a:cs typeface="Calibri"/>
                <a:sym typeface="Calibri"/>
              </a:rPr>
              <a:t>En este caso hemos especificado que botaremos las filas con valores nulos en las columnas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0" i="0" lang="es-ES" sz="1200" u="none" cap="none" strike="noStrike">
                <a:solidFill>
                  <a:srgbClr val="595959"/>
                </a:solidFill>
                <a:latin typeface="Calibri"/>
                <a:ea typeface="Calibri"/>
                <a:cs typeface="Calibri"/>
                <a:sym typeface="Calibri"/>
              </a:rPr>
              <a:t>SQ_FT y NUM_BEDROOMS</a:t>
            </a:r>
            <a:r>
              <a:rPr b="0" i="0" lang="es-ES" sz="1400" u="none" cap="none" strike="noStrike">
                <a:solidFill>
                  <a:srgbClr val="595959"/>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cxnSp>
        <p:nvCxnSpPr>
          <p:cNvPr id="357" name="Google Shape;357;p23"/>
          <p:cNvCxnSpPr/>
          <p:nvPr/>
        </p:nvCxnSpPr>
        <p:spPr>
          <a:xfrm rot="10800000">
            <a:off x="6925093" y="4463501"/>
            <a:ext cx="316150" cy="588746"/>
          </a:xfrm>
          <a:prstGeom prst="straightConnector1">
            <a:avLst/>
          </a:prstGeom>
          <a:noFill/>
          <a:ln cap="flat" cmpd="sng" w="9525">
            <a:solidFill>
              <a:schemeClr val="accent1"/>
            </a:solidFill>
            <a:prstDash val="solid"/>
            <a:miter lim="800000"/>
            <a:headEnd len="sm" w="sm" type="none"/>
            <a:tailEnd len="med" w="med" type="triangle"/>
          </a:ln>
        </p:spPr>
      </p:cxnSp>
      <p:cxnSp>
        <p:nvCxnSpPr>
          <p:cNvPr id="358" name="Google Shape;358;p23"/>
          <p:cNvCxnSpPr/>
          <p:nvPr/>
        </p:nvCxnSpPr>
        <p:spPr>
          <a:xfrm flipH="1" rot="10800000">
            <a:off x="7643280" y="4430844"/>
            <a:ext cx="428513" cy="654061"/>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50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4"/>
          <p:cNvSpPr/>
          <p:nvPr/>
        </p:nvSpPr>
        <p:spPr>
          <a:xfrm>
            <a:off x="1719942" y="2273912"/>
            <a:ext cx="8305801" cy="4039020"/>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4" name="Google Shape;364;p24"/>
          <p:cNvSpPr txBox="1"/>
          <p:nvPr/>
        </p:nvSpPr>
        <p:spPr>
          <a:xfrm>
            <a:off x="1759325" y="384913"/>
            <a:ext cx="10782300" cy="731156"/>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Filtrando subset de valores perdidos</a:t>
            </a:r>
            <a:endParaRPr b="0" i="0" sz="3200" u="none" cap="none" strike="noStrike">
              <a:solidFill>
                <a:srgbClr val="7F7F7F"/>
              </a:solidFill>
              <a:latin typeface="Arial"/>
              <a:ea typeface="Arial"/>
              <a:cs typeface="Arial"/>
              <a:sym typeface="Arial"/>
            </a:endParaRPr>
          </a:p>
        </p:txBody>
      </p:sp>
      <p:sp>
        <p:nvSpPr>
          <p:cNvPr id="365" name="Google Shape;365;p24"/>
          <p:cNvSpPr/>
          <p:nvPr/>
        </p:nvSpPr>
        <p:spPr>
          <a:xfrm>
            <a:off x="-322729" y="1124401"/>
            <a:ext cx="12853469" cy="891769"/>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6" name="Google Shape;366;p24"/>
          <p:cNvSpPr txBox="1"/>
          <p:nvPr/>
        </p:nvSpPr>
        <p:spPr>
          <a:xfrm>
            <a:off x="1759325" y="1280095"/>
            <a:ext cx="8266418" cy="89255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Con el parámetro thresh se puede setear la cantidad mínima de valores no nulos aceptables para que una columna no sea borrada.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pic>
        <p:nvPicPr>
          <p:cNvPr id="367" name="Google Shape;367;p24"/>
          <p:cNvPicPr preferRelativeResize="0"/>
          <p:nvPr/>
        </p:nvPicPr>
        <p:blipFill rotWithShape="1">
          <a:blip r:embed="rId3">
            <a:alphaModFix/>
          </a:blip>
          <a:srcRect b="0" l="0" r="0" t="0"/>
          <a:stretch/>
        </p:blipFill>
        <p:spPr>
          <a:xfrm>
            <a:off x="2472896" y="5489427"/>
            <a:ext cx="419100" cy="504825"/>
          </a:xfrm>
          <a:prstGeom prst="rect">
            <a:avLst/>
          </a:prstGeom>
          <a:noFill/>
          <a:ln>
            <a:noFill/>
          </a:ln>
        </p:spPr>
      </p:pic>
      <p:sp>
        <p:nvSpPr>
          <p:cNvPr id="368" name="Google Shape;368;p24"/>
          <p:cNvSpPr txBox="1"/>
          <p:nvPr/>
        </p:nvSpPr>
        <p:spPr>
          <a:xfrm>
            <a:off x="2964274" y="5372508"/>
            <a:ext cx="6049220" cy="73866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s-ES" sz="1400" u="none" cap="none" strike="noStrike">
                <a:solidFill>
                  <a:srgbClr val="595959"/>
                </a:solidFill>
                <a:latin typeface="Calibri"/>
                <a:ea typeface="Calibri"/>
                <a:cs typeface="Calibri"/>
                <a:sym typeface="Calibri"/>
              </a:rPr>
              <a:t>En este caso, se ha definido que las filas deben tener al menos 6 valores no nulos, caso contrario son filtrados. Nótese las filas que desaparecieron en el set de datos.</a:t>
            </a:r>
            <a:endParaRPr b="0" i="0" sz="1400" u="none" cap="none" strike="noStrike">
              <a:solidFill>
                <a:srgbClr val="000000"/>
              </a:solidFill>
              <a:latin typeface="Arial"/>
              <a:ea typeface="Arial"/>
              <a:cs typeface="Arial"/>
              <a:sym typeface="Arial"/>
            </a:endParaRPr>
          </a:p>
        </p:txBody>
      </p:sp>
      <p:pic>
        <p:nvPicPr>
          <p:cNvPr id="369" name="Google Shape;369;p24"/>
          <p:cNvPicPr preferRelativeResize="0"/>
          <p:nvPr/>
        </p:nvPicPr>
        <p:blipFill rotWithShape="1">
          <a:blip r:embed="rId4">
            <a:alphaModFix/>
          </a:blip>
          <a:srcRect b="0" l="0" r="0" t="0"/>
          <a:stretch/>
        </p:blipFill>
        <p:spPr>
          <a:xfrm>
            <a:off x="2964274" y="2445866"/>
            <a:ext cx="6049219" cy="27816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5"/>
          <p:cNvSpPr/>
          <p:nvPr/>
        </p:nvSpPr>
        <p:spPr>
          <a:xfrm>
            <a:off x="855795" y="2607122"/>
            <a:ext cx="10308642" cy="3875700"/>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5" name="Google Shape;375;p25"/>
          <p:cNvSpPr txBox="1"/>
          <p:nvPr/>
        </p:nvSpPr>
        <p:spPr>
          <a:xfrm>
            <a:off x="486266" y="409420"/>
            <a:ext cx="5745562" cy="731156"/>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Imputación de un valor fijo</a:t>
            </a:r>
            <a:endParaRPr b="0" i="0" sz="1400" u="none" cap="none" strike="noStrike">
              <a:solidFill>
                <a:srgbClr val="000000"/>
              </a:solidFill>
              <a:latin typeface="Arial"/>
              <a:ea typeface="Arial"/>
              <a:cs typeface="Arial"/>
              <a:sym typeface="Arial"/>
            </a:endParaRPr>
          </a:p>
        </p:txBody>
      </p:sp>
      <p:sp>
        <p:nvSpPr>
          <p:cNvPr id="376" name="Google Shape;376;p25"/>
          <p:cNvSpPr/>
          <p:nvPr/>
        </p:nvSpPr>
        <p:spPr>
          <a:xfrm>
            <a:off x="-268932" y="1140571"/>
            <a:ext cx="12729900" cy="1123500"/>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7" name="Google Shape;377;p25"/>
          <p:cNvSpPr txBox="1"/>
          <p:nvPr/>
        </p:nvSpPr>
        <p:spPr>
          <a:xfrm>
            <a:off x="853804" y="1266050"/>
            <a:ext cx="10308300" cy="1169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La forma más sencilla de realizar una imputación, es mediante la imputación de un valor fijo. En este ejemplo, se han reemplazado los valore nulos por un valor fijo igual a cero. Esta no siempre es la mejor opción, debe estudiarse caso a caso puesto que se está asumiendo un valor ficticio.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pic>
        <p:nvPicPr>
          <p:cNvPr id="378" name="Google Shape;378;p25"/>
          <p:cNvPicPr preferRelativeResize="0"/>
          <p:nvPr/>
        </p:nvPicPr>
        <p:blipFill rotWithShape="1">
          <a:blip r:embed="rId3">
            <a:alphaModFix/>
          </a:blip>
          <a:srcRect b="0" l="0" r="0" t="0"/>
          <a:stretch/>
        </p:blipFill>
        <p:spPr>
          <a:xfrm>
            <a:off x="2600167" y="2765914"/>
            <a:ext cx="6751128" cy="358158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500"/>
                                        <p:tgtEl>
                                          <p:spTgt spid="3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6"/>
          <p:cNvSpPr/>
          <p:nvPr/>
        </p:nvSpPr>
        <p:spPr>
          <a:xfrm>
            <a:off x="925285" y="2424290"/>
            <a:ext cx="10134599" cy="3853963"/>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4" name="Google Shape;384;p26"/>
          <p:cNvSpPr txBox="1"/>
          <p:nvPr/>
        </p:nvSpPr>
        <p:spPr>
          <a:xfrm>
            <a:off x="925286" y="398509"/>
            <a:ext cx="10207770" cy="731156"/>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Imputación del valor promedio, moda o mediana</a:t>
            </a:r>
            <a:endParaRPr b="0" i="0" sz="1400" u="none" cap="none" strike="noStrike">
              <a:solidFill>
                <a:srgbClr val="000000"/>
              </a:solidFill>
              <a:latin typeface="Arial"/>
              <a:ea typeface="Arial"/>
              <a:cs typeface="Arial"/>
              <a:sym typeface="Arial"/>
            </a:endParaRPr>
          </a:p>
        </p:txBody>
      </p:sp>
      <p:sp>
        <p:nvSpPr>
          <p:cNvPr id="385" name="Google Shape;385;p26"/>
          <p:cNvSpPr/>
          <p:nvPr/>
        </p:nvSpPr>
        <p:spPr>
          <a:xfrm>
            <a:off x="-152400" y="1125729"/>
            <a:ext cx="12604376" cy="1184623"/>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6" name="Google Shape;386;p26"/>
          <p:cNvSpPr txBox="1"/>
          <p:nvPr/>
        </p:nvSpPr>
        <p:spPr>
          <a:xfrm>
            <a:off x="925286" y="1207426"/>
            <a:ext cx="10308370" cy="132339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El método de imputación de un promedio, moda o mediana, entrega un valor más razonable para una columna, al menos más razonable que imputar el valor cero en la lámina anterior. Nótese que en este caso el valor resultante imputado fue de 1100 ft.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p:txBody>
      </p:sp>
      <p:pic>
        <p:nvPicPr>
          <p:cNvPr id="387" name="Google Shape;387;p26"/>
          <p:cNvPicPr preferRelativeResize="0"/>
          <p:nvPr/>
        </p:nvPicPr>
        <p:blipFill rotWithShape="1">
          <a:blip r:embed="rId3">
            <a:alphaModFix/>
          </a:blip>
          <a:srcRect b="0" l="0" r="0" t="0"/>
          <a:stretch/>
        </p:blipFill>
        <p:spPr>
          <a:xfrm>
            <a:off x="2840418" y="2527889"/>
            <a:ext cx="6358761" cy="36249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500"/>
                                        <p:tgtEl>
                                          <p:spTgt spid="3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7"/>
          <p:cNvSpPr/>
          <p:nvPr/>
        </p:nvSpPr>
        <p:spPr>
          <a:xfrm>
            <a:off x="-365633" y="1536094"/>
            <a:ext cx="11236197" cy="3985140"/>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3" name="Google Shape;393;p27"/>
          <p:cNvSpPr txBox="1"/>
          <p:nvPr/>
        </p:nvSpPr>
        <p:spPr>
          <a:xfrm>
            <a:off x="863034" y="313730"/>
            <a:ext cx="9996644"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Otros métodos avanzados de imputación</a:t>
            </a:r>
            <a:endParaRPr b="0" i="0" sz="1400" u="none" cap="none" strike="noStrike">
              <a:solidFill>
                <a:srgbClr val="000000"/>
              </a:solidFill>
              <a:latin typeface="Arial"/>
              <a:ea typeface="Arial"/>
              <a:cs typeface="Arial"/>
              <a:sym typeface="Arial"/>
            </a:endParaRPr>
          </a:p>
        </p:txBody>
      </p:sp>
      <p:sp>
        <p:nvSpPr>
          <p:cNvPr id="394" name="Google Shape;394;p27"/>
          <p:cNvSpPr txBox="1"/>
          <p:nvPr/>
        </p:nvSpPr>
        <p:spPr>
          <a:xfrm>
            <a:off x="873920" y="1727975"/>
            <a:ext cx="8757089" cy="34163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Otras formas más avanzadas de realizar imputaciones son las siguientes: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Arial"/>
              <a:ea typeface="Arial"/>
              <a:cs typeface="Arial"/>
              <a:sym typeface="Arial"/>
            </a:endParaRPr>
          </a:p>
          <a:p>
            <a:pPr indent="-342900" lvl="1" marL="800100" marR="0" rtl="0" algn="just">
              <a:lnSpc>
                <a:spcPct val="100000"/>
              </a:lnSpc>
              <a:spcBef>
                <a:spcPts val="0"/>
              </a:spcBef>
              <a:spcAft>
                <a:spcPts val="0"/>
              </a:spcAft>
              <a:buClr>
                <a:schemeClr val="lt1"/>
              </a:buClr>
              <a:buSzPts val="1800"/>
              <a:buFont typeface="Arial"/>
              <a:buChar char="•"/>
            </a:pPr>
            <a:r>
              <a:rPr b="1" i="0" lang="es-ES" sz="1800" u="none" cap="none" strike="noStrike">
                <a:solidFill>
                  <a:schemeClr val="lt1"/>
                </a:solidFill>
                <a:latin typeface="Calibri"/>
                <a:ea typeface="Calibri"/>
                <a:cs typeface="Calibri"/>
                <a:sym typeface="Calibri"/>
              </a:rPr>
              <a:t>Imputación estratificada: </a:t>
            </a:r>
            <a:r>
              <a:rPr b="0" i="0" lang="es-ES" sz="1800" u="none" cap="none" strike="noStrike">
                <a:solidFill>
                  <a:schemeClr val="lt1"/>
                </a:solidFill>
                <a:latin typeface="Calibri"/>
                <a:ea typeface="Calibri"/>
                <a:cs typeface="Calibri"/>
                <a:sym typeface="Calibri"/>
              </a:rPr>
              <a:t>agrupamos los registros en base a un criterio o estrato y en base al promedio, mediana o moda del estrato realizamos la imputación.</a:t>
            </a:r>
            <a:endParaRPr b="0" i="0" sz="1400" u="none" cap="none" strike="noStrike">
              <a:solidFill>
                <a:srgbClr val="000000"/>
              </a:solidFill>
              <a:latin typeface="Arial"/>
              <a:ea typeface="Arial"/>
              <a:cs typeface="Arial"/>
              <a:sym typeface="Arial"/>
            </a:endParaRPr>
          </a:p>
          <a:p>
            <a:pPr indent="-228600" lvl="1" marL="800100" marR="0" rtl="0" algn="just">
              <a:lnSpc>
                <a:spcPct val="100000"/>
              </a:lnSpc>
              <a:spcBef>
                <a:spcPts val="0"/>
              </a:spcBef>
              <a:spcAft>
                <a:spcPts val="0"/>
              </a:spcAft>
              <a:buClr>
                <a:schemeClr val="dk1"/>
              </a:buClr>
              <a:buSzPts val="1800"/>
              <a:buFont typeface="Arial"/>
              <a:buNone/>
            </a:pPr>
            <a:r>
              <a:t/>
            </a:r>
            <a:endParaRPr b="1" i="0" sz="1800" u="none" cap="none" strike="noStrike">
              <a:solidFill>
                <a:schemeClr val="lt1"/>
              </a:solidFill>
              <a:latin typeface="Calibri"/>
              <a:ea typeface="Calibri"/>
              <a:cs typeface="Calibri"/>
              <a:sym typeface="Calibri"/>
            </a:endParaRPr>
          </a:p>
          <a:p>
            <a:pPr indent="-342900" lvl="1" marL="800100" marR="0" rtl="0" algn="just">
              <a:lnSpc>
                <a:spcPct val="100000"/>
              </a:lnSpc>
              <a:spcBef>
                <a:spcPts val="0"/>
              </a:spcBef>
              <a:spcAft>
                <a:spcPts val="0"/>
              </a:spcAft>
              <a:buClr>
                <a:schemeClr val="lt1"/>
              </a:buClr>
              <a:buSzPts val="1800"/>
              <a:buFont typeface="Arial"/>
              <a:buChar char="•"/>
            </a:pPr>
            <a:r>
              <a:rPr b="1" i="0" lang="es-ES" sz="1800" u="none" cap="none" strike="noStrike">
                <a:solidFill>
                  <a:schemeClr val="lt1"/>
                </a:solidFill>
                <a:latin typeface="Calibri"/>
                <a:ea typeface="Calibri"/>
                <a:cs typeface="Calibri"/>
                <a:sym typeface="Calibri"/>
              </a:rPr>
              <a:t>Modelos regresivos: </a:t>
            </a:r>
            <a:r>
              <a:rPr b="0" i="0" lang="es-ES" sz="1800" u="none" cap="none" strike="noStrike">
                <a:solidFill>
                  <a:schemeClr val="lt1"/>
                </a:solidFill>
                <a:latin typeface="Calibri"/>
                <a:ea typeface="Calibri"/>
                <a:cs typeface="Calibri"/>
                <a:sym typeface="Calibri"/>
              </a:rPr>
              <a:t>en el caso de variables numéricas, como por ejemplo, el valor de SQ_FT, se podría elaborar una regresión lineal en base a los atributos NUM_BEDROOMS y NUM_BATH.</a:t>
            </a:r>
            <a:endParaRPr b="0" i="0" sz="1400" u="none" cap="none" strike="noStrike">
              <a:solidFill>
                <a:srgbClr val="000000"/>
              </a:solidFill>
              <a:latin typeface="Arial"/>
              <a:ea typeface="Arial"/>
              <a:cs typeface="Arial"/>
              <a:sym typeface="Arial"/>
            </a:endParaRPr>
          </a:p>
          <a:p>
            <a:pPr indent="-228600" lvl="1" marL="800100" marR="0" rtl="0" algn="just">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Calibri"/>
              <a:ea typeface="Calibri"/>
              <a:cs typeface="Calibri"/>
              <a:sym typeface="Calibri"/>
            </a:endParaRPr>
          </a:p>
          <a:p>
            <a:pPr indent="-342900" lvl="1" marL="800100" marR="0" rtl="0" algn="just">
              <a:lnSpc>
                <a:spcPct val="100000"/>
              </a:lnSpc>
              <a:spcBef>
                <a:spcPts val="0"/>
              </a:spcBef>
              <a:spcAft>
                <a:spcPts val="0"/>
              </a:spcAft>
              <a:buClr>
                <a:schemeClr val="lt1"/>
              </a:buClr>
              <a:buSzPts val="1800"/>
              <a:buFont typeface="Arial"/>
              <a:buChar char="•"/>
            </a:pPr>
            <a:r>
              <a:rPr b="1" i="0" lang="es-ES" sz="1800" u="none" cap="none" strike="noStrike">
                <a:solidFill>
                  <a:schemeClr val="lt1"/>
                </a:solidFill>
                <a:latin typeface="Calibri"/>
                <a:ea typeface="Calibri"/>
                <a:cs typeface="Calibri"/>
                <a:sym typeface="Calibri"/>
              </a:rPr>
              <a:t>Modelos de aprendizaje: </a:t>
            </a:r>
            <a:r>
              <a:rPr b="0" i="0" lang="es-ES" sz="1800" u="none" cap="none" strike="noStrike">
                <a:solidFill>
                  <a:schemeClr val="lt1"/>
                </a:solidFill>
                <a:latin typeface="Calibri"/>
                <a:ea typeface="Calibri"/>
                <a:cs typeface="Calibri"/>
                <a:sym typeface="Calibri"/>
              </a:rPr>
              <a:t>A veces se emplean métodos de aprendizaje de máquina tales como K-Means para estimar y reemplazar la data perdida. Este método podría ser utilizado tanto para determinar variables numéricas como categóricas.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8"/>
          <p:cNvSpPr/>
          <p:nvPr/>
        </p:nvSpPr>
        <p:spPr>
          <a:xfrm>
            <a:off x="3049121" y="1716830"/>
            <a:ext cx="6531430" cy="3986385"/>
          </a:xfrm>
          <a:prstGeom prst="roundRect">
            <a:avLst>
              <a:gd fmla="val 2971"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0" name="Google Shape;400;p28"/>
          <p:cNvSpPr txBox="1"/>
          <p:nvPr/>
        </p:nvSpPr>
        <p:spPr>
          <a:xfrm>
            <a:off x="-2704946" y="521194"/>
            <a:ext cx="10782300" cy="100806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Valores</a:t>
            </a:r>
            <a:r>
              <a:rPr b="1" i="0" lang="es-ES" sz="3200" u="none" cap="none" strike="noStrike">
                <a:solidFill>
                  <a:srgbClr val="7F7F7F"/>
                </a:solidFill>
                <a:latin typeface="Arial"/>
                <a:ea typeface="Arial"/>
                <a:cs typeface="Arial"/>
                <a:sym typeface="Arial"/>
              </a:rPr>
              <a:t> </a:t>
            </a:r>
            <a:r>
              <a:rPr b="0" i="0" lang="es-ES" sz="3200" u="none" cap="none" strike="noStrike">
                <a:solidFill>
                  <a:srgbClr val="7F7F7F"/>
                </a:solidFill>
                <a:latin typeface="Arial"/>
                <a:ea typeface="Arial"/>
                <a:cs typeface="Arial"/>
                <a:sym typeface="Arial"/>
              </a:rPr>
              <a:t>Atípicos</a:t>
            </a:r>
            <a:endParaRPr b="0" i="0" sz="1400" u="none" cap="none" strike="noStrike">
              <a:solidFill>
                <a:srgbClr val="000000"/>
              </a:solidFill>
              <a:latin typeface="Arial"/>
              <a:ea typeface="Arial"/>
              <a:cs typeface="Arial"/>
              <a:sym typeface="Arial"/>
            </a:endParaRPr>
          </a:p>
        </p:txBody>
      </p:sp>
      <p:pic>
        <p:nvPicPr>
          <p:cNvPr id="401" name="Google Shape;401;p28"/>
          <p:cNvPicPr preferRelativeResize="0"/>
          <p:nvPr/>
        </p:nvPicPr>
        <p:blipFill rotWithShape="1">
          <a:blip r:embed="rId3">
            <a:alphaModFix/>
          </a:blip>
          <a:srcRect b="0" l="0" r="0" t="0"/>
          <a:stretch/>
        </p:blipFill>
        <p:spPr>
          <a:xfrm>
            <a:off x="4180742" y="1990401"/>
            <a:ext cx="4500629" cy="3297728"/>
          </a:xfrm>
          <a:prstGeom prst="rect">
            <a:avLst/>
          </a:prstGeom>
          <a:noFill/>
          <a:ln>
            <a:noFill/>
          </a:ln>
          <a:effectLst>
            <a:outerShdw blurRad="190500" rotWithShape="0" algn="tl">
              <a:srgbClr val="000000">
                <a:alpha val="69411"/>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5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9"/>
          <p:cNvSpPr/>
          <p:nvPr/>
        </p:nvSpPr>
        <p:spPr>
          <a:xfrm>
            <a:off x="-440557" y="1164771"/>
            <a:ext cx="5883000" cy="5139600"/>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7" name="Google Shape;407;p29"/>
          <p:cNvSpPr txBox="1"/>
          <p:nvPr/>
        </p:nvSpPr>
        <p:spPr>
          <a:xfrm>
            <a:off x="745593" y="182881"/>
            <a:ext cx="10352319"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¿Qué es un valor atípico?</a:t>
            </a:r>
            <a:endParaRPr b="0" i="0" sz="3200" u="none" cap="none" strike="noStrike">
              <a:solidFill>
                <a:srgbClr val="7F7F7F"/>
              </a:solidFill>
              <a:latin typeface="Arial"/>
              <a:ea typeface="Arial"/>
              <a:cs typeface="Arial"/>
              <a:sym typeface="Arial"/>
            </a:endParaRPr>
          </a:p>
        </p:txBody>
      </p:sp>
      <p:sp>
        <p:nvSpPr>
          <p:cNvPr id="408" name="Google Shape;408;p29"/>
          <p:cNvSpPr txBox="1"/>
          <p:nvPr/>
        </p:nvSpPr>
        <p:spPr>
          <a:xfrm>
            <a:off x="789137" y="1317670"/>
            <a:ext cx="4348920" cy="47705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s-ES" sz="1600" u="none" cap="none" strike="noStrike">
                <a:solidFill>
                  <a:schemeClr val="lt1"/>
                </a:solidFill>
                <a:latin typeface="Calibri"/>
                <a:ea typeface="Calibri"/>
                <a:cs typeface="Calibri"/>
                <a:sym typeface="Calibri"/>
              </a:rPr>
              <a:t>Un valor atípico, en un set de datos, corresponde a una observación que es numéricamente distantes del resto de los datos, extremadamente grande o extremadamente pequeña. Un valor atípico puede generar un efecto desproporcionado en los resultados estadísticos, como la media, lo cual puede conducir a interpretaciones engañosas.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600"/>
              <a:buFont typeface="Arial"/>
              <a:buNone/>
            </a:pPr>
            <a:r>
              <a:rPr b="0" i="0" lang="es-ES" sz="1600" u="none" cap="none" strike="noStrike">
                <a:solidFill>
                  <a:schemeClr val="lt1"/>
                </a:solidFill>
                <a:latin typeface="Calibri"/>
                <a:ea typeface="Calibri"/>
                <a:cs typeface="Calibri"/>
                <a:sym typeface="Calibri"/>
              </a:rPr>
              <a:t>Un valor atípico, llamado a veces anomalía, podría deberse a un fenómeno único (por ejemplo, una lista de clientes de un banco con una persona de 124 años) o bien podría ser producido por un error (por ejemplo, ingresaron 124 en vez de 24 años al momento de crear al cliente).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600"/>
              <a:buFont typeface="Arial"/>
              <a:buNone/>
            </a:pPr>
            <a:r>
              <a:rPr b="0" i="0" lang="es-ES" sz="1600" u="none" cap="none" strike="noStrike">
                <a:solidFill>
                  <a:schemeClr val="lt1"/>
                </a:solidFill>
                <a:latin typeface="Calibri"/>
                <a:ea typeface="Calibri"/>
                <a:cs typeface="Calibri"/>
                <a:sym typeface="Calibri"/>
              </a:rPr>
              <a:t>Sea cual sea el dato, es conveniente identificar la presencia de valores atípicos o anomalías en los datos.</a:t>
            </a:r>
            <a:endParaRPr b="0" i="0" sz="1400" u="none" cap="none" strike="noStrike">
              <a:solidFill>
                <a:srgbClr val="000000"/>
              </a:solidFill>
              <a:latin typeface="Arial"/>
              <a:ea typeface="Arial"/>
              <a:cs typeface="Arial"/>
              <a:sym typeface="Arial"/>
            </a:endParaRPr>
          </a:p>
        </p:txBody>
      </p:sp>
      <p:sp>
        <p:nvSpPr>
          <p:cNvPr id="409" name="Google Shape;409;p29"/>
          <p:cNvSpPr/>
          <p:nvPr/>
        </p:nvSpPr>
        <p:spPr>
          <a:xfrm>
            <a:off x="5660686" y="1157187"/>
            <a:ext cx="6411300" cy="4294500"/>
          </a:xfrm>
          <a:prstGeom prst="roundRect">
            <a:avLst>
              <a:gd fmla="val 2971" name="adj"/>
            </a:avLst>
          </a:prstGeom>
          <a:solidFill>
            <a:schemeClr val="lt1"/>
          </a:solidFill>
          <a:ln cap="flat" cmpd="sng" w="38100">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10" name="Google Shape;410;p29"/>
          <p:cNvPicPr preferRelativeResize="0"/>
          <p:nvPr/>
        </p:nvPicPr>
        <p:blipFill rotWithShape="1">
          <a:blip r:embed="rId3">
            <a:alphaModFix/>
          </a:blip>
          <a:srcRect b="0" l="0" r="0" t="0"/>
          <a:stretch/>
        </p:blipFill>
        <p:spPr>
          <a:xfrm>
            <a:off x="5857282" y="1509487"/>
            <a:ext cx="6018092" cy="358990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500"/>
                                        <p:tgtEl>
                                          <p:spTgt spid="4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0"/>
          <p:cNvSpPr/>
          <p:nvPr/>
        </p:nvSpPr>
        <p:spPr>
          <a:xfrm>
            <a:off x="-127730" y="2002971"/>
            <a:ext cx="5843074" cy="3843530"/>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6" name="Google Shape;416;p30"/>
          <p:cNvSpPr txBox="1"/>
          <p:nvPr/>
        </p:nvSpPr>
        <p:spPr>
          <a:xfrm>
            <a:off x="555173" y="599486"/>
            <a:ext cx="10782300"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¿Qué es un valor atípico?</a:t>
            </a:r>
            <a:endParaRPr b="0" i="0" sz="3200" u="none" cap="none" strike="noStrike">
              <a:solidFill>
                <a:srgbClr val="7F7F7F"/>
              </a:solidFill>
              <a:latin typeface="Arial"/>
              <a:ea typeface="Arial"/>
              <a:cs typeface="Arial"/>
              <a:sym typeface="Arial"/>
            </a:endParaRPr>
          </a:p>
        </p:txBody>
      </p:sp>
      <p:sp>
        <p:nvSpPr>
          <p:cNvPr id="417" name="Google Shape;417;p30"/>
          <p:cNvSpPr txBox="1"/>
          <p:nvPr/>
        </p:nvSpPr>
        <p:spPr>
          <a:xfrm>
            <a:off x="720825" y="2211977"/>
            <a:ext cx="4348920" cy="313932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Nótese en el siguiente diagrama de dispersión la presencia de un valor extremo por sobre las 500 libras en el valor del pasaje pagado en el dataset del Titanic.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Nótese también, cómo la media de los valores tiende a alejarse de la mediana. Esto ocurre porque la media corresponde a promedio aritmético, el cual se ve distorsionado por causa del valor extremadamente alto.</a:t>
            </a:r>
            <a:endParaRPr b="0" i="0" sz="1400" u="none" cap="none" strike="noStrike">
              <a:solidFill>
                <a:srgbClr val="000000"/>
              </a:solidFill>
              <a:latin typeface="Arial"/>
              <a:ea typeface="Arial"/>
              <a:cs typeface="Arial"/>
              <a:sym typeface="Arial"/>
            </a:endParaRPr>
          </a:p>
        </p:txBody>
      </p:sp>
      <p:pic>
        <p:nvPicPr>
          <p:cNvPr id="418" name="Google Shape;418;p30"/>
          <p:cNvPicPr preferRelativeResize="0"/>
          <p:nvPr/>
        </p:nvPicPr>
        <p:blipFill rotWithShape="1">
          <a:blip r:embed="rId3">
            <a:alphaModFix/>
          </a:blip>
          <a:srcRect b="0" l="0" r="0" t="0"/>
          <a:stretch/>
        </p:blipFill>
        <p:spPr>
          <a:xfrm>
            <a:off x="6336173" y="603134"/>
            <a:ext cx="4734121" cy="3620005"/>
          </a:xfrm>
          <a:prstGeom prst="rect">
            <a:avLst/>
          </a:prstGeom>
          <a:noFill/>
          <a:ln>
            <a:noFill/>
          </a:ln>
          <a:effectLst>
            <a:outerShdw blurRad="190500" rotWithShape="0" algn="tl">
              <a:srgbClr val="000000">
                <a:alpha val="69411"/>
              </a:srgbClr>
            </a:outerShdw>
          </a:effectLst>
        </p:spPr>
      </p:pic>
      <p:pic>
        <p:nvPicPr>
          <p:cNvPr id="419" name="Google Shape;419;p30"/>
          <p:cNvPicPr preferRelativeResize="0"/>
          <p:nvPr/>
        </p:nvPicPr>
        <p:blipFill rotWithShape="1">
          <a:blip r:embed="rId4">
            <a:alphaModFix/>
          </a:blip>
          <a:srcRect b="0" l="0" r="0" t="0"/>
          <a:stretch/>
        </p:blipFill>
        <p:spPr>
          <a:xfrm>
            <a:off x="6336173" y="4223139"/>
            <a:ext cx="4753638" cy="2010056"/>
          </a:xfrm>
          <a:prstGeom prst="rect">
            <a:avLst/>
          </a:prstGeom>
          <a:noFill/>
          <a:ln>
            <a:noFill/>
          </a:ln>
          <a:effectLst>
            <a:outerShdw blurRad="190500" rotWithShape="0" algn="tl">
              <a:srgbClr val="000000">
                <a:alpha val="69411"/>
              </a:srgbClr>
            </a:outerShdw>
          </a:effectLst>
        </p:spPr>
      </p:pic>
      <p:cxnSp>
        <p:nvCxnSpPr>
          <p:cNvPr id="420" name="Google Shape;420;p30"/>
          <p:cNvCxnSpPr/>
          <p:nvPr/>
        </p:nvCxnSpPr>
        <p:spPr>
          <a:xfrm flipH="1" rot="10800000">
            <a:off x="5175315" y="1885361"/>
            <a:ext cx="2997724" cy="763572"/>
          </a:xfrm>
          <a:prstGeom prst="straightConnector1">
            <a:avLst/>
          </a:prstGeom>
          <a:noFill/>
          <a:ln cap="flat" cmpd="sng" w="19050">
            <a:solidFill>
              <a:srgbClr val="757070"/>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1"/>
          <p:cNvSpPr txBox="1"/>
          <p:nvPr>
            <p:ph type="title"/>
          </p:nvPr>
        </p:nvSpPr>
        <p:spPr>
          <a:xfrm>
            <a:off x="6258851" y="617130"/>
            <a:ext cx="4930220" cy="1325563"/>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SzPts val="1400"/>
              <a:buNone/>
            </a:pPr>
            <a:r>
              <a:rPr b="0" i="0" lang="es-ES" sz="3200" u="none" cap="none" strike="noStrike">
                <a:solidFill>
                  <a:srgbClr val="7F7F7F"/>
                </a:solidFill>
                <a:latin typeface="Arial"/>
                <a:ea typeface="Arial"/>
                <a:cs typeface="Arial"/>
                <a:sym typeface="Arial"/>
              </a:rPr>
              <a:t>¿Qué es un valor atípico?</a:t>
            </a:r>
            <a:endParaRPr b="0" i="0" sz="3200" u="none" cap="none" strike="noStrike">
              <a:solidFill>
                <a:srgbClr val="7F7F7F"/>
              </a:solidFill>
              <a:latin typeface="Arial"/>
              <a:ea typeface="Arial"/>
              <a:cs typeface="Arial"/>
              <a:sym typeface="Arial"/>
            </a:endParaRPr>
          </a:p>
        </p:txBody>
      </p:sp>
      <p:sp>
        <p:nvSpPr>
          <p:cNvPr id="426" name="Google Shape;426;p31"/>
          <p:cNvSpPr/>
          <p:nvPr/>
        </p:nvSpPr>
        <p:spPr>
          <a:xfrm>
            <a:off x="5657444" y="2383189"/>
            <a:ext cx="5871537" cy="3702860"/>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7" name="Google Shape;427;p31"/>
          <p:cNvSpPr txBox="1"/>
          <p:nvPr/>
        </p:nvSpPr>
        <p:spPr>
          <a:xfrm>
            <a:off x="6321212" y="2757151"/>
            <a:ext cx="4797926" cy="286232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Nótese en el siguiente diagrama de dispersión la presencia de un valor extremo por sobre las 500 libras en el valor del pasaje pagado en el dataset del Titanic.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Nótese también, cómo la media de los valores tiende a alejarse de la mediana. Esto ocurre porque la media corresponde a promedio aritmético, el cual se ve distorsionado por causa del valor extremadamente alto.</a:t>
            </a:r>
            <a:endParaRPr b="0" i="0" sz="1400" u="none" cap="none" strike="noStrike">
              <a:solidFill>
                <a:srgbClr val="000000"/>
              </a:solidFill>
              <a:latin typeface="Arial"/>
              <a:ea typeface="Arial"/>
              <a:cs typeface="Arial"/>
              <a:sym typeface="Arial"/>
            </a:endParaRPr>
          </a:p>
        </p:txBody>
      </p:sp>
      <p:sp>
        <p:nvSpPr>
          <p:cNvPr id="428" name="Google Shape;428;p31"/>
          <p:cNvSpPr/>
          <p:nvPr/>
        </p:nvSpPr>
        <p:spPr>
          <a:xfrm>
            <a:off x="726356" y="451478"/>
            <a:ext cx="5214679" cy="6074228"/>
          </a:xfrm>
          <a:prstGeom prst="roundRect">
            <a:avLst>
              <a:gd fmla="val 2971" name="adj"/>
            </a:avLst>
          </a:prstGeom>
          <a:solidFill>
            <a:schemeClr val="lt1"/>
          </a:solidFill>
          <a:ln cap="flat" cmpd="sng" w="3810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29" name="Google Shape;429;p31"/>
          <p:cNvPicPr preferRelativeResize="0"/>
          <p:nvPr/>
        </p:nvPicPr>
        <p:blipFill rotWithShape="1">
          <a:blip r:embed="rId3">
            <a:alphaModFix/>
          </a:blip>
          <a:srcRect b="0" l="0" r="0" t="0"/>
          <a:stretch/>
        </p:blipFill>
        <p:spPr>
          <a:xfrm>
            <a:off x="1046780" y="614614"/>
            <a:ext cx="4706007" cy="3620005"/>
          </a:xfrm>
          <a:prstGeom prst="rect">
            <a:avLst/>
          </a:prstGeom>
          <a:noFill/>
          <a:ln>
            <a:noFill/>
          </a:ln>
        </p:spPr>
      </p:pic>
      <p:pic>
        <p:nvPicPr>
          <p:cNvPr id="430" name="Google Shape;430;p31"/>
          <p:cNvPicPr preferRelativeResize="0"/>
          <p:nvPr/>
        </p:nvPicPr>
        <p:blipFill rotWithShape="1">
          <a:blip r:embed="rId4">
            <a:alphaModFix/>
          </a:blip>
          <a:srcRect b="0" l="0" r="0" t="0"/>
          <a:stretch/>
        </p:blipFill>
        <p:spPr>
          <a:xfrm>
            <a:off x="999149" y="4234619"/>
            <a:ext cx="4753638" cy="2010056"/>
          </a:xfrm>
          <a:prstGeom prst="rect">
            <a:avLst/>
          </a:prstGeom>
          <a:noFill/>
          <a:ln>
            <a:noFill/>
          </a:ln>
        </p:spPr>
      </p:pic>
      <p:cxnSp>
        <p:nvCxnSpPr>
          <p:cNvPr id="431" name="Google Shape;431;p31"/>
          <p:cNvCxnSpPr/>
          <p:nvPr/>
        </p:nvCxnSpPr>
        <p:spPr>
          <a:xfrm rot="10800000">
            <a:off x="3186261" y="1891238"/>
            <a:ext cx="3134951" cy="1238461"/>
          </a:xfrm>
          <a:prstGeom prst="straightConnector1">
            <a:avLst/>
          </a:prstGeom>
          <a:noFill/>
          <a:ln cap="flat" cmpd="sng" w="28575">
            <a:solidFill>
              <a:srgbClr val="D8D8D8"/>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500"/>
                                        <p:tgtEl>
                                          <p:spTgt spid="4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5" name="Shape 435"/>
        <p:cNvGrpSpPr/>
        <p:nvPr/>
      </p:nvGrpSpPr>
      <p:grpSpPr>
        <a:xfrm>
          <a:off x="0" y="0"/>
          <a:ext cx="0" cy="0"/>
          <a:chOff x="0" y="0"/>
          <a:chExt cx="0" cy="0"/>
        </a:xfrm>
      </p:grpSpPr>
      <p:sp>
        <p:nvSpPr>
          <p:cNvPr id="436" name="Google Shape;436;p32"/>
          <p:cNvSpPr txBox="1"/>
          <p:nvPr/>
        </p:nvSpPr>
        <p:spPr>
          <a:xfrm>
            <a:off x="870857" y="458075"/>
            <a:ext cx="10227000" cy="100800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¿Qué es un valor atípico?</a:t>
            </a:r>
            <a:endParaRPr b="0" i="0" sz="3200" u="none" cap="none" strike="noStrike">
              <a:solidFill>
                <a:srgbClr val="7F7F7F"/>
              </a:solidFill>
              <a:latin typeface="Arial"/>
              <a:ea typeface="Arial"/>
              <a:cs typeface="Arial"/>
              <a:sym typeface="Arial"/>
            </a:endParaRPr>
          </a:p>
        </p:txBody>
      </p:sp>
      <p:sp>
        <p:nvSpPr>
          <p:cNvPr id="437" name="Google Shape;437;p32"/>
          <p:cNvSpPr/>
          <p:nvPr/>
        </p:nvSpPr>
        <p:spPr>
          <a:xfrm>
            <a:off x="870857" y="1458874"/>
            <a:ext cx="10363500" cy="4278000"/>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38" name="Google Shape;438;p32"/>
          <p:cNvPicPr preferRelativeResize="0"/>
          <p:nvPr/>
        </p:nvPicPr>
        <p:blipFill rotWithShape="1">
          <a:blip r:embed="rId4">
            <a:alphaModFix/>
          </a:blip>
          <a:srcRect b="0" l="0" r="0" t="0"/>
          <a:stretch/>
        </p:blipFill>
        <p:spPr>
          <a:xfrm>
            <a:off x="3333010" y="1802570"/>
            <a:ext cx="4459432" cy="3344574"/>
          </a:xfrm>
          <a:prstGeom prst="rect">
            <a:avLst/>
          </a:prstGeom>
          <a:noFill/>
          <a:ln>
            <a:noFill/>
          </a:ln>
        </p:spPr>
      </p:pic>
      <p:cxnSp>
        <p:nvCxnSpPr>
          <p:cNvPr id="439" name="Google Shape;439;p32"/>
          <p:cNvCxnSpPr/>
          <p:nvPr/>
        </p:nvCxnSpPr>
        <p:spPr>
          <a:xfrm flipH="1">
            <a:off x="5829479" y="1892451"/>
            <a:ext cx="2439884" cy="420453"/>
          </a:xfrm>
          <a:prstGeom prst="straightConnector1">
            <a:avLst/>
          </a:prstGeom>
          <a:noFill/>
          <a:ln cap="flat" cmpd="sng" w="9525">
            <a:solidFill>
              <a:schemeClr val="accent1"/>
            </a:solidFill>
            <a:prstDash val="solid"/>
            <a:miter lim="800000"/>
            <a:headEnd len="sm" w="sm" type="none"/>
            <a:tailEnd len="med" w="med" type="triangle"/>
          </a:ln>
        </p:spPr>
      </p:cxnSp>
      <p:sp>
        <p:nvSpPr>
          <p:cNvPr id="440" name="Google Shape;440;p32"/>
          <p:cNvSpPr txBox="1"/>
          <p:nvPr/>
        </p:nvSpPr>
        <p:spPr>
          <a:xfrm>
            <a:off x="8403773" y="1686472"/>
            <a:ext cx="1374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Valores atípicos</a:t>
            </a:r>
            <a:endParaRPr b="0" i="0" sz="1400" u="none" cap="none" strike="noStrike">
              <a:solidFill>
                <a:srgbClr val="000000"/>
              </a:solidFill>
              <a:latin typeface="Arial"/>
              <a:ea typeface="Arial"/>
              <a:cs typeface="Arial"/>
              <a:sym typeface="Arial"/>
            </a:endParaRPr>
          </a:p>
        </p:txBody>
      </p:sp>
      <p:cxnSp>
        <p:nvCxnSpPr>
          <p:cNvPr id="441" name="Google Shape;441;p32"/>
          <p:cNvCxnSpPr/>
          <p:nvPr/>
        </p:nvCxnSpPr>
        <p:spPr>
          <a:xfrm flipH="1">
            <a:off x="5993110" y="3747834"/>
            <a:ext cx="2452500" cy="27600"/>
          </a:xfrm>
          <a:prstGeom prst="straightConnector1">
            <a:avLst/>
          </a:prstGeom>
          <a:noFill/>
          <a:ln cap="flat" cmpd="sng" w="9525">
            <a:solidFill>
              <a:schemeClr val="accent1"/>
            </a:solidFill>
            <a:prstDash val="solid"/>
            <a:miter lim="800000"/>
            <a:headEnd len="sm" w="sm" type="none"/>
            <a:tailEnd len="med" w="med" type="triangle"/>
          </a:ln>
        </p:spPr>
      </p:cxnSp>
      <p:sp>
        <p:nvSpPr>
          <p:cNvPr id="442" name="Google Shape;442;p32"/>
          <p:cNvSpPr txBox="1"/>
          <p:nvPr/>
        </p:nvSpPr>
        <p:spPr>
          <a:xfrm>
            <a:off x="8445610" y="3593946"/>
            <a:ext cx="2366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Mediana (50% de la muestra</a:t>
            </a:r>
            <a:r>
              <a:rPr b="0" i="0" lang="es-E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cxnSp>
        <p:nvCxnSpPr>
          <p:cNvPr id="443" name="Google Shape;443;p32"/>
          <p:cNvCxnSpPr/>
          <p:nvPr/>
        </p:nvCxnSpPr>
        <p:spPr>
          <a:xfrm rot="10800000">
            <a:off x="5785243" y="4703827"/>
            <a:ext cx="1128300" cy="692700"/>
          </a:xfrm>
          <a:prstGeom prst="straightConnector1">
            <a:avLst/>
          </a:prstGeom>
          <a:noFill/>
          <a:ln cap="flat" cmpd="sng" w="9525">
            <a:solidFill>
              <a:schemeClr val="accent1"/>
            </a:solidFill>
            <a:prstDash val="solid"/>
            <a:miter lim="800000"/>
            <a:headEnd len="sm" w="sm" type="none"/>
            <a:tailEnd len="med" w="med" type="triangle"/>
          </a:ln>
        </p:spPr>
      </p:cxnSp>
      <p:sp>
        <p:nvSpPr>
          <p:cNvPr id="444" name="Google Shape;444;p32"/>
          <p:cNvSpPr txBox="1"/>
          <p:nvPr/>
        </p:nvSpPr>
        <p:spPr>
          <a:xfrm>
            <a:off x="6913543" y="5303493"/>
            <a:ext cx="1196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Valor mínimo</a:t>
            </a:r>
            <a:endParaRPr b="0" i="0" sz="1400" u="none" cap="none" strike="noStrike">
              <a:solidFill>
                <a:srgbClr val="000000"/>
              </a:solidFill>
              <a:latin typeface="Arial"/>
              <a:ea typeface="Arial"/>
              <a:cs typeface="Arial"/>
              <a:sym typeface="Arial"/>
            </a:endParaRPr>
          </a:p>
        </p:txBody>
      </p:sp>
      <p:cxnSp>
        <p:nvCxnSpPr>
          <p:cNvPr id="445" name="Google Shape;445;p32"/>
          <p:cNvCxnSpPr>
            <a:stCxn id="446" idx="1"/>
          </p:cNvCxnSpPr>
          <p:nvPr/>
        </p:nvCxnSpPr>
        <p:spPr>
          <a:xfrm rot="10800000">
            <a:off x="5916055" y="4024801"/>
            <a:ext cx="2540100" cy="346500"/>
          </a:xfrm>
          <a:prstGeom prst="straightConnector1">
            <a:avLst/>
          </a:prstGeom>
          <a:noFill/>
          <a:ln cap="flat" cmpd="sng" w="9525">
            <a:solidFill>
              <a:schemeClr val="accent1"/>
            </a:solidFill>
            <a:prstDash val="solid"/>
            <a:miter lim="800000"/>
            <a:headEnd len="sm" w="sm" type="none"/>
            <a:tailEnd len="med" w="med" type="triangle"/>
          </a:ln>
        </p:spPr>
      </p:cxnSp>
      <p:sp>
        <p:nvSpPr>
          <p:cNvPr id="446" name="Google Shape;446;p32"/>
          <p:cNvSpPr txBox="1"/>
          <p:nvPr/>
        </p:nvSpPr>
        <p:spPr>
          <a:xfrm>
            <a:off x="8456155" y="4217401"/>
            <a:ext cx="2778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Primer Cuartil (25% de la muestra)</a:t>
            </a:r>
            <a:endParaRPr b="0" i="0" sz="1400" u="none" cap="none" strike="noStrike">
              <a:solidFill>
                <a:srgbClr val="000000"/>
              </a:solidFill>
              <a:latin typeface="Arial"/>
              <a:ea typeface="Arial"/>
              <a:cs typeface="Arial"/>
              <a:sym typeface="Arial"/>
            </a:endParaRPr>
          </a:p>
        </p:txBody>
      </p:sp>
      <p:cxnSp>
        <p:nvCxnSpPr>
          <p:cNvPr id="447" name="Google Shape;447;p32"/>
          <p:cNvCxnSpPr>
            <a:stCxn id="448" idx="1"/>
          </p:cNvCxnSpPr>
          <p:nvPr/>
        </p:nvCxnSpPr>
        <p:spPr>
          <a:xfrm flipH="1">
            <a:off x="5993180" y="3083025"/>
            <a:ext cx="2367300" cy="391800"/>
          </a:xfrm>
          <a:prstGeom prst="straightConnector1">
            <a:avLst/>
          </a:prstGeom>
          <a:noFill/>
          <a:ln cap="flat" cmpd="sng" w="9525">
            <a:solidFill>
              <a:schemeClr val="accent1"/>
            </a:solidFill>
            <a:prstDash val="solid"/>
            <a:miter lim="800000"/>
            <a:headEnd len="sm" w="sm" type="none"/>
            <a:tailEnd len="med" w="med" type="triangle"/>
          </a:ln>
        </p:spPr>
      </p:cxnSp>
      <p:sp>
        <p:nvSpPr>
          <p:cNvPr id="448" name="Google Shape;448;p32"/>
          <p:cNvSpPr txBox="1"/>
          <p:nvPr/>
        </p:nvSpPr>
        <p:spPr>
          <a:xfrm>
            <a:off x="8360480" y="2929125"/>
            <a:ext cx="2748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Tercer Cuartil (75% de la muestra)</a:t>
            </a:r>
            <a:endParaRPr b="0" i="0" sz="1400" u="none" cap="none" strike="noStrike">
              <a:solidFill>
                <a:srgbClr val="000000"/>
              </a:solidFill>
              <a:latin typeface="Arial"/>
              <a:ea typeface="Arial"/>
              <a:cs typeface="Arial"/>
              <a:sym typeface="Arial"/>
            </a:endParaRPr>
          </a:p>
        </p:txBody>
      </p:sp>
      <p:cxnSp>
        <p:nvCxnSpPr>
          <p:cNvPr id="449" name="Google Shape;449;p32"/>
          <p:cNvCxnSpPr/>
          <p:nvPr/>
        </p:nvCxnSpPr>
        <p:spPr>
          <a:xfrm flipH="1">
            <a:off x="5894002" y="2401414"/>
            <a:ext cx="2491086" cy="72362"/>
          </a:xfrm>
          <a:prstGeom prst="straightConnector1">
            <a:avLst/>
          </a:prstGeom>
          <a:noFill/>
          <a:ln cap="flat" cmpd="sng" w="9525">
            <a:solidFill>
              <a:schemeClr val="accent1"/>
            </a:solidFill>
            <a:prstDash val="solid"/>
            <a:miter lim="800000"/>
            <a:headEnd len="sm" w="sm" type="none"/>
            <a:tailEnd len="med" w="med" type="triangle"/>
          </a:ln>
        </p:spPr>
      </p:cxnSp>
      <p:sp>
        <p:nvSpPr>
          <p:cNvPr id="450" name="Google Shape;450;p32"/>
          <p:cNvSpPr txBox="1"/>
          <p:nvPr/>
        </p:nvSpPr>
        <p:spPr>
          <a:xfrm>
            <a:off x="8403772" y="2214675"/>
            <a:ext cx="1224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Valor máximo</a:t>
            </a:r>
            <a:endParaRPr b="0" i="0" sz="1400" u="none" cap="none" strike="noStrike">
              <a:solidFill>
                <a:srgbClr val="000000"/>
              </a:solidFill>
              <a:latin typeface="Arial"/>
              <a:ea typeface="Arial"/>
              <a:cs typeface="Arial"/>
              <a:sym typeface="Arial"/>
            </a:endParaRPr>
          </a:p>
        </p:txBody>
      </p:sp>
      <p:cxnSp>
        <p:nvCxnSpPr>
          <p:cNvPr id="451" name="Google Shape;451;p32"/>
          <p:cNvCxnSpPr/>
          <p:nvPr/>
        </p:nvCxnSpPr>
        <p:spPr>
          <a:xfrm>
            <a:off x="2764972" y="3013545"/>
            <a:ext cx="1995000" cy="665100"/>
          </a:xfrm>
          <a:prstGeom prst="straightConnector1">
            <a:avLst/>
          </a:prstGeom>
          <a:noFill/>
          <a:ln cap="flat" cmpd="sng" w="9525">
            <a:solidFill>
              <a:schemeClr val="accent1"/>
            </a:solidFill>
            <a:prstDash val="solid"/>
            <a:miter lim="800000"/>
            <a:headEnd len="sm" w="sm" type="none"/>
            <a:tailEnd len="med" w="med" type="triangle"/>
          </a:ln>
        </p:spPr>
      </p:cxnSp>
      <p:sp>
        <p:nvSpPr>
          <p:cNvPr id="452" name="Google Shape;452;p32"/>
          <p:cNvSpPr txBox="1"/>
          <p:nvPr/>
        </p:nvSpPr>
        <p:spPr>
          <a:xfrm>
            <a:off x="1196352" y="2815220"/>
            <a:ext cx="1544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alibri"/>
                <a:ea typeface="Calibri"/>
                <a:cs typeface="Calibri"/>
                <a:sym typeface="Calibri"/>
              </a:rPr>
              <a:t>Rango intercuartil</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500"/>
                                        <p:tgtEl>
                                          <p:spTgt spid="4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33"/>
          <p:cNvSpPr/>
          <p:nvPr/>
        </p:nvSpPr>
        <p:spPr>
          <a:xfrm>
            <a:off x="-349278" y="1348138"/>
            <a:ext cx="12604376" cy="912481"/>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8" name="Google Shape;458;p33"/>
          <p:cNvSpPr txBox="1"/>
          <p:nvPr/>
        </p:nvSpPr>
        <p:spPr>
          <a:xfrm>
            <a:off x="952104" y="340076"/>
            <a:ext cx="10463753"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¿Qué es un valor atípico?</a:t>
            </a:r>
            <a:endParaRPr b="0" i="0" sz="3200" u="none" cap="none" strike="noStrike">
              <a:solidFill>
                <a:srgbClr val="7F7F7F"/>
              </a:solidFill>
              <a:latin typeface="Arial"/>
              <a:ea typeface="Arial"/>
              <a:cs typeface="Arial"/>
              <a:sym typeface="Arial"/>
            </a:endParaRPr>
          </a:p>
        </p:txBody>
      </p:sp>
      <p:sp>
        <p:nvSpPr>
          <p:cNvPr id="459" name="Google Shape;459;p33"/>
          <p:cNvSpPr/>
          <p:nvPr/>
        </p:nvSpPr>
        <p:spPr>
          <a:xfrm>
            <a:off x="1081390" y="2465060"/>
            <a:ext cx="10341756" cy="3265714"/>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60" name="Google Shape;460;p33"/>
          <p:cNvPicPr preferRelativeResize="0"/>
          <p:nvPr/>
        </p:nvPicPr>
        <p:blipFill rotWithShape="1">
          <a:blip r:embed="rId3">
            <a:alphaModFix/>
          </a:blip>
          <a:srcRect b="0" l="0" r="0" t="0"/>
          <a:stretch/>
        </p:blipFill>
        <p:spPr>
          <a:xfrm>
            <a:off x="3829866" y="2556010"/>
            <a:ext cx="4725059" cy="3105583"/>
          </a:xfrm>
          <a:prstGeom prst="rect">
            <a:avLst/>
          </a:prstGeom>
          <a:noFill/>
          <a:ln>
            <a:noFill/>
          </a:ln>
        </p:spPr>
      </p:pic>
      <p:sp>
        <p:nvSpPr>
          <p:cNvPr id="461" name="Google Shape;461;p33"/>
          <p:cNvSpPr txBox="1"/>
          <p:nvPr/>
        </p:nvSpPr>
        <p:spPr>
          <a:xfrm>
            <a:off x="952105" y="1494127"/>
            <a:ext cx="10463753" cy="1138773"/>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En el caso del valor del pasaje pagado del dataset Titanic, nótese que el rango mínimo máximo se encuentra entre 0 y 85 aproximadamente, y que cualquier valor por sobre el valor de 85 es considerado un punto atípico.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7F7F7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500"/>
                                        <p:tgtEl>
                                          <p:spTgt spid="4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4"/>
          <p:cNvSpPr/>
          <p:nvPr/>
        </p:nvSpPr>
        <p:spPr>
          <a:xfrm>
            <a:off x="559959" y="924494"/>
            <a:ext cx="11058606" cy="912481"/>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7" name="Google Shape;467;p34"/>
          <p:cNvSpPr/>
          <p:nvPr/>
        </p:nvSpPr>
        <p:spPr>
          <a:xfrm>
            <a:off x="6888597" y="2028293"/>
            <a:ext cx="4732660" cy="3063185"/>
          </a:xfrm>
          <a:prstGeom prst="roundRect">
            <a:avLst>
              <a:gd fmla="val 2971" name="adj"/>
            </a:avLst>
          </a:prstGeom>
          <a:solidFill>
            <a:schemeClr val="lt1"/>
          </a:solidFill>
          <a:ln cap="flat" cmpd="sng" w="38100">
            <a:solidFill>
              <a:srgbClr val="98C3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8" name="Google Shape;468;p34"/>
          <p:cNvSpPr txBox="1"/>
          <p:nvPr/>
        </p:nvSpPr>
        <p:spPr>
          <a:xfrm>
            <a:off x="671123" y="0"/>
            <a:ext cx="10955363" cy="710588"/>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3200"/>
              <a:buFont typeface="Arial"/>
              <a:buNone/>
            </a:pPr>
            <a:r>
              <a:t/>
            </a:r>
            <a:endParaRPr b="0" i="0" sz="3200" u="none" cap="none" strike="noStrike">
              <a:solidFill>
                <a:srgbClr val="7F7F7F"/>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¿Qué es un valor atípico?</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3200"/>
              <a:buFont typeface="Arial"/>
              <a:buNone/>
            </a:pPr>
            <a:r>
              <a:t/>
            </a:r>
            <a:endParaRPr b="0" i="0" sz="3200" u="none" cap="none" strike="noStrike">
              <a:solidFill>
                <a:srgbClr val="7F7F7F"/>
              </a:solidFill>
              <a:latin typeface="Arial"/>
              <a:ea typeface="Arial"/>
              <a:cs typeface="Arial"/>
              <a:sym typeface="Arial"/>
            </a:endParaRPr>
          </a:p>
        </p:txBody>
      </p:sp>
      <p:sp>
        <p:nvSpPr>
          <p:cNvPr id="469" name="Google Shape;469;p34"/>
          <p:cNvSpPr/>
          <p:nvPr/>
        </p:nvSpPr>
        <p:spPr>
          <a:xfrm>
            <a:off x="-445574" y="2033549"/>
            <a:ext cx="7086600" cy="4528456"/>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0" name="Google Shape;470;p34"/>
          <p:cNvSpPr txBox="1"/>
          <p:nvPr/>
        </p:nvSpPr>
        <p:spPr>
          <a:xfrm>
            <a:off x="671123" y="2281840"/>
            <a:ext cx="5763192" cy="4031873"/>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Tomar el valor de la mediana, en este caso, es 14.4542</a:t>
            </a:r>
            <a:endParaRPr b="0" i="0" sz="1400" u="none" cap="none" strike="noStrike">
              <a:solidFill>
                <a:schemeClr val="lt1"/>
              </a:solidFill>
              <a:latin typeface="Arial"/>
              <a:ea typeface="Arial"/>
              <a:cs typeface="Arial"/>
              <a:sym typeface="Arial"/>
            </a:endParaRPr>
          </a:p>
          <a:p>
            <a:pPr indent="-184150" lvl="0" marL="28575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Tomar valor del primer cuartil, en este caso, Q1 es 7.9104</a:t>
            </a:r>
            <a:endParaRPr b="0" i="0" sz="1400" u="none" cap="none" strike="noStrike">
              <a:solidFill>
                <a:schemeClr val="lt1"/>
              </a:solidFill>
              <a:latin typeface="Arial"/>
              <a:ea typeface="Arial"/>
              <a:cs typeface="Arial"/>
              <a:sym typeface="Arial"/>
            </a:endParaRPr>
          </a:p>
          <a:p>
            <a:pPr indent="-184150" lvl="0" marL="28575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Tomar valor del tercer cuartil, este caso, Q3 es 31.0</a:t>
            </a:r>
            <a:endParaRPr b="0" i="0" sz="1400" u="none" cap="none" strike="noStrike">
              <a:solidFill>
                <a:schemeClr val="lt1"/>
              </a:solidFill>
              <a:latin typeface="Arial"/>
              <a:ea typeface="Arial"/>
              <a:cs typeface="Arial"/>
              <a:sym typeface="Arial"/>
            </a:endParaRPr>
          </a:p>
          <a:p>
            <a:pPr indent="-184150" lvl="0" marL="28575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Calcular el rango intercuartil, es decir, tomamos IQR = Q3 – Q1</a:t>
            </a:r>
            <a:endParaRPr b="0" i="0" sz="1400" u="none" cap="none" strike="noStrike">
              <a:solidFill>
                <a:schemeClr val="lt1"/>
              </a:solidFill>
              <a:latin typeface="Arial"/>
              <a:ea typeface="Arial"/>
              <a:cs typeface="Arial"/>
              <a:sym typeface="Arial"/>
            </a:endParaRPr>
          </a:p>
          <a:p>
            <a:pPr indent="-184150" lvl="0" marL="28575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Calcular el límite interno </a:t>
            </a:r>
            <a:r>
              <a:rPr b="1" i="0" lang="es-ES" sz="1600" u="none" cap="none" strike="noStrike">
                <a:solidFill>
                  <a:schemeClr val="lt1"/>
                </a:solidFill>
                <a:latin typeface="Calibri"/>
                <a:ea typeface="Calibri"/>
                <a:cs typeface="Calibri"/>
                <a:sym typeface="Calibri"/>
              </a:rPr>
              <a:t>superior</a:t>
            </a:r>
            <a:r>
              <a:rPr b="0" i="0" lang="es-ES" sz="1600" u="none" cap="none" strike="noStrike">
                <a:solidFill>
                  <a:schemeClr val="lt1"/>
                </a:solidFill>
                <a:latin typeface="Calibri"/>
                <a:ea typeface="Calibri"/>
                <a:cs typeface="Calibri"/>
                <a:sym typeface="Calibri"/>
              </a:rPr>
              <a:t> de la siguiente forma: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LSUP = Q3 + 1.5 * IQR</a:t>
            </a:r>
            <a:endParaRPr b="0" i="0" sz="1400" u="none" cap="none" strike="noStrike">
              <a:solidFill>
                <a:schemeClr val="lt1"/>
              </a:solidFill>
              <a:latin typeface="Arial"/>
              <a:ea typeface="Arial"/>
              <a:cs typeface="Arial"/>
              <a:sym typeface="Arial"/>
            </a:endParaRPr>
          </a:p>
          <a:p>
            <a:pPr indent="-184150" lvl="0" marL="28575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Calcular el límite interno </a:t>
            </a:r>
            <a:r>
              <a:rPr b="1" i="0" lang="es-ES" sz="1600" u="none" cap="none" strike="noStrike">
                <a:solidFill>
                  <a:schemeClr val="lt1"/>
                </a:solidFill>
                <a:latin typeface="Calibri"/>
                <a:ea typeface="Calibri"/>
                <a:cs typeface="Calibri"/>
                <a:sym typeface="Calibri"/>
              </a:rPr>
              <a:t>inferior</a:t>
            </a:r>
            <a:r>
              <a:rPr b="0" i="0" lang="es-ES" sz="1600" u="none" cap="none" strike="noStrike">
                <a:solidFill>
                  <a:schemeClr val="lt1"/>
                </a:solidFill>
                <a:latin typeface="Calibri"/>
                <a:ea typeface="Calibri"/>
                <a:cs typeface="Calibri"/>
                <a:sym typeface="Calibri"/>
              </a:rPr>
              <a:t> de la siguiente forma: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LINF = Q1 – 1.5 * IQR</a:t>
            </a:r>
            <a:endParaRPr b="0" i="0" sz="1400" u="none" cap="none" strike="noStrike">
              <a:solidFill>
                <a:schemeClr val="lt1"/>
              </a:solidFill>
              <a:latin typeface="Arial"/>
              <a:ea typeface="Arial"/>
              <a:cs typeface="Arial"/>
              <a:sym typeface="Arial"/>
            </a:endParaRPr>
          </a:p>
          <a:p>
            <a:pPr indent="-184150" lvl="0" marL="28575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Calcular los límites externos del conjunto de datos, de forma análoga, pero considerando multiplicar *3 el rango intercuartil.</a:t>
            </a:r>
            <a:endParaRPr b="0" i="0" sz="1400" u="none" cap="none" strike="noStrike">
              <a:solidFill>
                <a:schemeClr val="lt1"/>
              </a:solidFill>
              <a:latin typeface="Arial"/>
              <a:ea typeface="Arial"/>
              <a:cs typeface="Arial"/>
              <a:sym typeface="Arial"/>
            </a:endParaRPr>
          </a:p>
        </p:txBody>
      </p:sp>
      <p:pic>
        <p:nvPicPr>
          <p:cNvPr id="471" name="Google Shape;471;p34"/>
          <p:cNvPicPr preferRelativeResize="0"/>
          <p:nvPr/>
        </p:nvPicPr>
        <p:blipFill rotWithShape="1">
          <a:blip r:embed="rId3">
            <a:alphaModFix/>
          </a:blip>
          <a:srcRect b="0" l="0" r="0" t="0"/>
          <a:stretch/>
        </p:blipFill>
        <p:spPr>
          <a:xfrm>
            <a:off x="7000323" y="2461532"/>
            <a:ext cx="4509207" cy="2207592"/>
          </a:xfrm>
          <a:prstGeom prst="rect">
            <a:avLst/>
          </a:prstGeom>
          <a:noFill/>
          <a:ln>
            <a:noFill/>
          </a:ln>
        </p:spPr>
      </p:pic>
      <p:sp>
        <p:nvSpPr>
          <p:cNvPr id="472" name="Google Shape;472;p34"/>
          <p:cNvSpPr txBox="1"/>
          <p:nvPr/>
        </p:nvSpPr>
        <p:spPr>
          <a:xfrm>
            <a:off x="769094" y="1059724"/>
            <a:ext cx="10356650" cy="64629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Para calcular qué valores son atípicos en un conjunto de datos numéricos, existen varios criterios. A continuación, se presenta el más frecuente de utilizar:</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5"/>
          <p:cNvSpPr txBox="1"/>
          <p:nvPr/>
        </p:nvSpPr>
        <p:spPr>
          <a:xfrm>
            <a:off x="1253765" y="1175892"/>
            <a:ext cx="9627124" cy="731156"/>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¿Qué hacer con los valores atípicos?</a:t>
            </a:r>
            <a:endParaRPr b="0" i="0" sz="1400" u="none" cap="none" strike="noStrike">
              <a:solidFill>
                <a:srgbClr val="000000"/>
              </a:solidFill>
              <a:latin typeface="Arial"/>
              <a:ea typeface="Arial"/>
              <a:cs typeface="Arial"/>
              <a:sym typeface="Arial"/>
            </a:endParaRPr>
          </a:p>
        </p:txBody>
      </p:sp>
      <p:sp>
        <p:nvSpPr>
          <p:cNvPr id="478" name="Google Shape;478;p35"/>
          <p:cNvSpPr/>
          <p:nvPr/>
        </p:nvSpPr>
        <p:spPr>
          <a:xfrm>
            <a:off x="-400595" y="2380049"/>
            <a:ext cx="12984481" cy="2490466"/>
          </a:xfrm>
          <a:prstGeom prst="roundRect">
            <a:avLst>
              <a:gd fmla="val 2971"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9" name="Google Shape;479;p35"/>
          <p:cNvSpPr txBox="1"/>
          <p:nvPr/>
        </p:nvSpPr>
        <p:spPr>
          <a:xfrm>
            <a:off x="1253765" y="2655375"/>
            <a:ext cx="9549354" cy="193899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Lo primero que debemos hacer es identificarlos, para después analizarlos de forma más detallada.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000"/>
              <a:buFont typeface="Arial"/>
              <a:buNone/>
            </a:pPr>
            <a:r>
              <a:rPr b="0" i="0" lang="es-ES" sz="2000" u="none" cap="none" strike="noStrike">
                <a:solidFill>
                  <a:schemeClr val="lt1"/>
                </a:solidFill>
                <a:latin typeface="Calibri"/>
                <a:ea typeface="Calibri"/>
                <a:cs typeface="Calibri"/>
                <a:sym typeface="Calibri"/>
              </a:rPr>
              <a:t>Recordemos que los valores atípicos podrían deberse a la data sucia, errores. Sin embargo, antes de comenzar a eliminarlos hay que considerar la visión de los analistas quienes deberán evaluar la conveniencia de su permanencia o bien eliminación.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500"/>
                                        <p:tgtEl>
                                          <p:spTgt spid="4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6"/>
          <p:cNvSpPr/>
          <p:nvPr/>
        </p:nvSpPr>
        <p:spPr>
          <a:xfrm>
            <a:off x="-585178" y="3057041"/>
            <a:ext cx="8013499" cy="1045333"/>
          </a:xfrm>
          <a:prstGeom prst="roundRect">
            <a:avLst>
              <a:gd fmla="val 9640" name="adj"/>
            </a:avLst>
          </a:prstGeom>
          <a:gradFill>
            <a:gsLst>
              <a:gs pos="0">
                <a:srgbClr val="58751F"/>
              </a:gs>
              <a:gs pos="50000">
                <a:srgbClr val="81AB2C"/>
              </a:gs>
              <a:gs pos="100000">
                <a:srgbClr val="9BCC3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8CAD"/>
              </a:solidFill>
              <a:latin typeface="Calibri"/>
              <a:ea typeface="Calibri"/>
              <a:cs typeface="Calibri"/>
              <a:sym typeface="Calibri"/>
            </a:endParaRPr>
          </a:p>
        </p:txBody>
      </p:sp>
      <p:sp>
        <p:nvSpPr>
          <p:cNvPr id="485" name="Google Shape;485;p36"/>
          <p:cNvSpPr txBox="1"/>
          <p:nvPr/>
        </p:nvSpPr>
        <p:spPr>
          <a:xfrm>
            <a:off x="2768633" y="2835053"/>
            <a:ext cx="4446644" cy="1489308"/>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0" i="0" lang="es-ES" sz="3600" u="none" cap="none" strike="noStrike">
                <a:solidFill>
                  <a:schemeClr val="lt1"/>
                </a:solidFill>
                <a:latin typeface="Arial"/>
                <a:ea typeface="Arial"/>
                <a:cs typeface="Arial"/>
                <a:sym typeface="Arial"/>
              </a:rPr>
              <a:t>Dudas y consultas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37"/>
          <p:cNvSpPr txBox="1"/>
          <p:nvPr/>
        </p:nvSpPr>
        <p:spPr>
          <a:xfrm>
            <a:off x="704850" y="2735617"/>
            <a:ext cx="10782300" cy="100806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3600"/>
              <a:buFont typeface="Arial"/>
              <a:buNone/>
            </a:pPr>
            <a:r>
              <a:rPr b="0" i="0" lang="es-ES" sz="3600" u="none" cap="none" strike="noStrike">
                <a:solidFill>
                  <a:srgbClr val="7F7F7F"/>
                </a:solidFill>
                <a:latin typeface="Arial"/>
                <a:ea typeface="Arial"/>
                <a:cs typeface="Arial"/>
                <a:sym typeface="Arial"/>
              </a:rPr>
              <a:t>Fin presentación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90"/>
                                        </p:tgtEl>
                                        <p:attrNameLst>
                                          <p:attrName>style.visibility</p:attrName>
                                        </p:attrNameLst>
                                      </p:cBhvr>
                                      <p:to>
                                        <p:strVal val="visible"/>
                                      </p:to>
                                    </p:set>
                                    <p:animEffect filter="fade" transition="in">
                                      <p:cBhvr>
                                        <p:cTn dur="500"/>
                                        <p:tgtEl>
                                          <p:spTgt spid="4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2023-01-03T12:28:26Z</dcterms:created>
  <dc:creator>Kibernum</dc:creator>
</cp:coreProperties>
</file>