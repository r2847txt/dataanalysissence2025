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94"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j51hEy79fNSltJvGX8nIpowmeR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8C316-9D3E-6E84-549A-3F3338AB21F3}" v="2" dt="2025-10-06T15:53:27.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5048C316-9D3E-6E84-549A-3F3338AB21F3}"/>
    <pc:docChg chg="modSld">
      <pc:chgData name="Soraya Salazar" userId="S::soraya.salazar@kibernumacademy.com::fdf00a5c-f577-43dc-8064-9968cad83607" providerId="AD" clId="Web-{5048C316-9D3E-6E84-549A-3F3338AB21F3}" dt="2025-10-06T15:53:27.622" v="0" actId="20577"/>
      <pc:docMkLst>
        <pc:docMk/>
      </pc:docMkLst>
      <pc:sldChg chg="modSp">
        <pc:chgData name="Soraya Salazar" userId="S::soraya.salazar@kibernumacademy.com::fdf00a5c-f577-43dc-8064-9968cad83607" providerId="AD" clId="Web-{5048C316-9D3E-6E84-549A-3F3338AB21F3}" dt="2025-10-06T15:53:27.622" v="0" actId="20577"/>
        <pc:sldMkLst>
          <pc:docMk/>
          <pc:sldMk cId="0" sldId="256"/>
        </pc:sldMkLst>
        <pc:spChg chg="mod">
          <ac:chgData name="Soraya Salazar" userId="S::soraya.salazar@kibernumacademy.com::fdf00a5c-f577-43dc-8064-9968cad83607" providerId="AD" clId="Web-{5048C316-9D3E-6E84-549A-3F3338AB21F3}" dt="2025-10-06T15:53:27.622" v="0"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 name="Google Shape;1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5" name="Google Shape;20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8" name="Google Shape;23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5" name="Google Shape;27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4" name="Google Shape;28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0" name="Google Shape;30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9" name="Google Shape;31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2" name="Google Shape;33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5" name="Google Shape;34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5" name="Google Shape;36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4" name="Google Shape;37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1" name="Google Shape;38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8" name="Google Shape;38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7" name="Google Shape;39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7" name="Google Shape;40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8" name="Google Shape;41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9" name="Google Shape;43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8" name="Google Shape;44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9" name="Google Shape;45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6" name="Google Shape;46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2" name="Google Shape;47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47"/>
          <p:cNvSpPr>
            <a:spLocks noGrp="1"/>
          </p:cNvSpPr>
          <p:nvPr>
            <p:ph type="pic" idx="2"/>
          </p:nvPr>
        </p:nvSpPr>
        <p:spPr>
          <a:xfrm>
            <a:off x="5183188" y="987425"/>
            <a:ext cx="6172200" cy="4873625"/>
          </a:xfrm>
          <a:prstGeom prst="rect">
            <a:avLst/>
          </a:prstGeom>
          <a:noFill/>
          <a:ln>
            <a:noFill/>
          </a:ln>
        </p:spPr>
      </p:sp>
      <p:sp>
        <p:nvSpPr>
          <p:cNvPr id="68" name="Google Shape;68;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4024783" y="4169488"/>
            <a:ext cx="7160735"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699056" y="4541884"/>
            <a:ext cx="6160532" cy="911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Limpieza  de Datos</a:t>
            </a:r>
            <a:endParaRPr sz="5000" b="1">
              <a:solidFill>
                <a:schemeClr val="lt1"/>
              </a:solidFill>
              <a:latin typeface="Arial"/>
              <a:ea typeface="Arial"/>
              <a:cs typeface="Arial"/>
              <a:sym typeface="Arial"/>
            </a:endParaRPr>
          </a:p>
        </p:txBody>
      </p:sp>
      <p:sp>
        <p:nvSpPr>
          <p:cNvPr id="91" name="Google Shape;91;p1"/>
          <p:cNvSpPr txBox="1"/>
          <p:nvPr/>
        </p:nvSpPr>
        <p:spPr>
          <a:xfrm>
            <a:off x="4699056" y="3612425"/>
            <a:ext cx="61655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i="0" u="none" strike="noStrike" cap="none">
                <a:solidFill>
                  <a:schemeClr val="lt1"/>
                </a:solidFill>
                <a:latin typeface="Arial"/>
                <a:ea typeface="Arial"/>
                <a:cs typeface="Arial"/>
                <a:sym typeface="Arial"/>
              </a:rPr>
              <a:t>Obtención y Preparación de Datos</a:t>
            </a: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068292" y="-387943"/>
            <a:ext cx="3745011" cy="5768199"/>
          </a:xfrm>
          <a:prstGeom prst="roundRect">
            <a:avLst>
              <a:gd name="adj" fmla="val 2778"/>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505438" y="651222"/>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Limpieza de Datos</a:t>
            </a:r>
            <a:endParaRPr sz="3200">
              <a:solidFill>
                <a:srgbClr val="7F7F7F"/>
              </a:solidFill>
              <a:latin typeface="Arial"/>
              <a:ea typeface="Arial"/>
              <a:cs typeface="Arial"/>
              <a:sym typeface="Arial"/>
            </a:endParaRPr>
          </a:p>
        </p:txBody>
      </p:sp>
      <p:sp>
        <p:nvSpPr>
          <p:cNvPr id="99" name="Google Shape;99;p2"/>
          <p:cNvSpPr txBox="1"/>
          <p:nvPr/>
        </p:nvSpPr>
        <p:spPr>
          <a:xfrm>
            <a:off x="6434407" y="2600090"/>
            <a:ext cx="3662322" cy="1891287"/>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Calidad de datos.</a:t>
            </a:r>
            <a:endParaRPr sz="20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Valores perdidos.</a:t>
            </a:r>
            <a:endParaRPr sz="20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Técnicas de imputación.</a:t>
            </a:r>
            <a:endParaRPr sz="20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Valores atípicos.</a:t>
            </a:r>
            <a:endParaRPr sz="2000">
              <a:solidFill>
                <a:schemeClr val="dk1"/>
              </a:solidFill>
              <a:latin typeface="Calibri"/>
              <a:ea typeface="Calibri"/>
              <a:cs typeface="Calibri"/>
              <a:sym typeface="Calibri"/>
            </a:endParaRPr>
          </a:p>
        </p:txBody>
      </p:sp>
      <p:grpSp>
        <p:nvGrpSpPr>
          <p:cNvPr id="100" name="Google Shape;100;p2"/>
          <p:cNvGrpSpPr/>
          <p:nvPr/>
        </p:nvGrpSpPr>
        <p:grpSpPr>
          <a:xfrm>
            <a:off x="1120545" y="1659284"/>
            <a:ext cx="3524500" cy="3720972"/>
            <a:chOff x="884486" y="0"/>
            <a:chExt cx="3524500" cy="3720972"/>
          </a:xfrm>
        </p:grpSpPr>
        <p:sp>
          <p:nvSpPr>
            <p:cNvPr id="101" name="Google Shape;101;p2"/>
            <p:cNvSpPr/>
            <p:nvPr/>
          </p:nvSpPr>
          <p:spPr>
            <a:xfrm>
              <a:off x="884486"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p:nvPr/>
        </p:nvSpPr>
        <p:spPr>
          <a:xfrm>
            <a:off x="1155863" y="709002"/>
            <a:ext cx="964516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Calidad de Datos</a:t>
            </a:r>
            <a:endParaRPr/>
          </a:p>
        </p:txBody>
      </p:sp>
      <p:sp>
        <p:nvSpPr>
          <p:cNvPr id="109" name="Google Shape;109;p3"/>
          <p:cNvSpPr/>
          <p:nvPr/>
        </p:nvSpPr>
        <p:spPr>
          <a:xfrm>
            <a:off x="1155863" y="2074986"/>
            <a:ext cx="9645161" cy="3270005"/>
          </a:xfrm>
          <a:prstGeom prst="roundRect">
            <a:avLst>
              <a:gd name="adj" fmla="val 4466"/>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0" name="Google Shape;110;p3" descr="Peter Aiken / Anything Awesome Home Page"/>
          <p:cNvPicPr preferRelativeResize="0"/>
          <p:nvPr/>
        </p:nvPicPr>
        <p:blipFill rotWithShape="1">
          <a:blip r:embed="rId3">
            <a:alphaModFix/>
          </a:blip>
          <a:srcRect/>
          <a:stretch/>
        </p:blipFill>
        <p:spPr>
          <a:xfrm>
            <a:off x="1439068" y="2367203"/>
            <a:ext cx="9078750" cy="2440114"/>
          </a:xfrm>
          <a:prstGeom prst="rect">
            <a:avLst/>
          </a:prstGeom>
          <a:noFill/>
          <a:ln>
            <a:noFill/>
          </a:ln>
        </p:spPr>
      </p:pic>
      <p:sp>
        <p:nvSpPr>
          <p:cNvPr id="2" name="CuadroTexto 1">
            <a:extLst>
              <a:ext uri="{FF2B5EF4-FFF2-40B4-BE49-F238E27FC236}">
                <a16:creationId xmlns:a16="http://schemas.microsoft.com/office/drawing/2014/main" id="{40867661-D8F8-912D-815A-B186299BE509}"/>
              </a:ext>
            </a:extLst>
          </p:cNvPr>
          <p:cNvSpPr txBox="1"/>
          <p:nvPr/>
        </p:nvSpPr>
        <p:spPr>
          <a:xfrm>
            <a:off x="2085975" y="4887685"/>
            <a:ext cx="1219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Datos Malos</a:t>
            </a:r>
          </a:p>
        </p:txBody>
      </p:sp>
      <p:sp>
        <p:nvSpPr>
          <p:cNvPr id="5" name="CuadroTexto 4">
            <a:extLst>
              <a:ext uri="{FF2B5EF4-FFF2-40B4-BE49-F238E27FC236}">
                <a16:creationId xmlns:a16="http://schemas.microsoft.com/office/drawing/2014/main" id="{7FEA3B59-D465-D6FD-A166-5E04C23844E6}"/>
              </a:ext>
            </a:extLst>
          </p:cNvPr>
          <p:cNvSpPr txBox="1"/>
          <p:nvPr/>
        </p:nvSpPr>
        <p:spPr>
          <a:xfrm>
            <a:off x="8486775" y="4887684"/>
            <a:ext cx="16478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Malos Resultados</a:t>
            </a:r>
          </a:p>
        </p:txBody>
      </p:sp>
      <p:sp>
        <p:nvSpPr>
          <p:cNvPr id="6" name="CuadroTexto 5">
            <a:extLst>
              <a:ext uri="{FF2B5EF4-FFF2-40B4-BE49-F238E27FC236}">
                <a16:creationId xmlns:a16="http://schemas.microsoft.com/office/drawing/2014/main" id="{01D2484B-C930-218F-95F3-D6F807F9C82B}"/>
              </a:ext>
            </a:extLst>
          </p:cNvPr>
          <p:cNvSpPr txBox="1"/>
          <p:nvPr/>
        </p:nvSpPr>
        <p:spPr>
          <a:xfrm>
            <a:off x="5153025" y="4887684"/>
            <a:ext cx="16478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Cosa Asombrosa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p:nvPr/>
        </p:nvSpPr>
        <p:spPr>
          <a:xfrm>
            <a:off x="912472" y="1549376"/>
            <a:ext cx="10479593" cy="428562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6" name="Google Shape;116;p4" descr="What to do with Bad Data? Make it BIG | What&amp;#39;s The Big Data?"/>
          <p:cNvPicPr preferRelativeResize="0"/>
          <p:nvPr/>
        </p:nvPicPr>
        <p:blipFill rotWithShape="1">
          <a:blip r:embed="rId3">
            <a:alphaModFix/>
          </a:blip>
          <a:srcRect/>
          <a:stretch/>
        </p:blipFill>
        <p:spPr>
          <a:xfrm>
            <a:off x="2394769" y="1929513"/>
            <a:ext cx="7504113" cy="2284375"/>
          </a:xfrm>
          <a:prstGeom prst="rect">
            <a:avLst/>
          </a:prstGeom>
          <a:noFill/>
          <a:ln>
            <a:noFill/>
          </a:ln>
        </p:spPr>
      </p:pic>
      <p:sp>
        <p:nvSpPr>
          <p:cNvPr id="117" name="Google Shape;117;p4"/>
          <p:cNvSpPr txBox="1"/>
          <p:nvPr/>
        </p:nvSpPr>
        <p:spPr>
          <a:xfrm>
            <a:off x="770959" y="458631"/>
            <a:ext cx="8335108"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Calidad de Datos</a:t>
            </a:r>
            <a:endParaRPr/>
          </a:p>
        </p:txBody>
      </p:sp>
      <p:sp>
        <p:nvSpPr>
          <p:cNvPr id="3" name="CuadroTexto 2">
            <a:extLst>
              <a:ext uri="{FF2B5EF4-FFF2-40B4-BE49-F238E27FC236}">
                <a16:creationId xmlns:a16="http://schemas.microsoft.com/office/drawing/2014/main" id="{38F466A8-558D-A92B-A4ED-0858C7F6A1A3}"/>
              </a:ext>
            </a:extLst>
          </p:cNvPr>
          <p:cNvSpPr txBox="1"/>
          <p:nvPr/>
        </p:nvSpPr>
        <p:spPr>
          <a:xfrm>
            <a:off x="2390775" y="4354286"/>
            <a:ext cx="12192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Usa la base de datos CRS para dimensionar el mercado</a:t>
            </a:r>
          </a:p>
        </p:txBody>
      </p:sp>
      <p:sp>
        <p:nvSpPr>
          <p:cNvPr id="4" name="CuadroTexto 3">
            <a:extLst>
              <a:ext uri="{FF2B5EF4-FFF2-40B4-BE49-F238E27FC236}">
                <a16:creationId xmlns:a16="http://schemas.microsoft.com/office/drawing/2014/main" id="{1D0089E0-CE72-C11B-0F51-1E8A5D37DCC3}"/>
              </a:ext>
            </a:extLst>
          </p:cNvPr>
          <p:cNvSpPr txBox="1"/>
          <p:nvPr/>
        </p:nvSpPr>
        <p:spPr>
          <a:xfrm>
            <a:off x="3609975" y="4354286"/>
            <a:ext cx="12192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s-ES" dirty="0"/>
              <a:t>Esa data está incorrecta</a:t>
            </a:r>
            <a:endParaRPr lang="es-ES"/>
          </a:p>
        </p:txBody>
      </p:sp>
      <p:sp>
        <p:nvSpPr>
          <p:cNvPr id="5" name="CuadroTexto 2">
            <a:extLst>
              <a:ext uri="{FF2B5EF4-FFF2-40B4-BE49-F238E27FC236}">
                <a16:creationId xmlns:a16="http://schemas.microsoft.com/office/drawing/2014/main" id="{38F466A8-558D-A92B-A4ED-0858C7F6A1A3}"/>
              </a:ext>
            </a:extLst>
          </p:cNvPr>
          <p:cNvSpPr txBox="1"/>
          <p:nvPr/>
        </p:nvSpPr>
        <p:spPr>
          <a:xfrm>
            <a:off x="4938032" y="4354286"/>
            <a:ext cx="1219200" cy="95410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Entonces usa la base de datos SIBSS</a:t>
            </a:r>
          </a:p>
        </p:txBody>
      </p:sp>
      <p:sp>
        <p:nvSpPr>
          <p:cNvPr id="6" name="CuadroTexto 5">
            <a:extLst>
              <a:ext uri="{FF2B5EF4-FFF2-40B4-BE49-F238E27FC236}">
                <a16:creationId xmlns:a16="http://schemas.microsoft.com/office/drawing/2014/main" id="{E0CB8C46-E446-CDB4-7418-48EB8703FD19}"/>
              </a:ext>
            </a:extLst>
          </p:cNvPr>
          <p:cNvSpPr txBox="1"/>
          <p:nvPr/>
        </p:nvSpPr>
        <p:spPr>
          <a:xfrm>
            <a:off x="6157232" y="4354286"/>
            <a:ext cx="12192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s-ES" dirty="0"/>
              <a:t>Esa data también está incorrecta</a:t>
            </a:r>
          </a:p>
        </p:txBody>
      </p:sp>
      <p:sp>
        <p:nvSpPr>
          <p:cNvPr id="7" name="CuadroTexto 2">
            <a:extLst>
              <a:ext uri="{FF2B5EF4-FFF2-40B4-BE49-F238E27FC236}">
                <a16:creationId xmlns:a16="http://schemas.microsoft.com/office/drawing/2014/main" id="{80E53D9E-E957-1DF3-2496-31473284CA40}"/>
              </a:ext>
            </a:extLst>
          </p:cNvPr>
          <p:cNvSpPr txBox="1"/>
          <p:nvPr/>
        </p:nvSpPr>
        <p:spPr>
          <a:xfrm>
            <a:off x="7583260" y="4354286"/>
            <a:ext cx="1219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¿Las puedes promediar?</a:t>
            </a:r>
          </a:p>
        </p:txBody>
      </p:sp>
      <p:sp>
        <p:nvSpPr>
          <p:cNvPr id="8" name="CuadroTexto 2">
            <a:extLst>
              <a:ext uri="{FF2B5EF4-FFF2-40B4-BE49-F238E27FC236}">
                <a16:creationId xmlns:a16="http://schemas.microsoft.com/office/drawing/2014/main" id="{C8A23519-F042-62AC-5CF2-9550C1BFD0F6}"/>
              </a:ext>
            </a:extLst>
          </p:cNvPr>
          <p:cNvSpPr txBox="1"/>
          <p:nvPr/>
        </p:nvSpPr>
        <p:spPr>
          <a:xfrm>
            <a:off x="8671831" y="4354286"/>
            <a:ext cx="1219200" cy="95410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s-ES" dirty="0"/>
              <a:t>Seguro. También las puedo multiplicar.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p:nvPr/>
        </p:nvSpPr>
        <p:spPr>
          <a:xfrm>
            <a:off x="783351" y="1182773"/>
            <a:ext cx="10583009" cy="493248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3" name="Google Shape;123;p5" descr="Breaking Bad Data"/>
          <p:cNvPicPr preferRelativeResize="0"/>
          <p:nvPr/>
        </p:nvPicPr>
        <p:blipFill rotWithShape="1">
          <a:blip r:embed="rId3">
            <a:alphaModFix/>
          </a:blip>
          <a:srcRect/>
          <a:stretch/>
        </p:blipFill>
        <p:spPr>
          <a:xfrm>
            <a:off x="1132908" y="1454479"/>
            <a:ext cx="5235693" cy="4389071"/>
          </a:xfrm>
          <a:prstGeom prst="rect">
            <a:avLst/>
          </a:prstGeom>
          <a:noFill/>
          <a:ln>
            <a:noFill/>
          </a:ln>
        </p:spPr>
      </p:pic>
      <p:sp>
        <p:nvSpPr>
          <p:cNvPr id="124" name="Google Shape;124;p5"/>
          <p:cNvSpPr txBox="1"/>
          <p:nvPr/>
        </p:nvSpPr>
        <p:spPr>
          <a:xfrm>
            <a:off x="787926" y="430327"/>
            <a:ext cx="3422925" cy="627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Calidad de Datos</a:t>
            </a:r>
            <a:endParaRPr/>
          </a:p>
        </p:txBody>
      </p:sp>
      <p:sp>
        <p:nvSpPr>
          <p:cNvPr id="3" name="CuadroTexto 2">
            <a:extLst>
              <a:ext uri="{FF2B5EF4-FFF2-40B4-BE49-F238E27FC236}">
                <a16:creationId xmlns:a16="http://schemas.microsoft.com/office/drawing/2014/main" id="{6EB67DBB-29A9-B020-1FC0-AB1354E852A1}"/>
              </a:ext>
            </a:extLst>
          </p:cNvPr>
          <p:cNvSpPr txBox="1"/>
          <p:nvPr/>
        </p:nvSpPr>
        <p:spPr>
          <a:xfrm>
            <a:off x="6951890" y="1589313"/>
            <a:ext cx="3831771"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s-ES" sz="2000" dirty="0">
                <a:latin typeface="Calibri"/>
                <a:cs typeface="Calibri"/>
              </a:rPr>
              <a:t>23% De la data de clientes se cree que es inexacta</a:t>
            </a:r>
          </a:p>
          <a:p>
            <a:pPr marL="285750" indent="-285750">
              <a:buChar char="•"/>
            </a:pPr>
            <a:endParaRPr lang="es-ES" sz="2000" dirty="0">
              <a:latin typeface="Calibri"/>
              <a:cs typeface="Calibri"/>
            </a:endParaRPr>
          </a:p>
          <a:p>
            <a:pPr marL="285750" indent="-285750">
              <a:buChar char="•"/>
            </a:pPr>
            <a:r>
              <a:rPr lang="es-ES" sz="2000" dirty="0">
                <a:latin typeface="Calibri"/>
                <a:cs typeface="Calibri"/>
              </a:rPr>
              <a:t>92% de las organizaciones han experimentado problemas como resultado de data inexacta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fade">
                                      <p:cBhvr>
                                        <p:cTn id="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p:nvPr/>
        </p:nvSpPr>
        <p:spPr>
          <a:xfrm>
            <a:off x="896814" y="1710836"/>
            <a:ext cx="10243039" cy="393045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6"/>
          <p:cNvSpPr txBox="1"/>
          <p:nvPr/>
        </p:nvSpPr>
        <p:spPr>
          <a:xfrm>
            <a:off x="1485355" y="3643948"/>
            <a:ext cx="917883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2000">
                <a:solidFill>
                  <a:srgbClr val="7F7F7F"/>
                </a:solidFill>
                <a:latin typeface="Calibri"/>
                <a:ea typeface="Calibri"/>
                <a:cs typeface="Calibri"/>
                <a:sym typeface="Calibri"/>
              </a:rPr>
              <a:t>Cuando los datos son incorrectos, pueden inducir a conclusiones falsas y a tomar decisiones incorrectas</a:t>
            </a:r>
            <a:r>
              <a:rPr lang="es-ES" sz="2000">
                <a:solidFill>
                  <a:srgbClr val="7F7F7F"/>
                </a:solidFill>
                <a:latin typeface="Arial"/>
                <a:ea typeface="Arial"/>
                <a:cs typeface="Arial"/>
                <a:sym typeface="Arial"/>
              </a:rPr>
              <a:t>.</a:t>
            </a:r>
            <a:endParaRPr/>
          </a:p>
        </p:txBody>
      </p:sp>
      <p:sp>
        <p:nvSpPr>
          <p:cNvPr id="131" name="Google Shape;131;p6"/>
          <p:cNvSpPr/>
          <p:nvPr/>
        </p:nvSpPr>
        <p:spPr>
          <a:xfrm>
            <a:off x="1336445" y="2492015"/>
            <a:ext cx="9476057" cy="11079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6600" b="1">
                <a:solidFill>
                  <a:srgbClr val="D5DBE5"/>
                </a:solidFill>
                <a:latin typeface="Calibri"/>
                <a:ea typeface="Calibri"/>
                <a:cs typeface="Calibri"/>
                <a:sym typeface="Calibri"/>
              </a:rPr>
              <a:t>Bad Data = Bad DECISIONS</a:t>
            </a:r>
            <a:endParaRPr/>
          </a:p>
        </p:txBody>
      </p:sp>
      <p:sp>
        <p:nvSpPr>
          <p:cNvPr id="132" name="Google Shape;132;p6"/>
          <p:cNvSpPr txBox="1"/>
          <p:nvPr/>
        </p:nvSpPr>
        <p:spPr>
          <a:xfrm>
            <a:off x="894806" y="728052"/>
            <a:ext cx="9191354" cy="68421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Calidad de Datos</a:t>
            </a:r>
            <a:endParaRPr/>
          </a:p>
        </p:txBody>
      </p:sp>
      <p:sp>
        <p:nvSpPr>
          <p:cNvPr id="2" name="CuadroTexto 1">
            <a:extLst>
              <a:ext uri="{FF2B5EF4-FFF2-40B4-BE49-F238E27FC236}">
                <a16:creationId xmlns:a16="http://schemas.microsoft.com/office/drawing/2014/main" id="{43032A79-D065-210A-9208-B2F8ECB3C078}"/>
              </a:ext>
            </a:extLst>
          </p:cNvPr>
          <p:cNvSpPr txBox="1"/>
          <p:nvPr/>
        </p:nvSpPr>
        <p:spPr>
          <a:xfrm>
            <a:off x="1411060" y="233634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Mala Data</a:t>
            </a:r>
          </a:p>
        </p:txBody>
      </p:sp>
      <p:sp>
        <p:nvSpPr>
          <p:cNvPr id="3" name="CuadroTexto 2">
            <a:extLst>
              <a:ext uri="{FF2B5EF4-FFF2-40B4-BE49-F238E27FC236}">
                <a16:creationId xmlns:a16="http://schemas.microsoft.com/office/drawing/2014/main" id="{F0863D01-2673-F30C-9AC5-3CC1CDA7899A}"/>
              </a:ext>
            </a:extLst>
          </p:cNvPr>
          <p:cNvSpPr txBox="1"/>
          <p:nvPr/>
        </p:nvSpPr>
        <p:spPr>
          <a:xfrm>
            <a:off x="5402035" y="233634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Malas Decisiones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par>
                                <p:cTn id="8" presetID="10" presetClass="entr" presetSubtype="0" fill="hold" nodeType="withEffect">
                                  <p:stCondLst>
                                    <p:cond delay="0"/>
                                  </p:stCondLst>
                                  <p:childTnLst>
                                    <p:set>
                                      <p:cBhvr>
                                        <p:cTn id="9" dur="1" fill="hold">
                                          <p:stCondLst>
                                            <p:cond delay="0"/>
                                          </p:stCondLst>
                                        </p:cTn>
                                        <p:tgtEl>
                                          <p:spTgt spid="132"/>
                                        </p:tgtEl>
                                        <p:attrNameLst>
                                          <p:attrName>style.visibility</p:attrName>
                                        </p:attrNameLst>
                                      </p:cBhvr>
                                      <p:to>
                                        <p:strVal val="visible"/>
                                      </p:to>
                                    </p:set>
                                    <p:animEffect transition="in" filter="fade">
                                      <p:cBhvr>
                                        <p:cTn id="1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p:nvPr/>
        </p:nvSpPr>
        <p:spPr>
          <a:xfrm>
            <a:off x="1541346" y="55609"/>
            <a:ext cx="936546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La Regla del 1-10-100</a:t>
            </a:r>
            <a:endParaRPr/>
          </a:p>
        </p:txBody>
      </p:sp>
      <p:sp>
        <p:nvSpPr>
          <p:cNvPr id="138" name="Google Shape;138;p7"/>
          <p:cNvSpPr/>
          <p:nvPr/>
        </p:nvSpPr>
        <p:spPr>
          <a:xfrm>
            <a:off x="1200293" y="1186164"/>
            <a:ext cx="9657697" cy="4748677"/>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7"/>
          <p:cNvSpPr/>
          <p:nvPr/>
        </p:nvSpPr>
        <p:spPr>
          <a:xfrm>
            <a:off x="1465932" y="5277480"/>
            <a:ext cx="9126420" cy="5847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La regla del 1-10-100 es un concepto de gestión de la calidad desarrollado por G. Loabovitz y por Y. Chang que es usado para cuantificar los costos ocultos de la baja calidad.</a:t>
            </a:r>
            <a:endParaRPr/>
          </a:p>
        </p:txBody>
      </p:sp>
      <p:grpSp>
        <p:nvGrpSpPr>
          <p:cNvPr id="140" name="Google Shape;140;p7"/>
          <p:cNvGrpSpPr/>
          <p:nvPr/>
        </p:nvGrpSpPr>
        <p:grpSpPr>
          <a:xfrm>
            <a:off x="1857700" y="1417789"/>
            <a:ext cx="5662634" cy="3546880"/>
            <a:chOff x="0" y="0"/>
            <a:chExt cx="5662634" cy="3546880"/>
          </a:xfrm>
        </p:grpSpPr>
        <p:sp>
          <p:nvSpPr>
            <p:cNvPr id="141" name="Google Shape;141;p7"/>
            <p:cNvSpPr/>
            <p:nvPr/>
          </p:nvSpPr>
          <p:spPr>
            <a:xfrm>
              <a:off x="1887545" y="0"/>
              <a:ext cx="1887544" cy="1182293"/>
            </a:xfrm>
            <a:prstGeom prst="trapezoid">
              <a:avLst>
                <a:gd name="adj" fmla="val 79826"/>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txBox="1"/>
            <p:nvPr/>
          </p:nvSpPr>
          <p:spPr>
            <a:xfrm>
              <a:off x="1887545" y="0"/>
              <a:ext cx="1887544" cy="1182293"/>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None/>
              </a:pPr>
              <a:r>
                <a:rPr lang="es-ES" sz="4400">
                  <a:solidFill>
                    <a:schemeClr val="lt1"/>
                  </a:solidFill>
                  <a:latin typeface="Calibri"/>
                  <a:ea typeface="Calibri"/>
                  <a:cs typeface="Calibri"/>
                  <a:sym typeface="Calibri"/>
                </a:rPr>
                <a:t>$1</a:t>
              </a:r>
              <a:endParaRPr/>
            </a:p>
          </p:txBody>
        </p:sp>
        <p:sp>
          <p:nvSpPr>
            <p:cNvPr id="143" name="Google Shape;143;p7"/>
            <p:cNvSpPr/>
            <p:nvPr/>
          </p:nvSpPr>
          <p:spPr>
            <a:xfrm>
              <a:off x="943772" y="1182293"/>
              <a:ext cx="3775089" cy="1182293"/>
            </a:xfrm>
            <a:prstGeom prst="trapezoid">
              <a:avLst>
                <a:gd name="adj" fmla="val 79826"/>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txBox="1"/>
            <p:nvPr/>
          </p:nvSpPr>
          <p:spPr>
            <a:xfrm>
              <a:off x="1604413" y="1182293"/>
              <a:ext cx="2453808" cy="1182293"/>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None/>
              </a:pPr>
              <a:r>
                <a:rPr lang="es-ES" sz="4400">
                  <a:solidFill>
                    <a:schemeClr val="lt1"/>
                  </a:solidFill>
                  <a:latin typeface="Calibri"/>
                  <a:ea typeface="Calibri"/>
                  <a:cs typeface="Calibri"/>
                  <a:sym typeface="Calibri"/>
                </a:rPr>
                <a:t>$10</a:t>
              </a:r>
              <a:endParaRPr/>
            </a:p>
          </p:txBody>
        </p:sp>
        <p:sp>
          <p:nvSpPr>
            <p:cNvPr id="145" name="Google Shape;145;p7"/>
            <p:cNvSpPr/>
            <p:nvPr/>
          </p:nvSpPr>
          <p:spPr>
            <a:xfrm>
              <a:off x="0" y="2364587"/>
              <a:ext cx="5662634" cy="1182293"/>
            </a:xfrm>
            <a:prstGeom prst="trapezoid">
              <a:avLst>
                <a:gd name="adj" fmla="val 79826"/>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txBox="1"/>
            <p:nvPr/>
          </p:nvSpPr>
          <p:spPr>
            <a:xfrm>
              <a:off x="990961" y="2364587"/>
              <a:ext cx="3680712" cy="1182293"/>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None/>
              </a:pPr>
              <a:r>
                <a:rPr lang="es-ES" sz="4400">
                  <a:solidFill>
                    <a:schemeClr val="lt1"/>
                  </a:solidFill>
                  <a:latin typeface="Calibri"/>
                  <a:ea typeface="Calibri"/>
                  <a:cs typeface="Calibri"/>
                  <a:sym typeface="Calibri"/>
                </a:rPr>
                <a:t>$100</a:t>
              </a:r>
              <a:endParaRPr/>
            </a:p>
          </p:txBody>
        </p:sp>
      </p:grpSp>
      <p:sp>
        <p:nvSpPr>
          <p:cNvPr id="147" name="Google Shape;147;p7"/>
          <p:cNvSpPr txBox="1"/>
          <p:nvPr/>
        </p:nvSpPr>
        <p:spPr>
          <a:xfrm>
            <a:off x="6831118" y="1537212"/>
            <a:ext cx="2431348"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rgbClr val="7F7F7F"/>
                </a:solidFill>
                <a:latin typeface="Calibri"/>
                <a:ea typeface="Calibri"/>
                <a:cs typeface="Calibri"/>
                <a:sym typeface="Calibri"/>
              </a:rPr>
              <a:t>Costo de Prevención</a:t>
            </a:r>
            <a:endParaRPr/>
          </a:p>
        </p:txBody>
      </p:sp>
      <p:sp>
        <p:nvSpPr>
          <p:cNvPr id="148" name="Google Shape;148;p7"/>
          <p:cNvSpPr txBox="1"/>
          <p:nvPr/>
        </p:nvSpPr>
        <p:spPr>
          <a:xfrm>
            <a:off x="7593803" y="2713286"/>
            <a:ext cx="23897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rgbClr val="7F7F7F"/>
                </a:solidFill>
                <a:latin typeface="Calibri"/>
                <a:ea typeface="Calibri"/>
                <a:cs typeface="Calibri"/>
                <a:sym typeface="Calibri"/>
              </a:rPr>
              <a:t>Costo de Corrección</a:t>
            </a:r>
            <a:endParaRPr/>
          </a:p>
        </p:txBody>
      </p:sp>
      <p:sp>
        <p:nvSpPr>
          <p:cNvPr id="149" name="Google Shape;149;p7"/>
          <p:cNvSpPr txBox="1"/>
          <p:nvPr/>
        </p:nvSpPr>
        <p:spPr>
          <a:xfrm>
            <a:off x="8283544" y="3998368"/>
            <a:ext cx="169996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a:solidFill>
                  <a:srgbClr val="7F7F7F"/>
                </a:solidFill>
                <a:latin typeface="Calibri"/>
                <a:ea typeface="Calibri"/>
                <a:cs typeface="Calibri"/>
                <a:sym typeface="Calibri"/>
              </a:rPr>
              <a:t>Costo de Falla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8"/>
          <p:cNvSpPr/>
          <p:nvPr/>
        </p:nvSpPr>
        <p:spPr>
          <a:xfrm>
            <a:off x="183823" y="284626"/>
            <a:ext cx="7678354" cy="631595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8"/>
          <p:cNvSpPr txBox="1"/>
          <p:nvPr/>
        </p:nvSpPr>
        <p:spPr>
          <a:xfrm>
            <a:off x="7856377" y="1443344"/>
            <a:ext cx="3798637"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Calidad de Datos</a:t>
            </a:r>
            <a:endParaRPr/>
          </a:p>
        </p:txBody>
      </p:sp>
      <p:grpSp>
        <p:nvGrpSpPr>
          <p:cNvPr id="156" name="Google Shape;156;p8"/>
          <p:cNvGrpSpPr/>
          <p:nvPr/>
        </p:nvGrpSpPr>
        <p:grpSpPr>
          <a:xfrm>
            <a:off x="1639254" y="1206093"/>
            <a:ext cx="4644705" cy="5009297"/>
            <a:chOff x="1455431" y="-119114"/>
            <a:chExt cx="4644705" cy="5009297"/>
          </a:xfrm>
        </p:grpSpPr>
        <p:sp>
          <p:nvSpPr>
            <p:cNvPr id="157" name="Google Shape;157;p8"/>
            <p:cNvSpPr/>
            <p:nvPr/>
          </p:nvSpPr>
          <p:spPr>
            <a:xfrm>
              <a:off x="2454558" y="1062308"/>
              <a:ext cx="2646452" cy="2646452"/>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txBox="1"/>
            <p:nvPr/>
          </p:nvSpPr>
          <p:spPr>
            <a:xfrm>
              <a:off x="2842122" y="1449872"/>
              <a:ext cx="1871324" cy="1871324"/>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pPr>
              <a:r>
                <a:rPr lang="es-ES" sz="3600">
                  <a:solidFill>
                    <a:srgbClr val="3A3838"/>
                  </a:solidFill>
                  <a:latin typeface="Arial"/>
                  <a:ea typeface="Arial"/>
                  <a:cs typeface="Arial"/>
                  <a:sym typeface="Arial"/>
                </a:rPr>
                <a:t>Calidad de Datos</a:t>
              </a:r>
              <a:endParaRPr/>
            </a:p>
          </p:txBody>
        </p:sp>
        <p:sp>
          <p:nvSpPr>
            <p:cNvPr id="159" name="Google Shape;159;p8"/>
            <p:cNvSpPr/>
            <p:nvPr/>
          </p:nvSpPr>
          <p:spPr>
            <a:xfrm>
              <a:off x="2982275" y="-119114"/>
              <a:ext cx="1659603" cy="1562399"/>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txBox="1"/>
            <p:nvPr/>
          </p:nvSpPr>
          <p:spPr>
            <a:xfrm>
              <a:off x="3225318" y="109694"/>
              <a:ext cx="1173517" cy="1104783"/>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None/>
              </a:pPr>
              <a:r>
                <a:rPr lang="es-ES" sz="1600">
                  <a:solidFill>
                    <a:srgbClr val="3A3838"/>
                  </a:solidFill>
                  <a:latin typeface="Arial"/>
                  <a:ea typeface="Arial"/>
                  <a:cs typeface="Arial"/>
                  <a:sym typeface="Arial"/>
                </a:rPr>
                <a:t>Exactitud</a:t>
              </a:r>
              <a:endParaRPr/>
            </a:p>
          </p:txBody>
        </p:sp>
        <p:sp>
          <p:nvSpPr>
            <p:cNvPr id="161" name="Google Shape;161;p8"/>
            <p:cNvSpPr/>
            <p:nvPr/>
          </p:nvSpPr>
          <p:spPr>
            <a:xfrm>
              <a:off x="4440533" y="742610"/>
              <a:ext cx="1659603" cy="1562399"/>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txBox="1"/>
            <p:nvPr/>
          </p:nvSpPr>
          <p:spPr>
            <a:xfrm>
              <a:off x="4683576" y="971418"/>
              <a:ext cx="1173517" cy="1104783"/>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None/>
              </a:pPr>
              <a:r>
                <a:rPr lang="es-ES" sz="1600">
                  <a:solidFill>
                    <a:srgbClr val="3A3838"/>
                  </a:solidFill>
                  <a:latin typeface="Arial"/>
                  <a:ea typeface="Arial"/>
                  <a:cs typeface="Arial"/>
                  <a:sym typeface="Arial"/>
                </a:rPr>
                <a:t>Integridad</a:t>
              </a:r>
              <a:endParaRPr/>
            </a:p>
          </p:txBody>
        </p:sp>
        <p:sp>
          <p:nvSpPr>
            <p:cNvPr id="163" name="Google Shape;163;p8"/>
            <p:cNvSpPr/>
            <p:nvPr/>
          </p:nvSpPr>
          <p:spPr>
            <a:xfrm>
              <a:off x="4440804" y="2466112"/>
              <a:ext cx="1659061" cy="1562293"/>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txBox="1"/>
            <p:nvPr/>
          </p:nvSpPr>
          <p:spPr>
            <a:xfrm>
              <a:off x="4683768" y="2694905"/>
              <a:ext cx="1173133" cy="1104707"/>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None/>
              </a:pPr>
              <a:r>
                <a:rPr lang="es-ES" sz="1400">
                  <a:solidFill>
                    <a:srgbClr val="3A3838"/>
                  </a:solidFill>
                  <a:latin typeface="Arial"/>
                  <a:ea typeface="Arial"/>
                  <a:cs typeface="Arial"/>
                  <a:sym typeface="Arial"/>
                </a:rPr>
                <a:t>Consistencia</a:t>
              </a:r>
              <a:endParaRPr/>
            </a:p>
          </p:txBody>
        </p:sp>
        <p:sp>
          <p:nvSpPr>
            <p:cNvPr id="165" name="Google Shape;165;p8"/>
            <p:cNvSpPr/>
            <p:nvPr/>
          </p:nvSpPr>
          <p:spPr>
            <a:xfrm>
              <a:off x="2947982" y="3327784"/>
              <a:ext cx="1659603" cy="1562399"/>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txBox="1"/>
            <p:nvPr/>
          </p:nvSpPr>
          <p:spPr>
            <a:xfrm>
              <a:off x="3191025" y="3556592"/>
              <a:ext cx="1173517" cy="1104783"/>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None/>
              </a:pPr>
              <a:r>
                <a:rPr lang="es-ES" sz="1400">
                  <a:solidFill>
                    <a:srgbClr val="3A3838"/>
                  </a:solidFill>
                  <a:latin typeface="Arial"/>
                  <a:ea typeface="Arial"/>
                  <a:cs typeface="Arial"/>
                  <a:sym typeface="Arial"/>
                </a:rPr>
                <a:t>Uniformidad</a:t>
              </a:r>
              <a:endParaRPr/>
            </a:p>
          </p:txBody>
        </p:sp>
        <p:sp>
          <p:nvSpPr>
            <p:cNvPr id="167" name="Google Shape;167;p8"/>
            <p:cNvSpPr/>
            <p:nvPr/>
          </p:nvSpPr>
          <p:spPr>
            <a:xfrm>
              <a:off x="1455431" y="2466059"/>
              <a:ext cx="1659603" cy="1562399"/>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txBox="1"/>
            <p:nvPr/>
          </p:nvSpPr>
          <p:spPr>
            <a:xfrm>
              <a:off x="1698474" y="2694867"/>
              <a:ext cx="1173517" cy="1104783"/>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None/>
              </a:pPr>
              <a:r>
                <a:rPr lang="es-ES" sz="1600">
                  <a:solidFill>
                    <a:srgbClr val="3A3838"/>
                  </a:solidFill>
                  <a:latin typeface="Arial"/>
                  <a:ea typeface="Arial"/>
                  <a:cs typeface="Arial"/>
                  <a:sym typeface="Arial"/>
                </a:rPr>
                <a:t>Densidad</a:t>
              </a:r>
              <a:endParaRPr/>
            </a:p>
          </p:txBody>
        </p:sp>
        <p:sp>
          <p:nvSpPr>
            <p:cNvPr id="169" name="Google Shape;169;p8"/>
            <p:cNvSpPr/>
            <p:nvPr/>
          </p:nvSpPr>
          <p:spPr>
            <a:xfrm>
              <a:off x="1455431" y="742610"/>
              <a:ext cx="1659603" cy="1562399"/>
            </a:xfrm>
            <a:prstGeom prst="ellipse">
              <a:avLst/>
            </a:prstGeom>
            <a:solidFill>
              <a:srgbClr val="599BD5">
                <a:alpha val="4980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txBox="1"/>
            <p:nvPr/>
          </p:nvSpPr>
          <p:spPr>
            <a:xfrm>
              <a:off x="1698474" y="971418"/>
              <a:ext cx="1173517" cy="1104783"/>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None/>
              </a:pPr>
              <a:r>
                <a:rPr lang="es-ES" sz="1600">
                  <a:solidFill>
                    <a:srgbClr val="3A3838"/>
                  </a:solidFill>
                  <a:latin typeface="Arial"/>
                  <a:ea typeface="Arial"/>
                  <a:cs typeface="Arial"/>
                  <a:sym typeface="Arial"/>
                </a:rPr>
                <a:t>Unicidad</a:t>
              </a:r>
              <a:endParaRPr/>
            </a:p>
          </p:txBody>
        </p:sp>
      </p:grpSp>
      <p:sp>
        <p:nvSpPr>
          <p:cNvPr id="171" name="Google Shape;171;p8"/>
          <p:cNvSpPr txBox="1"/>
          <p:nvPr/>
        </p:nvSpPr>
        <p:spPr>
          <a:xfrm>
            <a:off x="136547" y="2453385"/>
            <a:ext cx="1483112"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548135"/>
                </a:solidFill>
                <a:latin typeface="Calibri"/>
                <a:ea typeface="Calibri"/>
                <a:cs typeface="Calibri"/>
                <a:sym typeface="Calibri"/>
              </a:rPr>
              <a:t>Relacionado con los datos duplicados</a:t>
            </a:r>
            <a:endParaRPr/>
          </a:p>
        </p:txBody>
      </p:sp>
      <p:sp>
        <p:nvSpPr>
          <p:cNvPr id="172" name="Google Shape;172;p8"/>
          <p:cNvSpPr txBox="1"/>
          <p:nvPr/>
        </p:nvSpPr>
        <p:spPr>
          <a:xfrm>
            <a:off x="136547" y="3969410"/>
            <a:ext cx="1483112"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98C340"/>
                </a:solidFill>
                <a:latin typeface="Calibri"/>
                <a:ea typeface="Calibri"/>
                <a:cs typeface="Calibri"/>
                <a:sym typeface="Calibri"/>
              </a:rPr>
              <a:t>Cociente de valores omitidos sobre el número de valores totales</a:t>
            </a:r>
            <a:endParaRPr/>
          </a:p>
        </p:txBody>
      </p:sp>
      <p:sp>
        <p:nvSpPr>
          <p:cNvPr id="173" name="Google Shape;173;p8"/>
          <p:cNvSpPr txBox="1"/>
          <p:nvPr/>
        </p:nvSpPr>
        <p:spPr>
          <a:xfrm>
            <a:off x="6256280" y="3969410"/>
            <a:ext cx="148311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98C340"/>
                </a:solidFill>
                <a:latin typeface="Calibri"/>
                <a:ea typeface="Calibri"/>
                <a:cs typeface="Calibri"/>
                <a:sym typeface="Calibri"/>
              </a:rPr>
              <a:t>Corrección de contradicciones  y anomalías sintácticas</a:t>
            </a:r>
            <a:endParaRPr/>
          </a:p>
        </p:txBody>
      </p:sp>
      <p:sp>
        <p:nvSpPr>
          <p:cNvPr id="174" name="Google Shape;174;p8"/>
          <p:cNvSpPr txBox="1"/>
          <p:nvPr/>
        </p:nvSpPr>
        <p:spPr>
          <a:xfrm>
            <a:off x="3204990" y="6205167"/>
            <a:ext cx="148311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548135"/>
                </a:solidFill>
                <a:latin typeface="Calibri"/>
                <a:ea typeface="Calibri"/>
                <a:cs typeface="Calibri"/>
                <a:sym typeface="Calibri"/>
              </a:rPr>
              <a:t>Irregularidades</a:t>
            </a:r>
            <a:endParaRPr/>
          </a:p>
        </p:txBody>
      </p:sp>
      <p:sp>
        <p:nvSpPr>
          <p:cNvPr id="175" name="Google Shape;175;p8"/>
          <p:cNvSpPr txBox="1"/>
          <p:nvPr/>
        </p:nvSpPr>
        <p:spPr>
          <a:xfrm>
            <a:off x="6331789" y="2453385"/>
            <a:ext cx="148311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548135"/>
                </a:solidFill>
                <a:latin typeface="Calibri"/>
                <a:ea typeface="Calibri"/>
                <a:cs typeface="Calibri"/>
                <a:sym typeface="Calibri"/>
              </a:rPr>
              <a:t>Que se mantenga inalterada ante accidentes o eventos</a:t>
            </a:r>
            <a:endParaRPr/>
          </a:p>
        </p:txBody>
      </p:sp>
      <p:sp>
        <p:nvSpPr>
          <p:cNvPr id="176" name="Google Shape;176;p8"/>
          <p:cNvSpPr txBox="1"/>
          <p:nvPr/>
        </p:nvSpPr>
        <p:spPr>
          <a:xfrm>
            <a:off x="3214417" y="442742"/>
            <a:ext cx="1483112"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98C340"/>
                </a:solidFill>
                <a:latin typeface="Calibri"/>
                <a:ea typeface="Calibri"/>
                <a:cs typeface="Calibri"/>
                <a:sym typeface="Calibri"/>
              </a:rPr>
              <a:t>Si el valor almacenado es el valor correcto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82F85-64B6-A3AF-C858-D1CCC93954B9}"/>
              </a:ext>
            </a:extLst>
          </p:cNvPr>
          <p:cNvSpPr>
            <a:spLocks noGrp="1"/>
          </p:cNvSpPr>
          <p:nvPr>
            <p:ph type="title"/>
          </p:nvPr>
        </p:nvSpPr>
        <p:spPr/>
        <p:txBody>
          <a:bodyPr/>
          <a:lstStyle/>
          <a:p>
            <a:r>
              <a:rPr lang="es-ES" sz="3600" dirty="0">
                <a:solidFill>
                  <a:schemeClr val="tx1">
                    <a:lumMod val="65000"/>
                    <a:lumOff val="35000"/>
                  </a:schemeClr>
                </a:solidFill>
              </a:rPr>
              <a:t>Limpieza de Datos</a:t>
            </a:r>
          </a:p>
        </p:txBody>
      </p:sp>
    </p:spTree>
    <p:extLst>
      <p:ext uri="{BB962C8B-B14F-4D97-AF65-F5344CB8AC3E}">
        <p14:creationId xmlns:p14="http://schemas.microsoft.com/office/powerpoint/2010/main" val="991364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p:nvPr/>
        </p:nvSpPr>
        <p:spPr>
          <a:xfrm>
            <a:off x="7085027" y="2043954"/>
            <a:ext cx="4540625" cy="344244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9"/>
          <p:cNvSpPr txBox="1"/>
          <p:nvPr/>
        </p:nvSpPr>
        <p:spPr>
          <a:xfrm>
            <a:off x="327431" y="97135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dirty="0">
                <a:solidFill>
                  <a:srgbClr val="7F7F7F"/>
                </a:solidFill>
                <a:latin typeface="Arial"/>
                <a:ea typeface="Arial"/>
                <a:cs typeface="Arial"/>
                <a:sym typeface="Arial"/>
              </a:rPr>
              <a:t>Causas de los Valores Perdidos</a:t>
            </a:r>
            <a:endParaRPr lang="es-ES" dirty="0"/>
          </a:p>
        </p:txBody>
      </p:sp>
      <p:sp>
        <p:nvSpPr>
          <p:cNvPr id="183" name="Google Shape;183;p9"/>
          <p:cNvSpPr/>
          <p:nvPr/>
        </p:nvSpPr>
        <p:spPr>
          <a:xfrm>
            <a:off x="-339634" y="1983251"/>
            <a:ext cx="7023238" cy="350315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9"/>
          <p:cNvSpPr txBox="1"/>
          <p:nvPr/>
        </p:nvSpPr>
        <p:spPr>
          <a:xfrm>
            <a:off x="554412" y="2151275"/>
            <a:ext cx="5901600" cy="31700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Algunos casos típicos, por la cual se generan valores perdidos en los datos son los siguientes:</a:t>
            </a:r>
            <a:endParaRPr sz="2000">
              <a:latin typeface="Calibri"/>
              <a:cs typeface="Calibri"/>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El usuario olvidó completar un campo de información.</a:t>
            </a:r>
            <a:endParaRPr sz="2000">
              <a:latin typeface="Calibri"/>
              <a:cs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Se perdieron datos durante el proceso manual de transferencia desde una fuente de datos legada.</a:t>
            </a:r>
            <a:endParaRPr sz="2000">
              <a:latin typeface="Calibri"/>
              <a:cs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Hubo un error de programación.</a:t>
            </a:r>
            <a:endParaRPr sz="2000">
              <a:latin typeface="Calibri"/>
              <a:cs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El usuario simplemente no quiso compartir cierta información.</a:t>
            </a:r>
            <a:endParaRPr sz="2000">
              <a:latin typeface="Calibri"/>
              <a:cs typeface="Calibri"/>
            </a:endParaRPr>
          </a:p>
        </p:txBody>
      </p:sp>
      <p:pic>
        <p:nvPicPr>
          <p:cNvPr id="185" name="Google Shape;185;p9" descr="Dealing with missing values in predictive models"/>
          <p:cNvPicPr preferRelativeResize="0"/>
          <p:nvPr/>
        </p:nvPicPr>
        <p:blipFill rotWithShape="1">
          <a:blip r:embed="rId3">
            <a:alphaModFix/>
          </a:blip>
          <a:srcRect l="27912"/>
          <a:stretch/>
        </p:blipFill>
        <p:spPr>
          <a:xfrm>
            <a:off x="7274927" y="2204477"/>
            <a:ext cx="4119833" cy="3076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p:nvPr/>
        </p:nvSpPr>
        <p:spPr>
          <a:xfrm>
            <a:off x="7916443" y="664015"/>
            <a:ext cx="3394953" cy="509235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0"/>
          <p:cNvSpPr txBox="1"/>
          <p:nvPr/>
        </p:nvSpPr>
        <p:spPr>
          <a:xfrm>
            <a:off x="703267" y="545124"/>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dirty="0">
                <a:solidFill>
                  <a:srgbClr val="7F7F7F"/>
                </a:solidFill>
                <a:latin typeface="Arial"/>
                <a:ea typeface="Arial"/>
                <a:cs typeface="Arial"/>
                <a:sym typeface="Arial"/>
              </a:rPr>
              <a:t>Plan de </a:t>
            </a:r>
            <a:r>
              <a:rPr lang="es-ES" sz="3200" dirty="0">
                <a:solidFill>
                  <a:srgbClr val="7F7F7F"/>
                </a:solidFill>
              </a:rPr>
              <a:t>Acción</a:t>
            </a:r>
            <a:endParaRPr lang="es-ES" sz="3200" dirty="0"/>
          </a:p>
        </p:txBody>
      </p:sp>
      <p:sp>
        <p:nvSpPr>
          <p:cNvPr id="192" name="Google Shape;192;p10"/>
          <p:cNvSpPr/>
          <p:nvPr/>
        </p:nvSpPr>
        <p:spPr>
          <a:xfrm>
            <a:off x="-430306" y="1384536"/>
            <a:ext cx="7928385" cy="437182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0"/>
          <p:cNvSpPr txBox="1"/>
          <p:nvPr/>
        </p:nvSpPr>
        <p:spPr>
          <a:xfrm>
            <a:off x="704075" y="1562036"/>
            <a:ext cx="6079902"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Lo primero, es entender los datos que estamos trabajando (Análisis Exploratorio):</a:t>
            </a:r>
            <a:endParaRPr sz="2000"/>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¿Qué atributos (features) posee?.</a:t>
            </a:r>
            <a:endParaRPr sz="20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¿Cuáles son los tipos de dato que esperamos de cada uno de ellos?.</a:t>
            </a:r>
            <a:endParaRPr sz="20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¿Hay valores perdidos que son obvios de encontrar? (con una librería o software).</a:t>
            </a:r>
            <a:endParaRPr sz="2000"/>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¿Hay otro tipo de valores perdidos que no son tan obvios de encontrar? (no son tan fáciles de detectar con una librería o software).</a:t>
            </a:r>
            <a:endParaRPr sz="2000"/>
          </a:p>
          <a:p>
            <a:pPr marL="285750" marR="0" lvl="0" indent="-285750" algn="just" rtl="0">
              <a:spcBef>
                <a:spcPts val="0"/>
              </a:spcBef>
              <a:spcAft>
                <a:spcPts val="0"/>
              </a:spcAft>
              <a:buClr>
                <a:schemeClr val="lt1"/>
              </a:buClr>
              <a:buSzPts val="1800"/>
              <a:buFont typeface="Arial"/>
              <a:buChar char="•"/>
            </a:pPr>
            <a:r>
              <a:rPr lang="es-ES" sz="2000">
                <a:solidFill>
                  <a:schemeClr val="lt1"/>
                </a:solidFill>
                <a:latin typeface="Calibri"/>
                <a:ea typeface="Calibri"/>
                <a:cs typeface="Calibri"/>
                <a:sym typeface="Calibri"/>
              </a:rPr>
              <a:t>Valores erróneos.</a:t>
            </a:r>
            <a:endParaRPr sz="2000"/>
          </a:p>
        </p:txBody>
      </p:sp>
      <p:sp>
        <p:nvSpPr>
          <p:cNvPr id="194" name="Google Shape;194;p10"/>
          <p:cNvSpPr/>
          <p:nvPr/>
        </p:nvSpPr>
        <p:spPr>
          <a:xfrm>
            <a:off x="8526486" y="872801"/>
            <a:ext cx="2185639" cy="680225"/>
          </a:xfrm>
          <a:prstGeom prst="roundRect">
            <a:avLst>
              <a:gd name="adj" fmla="val 16667"/>
            </a:avLst>
          </a:prstGeom>
          <a:solidFill>
            <a:srgbClr val="98C34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a:solidFill>
                  <a:schemeClr val="lt1"/>
                </a:solidFill>
                <a:latin typeface="Calibri"/>
                <a:ea typeface="Calibri"/>
                <a:cs typeface="Calibri"/>
                <a:sym typeface="Calibri"/>
              </a:rPr>
              <a:t>Entendimiento de los Atributos</a:t>
            </a:r>
            <a:endParaRPr/>
          </a:p>
        </p:txBody>
      </p:sp>
      <p:sp>
        <p:nvSpPr>
          <p:cNvPr id="195" name="Google Shape;195;p10"/>
          <p:cNvSpPr/>
          <p:nvPr/>
        </p:nvSpPr>
        <p:spPr>
          <a:xfrm>
            <a:off x="8526487" y="1923380"/>
            <a:ext cx="2185639" cy="680225"/>
          </a:xfrm>
          <a:prstGeom prst="roundRect">
            <a:avLst>
              <a:gd name="adj" fmla="val 16667"/>
            </a:avLst>
          </a:prstGeom>
          <a:solidFill>
            <a:srgbClr val="98C34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a:solidFill>
                  <a:schemeClr val="lt1"/>
                </a:solidFill>
                <a:latin typeface="Calibri"/>
                <a:ea typeface="Calibri"/>
                <a:cs typeface="Calibri"/>
                <a:sym typeface="Calibri"/>
              </a:rPr>
              <a:t>Entendimiento tipos de dato esperados</a:t>
            </a:r>
            <a:endParaRPr/>
          </a:p>
        </p:txBody>
      </p:sp>
      <p:sp>
        <p:nvSpPr>
          <p:cNvPr id="196" name="Google Shape;196;p10"/>
          <p:cNvSpPr/>
          <p:nvPr/>
        </p:nvSpPr>
        <p:spPr>
          <a:xfrm>
            <a:off x="8526487" y="2871233"/>
            <a:ext cx="2185639" cy="680225"/>
          </a:xfrm>
          <a:prstGeom prst="roundRect">
            <a:avLst>
              <a:gd name="adj" fmla="val 16667"/>
            </a:avLst>
          </a:prstGeom>
          <a:solidFill>
            <a:srgbClr val="98C34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a:solidFill>
                  <a:schemeClr val="lt1"/>
                </a:solidFill>
                <a:latin typeface="Calibri"/>
                <a:ea typeface="Calibri"/>
                <a:cs typeface="Calibri"/>
                <a:sym typeface="Calibri"/>
              </a:rPr>
              <a:t>Detectar valores perdidos evidentes</a:t>
            </a:r>
            <a:endParaRPr/>
          </a:p>
        </p:txBody>
      </p:sp>
      <p:sp>
        <p:nvSpPr>
          <p:cNvPr id="197" name="Google Shape;197;p10"/>
          <p:cNvSpPr/>
          <p:nvPr/>
        </p:nvSpPr>
        <p:spPr>
          <a:xfrm>
            <a:off x="8526487" y="3843752"/>
            <a:ext cx="2185639" cy="680225"/>
          </a:xfrm>
          <a:prstGeom prst="roundRect">
            <a:avLst>
              <a:gd name="adj" fmla="val 16667"/>
            </a:avLst>
          </a:prstGeom>
          <a:solidFill>
            <a:srgbClr val="98C34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a:solidFill>
                  <a:schemeClr val="lt1"/>
                </a:solidFill>
                <a:latin typeface="Calibri"/>
                <a:ea typeface="Calibri"/>
                <a:cs typeface="Calibri"/>
                <a:sym typeface="Calibri"/>
              </a:rPr>
              <a:t>Detectar valores perdidos no evidentes</a:t>
            </a:r>
            <a:endParaRPr/>
          </a:p>
        </p:txBody>
      </p:sp>
      <p:sp>
        <p:nvSpPr>
          <p:cNvPr id="198" name="Google Shape;198;p10"/>
          <p:cNvSpPr/>
          <p:nvPr/>
        </p:nvSpPr>
        <p:spPr>
          <a:xfrm>
            <a:off x="8526486" y="4820997"/>
            <a:ext cx="2185639" cy="680225"/>
          </a:xfrm>
          <a:prstGeom prst="roundRect">
            <a:avLst>
              <a:gd name="adj" fmla="val 16667"/>
            </a:avLst>
          </a:prstGeom>
          <a:solidFill>
            <a:srgbClr val="98C34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a:solidFill>
                  <a:schemeClr val="lt1"/>
                </a:solidFill>
                <a:latin typeface="Calibri"/>
                <a:ea typeface="Calibri"/>
                <a:cs typeface="Calibri"/>
                <a:sym typeface="Calibri"/>
              </a:rPr>
              <a:t>Detectar errores</a:t>
            </a:r>
            <a:endParaRPr/>
          </a:p>
        </p:txBody>
      </p:sp>
      <p:cxnSp>
        <p:nvCxnSpPr>
          <p:cNvPr id="199" name="Google Shape;199;p10"/>
          <p:cNvCxnSpPr>
            <a:stCxn id="194" idx="2"/>
            <a:endCxn id="195" idx="0"/>
          </p:cNvCxnSpPr>
          <p:nvPr/>
        </p:nvCxnSpPr>
        <p:spPr>
          <a:xfrm>
            <a:off x="9619306" y="1553026"/>
            <a:ext cx="0" cy="370500"/>
          </a:xfrm>
          <a:prstGeom prst="straightConnector1">
            <a:avLst/>
          </a:prstGeom>
          <a:noFill/>
          <a:ln w="9525" cap="flat" cmpd="sng">
            <a:solidFill>
              <a:srgbClr val="385623"/>
            </a:solidFill>
            <a:prstDash val="solid"/>
            <a:miter lim="800000"/>
            <a:headEnd type="none" w="sm" len="sm"/>
            <a:tailEnd type="triangle" w="med" len="med"/>
          </a:ln>
        </p:spPr>
      </p:cxnSp>
      <p:cxnSp>
        <p:nvCxnSpPr>
          <p:cNvPr id="200" name="Google Shape;200;p10"/>
          <p:cNvCxnSpPr>
            <a:stCxn id="195" idx="2"/>
            <a:endCxn id="196" idx="0"/>
          </p:cNvCxnSpPr>
          <p:nvPr/>
        </p:nvCxnSpPr>
        <p:spPr>
          <a:xfrm>
            <a:off x="9619307" y="2603605"/>
            <a:ext cx="0" cy="267600"/>
          </a:xfrm>
          <a:prstGeom prst="straightConnector1">
            <a:avLst/>
          </a:prstGeom>
          <a:noFill/>
          <a:ln w="9525" cap="flat" cmpd="sng">
            <a:solidFill>
              <a:srgbClr val="385623"/>
            </a:solidFill>
            <a:prstDash val="solid"/>
            <a:miter lim="800000"/>
            <a:headEnd type="none" w="sm" len="sm"/>
            <a:tailEnd type="triangle" w="med" len="med"/>
          </a:ln>
        </p:spPr>
      </p:cxnSp>
      <p:cxnSp>
        <p:nvCxnSpPr>
          <p:cNvPr id="201" name="Google Shape;201;p10"/>
          <p:cNvCxnSpPr>
            <a:stCxn id="196" idx="2"/>
            <a:endCxn id="197" idx="0"/>
          </p:cNvCxnSpPr>
          <p:nvPr/>
        </p:nvCxnSpPr>
        <p:spPr>
          <a:xfrm>
            <a:off x="9619307" y="3551458"/>
            <a:ext cx="0" cy="292200"/>
          </a:xfrm>
          <a:prstGeom prst="straightConnector1">
            <a:avLst/>
          </a:prstGeom>
          <a:noFill/>
          <a:ln w="9525" cap="flat" cmpd="sng">
            <a:solidFill>
              <a:srgbClr val="385623"/>
            </a:solidFill>
            <a:prstDash val="solid"/>
            <a:miter lim="800000"/>
            <a:headEnd type="none" w="sm" len="sm"/>
            <a:tailEnd type="triangle" w="med" len="med"/>
          </a:ln>
        </p:spPr>
      </p:cxnSp>
      <p:cxnSp>
        <p:nvCxnSpPr>
          <p:cNvPr id="202" name="Google Shape;202;p10"/>
          <p:cNvCxnSpPr>
            <a:stCxn id="197" idx="2"/>
            <a:endCxn id="198" idx="0"/>
          </p:cNvCxnSpPr>
          <p:nvPr/>
        </p:nvCxnSpPr>
        <p:spPr>
          <a:xfrm>
            <a:off x="9619307" y="4523977"/>
            <a:ext cx="0" cy="297000"/>
          </a:xfrm>
          <a:prstGeom prst="straightConnector1">
            <a:avLst/>
          </a:prstGeom>
          <a:noFill/>
          <a:ln w="9525" cap="flat" cmpd="sng">
            <a:solidFill>
              <a:srgbClr val="548135"/>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1"/>
          <p:cNvSpPr/>
          <p:nvPr/>
        </p:nvSpPr>
        <p:spPr>
          <a:xfrm>
            <a:off x="-228461" y="1370860"/>
            <a:ext cx="12864354" cy="106210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1"/>
          <p:cNvSpPr txBox="1"/>
          <p:nvPr/>
        </p:nvSpPr>
        <p:spPr>
          <a:xfrm>
            <a:off x="1195323" y="322615"/>
            <a:ext cx="9172909" cy="846308"/>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Dataset de Ejemplo</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209" name="Google Shape;209;p11"/>
          <p:cNvSpPr/>
          <p:nvPr/>
        </p:nvSpPr>
        <p:spPr>
          <a:xfrm>
            <a:off x="1981816" y="2720457"/>
            <a:ext cx="7811400" cy="2935800"/>
          </a:xfrm>
          <a:prstGeom prst="roundRect">
            <a:avLst>
              <a:gd name="adj" fmla="val 2971"/>
            </a:avLst>
          </a:prstGeom>
          <a:solidFill>
            <a:schemeClr val="dk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0" name="Google Shape;210;p11"/>
          <p:cNvPicPr preferRelativeResize="0"/>
          <p:nvPr/>
        </p:nvPicPr>
        <p:blipFill rotWithShape="1">
          <a:blip r:embed="rId3">
            <a:alphaModFix/>
          </a:blip>
          <a:srcRect/>
          <a:stretch/>
        </p:blipFill>
        <p:spPr>
          <a:xfrm>
            <a:off x="2320818" y="3005263"/>
            <a:ext cx="7133305" cy="2366056"/>
          </a:xfrm>
          <a:prstGeom prst="rect">
            <a:avLst/>
          </a:prstGeom>
          <a:noFill/>
          <a:ln>
            <a:noFill/>
          </a:ln>
        </p:spPr>
      </p:pic>
      <p:sp>
        <p:nvSpPr>
          <p:cNvPr id="211" name="Google Shape;211;p11"/>
          <p:cNvSpPr txBox="1"/>
          <p:nvPr/>
        </p:nvSpPr>
        <p:spPr>
          <a:xfrm>
            <a:off x="1195323" y="1525688"/>
            <a:ext cx="9588940" cy="1061789"/>
          </a:xfrm>
          <a:prstGeom prst="rect">
            <a:avLst/>
          </a:prstGeom>
          <a:noFill/>
          <a:ln>
            <a:noFill/>
          </a:ln>
        </p:spPr>
        <p:txBody>
          <a:bodyPr spcFirstLastPara="1" wrap="square" lIns="91425" tIns="45700" rIns="91425" bIns="45700" anchor="ctr" anchorCtr="0">
            <a:spAutoFit/>
          </a:bodyPr>
          <a:lstStyle/>
          <a:p>
            <a:pPr algn="just"/>
            <a:r>
              <a:rPr lang="es-ES" sz="1800" dirty="0">
                <a:solidFill>
                  <a:schemeClr val="lt1"/>
                </a:solidFill>
                <a:latin typeface="Calibri"/>
                <a:ea typeface="Calibri"/>
                <a:cs typeface="Calibri"/>
                <a:sym typeface="Calibri"/>
              </a:rPr>
              <a:t>El siguiente </a:t>
            </a:r>
            <a:r>
              <a:rPr lang="es-ES" sz="1800" dirty="0" err="1">
                <a:solidFill>
                  <a:schemeClr val="lt1"/>
                </a:solidFill>
                <a:latin typeface="Calibri"/>
                <a:ea typeface="Calibri"/>
                <a:cs typeface="Calibri"/>
                <a:sym typeface="Calibri"/>
              </a:rPr>
              <a:t>dataset</a:t>
            </a:r>
            <a:r>
              <a:rPr lang="es-ES" sz="1800" dirty="0">
                <a:solidFill>
                  <a:schemeClr val="lt1"/>
                </a:solidFill>
                <a:latin typeface="Calibri"/>
                <a:ea typeface="Calibri"/>
                <a:cs typeface="Calibri"/>
                <a:sym typeface="Calibri"/>
              </a:rPr>
              <a:t> corresponde a una empresa dedicada al corretaje de propiedades. Cada registro se correlaciona a una propiedad de su inventario. Nótese que se aprecian datos faltantes y erróneos.</a:t>
            </a:r>
            <a:endParaRPr lang="es-ES" dirty="0">
              <a:solidFill>
                <a:schemeClr val="lt1"/>
              </a:solidFill>
            </a:endParaRPr>
          </a:p>
          <a:p>
            <a:pPr marL="0" marR="0" lvl="0" indent="0" algn="just" rtl="0">
              <a:lnSpc>
                <a:spcPct val="150000"/>
              </a:lnSpc>
              <a:spcBef>
                <a:spcPts val="0"/>
              </a:spcBef>
              <a:spcAft>
                <a:spcPts val="0"/>
              </a:spcAft>
              <a:buNone/>
            </a:pPr>
            <a:endParaRPr sz="18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2"/>
          <p:cNvSpPr/>
          <p:nvPr/>
        </p:nvSpPr>
        <p:spPr>
          <a:xfrm>
            <a:off x="-360436" y="1345682"/>
            <a:ext cx="12864354" cy="88214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12"/>
          <p:cNvSpPr/>
          <p:nvPr/>
        </p:nvSpPr>
        <p:spPr>
          <a:xfrm>
            <a:off x="2169030" y="2489880"/>
            <a:ext cx="7967100" cy="2958300"/>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2"/>
          <p:cNvSpPr txBox="1"/>
          <p:nvPr/>
        </p:nvSpPr>
        <p:spPr>
          <a:xfrm>
            <a:off x="998457" y="270147"/>
            <a:ext cx="987552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Analizando los atributos y sus tipos de datos</a:t>
            </a:r>
            <a:endParaRPr sz="3200">
              <a:solidFill>
                <a:srgbClr val="7F7F7F"/>
              </a:solidFill>
              <a:latin typeface="Arial"/>
              <a:ea typeface="Arial"/>
              <a:cs typeface="Arial"/>
              <a:sym typeface="Arial"/>
            </a:endParaRPr>
          </a:p>
        </p:txBody>
      </p:sp>
      <p:pic>
        <p:nvPicPr>
          <p:cNvPr id="219" name="Google Shape;219;p12"/>
          <p:cNvPicPr preferRelativeResize="0"/>
          <p:nvPr/>
        </p:nvPicPr>
        <p:blipFill rotWithShape="1">
          <a:blip r:embed="rId3">
            <a:alphaModFix/>
          </a:blip>
          <a:srcRect/>
          <a:stretch/>
        </p:blipFill>
        <p:spPr>
          <a:xfrm>
            <a:off x="2341856" y="2571374"/>
            <a:ext cx="7621301" cy="2663017"/>
          </a:xfrm>
          <a:prstGeom prst="rect">
            <a:avLst/>
          </a:prstGeom>
          <a:noFill/>
          <a:ln>
            <a:noFill/>
          </a:ln>
        </p:spPr>
      </p:pic>
      <p:cxnSp>
        <p:nvCxnSpPr>
          <p:cNvPr id="220" name="Google Shape;220;p12"/>
          <p:cNvCxnSpPr/>
          <p:nvPr/>
        </p:nvCxnSpPr>
        <p:spPr>
          <a:xfrm rot="10800000" flipH="1">
            <a:off x="9176117" y="3386151"/>
            <a:ext cx="391800" cy="8700"/>
          </a:xfrm>
          <a:prstGeom prst="straightConnector1">
            <a:avLst/>
          </a:prstGeom>
          <a:noFill/>
          <a:ln w="38100" cap="flat" cmpd="sng">
            <a:solidFill>
              <a:srgbClr val="BBD6EE"/>
            </a:solidFill>
            <a:prstDash val="solid"/>
            <a:miter lim="800000"/>
            <a:headEnd type="none" w="sm" len="sm"/>
            <a:tailEnd type="none" w="sm" len="sm"/>
          </a:ln>
        </p:spPr>
      </p:cxnSp>
      <p:cxnSp>
        <p:nvCxnSpPr>
          <p:cNvPr id="221" name="Google Shape;221;p12"/>
          <p:cNvCxnSpPr/>
          <p:nvPr/>
        </p:nvCxnSpPr>
        <p:spPr>
          <a:xfrm rot="10800000" flipH="1">
            <a:off x="9184826" y="3695305"/>
            <a:ext cx="391800" cy="8700"/>
          </a:xfrm>
          <a:prstGeom prst="straightConnector1">
            <a:avLst/>
          </a:prstGeom>
          <a:noFill/>
          <a:ln w="57150" cap="flat" cmpd="sng">
            <a:solidFill>
              <a:srgbClr val="DDEAF6"/>
            </a:solidFill>
            <a:prstDash val="solid"/>
            <a:miter lim="800000"/>
            <a:headEnd type="none" w="sm" len="sm"/>
            <a:tailEnd type="none" w="sm" len="sm"/>
          </a:ln>
        </p:spPr>
      </p:cxnSp>
      <p:cxnSp>
        <p:nvCxnSpPr>
          <p:cNvPr id="222" name="Google Shape;222;p12"/>
          <p:cNvCxnSpPr/>
          <p:nvPr/>
        </p:nvCxnSpPr>
        <p:spPr>
          <a:xfrm>
            <a:off x="9718158" y="3690583"/>
            <a:ext cx="180900" cy="9000"/>
          </a:xfrm>
          <a:prstGeom prst="straightConnector1">
            <a:avLst/>
          </a:prstGeom>
          <a:noFill/>
          <a:ln w="57150" cap="flat" cmpd="sng">
            <a:solidFill>
              <a:srgbClr val="DDEAF6"/>
            </a:solidFill>
            <a:prstDash val="solid"/>
            <a:miter lim="800000"/>
            <a:headEnd type="none" w="sm" len="sm"/>
            <a:tailEnd type="none" w="sm" len="sm"/>
          </a:ln>
        </p:spPr>
      </p:cxnSp>
      <p:sp>
        <p:nvSpPr>
          <p:cNvPr id="223" name="Google Shape;223;p12"/>
          <p:cNvSpPr txBox="1"/>
          <p:nvPr/>
        </p:nvSpPr>
        <p:spPr>
          <a:xfrm>
            <a:off x="1011093" y="1428432"/>
            <a:ext cx="7794126" cy="707886"/>
          </a:xfrm>
          <a:prstGeom prst="rect">
            <a:avLst/>
          </a:prstGeom>
          <a:noFill/>
          <a:ln>
            <a:noFill/>
          </a:ln>
        </p:spPr>
        <p:txBody>
          <a:bodyPr spcFirstLastPara="1" wrap="square" lIns="91425" tIns="45700" rIns="91425" bIns="45700" anchor="ctr" anchorCtr="0">
            <a:spAutoFit/>
          </a:bodyPr>
          <a:lstStyle/>
          <a:p>
            <a:r>
              <a:rPr lang="es-ES" sz="2000" dirty="0">
                <a:solidFill>
                  <a:schemeClr val="lt1"/>
                </a:solidFill>
                <a:latin typeface="Calibri"/>
                <a:ea typeface="Calibri"/>
                <a:cs typeface="Calibri"/>
                <a:sym typeface="Calibri"/>
              </a:rPr>
              <a:t>A continuación, se describen las columnas de este </a:t>
            </a:r>
            <a:r>
              <a:rPr lang="es-ES" sz="2000" b="1" dirty="0" err="1">
                <a:solidFill>
                  <a:schemeClr val="lt1"/>
                </a:solidFill>
                <a:latin typeface="Calibri"/>
                <a:ea typeface="Calibri"/>
                <a:cs typeface="Calibri"/>
                <a:sym typeface="Calibri"/>
              </a:rPr>
              <a:t>dataset</a:t>
            </a:r>
            <a:r>
              <a:rPr lang="es-ES" sz="2000" dirty="0">
                <a:solidFill>
                  <a:schemeClr val="lt1"/>
                </a:solidFill>
                <a:latin typeface="Calibri"/>
                <a:ea typeface="Calibri"/>
                <a:cs typeface="Calibri"/>
                <a:sym typeface="Calibri"/>
              </a:rPr>
              <a:t> y los tipos de datos esperados.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13"/>
          <p:cNvPicPr preferRelativeResize="0"/>
          <p:nvPr/>
        </p:nvPicPr>
        <p:blipFill rotWithShape="1">
          <a:blip r:embed="rId3">
            <a:alphaModFix/>
          </a:blip>
          <a:srcRect/>
          <a:stretch/>
        </p:blipFill>
        <p:spPr>
          <a:xfrm>
            <a:off x="766479" y="1084082"/>
            <a:ext cx="10781919" cy="895284"/>
          </a:xfrm>
          <a:prstGeom prst="rect">
            <a:avLst/>
          </a:prstGeom>
          <a:noFill/>
          <a:ln>
            <a:noFill/>
          </a:ln>
        </p:spPr>
      </p:pic>
      <p:pic>
        <p:nvPicPr>
          <p:cNvPr id="229" name="Google Shape;229;p13"/>
          <p:cNvPicPr preferRelativeResize="0"/>
          <p:nvPr/>
        </p:nvPicPr>
        <p:blipFill rotWithShape="1">
          <a:blip r:embed="rId3">
            <a:alphaModFix/>
          </a:blip>
          <a:srcRect/>
          <a:stretch/>
        </p:blipFill>
        <p:spPr>
          <a:xfrm>
            <a:off x="7891324" y="2778622"/>
            <a:ext cx="2994466" cy="1126661"/>
          </a:xfrm>
          <a:prstGeom prst="rect">
            <a:avLst/>
          </a:prstGeom>
          <a:noFill/>
          <a:ln>
            <a:noFill/>
          </a:ln>
        </p:spPr>
      </p:pic>
      <p:sp>
        <p:nvSpPr>
          <p:cNvPr id="230" name="Google Shape;230;p13"/>
          <p:cNvSpPr txBox="1"/>
          <p:nvPr/>
        </p:nvSpPr>
        <p:spPr>
          <a:xfrm>
            <a:off x="766479" y="292716"/>
            <a:ext cx="1046082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Identificación de valores perdidos estándar</a:t>
            </a:r>
            <a:endParaRPr/>
          </a:p>
          <a:p>
            <a:pPr marL="0" marR="0" lvl="0" indent="0" algn="l" rtl="0">
              <a:lnSpc>
                <a:spcPct val="100000"/>
              </a:lnSpc>
              <a:spcBef>
                <a:spcPts val="0"/>
              </a:spcBef>
              <a:spcAft>
                <a:spcPts val="0"/>
              </a:spcAft>
              <a:buNone/>
            </a:pPr>
            <a:endParaRPr sz="3200">
              <a:solidFill>
                <a:srgbClr val="7F7F7F"/>
              </a:solidFill>
              <a:latin typeface="Arial"/>
              <a:ea typeface="Arial"/>
              <a:cs typeface="Arial"/>
              <a:sym typeface="Arial"/>
            </a:endParaRPr>
          </a:p>
        </p:txBody>
      </p:sp>
      <p:sp>
        <p:nvSpPr>
          <p:cNvPr id="231" name="Google Shape;231;p13"/>
          <p:cNvSpPr/>
          <p:nvPr/>
        </p:nvSpPr>
        <p:spPr>
          <a:xfrm>
            <a:off x="766479" y="2150135"/>
            <a:ext cx="6527260" cy="393936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2" name="Google Shape;232;p13"/>
          <p:cNvPicPr preferRelativeResize="0"/>
          <p:nvPr/>
        </p:nvPicPr>
        <p:blipFill rotWithShape="1">
          <a:blip r:embed="rId4">
            <a:alphaModFix/>
          </a:blip>
          <a:srcRect/>
          <a:stretch/>
        </p:blipFill>
        <p:spPr>
          <a:xfrm>
            <a:off x="1019789" y="2356179"/>
            <a:ext cx="6020640" cy="3515216"/>
          </a:xfrm>
          <a:prstGeom prst="rect">
            <a:avLst/>
          </a:prstGeom>
          <a:noFill/>
          <a:ln>
            <a:noFill/>
          </a:ln>
        </p:spPr>
      </p:pic>
      <p:sp>
        <p:nvSpPr>
          <p:cNvPr id="233" name="Google Shape;233;p13"/>
          <p:cNvSpPr txBox="1"/>
          <p:nvPr/>
        </p:nvSpPr>
        <p:spPr>
          <a:xfrm>
            <a:off x="8094891" y="2988009"/>
            <a:ext cx="2658359"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a:solidFill>
                  <a:schemeClr val="lt1"/>
                </a:solidFill>
                <a:latin typeface="Calibri"/>
                <a:ea typeface="Calibri"/>
                <a:cs typeface="Calibri"/>
                <a:sym typeface="Calibri"/>
              </a:rPr>
              <a:t>La librería Pandas los representa con </a:t>
            </a:r>
            <a:r>
              <a:rPr lang="es-ES" sz="2000" b="1">
                <a:solidFill>
                  <a:schemeClr val="lt1"/>
                </a:solidFill>
                <a:latin typeface="Calibri"/>
                <a:ea typeface="Calibri"/>
                <a:cs typeface="Calibri"/>
                <a:sym typeface="Calibri"/>
              </a:rPr>
              <a:t>NaN.</a:t>
            </a:r>
            <a:endParaRPr/>
          </a:p>
        </p:txBody>
      </p:sp>
      <p:cxnSp>
        <p:nvCxnSpPr>
          <p:cNvPr id="234" name="Google Shape;234;p13"/>
          <p:cNvCxnSpPr/>
          <p:nvPr/>
        </p:nvCxnSpPr>
        <p:spPr>
          <a:xfrm flipH="1">
            <a:off x="7040429" y="4119819"/>
            <a:ext cx="1513503" cy="1285064"/>
          </a:xfrm>
          <a:prstGeom prst="straightConnector1">
            <a:avLst/>
          </a:prstGeom>
          <a:noFill/>
          <a:ln w="15875" cap="flat" cmpd="sng">
            <a:solidFill>
              <a:srgbClr val="98C340"/>
            </a:solidFill>
            <a:prstDash val="solid"/>
            <a:miter lim="800000"/>
            <a:headEnd type="none" w="sm" len="sm"/>
            <a:tailEnd type="triangle" w="med" len="med"/>
          </a:ln>
        </p:spPr>
      </p:cxnSp>
      <p:sp>
        <p:nvSpPr>
          <p:cNvPr id="235" name="Google Shape;235;p13"/>
          <p:cNvSpPr txBox="1"/>
          <p:nvPr/>
        </p:nvSpPr>
        <p:spPr>
          <a:xfrm>
            <a:off x="914399" y="1188312"/>
            <a:ext cx="10501460" cy="707886"/>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 sz="2000">
                <a:solidFill>
                  <a:schemeClr val="lt1"/>
                </a:solidFill>
                <a:latin typeface="Calibri"/>
                <a:ea typeface="Calibri"/>
                <a:cs typeface="Calibri"/>
                <a:sym typeface="Calibri"/>
              </a:rPr>
              <a:t>Los valores perdidos estándar son aquellos que pueden ser identificados fácilmente por un software o por una librería porque son reconocibles.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14"/>
          <p:cNvPicPr preferRelativeResize="0"/>
          <p:nvPr/>
        </p:nvPicPr>
        <p:blipFill rotWithShape="1">
          <a:blip r:embed="rId3">
            <a:alphaModFix/>
          </a:blip>
          <a:srcRect/>
          <a:stretch/>
        </p:blipFill>
        <p:spPr>
          <a:xfrm>
            <a:off x="1823058" y="2705258"/>
            <a:ext cx="3500885" cy="1493593"/>
          </a:xfrm>
          <a:prstGeom prst="rect">
            <a:avLst/>
          </a:prstGeom>
          <a:noFill/>
          <a:ln>
            <a:noFill/>
          </a:ln>
        </p:spPr>
      </p:pic>
      <p:pic>
        <p:nvPicPr>
          <p:cNvPr id="241" name="Google Shape;241;p14"/>
          <p:cNvPicPr preferRelativeResize="0"/>
          <p:nvPr/>
        </p:nvPicPr>
        <p:blipFill rotWithShape="1">
          <a:blip r:embed="rId3">
            <a:alphaModFix/>
          </a:blip>
          <a:srcRect/>
          <a:stretch/>
        </p:blipFill>
        <p:spPr>
          <a:xfrm>
            <a:off x="892006" y="1059084"/>
            <a:ext cx="10391880" cy="895284"/>
          </a:xfrm>
          <a:prstGeom prst="rect">
            <a:avLst/>
          </a:prstGeom>
          <a:noFill/>
          <a:ln>
            <a:noFill/>
          </a:ln>
        </p:spPr>
      </p:pic>
      <p:sp>
        <p:nvSpPr>
          <p:cNvPr id="242" name="Google Shape;242;p14"/>
          <p:cNvSpPr/>
          <p:nvPr/>
        </p:nvSpPr>
        <p:spPr>
          <a:xfrm>
            <a:off x="1138490" y="149374"/>
            <a:ext cx="7972054"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Identificación de valores perdidos estándar</a:t>
            </a:r>
            <a:endParaRPr/>
          </a:p>
        </p:txBody>
      </p:sp>
      <p:sp>
        <p:nvSpPr>
          <p:cNvPr id="243" name="Google Shape;243;p14"/>
          <p:cNvSpPr txBox="1"/>
          <p:nvPr/>
        </p:nvSpPr>
        <p:spPr>
          <a:xfrm>
            <a:off x="985134" y="1208188"/>
            <a:ext cx="10520313" cy="6463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La librería Pandas identifica fácilmente los valores perdidos evidentes, el método isnull(), retorna una matriz con True en donde determina que existe un valor perdido.</a:t>
            </a:r>
            <a:endParaRPr/>
          </a:p>
        </p:txBody>
      </p:sp>
      <p:sp>
        <p:nvSpPr>
          <p:cNvPr id="244" name="Google Shape;244;p14"/>
          <p:cNvSpPr/>
          <p:nvPr/>
        </p:nvSpPr>
        <p:spPr>
          <a:xfrm>
            <a:off x="5982540" y="1985117"/>
            <a:ext cx="5301345" cy="425048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5" name="Google Shape;245;p14"/>
          <p:cNvPicPr preferRelativeResize="0"/>
          <p:nvPr/>
        </p:nvPicPr>
        <p:blipFill rotWithShape="1">
          <a:blip r:embed="rId4">
            <a:alphaModFix/>
          </a:blip>
          <a:srcRect/>
          <a:stretch/>
        </p:blipFill>
        <p:spPr>
          <a:xfrm>
            <a:off x="6437927" y="2148614"/>
            <a:ext cx="4405832" cy="2248157"/>
          </a:xfrm>
          <a:prstGeom prst="rect">
            <a:avLst/>
          </a:prstGeom>
          <a:noFill/>
          <a:ln>
            <a:noFill/>
          </a:ln>
        </p:spPr>
      </p:pic>
      <p:pic>
        <p:nvPicPr>
          <p:cNvPr id="246" name="Google Shape;246;p14"/>
          <p:cNvPicPr preferRelativeResize="0"/>
          <p:nvPr/>
        </p:nvPicPr>
        <p:blipFill rotWithShape="1">
          <a:blip r:embed="rId5">
            <a:alphaModFix/>
          </a:blip>
          <a:srcRect/>
          <a:stretch/>
        </p:blipFill>
        <p:spPr>
          <a:xfrm>
            <a:off x="6417047" y="4580574"/>
            <a:ext cx="4426712" cy="1280684"/>
          </a:xfrm>
          <a:prstGeom prst="rect">
            <a:avLst/>
          </a:prstGeom>
          <a:noFill/>
          <a:ln>
            <a:noFill/>
          </a:ln>
        </p:spPr>
      </p:pic>
      <p:sp>
        <p:nvSpPr>
          <p:cNvPr id="247" name="Google Shape;247;p14"/>
          <p:cNvSpPr txBox="1"/>
          <p:nvPr/>
        </p:nvSpPr>
        <p:spPr>
          <a:xfrm>
            <a:off x="1938622" y="2913445"/>
            <a:ext cx="3269755"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Con esta instrucción podemos contabilizar la cantidad de valores perdidos evidentes que existe en un dataframe.</a:t>
            </a:r>
            <a:endParaRPr/>
          </a:p>
        </p:txBody>
      </p:sp>
      <p:cxnSp>
        <p:nvCxnSpPr>
          <p:cNvPr id="248" name="Google Shape;248;p14"/>
          <p:cNvCxnSpPr/>
          <p:nvPr/>
        </p:nvCxnSpPr>
        <p:spPr>
          <a:xfrm>
            <a:off x="4486019" y="4147794"/>
            <a:ext cx="2049943" cy="493528"/>
          </a:xfrm>
          <a:prstGeom prst="straightConnector1">
            <a:avLst/>
          </a:prstGeom>
          <a:noFill/>
          <a:ln w="9525" cap="flat" cmpd="sng">
            <a:solidFill>
              <a:srgbClr val="757070"/>
            </a:solidFill>
            <a:prstDash val="solid"/>
            <a:miter lim="800000"/>
            <a:headEnd type="none" w="sm" len="sm"/>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5"/>
          <p:cNvSpPr/>
          <p:nvPr/>
        </p:nvSpPr>
        <p:spPr>
          <a:xfrm>
            <a:off x="7083324" y="1465551"/>
            <a:ext cx="5451000" cy="14679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15"/>
          <p:cNvSpPr txBox="1"/>
          <p:nvPr/>
        </p:nvSpPr>
        <p:spPr>
          <a:xfrm>
            <a:off x="6507167" y="534124"/>
            <a:ext cx="5845435" cy="1030086"/>
          </a:xfrm>
          <a:prstGeom prst="rect">
            <a:avLst/>
          </a:prstGeom>
          <a:noFill/>
          <a:ln>
            <a:noFill/>
          </a:ln>
        </p:spPr>
        <p:txBody>
          <a:bodyPr spcFirstLastPara="1" wrap="square" lIns="91425" tIns="45700" rIns="91425" bIns="45700" anchor="ctr" anchorCtr="0">
            <a:noAutofit/>
          </a:bodyPr>
          <a:lstStyle/>
          <a:p>
            <a:pPr marL="0" marR="0" lvl="0" indent="0" rtl="0">
              <a:lnSpc>
                <a:spcPct val="150000"/>
              </a:lnSpc>
              <a:spcBef>
                <a:spcPts val="0"/>
              </a:spcBef>
              <a:spcAft>
                <a:spcPts val="0"/>
              </a:spcAft>
              <a:buNone/>
            </a:pPr>
            <a:r>
              <a:rPr lang="es-ES" sz="3200">
                <a:solidFill>
                  <a:srgbClr val="7F7F7F"/>
                </a:solidFill>
                <a:latin typeface="Arial"/>
                <a:ea typeface="Arial"/>
                <a:cs typeface="Arial"/>
                <a:sym typeface="Arial"/>
              </a:rPr>
              <a:t>Valores perdidos no estándar</a:t>
            </a:r>
            <a:endParaRPr sz="3600">
              <a:solidFill>
                <a:srgbClr val="7F7F7F"/>
              </a:solidFill>
              <a:latin typeface="Arial"/>
              <a:ea typeface="Arial"/>
              <a:cs typeface="Arial"/>
              <a:sym typeface="Arial"/>
            </a:endParaRPr>
          </a:p>
        </p:txBody>
      </p:sp>
      <p:sp>
        <p:nvSpPr>
          <p:cNvPr id="255" name="Google Shape;255;p15"/>
          <p:cNvSpPr/>
          <p:nvPr/>
        </p:nvSpPr>
        <p:spPr>
          <a:xfrm>
            <a:off x="473423" y="648057"/>
            <a:ext cx="6031200" cy="56811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6" name="Google Shape;256;p15"/>
          <p:cNvPicPr preferRelativeResize="0"/>
          <p:nvPr/>
        </p:nvPicPr>
        <p:blipFill rotWithShape="1">
          <a:blip r:embed="rId3">
            <a:alphaModFix/>
          </a:blip>
          <a:srcRect t="23446"/>
          <a:stretch/>
        </p:blipFill>
        <p:spPr>
          <a:xfrm>
            <a:off x="715305" y="825395"/>
            <a:ext cx="5570439" cy="2489834"/>
          </a:xfrm>
          <a:prstGeom prst="rect">
            <a:avLst/>
          </a:prstGeom>
          <a:noFill/>
          <a:ln>
            <a:noFill/>
          </a:ln>
        </p:spPr>
      </p:pic>
      <p:sp>
        <p:nvSpPr>
          <p:cNvPr id="257" name="Google Shape;257;p15"/>
          <p:cNvSpPr txBox="1"/>
          <p:nvPr/>
        </p:nvSpPr>
        <p:spPr>
          <a:xfrm>
            <a:off x="7216947" y="1593167"/>
            <a:ext cx="3976500" cy="1200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Acá apreciamos que cuando se hizo ingreso de la información, también se utilizó una forma no estándar de señalar valores vacíos (na, --)</a:t>
            </a:r>
            <a:endParaRPr/>
          </a:p>
        </p:txBody>
      </p:sp>
      <p:cxnSp>
        <p:nvCxnSpPr>
          <p:cNvPr id="258" name="Google Shape;258;p15"/>
          <p:cNvCxnSpPr/>
          <p:nvPr/>
        </p:nvCxnSpPr>
        <p:spPr>
          <a:xfrm rot="10800000">
            <a:off x="6285867" y="1471866"/>
            <a:ext cx="915300" cy="321000"/>
          </a:xfrm>
          <a:prstGeom prst="straightConnector1">
            <a:avLst/>
          </a:prstGeom>
          <a:noFill/>
          <a:ln w="9525" cap="flat" cmpd="sng">
            <a:solidFill>
              <a:srgbClr val="A5A5A5"/>
            </a:solidFill>
            <a:prstDash val="solid"/>
            <a:miter lim="800000"/>
            <a:headEnd type="none" w="sm" len="sm"/>
            <a:tailEnd type="triangle" w="med" len="med"/>
          </a:ln>
        </p:spPr>
      </p:cxnSp>
      <p:cxnSp>
        <p:nvCxnSpPr>
          <p:cNvPr id="259" name="Google Shape;259;p15"/>
          <p:cNvCxnSpPr/>
          <p:nvPr/>
        </p:nvCxnSpPr>
        <p:spPr>
          <a:xfrm flipH="1">
            <a:off x="5238567" y="2093941"/>
            <a:ext cx="1962600" cy="999900"/>
          </a:xfrm>
          <a:prstGeom prst="straightConnector1">
            <a:avLst/>
          </a:prstGeom>
          <a:noFill/>
          <a:ln w="9525" cap="flat" cmpd="sng">
            <a:solidFill>
              <a:srgbClr val="A5A5A5"/>
            </a:solidFill>
            <a:prstDash val="solid"/>
            <a:miter lim="800000"/>
            <a:headEnd type="none" w="sm" len="sm"/>
            <a:tailEnd type="triangle" w="med" len="med"/>
          </a:ln>
        </p:spPr>
      </p:cxnSp>
      <p:sp>
        <p:nvSpPr>
          <p:cNvPr id="260" name="Google Shape;260;p15"/>
          <p:cNvSpPr/>
          <p:nvPr/>
        </p:nvSpPr>
        <p:spPr>
          <a:xfrm>
            <a:off x="5836490" y="1366160"/>
            <a:ext cx="401400" cy="211800"/>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15"/>
          <p:cNvSpPr/>
          <p:nvPr/>
        </p:nvSpPr>
        <p:spPr>
          <a:xfrm>
            <a:off x="4752408" y="2990480"/>
            <a:ext cx="401400" cy="211800"/>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62" name="Google Shape;262;p15"/>
          <p:cNvPicPr preferRelativeResize="0"/>
          <p:nvPr/>
        </p:nvPicPr>
        <p:blipFill rotWithShape="1">
          <a:blip r:embed="rId4">
            <a:alphaModFix/>
          </a:blip>
          <a:srcRect/>
          <a:stretch/>
        </p:blipFill>
        <p:spPr>
          <a:xfrm>
            <a:off x="715793" y="3315229"/>
            <a:ext cx="5570438" cy="28424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16"/>
          <p:cNvPicPr preferRelativeResize="0"/>
          <p:nvPr/>
        </p:nvPicPr>
        <p:blipFill rotWithShape="1">
          <a:blip r:embed="rId3">
            <a:alphaModFix/>
          </a:blip>
          <a:srcRect/>
          <a:stretch/>
        </p:blipFill>
        <p:spPr>
          <a:xfrm>
            <a:off x="-603316" y="1192598"/>
            <a:ext cx="13338927" cy="895284"/>
          </a:xfrm>
          <a:prstGeom prst="rect">
            <a:avLst/>
          </a:prstGeom>
          <a:noFill/>
          <a:ln>
            <a:noFill/>
          </a:ln>
        </p:spPr>
      </p:pic>
      <p:sp>
        <p:nvSpPr>
          <p:cNvPr id="268" name="Google Shape;268;p16"/>
          <p:cNvSpPr txBox="1"/>
          <p:nvPr/>
        </p:nvSpPr>
        <p:spPr>
          <a:xfrm>
            <a:off x="1220111" y="306796"/>
            <a:ext cx="1023910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Corrigiendo valores perdidos no-estándar</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269" name="Google Shape;269;p16"/>
          <p:cNvSpPr/>
          <p:nvPr/>
        </p:nvSpPr>
        <p:spPr>
          <a:xfrm>
            <a:off x="1148267" y="2717240"/>
            <a:ext cx="6566170" cy="361449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0" name="Google Shape;270;p16"/>
          <p:cNvPicPr preferRelativeResize="0"/>
          <p:nvPr/>
        </p:nvPicPr>
        <p:blipFill rotWithShape="1">
          <a:blip r:embed="rId4">
            <a:alphaModFix/>
          </a:blip>
          <a:srcRect/>
          <a:stretch/>
        </p:blipFill>
        <p:spPr>
          <a:xfrm>
            <a:off x="1465208" y="2895482"/>
            <a:ext cx="6096851" cy="3258005"/>
          </a:xfrm>
          <a:prstGeom prst="rect">
            <a:avLst/>
          </a:prstGeom>
          <a:noFill/>
          <a:ln>
            <a:noFill/>
          </a:ln>
        </p:spPr>
      </p:pic>
      <p:cxnSp>
        <p:nvCxnSpPr>
          <p:cNvPr id="271" name="Google Shape;271;p16"/>
          <p:cNvCxnSpPr/>
          <p:nvPr/>
        </p:nvCxnSpPr>
        <p:spPr>
          <a:xfrm>
            <a:off x="2984686" y="2162344"/>
            <a:ext cx="1579809" cy="762872"/>
          </a:xfrm>
          <a:prstGeom prst="straightConnector1">
            <a:avLst/>
          </a:prstGeom>
          <a:noFill/>
          <a:ln w="9525" cap="flat" cmpd="sng">
            <a:solidFill>
              <a:srgbClr val="757070"/>
            </a:solidFill>
            <a:prstDash val="solid"/>
            <a:miter lim="800000"/>
            <a:headEnd type="none" w="sm" len="sm"/>
            <a:tailEnd type="triangle" w="med" len="med"/>
          </a:ln>
        </p:spPr>
      </p:cxnSp>
      <p:sp>
        <p:nvSpPr>
          <p:cNvPr id="272" name="Google Shape;272;p16"/>
          <p:cNvSpPr txBox="1"/>
          <p:nvPr/>
        </p:nvSpPr>
        <p:spPr>
          <a:xfrm>
            <a:off x="1220111" y="1440185"/>
            <a:ext cx="8998545" cy="40011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s-ES" sz="2000">
                <a:solidFill>
                  <a:schemeClr val="lt1"/>
                </a:solidFill>
                <a:latin typeface="Calibri"/>
                <a:ea typeface="Calibri"/>
                <a:cs typeface="Calibri"/>
                <a:sym typeface="Calibri"/>
              </a:rPr>
              <a:t>Especificamos las etiquetas que deseamos que sean reconocidas como, valores NaN.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fade">
                                      <p:cBhvr>
                                        <p:cTn id="7"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17"/>
          <p:cNvPicPr preferRelativeResize="0"/>
          <p:nvPr/>
        </p:nvPicPr>
        <p:blipFill rotWithShape="1">
          <a:blip r:embed="rId3">
            <a:alphaModFix/>
          </a:blip>
          <a:srcRect/>
          <a:stretch/>
        </p:blipFill>
        <p:spPr>
          <a:xfrm>
            <a:off x="-942679" y="1059084"/>
            <a:ext cx="15309128" cy="976456"/>
          </a:xfrm>
          <a:prstGeom prst="rect">
            <a:avLst/>
          </a:prstGeom>
          <a:noFill/>
          <a:ln>
            <a:noFill/>
          </a:ln>
        </p:spPr>
      </p:pic>
      <p:sp>
        <p:nvSpPr>
          <p:cNvPr id="278" name="Google Shape;278;p17"/>
          <p:cNvSpPr txBox="1"/>
          <p:nvPr/>
        </p:nvSpPr>
        <p:spPr>
          <a:xfrm>
            <a:off x="2003898" y="301632"/>
            <a:ext cx="10782300" cy="622169"/>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Valores perdidos no esperados</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279" name="Google Shape;279;p17"/>
          <p:cNvSpPr/>
          <p:nvPr/>
        </p:nvSpPr>
        <p:spPr>
          <a:xfrm>
            <a:off x="2003898" y="2197875"/>
            <a:ext cx="7791856" cy="363843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0" name="Google Shape;280;p17"/>
          <p:cNvPicPr preferRelativeResize="0"/>
          <p:nvPr/>
        </p:nvPicPr>
        <p:blipFill rotWithShape="1">
          <a:blip r:embed="rId4">
            <a:alphaModFix/>
          </a:blip>
          <a:srcRect t="23446"/>
          <a:stretch/>
        </p:blipFill>
        <p:spPr>
          <a:xfrm>
            <a:off x="2304802" y="2468441"/>
            <a:ext cx="7171644" cy="3205529"/>
          </a:xfrm>
          <a:prstGeom prst="rect">
            <a:avLst/>
          </a:prstGeom>
          <a:noFill/>
          <a:ln>
            <a:noFill/>
          </a:ln>
        </p:spPr>
      </p:pic>
      <p:sp>
        <p:nvSpPr>
          <p:cNvPr id="281" name="Google Shape;281;p17"/>
          <p:cNvSpPr txBox="1"/>
          <p:nvPr/>
        </p:nvSpPr>
        <p:spPr>
          <a:xfrm>
            <a:off x="2003898" y="1193611"/>
            <a:ext cx="7791856" cy="646331"/>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Hay valores que no son detectados como perdidos, pero son no-esperados. Estos valores deberán ser procesados posteriormente en la etapa de Data Wrangling.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18"/>
          <p:cNvPicPr preferRelativeResize="0"/>
          <p:nvPr/>
        </p:nvPicPr>
        <p:blipFill rotWithShape="1">
          <a:blip r:embed="rId3">
            <a:alphaModFix/>
          </a:blip>
          <a:srcRect/>
          <a:stretch/>
        </p:blipFill>
        <p:spPr>
          <a:xfrm>
            <a:off x="7412177" y="2178658"/>
            <a:ext cx="5262659" cy="1937283"/>
          </a:xfrm>
          <a:prstGeom prst="rect">
            <a:avLst/>
          </a:prstGeom>
          <a:noFill/>
          <a:ln>
            <a:noFill/>
          </a:ln>
        </p:spPr>
      </p:pic>
      <p:sp>
        <p:nvSpPr>
          <p:cNvPr id="287" name="Google Shape;287;p18"/>
          <p:cNvSpPr txBox="1"/>
          <p:nvPr/>
        </p:nvSpPr>
        <p:spPr>
          <a:xfrm>
            <a:off x="678763" y="676641"/>
            <a:ext cx="7216808" cy="82013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Valores perdidos no esperados</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288" name="Google Shape;288;p18"/>
          <p:cNvSpPr/>
          <p:nvPr/>
        </p:nvSpPr>
        <p:spPr>
          <a:xfrm>
            <a:off x="310048" y="1997445"/>
            <a:ext cx="7470844" cy="363843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9" name="Google Shape;289;p18"/>
          <p:cNvPicPr preferRelativeResize="0"/>
          <p:nvPr/>
        </p:nvPicPr>
        <p:blipFill rotWithShape="1">
          <a:blip r:embed="rId4">
            <a:alphaModFix/>
          </a:blip>
          <a:srcRect/>
          <a:stretch/>
        </p:blipFill>
        <p:spPr>
          <a:xfrm>
            <a:off x="678763" y="2178658"/>
            <a:ext cx="6733414" cy="3276003"/>
          </a:xfrm>
          <a:prstGeom prst="rect">
            <a:avLst/>
          </a:prstGeom>
          <a:noFill/>
          <a:ln>
            <a:noFill/>
          </a:ln>
        </p:spPr>
      </p:pic>
      <p:sp>
        <p:nvSpPr>
          <p:cNvPr id="290" name="Google Shape;290;p18"/>
          <p:cNvSpPr txBox="1"/>
          <p:nvPr/>
        </p:nvSpPr>
        <p:spPr>
          <a:xfrm>
            <a:off x="8097625" y="2434649"/>
            <a:ext cx="3610466" cy="1323439"/>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None/>
            </a:pPr>
            <a:r>
              <a:rPr lang="es-ES" sz="2000">
                <a:solidFill>
                  <a:schemeClr val="lt1"/>
                </a:solidFill>
                <a:latin typeface="Calibri"/>
                <a:ea typeface="Calibri"/>
                <a:cs typeface="Calibri"/>
                <a:sym typeface="Calibri"/>
              </a:rPr>
              <a:t>Por lo pronto, acá se presenta una forma sencilla verificar el contenido de una columna para chequear valores no esperados.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9"/>
          <p:cNvSpPr/>
          <p:nvPr/>
        </p:nvSpPr>
        <p:spPr>
          <a:xfrm>
            <a:off x="1536570" y="1574276"/>
            <a:ext cx="9285402" cy="4034672"/>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9"/>
          <p:cNvSpPr txBox="1"/>
          <p:nvPr/>
        </p:nvSpPr>
        <p:spPr>
          <a:xfrm>
            <a:off x="1536570" y="478490"/>
            <a:ext cx="669248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Tratamiento de los valores perdidos</a:t>
            </a:r>
            <a:endParaRPr/>
          </a:p>
        </p:txBody>
      </p:sp>
      <p:pic>
        <p:nvPicPr>
          <p:cNvPr id="297" name="Google Shape;297;p19"/>
          <p:cNvPicPr preferRelativeResize="0"/>
          <p:nvPr/>
        </p:nvPicPr>
        <p:blipFill rotWithShape="1">
          <a:blip r:embed="rId3">
            <a:alphaModFix/>
          </a:blip>
          <a:srcRect/>
          <a:stretch/>
        </p:blipFill>
        <p:spPr>
          <a:xfrm>
            <a:off x="2835584" y="1749725"/>
            <a:ext cx="6432470" cy="3683774"/>
          </a:xfrm>
          <a:prstGeom prst="rect">
            <a:avLst/>
          </a:prstGeom>
          <a:solidFill>
            <a:schemeClr val="lt1"/>
          </a:solid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0"/>
          <p:cNvSpPr/>
          <p:nvPr/>
        </p:nvSpPr>
        <p:spPr>
          <a:xfrm>
            <a:off x="-457004" y="2808163"/>
            <a:ext cx="5383931" cy="226921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20"/>
          <p:cNvSpPr txBox="1"/>
          <p:nvPr/>
        </p:nvSpPr>
        <p:spPr>
          <a:xfrm>
            <a:off x="512375" y="664586"/>
            <a:ext cx="867623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rgbClr val="7F7F7F"/>
                </a:solidFill>
                <a:latin typeface="Arial"/>
                <a:ea typeface="Arial"/>
                <a:cs typeface="Arial"/>
                <a:sym typeface="Arial"/>
              </a:rPr>
              <a:t>Tratamiento de los valores perdidos</a:t>
            </a:r>
            <a:endParaRPr sz="3600">
              <a:solidFill>
                <a:srgbClr val="7F7F7F"/>
              </a:solidFill>
              <a:latin typeface="Arial"/>
              <a:ea typeface="Arial"/>
              <a:cs typeface="Arial"/>
              <a:sym typeface="Arial"/>
            </a:endParaRPr>
          </a:p>
        </p:txBody>
      </p:sp>
      <p:sp>
        <p:nvSpPr>
          <p:cNvPr id="304" name="Google Shape;304;p20"/>
          <p:cNvSpPr txBox="1"/>
          <p:nvPr/>
        </p:nvSpPr>
        <p:spPr>
          <a:xfrm>
            <a:off x="403984" y="3143726"/>
            <a:ext cx="4156256" cy="163121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Una vez identificados los valores perdidos debemos decidir qué hacer con ellos. La respuesta dependerá del contexto del problema. Las siguientes son posibles alternativas:</a:t>
            </a:r>
            <a:endParaRPr/>
          </a:p>
        </p:txBody>
      </p:sp>
      <p:sp>
        <p:nvSpPr>
          <p:cNvPr id="305" name="Google Shape;305;p20"/>
          <p:cNvSpPr/>
          <p:nvPr/>
        </p:nvSpPr>
        <p:spPr>
          <a:xfrm>
            <a:off x="4926927" y="2123159"/>
            <a:ext cx="6712085" cy="333728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6" name="Google Shape;306;p20"/>
          <p:cNvPicPr preferRelativeResize="0"/>
          <p:nvPr/>
        </p:nvPicPr>
        <p:blipFill rotWithShape="1">
          <a:blip r:embed="rId3">
            <a:alphaModFix/>
          </a:blip>
          <a:srcRect r="8370"/>
          <a:stretch/>
        </p:blipFill>
        <p:spPr>
          <a:xfrm>
            <a:off x="5581326" y="2511532"/>
            <a:ext cx="5711985" cy="256054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21"/>
          <p:cNvPicPr preferRelativeResize="0"/>
          <p:nvPr/>
        </p:nvPicPr>
        <p:blipFill rotWithShape="1">
          <a:blip r:embed="rId3">
            <a:alphaModFix/>
          </a:blip>
          <a:srcRect/>
          <a:stretch/>
        </p:blipFill>
        <p:spPr>
          <a:xfrm>
            <a:off x="-259797" y="1476315"/>
            <a:ext cx="12631244" cy="1308089"/>
          </a:xfrm>
          <a:prstGeom prst="rect">
            <a:avLst/>
          </a:prstGeom>
          <a:noFill/>
          <a:ln>
            <a:noFill/>
          </a:ln>
        </p:spPr>
      </p:pic>
      <p:sp>
        <p:nvSpPr>
          <p:cNvPr id="312" name="Google Shape;312;p21"/>
          <p:cNvSpPr/>
          <p:nvPr/>
        </p:nvSpPr>
        <p:spPr>
          <a:xfrm>
            <a:off x="632767" y="3078076"/>
            <a:ext cx="10771347" cy="268477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21"/>
          <p:cNvSpPr txBox="1">
            <a:spLocks noGrp="1"/>
          </p:cNvSpPr>
          <p:nvPr>
            <p:ph type="title"/>
          </p:nvPr>
        </p:nvSpPr>
        <p:spPr>
          <a:xfrm>
            <a:off x="598713" y="512463"/>
            <a:ext cx="10515600" cy="9718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a:solidFill>
                  <a:srgbClr val="7F7F7F"/>
                </a:solidFill>
                <a:latin typeface="Arial"/>
                <a:ea typeface="Arial"/>
                <a:cs typeface="Arial"/>
                <a:sym typeface="Arial"/>
              </a:rPr>
              <a:t>Filtrado de filas con valores perdidos</a:t>
            </a:r>
            <a:endParaRPr/>
          </a:p>
        </p:txBody>
      </p:sp>
      <p:pic>
        <p:nvPicPr>
          <p:cNvPr id="314" name="Google Shape;314;p21"/>
          <p:cNvPicPr preferRelativeResize="0"/>
          <p:nvPr/>
        </p:nvPicPr>
        <p:blipFill rotWithShape="1">
          <a:blip r:embed="rId4">
            <a:alphaModFix/>
          </a:blip>
          <a:srcRect/>
          <a:stretch/>
        </p:blipFill>
        <p:spPr>
          <a:xfrm>
            <a:off x="2707358" y="3290061"/>
            <a:ext cx="6694950" cy="1238250"/>
          </a:xfrm>
          <a:prstGeom prst="rect">
            <a:avLst/>
          </a:prstGeom>
          <a:noFill/>
          <a:ln>
            <a:noFill/>
          </a:ln>
        </p:spPr>
      </p:pic>
      <p:sp>
        <p:nvSpPr>
          <p:cNvPr id="315" name="Google Shape;315;p21"/>
          <p:cNvSpPr/>
          <p:nvPr/>
        </p:nvSpPr>
        <p:spPr>
          <a:xfrm>
            <a:off x="1401886" y="4953474"/>
            <a:ext cx="9341963" cy="52318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7F7F7F"/>
                </a:solidFill>
                <a:latin typeface="Calibri"/>
                <a:ea typeface="Calibri"/>
                <a:cs typeface="Calibri"/>
                <a:sym typeface="Calibri"/>
              </a:rPr>
              <a:t>El método dropna() por defecto elimina todas las filas que contienen al menos un valor perdido. En este ejemplo, sólo quedó una única fila que no contenía ningún valor perdido</a:t>
            </a:r>
            <a:r>
              <a:rPr lang="es-ES">
                <a:solidFill>
                  <a:srgbClr val="7F7F7F"/>
                </a:solidFill>
                <a:latin typeface="Arial"/>
                <a:ea typeface="Arial"/>
                <a:cs typeface="Arial"/>
                <a:sym typeface="Arial"/>
              </a:rPr>
              <a:t>.</a:t>
            </a:r>
            <a:endParaRPr sz="1100"/>
          </a:p>
        </p:txBody>
      </p:sp>
      <p:sp>
        <p:nvSpPr>
          <p:cNvPr id="316" name="Google Shape;316;p21"/>
          <p:cNvSpPr txBox="1"/>
          <p:nvPr/>
        </p:nvSpPr>
        <p:spPr>
          <a:xfrm>
            <a:off x="632764" y="1651356"/>
            <a:ext cx="10771347" cy="92333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método, se eliminan las filas que contienen valores perdidos. Sin embargo, este método es recomendado si los valores perdidos son pocos en comparación con todo el set de datos, ya que podría suceder que quede una cantidad de registros insuficientes para llevar a cabo los análisis.</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2"/>
          <p:cNvSpPr/>
          <p:nvPr/>
        </p:nvSpPr>
        <p:spPr>
          <a:xfrm>
            <a:off x="1670245" y="2360558"/>
            <a:ext cx="8839200" cy="34854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22"/>
          <p:cNvSpPr txBox="1"/>
          <p:nvPr/>
        </p:nvSpPr>
        <p:spPr>
          <a:xfrm>
            <a:off x="1621102" y="395914"/>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Filtrado de columnas con valores perdidos</a:t>
            </a:r>
            <a:endParaRPr/>
          </a:p>
        </p:txBody>
      </p:sp>
      <p:sp>
        <p:nvSpPr>
          <p:cNvPr id="323" name="Google Shape;323;p22"/>
          <p:cNvSpPr/>
          <p:nvPr/>
        </p:nvSpPr>
        <p:spPr>
          <a:xfrm>
            <a:off x="-434058" y="1134909"/>
            <a:ext cx="12837460" cy="1038580"/>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22"/>
          <p:cNvSpPr txBox="1"/>
          <p:nvPr/>
        </p:nvSpPr>
        <p:spPr>
          <a:xfrm>
            <a:off x="1654156" y="1277889"/>
            <a:ext cx="8452840" cy="9035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Si la cantidad de valores perdidos en una columna es alto, se podría considerar la opción de realizar una eliminación de la columna.</a:t>
            </a:r>
            <a:endParaRPr/>
          </a:p>
          <a:p>
            <a:pPr marL="0" marR="0" lvl="0" indent="0" algn="l" rtl="0">
              <a:spcBef>
                <a:spcPts val="0"/>
              </a:spcBef>
              <a:spcAft>
                <a:spcPts val="0"/>
              </a:spcAft>
              <a:buNone/>
            </a:pPr>
            <a:endParaRPr sz="1600">
              <a:solidFill>
                <a:schemeClr val="lt1"/>
              </a:solidFill>
              <a:latin typeface="Arial"/>
              <a:ea typeface="Arial"/>
              <a:cs typeface="Arial"/>
              <a:sym typeface="Arial"/>
            </a:endParaRPr>
          </a:p>
        </p:txBody>
      </p:sp>
      <p:pic>
        <p:nvPicPr>
          <p:cNvPr id="325" name="Google Shape;325;p22"/>
          <p:cNvPicPr preferRelativeResize="0"/>
          <p:nvPr/>
        </p:nvPicPr>
        <p:blipFill rotWithShape="1">
          <a:blip r:embed="rId3">
            <a:alphaModFix/>
          </a:blip>
          <a:srcRect/>
          <a:stretch/>
        </p:blipFill>
        <p:spPr>
          <a:xfrm>
            <a:off x="2304511" y="2491328"/>
            <a:ext cx="6508747" cy="3223768"/>
          </a:xfrm>
          <a:prstGeom prst="rect">
            <a:avLst/>
          </a:prstGeom>
          <a:noFill/>
          <a:ln>
            <a:noFill/>
          </a:ln>
        </p:spPr>
      </p:pic>
      <p:sp>
        <p:nvSpPr>
          <p:cNvPr id="326" name="Google Shape;326;p22"/>
          <p:cNvSpPr txBox="1"/>
          <p:nvPr/>
        </p:nvSpPr>
        <p:spPr>
          <a:xfrm>
            <a:off x="5163624" y="3203667"/>
            <a:ext cx="4751700" cy="8309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rgbClr val="7F7F7F"/>
                </a:solidFill>
                <a:latin typeface="Arial"/>
                <a:ea typeface="Arial"/>
                <a:cs typeface="Arial"/>
                <a:sym typeface="Arial"/>
              </a:rPr>
              <a:t>El método </a:t>
            </a:r>
            <a:r>
              <a:rPr lang="es-ES" sz="1200" b="1">
                <a:solidFill>
                  <a:srgbClr val="7F7F7F"/>
                </a:solidFill>
                <a:latin typeface="Arial"/>
                <a:ea typeface="Arial"/>
                <a:cs typeface="Arial"/>
                <a:sym typeface="Arial"/>
              </a:rPr>
              <a:t>dropna()</a:t>
            </a:r>
            <a:r>
              <a:rPr lang="es-ES" sz="1200">
                <a:solidFill>
                  <a:srgbClr val="7F7F7F"/>
                </a:solidFill>
                <a:latin typeface="Arial"/>
                <a:ea typeface="Arial"/>
                <a:cs typeface="Arial"/>
                <a:sym typeface="Arial"/>
              </a:rPr>
              <a:t> también, puede eliminar columnas que contengan al menos un valor perdido, especificando el parámetro </a:t>
            </a:r>
            <a:r>
              <a:rPr lang="es-ES" sz="1200" b="1">
                <a:solidFill>
                  <a:srgbClr val="7F7F7F"/>
                </a:solidFill>
                <a:latin typeface="Arial"/>
                <a:ea typeface="Arial"/>
                <a:cs typeface="Arial"/>
                <a:sym typeface="Arial"/>
              </a:rPr>
              <a:t>axis=1 </a:t>
            </a:r>
            <a:r>
              <a:rPr lang="es-ES" sz="1200">
                <a:solidFill>
                  <a:srgbClr val="7F7F7F"/>
                </a:solidFill>
                <a:latin typeface="Arial"/>
                <a:ea typeface="Arial"/>
                <a:cs typeface="Arial"/>
                <a:sym typeface="Arial"/>
              </a:rPr>
              <a:t>. En este caso, sólo quedó una sola columna que no contenía valores nulos.</a:t>
            </a:r>
            <a:endParaRPr sz="1200"/>
          </a:p>
        </p:txBody>
      </p:sp>
      <p:cxnSp>
        <p:nvCxnSpPr>
          <p:cNvPr id="327" name="Google Shape;327;p22"/>
          <p:cNvCxnSpPr/>
          <p:nvPr/>
        </p:nvCxnSpPr>
        <p:spPr>
          <a:xfrm rot="10800000">
            <a:off x="3794097" y="2747110"/>
            <a:ext cx="1277100" cy="800700"/>
          </a:xfrm>
          <a:prstGeom prst="straightConnector1">
            <a:avLst/>
          </a:prstGeom>
          <a:noFill/>
          <a:ln w="9525" cap="flat" cmpd="sng">
            <a:solidFill>
              <a:schemeClr val="accent1"/>
            </a:solidFill>
            <a:prstDash val="solid"/>
            <a:miter lim="800000"/>
            <a:headEnd type="none" w="sm" len="sm"/>
            <a:tailEnd type="triangle" w="med" len="med"/>
          </a:ln>
        </p:spPr>
      </p:cxnSp>
      <p:sp>
        <p:nvSpPr>
          <p:cNvPr id="328" name="Google Shape;328;p22"/>
          <p:cNvSpPr txBox="1"/>
          <p:nvPr/>
        </p:nvSpPr>
        <p:spPr>
          <a:xfrm>
            <a:off x="5923219" y="4540154"/>
            <a:ext cx="41766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rgbClr val="7F7F7F"/>
                </a:solidFill>
                <a:latin typeface="Arial"/>
                <a:ea typeface="Arial"/>
                <a:cs typeface="Arial"/>
                <a:sym typeface="Arial"/>
              </a:rPr>
              <a:t>Por defecto, axis=0, es decir, el método elimina filas</a:t>
            </a:r>
            <a:endParaRPr sz="1200"/>
          </a:p>
        </p:txBody>
      </p:sp>
      <p:pic>
        <p:nvPicPr>
          <p:cNvPr id="329" name="Google Shape;329;p22"/>
          <p:cNvPicPr preferRelativeResize="0"/>
          <p:nvPr/>
        </p:nvPicPr>
        <p:blipFill rotWithShape="1">
          <a:blip r:embed="rId4">
            <a:alphaModFix/>
          </a:blip>
          <a:srcRect/>
          <a:stretch/>
        </p:blipFill>
        <p:spPr>
          <a:xfrm>
            <a:off x="5554278" y="4482100"/>
            <a:ext cx="364672" cy="3959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3"/>
          <p:cNvSpPr/>
          <p:nvPr/>
        </p:nvSpPr>
        <p:spPr>
          <a:xfrm>
            <a:off x="1212972" y="2459582"/>
            <a:ext cx="10091054" cy="361156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23"/>
          <p:cNvSpPr txBox="1"/>
          <p:nvPr/>
        </p:nvSpPr>
        <p:spPr>
          <a:xfrm>
            <a:off x="1115000" y="199597"/>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Filtrando subset de valores perdidos</a:t>
            </a:r>
            <a:endParaRPr sz="3200">
              <a:solidFill>
                <a:srgbClr val="7F7F7F"/>
              </a:solidFill>
              <a:latin typeface="Arial"/>
              <a:ea typeface="Arial"/>
              <a:cs typeface="Arial"/>
              <a:sym typeface="Arial"/>
            </a:endParaRPr>
          </a:p>
        </p:txBody>
      </p:sp>
      <p:sp>
        <p:nvSpPr>
          <p:cNvPr id="336" name="Google Shape;336;p23"/>
          <p:cNvSpPr/>
          <p:nvPr/>
        </p:nvSpPr>
        <p:spPr>
          <a:xfrm>
            <a:off x="-344422" y="1035047"/>
            <a:ext cx="12756777" cy="1212751"/>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23"/>
          <p:cNvSpPr txBox="1"/>
          <p:nvPr/>
        </p:nvSpPr>
        <p:spPr>
          <a:xfrm>
            <a:off x="1115000" y="1083204"/>
            <a:ext cx="10091056" cy="13233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Utilizar dropna() “a secas” puede ser un tanto exagerado, a veces tomaremos la decisión de eliminar o no un registro en base a las columnas claves. Para esto, podemos utilizar el parámetro subset.</a:t>
            </a:r>
            <a:endParaRPr sz="2000"/>
          </a:p>
          <a:p>
            <a:pPr marL="0" marR="0" lvl="0" indent="0" algn="l" rtl="0">
              <a:spcBef>
                <a:spcPts val="0"/>
              </a:spcBef>
              <a:spcAft>
                <a:spcPts val="0"/>
              </a:spcAft>
              <a:buNone/>
            </a:pPr>
            <a:endParaRPr sz="2000">
              <a:solidFill>
                <a:schemeClr val="lt1"/>
              </a:solidFill>
              <a:latin typeface="Arial"/>
              <a:ea typeface="Arial"/>
              <a:cs typeface="Arial"/>
              <a:sym typeface="Arial"/>
            </a:endParaRPr>
          </a:p>
        </p:txBody>
      </p:sp>
      <p:pic>
        <p:nvPicPr>
          <p:cNvPr id="338" name="Google Shape;338;p23"/>
          <p:cNvPicPr preferRelativeResize="0"/>
          <p:nvPr/>
        </p:nvPicPr>
        <p:blipFill rotWithShape="1">
          <a:blip r:embed="rId3">
            <a:alphaModFix/>
          </a:blip>
          <a:srcRect/>
          <a:stretch/>
        </p:blipFill>
        <p:spPr>
          <a:xfrm>
            <a:off x="5443224" y="5237706"/>
            <a:ext cx="419100" cy="504825"/>
          </a:xfrm>
          <a:prstGeom prst="rect">
            <a:avLst/>
          </a:prstGeom>
          <a:noFill/>
          <a:ln>
            <a:noFill/>
          </a:ln>
        </p:spPr>
      </p:pic>
      <p:pic>
        <p:nvPicPr>
          <p:cNvPr id="339" name="Google Shape;339;p23"/>
          <p:cNvPicPr preferRelativeResize="0"/>
          <p:nvPr/>
        </p:nvPicPr>
        <p:blipFill rotWithShape="1">
          <a:blip r:embed="rId4">
            <a:alphaModFix/>
          </a:blip>
          <a:srcRect/>
          <a:stretch/>
        </p:blipFill>
        <p:spPr>
          <a:xfrm>
            <a:off x="2332261" y="2585650"/>
            <a:ext cx="6058746" cy="1971950"/>
          </a:xfrm>
          <a:prstGeom prst="rect">
            <a:avLst/>
          </a:prstGeom>
          <a:noFill/>
          <a:ln>
            <a:noFill/>
          </a:ln>
        </p:spPr>
      </p:pic>
      <p:sp>
        <p:nvSpPr>
          <p:cNvPr id="340" name="Google Shape;340;p23"/>
          <p:cNvSpPr txBox="1"/>
          <p:nvPr/>
        </p:nvSpPr>
        <p:spPr>
          <a:xfrm>
            <a:off x="5967084" y="5161105"/>
            <a:ext cx="3444205" cy="6771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rgbClr val="595959"/>
                </a:solidFill>
                <a:latin typeface="Calibri"/>
                <a:ea typeface="Calibri"/>
                <a:cs typeface="Calibri"/>
                <a:sym typeface="Calibri"/>
              </a:rPr>
              <a:t>En este caso hemos especificado que botaremos las filas con valores nulos en las columnas </a:t>
            </a:r>
            <a:endParaRPr/>
          </a:p>
          <a:p>
            <a:pPr marL="0" marR="0" lvl="0" indent="0" algn="just" rtl="0">
              <a:spcBef>
                <a:spcPts val="0"/>
              </a:spcBef>
              <a:spcAft>
                <a:spcPts val="0"/>
              </a:spcAft>
              <a:buNone/>
            </a:pPr>
            <a:r>
              <a:rPr lang="es-ES" sz="1200">
                <a:solidFill>
                  <a:srgbClr val="595959"/>
                </a:solidFill>
                <a:latin typeface="Calibri"/>
                <a:ea typeface="Calibri"/>
                <a:cs typeface="Calibri"/>
                <a:sym typeface="Calibri"/>
              </a:rPr>
              <a:t>SQ_FT y NUM_BEDROOMS</a:t>
            </a:r>
            <a:r>
              <a:rPr lang="es-ES" sz="1400">
                <a:solidFill>
                  <a:srgbClr val="595959"/>
                </a:solidFill>
                <a:latin typeface="Calibri"/>
                <a:ea typeface="Calibri"/>
                <a:cs typeface="Calibri"/>
                <a:sym typeface="Calibri"/>
              </a:rPr>
              <a:t>.</a:t>
            </a:r>
            <a:endParaRPr/>
          </a:p>
        </p:txBody>
      </p:sp>
      <p:cxnSp>
        <p:nvCxnSpPr>
          <p:cNvPr id="341" name="Google Shape;341;p23"/>
          <p:cNvCxnSpPr/>
          <p:nvPr/>
        </p:nvCxnSpPr>
        <p:spPr>
          <a:xfrm flipH="1" flipV="1">
            <a:off x="6925093" y="4463501"/>
            <a:ext cx="316150" cy="588746"/>
          </a:xfrm>
          <a:prstGeom prst="straightConnector1">
            <a:avLst/>
          </a:prstGeom>
          <a:noFill/>
          <a:ln w="9525" cap="flat" cmpd="sng">
            <a:solidFill>
              <a:schemeClr val="accent1"/>
            </a:solidFill>
            <a:prstDash val="solid"/>
            <a:miter lim="800000"/>
            <a:headEnd type="none" w="sm" len="sm"/>
            <a:tailEnd type="triangle" w="med" len="med"/>
          </a:ln>
        </p:spPr>
      </p:cxnSp>
      <p:cxnSp>
        <p:nvCxnSpPr>
          <p:cNvPr id="342" name="Google Shape;342;p23"/>
          <p:cNvCxnSpPr/>
          <p:nvPr/>
        </p:nvCxnSpPr>
        <p:spPr>
          <a:xfrm flipV="1">
            <a:off x="7643280" y="4430844"/>
            <a:ext cx="428513" cy="654061"/>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500"/>
                                        <p:tgtEl>
                                          <p:spTgt spid="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4"/>
          <p:cNvSpPr/>
          <p:nvPr/>
        </p:nvSpPr>
        <p:spPr>
          <a:xfrm>
            <a:off x="1719942" y="2273912"/>
            <a:ext cx="8305801" cy="403902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24"/>
          <p:cNvSpPr txBox="1"/>
          <p:nvPr/>
        </p:nvSpPr>
        <p:spPr>
          <a:xfrm>
            <a:off x="1759325" y="384913"/>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Filtrando subset de valores perdidos</a:t>
            </a:r>
            <a:endParaRPr sz="3200">
              <a:solidFill>
                <a:srgbClr val="7F7F7F"/>
              </a:solidFill>
              <a:latin typeface="Arial"/>
              <a:ea typeface="Arial"/>
              <a:cs typeface="Arial"/>
              <a:sym typeface="Arial"/>
            </a:endParaRPr>
          </a:p>
        </p:txBody>
      </p:sp>
      <p:sp>
        <p:nvSpPr>
          <p:cNvPr id="349" name="Google Shape;349;p24"/>
          <p:cNvSpPr/>
          <p:nvPr/>
        </p:nvSpPr>
        <p:spPr>
          <a:xfrm>
            <a:off x="-322729" y="1124401"/>
            <a:ext cx="12853469" cy="89176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24"/>
          <p:cNvSpPr txBox="1"/>
          <p:nvPr/>
        </p:nvSpPr>
        <p:spPr>
          <a:xfrm>
            <a:off x="1759325" y="1280095"/>
            <a:ext cx="8266418" cy="8925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Con el parámetro thresh se puede setear la cantidad mínima de valores no nulos aceptables para que una columna no sea borrada.</a:t>
            </a:r>
            <a:endParaRPr/>
          </a:p>
          <a:p>
            <a:pPr marL="0" marR="0" lvl="0" indent="0" algn="l" rtl="0">
              <a:spcBef>
                <a:spcPts val="0"/>
              </a:spcBef>
              <a:spcAft>
                <a:spcPts val="0"/>
              </a:spcAft>
              <a:buNone/>
            </a:pPr>
            <a:endParaRPr sz="1600">
              <a:solidFill>
                <a:schemeClr val="lt1"/>
              </a:solidFill>
              <a:latin typeface="Arial"/>
              <a:ea typeface="Arial"/>
              <a:cs typeface="Arial"/>
              <a:sym typeface="Arial"/>
            </a:endParaRPr>
          </a:p>
        </p:txBody>
      </p:sp>
      <p:pic>
        <p:nvPicPr>
          <p:cNvPr id="351" name="Google Shape;351;p24"/>
          <p:cNvPicPr preferRelativeResize="0"/>
          <p:nvPr/>
        </p:nvPicPr>
        <p:blipFill rotWithShape="1">
          <a:blip r:embed="rId3">
            <a:alphaModFix/>
          </a:blip>
          <a:srcRect/>
          <a:stretch/>
        </p:blipFill>
        <p:spPr>
          <a:xfrm>
            <a:off x="2472896" y="5489427"/>
            <a:ext cx="419100" cy="504825"/>
          </a:xfrm>
          <a:prstGeom prst="rect">
            <a:avLst/>
          </a:prstGeom>
          <a:noFill/>
          <a:ln>
            <a:noFill/>
          </a:ln>
        </p:spPr>
      </p:pic>
      <p:sp>
        <p:nvSpPr>
          <p:cNvPr id="352" name="Google Shape;352;p24"/>
          <p:cNvSpPr txBox="1"/>
          <p:nvPr/>
        </p:nvSpPr>
        <p:spPr>
          <a:xfrm>
            <a:off x="2964274" y="5372508"/>
            <a:ext cx="6049220"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595959"/>
                </a:solidFill>
                <a:latin typeface="Calibri"/>
                <a:ea typeface="Calibri"/>
                <a:cs typeface="Calibri"/>
                <a:sym typeface="Calibri"/>
              </a:rPr>
              <a:t>En este caso, se ha definido que las filas deben tener al menos 6 valores no nulos, caso contrario son filtrados. Nótese las filas que desaparecieron en el set de datos.</a:t>
            </a:r>
            <a:endParaRPr/>
          </a:p>
        </p:txBody>
      </p:sp>
      <p:pic>
        <p:nvPicPr>
          <p:cNvPr id="353" name="Google Shape;353;p24"/>
          <p:cNvPicPr preferRelativeResize="0"/>
          <p:nvPr/>
        </p:nvPicPr>
        <p:blipFill rotWithShape="1">
          <a:blip r:embed="rId4">
            <a:alphaModFix/>
          </a:blip>
          <a:srcRect/>
          <a:stretch/>
        </p:blipFill>
        <p:spPr>
          <a:xfrm>
            <a:off x="2964274" y="2445866"/>
            <a:ext cx="6049219" cy="27816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fade">
                                      <p:cBhvr>
                                        <p:cTn id="7" dur="500"/>
                                        <p:tgtEl>
                                          <p:spTgt spid="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5"/>
          <p:cNvSpPr/>
          <p:nvPr/>
        </p:nvSpPr>
        <p:spPr>
          <a:xfrm>
            <a:off x="855795" y="2607122"/>
            <a:ext cx="10308642" cy="38757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25"/>
          <p:cNvSpPr txBox="1"/>
          <p:nvPr/>
        </p:nvSpPr>
        <p:spPr>
          <a:xfrm>
            <a:off x="486266" y="409420"/>
            <a:ext cx="5745562"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Imputación de un valor fijo</a:t>
            </a:r>
            <a:endParaRPr/>
          </a:p>
        </p:txBody>
      </p:sp>
      <p:sp>
        <p:nvSpPr>
          <p:cNvPr id="360" name="Google Shape;360;p25"/>
          <p:cNvSpPr/>
          <p:nvPr/>
        </p:nvSpPr>
        <p:spPr>
          <a:xfrm>
            <a:off x="-268932" y="1140571"/>
            <a:ext cx="12729900" cy="11235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25"/>
          <p:cNvSpPr txBox="1"/>
          <p:nvPr/>
        </p:nvSpPr>
        <p:spPr>
          <a:xfrm>
            <a:off x="853804" y="1266050"/>
            <a:ext cx="10308300" cy="1169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forma más sencilla de realizar una imputación, es mediante la imputación de un valor fijo. En este ejemplo, se han reemplazado los valore nulos por un valor fijo igual a cero. Esta no siempre es la mejor opción, debe estudiarse caso a caso puesto que se está asumiendo un valor ficticio.</a:t>
            </a:r>
            <a:endParaRPr/>
          </a:p>
          <a:p>
            <a:pPr marL="0" marR="0" lvl="0" indent="0" algn="l" rtl="0">
              <a:spcBef>
                <a:spcPts val="0"/>
              </a:spcBef>
              <a:spcAft>
                <a:spcPts val="0"/>
              </a:spcAft>
              <a:buNone/>
            </a:pPr>
            <a:endParaRPr sz="1600">
              <a:solidFill>
                <a:schemeClr val="lt1"/>
              </a:solidFill>
              <a:latin typeface="Arial"/>
              <a:ea typeface="Arial"/>
              <a:cs typeface="Arial"/>
              <a:sym typeface="Arial"/>
            </a:endParaRPr>
          </a:p>
        </p:txBody>
      </p:sp>
      <p:pic>
        <p:nvPicPr>
          <p:cNvPr id="362" name="Google Shape;362;p25"/>
          <p:cNvPicPr preferRelativeResize="0"/>
          <p:nvPr/>
        </p:nvPicPr>
        <p:blipFill rotWithShape="1">
          <a:blip r:embed="rId3">
            <a:alphaModFix/>
          </a:blip>
          <a:srcRect/>
          <a:stretch/>
        </p:blipFill>
        <p:spPr>
          <a:xfrm>
            <a:off x="2600167" y="2765914"/>
            <a:ext cx="6751128" cy="35815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6"/>
          <p:cNvSpPr/>
          <p:nvPr/>
        </p:nvSpPr>
        <p:spPr>
          <a:xfrm>
            <a:off x="925285" y="2424290"/>
            <a:ext cx="10134599" cy="385396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26"/>
          <p:cNvSpPr txBox="1"/>
          <p:nvPr/>
        </p:nvSpPr>
        <p:spPr>
          <a:xfrm>
            <a:off x="925286" y="398509"/>
            <a:ext cx="1020777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Imputación del valor promedio, moda o mediana</a:t>
            </a:r>
            <a:endParaRPr/>
          </a:p>
        </p:txBody>
      </p:sp>
      <p:sp>
        <p:nvSpPr>
          <p:cNvPr id="369" name="Google Shape;369;p26"/>
          <p:cNvSpPr/>
          <p:nvPr/>
        </p:nvSpPr>
        <p:spPr>
          <a:xfrm>
            <a:off x="-152400" y="1125729"/>
            <a:ext cx="12604376" cy="118462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26"/>
          <p:cNvSpPr txBox="1"/>
          <p:nvPr/>
        </p:nvSpPr>
        <p:spPr>
          <a:xfrm>
            <a:off x="925286" y="1207426"/>
            <a:ext cx="10308370" cy="13233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El método de imputación de un promedio, moda o mediana, entrega un valor más razonable para una columna, al menos más razonable que imputar el valor cero en la lámina anterior. Nótese que en este caso el valor resultante imputado fue de 1100 ft. </a:t>
            </a:r>
            <a:endParaRPr sz="2000"/>
          </a:p>
          <a:p>
            <a:pPr marL="0" marR="0" lvl="0" indent="0" algn="l" rtl="0">
              <a:spcBef>
                <a:spcPts val="0"/>
              </a:spcBef>
              <a:spcAft>
                <a:spcPts val="0"/>
              </a:spcAft>
              <a:buNone/>
            </a:pPr>
            <a:endParaRPr sz="2000">
              <a:solidFill>
                <a:schemeClr val="lt1"/>
              </a:solidFill>
              <a:latin typeface="Arial"/>
              <a:ea typeface="Arial"/>
              <a:cs typeface="Arial"/>
              <a:sym typeface="Arial"/>
            </a:endParaRPr>
          </a:p>
        </p:txBody>
      </p:sp>
      <p:pic>
        <p:nvPicPr>
          <p:cNvPr id="371" name="Google Shape;371;p26"/>
          <p:cNvPicPr preferRelativeResize="0"/>
          <p:nvPr/>
        </p:nvPicPr>
        <p:blipFill rotWithShape="1">
          <a:blip r:embed="rId3">
            <a:alphaModFix/>
          </a:blip>
          <a:srcRect/>
          <a:stretch/>
        </p:blipFill>
        <p:spPr>
          <a:xfrm>
            <a:off x="2840418" y="2527889"/>
            <a:ext cx="6358761" cy="362499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5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7"/>
          <p:cNvSpPr/>
          <p:nvPr/>
        </p:nvSpPr>
        <p:spPr>
          <a:xfrm>
            <a:off x="-365633" y="1536094"/>
            <a:ext cx="11236197" cy="398514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7" name="Google Shape;377;p27"/>
          <p:cNvSpPr txBox="1"/>
          <p:nvPr/>
        </p:nvSpPr>
        <p:spPr>
          <a:xfrm>
            <a:off x="863034" y="313730"/>
            <a:ext cx="999664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Otros métodos avanzados de imputación</a:t>
            </a:r>
            <a:endParaRPr/>
          </a:p>
        </p:txBody>
      </p:sp>
      <p:sp>
        <p:nvSpPr>
          <p:cNvPr id="378" name="Google Shape;378;p27"/>
          <p:cNvSpPr txBox="1"/>
          <p:nvPr/>
        </p:nvSpPr>
        <p:spPr>
          <a:xfrm>
            <a:off x="873920" y="1727975"/>
            <a:ext cx="8757089"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Otras formas más avanzadas de realizar imputaciones son las siguientes:</a:t>
            </a:r>
            <a:endParaRPr/>
          </a:p>
          <a:p>
            <a:pPr marL="0" marR="0" lvl="0" indent="0" algn="just" rtl="0">
              <a:spcBef>
                <a:spcPts val="0"/>
              </a:spcBef>
              <a:spcAft>
                <a:spcPts val="0"/>
              </a:spcAft>
              <a:buNone/>
            </a:pPr>
            <a:endParaRPr sz="1800" b="1">
              <a:solidFill>
                <a:schemeClr val="lt1"/>
              </a:solidFill>
              <a:latin typeface="Arial"/>
              <a:ea typeface="Arial"/>
              <a:cs typeface="Arial"/>
              <a:sym typeface="Arial"/>
            </a:endParaRPr>
          </a:p>
          <a:p>
            <a:pPr marL="800100" marR="0" lvl="1" indent="-342900" algn="just" rtl="0">
              <a:spcBef>
                <a:spcPts val="0"/>
              </a:spcBef>
              <a:spcAft>
                <a:spcPts val="0"/>
              </a:spcAft>
              <a:buClr>
                <a:schemeClr val="lt1"/>
              </a:buClr>
              <a:buSzPts val="1800"/>
              <a:buFont typeface="Arial"/>
              <a:buChar char="•"/>
            </a:pPr>
            <a:r>
              <a:rPr lang="es-ES" sz="1800" b="1" i="0" u="none" strike="noStrike" cap="none">
                <a:solidFill>
                  <a:schemeClr val="lt1"/>
                </a:solidFill>
                <a:latin typeface="Calibri"/>
                <a:ea typeface="Calibri"/>
                <a:cs typeface="Calibri"/>
                <a:sym typeface="Calibri"/>
              </a:rPr>
              <a:t>Imputación estratificada: </a:t>
            </a:r>
            <a:r>
              <a:rPr lang="es-ES" sz="1800" b="0" i="0" u="none" strike="noStrike" cap="none">
                <a:solidFill>
                  <a:schemeClr val="lt1"/>
                </a:solidFill>
                <a:latin typeface="Calibri"/>
                <a:ea typeface="Calibri"/>
                <a:cs typeface="Calibri"/>
                <a:sym typeface="Calibri"/>
              </a:rPr>
              <a:t>agrupamos los registros en base a un criterio o estrato y en base al promedio, mediana o moda del estrato realizamos la imputación.</a:t>
            </a:r>
            <a:endParaRPr/>
          </a:p>
          <a:p>
            <a:pPr marL="800100" marR="0" lvl="1" indent="-228600" algn="just" rtl="0">
              <a:spcBef>
                <a:spcPts val="0"/>
              </a:spcBef>
              <a:spcAft>
                <a:spcPts val="0"/>
              </a:spcAft>
              <a:buClr>
                <a:schemeClr val="dk1"/>
              </a:buClr>
              <a:buSzPts val="1800"/>
              <a:buFont typeface="Arial"/>
              <a:buNone/>
            </a:pPr>
            <a:endParaRPr sz="1800" b="1" i="0" u="none" strike="noStrike" cap="none">
              <a:solidFill>
                <a:schemeClr val="lt1"/>
              </a:solidFill>
              <a:latin typeface="Calibri"/>
              <a:ea typeface="Calibri"/>
              <a:cs typeface="Calibri"/>
              <a:sym typeface="Calibri"/>
            </a:endParaRPr>
          </a:p>
          <a:p>
            <a:pPr marL="800100" marR="0" lvl="1" indent="-342900" algn="just" rtl="0">
              <a:spcBef>
                <a:spcPts val="0"/>
              </a:spcBef>
              <a:spcAft>
                <a:spcPts val="0"/>
              </a:spcAft>
              <a:buClr>
                <a:schemeClr val="lt1"/>
              </a:buClr>
              <a:buSzPts val="1800"/>
              <a:buFont typeface="Arial"/>
              <a:buChar char="•"/>
            </a:pPr>
            <a:r>
              <a:rPr lang="es-ES" sz="1800" b="1" i="0" u="none" strike="noStrike" cap="none">
                <a:solidFill>
                  <a:schemeClr val="lt1"/>
                </a:solidFill>
                <a:latin typeface="Calibri"/>
                <a:ea typeface="Calibri"/>
                <a:cs typeface="Calibri"/>
                <a:sym typeface="Calibri"/>
              </a:rPr>
              <a:t>Modelos regresivos: </a:t>
            </a:r>
            <a:r>
              <a:rPr lang="es-ES" sz="1800" b="0" i="0" u="none" strike="noStrike" cap="none">
                <a:solidFill>
                  <a:schemeClr val="lt1"/>
                </a:solidFill>
                <a:latin typeface="Calibri"/>
                <a:ea typeface="Calibri"/>
                <a:cs typeface="Calibri"/>
                <a:sym typeface="Calibri"/>
              </a:rPr>
              <a:t>en el caso de variables numéricas, como por ejemplo, el valor de SQ_FT, se podría elaborar una regresión lineal en base a los atributos NUM_BEDROOMS y NUM_BATH.</a:t>
            </a:r>
            <a:endParaRPr/>
          </a:p>
          <a:p>
            <a:pPr marL="800100" marR="0" lvl="1" indent="-228600" algn="just" rtl="0">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a:p>
            <a:pPr marL="800100" marR="0" lvl="1" indent="-342900" algn="just" rtl="0">
              <a:spcBef>
                <a:spcPts val="0"/>
              </a:spcBef>
              <a:spcAft>
                <a:spcPts val="0"/>
              </a:spcAft>
              <a:buClr>
                <a:schemeClr val="lt1"/>
              </a:buClr>
              <a:buSzPts val="1800"/>
              <a:buFont typeface="Arial"/>
              <a:buChar char="•"/>
            </a:pPr>
            <a:r>
              <a:rPr lang="es-ES" sz="1800" b="1" i="0" u="none" strike="noStrike" cap="none">
                <a:solidFill>
                  <a:schemeClr val="lt1"/>
                </a:solidFill>
                <a:latin typeface="Calibri"/>
                <a:ea typeface="Calibri"/>
                <a:cs typeface="Calibri"/>
                <a:sym typeface="Calibri"/>
              </a:rPr>
              <a:t>Modelos de aprendizaje: </a:t>
            </a:r>
            <a:r>
              <a:rPr lang="es-ES" sz="1800" b="0" i="0" u="none" strike="noStrike" cap="none">
                <a:solidFill>
                  <a:schemeClr val="lt1"/>
                </a:solidFill>
                <a:latin typeface="Calibri"/>
                <a:ea typeface="Calibri"/>
                <a:cs typeface="Calibri"/>
                <a:sym typeface="Calibri"/>
              </a:rPr>
              <a:t>A veces se emplean métodos de aprendizaje de máquina tales como K-Means para estimar y reemplazar la data perdida. Este método podría ser utilizado tanto para determinar variables numéricas como categóricas.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5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8"/>
          <p:cNvSpPr/>
          <p:nvPr/>
        </p:nvSpPr>
        <p:spPr>
          <a:xfrm>
            <a:off x="3049121" y="1716830"/>
            <a:ext cx="6531430" cy="398638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28"/>
          <p:cNvSpPr txBox="1"/>
          <p:nvPr/>
        </p:nvSpPr>
        <p:spPr>
          <a:xfrm>
            <a:off x="-2704946" y="521194"/>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Valores</a:t>
            </a:r>
            <a:r>
              <a:rPr lang="es-ES" sz="3200" b="1">
                <a:solidFill>
                  <a:srgbClr val="7F7F7F"/>
                </a:solidFill>
                <a:latin typeface="Arial"/>
                <a:ea typeface="Arial"/>
                <a:cs typeface="Arial"/>
                <a:sym typeface="Arial"/>
              </a:rPr>
              <a:t> </a:t>
            </a:r>
            <a:r>
              <a:rPr lang="es-ES" sz="3200">
                <a:solidFill>
                  <a:srgbClr val="7F7F7F"/>
                </a:solidFill>
                <a:latin typeface="Arial"/>
                <a:ea typeface="Arial"/>
                <a:cs typeface="Arial"/>
                <a:sym typeface="Arial"/>
              </a:rPr>
              <a:t>Atípicos</a:t>
            </a:r>
            <a:endParaRPr/>
          </a:p>
        </p:txBody>
      </p:sp>
      <p:pic>
        <p:nvPicPr>
          <p:cNvPr id="385" name="Google Shape;385;p28"/>
          <p:cNvPicPr preferRelativeResize="0"/>
          <p:nvPr/>
        </p:nvPicPr>
        <p:blipFill rotWithShape="1">
          <a:blip r:embed="rId3">
            <a:alphaModFix/>
          </a:blip>
          <a:srcRect/>
          <a:stretch/>
        </p:blipFill>
        <p:spPr>
          <a:xfrm>
            <a:off x="4180742" y="1990401"/>
            <a:ext cx="4500629" cy="3297728"/>
          </a:xfrm>
          <a:prstGeom prst="rect">
            <a:avLst/>
          </a:prstGeom>
          <a:noFill/>
          <a:ln>
            <a:noFill/>
          </a:ln>
          <a:effectLst>
            <a:outerShdw blurRad="190500" algn="tl" rotWithShape="0">
              <a:srgbClr val="000000">
                <a:alpha val="6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fade">
                                      <p:cBhvr>
                                        <p:cTn id="7"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9"/>
          <p:cNvSpPr/>
          <p:nvPr/>
        </p:nvSpPr>
        <p:spPr>
          <a:xfrm>
            <a:off x="-440557" y="1164771"/>
            <a:ext cx="5883000" cy="51396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29"/>
          <p:cNvSpPr txBox="1"/>
          <p:nvPr/>
        </p:nvSpPr>
        <p:spPr>
          <a:xfrm>
            <a:off x="745593" y="182881"/>
            <a:ext cx="1035231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un valor atípico?</a:t>
            </a:r>
            <a:endParaRPr sz="3200">
              <a:solidFill>
                <a:srgbClr val="7F7F7F"/>
              </a:solidFill>
              <a:latin typeface="Arial"/>
              <a:ea typeface="Arial"/>
              <a:cs typeface="Arial"/>
              <a:sym typeface="Arial"/>
            </a:endParaRPr>
          </a:p>
        </p:txBody>
      </p:sp>
      <p:sp>
        <p:nvSpPr>
          <p:cNvPr id="392" name="Google Shape;392;p29"/>
          <p:cNvSpPr txBox="1"/>
          <p:nvPr/>
        </p:nvSpPr>
        <p:spPr>
          <a:xfrm>
            <a:off x="789137" y="1317670"/>
            <a:ext cx="4348920" cy="477053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Un valor atípico, en un set de datos, corresponde a una observación que es numéricamente distantes del resto de los datos, extremadamente grande o extremadamente pequeña. Un valor atípico puede generar un efecto desproporcionado en los resultados estadísticos, como la media, lo cual puede conducir a interpretaciones engañosas.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Un valor atípico, llamado a veces anomalía, podría deberse a un fenómeno único (por ejemplo, una lista de clientes de un banco con una persona de 124 años) o bien podría ser producido por un error (por ejemplo, ingresaron 124 en vez de 24 años al momento de crear al cliente).</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Sea cual sea el dato, es conveniente identificar la presencia de valores atípicos o anomalías en los datos.</a:t>
            </a:r>
            <a:endParaRPr/>
          </a:p>
        </p:txBody>
      </p:sp>
      <p:sp>
        <p:nvSpPr>
          <p:cNvPr id="393" name="Google Shape;393;p29"/>
          <p:cNvSpPr/>
          <p:nvPr/>
        </p:nvSpPr>
        <p:spPr>
          <a:xfrm>
            <a:off x="5660686" y="1157187"/>
            <a:ext cx="6411300" cy="4294500"/>
          </a:xfrm>
          <a:prstGeom prst="roundRect">
            <a:avLst>
              <a:gd name="adj" fmla="val 2971"/>
            </a:avLst>
          </a:prstGeom>
          <a:solidFill>
            <a:schemeClr val="lt1"/>
          </a:solidFill>
          <a:ln w="381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4" name="Google Shape;394;p29"/>
          <p:cNvPicPr preferRelativeResize="0"/>
          <p:nvPr/>
        </p:nvPicPr>
        <p:blipFill rotWithShape="1">
          <a:blip r:embed="rId3">
            <a:alphaModFix/>
          </a:blip>
          <a:srcRect/>
          <a:stretch/>
        </p:blipFill>
        <p:spPr>
          <a:xfrm>
            <a:off x="5857282" y="1509487"/>
            <a:ext cx="6018092" cy="358990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1"/>
                                        </p:tgtEl>
                                        <p:attrNameLst>
                                          <p:attrName>style.visibility</p:attrName>
                                        </p:attrNameLst>
                                      </p:cBhvr>
                                      <p:to>
                                        <p:strVal val="visible"/>
                                      </p:to>
                                    </p:set>
                                    <p:animEffect transition="in" filter="fade">
                                      <p:cBhvr>
                                        <p:cTn id="7" dur="5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0"/>
          <p:cNvSpPr/>
          <p:nvPr/>
        </p:nvSpPr>
        <p:spPr>
          <a:xfrm>
            <a:off x="-127730" y="2002971"/>
            <a:ext cx="5843074" cy="384353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30"/>
          <p:cNvSpPr txBox="1"/>
          <p:nvPr/>
        </p:nvSpPr>
        <p:spPr>
          <a:xfrm>
            <a:off x="555173" y="599486"/>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¿Qué es un valor atípico?</a:t>
            </a:r>
            <a:endParaRPr sz="3200">
              <a:solidFill>
                <a:srgbClr val="7F7F7F"/>
              </a:solidFill>
              <a:latin typeface="Arial"/>
              <a:ea typeface="Arial"/>
              <a:cs typeface="Arial"/>
              <a:sym typeface="Arial"/>
            </a:endParaRPr>
          </a:p>
        </p:txBody>
      </p:sp>
      <p:sp>
        <p:nvSpPr>
          <p:cNvPr id="401" name="Google Shape;401;p30"/>
          <p:cNvSpPr txBox="1"/>
          <p:nvPr/>
        </p:nvSpPr>
        <p:spPr>
          <a:xfrm>
            <a:off x="720825" y="2211977"/>
            <a:ext cx="434892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en el siguiente diagrama de dispersión la presencia de un valor extremo por sobre las 500 libras en el valor del pasaje pagado en el dataset del Titanic.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también, cómo la media de los valores tiende a alejarse de la mediana. Esto ocurre porque la media corresponde a promedio aritmético, el cual se ve distorsionado por causa del valor extremadamente alto.</a:t>
            </a:r>
            <a:endParaRPr/>
          </a:p>
        </p:txBody>
      </p:sp>
      <p:pic>
        <p:nvPicPr>
          <p:cNvPr id="402" name="Google Shape;402;p30"/>
          <p:cNvPicPr preferRelativeResize="0"/>
          <p:nvPr/>
        </p:nvPicPr>
        <p:blipFill rotWithShape="1">
          <a:blip r:embed="rId3">
            <a:alphaModFix/>
          </a:blip>
          <a:srcRect/>
          <a:stretch/>
        </p:blipFill>
        <p:spPr>
          <a:xfrm>
            <a:off x="6336173" y="603134"/>
            <a:ext cx="4734121" cy="3620005"/>
          </a:xfrm>
          <a:prstGeom prst="rect">
            <a:avLst/>
          </a:prstGeom>
          <a:noFill/>
          <a:ln>
            <a:noFill/>
          </a:ln>
          <a:effectLst>
            <a:outerShdw blurRad="190500" algn="tl" rotWithShape="0">
              <a:srgbClr val="000000">
                <a:alpha val="69803"/>
              </a:srgbClr>
            </a:outerShdw>
          </a:effectLst>
        </p:spPr>
      </p:pic>
      <p:pic>
        <p:nvPicPr>
          <p:cNvPr id="403" name="Google Shape;403;p30"/>
          <p:cNvPicPr preferRelativeResize="0"/>
          <p:nvPr/>
        </p:nvPicPr>
        <p:blipFill rotWithShape="1">
          <a:blip r:embed="rId4">
            <a:alphaModFix/>
          </a:blip>
          <a:srcRect/>
          <a:stretch/>
        </p:blipFill>
        <p:spPr>
          <a:xfrm>
            <a:off x="6336173" y="4223139"/>
            <a:ext cx="4753638" cy="2010056"/>
          </a:xfrm>
          <a:prstGeom prst="rect">
            <a:avLst/>
          </a:prstGeom>
          <a:noFill/>
          <a:ln>
            <a:noFill/>
          </a:ln>
          <a:effectLst>
            <a:outerShdw blurRad="190500" algn="tl" rotWithShape="0">
              <a:srgbClr val="000000">
                <a:alpha val="69803"/>
              </a:srgbClr>
            </a:outerShdw>
          </a:effectLst>
        </p:spPr>
      </p:pic>
      <p:cxnSp>
        <p:nvCxnSpPr>
          <p:cNvPr id="404" name="Google Shape;404;p30"/>
          <p:cNvCxnSpPr/>
          <p:nvPr/>
        </p:nvCxnSpPr>
        <p:spPr>
          <a:xfrm rot="10800000" flipH="1">
            <a:off x="5175315" y="1885361"/>
            <a:ext cx="2997724" cy="763572"/>
          </a:xfrm>
          <a:prstGeom prst="straightConnector1">
            <a:avLst/>
          </a:prstGeom>
          <a:noFill/>
          <a:ln w="19050" cap="flat" cmpd="sng">
            <a:solidFill>
              <a:srgbClr val="757070"/>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5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1"/>
          <p:cNvSpPr txBox="1">
            <a:spLocks noGrp="1"/>
          </p:cNvSpPr>
          <p:nvPr>
            <p:ph type="title"/>
          </p:nvPr>
        </p:nvSpPr>
        <p:spPr>
          <a:xfrm>
            <a:off x="6258851" y="617130"/>
            <a:ext cx="4930220" cy="132556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b="0" i="0" u="none" strike="noStrike" cap="none">
                <a:solidFill>
                  <a:srgbClr val="7F7F7F"/>
                </a:solidFill>
                <a:latin typeface="Arial"/>
                <a:ea typeface="Arial"/>
                <a:cs typeface="Arial"/>
                <a:sym typeface="Arial"/>
              </a:rPr>
              <a:t>¿Qué es un valor atípico?</a:t>
            </a:r>
            <a:endParaRPr sz="3200" b="0" i="0" u="none" strike="noStrike" cap="none">
              <a:solidFill>
                <a:srgbClr val="7F7F7F"/>
              </a:solidFill>
              <a:latin typeface="Arial"/>
              <a:ea typeface="Arial"/>
              <a:cs typeface="Arial"/>
              <a:sym typeface="Arial"/>
            </a:endParaRPr>
          </a:p>
        </p:txBody>
      </p:sp>
      <p:sp>
        <p:nvSpPr>
          <p:cNvPr id="410" name="Google Shape;410;p31"/>
          <p:cNvSpPr/>
          <p:nvPr/>
        </p:nvSpPr>
        <p:spPr>
          <a:xfrm>
            <a:off x="5657444" y="2383189"/>
            <a:ext cx="5871537" cy="370286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p31"/>
          <p:cNvSpPr txBox="1"/>
          <p:nvPr/>
        </p:nvSpPr>
        <p:spPr>
          <a:xfrm>
            <a:off x="6321212" y="2757151"/>
            <a:ext cx="4797926"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en el siguiente diagrama de dispersión la presencia de un valor extremo por sobre las 500 libras en el valor del pasaje pagado en el dataset del Titanic.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también, cómo la media de los valores tiende a alejarse de la mediana. Esto ocurre porque la media corresponde a promedio aritmético, el cual se ve distorsionado por causa del valor extremadamente alto.</a:t>
            </a:r>
            <a:endParaRPr/>
          </a:p>
        </p:txBody>
      </p:sp>
      <p:sp>
        <p:nvSpPr>
          <p:cNvPr id="412" name="Google Shape;412;p31"/>
          <p:cNvSpPr/>
          <p:nvPr/>
        </p:nvSpPr>
        <p:spPr>
          <a:xfrm>
            <a:off x="726356" y="451478"/>
            <a:ext cx="5214679" cy="6074228"/>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3" name="Google Shape;413;p31"/>
          <p:cNvPicPr preferRelativeResize="0"/>
          <p:nvPr/>
        </p:nvPicPr>
        <p:blipFill rotWithShape="1">
          <a:blip r:embed="rId3">
            <a:alphaModFix/>
          </a:blip>
          <a:srcRect/>
          <a:stretch/>
        </p:blipFill>
        <p:spPr>
          <a:xfrm>
            <a:off x="1046780" y="614614"/>
            <a:ext cx="4706007" cy="3620005"/>
          </a:xfrm>
          <a:prstGeom prst="rect">
            <a:avLst/>
          </a:prstGeom>
          <a:noFill/>
          <a:ln>
            <a:noFill/>
          </a:ln>
        </p:spPr>
      </p:pic>
      <p:pic>
        <p:nvPicPr>
          <p:cNvPr id="414" name="Google Shape;414;p31"/>
          <p:cNvPicPr preferRelativeResize="0"/>
          <p:nvPr/>
        </p:nvPicPr>
        <p:blipFill rotWithShape="1">
          <a:blip r:embed="rId4">
            <a:alphaModFix/>
          </a:blip>
          <a:srcRect/>
          <a:stretch/>
        </p:blipFill>
        <p:spPr>
          <a:xfrm>
            <a:off x="999149" y="4234619"/>
            <a:ext cx="4753638" cy="2010056"/>
          </a:xfrm>
          <a:prstGeom prst="rect">
            <a:avLst/>
          </a:prstGeom>
          <a:noFill/>
          <a:ln>
            <a:noFill/>
          </a:ln>
        </p:spPr>
      </p:pic>
      <p:cxnSp>
        <p:nvCxnSpPr>
          <p:cNvPr id="415" name="Google Shape;415;p31"/>
          <p:cNvCxnSpPr/>
          <p:nvPr/>
        </p:nvCxnSpPr>
        <p:spPr>
          <a:xfrm rot="10800000">
            <a:off x="3186261" y="1891238"/>
            <a:ext cx="3134951" cy="1238461"/>
          </a:xfrm>
          <a:prstGeom prst="straightConnector1">
            <a:avLst/>
          </a:prstGeom>
          <a:noFill/>
          <a:ln w="28575" cap="flat" cmpd="sng">
            <a:solidFill>
              <a:srgbClr val="D8D8D8"/>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5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9"/>
        <p:cNvGrpSpPr/>
        <p:nvPr/>
      </p:nvGrpSpPr>
      <p:grpSpPr>
        <a:xfrm>
          <a:off x="0" y="0"/>
          <a:ext cx="0" cy="0"/>
          <a:chOff x="0" y="0"/>
          <a:chExt cx="0" cy="0"/>
        </a:xfrm>
      </p:grpSpPr>
      <p:sp>
        <p:nvSpPr>
          <p:cNvPr id="420" name="Google Shape;420;p32"/>
          <p:cNvSpPr txBox="1"/>
          <p:nvPr/>
        </p:nvSpPr>
        <p:spPr>
          <a:xfrm>
            <a:off x="870857" y="458075"/>
            <a:ext cx="102270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dirty="0">
                <a:solidFill>
                  <a:srgbClr val="7F7F7F"/>
                </a:solidFill>
              </a:rPr>
              <a:t>¿</a:t>
            </a:r>
            <a:r>
              <a:rPr lang="es-ES" sz="3200" dirty="0">
                <a:solidFill>
                  <a:srgbClr val="7F7F7F"/>
                </a:solidFill>
                <a:latin typeface="Arial"/>
                <a:ea typeface="Arial"/>
                <a:cs typeface="Arial"/>
                <a:sym typeface="Arial"/>
              </a:rPr>
              <a:t>Qué es un valor atípico</a:t>
            </a:r>
            <a:r>
              <a:rPr lang="es-ES" sz="3200" dirty="0">
                <a:solidFill>
                  <a:srgbClr val="7F7F7F"/>
                </a:solidFill>
              </a:rPr>
              <a:t>?</a:t>
            </a:r>
            <a:endParaRPr sz="3200" dirty="0">
              <a:solidFill>
                <a:srgbClr val="7F7F7F"/>
              </a:solidFill>
              <a:latin typeface="Arial"/>
              <a:ea typeface="Arial"/>
              <a:cs typeface="Arial"/>
              <a:sym typeface="Arial"/>
            </a:endParaRPr>
          </a:p>
        </p:txBody>
      </p:sp>
      <p:sp>
        <p:nvSpPr>
          <p:cNvPr id="421" name="Google Shape;421;p32"/>
          <p:cNvSpPr/>
          <p:nvPr/>
        </p:nvSpPr>
        <p:spPr>
          <a:xfrm>
            <a:off x="870857" y="1458874"/>
            <a:ext cx="10363500" cy="42780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2" name="Google Shape;422;p32"/>
          <p:cNvPicPr preferRelativeResize="0"/>
          <p:nvPr/>
        </p:nvPicPr>
        <p:blipFill rotWithShape="1">
          <a:blip r:embed="rId4">
            <a:alphaModFix/>
          </a:blip>
          <a:srcRect/>
          <a:stretch/>
        </p:blipFill>
        <p:spPr>
          <a:xfrm>
            <a:off x="3333010" y="1802570"/>
            <a:ext cx="4459432" cy="3344574"/>
          </a:xfrm>
          <a:prstGeom prst="rect">
            <a:avLst/>
          </a:prstGeom>
          <a:noFill/>
          <a:ln>
            <a:noFill/>
          </a:ln>
        </p:spPr>
      </p:pic>
      <p:cxnSp>
        <p:nvCxnSpPr>
          <p:cNvPr id="423" name="Google Shape;423;p32"/>
          <p:cNvCxnSpPr/>
          <p:nvPr/>
        </p:nvCxnSpPr>
        <p:spPr>
          <a:xfrm flipH="1">
            <a:off x="5829479" y="1892451"/>
            <a:ext cx="2439884" cy="420453"/>
          </a:xfrm>
          <a:prstGeom prst="straightConnector1">
            <a:avLst/>
          </a:prstGeom>
          <a:noFill/>
          <a:ln w="9525" cap="flat" cmpd="sng">
            <a:solidFill>
              <a:schemeClr val="accent1"/>
            </a:solidFill>
            <a:prstDash val="solid"/>
            <a:miter lim="800000"/>
            <a:headEnd type="none" w="sm" len="sm"/>
            <a:tailEnd type="triangle" w="med" len="med"/>
          </a:ln>
        </p:spPr>
      </p:cxnSp>
      <p:sp>
        <p:nvSpPr>
          <p:cNvPr id="424" name="Google Shape;424;p32"/>
          <p:cNvSpPr txBox="1"/>
          <p:nvPr/>
        </p:nvSpPr>
        <p:spPr>
          <a:xfrm>
            <a:off x="8403773" y="1686472"/>
            <a:ext cx="1374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Valores atípicos</a:t>
            </a:r>
            <a:endParaRPr/>
          </a:p>
        </p:txBody>
      </p:sp>
      <p:cxnSp>
        <p:nvCxnSpPr>
          <p:cNvPr id="425" name="Google Shape;425;p32"/>
          <p:cNvCxnSpPr/>
          <p:nvPr/>
        </p:nvCxnSpPr>
        <p:spPr>
          <a:xfrm flipH="1">
            <a:off x="5993110" y="3747834"/>
            <a:ext cx="2452500" cy="27600"/>
          </a:xfrm>
          <a:prstGeom prst="straightConnector1">
            <a:avLst/>
          </a:prstGeom>
          <a:noFill/>
          <a:ln w="9525" cap="flat" cmpd="sng">
            <a:solidFill>
              <a:schemeClr val="accent1"/>
            </a:solidFill>
            <a:prstDash val="solid"/>
            <a:miter lim="800000"/>
            <a:headEnd type="none" w="sm" len="sm"/>
            <a:tailEnd type="triangle" w="med" len="med"/>
          </a:ln>
        </p:spPr>
      </p:cxnSp>
      <p:sp>
        <p:nvSpPr>
          <p:cNvPr id="426" name="Google Shape;426;p32"/>
          <p:cNvSpPr txBox="1"/>
          <p:nvPr/>
        </p:nvSpPr>
        <p:spPr>
          <a:xfrm>
            <a:off x="8445610" y="3593946"/>
            <a:ext cx="2366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Mediana (50% de la muestra</a:t>
            </a:r>
            <a:r>
              <a:rPr lang="es-ES" sz="1400">
                <a:solidFill>
                  <a:schemeClr val="dk1"/>
                </a:solidFill>
                <a:latin typeface="Arial"/>
                <a:ea typeface="Arial"/>
                <a:cs typeface="Arial"/>
                <a:sym typeface="Arial"/>
              </a:rPr>
              <a:t>)</a:t>
            </a:r>
            <a:endParaRPr/>
          </a:p>
        </p:txBody>
      </p:sp>
      <p:cxnSp>
        <p:nvCxnSpPr>
          <p:cNvPr id="427" name="Google Shape;427;p32"/>
          <p:cNvCxnSpPr/>
          <p:nvPr/>
        </p:nvCxnSpPr>
        <p:spPr>
          <a:xfrm rot="10800000">
            <a:off x="5785243" y="4703827"/>
            <a:ext cx="1128300" cy="692700"/>
          </a:xfrm>
          <a:prstGeom prst="straightConnector1">
            <a:avLst/>
          </a:prstGeom>
          <a:noFill/>
          <a:ln w="9525" cap="flat" cmpd="sng">
            <a:solidFill>
              <a:schemeClr val="accent1"/>
            </a:solidFill>
            <a:prstDash val="solid"/>
            <a:miter lim="800000"/>
            <a:headEnd type="none" w="sm" len="sm"/>
            <a:tailEnd type="triangle" w="med" len="med"/>
          </a:ln>
        </p:spPr>
      </p:cxnSp>
      <p:sp>
        <p:nvSpPr>
          <p:cNvPr id="428" name="Google Shape;428;p32"/>
          <p:cNvSpPr txBox="1"/>
          <p:nvPr/>
        </p:nvSpPr>
        <p:spPr>
          <a:xfrm>
            <a:off x="6913543" y="5303493"/>
            <a:ext cx="11961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Valor mínimo</a:t>
            </a:r>
            <a:endParaRPr/>
          </a:p>
        </p:txBody>
      </p:sp>
      <p:cxnSp>
        <p:nvCxnSpPr>
          <p:cNvPr id="429" name="Google Shape;429;p32"/>
          <p:cNvCxnSpPr>
            <a:stCxn id="430" idx="1"/>
          </p:cNvCxnSpPr>
          <p:nvPr/>
        </p:nvCxnSpPr>
        <p:spPr>
          <a:xfrm rot="10800000">
            <a:off x="5916055" y="4024801"/>
            <a:ext cx="2540100" cy="346500"/>
          </a:xfrm>
          <a:prstGeom prst="straightConnector1">
            <a:avLst/>
          </a:prstGeom>
          <a:noFill/>
          <a:ln w="9525" cap="flat" cmpd="sng">
            <a:solidFill>
              <a:schemeClr val="accent1"/>
            </a:solidFill>
            <a:prstDash val="solid"/>
            <a:miter lim="800000"/>
            <a:headEnd type="none" w="sm" len="sm"/>
            <a:tailEnd type="triangle" w="med" len="med"/>
          </a:ln>
        </p:spPr>
      </p:cxnSp>
      <p:sp>
        <p:nvSpPr>
          <p:cNvPr id="430" name="Google Shape;430;p32"/>
          <p:cNvSpPr txBox="1"/>
          <p:nvPr/>
        </p:nvSpPr>
        <p:spPr>
          <a:xfrm>
            <a:off x="8456155" y="4217401"/>
            <a:ext cx="27783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Primer Cuartil (25% de la muestra)</a:t>
            </a:r>
            <a:endParaRPr/>
          </a:p>
        </p:txBody>
      </p:sp>
      <p:cxnSp>
        <p:nvCxnSpPr>
          <p:cNvPr id="431" name="Google Shape;431;p32"/>
          <p:cNvCxnSpPr>
            <a:stCxn id="432" idx="1"/>
          </p:cNvCxnSpPr>
          <p:nvPr/>
        </p:nvCxnSpPr>
        <p:spPr>
          <a:xfrm flipH="1">
            <a:off x="5993180" y="3083025"/>
            <a:ext cx="2367300" cy="391800"/>
          </a:xfrm>
          <a:prstGeom prst="straightConnector1">
            <a:avLst/>
          </a:prstGeom>
          <a:noFill/>
          <a:ln w="9525" cap="flat" cmpd="sng">
            <a:solidFill>
              <a:schemeClr val="accent1"/>
            </a:solidFill>
            <a:prstDash val="solid"/>
            <a:miter lim="800000"/>
            <a:headEnd type="none" w="sm" len="sm"/>
            <a:tailEnd type="triangle" w="med" len="med"/>
          </a:ln>
        </p:spPr>
      </p:cxnSp>
      <p:sp>
        <p:nvSpPr>
          <p:cNvPr id="432" name="Google Shape;432;p32"/>
          <p:cNvSpPr txBox="1"/>
          <p:nvPr/>
        </p:nvSpPr>
        <p:spPr>
          <a:xfrm>
            <a:off x="8360480" y="2929125"/>
            <a:ext cx="2748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Tercer Cuartil (75% de la muestra)</a:t>
            </a:r>
            <a:endParaRPr/>
          </a:p>
        </p:txBody>
      </p:sp>
      <p:cxnSp>
        <p:nvCxnSpPr>
          <p:cNvPr id="433" name="Google Shape;433;p32"/>
          <p:cNvCxnSpPr/>
          <p:nvPr/>
        </p:nvCxnSpPr>
        <p:spPr>
          <a:xfrm flipH="1">
            <a:off x="5894002" y="2401414"/>
            <a:ext cx="2491086" cy="72362"/>
          </a:xfrm>
          <a:prstGeom prst="straightConnector1">
            <a:avLst/>
          </a:prstGeom>
          <a:noFill/>
          <a:ln w="9525" cap="flat" cmpd="sng">
            <a:solidFill>
              <a:schemeClr val="accent1"/>
            </a:solidFill>
            <a:prstDash val="solid"/>
            <a:miter lim="800000"/>
            <a:headEnd type="none" w="sm" len="sm"/>
            <a:tailEnd type="triangle" w="med" len="med"/>
          </a:ln>
        </p:spPr>
      </p:cxnSp>
      <p:sp>
        <p:nvSpPr>
          <p:cNvPr id="434" name="Google Shape;434;p32"/>
          <p:cNvSpPr txBox="1"/>
          <p:nvPr/>
        </p:nvSpPr>
        <p:spPr>
          <a:xfrm>
            <a:off x="8403772" y="2214675"/>
            <a:ext cx="1224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Valor máximo</a:t>
            </a:r>
            <a:endParaRPr/>
          </a:p>
        </p:txBody>
      </p:sp>
      <p:cxnSp>
        <p:nvCxnSpPr>
          <p:cNvPr id="435" name="Google Shape;435;p32"/>
          <p:cNvCxnSpPr/>
          <p:nvPr/>
        </p:nvCxnSpPr>
        <p:spPr>
          <a:xfrm>
            <a:off x="2764972" y="3013545"/>
            <a:ext cx="1995000" cy="665100"/>
          </a:xfrm>
          <a:prstGeom prst="straightConnector1">
            <a:avLst/>
          </a:prstGeom>
          <a:noFill/>
          <a:ln w="9525" cap="flat" cmpd="sng">
            <a:solidFill>
              <a:schemeClr val="accent1"/>
            </a:solidFill>
            <a:prstDash val="solid"/>
            <a:miter lim="800000"/>
            <a:headEnd type="none" w="sm" len="sm"/>
            <a:tailEnd type="triangle" w="med" len="med"/>
          </a:ln>
        </p:spPr>
      </p:cxnSp>
      <p:sp>
        <p:nvSpPr>
          <p:cNvPr id="436" name="Google Shape;436;p32"/>
          <p:cNvSpPr txBox="1"/>
          <p:nvPr/>
        </p:nvSpPr>
        <p:spPr>
          <a:xfrm>
            <a:off x="1196352" y="2815220"/>
            <a:ext cx="15441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Rango intercuartil</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0"/>
                                        </p:tgtEl>
                                        <p:attrNameLst>
                                          <p:attrName>style.visibility</p:attrName>
                                        </p:attrNameLst>
                                      </p:cBhvr>
                                      <p:to>
                                        <p:strVal val="visible"/>
                                      </p:to>
                                    </p:set>
                                    <p:animEffect transition="in" filter="fade">
                                      <p:cBhvr>
                                        <p:cTn id="7" dur="500"/>
                                        <p:tgtEl>
                                          <p:spTgt spid="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3"/>
          <p:cNvSpPr/>
          <p:nvPr/>
        </p:nvSpPr>
        <p:spPr>
          <a:xfrm>
            <a:off x="-349278" y="1348138"/>
            <a:ext cx="12604376" cy="91248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33"/>
          <p:cNvSpPr txBox="1"/>
          <p:nvPr/>
        </p:nvSpPr>
        <p:spPr>
          <a:xfrm>
            <a:off x="952104" y="340076"/>
            <a:ext cx="1046375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un valor atípico?</a:t>
            </a:r>
            <a:endParaRPr sz="3200">
              <a:solidFill>
                <a:srgbClr val="7F7F7F"/>
              </a:solidFill>
              <a:latin typeface="Arial"/>
              <a:ea typeface="Arial"/>
              <a:cs typeface="Arial"/>
              <a:sym typeface="Arial"/>
            </a:endParaRPr>
          </a:p>
        </p:txBody>
      </p:sp>
      <p:sp>
        <p:nvSpPr>
          <p:cNvPr id="443" name="Google Shape;443;p33"/>
          <p:cNvSpPr/>
          <p:nvPr/>
        </p:nvSpPr>
        <p:spPr>
          <a:xfrm>
            <a:off x="1081390" y="2465060"/>
            <a:ext cx="10341756" cy="326571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44" name="Google Shape;444;p33"/>
          <p:cNvPicPr preferRelativeResize="0"/>
          <p:nvPr/>
        </p:nvPicPr>
        <p:blipFill rotWithShape="1">
          <a:blip r:embed="rId3">
            <a:alphaModFix/>
          </a:blip>
          <a:srcRect/>
          <a:stretch/>
        </p:blipFill>
        <p:spPr>
          <a:xfrm>
            <a:off x="3829866" y="2556010"/>
            <a:ext cx="4725059" cy="3105583"/>
          </a:xfrm>
          <a:prstGeom prst="rect">
            <a:avLst/>
          </a:prstGeom>
          <a:noFill/>
          <a:ln>
            <a:noFill/>
          </a:ln>
        </p:spPr>
      </p:pic>
      <p:sp>
        <p:nvSpPr>
          <p:cNvPr id="445" name="Google Shape;445;p33"/>
          <p:cNvSpPr txBox="1"/>
          <p:nvPr/>
        </p:nvSpPr>
        <p:spPr>
          <a:xfrm>
            <a:off x="952105" y="1494127"/>
            <a:ext cx="10463753" cy="1138773"/>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caso del valor del pasaje pagado del dataset Titanic, nótese que el rango mínimo máximo se encuentra entre 0 y 85 aproximadamente, y que cualquier valor por sobre el valor de 85 es considerado un punto atípico.</a:t>
            </a:r>
            <a:endParaRPr/>
          </a:p>
          <a:p>
            <a:pPr marL="0" marR="0" lvl="0" indent="0" algn="l" rtl="0">
              <a:spcBef>
                <a:spcPts val="0"/>
              </a:spcBef>
              <a:spcAft>
                <a:spcPts val="0"/>
              </a:spcAft>
              <a:buNone/>
            </a:pP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2"/>
                                        </p:tgtEl>
                                        <p:attrNameLst>
                                          <p:attrName>style.visibility</p:attrName>
                                        </p:attrNameLst>
                                      </p:cBhvr>
                                      <p:to>
                                        <p:strVal val="visible"/>
                                      </p:to>
                                    </p:set>
                                    <p:animEffect transition="in" filter="fade">
                                      <p:cBhvr>
                                        <p:cTn id="7" dur="500"/>
                                        <p:tgtEl>
                                          <p:spTgt spid="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4"/>
          <p:cNvSpPr/>
          <p:nvPr/>
        </p:nvSpPr>
        <p:spPr>
          <a:xfrm>
            <a:off x="559959" y="924494"/>
            <a:ext cx="11058606" cy="91248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34"/>
          <p:cNvSpPr/>
          <p:nvPr/>
        </p:nvSpPr>
        <p:spPr>
          <a:xfrm>
            <a:off x="6888597" y="2028293"/>
            <a:ext cx="4732660" cy="306318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34"/>
          <p:cNvSpPr txBox="1"/>
          <p:nvPr/>
        </p:nvSpPr>
        <p:spPr>
          <a:xfrm>
            <a:off x="671123" y="0"/>
            <a:ext cx="10955363" cy="710588"/>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¿Qué es un valor atípico?</a:t>
            </a:r>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sp>
        <p:nvSpPr>
          <p:cNvPr id="453" name="Google Shape;453;p34"/>
          <p:cNvSpPr/>
          <p:nvPr/>
        </p:nvSpPr>
        <p:spPr>
          <a:xfrm>
            <a:off x="-445574" y="2033549"/>
            <a:ext cx="7086600" cy="452845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4" name="Google Shape;454;p34"/>
          <p:cNvSpPr txBox="1"/>
          <p:nvPr/>
        </p:nvSpPr>
        <p:spPr>
          <a:xfrm>
            <a:off x="671123" y="2281840"/>
            <a:ext cx="5763192" cy="4031873"/>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Tomar el valor de la mediana, en este caso, es 14.4542</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Tomar valor del primer cuartil, en este caso, Q1 es 7.9104</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Tomar valor del tercer cuartil, este caso, Q3 es 31.0</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Calcular el rango </a:t>
            </a:r>
            <a:r>
              <a:rPr lang="es-ES" sz="1600" dirty="0" err="1">
                <a:solidFill>
                  <a:schemeClr val="lt1"/>
                </a:solidFill>
                <a:latin typeface="Calibri"/>
                <a:ea typeface="Calibri"/>
                <a:cs typeface="Calibri"/>
                <a:sym typeface="Calibri"/>
              </a:rPr>
              <a:t>intercuartil</a:t>
            </a:r>
            <a:r>
              <a:rPr lang="es-ES" sz="1600" dirty="0">
                <a:solidFill>
                  <a:schemeClr val="lt1"/>
                </a:solidFill>
                <a:latin typeface="Calibri"/>
                <a:ea typeface="Calibri"/>
                <a:cs typeface="Calibri"/>
                <a:sym typeface="Calibri"/>
              </a:rPr>
              <a:t>, es decir, tomamos IQR = Q3 – Q1</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indent="-285750" algn="just">
              <a:buClr>
                <a:schemeClr val="lt1"/>
              </a:buClr>
              <a:buSzPts val="1600"/>
              <a:buFont typeface="Arial"/>
              <a:buChar char="•"/>
            </a:pPr>
            <a:r>
              <a:rPr lang="es-ES" sz="1600" dirty="0">
                <a:solidFill>
                  <a:schemeClr val="lt1"/>
                </a:solidFill>
                <a:latin typeface="Calibri"/>
                <a:ea typeface="Calibri"/>
                <a:cs typeface="Calibri"/>
                <a:sym typeface="Calibri"/>
              </a:rPr>
              <a:t>Calcular el límite interno </a:t>
            </a:r>
            <a:r>
              <a:rPr lang="es-ES" sz="1600" b="1" dirty="0">
                <a:solidFill>
                  <a:schemeClr val="lt1"/>
                </a:solidFill>
                <a:latin typeface="Calibri"/>
                <a:ea typeface="Calibri"/>
                <a:cs typeface="Calibri"/>
                <a:sym typeface="Calibri"/>
              </a:rPr>
              <a:t>superior</a:t>
            </a:r>
            <a:r>
              <a:rPr lang="es-ES" sz="1600" dirty="0">
                <a:solidFill>
                  <a:schemeClr val="lt1"/>
                </a:solidFill>
                <a:latin typeface="Calibri"/>
                <a:ea typeface="Calibri"/>
                <a:cs typeface="Calibri"/>
                <a:sym typeface="Calibri"/>
              </a:rPr>
              <a:t> de la siguiente forma: </a:t>
            </a:r>
            <a:endParaRPr lang="es-ES">
              <a:ea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LSUP = Q3 + 1.5 * IQR</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indent="-285750" algn="just">
              <a:buClr>
                <a:schemeClr val="lt1"/>
              </a:buClr>
              <a:buSzPts val="1600"/>
              <a:buFont typeface="Arial"/>
              <a:buChar char="•"/>
            </a:pPr>
            <a:r>
              <a:rPr lang="es-ES" sz="1600" dirty="0">
                <a:solidFill>
                  <a:schemeClr val="lt1"/>
                </a:solidFill>
                <a:latin typeface="Calibri"/>
                <a:ea typeface="Calibri"/>
                <a:cs typeface="Calibri"/>
                <a:sym typeface="Calibri"/>
              </a:rPr>
              <a:t>Calcular el límite interno </a:t>
            </a:r>
            <a:r>
              <a:rPr lang="es-ES" sz="1600" b="1" dirty="0">
                <a:solidFill>
                  <a:schemeClr val="lt1"/>
                </a:solidFill>
                <a:latin typeface="Calibri"/>
                <a:ea typeface="Calibri"/>
                <a:cs typeface="Calibri"/>
                <a:sym typeface="Calibri"/>
              </a:rPr>
              <a:t>inferior</a:t>
            </a:r>
            <a:r>
              <a:rPr lang="es-ES" sz="1600" dirty="0">
                <a:solidFill>
                  <a:schemeClr val="lt1"/>
                </a:solidFill>
                <a:latin typeface="Calibri"/>
                <a:ea typeface="Calibri"/>
                <a:cs typeface="Calibri"/>
                <a:sym typeface="Calibri"/>
              </a:rPr>
              <a:t> de la siguiente forma: </a:t>
            </a:r>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LINF = Q1 – 1.5 * IQR</a:t>
            </a:r>
            <a:endParaRPr dirty="0">
              <a:solidFill>
                <a:schemeClr val="lt1"/>
              </a:solidFill>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dirty="0">
                <a:solidFill>
                  <a:schemeClr val="lt1"/>
                </a:solidFill>
                <a:latin typeface="Calibri"/>
                <a:ea typeface="Calibri"/>
                <a:cs typeface="Calibri"/>
                <a:sym typeface="Calibri"/>
              </a:rPr>
              <a:t>Calcular los límites externos del conjunto de datos, de forma </a:t>
            </a:r>
            <a:r>
              <a:rPr lang="es-ES" sz="1600">
                <a:solidFill>
                  <a:schemeClr val="lt1"/>
                </a:solidFill>
                <a:latin typeface="Calibri"/>
                <a:ea typeface="Calibri"/>
                <a:cs typeface="Calibri"/>
                <a:sym typeface="Calibri"/>
              </a:rPr>
              <a:t>análoga,</a:t>
            </a:r>
            <a:r>
              <a:rPr lang="es-ES" sz="1600" dirty="0">
                <a:solidFill>
                  <a:schemeClr val="lt1"/>
                </a:solidFill>
                <a:latin typeface="Calibri"/>
                <a:ea typeface="Calibri"/>
                <a:cs typeface="Calibri"/>
                <a:sym typeface="Calibri"/>
              </a:rPr>
              <a:t> pero considerando multiplicar *3 el rango </a:t>
            </a:r>
            <a:r>
              <a:rPr lang="es-ES" sz="1600" err="1">
                <a:solidFill>
                  <a:schemeClr val="lt1"/>
                </a:solidFill>
                <a:latin typeface="Calibri"/>
                <a:ea typeface="Calibri"/>
                <a:cs typeface="Calibri"/>
                <a:sym typeface="Calibri"/>
              </a:rPr>
              <a:t>intercuartil</a:t>
            </a:r>
            <a:r>
              <a:rPr lang="es-ES" sz="1600" dirty="0">
                <a:solidFill>
                  <a:schemeClr val="lt1"/>
                </a:solidFill>
                <a:latin typeface="Calibri"/>
                <a:ea typeface="Calibri"/>
                <a:cs typeface="Calibri"/>
                <a:sym typeface="Calibri"/>
              </a:rPr>
              <a:t>.</a:t>
            </a:r>
            <a:endParaRPr dirty="0">
              <a:solidFill>
                <a:schemeClr val="lt1"/>
              </a:solidFill>
            </a:endParaRPr>
          </a:p>
        </p:txBody>
      </p:sp>
      <p:pic>
        <p:nvPicPr>
          <p:cNvPr id="455" name="Google Shape;455;p34"/>
          <p:cNvPicPr preferRelativeResize="0"/>
          <p:nvPr/>
        </p:nvPicPr>
        <p:blipFill rotWithShape="1">
          <a:blip r:embed="rId3">
            <a:alphaModFix/>
          </a:blip>
          <a:srcRect/>
          <a:stretch/>
        </p:blipFill>
        <p:spPr>
          <a:xfrm>
            <a:off x="7000323" y="2461532"/>
            <a:ext cx="4509207" cy="2207592"/>
          </a:xfrm>
          <a:prstGeom prst="rect">
            <a:avLst/>
          </a:prstGeom>
          <a:noFill/>
          <a:ln>
            <a:noFill/>
          </a:ln>
        </p:spPr>
      </p:pic>
      <p:sp>
        <p:nvSpPr>
          <p:cNvPr id="456" name="Google Shape;456;p34"/>
          <p:cNvSpPr txBox="1"/>
          <p:nvPr/>
        </p:nvSpPr>
        <p:spPr>
          <a:xfrm>
            <a:off x="769094" y="1059724"/>
            <a:ext cx="10356650" cy="646290"/>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None/>
            </a:pPr>
            <a:r>
              <a:rPr lang="es-ES" sz="1800" dirty="0">
                <a:solidFill>
                  <a:schemeClr val="lt1"/>
                </a:solidFill>
                <a:latin typeface="Calibri"/>
                <a:ea typeface="Calibri"/>
                <a:cs typeface="Calibri"/>
                <a:sym typeface="Calibri"/>
              </a:rPr>
              <a:t>Para calcular qué valores son atípicos en un conjunto de datos numéricos, existen varios criterios. A continuación, se presenta el más frecuente de utilizar:</a:t>
            </a:r>
            <a:endParaRPr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500"/>
                                        <p:tgtEl>
                                          <p:spTgt spid="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5"/>
          <p:cNvSpPr txBox="1"/>
          <p:nvPr/>
        </p:nvSpPr>
        <p:spPr>
          <a:xfrm>
            <a:off x="1253765" y="1175892"/>
            <a:ext cx="9627124"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¿Qué hacer con los valores atípicos?</a:t>
            </a:r>
            <a:endParaRPr/>
          </a:p>
        </p:txBody>
      </p:sp>
      <p:sp>
        <p:nvSpPr>
          <p:cNvPr id="462" name="Google Shape;462;p35"/>
          <p:cNvSpPr/>
          <p:nvPr/>
        </p:nvSpPr>
        <p:spPr>
          <a:xfrm>
            <a:off x="-400595" y="2380049"/>
            <a:ext cx="12984481" cy="249046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3" name="Google Shape;463;p35"/>
          <p:cNvSpPr txBox="1"/>
          <p:nvPr/>
        </p:nvSpPr>
        <p:spPr>
          <a:xfrm>
            <a:off x="1253765" y="2655375"/>
            <a:ext cx="9549354"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Lo primero que debemos hacer es identificarlos, para después analizarlos de forma más detallada.</a:t>
            </a:r>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a:solidFill>
                  <a:schemeClr val="lt1"/>
                </a:solidFill>
                <a:latin typeface="Calibri"/>
                <a:ea typeface="Calibri"/>
                <a:cs typeface="Calibri"/>
                <a:sym typeface="Calibri"/>
              </a:rPr>
              <a:t>Recordemos que los valores atípicos podrían deberse a la data sucia, errores. Sin embargo, antes de comenzar a eliminarlos hay que considerar la visión de los analistas quienes deberán evaluar la conveniencia de su permanencia o bien eliminación.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5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36"/>
          <p:cNvSpPr/>
          <p:nvPr/>
        </p:nvSpPr>
        <p:spPr>
          <a:xfrm>
            <a:off x="-585178" y="3057041"/>
            <a:ext cx="8013499" cy="1045333"/>
          </a:xfrm>
          <a:prstGeom prst="roundRect">
            <a:avLst>
              <a:gd name="adj" fmla="val 9640"/>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469" name="Google Shape;469;p36"/>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9"/>
                                        </p:tgtEl>
                                        <p:attrNameLst>
                                          <p:attrName>style.visibility</p:attrName>
                                        </p:attrNameLst>
                                      </p:cBhvr>
                                      <p:to>
                                        <p:strVal val="visible"/>
                                      </p:to>
                                    </p:set>
                                    <p:animEffect transition="in" filter="fade">
                                      <p:cBhvr>
                                        <p:cTn id="7"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7"/>
          <p:cNvSpPr txBox="1"/>
          <p:nvPr/>
        </p:nvSpPr>
        <p:spPr>
          <a:xfrm>
            <a:off x="704850" y="2735617"/>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600">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4"/>
                                        </p:tgtEl>
                                        <p:attrNameLst>
                                          <p:attrName>style.visibility</p:attrName>
                                        </p:attrNameLst>
                                      </p:cBhvr>
                                      <p:to>
                                        <p:strVal val="visible"/>
                                      </p:to>
                                    </p:set>
                                    <p:animEffect transition="in" filter="fade">
                                      <p:cBhvr>
                                        <p:cTn id="7" dur="5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1845</Words>
  <Application>Microsoft Office PowerPoint</Application>
  <PresentationFormat>Panorámica</PresentationFormat>
  <Paragraphs>170</Paragraphs>
  <Slides>38</Slides>
  <Notes>37</Notes>
  <HiddenSlides>0</HiddenSlides>
  <MMClips>0</MMClips>
  <ScaleCrop>false</ScaleCrop>
  <HeadingPairs>
    <vt:vector size="4" baseType="variant">
      <vt:variant>
        <vt:lpstr>Tema</vt:lpstr>
      </vt:variant>
      <vt:variant>
        <vt:i4>1</vt:i4>
      </vt:variant>
      <vt:variant>
        <vt:lpstr>Títulos de diapositiva</vt:lpstr>
      </vt:variant>
      <vt:variant>
        <vt:i4>38</vt:i4>
      </vt:variant>
    </vt:vector>
  </HeadingPairs>
  <TitlesOfParts>
    <vt:vector size="39" baseType="lpstr">
      <vt:lpstr>Tema de Office</vt:lpstr>
      <vt:lpstr>Limpieza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Limpieza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Filtrado de filas con valores perdidos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es un valor atípico?</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Limpieza  de Datos</dc:title>
  <dc:creator>Kibernum</dc:creator>
  <cp:lastModifiedBy>Diseño ITA</cp:lastModifiedBy>
  <cp:revision>148</cp:revision>
  <dcterms:created xsi:type="dcterms:W3CDTF">2023-01-03T12:28:26Z</dcterms:created>
  <dcterms:modified xsi:type="dcterms:W3CDTF">2025-10-06T15:53:27Z</dcterms:modified>
</cp:coreProperties>
</file>