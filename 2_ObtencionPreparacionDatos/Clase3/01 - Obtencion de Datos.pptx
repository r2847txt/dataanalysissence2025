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5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9" roundtripDataSignature="AMtx7mjsVDxWc1LaiBNPY1pFy453sgsx+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D0F3D84-206A-3FC1-403E-9D7BF0B87E1D}" v="2" dt="2025-10-06T15:53:35.44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5" d="100"/>
          <a:sy n="105" d="100"/>
        </p:scale>
        <p:origin x="798"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 Type="http://schemas.openxmlformats.org/officeDocument/2006/relationships/slide" Target="slides/slide4.xml"/><Relationship Id="rId61"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notesMaster" Target="notesMasters/notesMaster1.xml"/><Relationship Id="rId64" Type="http://schemas.microsoft.com/office/2016/11/relationships/changesInfo" Target="changesInfos/changesInfo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customschemas.google.com/relationships/presentationmetadata" Target="meta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presProps" Target="presProps.xml"/><Relationship Id="rId65"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oraya Salazar" userId="S::soraya.salazar@kibernumacademy.com::fdf00a5c-f577-43dc-8064-9968cad83607" providerId="AD" clId="Web-{ED0F3D84-206A-3FC1-403E-9D7BF0B87E1D}"/>
    <pc:docChg chg="modSld">
      <pc:chgData name="Soraya Salazar" userId="S::soraya.salazar@kibernumacademy.com::fdf00a5c-f577-43dc-8064-9968cad83607" providerId="AD" clId="Web-{ED0F3D84-206A-3FC1-403E-9D7BF0B87E1D}" dt="2025-10-06T15:53:35.440" v="0" actId="20577"/>
      <pc:docMkLst>
        <pc:docMk/>
      </pc:docMkLst>
      <pc:sldChg chg="modSp">
        <pc:chgData name="Soraya Salazar" userId="S::soraya.salazar@kibernumacademy.com::fdf00a5c-f577-43dc-8064-9968cad83607" providerId="AD" clId="Web-{ED0F3D84-206A-3FC1-403E-9D7BF0B87E1D}" dt="2025-10-06T15:53:35.440" v="0" actId="20577"/>
        <pc:sldMkLst>
          <pc:docMk/>
          <pc:sldMk cId="0" sldId="256"/>
        </pc:sldMkLst>
        <pc:spChg chg="mod">
          <ac:chgData name="Soraya Salazar" userId="S::soraya.salazar@kibernumacademy.com::fdf00a5c-f577-43dc-8064-9968cad83607" providerId="AD" clId="Web-{ED0F3D84-206A-3FC1-403E-9D7BF0B87E1D}" dt="2025-10-06T15:53:35.440" v="0" actId="20577"/>
          <ac:spMkLst>
            <pc:docMk/>
            <pc:sldMk cId="0" sldId="256"/>
            <ac:spMk id="91"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s-ES" sz="1200" b="0" i="0" u="none" strike="noStrike" cap="none">
                <a:solidFill>
                  <a:schemeClr val="dk1"/>
                </a:solidFill>
                <a:latin typeface="Calibri"/>
                <a:ea typeface="Calibri"/>
                <a:cs typeface="Calibri"/>
                <a:sym typeface="Calibri"/>
              </a:rPr>
              <a:t>‹Nº›</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86" name="Google Shape;8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95" name="Google Shape;95;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06" name="Google Shape;106;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22" name="Google Shape;122;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32" name="Google Shape;132;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39" name="Google Shape;139;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48" name="Google Shape;148;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58" name="Google Shape;158;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p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63" name="Google Shape;163;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p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73" name="Google Shape;173;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p1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81" name="Google Shape;181;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p1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89" name="Google Shape;189;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p1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97" name="Google Shape;197;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p1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02" name="Google Shape;202;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
        <p:cNvGrpSpPr/>
        <p:nvPr/>
      </p:nvGrpSpPr>
      <p:grpSpPr>
        <a:xfrm>
          <a:off x="0" y="0"/>
          <a:ext cx="0" cy="0"/>
          <a:chOff x="0" y="0"/>
          <a:chExt cx="0" cy="0"/>
        </a:xfrm>
      </p:grpSpPr>
      <p:sp>
        <p:nvSpPr>
          <p:cNvPr id="214" name="Google Shape;214;p1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15" name="Google Shape;215;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p1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26" name="Google Shape;226;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5"/>
        <p:cNvGrpSpPr/>
        <p:nvPr/>
      </p:nvGrpSpPr>
      <p:grpSpPr>
        <a:xfrm>
          <a:off x="0" y="0"/>
          <a:ext cx="0" cy="0"/>
          <a:chOff x="0" y="0"/>
          <a:chExt cx="0" cy="0"/>
        </a:xfrm>
      </p:grpSpPr>
      <p:sp>
        <p:nvSpPr>
          <p:cNvPr id="236" name="Google Shape;236;p1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37" name="Google Shape;237;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6"/>
        <p:cNvGrpSpPr/>
        <p:nvPr/>
      </p:nvGrpSpPr>
      <p:grpSpPr>
        <a:xfrm>
          <a:off x="0" y="0"/>
          <a:ext cx="0" cy="0"/>
          <a:chOff x="0" y="0"/>
          <a:chExt cx="0" cy="0"/>
        </a:xfrm>
      </p:grpSpPr>
      <p:sp>
        <p:nvSpPr>
          <p:cNvPr id="247" name="Google Shape;247;p1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48" name="Google Shape;248;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
        <p:cNvGrpSpPr/>
        <p:nvPr/>
      </p:nvGrpSpPr>
      <p:grpSpPr>
        <a:xfrm>
          <a:off x="0" y="0"/>
          <a:ext cx="0" cy="0"/>
          <a:chOff x="0" y="0"/>
          <a:chExt cx="0" cy="0"/>
        </a:xfrm>
      </p:grpSpPr>
      <p:sp>
        <p:nvSpPr>
          <p:cNvPr id="256" name="Google Shape;256;p1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57" name="Google Shape;257;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
        <p:cNvGrpSpPr/>
        <p:nvPr/>
      </p:nvGrpSpPr>
      <p:grpSpPr>
        <a:xfrm>
          <a:off x="0" y="0"/>
          <a:ext cx="0" cy="0"/>
          <a:chOff x="0" y="0"/>
          <a:chExt cx="0" cy="0"/>
        </a:xfrm>
      </p:grpSpPr>
      <p:sp>
        <p:nvSpPr>
          <p:cNvPr id="268" name="Google Shape;268;p2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69" name="Google Shape;269;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p:cNvGrpSpPr/>
        <p:nvPr/>
      </p:nvGrpSpPr>
      <p:grpSpPr>
        <a:xfrm>
          <a:off x="0" y="0"/>
          <a:ext cx="0" cy="0"/>
          <a:chOff x="0" y="0"/>
          <a:chExt cx="0" cy="0"/>
        </a:xfrm>
      </p:grpSpPr>
      <p:sp>
        <p:nvSpPr>
          <p:cNvPr id="279" name="Google Shape;279;p2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80" name="Google Shape;280;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7"/>
        <p:cNvGrpSpPr/>
        <p:nvPr/>
      </p:nvGrpSpPr>
      <p:grpSpPr>
        <a:xfrm>
          <a:off x="0" y="0"/>
          <a:ext cx="0" cy="0"/>
          <a:chOff x="0" y="0"/>
          <a:chExt cx="0" cy="0"/>
        </a:xfrm>
      </p:grpSpPr>
      <p:sp>
        <p:nvSpPr>
          <p:cNvPr id="288" name="Google Shape;288;p2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89" name="Google Shape;289;p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2"/>
        <p:cNvGrpSpPr/>
        <p:nvPr/>
      </p:nvGrpSpPr>
      <p:grpSpPr>
        <a:xfrm>
          <a:off x="0" y="0"/>
          <a:ext cx="0" cy="0"/>
          <a:chOff x="0" y="0"/>
          <a:chExt cx="0" cy="0"/>
        </a:xfrm>
      </p:grpSpPr>
      <p:sp>
        <p:nvSpPr>
          <p:cNvPr id="293" name="Google Shape;293;p2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94" name="Google Shape;294;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2"/>
        <p:cNvGrpSpPr/>
        <p:nvPr/>
      </p:nvGrpSpPr>
      <p:grpSpPr>
        <a:xfrm>
          <a:off x="0" y="0"/>
          <a:ext cx="0" cy="0"/>
          <a:chOff x="0" y="0"/>
          <a:chExt cx="0" cy="0"/>
        </a:xfrm>
      </p:grpSpPr>
      <p:sp>
        <p:nvSpPr>
          <p:cNvPr id="303" name="Google Shape;303;p2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04" name="Google Shape;304;p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2"/>
        <p:cNvGrpSpPr/>
        <p:nvPr/>
      </p:nvGrpSpPr>
      <p:grpSpPr>
        <a:xfrm>
          <a:off x="0" y="0"/>
          <a:ext cx="0" cy="0"/>
          <a:chOff x="0" y="0"/>
          <a:chExt cx="0" cy="0"/>
        </a:xfrm>
      </p:grpSpPr>
      <p:sp>
        <p:nvSpPr>
          <p:cNvPr id="313" name="Google Shape;313;p2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14" name="Google Shape;314;p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5"/>
        <p:cNvGrpSpPr/>
        <p:nvPr/>
      </p:nvGrpSpPr>
      <p:grpSpPr>
        <a:xfrm>
          <a:off x="0" y="0"/>
          <a:ext cx="0" cy="0"/>
          <a:chOff x="0" y="0"/>
          <a:chExt cx="0" cy="0"/>
        </a:xfrm>
      </p:grpSpPr>
      <p:sp>
        <p:nvSpPr>
          <p:cNvPr id="326" name="Google Shape;326;p2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27" name="Google Shape;327;p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6"/>
        <p:cNvGrpSpPr/>
        <p:nvPr/>
      </p:nvGrpSpPr>
      <p:grpSpPr>
        <a:xfrm>
          <a:off x="0" y="0"/>
          <a:ext cx="0" cy="0"/>
          <a:chOff x="0" y="0"/>
          <a:chExt cx="0" cy="0"/>
        </a:xfrm>
      </p:grpSpPr>
      <p:sp>
        <p:nvSpPr>
          <p:cNvPr id="337" name="Google Shape;337;p2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38" name="Google Shape;338;p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1"/>
        <p:cNvGrpSpPr/>
        <p:nvPr/>
      </p:nvGrpSpPr>
      <p:grpSpPr>
        <a:xfrm>
          <a:off x="0" y="0"/>
          <a:ext cx="0" cy="0"/>
          <a:chOff x="0" y="0"/>
          <a:chExt cx="0" cy="0"/>
        </a:xfrm>
      </p:grpSpPr>
      <p:sp>
        <p:nvSpPr>
          <p:cNvPr id="342" name="Google Shape;342;p2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43" name="Google Shape;343;p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0"/>
        <p:cNvGrpSpPr/>
        <p:nvPr/>
      </p:nvGrpSpPr>
      <p:grpSpPr>
        <a:xfrm>
          <a:off x="0" y="0"/>
          <a:ext cx="0" cy="0"/>
          <a:chOff x="0" y="0"/>
          <a:chExt cx="0" cy="0"/>
        </a:xfrm>
      </p:grpSpPr>
      <p:sp>
        <p:nvSpPr>
          <p:cNvPr id="351" name="Google Shape;351;p2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52" name="Google Shape;352;p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p:cNvGrpSpPr/>
        <p:nvPr/>
      </p:nvGrpSpPr>
      <p:grpSpPr>
        <a:xfrm>
          <a:off x="0" y="0"/>
          <a:ext cx="0" cy="0"/>
          <a:chOff x="0" y="0"/>
          <a:chExt cx="0" cy="0"/>
        </a:xfrm>
      </p:grpSpPr>
      <p:sp>
        <p:nvSpPr>
          <p:cNvPr id="365" name="Google Shape;365;p3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66" name="Google Shape;366;p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3"/>
        <p:cNvGrpSpPr/>
        <p:nvPr/>
      </p:nvGrpSpPr>
      <p:grpSpPr>
        <a:xfrm>
          <a:off x="0" y="0"/>
          <a:ext cx="0" cy="0"/>
          <a:chOff x="0" y="0"/>
          <a:chExt cx="0" cy="0"/>
        </a:xfrm>
      </p:grpSpPr>
      <p:sp>
        <p:nvSpPr>
          <p:cNvPr id="374" name="Google Shape;374;p3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75" name="Google Shape;375;p3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8"/>
        <p:cNvGrpSpPr/>
        <p:nvPr/>
      </p:nvGrpSpPr>
      <p:grpSpPr>
        <a:xfrm>
          <a:off x="0" y="0"/>
          <a:ext cx="0" cy="0"/>
          <a:chOff x="0" y="0"/>
          <a:chExt cx="0" cy="0"/>
        </a:xfrm>
      </p:grpSpPr>
      <p:sp>
        <p:nvSpPr>
          <p:cNvPr id="379" name="Google Shape;379;p3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80" name="Google Shape;380;p3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1"/>
        <p:cNvGrpSpPr/>
        <p:nvPr/>
      </p:nvGrpSpPr>
      <p:grpSpPr>
        <a:xfrm>
          <a:off x="0" y="0"/>
          <a:ext cx="0" cy="0"/>
          <a:chOff x="0" y="0"/>
          <a:chExt cx="0" cy="0"/>
        </a:xfrm>
      </p:grpSpPr>
      <p:sp>
        <p:nvSpPr>
          <p:cNvPr id="392" name="Google Shape;392;p3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93" name="Google Shape;393;p3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1"/>
        <p:cNvGrpSpPr/>
        <p:nvPr/>
      </p:nvGrpSpPr>
      <p:grpSpPr>
        <a:xfrm>
          <a:off x="0" y="0"/>
          <a:ext cx="0" cy="0"/>
          <a:chOff x="0" y="0"/>
          <a:chExt cx="0" cy="0"/>
        </a:xfrm>
      </p:grpSpPr>
      <p:sp>
        <p:nvSpPr>
          <p:cNvPr id="402" name="Google Shape;402;p3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03" name="Google Shape;403;p3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0"/>
        <p:cNvGrpSpPr/>
        <p:nvPr/>
      </p:nvGrpSpPr>
      <p:grpSpPr>
        <a:xfrm>
          <a:off x="0" y="0"/>
          <a:ext cx="0" cy="0"/>
          <a:chOff x="0" y="0"/>
          <a:chExt cx="0" cy="0"/>
        </a:xfrm>
      </p:grpSpPr>
      <p:sp>
        <p:nvSpPr>
          <p:cNvPr id="411" name="Google Shape;411;p3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12" name="Google Shape;412;p3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8"/>
        <p:cNvGrpSpPr/>
        <p:nvPr/>
      </p:nvGrpSpPr>
      <p:grpSpPr>
        <a:xfrm>
          <a:off x="0" y="0"/>
          <a:ext cx="0" cy="0"/>
          <a:chOff x="0" y="0"/>
          <a:chExt cx="0" cy="0"/>
        </a:xfrm>
      </p:grpSpPr>
      <p:sp>
        <p:nvSpPr>
          <p:cNvPr id="419" name="Google Shape;419;p3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20" name="Google Shape;420;p3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6"/>
        <p:cNvGrpSpPr/>
        <p:nvPr/>
      </p:nvGrpSpPr>
      <p:grpSpPr>
        <a:xfrm>
          <a:off x="0" y="0"/>
          <a:ext cx="0" cy="0"/>
          <a:chOff x="0" y="0"/>
          <a:chExt cx="0" cy="0"/>
        </a:xfrm>
      </p:grpSpPr>
      <p:sp>
        <p:nvSpPr>
          <p:cNvPr id="427" name="Google Shape;427;p3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28" name="Google Shape;428;p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5"/>
        <p:cNvGrpSpPr/>
        <p:nvPr/>
      </p:nvGrpSpPr>
      <p:grpSpPr>
        <a:xfrm>
          <a:off x="0" y="0"/>
          <a:ext cx="0" cy="0"/>
          <a:chOff x="0" y="0"/>
          <a:chExt cx="0" cy="0"/>
        </a:xfrm>
      </p:grpSpPr>
      <p:sp>
        <p:nvSpPr>
          <p:cNvPr id="436" name="Google Shape;436;p3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37" name="Google Shape;437;p3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5"/>
        <p:cNvGrpSpPr/>
        <p:nvPr/>
      </p:nvGrpSpPr>
      <p:grpSpPr>
        <a:xfrm>
          <a:off x="0" y="0"/>
          <a:ext cx="0" cy="0"/>
          <a:chOff x="0" y="0"/>
          <a:chExt cx="0" cy="0"/>
        </a:xfrm>
      </p:grpSpPr>
      <p:sp>
        <p:nvSpPr>
          <p:cNvPr id="446" name="Google Shape;446;p3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47" name="Google Shape;447;p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0"/>
        <p:cNvGrpSpPr/>
        <p:nvPr/>
      </p:nvGrpSpPr>
      <p:grpSpPr>
        <a:xfrm>
          <a:off x="0" y="0"/>
          <a:ext cx="0" cy="0"/>
          <a:chOff x="0" y="0"/>
          <a:chExt cx="0" cy="0"/>
        </a:xfrm>
      </p:grpSpPr>
      <p:sp>
        <p:nvSpPr>
          <p:cNvPr id="451" name="Google Shape;451;p4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52" name="Google Shape;452;p4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0"/>
        <p:cNvGrpSpPr/>
        <p:nvPr/>
      </p:nvGrpSpPr>
      <p:grpSpPr>
        <a:xfrm>
          <a:off x="0" y="0"/>
          <a:ext cx="0" cy="0"/>
          <a:chOff x="0" y="0"/>
          <a:chExt cx="0" cy="0"/>
        </a:xfrm>
      </p:grpSpPr>
      <p:sp>
        <p:nvSpPr>
          <p:cNvPr id="461" name="Google Shape;461;p4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62" name="Google Shape;462;p4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9"/>
        <p:cNvGrpSpPr/>
        <p:nvPr/>
      </p:nvGrpSpPr>
      <p:grpSpPr>
        <a:xfrm>
          <a:off x="0" y="0"/>
          <a:ext cx="0" cy="0"/>
          <a:chOff x="0" y="0"/>
          <a:chExt cx="0" cy="0"/>
        </a:xfrm>
      </p:grpSpPr>
      <p:sp>
        <p:nvSpPr>
          <p:cNvPr id="470" name="Google Shape;470;p4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71" name="Google Shape;471;p4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8"/>
        <p:cNvGrpSpPr/>
        <p:nvPr/>
      </p:nvGrpSpPr>
      <p:grpSpPr>
        <a:xfrm>
          <a:off x="0" y="0"/>
          <a:ext cx="0" cy="0"/>
          <a:chOff x="0" y="0"/>
          <a:chExt cx="0" cy="0"/>
        </a:xfrm>
      </p:grpSpPr>
      <p:sp>
        <p:nvSpPr>
          <p:cNvPr id="479" name="Google Shape;479;p4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80" name="Google Shape;480;p4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7"/>
        <p:cNvGrpSpPr/>
        <p:nvPr/>
      </p:nvGrpSpPr>
      <p:grpSpPr>
        <a:xfrm>
          <a:off x="0" y="0"/>
          <a:ext cx="0" cy="0"/>
          <a:chOff x="0" y="0"/>
          <a:chExt cx="0" cy="0"/>
        </a:xfrm>
      </p:grpSpPr>
      <p:sp>
        <p:nvSpPr>
          <p:cNvPr id="488" name="Google Shape;488;p4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89" name="Google Shape;489;p4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6"/>
        <p:cNvGrpSpPr/>
        <p:nvPr/>
      </p:nvGrpSpPr>
      <p:grpSpPr>
        <a:xfrm>
          <a:off x="0" y="0"/>
          <a:ext cx="0" cy="0"/>
          <a:chOff x="0" y="0"/>
          <a:chExt cx="0" cy="0"/>
        </a:xfrm>
      </p:grpSpPr>
      <p:sp>
        <p:nvSpPr>
          <p:cNvPr id="497" name="Google Shape;497;p4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98" name="Google Shape;498;p4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1"/>
        <p:cNvGrpSpPr/>
        <p:nvPr/>
      </p:nvGrpSpPr>
      <p:grpSpPr>
        <a:xfrm>
          <a:off x="0" y="0"/>
          <a:ext cx="0" cy="0"/>
          <a:chOff x="0" y="0"/>
          <a:chExt cx="0" cy="0"/>
        </a:xfrm>
      </p:grpSpPr>
      <p:sp>
        <p:nvSpPr>
          <p:cNvPr id="502" name="Google Shape;502;p4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503" name="Google Shape;503;p4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2"/>
        <p:cNvGrpSpPr/>
        <p:nvPr/>
      </p:nvGrpSpPr>
      <p:grpSpPr>
        <a:xfrm>
          <a:off x="0" y="0"/>
          <a:ext cx="0" cy="0"/>
          <a:chOff x="0" y="0"/>
          <a:chExt cx="0" cy="0"/>
        </a:xfrm>
      </p:grpSpPr>
      <p:sp>
        <p:nvSpPr>
          <p:cNvPr id="513" name="Google Shape;513;p4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514" name="Google Shape;514;p4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9"/>
        <p:cNvGrpSpPr/>
        <p:nvPr/>
      </p:nvGrpSpPr>
      <p:grpSpPr>
        <a:xfrm>
          <a:off x="0" y="0"/>
          <a:ext cx="0" cy="0"/>
          <a:chOff x="0" y="0"/>
          <a:chExt cx="0" cy="0"/>
        </a:xfrm>
      </p:grpSpPr>
      <p:sp>
        <p:nvSpPr>
          <p:cNvPr id="520" name="Google Shape;520;p4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521" name="Google Shape;521;p4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9"/>
        <p:cNvGrpSpPr/>
        <p:nvPr/>
      </p:nvGrpSpPr>
      <p:grpSpPr>
        <a:xfrm>
          <a:off x="0" y="0"/>
          <a:ext cx="0" cy="0"/>
          <a:chOff x="0" y="0"/>
          <a:chExt cx="0" cy="0"/>
        </a:xfrm>
      </p:grpSpPr>
      <p:sp>
        <p:nvSpPr>
          <p:cNvPr id="530" name="Google Shape;530;p4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531" name="Google Shape;531;p4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8"/>
        <p:cNvGrpSpPr/>
        <p:nvPr/>
      </p:nvGrpSpPr>
      <p:grpSpPr>
        <a:xfrm>
          <a:off x="0" y="0"/>
          <a:ext cx="0" cy="0"/>
          <a:chOff x="0" y="0"/>
          <a:chExt cx="0" cy="0"/>
        </a:xfrm>
      </p:grpSpPr>
      <p:sp>
        <p:nvSpPr>
          <p:cNvPr id="539" name="Google Shape;539;p5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540" name="Google Shape;540;p5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7"/>
        <p:cNvGrpSpPr/>
        <p:nvPr/>
      </p:nvGrpSpPr>
      <p:grpSpPr>
        <a:xfrm>
          <a:off x="0" y="0"/>
          <a:ext cx="0" cy="0"/>
          <a:chOff x="0" y="0"/>
          <a:chExt cx="0" cy="0"/>
        </a:xfrm>
      </p:grpSpPr>
      <p:sp>
        <p:nvSpPr>
          <p:cNvPr id="548" name="Google Shape;548;p5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549" name="Google Shape;549;p5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6"/>
        <p:cNvGrpSpPr/>
        <p:nvPr/>
      </p:nvGrpSpPr>
      <p:grpSpPr>
        <a:xfrm>
          <a:off x="0" y="0"/>
          <a:ext cx="0" cy="0"/>
          <a:chOff x="0" y="0"/>
          <a:chExt cx="0" cy="0"/>
        </a:xfrm>
      </p:grpSpPr>
      <p:sp>
        <p:nvSpPr>
          <p:cNvPr id="557" name="Google Shape;557;p5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558" name="Google Shape;558;p5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4"/>
        <p:cNvGrpSpPr/>
        <p:nvPr/>
      </p:nvGrpSpPr>
      <p:grpSpPr>
        <a:xfrm>
          <a:off x="0" y="0"/>
          <a:ext cx="0" cy="0"/>
          <a:chOff x="0" y="0"/>
          <a:chExt cx="0" cy="0"/>
        </a:xfrm>
      </p:grpSpPr>
      <p:sp>
        <p:nvSpPr>
          <p:cNvPr id="565" name="Google Shape;565;p5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566" name="Google Shape;566;p5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0"/>
        <p:cNvGrpSpPr/>
        <p:nvPr/>
      </p:nvGrpSpPr>
      <p:grpSpPr>
        <a:xfrm>
          <a:off x="0" y="0"/>
          <a:ext cx="0" cy="0"/>
          <a:chOff x="0" y="0"/>
          <a:chExt cx="0" cy="0"/>
        </a:xfrm>
      </p:grpSpPr>
      <p:sp>
        <p:nvSpPr>
          <p:cNvPr id="571" name="Google Shape;571;p5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572" name="Google Shape;572;p5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iapositiva de título" type="title">
  <p:cSld name="TITLE">
    <p:spTree>
      <p:nvGrpSpPr>
        <p:cNvPr id="1" name="Shape 15"/>
        <p:cNvGrpSpPr/>
        <p:nvPr/>
      </p:nvGrpSpPr>
      <p:grpSpPr>
        <a:xfrm>
          <a:off x="0" y="0"/>
          <a:ext cx="0" cy="0"/>
          <a:chOff x="0" y="0"/>
          <a:chExt cx="0" cy="0"/>
        </a:xfrm>
      </p:grpSpPr>
      <p:sp>
        <p:nvSpPr>
          <p:cNvPr id="16" name="Google Shape;16;p56"/>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SzPts val="1400"/>
              <a:buNone/>
              <a:defRPr sz="60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17" name="Google Shape;17;p56"/>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8" name="Google Shape;18;p5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5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5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b="0" i="0" u="none" strike="noStrike" cap="none">
                <a:solidFill>
                  <a:srgbClr val="898989"/>
                </a:solidFill>
                <a:latin typeface="Calibri"/>
                <a:ea typeface="Calibri"/>
                <a:cs typeface="Calibri"/>
                <a:sym typeface="Calibri"/>
              </a:defRPr>
            </a:lvl1pPr>
            <a:lvl2pPr marL="0" lvl="1" indent="0" algn="r">
              <a:spcBef>
                <a:spcPts val="0"/>
              </a:spcBef>
              <a:spcAft>
                <a:spcPts val="0"/>
              </a:spcAft>
              <a:buNone/>
              <a:defRPr sz="1200" b="0" i="0" u="none" strike="noStrike" cap="none">
                <a:solidFill>
                  <a:srgbClr val="898989"/>
                </a:solidFill>
                <a:latin typeface="Calibri"/>
                <a:ea typeface="Calibri"/>
                <a:cs typeface="Calibri"/>
                <a:sym typeface="Calibri"/>
              </a:defRPr>
            </a:lvl2pPr>
            <a:lvl3pPr marL="0" lvl="2" indent="0" algn="r">
              <a:spcBef>
                <a:spcPts val="0"/>
              </a:spcBef>
              <a:spcAft>
                <a:spcPts val="0"/>
              </a:spcAft>
              <a:buNone/>
              <a:defRPr sz="1200" b="0" i="0" u="none" strike="noStrike" cap="none">
                <a:solidFill>
                  <a:srgbClr val="898989"/>
                </a:solidFill>
                <a:latin typeface="Calibri"/>
                <a:ea typeface="Calibri"/>
                <a:cs typeface="Calibri"/>
                <a:sym typeface="Calibri"/>
              </a:defRPr>
            </a:lvl3pPr>
            <a:lvl4pPr marL="0" lvl="3" indent="0" algn="r">
              <a:spcBef>
                <a:spcPts val="0"/>
              </a:spcBef>
              <a:spcAft>
                <a:spcPts val="0"/>
              </a:spcAft>
              <a:buNone/>
              <a:defRPr sz="1200" b="0" i="0" u="none" strike="noStrike" cap="none">
                <a:solidFill>
                  <a:srgbClr val="898989"/>
                </a:solidFill>
                <a:latin typeface="Calibri"/>
                <a:ea typeface="Calibri"/>
                <a:cs typeface="Calibri"/>
                <a:sym typeface="Calibri"/>
              </a:defRPr>
            </a:lvl4pPr>
            <a:lvl5pPr marL="0" lvl="4" indent="0" algn="r">
              <a:spcBef>
                <a:spcPts val="0"/>
              </a:spcBef>
              <a:spcAft>
                <a:spcPts val="0"/>
              </a:spcAft>
              <a:buNone/>
              <a:defRPr sz="1200" b="0" i="0" u="none" strike="noStrike" cap="none">
                <a:solidFill>
                  <a:srgbClr val="898989"/>
                </a:solidFill>
                <a:latin typeface="Calibri"/>
                <a:ea typeface="Calibri"/>
                <a:cs typeface="Calibri"/>
                <a:sym typeface="Calibri"/>
              </a:defRPr>
            </a:lvl5pPr>
            <a:lvl6pPr marL="0" lvl="5" indent="0" algn="r">
              <a:spcBef>
                <a:spcPts val="0"/>
              </a:spcBef>
              <a:spcAft>
                <a:spcPts val="0"/>
              </a:spcAft>
              <a:buNone/>
              <a:defRPr sz="1200" b="0" i="0" u="none" strike="noStrike" cap="none">
                <a:solidFill>
                  <a:srgbClr val="898989"/>
                </a:solidFill>
                <a:latin typeface="Calibri"/>
                <a:ea typeface="Calibri"/>
                <a:cs typeface="Calibri"/>
                <a:sym typeface="Calibri"/>
              </a:defRPr>
            </a:lvl6pPr>
            <a:lvl7pPr marL="0" lvl="6" indent="0" algn="r">
              <a:spcBef>
                <a:spcPts val="0"/>
              </a:spcBef>
              <a:spcAft>
                <a:spcPts val="0"/>
              </a:spcAft>
              <a:buNone/>
              <a:defRPr sz="1200" b="0" i="0" u="none" strike="noStrike" cap="none">
                <a:solidFill>
                  <a:srgbClr val="898989"/>
                </a:solidFill>
                <a:latin typeface="Calibri"/>
                <a:ea typeface="Calibri"/>
                <a:cs typeface="Calibri"/>
                <a:sym typeface="Calibri"/>
              </a:defRPr>
            </a:lvl7pPr>
            <a:lvl8pPr marL="0" lvl="7" indent="0" algn="r">
              <a:spcBef>
                <a:spcPts val="0"/>
              </a:spcBef>
              <a:spcAft>
                <a:spcPts val="0"/>
              </a:spcAft>
              <a:buNone/>
              <a:defRPr sz="1200" b="0" i="0" u="none" strike="noStrike" cap="none">
                <a:solidFill>
                  <a:srgbClr val="898989"/>
                </a:solidFill>
                <a:latin typeface="Calibri"/>
                <a:ea typeface="Calibri"/>
                <a:cs typeface="Calibri"/>
                <a:sym typeface="Calibri"/>
              </a:defRPr>
            </a:lvl8pPr>
            <a:lvl9pPr marL="0" lvl="8" indent="0" algn="r">
              <a:spcBef>
                <a:spcPts val="0"/>
              </a:spcBef>
              <a:spcAft>
                <a:spcPts val="0"/>
              </a:spcAft>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ítulo y objetos" type="obj">
  <p:cSld name="OBJECT">
    <p:spTree>
      <p:nvGrpSpPr>
        <p:cNvPr id="1" name="Shape 21"/>
        <p:cNvGrpSpPr/>
        <p:nvPr/>
      </p:nvGrpSpPr>
      <p:grpSpPr>
        <a:xfrm>
          <a:off x="0" y="0"/>
          <a:ext cx="0" cy="0"/>
          <a:chOff x="0" y="0"/>
          <a:chExt cx="0" cy="0"/>
        </a:xfrm>
      </p:grpSpPr>
      <p:sp>
        <p:nvSpPr>
          <p:cNvPr id="22" name="Google Shape;22;p5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23" name="Google Shape;23;p57"/>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4" name="Google Shape;24;p5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5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5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a:solidFill>
                  <a:srgbClr val="898989"/>
                </a:solidFill>
                <a:latin typeface="Calibri"/>
                <a:ea typeface="Calibri"/>
                <a:cs typeface="Calibri"/>
                <a:sym typeface="Calibri"/>
              </a:defRPr>
            </a:lvl1pPr>
            <a:lvl2pPr marL="0" lvl="1" indent="0" algn="r">
              <a:spcBef>
                <a:spcPts val="0"/>
              </a:spcBef>
              <a:spcAft>
                <a:spcPts val="0"/>
              </a:spcAft>
              <a:buNone/>
              <a:defRPr sz="1200">
                <a:solidFill>
                  <a:srgbClr val="898989"/>
                </a:solidFill>
                <a:latin typeface="Calibri"/>
                <a:ea typeface="Calibri"/>
                <a:cs typeface="Calibri"/>
                <a:sym typeface="Calibri"/>
              </a:defRPr>
            </a:lvl2pPr>
            <a:lvl3pPr marL="0" lvl="2" indent="0" algn="r">
              <a:spcBef>
                <a:spcPts val="0"/>
              </a:spcBef>
              <a:spcAft>
                <a:spcPts val="0"/>
              </a:spcAft>
              <a:buNone/>
              <a:defRPr sz="1200">
                <a:solidFill>
                  <a:srgbClr val="898989"/>
                </a:solidFill>
                <a:latin typeface="Calibri"/>
                <a:ea typeface="Calibri"/>
                <a:cs typeface="Calibri"/>
                <a:sym typeface="Calibri"/>
              </a:defRPr>
            </a:lvl3pPr>
            <a:lvl4pPr marL="0" lvl="3" indent="0" algn="r">
              <a:spcBef>
                <a:spcPts val="0"/>
              </a:spcBef>
              <a:spcAft>
                <a:spcPts val="0"/>
              </a:spcAft>
              <a:buNone/>
              <a:defRPr sz="1200">
                <a:solidFill>
                  <a:srgbClr val="898989"/>
                </a:solidFill>
                <a:latin typeface="Calibri"/>
                <a:ea typeface="Calibri"/>
                <a:cs typeface="Calibri"/>
                <a:sym typeface="Calibri"/>
              </a:defRPr>
            </a:lvl4pPr>
            <a:lvl5pPr marL="0" lvl="4" indent="0" algn="r">
              <a:spcBef>
                <a:spcPts val="0"/>
              </a:spcBef>
              <a:spcAft>
                <a:spcPts val="0"/>
              </a:spcAft>
              <a:buNone/>
              <a:defRPr sz="1200">
                <a:solidFill>
                  <a:srgbClr val="898989"/>
                </a:solidFill>
                <a:latin typeface="Calibri"/>
                <a:ea typeface="Calibri"/>
                <a:cs typeface="Calibri"/>
                <a:sym typeface="Calibri"/>
              </a:defRPr>
            </a:lvl5pPr>
            <a:lvl6pPr marL="0" lvl="5" indent="0" algn="r">
              <a:spcBef>
                <a:spcPts val="0"/>
              </a:spcBef>
              <a:spcAft>
                <a:spcPts val="0"/>
              </a:spcAft>
              <a:buNone/>
              <a:defRPr sz="1200">
                <a:solidFill>
                  <a:srgbClr val="898989"/>
                </a:solidFill>
                <a:latin typeface="Calibri"/>
                <a:ea typeface="Calibri"/>
                <a:cs typeface="Calibri"/>
                <a:sym typeface="Calibri"/>
              </a:defRPr>
            </a:lvl6pPr>
            <a:lvl7pPr marL="0" lvl="6" indent="0" algn="r">
              <a:spcBef>
                <a:spcPts val="0"/>
              </a:spcBef>
              <a:spcAft>
                <a:spcPts val="0"/>
              </a:spcAft>
              <a:buNone/>
              <a:defRPr sz="1200">
                <a:solidFill>
                  <a:srgbClr val="898989"/>
                </a:solidFill>
                <a:latin typeface="Calibri"/>
                <a:ea typeface="Calibri"/>
                <a:cs typeface="Calibri"/>
                <a:sym typeface="Calibri"/>
              </a:defRPr>
            </a:lvl7pPr>
            <a:lvl8pPr marL="0" lvl="7" indent="0" algn="r">
              <a:spcBef>
                <a:spcPts val="0"/>
              </a:spcBef>
              <a:spcAft>
                <a:spcPts val="0"/>
              </a:spcAft>
              <a:buNone/>
              <a:defRPr sz="1200">
                <a:solidFill>
                  <a:srgbClr val="898989"/>
                </a:solidFill>
                <a:latin typeface="Calibri"/>
                <a:ea typeface="Calibri"/>
                <a:cs typeface="Calibri"/>
                <a:sym typeface="Calibri"/>
              </a:defRPr>
            </a:lvl8pPr>
            <a:lvl9pPr marL="0" lvl="8" indent="0" algn="r">
              <a:spcBef>
                <a:spcPts val="0"/>
              </a:spcBef>
              <a:spcAft>
                <a:spcPts val="0"/>
              </a:spcAft>
              <a:buNone/>
              <a:defRPr sz="1200">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Encabezado de sección" type="secHead">
  <p:cSld name="SECTION_HEADER">
    <p:spTree>
      <p:nvGrpSpPr>
        <p:cNvPr id="1" name="Shape 27"/>
        <p:cNvGrpSpPr/>
        <p:nvPr/>
      </p:nvGrpSpPr>
      <p:grpSpPr>
        <a:xfrm>
          <a:off x="0" y="0"/>
          <a:ext cx="0" cy="0"/>
          <a:chOff x="0" y="0"/>
          <a:chExt cx="0" cy="0"/>
        </a:xfrm>
      </p:grpSpPr>
      <p:sp>
        <p:nvSpPr>
          <p:cNvPr id="28" name="Google Shape;28;p58"/>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SzPts val="1400"/>
              <a:buNone/>
              <a:defRPr sz="60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29" name="Google Shape;29;p58"/>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0" name="Google Shape;30;p5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5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5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a:solidFill>
                  <a:srgbClr val="898989"/>
                </a:solidFill>
                <a:latin typeface="Calibri"/>
                <a:ea typeface="Calibri"/>
                <a:cs typeface="Calibri"/>
                <a:sym typeface="Calibri"/>
              </a:defRPr>
            </a:lvl1pPr>
            <a:lvl2pPr marL="0" lvl="1" indent="0" algn="r">
              <a:spcBef>
                <a:spcPts val="0"/>
              </a:spcBef>
              <a:spcAft>
                <a:spcPts val="0"/>
              </a:spcAft>
              <a:buNone/>
              <a:defRPr sz="1200">
                <a:solidFill>
                  <a:srgbClr val="898989"/>
                </a:solidFill>
                <a:latin typeface="Calibri"/>
                <a:ea typeface="Calibri"/>
                <a:cs typeface="Calibri"/>
                <a:sym typeface="Calibri"/>
              </a:defRPr>
            </a:lvl2pPr>
            <a:lvl3pPr marL="0" lvl="2" indent="0" algn="r">
              <a:spcBef>
                <a:spcPts val="0"/>
              </a:spcBef>
              <a:spcAft>
                <a:spcPts val="0"/>
              </a:spcAft>
              <a:buNone/>
              <a:defRPr sz="1200">
                <a:solidFill>
                  <a:srgbClr val="898989"/>
                </a:solidFill>
                <a:latin typeface="Calibri"/>
                <a:ea typeface="Calibri"/>
                <a:cs typeface="Calibri"/>
                <a:sym typeface="Calibri"/>
              </a:defRPr>
            </a:lvl3pPr>
            <a:lvl4pPr marL="0" lvl="3" indent="0" algn="r">
              <a:spcBef>
                <a:spcPts val="0"/>
              </a:spcBef>
              <a:spcAft>
                <a:spcPts val="0"/>
              </a:spcAft>
              <a:buNone/>
              <a:defRPr sz="1200">
                <a:solidFill>
                  <a:srgbClr val="898989"/>
                </a:solidFill>
                <a:latin typeface="Calibri"/>
                <a:ea typeface="Calibri"/>
                <a:cs typeface="Calibri"/>
                <a:sym typeface="Calibri"/>
              </a:defRPr>
            </a:lvl4pPr>
            <a:lvl5pPr marL="0" lvl="4" indent="0" algn="r">
              <a:spcBef>
                <a:spcPts val="0"/>
              </a:spcBef>
              <a:spcAft>
                <a:spcPts val="0"/>
              </a:spcAft>
              <a:buNone/>
              <a:defRPr sz="1200">
                <a:solidFill>
                  <a:srgbClr val="898989"/>
                </a:solidFill>
                <a:latin typeface="Calibri"/>
                <a:ea typeface="Calibri"/>
                <a:cs typeface="Calibri"/>
                <a:sym typeface="Calibri"/>
              </a:defRPr>
            </a:lvl5pPr>
            <a:lvl6pPr marL="0" lvl="5" indent="0" algn="r">
              <a:spcBef>
                <a:spcPts val="0"/>
              </a:spcBef>
              <a:spcAft>
                <a:spcPts val="0"/>
              </a:spcAft>
              <a:buNone/>
              <a:defRPr sz="1200">
                <a:solidFill>
                  <a:srgbClr val="898989"/>
                </a:solidFill>
                <a:latin typeface="Calibri"/>
                <a:ea typeface="Calibri"/>
                <a:cs typeface="Calibri"/>
                <a:sym typeface="Calibri"/>
              </a:defRPr>
            </a:lvl6pPr>
            <a:lvl7pPr marL="0" lvl="6" indent="0" algn="r">
              <a:spcBef>
                <a:spcPts val="0"/>
              </a:spcBef>
              <a:spcAft>
                <a:spcPts val="0"/>
              </a:spcAft>
              <a:buNone/>
              <a:defRPr sz="1200">
                <a:solidFill>
                  <a:srgbClr val="898989"/>
                </a:solidFill>
                <a:latin typeface="Calibri"/>
                <a:ea typeface="Calibri"/>
                <a:cs typeface="Calibri"/>
                <a:sym typeface="Calibri"/>
              </a:defRPr>
            </a:lvl7pPr>
            <a:lvl8pPr marL="0" lvl="7" indent="0" algn="r">
              <a:spcBef>
                <a:spcPts val="0"/>
              </a:spcBef>
              <a:spcAft>
                <a:spcPts val="0"/>
              </a:spcAft>
              <a:buNone/>
              <a:defRPr sz="1200">
                <a:solidFill>
                  <a:srgbClr val="898989"/>
                </a:solidFill>
                <a:latin typeface="Calibri"/>
                <a:ea typeface="Calibri"/>
                <a:cs typeface="Calibri"/>
                <a:sym typeface="Calibri"/>
              </a:defRPr>
            </a:lvl8pPr>
            <a:lvl9pPr marL="0" lvl="8" indent="0" algn="r">
              <a:spcBef>
                <a:spcPts val="0"/>
              </a:spcBef>
              <a:spcAft>
                <a:spcPts val="0"/>
              </a:spcAft>
              <a:buNone/>
              <a:defRPr sz="1200">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Dos objetos" type="twoObj">
  <p:cSld name="TWO_OBJECTS">
    <p:spTree>
      <p:nvGrpSpPr>
        <p:cNvPr id="1" name="Shape 33"/>
        <p:cNvGrpSpPr/>
        <p:nvPr/>
      </p:nvGrpSpPr>
      <p:grpSpPr>
        <a:xfrm>
          <a:off x="0" y="0"/>
          <a:ext cx="0" cy="0"/>
          <a:chOff x="0" y="0"/>
          <a:chExt cx="0" cy="0"/>
        </a:xfrm>
      </p:grpSpPr>
      <p:sp>
        <p:nvSpPr>
          <p:cNvPr id="34" name="Google Shape;34;p5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35" name="Google Shape;35;p59"/>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59"/>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7" name="Google Shape;37;p5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5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5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a:solidFill>
                  <a:srgbClr val="898989"/>
                </a:solidFill>
                <a:latin typeface="Calibri"/>
                <a:ea typeface="Calibri"/>
                <a:cs typeface="Calibri"/>
                <a:sym typeface="Calibri"/>
              </a:defRPr>
            </a:lvl1pPr>
            <a:lvl2pPr marL="0" lvl="1" indent="0" algn="r">
              <a:spcBef>
                <a:spcPts val="0"/>
              </a:spcBef>
              <a:spcAft>
                <a:spcPts val="0"/>
              </a:spcAft>
              <a:buNone/>
              <a:defRPr sz="1200">
                <a:solidFill>
                  <a:srgbClr val="898989"/>
                </a:solidFill>
                <a:latin typeface="Calibri"/>
                <a:ea typeface="Calibri"/>
                <a:cs typeface="Calibri"/>
                <a:sym typeface="Calibri"/>
              </a:defRPr>
            </a:lvl2pPr>
            <a:lvl3pPr marL="0" lvl="2" indent="0" algn="r">
              <a:spcBef>
                <a:spcPts val="0"/>
              </a:spcBef>
              <a:spcAft>
                <a:spcPts val="0"/>
              </a:spcAft>
              <a:buNone/>
              <a:defRPr sz="1200">
                <a:solidFill>
                  <a:srgbClr val="898989"/>
                </a:solidFill>
                <a:latin typeface="Calibri"/>
                <a:ea typeface="Calibri"/>
                <a:cs typeface="Calibri"/>
                <a:sym typeface="Calibri"/>
              </a:defRPr>
            </a:lvl3pPr>
            <a:lvl4pPr marL="0" lvl="3" indent="0" algn="r">
              <a:spcBef>
                <a:spcPts val="0"/>
              </a:spcBef>
              <a:spcAft>
                <a:spcPts val="0"/>
              </a:spcAft>
              <a:buNone/>
              <a:defRPr sz="1200">
                <a:solidFill>
                  <a:srgbClr val="898989"/>
                </a:solidFill>
                <a:latin typeface="Calibri"/>
                <a:ea typeface="Calibri"/>
                <a:cs typeface="Calibri"/>
                <a:sym typeface="Calibri"/>
              </a:defRPr>
            </a:lvl4pPr>
            <a:lvl5pPr marL="0" lvl="4" indent="0" algn="r">
              <a:spcBef>
                <a:spcPts val="0"/>
              </a:spcBef>
              <a:spcAft>
                <a:spcPts val="0"/>
              </a:spcAft>
              <a:buNone/>
              <a:defRPr sz="1200">
                <a:solidFill>
                  <a:srgbClr val="898989"/>
                </a:solidFill>
                <a:latin typeface="Calibri"/>
                <a:ea typeface="Calibri"/>
                <a:cs typeface="Calibri"/>
                <a:sym typeface="Calibri"/>
              </a:defRPr>
            </a:lvl5pPr>
            <a:lvl6pPr marL="0" lvl="5" indent="0" algn="r">
              <a:spcBef>
                <a:spcPts val="0"/>
              </a:spcBef>
              <a:spcAft>
                <a:spcPts val="0"/>
              </a:spcAft>
              <a:buNone/>
              <a:defRPr sz="1200">
                <a:solidFill>
                  <a:srgbClr val="898989"/>
                </a:solidFill>
                <a:latin typeface="Calibri"/>
                <a:ea typeface="Calibri"/>
                <a:cs typeface="Calibri"/>
                <a:sym typeface="Calibri"/>
              </a:defRPr>
            </a:lvl6pPr>
            <a:lvl7pPr marL="0" lvl="6" indent="0" algn="r">
              <a:spcBef>
                <a:spcPts val="0"/>
              </a:spcBef>
              <a:spcAft>
                <a:spcPts val="0"/>
              </a:spcAft>
              <a:buNone/>
              <a:defRPr sz="1200">
                <a:solidFill>
                  <a:srgbClr val="898989"/>
                </a:solidFill>
                <a:latin typeface="Calibri"/>
                <a:ea typeface="Calibri"/>
                <a:cs typeface="Calibri"/>
                <a:sym typeface="Calibri"/>
              </a:defRPr>
            </a:lvl7pPr>
            <a:lvl8pPr marL="0" lvl="7" indent="0" algn="r">
              <a:spcBef>
                <a:spcPts val="0"/>
              </a:spcBef>
              <a:spcAft>
                <a:spcPts val="0"/>
              </a:spcAft>
              <a:buNone/>
              <a:defRPr sz="1200">
                <a:solidFill>
                  <a:srgbClr val="898989"/>
                </a:solidFill>
                <a:latin typeface="Calibri"/>
                <a:ea typeface="Calibri"/>
                <a:cs typeface="Calibri"/>
                <a:sym typeface="Calibri"/>
              </a:defRPr>
            </a:lvl8pPr>
            <a:lvl9pPr marL="0" lvl="8" indent="0" algn="r">
              <a:spcBef>
                <a:spcPts val="0"/>
              </a:spcBef>
              <a:spcAft>
                <a:spcPts val="0"/>
              </a:spcAft>
              <a:buNone/>
              <a:defRPr sz="1200">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ación" type="twoTxTwoObj">
  <p:cSld name="TWO_OBJECTS_WITH_TEXT">
    <p:spTree>
      <p:nvGrpSpPr>
        <p:cNvPr id="1" name="Shape 40"/>
        <p:cNvGrpSpPr/>
        <p:nvPr/>
      </p:nvGrpSpPr>
      <p:grpSpPr>
        <a:xfrm>
          <a:off x="0" y="0"/>
          <a:ext cx="0" cy="0"/>
          <a:chOff x="0" y="0"/>
          <a:chExt cx="0" cy="0"/>
        </a:xfrm>
      </p:grpSpPr>
      <p:sp>
        <p:nvSpPr>
          <p:cNvPr id="41" name="Google Shape;41;p60"/>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42" name="Google Shape;42;p60"/>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3" name="Google Shape;43;p60"/>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4" name="Google Shape;44;p60"/>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5" name="Google Shape;45;p60"/>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6" name="Google Shape;46;p6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6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6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a:solidFill>
                  <a:srgbClr val="898989"/>
                </a:solidFill>
                <a:latin typeface="Calibri"/>
                <a:ea typeface="Calibri"/>
                <a:cs typeface="Calibri"/>
                <a:sym typeface="Calibri"/>
              </a:defRPr>
            </a:lvl1pPr>
            <a:lvl2pPr marL="0" lvl="1" indent="0" algn="r">
              <a:spcBef>
                <a:spcPts val="0"/>
              </a:spcBef>
              <a:spcAft>
                <a:spcPts val="0"/>
              </a:spcAft>
              <a:buNone/>
              <a:defRPr sz="1200">
                <a:solidFill>
                  <a:srgbClr val="898989"/>
                </a:solidFill>
                <a:latin typeface="Calibri"/>
                <a:ea typeface="Calibri"/>
                <a:cs typeface="Calibri"/>
                <a:sym typeface="Calibri"/>
              </a:defRPr>
            </a:lvl2pPr>
            <a:lvl3pPr marL="0" lvl="2" indent="0" algn="r">
              <a:spcBef>
                <a:spcPts val="0"/>
              </a:spcBef>
              <a:spcAft>
                <a:spcPts val="0"/>
              </a:spcAft>
              <a:buNone/>
              <a:defRPr sz="1200">
                <a:solidFill>
                  <a:srgbClr val="898989"/>
                </a:solidFill>
                <a:latin typeface="Calibri"/>
                <a:ea typeface="Calibri"/>
                <a:cs typeface="Calibri"/>
                <a:sym typeface="Calibri"/>
              </a:defRPr>
            </a:lvl3pPr>
            <a:lvl4pPr marL="0" lvl="3" indent="0" algn="r">
              <a:spcBef>
                <a:spcPts val="0"/>
              </a:spcBef>
              <a:spcAft>
                <a:spcPts val="0"/>
              </a:spcAft>
              <a:buNone/>
              <a:defRPr sz="1200">
                <a:solidFill>
                  <a:srgbClr val="898989"/>
                </a:solidFill>
                <a:latin typeface="Calibri"/>
                <a:ea typeface="Calibri"/>
                <a:cs typeface="Calibri"/>
                <a:sym typeface="Calibri"/>
              </a:defRPr>
            </a:lvl4pPr>
            <a:lvl5pPr marL="0" lvl="4" indent="0" algn="r">
              <a:spcBef>
                <a:spcPts val="0"/>
              </a:spcBef>
              <a:spcAft>
                <a:spcPts val="0"/>
              </a:spcAft>
              <a:buNone/>
              <a:defRPr sz="1200">
                <a:solidFill>
                  <a:srgbClr val="898989"/>
                </a:solidFill>
                <a:latin typeface="Calibri"/>
                <a:ea typeface="Calibri"/>
                <a:cs typeface="Calibri"/>
                <a:sym typeface="Calibri"/>
              </a:defRPr>
            </a:lvl5pPr>
            <a:lvl6pPr marL="0" lvl="5" indent="0" algn="r">
              <a:spcBef>
                <a:spcPts val="0"/>
              </a:spcBef>
              <a:spcAft>
                <a:spcPts val="0"/>
              </a:spcAft>
              <a:buNone/>
              <a:defRPr sz="1200">
                <a:solidFill>
                  <a:srgbClr val="898989"/>
                </a:solidFill>
                <a:latin typeface="Calibri"/>
                <a:ea typeface="Calibri"/>
                <a:cs typeface="Calibri"/>
                <a:sym typeface="Calibri"/>
              </a:defRPr>
            </a:lvl6pPr>
            <a:lvl7pPr marL="0" lvl="6" indent="0" algn="r">
              <a:spcBef>
                <a:spcPts val="0"/>
              </a:spcBef>
              <a:spcAft>
                <a:spcPts val="0"/>
              </a:spcAft>
              <a:buNone/>
              <a:defRPr sz="1200">
                <a:solidFill>
                  <a:srgbClr val="898989"/>
                </a:solidFill>
                <a:latin typeface="Calibri"/>
                <a:ea typeface="Calibri"/>
                <a:cs typeface="Calibri"/>
                <a:sym typeface="Calibri"/>
              </a:defRPr>
            </a:lvl7pPr>
            <a:lvl8pPr marL="0" lvl="7" indent="0" algn="r">
              <a:spcBef>
                <a:spcPts val="0"/>
              </a:spcBef>
              <a:spcAft>
                <a:spcPts val="0"/>
              </a:spcAft>
              <a:buNone/>
              <a:defRPr sz="1200">
                <a:solidFill>
                  <a:srgbClr val="898989"/>
                </a:solidFill>
                <a:latin typeface="Calibri"/>
                <a:ea typeface="Calibri"/>
                <a:cs typeface="Calibri"/>
                <a:sym typeface="Calibri"/>
              </a:defRPr>
            </a:lvl8pPr>
            <a:lvl9pPr marL="0" lvl="8" indent="0" algn="r">
              <a:spcBef>
                <a:spcPts val="0"/>
              </a:spcBef>
              <a:spcAft>
                <a:spcPts val="0"/>
              </a:spcAft>
              <a:buNone/>
              <a:defRPr sz="1200">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olo el título" type="titleOnly">
  <p:cSld name="TITLE_ONLY">
    <p:spTree>
      <p:nvGrpSpPr>
        <p:cNvPr id="1" name="Shape 49"/>
        <p:cNvGrpSpPr/>
        <p:nvPr/>
      </p:nvGrpSpPr>
      <p:grpSpPr>
        <a:xfrm>
          <a:off x="0" y="0"/>
          <a:ext cx="0" cy="0"/>
          <a:chOff x="0" y="0"/>
          <a:chExt cx="0" cy="0"/>
        </a:xfrm>
      </p:grpSpPr>
      <p:sp>
        <p:nvSpPr>
          <p:cNvPr id="50" name="Google Shape;50;p6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51" name="Google Shape;51;p6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6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6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a:solidFill>
                  <a:srgbClr val="898989"/>
                </a:solidFill>
                <a:latin typeface="Calibri"/>
                <a:ea typeface="Calibri"/>
                <a:cs typeface="Calibri"/>
                <a:sym typeface="Calibri"/>
              </a:defRPr>
            </a:lvl1pPr>
            <a:lvl2pPr marL="0" lvl="1" indent="0" algn="r">
              <a:spcBef>
                <a:spcPts val="0"/>
              </a:spcBef>
              <a:spcAft>
                <a:spcPts val="0"/>
              </a:spcAft>
              <a:buNone/>
              <a:defRPr sz="1200">
                <a:solidFill>
                  <a:srgbClr val="898989"/>
                </a:solidFill>
                <a:latin typeface="Calibri"/>
                <a:ea typeface="Calibri"/>
                <a:cs typeface="Calibri"/>
                <a:sym typeface="Calibri"/>
              </a:defRPr>
            </a:lvl2pPr>
            <a:lvl3pPr marL="0" lvl="2" indent="0" algn="r">
              <a:spcBef>
                <a:spcPts val="0"/>
              </a:spcBef>
              <a:spcAft>
                <a:spcPts val="0"/>
              </a:spcAft>
              <a:buNone/>
              <a:defRPr sz="1200">
                <a:solidFill>
                  <a:srgbClr val="898989"/>
                </a:solidFill>
                <a:latin typeface="Calibri"/>
                <a:ea typeface="Calibri"/>
                <a:cs typeface="Calibri"/>
                <a:sym typeface="Calibri"/>
              </a:defRPr>
            </a:lvl3pPr>
            <a:lvl4pPr marL="0" lvl="3" indent="0" algn="r">
              <a:spcBef>
                <a:spcPts val="0"/>
              </a:spcBef>
              <a:spcAft>
                <a:spcPts val="0"/>
              </a:spcAft>
              <a:buNone/>
              <a:defRPr sz="1200">
                <a:solidFill>
                  <a:srgbClr val="898989"/>
                </a:solidFill>
                <a:latin typeface="Calibri"/>
                <a:ea typeface="Calibri"/>
                <a:cs typeface="Calibri"/>
                <a:sym typeface="Calibri"/>
              </a:defRPr>
            </a:lvl4pPr>
            <a:lvl5pPr marL="0" lvl="4" indent="0" algn="r">
              <a:spcBef>
                <a:spcPts val="0"/>
              </a:spcBef>
              <a:spcAft>
                <a:spcPts val="0"/>
              </a:spcAft>
              <a:buNone/>
              <a:defRPr sz="1200">
                <a:solidFill>
                  <a:srgbClr val="898989"/>
                </a:solidFill>
                <a:latin typeface="Calibri"/>
                <a:ea typeface="Calibri"/>
                <a:cs typeface="Calibri"/>
                <a:sym typeface="Calibri"/>
              </a:defRPr>
            </a:lvl5pPr>
            <a:lvl6pPr marL="0" lvl="5" indent="0" algn="r">
              <a:spcBef>
                <a:spcPts val="0"/>
              </a:spcBef>
              <a:spcAft>
                <a:spcPts val="0"/>
              </a:spcAft>
              <a:buNone/>
              <a:defRPr sz="1200">
                <a:solidFill>
                  <a:srgbClr val="898989"/>
                </a:solidFill>
                <a:latin typeface="Calibri"/>
                <a:ea typeface="Calibri"/>
                <a:cs typeface="Calibri"/>
                <a:sym typeface="Calibri"/>
              </a:defRPr>
            </a:lvl6pPr>
            <a:lvl7pPr marL="0" lvl="6" indent="0" algn="r">
              <a:spcBef>
                <a:spcPts val="0"/>
              </a:spcBef>
              <a:spcAft>
                <a:spcPts val="0"/>
              </a:spcAft>
              <a:buNone/>
              <a:defRPr sz="1200">
                <a:solidFill>
                  <a:srgbClr val="898989"/>
                </a:solidFill>
                <a:latin typeface="Calibri"/>
                <a:ea typeface="Calibri"/>
                <a:cs typeface="Calibri"/>
                <a:sym typeface="Calibri"/>
              </a:defRPr>
            </a:lvl7pPr>
            <a:lvl8pPr marL="0" lvl="7" indent="0" algn="r">
              <a:spcBef>
                <a:spcPts val="0"/>
              </a:spcBef>
              <a:spcAft>
                <a:spcPts val="0"/>
              </a:spcAft>
              <a:buNone/>
              <a:defRPr sz="1200">
                <a:solidFill>
                  <a:srgbClr val="898989"/>
                </a:solidFill>
                <a:latin typeface="Calibri"/>
                <a:ea typeface="Calibri"/>
                <a:cs typeface="Calibri"/>
                <a:sym typeface="Calibri"/>
              </a:defRPr>
            </a:lvl8pPr>
            <a:lvl9pPr marL="0" lvl="8" indent="0" algn="r">
              <a:spcBef>
                <a:spcPts val="0"/>
              </a:spcBef>
              <a:spcAft>
                <a:spcPts val="0"/>
              </a:spcAft>
              <a:buNone/>
              <a:defRPr sz="1200">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En blanco" type="blank">
  <p:cSld name="BLANK">
    <p:spTree>
      <p:nvGrpSpPr>
        <p:cNvPr id="1" name="Shape 54"/>
        <p:cNvGrpSpPr/>
        <p:nvPr/>
      </p:nvGrpSpPr>
      <p:grpSpPr>
        <a:xfrm>
          <a:off x="0" y="0"/>
          <a:ext cx="0" cy="0"/>
          <a:chOff x="0" y="0"/>
          <a:chExt cx="0" cy="0"/>
        </a:xfrm>
      </p:grpSpPr>
      <p:sp>
        <p:nvSpPr>
          <p:cNvPr id="55" name="Google Shape;55;p6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6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6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a:solidFill>
                  <a:srgbClr val="898989"/>
                </a:solidFill>
                <a:latin typeface="Calibri"/>
                <a:ea typeface="Calibri"/>
                <a:cs typeface="Calibri"/>
                <a:sym typeface="Calibri"/>
              </a:defRPr>
            </a:lvl1pPr>
            <a:lvl2pPr marL="0" lvl="1" indent="0" algn="r">
              <a:spcBef>
                <a:spcPts val="0"/>
              </a:spcBef>
              <a:spcAft>
                <a:spcPts val="0"/>
              </a:spcAft>
              <a:buNone/>
              <a:defRPr sz="1200">
                <a:solidFill>
                  <a:srgbClr val="898989"/>
                </a:solidFill>
                <a:latin typeface="Calibri"/>
                <a:ea typeface="Calibri"/>
                <a:cs typeface="Calibri"/>
                <a:sym typeface="Calibri"/>
              </a:defRPr>
            </a:lvl2pPr>
            <a:lvl3pPr marL="0" lvl="2" indent="0" algn="r">
              <a:spcBef>
                <a:spcPts val="0"/>
              </a:spcBef>
              <a:spcAft>
                <a:spcPts val="0"/>
              </a:spcAft>
              <a:buNone/>
              <a:defRPr sz="1200">
                <a:solidFill>
                  <a:srgbClr val="898989"/>
                </a:solidFill>
                <a:latin typeface="Calibri"/>
                <a:ea typeface="Calibri"/>
                <a:cs typeface="Calibri"/>
                <a:sym typeface="Calibri"/>
              </a:defRPr>
            </a:lvl3pPr>
            <a:lvl4pPr marL="0" lvl="3" indent="0" algn="r">
              <a:spcBef>
                <a:spcPts val="0"/>
              </a:spcBef>
              <a:spcAft>
                <a:spcPts val="0"/>
              </a:spcAft>
              <a:buNone/>
              <a:defRPr sz="1200">
                <a:solidFill>
                  <a:srgbClr val="898989"/>
                </a:solidFill>
                <a:latin typeface="Calibri"/>
                <a:ea typeface="Calibri"/>
                <a:cs typeface="Calibri"/>
                <a:sym typeface="Calibri"/>
              </a:defRPr>
            </a:lvl4pPr>
            <a:lvl5pPr marL="0" lvl="4" indent="0" algn="r">
              <a:spcBef>
                <a:spcPts val="0"/>
              </a:spcBef>
              <a:spcAft>
                <a:spcPts val="0"/>
              </a:spcAft>
              <a:buNone/>
              <a:defRPr sz="1200">
                <a:solidFill>
                  <a:srgbClr val="898989"/>
                </a:solidFill>
                <a:latin typeface="Calibri"/>
                <a:ea typeface="Calibri"/>
                <a:cs typeface="Calibri"/>
                <a:sym typeface="Calibri"/>
              </a:defRPr>
            </a:lvl5pPr>
            <a:lvl6pPr marL="0" lvl="5" indent="0" algn="r">
              <a:spcBef>
                <a:spcPts val="0"/>
              </a:spcBef>
              <a:spcAft>
                <a:spcPts val="0"/>
              </a:spcAft>
              <a:buNone/>
              <a:defRPr sz="1200">
                <a:solidFill>
                  <a:srgbClr val="898989"/>
                </a:solidFill>
                <a:latin typeface="Calibri"/>
                <a:ea typeface="Calibri"/>
                <a:cs typeface="Calibri"/>
                <a:sym typeface="Calibri"/>
              </a:defRPr>
            </a:lvl6pPr>
            <a:lvl7pPr marL="0" lvl="6" indent="0" algn="r">
              <a:spcBef>
                <a:spcPts val="0"/>
              </a:spcBef>
              <a:spcAft>
                <a:spcPts val="0"/>
              </a:spcAft>
              <a:buNone/>
              <a:defRPr sz="1200">
                <a:solidFill>
                  <a:srgbClr val="898989"/>
                </a:solidFill>
                <a:latin typeface="Calibri"/>
                <a:ea typeface="Calibri"/>
                <a:cs typeface="Calibri"/>
                <a:sym typeface="Calibri"/>
              </a:defRPr>
            </a:lvl7pPr>
            <a:lvl8pPr marL="0" lvl="7" indent="0" algn="r">
              <a:spcBef>
                <a:spcPts val="0"/>
              </a:spcBef>
              <a:spcAft>
                <a:spcPts val="0"/>
              </a:spcAft>
              <a:buNone/>
              <a:defRPr sz="1200">
                <a:solidFill>
                  <a:srgbClr val="898989"/>
                </a:solidFill>
                <a:latin typeface="Calibri"/>
                <a:ea typeface="Calibri"/>
                <a:cs typeface="Calibri"/>
                <a:sym typeface="Calibri"/>
              </a:defRPr>
            </a:lvl8pPr>
            <a:lvl9pPr marL="0" lvl="8" indent="0" algn="r">
              <a:spcBef>
                <a:spcPts val="0"/>
              </a:spcBef>
              <a:spcAft>
                <a:spcPts val="0"/>
              </a:spcAft>
              <a:buNone/>
              <a:defRPr sz="1200">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ido con título" type="objTx">
  <p:cSld name="OBJECT_WITH_CAPTION_TEXT">
    <p:spTree>
      <p:nvGrpSpPr>
        <p:cNvPr id="1" name="Shape 58"/>
        <p:cNvGrpSpPr/>
        <p:nvPr/>
      </p:nvGrpSpPr>
      <p:grpSpPr>
        <a:xfrm>
          <a:off x="0" y="0"/>
          <a:ext cx="0" cy="0"/>
          <a:chOff x="0" y="0"/>
          <a:chExt cx="0" cy="0"/>
        </a:xfrm>
      </p:grpSpPr>
      <p:sp>
        <p:nvSpPr>
          <p:cNvPr id="59" name="Google Shape;59;p63"/>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SzPts val="1400"/>
              <a:buNone/>
              <a:defRPr sz="32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60" name="Google Shape;60;p63"/>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1" name="Google Shape;61;p63"/>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2" name="Google Shape;62;p6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6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6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a:solidFill>
                  <a:srgbClr val="898989"/>
                </a:solidFill>
                <a:latin typeface="Calibri"/>
                <a:ea typeface="Calibri"/>
                <a:cs typeface="Calibri"/>
                <a:sym typeface="Calibri"/>
              </a:defRPr>
            </a:lvl1pPr>
            <a:lvl2pPr marL="0" lvl="1" indent="0" algn="r">
              <a:spcBef>
                <a:spcPts val="0"/>
              </a:spcBef>
              <a:spcAft>
                <a:spcPts val="0"/>
              </a:spcAft>
              <a:buNone/>
              <a:defRPr sz="1200">
                <a:solidFill>
                  <a:srgbClr val="898989"/>
                </a:solidFill>
                <a:latin typeface="Calibri"/>
                <a:ea typeface="Calibri"/>
                <a:cs typeface="Calibri"/>
                <a:sym typeface="Calibri"/>
              </a:defRPr>
            </a:lvl2pPr>
            <a:lvl3pPr marL="0" lvl="2" indent="0" algn="r">
              <a:spcBef>
                <a:spcPts val="0"/>
              </a:spcBef>
              <a:spcAft>
                <a:spcPts val="0"/>
              </a:spcAft>
              <a:buNone/>
              <a:defRPr sz="1200">
                <a:solidFill>
                  <a:srgbClr val="898989"/>
                </a:solidFill>
                <a:latin typeface="Calibri"/>
                <a:ea typeface="Calibri"/>
                <a:cs typeface="Calibri"/>
                <a:sym typeface="Calibri"/>
              </a:defRPr>
            </a:lvl3pPr>
            <a:lvl4pPr marL="0" lvl="3" indent="0" algn="r">
              <a:spcBef>
                <a:spcPts val="0"/>
              </a:spcBef>
              <a:spcAft>
                <a:spcPts val="0"/>
              </a:spcAft>
              <a:buNone/>
              <a:defRPr sz="1200">
                <a:solidFill>
                  <a:srgbClr val="898989"/>
                </a:solidFill>
                <a:latin typeface="Calibri"/>
                <a:ea typeface="Calibri"/>
                <a:cs typeface="Calibri"/>
                <a:sym typeface="Calibri"/>
              </a:defRPr>
            </a:lvl4pPr>
            <a:lvl5pPr marL="0" lvl="4" indent="0" algn="r">
              <a:spcBef>
                <a:spcPts val="0"/>
              </a:spcBef>
              <a:spcAft>
                <a:spcPts val="0"/>
              </a:spcAft>
              <a:buNone/>
              <a:defRPr sz="1200">
                <a:solidFill>
                  <a:srgbClr val="898989"/>
                </a:solidFill>
                <a:latin typeface="Calibri"/>
                <a:ea typeface="Calibri"/>
                <a:cs typeface="Calibri"/>
                <a:sym typeface="Calibri"/>
              </a:defRPr>
            </a:lvl5pPr>
            <a:lvl6pPr marL="0" lvl="5" indent="0" algn="r">
              <a:spcBef>
                <a:spcPts val="0"/>
              </a:spcBef>
              <a:spcAft>
                <a:spcPts val="0"/>
              </a:spcAft>
              <a:buNone/>
              <a:defRPr sz="1200">
                <a:solidFill>
                  <a:srgbClr val="898989"/>
                </a:solidFill>
                <a:latin typeface="Calibri"/>
                <a:ea typeface="Calibri"/>
                <a:cs typeface="Calibri"/>
                <a:sym typeface="Calibri"/>
              </a:defRPr>
            </a:lvl6pPr>
            <a:lvl7pPr marL="0" lvl="6" indent="0" algn="r">
              <a:spcBef>
                <a:spcPts val="0"/>
              </a:spcBef>
              <a:spcAft>
                <a:spcPts val="0"/>
              </a:spcAft>
              <a:buNone/>
              <a:defRPr sz="1200">
                <a:solidFill>
                  <a:srgbClr val="898989"/>
                </a:solidFill>
                <a:latin typeface="Calibri"/>
                <a:ea typeface="Calibri"/>
                <a:cs typeface="Calibri"/>
                <a:sym typeface="Calibri"/>
              </a:defRPr>
            </a:lvl7pPr>
            <a:lvl8pPr marL="0" lvl="7" indent="0" algn="r">
              <a:spcBef>
                <a:spcPts val="0"/>
              </a:spcBef>
              <a:spcAft>
                <a:spcPts val="0"/>
              </a:spcAft>
              <a:buNone/>
              <a:defRPr sz="1200">
                <a:solidFill>
                  <a:srgbClr val="898989"/>
                </a:solidFill>
                <a:latin typeface="Calibri"/>
                <a:ea typeface="Calibri"/>
                <a:cs typeface="Calibri"/>
                <a:sym typeface="Calibri"/>
              </a:defRPr>
            </a:lvl8pPr>
            <a:lvl9pPr marL="0" lvl="8" indent="0" algn="r">
              <a:spcBef>
                <a:spcPts val="0"/>
              </a:spcBef>
              <a:spcAft>
                <a:spcPts val="0"/>
              </a:spcAft>
              <a:buNone/>
              <a:defRPr sz="1200">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Imagen con título" type="picTx">
  <p:cSld name="PICTURE_WITH_CAPTION_TEXT">
    <p:spTree>
      <p:nvGrpSpPr>
        <p:cNvPr id="1" name="Shape 65"/>
        <p:cNvGrpSpPr/>
        <p:nvPr/>
      </p:nvGrpSpPr>
      <p:grpSpPr>
        <a:xfrm>
          <a:off x="0" y="0"/>
          <a:ext cx="0" cy="0"/>
          <a:chOff x="0" y="0"/>
          <a:chExt cx="0" cy="0"/>
        </a:xfrm>
      </p:grpSpPr>
      <p:sp>
        <p:nvSpPr>
          <p:cNvPr id="66" name="Google Shape;66;p64"/>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SzPts val="1400"/>
              <a:buNone/>
              <a:defRPr sz="32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67" name="Google Shape;67;p64"/>
          <p:cNvSpPr>
            <a:spLocks noGrp="1"/>
          </p:cNvSpPr>
          <p:nvPr>
            <p:ph type="pic" idx="2"/>
          </p:nvPr>
        </p:nvSpPr>
        <p:spPr>
          <a:xfrm>
            <a:off x="5183188" y="987425"/>
            <a:ext cx="6172200" cy="4873625"/>
          </a:xfrm>
          <a:prstGeom prst="rect">
            <a:avLst/>
          </a:prstGeom>
          <a:noFill/>
          <a:ln>
            <a:noFill/>
          </a:ln>
        </p:spPr>
      </p:sp>
      <p:sp>
        <p:nvSpPr>
          <p:cNvPr id="68" name="Google Shape;68;p64"/>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6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6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6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a:solidFill>
                  <a:srgbClr val="898989"/>
                </a:solidFill>
                <a:latin typeface="Calibri"/>
                <a:ea typeface="Calibri"/>
                <a:cs typeface="Calibri"/>
                <a:sym typeface="Calibri"/>
              </a:defRPr>
            </a:lvl1pPr>
            <a:lvl2pPr marL="0" lvl="1" indent="0" algn="r">
              <a:spcBef>
                <a:spcPts val="0"/>
              </a:spcBef>
              <a:spcAft>
                <a:spcPts val="0"/>
              </a:spcAft>
              <a:buNone/>
              <a:defRPr sz="1200">
                <a:solidFill>
                  <a:srgbClr val="898989"/>
                </a:solidFill>
                <a:latin typeface="Calibri"/>
                <a:ea typeface="Calibri"/>
                <a:cs typeface="Calibri"/>
                <a:sym typeface="Calibri"/>
              </a:defRPr>
            </a:lvl2pPr>
            <a:lvl3pPr marL="0" lvl="2" indent="0" algn="r">
              <a:spcBef>
                <a:spcPts val="0"/>
              </a:spcBef>
              <a:spcAft>
                <a:spcPts val="0"/>
              </a:spcAft>
              <a:buNone/>
              <a:defRPr sz="1200">
                <a:solidFill>
                  <a:srgbClr val="898989"/>
                </a:solidFill>
                <a:latin typeface="Calibri"/>
                <a:ea typeface="Calibri"/>
                <a:cs typeface="Calibri"/>
                <a:sym typeface="Calibri"/>
              </a:defRPr>
            </a:lvl3pPr>
            <a:lvl4pPr marL="0" lvl="3" indent="0" algn="r">
              <a:spcBef>
                <a:spcPts val="0"/>
              </a:spcBef>
              <a:spcAft>
                <a:spcPts val="0"/>
              </a:spcAft>
              <a:buNone/>
              <a:defRPr sz="1200">
                <a:solidFill>
                  <a:srgbClr val="898989"/>
                </a:solidFill>
                <a:latin typeface="Calibri"/>
                <a:ea typeface="Calibri"/>
                <a:cs typeface="Calibri"/>
                <a:sym typeface="Calibri"/>
              </a:defRPr>
            </a:lvl4pPr>
            <a:lvl5pPr marL="0" lvl="4" indent="0" algn="r">
              <a:spcBef>
                <a:spcPts val="0"/>
              </a:spcBef>
              <a:spcAft>
                <a:spcPts val="0"/>
              </a:spcAft>
              <a:buNone/>
              <a:defRPr sz="1200">
                <a:solidFill>
                  <a:srgbClr val="898989"/>
                </a:solidFill>
                <a:latin typeface="Calibri"/>
                <a:ea typeface="Calibri"/>
                <a:cs typeface="Calibri"/>
                <a:sym typeface="Calibri"/>
              </a:defRPr>
            </a:lvl5pPr>
            <a:lvl6pPr marL="0" lvl="5" indent="0" algn="r">
              <a:spcBef>
                <a:spcPts val="0"/>
              </a:spcBef>
              <a:spcAft>
                <a:spcPts val="0"/>
              </a:spcAft>
              <a:buNone/>
              <a:defRPr sz="1200">
                <a:solidFill>
                  <a:srgbClr val="898989"/>
                </a:solidFill>
                <a:latin typeface="Calibri"/>
                <a:ea typeface="Calibri"/>
                <a:cs typeface="Calibri"/>
                <a:sym typeface="Calibri"/>
              </a:defRPr>
            </a:lvl6pPr>
            <a:lvl7pPr marL="0" lvl="6" indent="0" algn="r">
              <a:spcBef>
                <a:spcPts val="0"/>
              </a:spcBef>
              <a:spcAft>
                <a:spcPts val="0"/>
              </a:spcAft>
              <a:buNone/>
              <a:defRPr sz="1200">
                <a:solidFill>
                  <a:srgbClr val="898989"/>
                </a:solidFill>
                <a:latin typeface="Calibri"/>
                <a:ea typeface="Calibri"/>
                <a:cs typeface="Calibri"/>
                <a:sym typeface="Calibri"/>
              </a:defRPr>
            </a:lvl7pPr>
            <a:lvl8pPr marL="0" lvl="7" indent="0" algn="r">
              <a:spcBef>
                <a:spcPts val="0"/>
              </a:spcBef>
              <a:spcAft>
                <a:spcPts val="0"/>
              </a:spcAft>
              <a:buNone/>
              <a:defRPr sz="1200">
                <a:solidFill>
                  <a:srgbClr val="898989"/>
                </a:solidFill>
                <a:latin typeface="Calibri"/>
                <a:ea typeface="Calibri"/>
                <a:cs typeface="Calibri"/>
                <a:sym typeface="Calibri"/>
              </a:defRPr>
            </a:lvl8pPr>
            <a:lvl9pPr marL="0" lvl="8" indent="0" algn="r">
              <a:spcBef>
                <a:spcPts val="0"/>
              </a:spcBef>
              <a:spcAft>
                <a:spcPts val="0"/>
              </a:spcAft>
              <a:buNone/>
              <a:defRPr sz="1200">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ítulo y texto vertical" type="vertTx">
  <p:cSld name="VERTICAL_TEXT">
    <p:spTree>
      <p:nvGrpSpPr>
        <p:cNvPr id="1" name="Shape 72"/>
        <p:cNvGrpSpPr/>
        <p:nvPr/>
      </p:nvGrpSpPr>
      <p:grpSpPr>
        <a:xfrm>
          <a:off x="0" y="0"/>
          <a:ext cx="0" cy="0"/>
          <a:chOff x="0" y="0"/>
          <a:chExt cx="0" cy="0"/>
        </a:xfrm>
      </p:grpSpPr>
      <p:sp>
        <p:nvSpPr>
          <p:cNvPr id="73" name="Google Shape;73;p6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74" name="Google Shape;74;p65"/>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6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6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6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a:solidFill>
                  <a:srgbClr val="898989"/>
                </a:solidFill>
                <a:latin typeface="Calibri"/>
                <a:ea typeface="Calibri"/>
                <a:cs typeface="Calibri"/>
                <a:sym typeface="Calibri"/>
              </a:defRPr>
            </a:lvl1pPr>
            <a:lvl2pPr marL="0" lvl="1" indent="0" algn="r">
              <a:spcBef>
                <a:spcPts val="0"/>
              </a:spcBef>
              <a:spcAft>
                <a:spcPts val="0"/>
              </a:spcAft>
              <a:buNone/>
              <a:defRPr sz="1200">
                <a:solidFill>
                  <a:srgbClr val="898989"/>
                </a:solidFill>
                <a:latin typeface="Calibri"/>
                <a:ea typeface="Calibri"/>
                <a:cs typeface="Calibri"/>
                <a:sym typeface="Calibri"/>
              </a:defRPr>
            </a:lvl2pPr>
            <a:lvl3pPr marL="0" lvl="2" indent="0" algn="r">
              <a:spcBef>
                <a:spcPts val="0"/>
              </a:spcBef>
              <a:spcAft>
                <a:spcPts val="0"/>
              </a:spcAft>
              <a:buNone/>
              <a:defRPr sz="1200">
                <a:solidFill>
                  <a:srgbClr val="898989"/>
                </a:solidFill>
                <a:latin typeface="Calibri"/>
                <a:ea typeface="Calibri"/>
                <a:cs typeface="Calibri"/>
                <a:sym typeface="Calibri"/>
              </a:defRPr>
            </a:lvl3pPr>
            <a:lvl4pPr marL="0" lvl="3" indent="0" algn="r">
              <a:spcBef>
                <a:spcPts val="0"/>
              </a:spcBef>
              <a:spcAft>
                <a:spcPts val="0"/>
              </a:spcAft>
              <a:buNone/>
              <a:defRPr sz="1200">
                <a:solidFill>
                  <a:srgbClr val="898989"/>
                </a:solidFill>
                <a:latin typeface="Calibri"/>
                <a:ea typeface="Calibri"/>
                <a:cs typeface="Calibri"/>
                <a:sym typeface="Calibri"/>
              </a:defRPr>
            </a:lvl4pPr>
            <a:lvl5pPr marL="0" lvl="4" indent="0" algn="r">
              <a:spcBef>
                <a:spcPts val="0"/>
              </a:spcBef>
              <a:spcAft>
                <a:spcPts val="0"/>
              </a:spcAft>
              <a:buNone/>
              <a:defRPr sz="1200">
                <a:solidFill>
                  <a:srgbClr val="898989"/>
                </a:solidFill>
                <a:latin typeface="Calibri"/>
                <a:ea typeface="Calibri"/>
                <a:cs typeface="Calibri"/>
                <a:sym typeface="Calibri"/>
              </a:defRPr>
            </a:lvl5pPr>
            <a:lvl6pPr marL="0" lvl="5" indent="0" algn="r">
              <a:spcBef>
                <a:spcPts val="0"/>
              </a:spcBef>
              <a:spcAft>
                <a:spcPts val="0"/>
              </a:spcAft>
              <a:buNone/>
              <a:defRPr sz="1200">
                <a:solidFill>
                  <a:srgbClr val="898989"/>
                </a:solidFill>
                <a:latin typeface="Calibri"/>
                <a:ea typeface="Calibri"/>
                <a:cs typeface="Calibri"/>
                <a:sym typeface="Calibri"/>
              </a:defRPr>
            </a:lvl6pPr>
            <a:lvl7pPr marL="0" lvl="6" indent="0" algn="r">
              <a:spcBef>
                <a:spcPts val="0"/>
              </a:spcBef>
              <a:spcAft>
                <a:spcPts val="0"/>
              </a:spcAft>
              <a:buNone/>
              <a:defRPr sz="1200">
                <a:solidFill>
                  <a:srgbClr val="898989"/>
                </a:solidFill>
                <a:latin typeface="Calibri"/>
                <a:ea typeface="Calibri"/>
                <a:cs typeface="Calibri"/>
                <a:sym typeface="Calibri"/>
              </a:defRPr>
            </a:lvl7pPr>
            <a:lvl8pPr marL="0" lvl="7" indent="0" algn="r">
              <a:spcBef>
                <a:spcPts val="0"/>
              </a:spcBef>
              <a:spcAft>
                <a:spcPts val="0"/>
              </a:spcAft>
              <a:buNone/>
              <a:defRPr sz="1200">
                <a:solidFill>
                  <a:srgbClr val="898989"/>
                </a:solidFill>
                <a:latin typeface="Calibri"/>
                <a:ea typeface="Calibri"/>
                <a:cs typeface="Calibri"/>
                <a:sym typeface="Calibri"/>
              </a:defRPr>
            </a:lvl8pPr>
            <a:lvl9pPr marL="0" lvl="8" indent="0" algn="r">
              <a:spcBef>
                <a:spcPts val="0"/>
              </a:spcBef>
              <a:spcAft>
                <a:spcPts val="0"/>
              </a:spcAft>
              <a:buNone/>
              <a:defRPr sz="1200">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ítulo vertical y texto" type="vertTitleAndTx">
  <p:cSld name="VERTICAL_TITLE_AND_VERTICAL_TEXT">
    <p:spTree>
      <p:nvGrpSpPr>
        <p:cNvPr id="1" name="Shape 78"/>
        <p:cNvGrpSpPr/>
        <p:nvPr/>
      </p:nvGrpSpPr>
      <p:grpSpPr>
        <a:xfrm>
          <a:off x="0" y="0"/>
          <a:ext cx="0" cy="0"/>
          <a:chOff x="0" y="0"/>
          <a:chExt cx="0" cy="0"/>
        </a:xfrm>
      </p:grpSpPr>
      <p:sp>
        <p:nvSpPr>
          <p:cNvPr id="79" name="Google Shape;79;p66"/>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80" name="Google Shape;80;p66"/>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6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6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6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a:solidFill>
                  <a:srgbClr val="898989"/>
                </a:solidFill>
                <a:latin typeface="Calibri"/>
                <a:ea typeface="Calibri"/>
                <a:cs typeface="Calibri"/>
                <a:sym typeface="Calibri"/>
              </a:defRPr>
            </a:lvl1pPr>
            <a:lvl2pPr marL="0" lvl="1" indent="0" algn="r">
              <a:spcBef>
                <a:spcPts val="0"/>
              </a:spcBef>
              <a:spcAft>
                <a:spcPts val="0"/>
              </a:spcAft>
              <a:buNone/>
              <a:defRPr sz="1200">
                <a:solidFill>
                  <a:srgbClr val="898989"/>
                </a:solidFill>
                <a:latin typeface="Calibri"/>
                <a:ea typeface="Calibri"/>
                <a:cs typeface="Calibri"/>
                <a:sym typeface="Calibri"/>
              </a:defRPr>
            </a:lvl2pPr>
            <a:lvl3pPr marL="0" lvl="2" indent="0" algn="r">
              <a:spcBef>
                <a:spcPts val="0"/>
              </a:spcBef>
              <a:spcAft>
                <a:spcPts val="0"/>
              </a:spcAft>
              <a:buNone/>
              <a:defRPr sz="1200">
                <a:solidFill>
                  <a:srgbClr val="898989"/>
                </a:solidFill>
                <a:latin typeface="Calibri"/>
                <a:ea typeface="Calibri"/>
                <a:cs typeface="Calibri"/>
                <a:sym typeface="Calibri"/>
              </a:defRPr>
            </a:lvl3pPr>
            <a:lvl4pPr marL="0" lvl="3" indent="0" algn="r">
              <a:spcBef>
                <a:spcPts val="0"/>
              </a:spcBef>
              <a:spcAft>
                <a:spcPts val="0"/>
              </a:spcAft>
              <a:buNone/>
              <a:defRPr sz="1200">
                <a:solidFill>
                  <a:srgbClr val="898989"/>
                </a:solidFill>
                <a:latin typeface="Calibri"/>
                <a:ea typeface="Calibri"/>
                <a:cs typeface="Calibri"/>
                <a:sym typeface="Calibri"/>
              </a:defRPr>
            </a:lvl4pPr>
            <a:lvl5pPr marL="0" lvl="4" indent="0" algn="r">
              <a:spcBef>
                <a:spcPts val="0"/>
              </a:spcBef>
              <a:spcAft>
                <a:spcPts val="0"/>
              </a:spcAft>
              <a:buNone/>
              <a:defRPr sz="1200">
                <a:solidFill>
                  <a:srgbClr val="898989"/>
                </a:solidFill>
                <a:latin typeface="Calibri"/>
                <a:ea typeface="Calibri"/>
                <a:cs typeface="Calibri"/>
                <a:sym typeface="Calibri"/>
              </a:defRPr>
            </a:lvl5pPr>
            <a:lvl6pPr marL="0" lvl="5" indent="0" algn="r">
              <a:spcBef>
                <a:spcPts val="0"/>
              </a:spcBef>
              <a:spcAft>
                <a:spcPts val="0"/>
              </a:spcAft>
              <a:buNone/>
              <a:defRPr sz="1200">
                <a:solidFill>
                  <a:srgbClr val="898989"/>
                </a:solidFill>
                <a:latin typeface="Calibri"/>
                <a:ea typeface="Calibri"/>
                <a:cs typeface="Calibri"/>
                <a:sym typeface="Calibri"/>
              </a:defRPr>
            </a:lvl6pPr>
            <a:lvl7pPr marL="0" lvl="6" indent="0" algn="r">
              <a:spcBef>
                <a:spcPts val="0"/>
              </a:spcBef>
              <a:spcAft>
                <a:spcPts val="0"/>
              </a:spcAft>
              <a:buNone/>
              <a:defRPr sz="1200">
                <a:solidFill>
                  <a:srgbClr val="898989"/>
                </a:solidFill>
                <a:latin typeface="Calibri"/>
                <a:ea typeface="Calibri"/>
                <a:cs typeface="Calibri"/>
                <a:sym typeface="Calibri"/>
              </a:defRPr>
            </a:lvl7pPr>
            <a:lvl8pPr marL="0" lvl="7" indent="0" algn="r">
              <a:spcBef>
                <a:spcPts val="0"/>
              </a:spcBef>
              <a:spcAft>
                <a:spcPts val="0"/>
              </a:spcAft>
              <a:buNone/>
              <a:defRPr sz="1200">
                <a:solidFill>
                  <a:srgbClr val="898989"/>
                </a:solidFill>
                <a:latin typeface="Calibri"/>
                <a:ea typeface="Calibri"/>
                <a:cs typeface="Calibri"/>
                <a:sym typeface="Calibri"/>
              </a:defRPr>
            </a:lvl8pPr>
            <a:lvl9pPr marL="0" lvl="8" indent="0" algn="r">
              <a:spcBef>
                <a:spcPts val="0"/>
              </a:spcBef>
              <a:spcAft>
                <a:spcPts val="0"/>
              </a:spcAft>
              <a:buNone/>
              <a:defRPr sz="1200">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13">
            <a:alphaModFix/>
          </a:blip>
          <a:stretch>
            <a:fillRect/>
          </a:stretch>
        </a:blip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1pPr>
            <a:lvl2pPr marR="0" lvl="1"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2pPr>
            <a:lvl3pPr marR="0" lvl="2"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3pPr>
            <a:lvl4pPr marR="0" lvl="3"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4pPr>
            <a:lvl5pPr marR="0" lvl="4"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5pPr>
            <a:lvl6pPr marR="0" lvl="5"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6pPr>
            <a:lvl7pPr marR="0" lvl="6"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7pPr>
            <a:lvl8pPr marR="0" lvl="7"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8pPr>
            <a:lvl9pPr marR="0" lvl="8"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9pPr>
          </a:lstStyle>
          <a:p>
            <a:endParaRPr/>
          </a:p>
        </p:txBody>
      </p:sp>
      <p:sp>
        <p:nvSpPr>
          <p:cNvPr id="11" name="Google Shape;11;p55"/>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spcAft>
                <a:spcPts val="0"/>
              </a:spcAft>
              <a:buNone/>
              <a:defRPr sz="1200" b="0" i="0" u="none" strike="noStrike" cap="none">
                <a:solidFill>
                  <a:srgbClr val="898989"/>
                </a:solidFill>
                <a:latin typeface="Calibri"/>
                <a:ea typeface="Calibri"/>
                <a:cs typeface="Calibri"/>
                <a:sym typeface="Calibri"/>
              </a:defRPr>
            </a:lvl1pPr>
            <a:lvl2pPr marL="0" marR="0" lvl="1" indent="0" algn="r" rtl="0">
              <a:spcBef>
                <a:spcPts val="0"/>
              </a:spcBef>
              <a:spcAft>
                <a:spcPts val="0"/>
              </a:spcAft>
              <a:buNone/>
              <a:defRPr sz="1200" b="0" i="0" u="none" strike="noStrike" cap="none">
                <a:solidFill>
                  <a:srgbClr val="898989"/>
                </a:solidFill>
                <a:latin typeface="Calibri"/>
                <a:ea typeface="Calibri"/>
                <a:cs typeface="Calibri"/>
                <a:sym typeface="Calibri"/>
              </a:defRPr>
            </a:lvl2pPr>
            <a:lvl3pPr marL="0" marR="0" lvl="2" indent="0" algn="r" rtl="0">
              <a:spcBef>
                <a:spcPts val="0"/>
              </a:spcBef>
              <a:spcAft>
                <a:spcPts val="0"/>
              </a:spcAft>
              <a:buNone/>
              <a:defRPr sz="1200" b="0" i="0" u="none" strike="noStrike" cap="none">
                <a:solidFill>
                  <a:srgbClr val="898989"/>
                </a:solidFill>
                <a:latin typeface="Calibri"/>
                <a:ea typeface="Calibri"/>
                <a:cs typeface="Calibri"/>
                <a:sym typeface="Calibri"/>
              </a:defRPr>
            </a:lvl3pPr>
            <a:lvl4pPr marL="0" marR="0" lvl="3" indent="0" algn="r" rtl="0">
              <a:spcBef>
                <a:spcPts val="0"/>
              </a:spcBef>
              <a:spcAft>
                <a:spcPts val="0"/>
              </a:spcAft>
              <a:buNone/>
              <a:defRPr sz="1200" b="0" i="0" u="none" strike="noStrike" cap="none">
                <a:solidFill>
                  <a:srgbClr val="898989"/>
                </a:solidFill>
                <a:latin typeface="Calibri"/>
                <a:ea typeface="Calibri"/>
                <a:cs typeface="Calibri"/>
                <a:sym typeface="Calibri"/>
              </a:defRPr>
            </a:lvl4pPr>
            <a:lvl5pPr marL="0" marR="0" lvl="4" indent="0" algn="r" rtl="0">
              <a:spcBef>
                <a:spcPts val="0"/>
              </a:spcBef>
              <a:spcAft>
                <a:spcPts val="0"/>
              </a:spcAft>
              <a:buNone/>
              <a:defRPr sz="1200" b="0" i="0" u="none" strike="noStrike" cap="none">
                <a:solidFill>
                  <a:srgbClr val="898989"/>
                </a:solidFill>
                <a:latin typeface="Calibri"/>
                <a:ea typeface="Calibri"/>
                <a:cs typeface="Calibri"/>
                <a:sym typeface="Calibri"/>
              </a:defRPr>
            </a:lvl5pPr>
            <a:lvl6pPr marL="0" marR="0" lvl="5" indent="0" algn="r" rtl="0">
              <a:spcBef>
                <a:spcPts val="0"/>
              </a:spcBef>
              <a:spcAft>
                <a:spcPts val="0"/>
              </a:spcAft>
              <a:buNone/>
              <a:defRPr sz="1200" b="0" i="0" u="none" strike="noStrike" cap="none">
                <a:solidFill>
                  <a:srgbClr val="898989"/>
                </a:solidFill>
                <a:latin typeface="Calibri"/>
                <a:ea typeface="Calibri"/>
                <a:cs typeface="Calibri"/>
                <a:sym typeface="Calibri"/>
              </a:defRPr>
            </a:lvl6pPr>
            <a:lvl7pPr marL="0" marR="0" lvl="6" indent="0" algn="r" rtl="0">
              <a:spcBef>
                <a:spcPts val="0"/>
              </a:spcBef>
              <a:spcAft>
                <a:spcPts val="0"/>
              </a:spcAft>
              <a:buNone/>
              <a:defRPr sz="1200" b="0" i="0" u="none" strike="noStrike" cap="none">
                <a:solidFill>
                  <a:srgbClr val="898989"/>
                </a:solidFill>
                <a:latin typeface="Calibri"/>
                <a:ea typeface="Calibri"/>
                <a:cs typeface="Calibri"/>
                <a:sym typeface="Calibri"/>
              </a:defRPr>
            </a:lvl7pPr>
            <a:lvl8pPr marL="0" marR="0" lvl="7" indent="0" algn="r" rtl="0">
              <a:spcBef>
                <a:spcPts val="0"/>
              </a:spcBef>
              <a:spcAft>
                <a:spcPts val="0"/>
              </a:spcAft>
              <a:buNone/>
              <a:defRPr sz="1200" b="0" i="0" u="none" strike="noStrike" cap="none">
                <a:solidFill>
                  <a:srgbClr val="898989"/>
                </a:solidFill>
                <a:latin typeface="Calibri"/>
                <a:ea typeface="Calibri"/>
                <a:cs typeface="Calibri"/>
                <a:sym typeface="Calibri"/>
              </a:defRPr>
            </a:lvl8pPr>
            <a:lvl9pPr marL="0" marR="0" lvl="8" indent="0" algn="r" rtl="0">
              <a:spcBef>
                <a:spcPts val="0"/>
              </a:spcBef>
              <a:spcAft>
                <a:spcPts val="0"/>
              </a:spcAft>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1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2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2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2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2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35.png"/></Relationships>
</file>

<file path=ppt/slides/_rels/slide2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37.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33.xml"/><Relationship Id="rId1" Type="http://schemas.openxmlformats.org/officeDocument/2006/relationships/slideLayout" Target="../slideLayouts/slideLayout2.xml"/><Relationship Id="rId4" Type="http://schemas.openxmlformats.org/officeDocument/2006/relationships/image" Target="../media/image43.png"/></Relationships>
</file>

<file path=ppt/slides/_rels/slide34.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35.xml"/><Relationship Id="rId1" Type="http://schemas.openxmlformats.org/officeDocument/2006/relationships/slideLayout" Target="../slideLayouts/slideLayout2.xml"/><Relationship Id="rId4" Type="http://schemas.openxmlformats.org/officeDocument/2006/relationships/image" Target="../media/image46.png"/></Relationships>
</file>

<file path=ppt/slides/_rels/slide36.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36.xml"/><Relationship Id="rId1" Type="http://schemas.openxmlformats.org/officeDocument/2006/relationships/slideLayout" Target="../slideLayouts/slideLayout2.xml"/><Relationship Id="rId4" Type="http://schemas.openxmlformats.org/officeDocument/2006/relationships/image" Target="../media/image48.png"/></Relationships>
</file>

<file path=ppt/slides/_rels/slide37.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38.xml"/><Relationship Id="rId1" Type="http://schemas.openxmlformats.org/officeDocument/2006/relationships/slideLayout" Target="../slideLayouts/slideLayout2.xml"/><Relationship Id="rId4" Type="http://schemas.openxmlformats.org/officeDocument/2006/relationships/image" Target="../media/image51.png"/></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6.xml"/><Relationship Id="rId1" Type="http://schemas.openxmlformats.org/officeDocument/2006/relationships/slideLayout" Target="../slideLayouts/slideLayout2.xml"/><Relationship Id="rId4" Type="http://schemas.openxmlformats.org/officeDocument/2006/relationships/image" Target="../media/image57.png"/></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52.xml"/><Relationship Id="rId1" Type="http://schemas.openxmlformats.org/officeDocument/2006/relationships/slideLayout" Target="../slideLayouts/slideLayout2.xml"/><Relationship Id="rId4" Type="http://schemas.openxmlformats.org/officeDocument/2006/relationships/image" Target="../media/image62.png"/></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pic>
        <p:nvPicPr>
          <p:cNvPr id="88" name="Google Shape;88;p1" descr="Patrón de fondo&#10;&#10;Descripción generada automáticamente con confianza baja"/>
          <p:cNvPicPr preferRelativeResize="0"/>
          <p:nvPr/>
        </p:nvPicPr>
        <p:blipFill rotWithShape="1">
          <a:blip r:embed="rId3">
            <a:alphaModFix/>
          </a:blip>
          <a:srcRect/>
          <a:stretch/>
        </p:blipFill>
        <p:spPr>
          <a:xfrm>
            <a:off x="0" y="0"/>
            <a:ext cx="12192000" cy="7037762"/>
          </a:xfrm>
          <a:prstGeom prst="rect">
            <a:avLst/>
          </a:prstGeom>
          <a:noFill/>
          <a:ln>
            <a:noFill/>
          </a:ln>
        </p:spPr>
      </p:pic>
      <p:sp>
        <p:nvSpPr>
          <p:cNvPr id="89" name="Google Shape;89;p1"/>
          <p:cNvSpPr/>
          <p:nvPr/>
        </p:nvSpPr>
        <p:spPr>
          <a:xfrm>
            <a:off x="4328375" y="3168656"/>
            <a:ext cx="7308567" cy="1786521"/>
          </a:xfrm>
          <a:prstGeom prst="roundRect">
            <a:avLst>
              <a:gd name="adj" fmla="val 7874"/>
            </a:avLst>
          </a:prstGeom>
          <a:solidFill>
            <a:schemeClr val="dk1">
              <a:alpha val="75686"/>
            </a:schemeClr>
          </a:solidFill>
          <a:ln>
            <a:noFill/>
          </a:ln>
        </p:spPr>
        <p:txBody>
          <a:bodyPr spcFirstLastPara="1" wrap="square" lIns="91425" tIns="45700" rIns="540000" bIns="45700" anchor="ctr" anchorCtr="0">
            <a:noAutofit/>
          </a:bodyPr>
          <a:lstStyle/>
          <a:p>
            <a:pPr marL="0" marR="0" lvl="0" indent="0" algn="ctr" rtl="0">
              <a:spcBef>
                <a:spcPts val="0"/>
              </a:spcBef>
              <a:spcAft>
                <a:spcPts val="0"/>
              </a:spcAft>
              <a:buNone/>
            </a:pPr>
            <a:endParaRPr sz="2800" b="1" i="0" u="none" strike="noStrike" cap="none">
              <a:solidFill>
                <a:schemeClr val="lt1"/>
              </a:solidFill>
              <a:latin typeface="Calibri"/>
              <a:ea typeface="Calibri"/>
              <a:cs typeface="Calibri"/>
              <a:sym typeface="Calibri"/>
            </a:endParaRPr>
          </a:p>
        </p:txBody>
      </p:sp>
      <p:sp>
        <p:nvSpPr>
          <p:cNvPr id="90" name="Google Shape;90;p1"/>
          <p:cNvSpPr txBox="1">
            <a:spLocks noGrp="1"/>
          </p:cNvSpPr>
          <p:nvPr>
            <p:ph type="ctrTitle"/>
          </p:nvPr>
        </p:nvSpPr>
        <p:spPr>
          <a:xfrm>
            <a:off x="4616387" y="3309257"/>
            <a:ext cx="7150100" cy="1494574"/>
          </a:xfrm>
          <a:prstGeom prst="rect">
            <a:avLst/>
          </a:prstGeom>
          <a:noFill/>
          <a:ln>
            <a:noFill/>
          </a:ln>
        </p:spPr>
        <p:txBody>
          <a:bodyPr spcFirstLastPara="1" wrap="square" lIns="91425" tIns="45700" rIns="91425" bIns="45700" anchor="b" anchorCtr="0">
            <a:noAutofit/>
          </a:bodyPr>
          <a:lstStyle/>
          <a:p>
            <a:pPr marL="0" lvl="0" indent="0" algn="l" rtl="0">
              <a:lnSpc>
                <a:spcPct val="90000"/>
              </a:lnSpc>
              <a:spcBef>
                <a:spcPts val="0"/>
              </a:spcBef>
              <a:spcAft>
                <a:spcPts val="0"/>
              </a:spcAft>
              <a:buNone/>
            </a:pPr>
            <a:br>
              <a:rPr lang="es-ES" sz="5000" b="1">
                <a:solidFill>
                  <a:schemeClr val="lt1"/>
                </a:solidFill>
                <a:latin typeface="Arial"/>
                <a:ea typeface="Arial"/>
                <a:cs typeface="Arial"/>
                <a:sym typeface="Arial"/>
              </a:rPr>
            </a:br>
            <a:br>
              <a:rPr lang="es-ES" sz="1600">
                <a:solidFill>
                  <a:schemeClr val="lt1"/>
                </a:solidFill>
                <a:latin typeface="Arial"/>
                <a:ea typeface="Arial"/>
                <a:cs typeface="Arial"/>
                <a:sym typeface="Arial"/>
              </a:rPr>
            </a:br>
            <a:br>
              <a:rPr lang="es-ES" sz="1600" b="1">
                <a:solidFill>
                  <a:schemeClr val="lt1"/>
                </a:solidFill>
                <a:latin typeface="Arial"/>
                <a:ea typeface="Arial"/>
                <a:cs typeface="Arial"/>
                <a:sym typeface="Arial"/>
              </a:rPr>
            </a:br>
            <a:r>
              <a:rPr lang="es-ES" sz="5000" b="1">
                <a:solidFill>
                  <a:schemeClr val="lt1"/>
                </a:solidFill>
                <a:latin typeface="Arial"/>
                <a:ea typeface="Arial"/>
                <a:cs typeface="Arial"/>
                <a:sym typeface="Arial"/>
              </a:rPr>
              <a:t>Obtención y Preparación de Datos</a:t>
            </a:r>
            <a:endParaRPr sz="3000" b="1">
              <a:solidFill>
                <a:schemeClr val="lt1"/>
              </a:solidFill>
              <a:latin typeface="Calibri"/>
              <a:ea typeface="Calibri"/>
              <a:cs typeface="Calibri"/>
              <a:sym typeface="Calibri"/>
            </a:endParaRPr>
          </a:p>
        </p:txBody>
      </p:sp>
      <p:sp>
        <p:nvSpPr>
          <p:cNvPr id="91" name="Google Shape;91;p1"/>
          <p:cNvSpPr txBox="1"/>
          <p:nvPr/>
        </p:nvSpPr>
        <p:spPr>
          <a:xfrm>
            <a:off x="4616387" y="2733959"/>
            <a:ext cx="6165540"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lt1"/>
              </a:buClr>
              <a:buSzPts val="1800"/>
              <a:buFont typeface="Arial"/>
              <a:buNone/>
            </a:pPr>
            <a:r>
              <a:rPr lang="es-ES" sz="1800" b="1" i="0" u="none" strike="noStrike" cap="none">
                <a:solidFill>
                  <a:schemeClr val="lt1"/>
                </a:solidFill>
                <a:latin typeface="Arial"/>
                <a:ea typeface="Arial"/>
                <a:cs typeface="Arial"/>
                <a:sym typeface="Arial"/>
              </a:rPr>
              <a:t> Obtención y Preparación de Datos</a:t>
            </a:r>
            <a:endParaRPr sz="1800" b="0" i="0" u="none" strike="noStrike" cap="none">
              <a:solidFill>
                <a:schemeClr val="lt1"/>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90"/>
                                        </p:tgtEl>
                                        <p:attrNameLst>
                                          <p:attrName>style.visibility</p:attrName>
                                        </p:attrNameLst>
                                      </p:cBhvr>
                                      <p:to>
                                        <p:strVal val="visible"/>
                                      </p:to>
                                    </p:set>
                                    <p:animEffect transition="in" filter="fade">
                                      <p:cBhvr>
                                        <p:cTn id="7" dur="500"/>
                                        <p:tgtEl>
                                          <p:spTgt spid="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7" name="Google Shape;97;p2"/>
          <p:cNvSpPr/>
          <p:nvPr/>
        </p:nvSpPr>
        <p:spPr>
          <a:xfrm>
            <a:off x="5681636" y="-398829"/>
            <a:ext cx="4871176" cy="5768200"/>
          </a:xfrm>
          <a:prstGeom prst="roundRect">
            <a:avLst>
              <a:gd name="adj" fmla="val 2778"/>
            </a:avLst>
          </a:prstGeom>
          <a:gradFill>
            <a:gsLst>
              <a:gs pos="0">
                <a:srgbClr val="451539"/>
              </a:gs>
              <a:gs pos="50000">
                <a:srgbClr val="641F53"/>
              </a:gs>
              <a:gs pos="100000">
                <a:srgbClr val="782663"/>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8" name="Google Shape;98;p2"/>
          <p:cNvSpPr txBox="1"/>
          <p:nvPr/>
        </p:nvSpPr>
        <p:spPr>
          <a:xfrm>
            <a:off x="658127" y="452264"/>
            <a:ext cx="5293474" cy="1008062"/>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None/>
            </a:pPr>
            <a:r>
              <a:rPr lang="es-ES" sz="3200">
                <a:solidFill>
                  <a:srgbClr val="7F7F7F"/>
                </a:solidFill>
                <a:latin typeface="Arial"/>
                <a:ea typeface="Arial"/>
                <a:cs typeface="Arial"/>
                <a:sym typeface="Arial"/>
              </a:rPr>
              <a:t>Objetivos</a:t>
            </a:r>
            <a:endParaRPr/>
          </a:p>
        </p:txBody>
      </p:sp>
      <p:sp>
        <p:nvSpPr>
          <p:cNvPr id="99" name="Google Shape;99;p2"/>
          <p:cNvSpPr txBox="1"/>
          <p:nvPr/>
        </p:nvSpPr>
        <p:spPr>
          <a:xfrm>
            <a:off x="5951601" y="950116"/>
            <a:ext cx="4324289" cy="4247276"/>
          </a:xfrm>
          <a:prstGeom prst="rect">
            <a:avLst/>
          </a:prstGeom>
          <a:noFill/>
          <a:ln>
            <a:noFill/>
          </a:ln>
        </p:spPr>
        <p:txBody>
          <a:bodyPr spcFirstLastPara="1" wrap="square" lIns="91425" tIns="45700" rIns="91425" bIns="45700" anchor="t" anchorCtr="0">
            <a:spAutoFit/>
          </a:bodyPr>
          <a:lstStyle/>
          <a:p>
            <a:pPr marL="342900" marR="0" lvl="0" indent="-342900" algn="just" rtl="0">
              <a:lnSpc>
                <a:spcPct val="150000"/>
              </a:lnSpc>
              <a:spcBef>
                <a:spcPts val="0"/>
              </a:spcBef>
              <a:spcAft>
                <a:spcPts val="0"/>
              </a:spcAft>
              <a:buClr>
                <a:srgbClr val="FFFFFF"/>
              </a:buClr>
              <a:buSzPts val="1800"/>
              <a:buFont typeface="Arial"/>
              <a:buChar char="•"/>
            </a:pPr>
            <a:r>
              <a:rPr lang="es-ES" sz="2000">
                <a:solidFill>
                  <a:srgbClr val="FFFFFF"/>
                </a:solidFill>
                <a:latin typeface="Calibri"/>
                <a:ea typeface="Calibri"/>
                <a:cs typeface="Calibri"/>
                <a:sym typeface="Calibri"/>
              </a:rPr>
              <a:t>Fuentes de datos e intercambio.</a:t>
            </a:r>
            <a:endParaRPr lang="es-ES" sz="2000">
              <a:solidFill>
                <a:schemeClr val="dk1"/>
              </a:solidFill>
              <a:latin typeface="Calibri"/>
              <a:ea typeface="Calibri"/>
              <a:cs typeface="Calibri"/>
            </a:endParaRPr>
          </a:p>
          <a:p>
            <a:pPr marL="342900" marR="0" lvl="0" indent="-342900" algn="just" rtl="0">
              <a:lnSpc>
                <a:spcPct val="150000"/>
              </a:lnSpc>
              <a:spcBef>
                <a:spcPts val="0"/>
              </a:spcBef>
              <a:spcAft>
                <a:spcPts val="0"/>
              </a:spcAft>
              <a:buClr>
                <a:srgbClr val="FFFFFF"/>
              </a:buClr>
              <a:buSzPts val="1800"/>
              <a:buFont typeface="Arial"/>
              <a:buChar char="•"/>
            </a:pPr>
            <a:r>
              <a:rPr lang="es-ES" sz="2000">
                <a:solidFill>
                  <a:srgbClr val="FFFFFF"/>
                </a:solidFill>
                <a:latin typeface="Calibri"/>
                <a:ea typeface="Calibri"/>
                <a:cs typeface="Calibri"/>
                <a:sym typeface="Calibri"/>
              </a:rPr>
              <a:t>Pandas I/O.</a:t>
            </a:r>
            <a:endParaRPr sz="2000">
              <a:solidFill>
                <a:schemeClr val="dk1"/>
              </a:solidFill>
              <a:latin typeface="Calibri"/>
              <a:ea typeface="Calibri"/>
              <a:cs typeface="Calibri"/>
            </a:endParaRPr>
          </a:p>
          <a:p>
            <a:pPr marL="342900" marR="0" lvl="0" indent="-342900" algn="just" rtl="0">
              <a:lnSpc>
                <a:spcPct val="150000"/>
              </a:lnSpc>
              <a:spcBef>
                <a:spcPts val="0"/>
              </a:spcBef>
              <a:spcAft>
                <a:spcPts val="0"/>
              </a:spcAft>
              <a:buClr>
                <a:srgbClr val="FFFFFF"/>
              </a:buClr>
              <a:buSzPts val="1800"/>
              <a:buFont typeface="Arial"/>
              <a:buChar char="•"/>
            </a:pPr>
            <a:r>
              <a:rPr lang="es-ES" sz="2000">
                <a:solidFill>
                  <a:srgbClr val="FFFFFF"/>
                </a:solidFill>
                <a:latin typeface="Calibri"/>
                <a:ea typeface="Calibri"/>
                <a:cs typeface="Calibri"/>
                <a:sym typeface="Calibri"/>
              </a:rPr>
              <a:t>Lectura y escritura de archivos de Texto Plano.</a:t>
            </a:r>
            <a:endParaRPr sz="2000">
              <a:solidFill>
                <a:schemeClr val="dk1"/>
              </a:solidFill>
              <a:latin typeface="Calibri"/>
              <a:ea typeface="Calibri"/>
              <a:cs typeface="Calibri"/>
            </a:endParaRPr>
          </a:p>
          <a:p>
            <a:pPr marL="342900" marR="0" lvl="0" indent="-342900" algn="just" rtl="0">
              <a:lnSpc>
                <a:spcPct val="150000"/>
              </a:lnSpc>
              <a:spcBef>
                <a:spcPts val="0"/>
              </a:spcBef>
              <a:spcAft>
                <a:spcPts val="0"/>
              </a:spcAft>
              <a:buClr>
                <a:srgbClr val="FFFFFF"/>
              </a:buClr>
              <a:buSzPts val="1800"/>
              <a:buFont typeface="Arial"/>
              <a:buChar char="•"/>
            </a:pPr>
            <a:r>
              <a:rPr lang="es-ES" sz="2000">
                <a:solidFill>
                  <a:srgbClr val="FFFFFF"/>
                </a:solidFill>
                <a:latin typeface="Calibri"/>
                <a:ea typeface="Calibri"/>
                <a:cs typeface="Calibri"/>
                <a:sym typeface="Calibri"/>
              </a:rPr>
              <a:t>Lectura y escritura de planillas Excel.</a:t>
            </a:r>
            <a:endParaRPr sz="2000">
              <a:solidFill>
                <a:schemeClr val="dk1"/>
              </a:solidFill>
              <a:latin typeface="Calibri"/>
              <a:ea typeface="Calibri"/>
              <a:cs typeface="Calibri"/>
            </a:endParaRPr>
          </a:p>
          <a:p>
            <a:pPr marL="342900" marR="0" lvl="0" indent="-342900" algn="just" rtl="0">
              <a:lnSpc>
                <a:spcPct val="150000"/>
              </a:lnSpc>
              <a:spcBef>
                <a:spcPts val="0"/>
              </a:spcBef>
              <a:spcAft>
                <a:spcPts val="0"/>
              </a:spcAft>
              <a:buClr>
                <a:srgbClr val="FFFFFF"/>
              </a:buClr>
              <a:buSzPts val="1800"/>
              <a:buFont typeface="Arial"/>
              <a:buChar char="•"/>
            </a:pPr>
            <a:r>
              <a:rPr lang="es-ES" sz="2000">
                <a:solidFill>
                  <a:srgbClr val="FFFFFF"/>
                </a:solidFill>
                <a:latin typeface="Calibri"/>
                <a:ea typeface="Calibri"/>
                <a:cs typeface="Calibri"/>
                <a:sym typeface="Calibri"/>
              </a:rPr>
              <a:t>Lectura de páginas web.</a:t>
            </a:r>
            <a:endParaRPr sz="2000">
              <a:solidFill>
                <a:schemeClr val="dk1"/>
              </a:solidFill>
              <a:latin typeface="Calibri"/>
              <a:ea typeface="Calibri"/>
              <a:cs typeface="Calibri"/>
            </a:endParaRPr>
          </a:p>
          <a:p>
            <a:pPr marL="342900" marR="0" lvl="0" indent="-342900" algn="just" rtl="0">
              <a:lnSpc>
                <a:spcPct val="150000"/>
              </a:lnSpc>
              <a:spcBef>
                <a:spcPts val="0"/>
              </a:spcBef>
              <a:spcAft>
                <a:spcPts val="0"/>
              </a:spcAft>
              <a:buClr>
                <a:srgbClr val="FFFFFF"/>
              </a:buClr>
              <a:buSzPts val="1800"/>
              <a:buFont typeface="Arial"/>
              <a:buChar char="•"/>
            </a:pPr>
            <a:r>
              <a:rPr lang="es-ES" sz="2000">
                <a:solidFill>
                  <a:srgbClr val="FFFFFF"/>
                </a:solidFill>
                <a:latin typeface="Calibri"/>
                <a:ea typeface="Calibri"/>
                <a:cs typeface="Calibri"/>
                <a:sym typeface="Calibri"/>
              </a:rPr>
              <a:t>Lectura de Bases de Datos.</a:t>
            </a:r>
            <a:endParaRPr sz="2000">
              <a:solidFill>
                <a:schemeClr val="dk1"/>
              </a:solidFill>
              <a:latin typeface="Calibri"/>
              <a:ea typeface="Calibri"/>
              <a:cs typeface="Calibri"/>
            </a:endParaRPr>
          </a:p>
          <a:p>
            <a:pPr marL="342900" marR="0" lvl="0" indent="-342900" algn="just" rtl="0">
              <a:lnSpc>
                <a:spcPct val="150000"/>
              </a:lnSpc>
              <a:spcBef>
                <a:spcPts val="0"/>
              </a:spcBef>
              <a:spcAft>
                <a:spcPts val="0"/>
              </a:spcAft>
              <a:buClr>
                <a:srgbClr val="FFFFFF"/>
              </a:buClr>
              <a:buSzPts val="1800"/>
              <a:buFont typeface="Arial"/>
              <a:buChar char="•"/>
            </a:pPr>
            <a:r>
              <a:rPr lang="es-ES" sz="2000">
                <a:solidFill>
                  <a:srgbClr val="FFFFFF"/>
                </a:solidFill>
                <a:latin typeface="Calibri"/>
                <a:ea typeface="Calibri"/>
                <a:cs typeface="Calibri"/>
                <a:sym typeface="Calibri"/>
              </a:rPr>
              <a:t>Lectura de una API.</a:t>
            </a:r>
            <a:endParaRPr sz="2000">
              <a:solidFill>
                <a:schemeClr val="dk1"/>
              </a:solidFill>
              <a:latin typeface="Calibri"/>
              <a:ea typeface="Calibri"/>
              <a:cs typeface="Calibri"/>
            </a:endParaRPr>
          </a:p>
          <a:p>
            <a:pPr marL="342900" marR="0" lvl="0" indent="-342900" algn="just" rtl="0">
              <a:lnSpc>
                <a:spcPct val="150000"/>
              </a:lnSpc>
              <a:spcBef>
                <a:spcPts val="0"/>
              </a:spcBef>
              <a:spcAft>
                <a:spcPts val="0"/>
              </a:spcAft>
              <a:buClr>
                <a:srgbClr val="FFFFFF"/>
              </a:buClr>
              <a:buSzPts val="1800"/>
              <a:buFont typeface="Arial"/>
              <a:buChar char="•"/>
            </a:pPr>
            <a:r>
              <a:rPr lang="es-ES" sz="2000">
                <a:solidFill>
                  <a:srgbClr val="FFFFFF"/>
                </a:solidFill>
                <a:latin typeface="Calibri"/>
                <a:ea typeface="Calibri"/>
                <a:cs typeface="Calibri"/>
                <a:sym typeface="Calibri"/>
              </a:rPr>
              <a:t>Web Scraping.</a:t>
            </a:r>
            <a:endParaRPr sz="2000">
              <a:solidFill>
                <a:schemeClr val="dk1"/>
              </a:solidFill>
              <a:latin typeface="Calibri"/>
              <a:ea typeface="Calibri"/>
              <a:cs typeface="Calibri"/>
            </a:endParaRPr>
          </a:p>
        </p:txBody>
      </p:sp>
      <p:grpSp>
        <p:nvGrpSpPr>
          <p:cNvPr id="100" name="Google Shape;100;p2"/>
          <p:cNvGrpSpPr/>
          <p:nvPr/>
        </p:nvGrpSpPr>
        <p:grpSpPr>
          <a:xfrm>
            <a:off x="1582110" y="1749129"/>
            <a:ext cx="3524500" cy="3631127"/>
            <a:chOff x="1346051" y="89845"/>
            <a:chExt cx="3524500" cy="3631127"/>
          </a:xfrm>
        </p:grpSpPr>
        <p:sp>
          <p:nvSpPr>
            <p:cNvPr id="101" name="Google Shape;101;p2"/>
            <p:cNvSpPr/>
            <p:nvPr/>
          </p:nvSpPr>
          <p:spPr>
            <a:xfrm>
              <a:off x="1346051" y="89845"/>
              <a:ext cx="3524500" cy="3524500"/>
            </a:xfrm>
            <a:prstGeom prst="ellipse">
              <a:avLst/>
            </a:prstGeom>
            <a:blipFill rotWithShape="1">
              <a:blip r:embed="rId3">
                <a:alphaModFix/>
              </a:blip>
              <a:stretch>
                <a:fillRect l="-24998" r="-24998"/>
              </a:stretch>
            </a:blip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2"/>
            <p:cNvSpPr/>
            <p:nvPr/>
          </p:nvSpPr>
          <p:spPr>
            <a:xfrm flipH="1">
              <a:off x="3413435" y="3516041"/>
              <a:ext cx="97637" cy="204931"/>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 name="Google Shape;103;p2"/>
            <p:cNvSpPr txBox="1"/>
            <p:nvPr/>
          </p:nvSpPr>
          <p:spPr>
            <a:xfrm>
              <a:off x="3413435" y="3516041"/>
              <a:ext cx="97637" cy="204931"/>
            </a:xfrm>
            <a:prstGeom prst="rect">
              <a:avLst/>
            </a:prstGeom>
            <a:noFill/>
            <a:ln>
              <a:noFill/>
            </a:ln>
          </p:spPr>
          <p:txBody>
            <a:bodyPr spcFirstLastPara="1" wrap="square" lIns="0" tIns="0" rIns="0" bIns="0" anchor="b" anchorCtr="0">
              <a:noAutofit/>
            </a:bodyPr>
            <a:lstStyle/>
            <a:p>
              <a:pPr marL="0" marR="0" lvl="0" indent="0" algn="ctr" rtl="0">
                <a:lnSpc>
                  <a:spcPct val="90000"/>
                </a:lnSpc>
                <a:spcBef>
                  <a:spcPts val="0"/>
                </a:spcBef>
                <a:spcAft>
                  <a:spcPts val="0"/>
                </a:spcAft>
                <a:buNone/>
              </a:pPr>
              <a:endParaRPr sz="500">
                <a:solidFill>
                  <a:schemeClr val="lt1"/>
                </a:solidFill>
                <a:latin typeface="Calibri"/>
                <a:ea typeface="Calibri"/>
                <a:cs typeface="Calibri"/>
                <a:sym typeface="Calibri"/>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98"/>
                                        </p:tgtEl>
                                        <p:attrNameLst>
                                          <p:attrName>style.visibility</p:attrName>
                                        </p:attrNameLst>
                                      </p:cBhvr>
                                      <p:to>
                                        <p:strVal val="visible"/>
                                      </p:to>
                                    </p:set>
                                    <p:animEffect transition="in" filter="fade">
                                      <p:cBhvr>
                                        <p:cTn id="7" dur="500"/>
                                        <p:tgtEl>
                                          <p:spTgt spid="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108" name="Google Shape;108;p3"/>
          <p:cNvSpPr/>
          <p:nvPr/>
        </p:nvSpPr>
        <p:spPr>
          <a:xfrm>
            <a:off x="1855694" y="3654387"/>
            <a:ext cx="8597154" cy="2567119"/>
          </a:xfrm>
          <a:prstGeom prst="roundRect">
            <a:avLst>
              <a:gd name="adj" fmla="val 2971"/>
            </a:avLst>
          </a:prstGeom>
          <a:solidFill>
            <a:schemeClr val="lt1"/>
          </a:solidFill>
          <a:ln w="38100" cap="flat" cmpd="sng">
            <a:solidFill>
              <a:srgbClr val="732C6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9" name="Google Shape;109;p3"/>
          <p:cNvSpPr txBox="1"/>
          <p:nvPr/>
        </p:nvSpPr>
        <p:spPr>
          <a:xfrm>
            <a:off x="39070" y="330828"/>
            <a:ext cx="7696872" cy="731156"/>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None/>
            </a:pPr>
            <a:r>
              <a:rPr lang="es-ES" sz="3200">
                <a:solidFill>
                  <a:srgbClr val="7F7F7F"/>
                </a:solidFill>
                <a:latin typeface="Arial"/>
                <a:ea typeface="Arial"/>
                <a:cs typeface="Arial"/>
                <a:sym typeface="Arial"/>
              </a:rPr>
              <a:t>Fuentes de datos e intercambio</a:t>
            </a:r>
            <a:endParaRPr/>
          </a:p>
        </p:txBody>
      </p:sp>
      <p:grpSp>
        <p:nvGrpSpPr>
          <p:cNvPr id="110" name="Google Shape;110;p3"/>
          <p:cNvGrpSpPr/>
          <p:nvPr/>
        </p:nvGrpSpPr>
        <p:grpSpPr>
          <a:xfrm>
            <a:off x="2167883" y="3705351"/>
            <a:ext cx="8079100" cy="2425192"/>
            <a:chOff x="2016351" y="3601534"/>
            <a:chExt cx="8079100" cy="2425192"/>
          </a:xfrm>
        </p:grpSpPr>
        <p:sp>
          <p:nvSpPr>
            <p:cNvPr id="111" name="Google Shape;111;p3"/>
            <p:cNvSpPr/>
            <p:nvPr/>
          </p:nvSpPr>
          <p:spPr>
            <a:xfrm>
              <a:off x="2119745" y="5292435"/>
              <a:ext cx="7869382" cy="734291"/>
            </a:xfrm>
            <a:prstGeom prst="leftRightArrow">
              <a:avLst>
                <a:gd name="adj1" fmla="val 50000"/>
                <a:gd name="adj2" fmla="val 50000"/>
              </a:avLst>
            </a:prstGeom>
            <a:solidFill>
              <a:schemeClr val="accent1"/>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Calibri"/>
                <a:buNone/>
              </a:pPr>
              <a:endParaRPr sz="1800">
                <a:solidFill>
                  <a:schemeClr val="lt1"/>
                </a:solidFill>
                <a:latin typeface="Calibri"/>
                <a:ea typeface="Calibri"/>
                <a:cs typeface="Calibri"/>
                <a:sym typeface="Calibri"/>
              </a:endParaRPr>
            </a:p>
          </p:txBody>
        </p:sp>
        <p:sp>
          <p:nvSpPr>
            <p:cNvPr id="112" name="Google Shape;112;p3"/>
            <p:cNvSpPr txBox="1"/>
            <p:nvPr/>
          </p:nvSpPr>
          <p:spPr>
            <a:xfrm flipH="1">
              <a:off x="2784764" y="5474914"/>
              <a:ext cx="6761018"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1800"/>
                <a:buFont typeface="Calibri"/>
                <a:buNone/>
              </a:pPr>
              <a:r>
                <a:rPr lang="es-ES" sz="1800">
                  <a:solidFill>
                    <a:schemeClr val="dk1"/>
                  </a:solidFill>
                  <a:latin typeface="Calibri"/>
                  <a:ea typeface="Calibri"/>
                  <a:cs typeface="Calibri"/>
                  <a:sym typeface="Calibri"/>
                </a:rPr>
                <a:t>Flexibilidad                                                                           Eficiencia</a:t>
              </a:r>
              <a:endParaRPr sz="1800">
                <a:solidFill>
                  <a:schemeClr val="dk1"/>
                </a:solidFill>
                <a:latin typeface="Calibri"/>
                <a:ea typeface="Calibri"/>
                <a:cs typeface="Calibri"/>
                <a:sym typeface="Calibri"/>
              </a:endParaRPr>
            </a:p>
          </p:txBody>
        </p:sp>
        <p:sp>
          <p:nvSpPr>
            <p:cNvPr id="113" name="Google Shape;113;p3"/>
            <p:cNvSpPr txBox="1"/>
            <p:nvPr/>
          </p:nvSpPr>
          <p:spPr>
            <a:xfrm>
              <a:off x="2235094" y="3601534"/>
              <a:ext cx="7860357" cy="369332"/>
            </a:xfrm>
            <a:prstGeom prst="rect">
              <a:avLst/>
            </a:prstGeom>
            <a:noFill/>
            <a:ln>
              <a:noFill/>
            </a:ln>
          </p:spPr>
          <p:txBody>
            <a:bodyPr spcFirstLastPara="1" wrap="square" lIns="91425" tIns="45700" rIns="91425" bIns="45700" anchor="t" anchorCtr="0">
              <a:spAutoFit/>
            </a:bodyPr>
            <a:lstStyle/>
            <a:p>
              <a:pPr>
                <a:buClr>
                  <a:schemeClr val="dk1"/>
                </a:buClr>
                <a:buSzPts val="1800"/>
              </a:pPr>
              <a:r>
                <a:rPr lang="es-ES" sz="1800" dirty="0">
                  <a:solidFill>
                    <a:schemeClr val="dk1"/>
                  </a:solidFill>
                  <a:latin typeface="Calibri"/>
                  <a:ea typeface="Calibri"/>
                  <a:cs typeface="Calibri"/>
                  <a:sym typeface="Calibri"/>
                </a:rPr>
                <a:t>No Estructurado                             Semi Estructurado                           Estructurado</a:t>
              </a:r>
              <a:endParaRPr sz="1800" dirty="0">
                <a:solidFill>
                  <a:schemeClr val="dk1"/>
                </a:solidFill>
                <a:latin typeface="Calibri"/>
                <a:ea typeface="Calibri"/>
                <a:cs typeface="Calibri"/>
                <a:sym typeface="Calibri"/>
              </a:endParaRPr>
            </a:p>
          </p:txBody>
        </p:sp>
        <p:pic>
          <p:nvPicPr>
            <p:cNvPr id="114" name="Google Shape;114;p3"/>
            <p:cNvPicPr preferRelativeResize="0"/>
            <p:nvPr/>
          </p:nvPicPr>
          <p:blipFill rotWithShape="1">
            <a:blip r:embed="rId3">
              <a:alphaModFix/>
            </a:blip>
            <a:srcRect/>
            <a:stretch/>
          </p:blipFill>
          <p:spPr>
            <a:xfrm>
              <a:off x="2016351" y="4225438"/>
              <a:ext cx="1257475" cy="838317"/>
            </a:xfrm>
            <a:prstGeom prst="rect">
              <a:avLst/>
            </a:prstGeom>
            <a:noFill/>
            <a:ln>
              <a:noFill/>
            </a:ln>
          </p:spPr>
        </p:pic>
        <p:pic>
          <p:nvPicPr>
            <p:cNvPr id="115" name="Google Shape;115;p3"/>
            <p:cNvPicPr preferRelativeResize="0"/>
            <p:nvPr/>
          </p:nvPicPr>
          <p:blipFill rotWithShape="1">
            <a:blip r:embed="rId4">
              <a:alphaModFix/>
            </a:blip>
            <a:srcRect/>
            <a:stretch/>
          </p:blipFill>
          <p:spPr>
            <a:xfrm>
              <a:off x="5030594" y="4206377"/>
              <a:ext cx="1324160" cy="809738"/>
            </a:xfrm>
            <a:prstGeom prst="rect">
              <a:avLst/>
            </a:prstGeom>
            <a:noFill/>
            <a:ln>
              <a:noFill/>
            </a:ln>
          </p:spPr>
        </p:pic>
        <p:pic>
          <p:nvPicPr>
            <p:cNvPr id="116" name="Google Shape;116;p3"/>
            <p:cNvPicPr preferRelativeResize="0"/>
            <p:nvPr/>
          </p:nvPicPr>
          <p:blipFill rotWithShape="1">
            <a:blip r:embed="rId5">
              <a:alphaModFix/>
            </a:blip>
            <a:srcRect/>
            <a:stretch/>
          </p:blipFill>
          <p:spPr>
            <a:xfrm>
              <a:off x="8513303" y="4179238"/>
              <a:ext cx="809738" cy="833554"/>
            </a:xfrm>
            <a:prstGeom prst="rect">
              <a:avLst/>
            </a:prstGeom>
            <a:noFill/>
            <a:ln>
              <a:noFill/>
            </a:ln>
          </p:spPr>
        </p:pic>
        <p:pic>
          <p:nvPicPr>
            <p:cNvPr id="117" name="Google Shape;117;p3" descr="How To Open File With HDF5 Extension? - File Extension .HDF5"/>
            <p:cNvPicPr preferRelativeResize="0"/>
            <p:nvPr/>
          </p:nvPicPr>
          <p:blipFill rotWithShape="1">
            <a:blip r:embed="rId6">
              <a:alphaModFix/>
            </a:blip>
            <a:srcRect/>
            <a:stretch/>
          </p:blipFill>
          <p:spPr>
            <a:xfrm>
              <a:off x="6836904" y="4225438"/>
              <a:ext cx="739712" cy="739713"/>
            </a:xfrm>
            <a:prstGeom prst="rect">
              <a:avLst/>
            </a:prstGeom>
            <a:noFill/>
            <a:ln>
              <a:noFill/>
            </a:ln>
          </p:spPr>
        </p:pic>
      </p:grpSp>
      <p:sp>
        <p:nvSpPr>
          <p:cNvPr id="118" name="Google Shape;118;p3"/>
          <p:cNvSpPr/>
          <p:nvPr/>
        </p:nvSpPr>
        <p:spPr>
          <a:xfrm>
            <a:off x="-376518" y="1054694"/>
            <a:ext cx="12851547" cy="2378232"/>
          </a:xfrm>
          <a:prstGeom prst="roundRect">
            <a:avLst>
              <a:gd name="adj" fmla="val 2971"/>
            </a:avLst>
          </a:prstGeom>
          <a:solidFill>
            <a:srgbClr val="732C6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19" name="Google Shape;119;p3"/>
          <p:cNvSpPr txBox="1"/>
          <p:nvPr/>
        </p:nvSpPr>
        <p:spPr>
          <a:xfrm>
            <a:off x="966507" y="1132057"/>
            <a:ext cx="10165977" cy="2169825"/>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800">
                <a:solidFill>
                  <a:schemeClr val="lt1"/>
                </a:solidFill>
                <a:latin typeface="Calibri"/>
                <a:ea typeface="Calibri"/>
                <a:cs typeface="Calibri"/>
                <a:sym typeface="Calibri"/>
              </a:rPr>
              <a:t>La información y los datos se encuentran diseminados de múltiples formas. Algunas de carácter estructurado (por ejemplo, bases de datos, archivos binarios, servicios de datos o APIs) y otras de carácter no estructurado (por ejemplo, archivos de texto).</a:t>
            </a:r>
            <a:endParaRPr/>
          </a:p>
          <a:p>
            <a:pPr marL="0" marR="0" lvl="0" indent="0" algn="just" rtl="0">
              <a:lnSpc>
                <a:spcPct val="150000"/>
              </a:lnSpc>
              <a:spcBef>
                <a:spcPts val="0"/>
              </a:spcBef>
              <a:spcAft>
                <a:spcPts val="0"/>
              </a:spcAft>
              <a:buNone/>
            </a:pPr>
            <a:endParaRPr sz="1800">
              <a:solidFill>
                <a:schemeClr val="lt1"/>
              </a:solidFill>
              <a:latin typeface="Calibri"/>
              <a:ea typeface="Calibri"/>
              <a:cs typeface="Calibri"/>
              <a:sym typeface="Calibri"/>
            </a:endParaRPr>
          </a:p>
          <a:p>
            <a:pPr marL="0" marR="0" lvl="0" indent="0" algn="just" rtl="0">
              <a:spcBef>
                <a:spcPts val="0"/>
              </a:spcBef>
              <a:spcAft>
                <a:spcPts val="0"/>
              </a:spcAft>
              <a:buNone/>
            </a:pPr>
            <a:r>
              <a:rPr lang="es-ES" sz="1800">
                <a:solidFill>
                  <a:schemeClr val="lt1"/>
                </a:solidFill>
                <a:latin typeface="Calibri"/>
                <a:ea typeface="Calibri"/>
                <a:cs typeface="Calibri"/>
                <a:sym typeface="Calibri"/>
              </a:rPr>
              <a:t>Por otra parte, los mecanismos para el intercambio de datos son múltiples, por ejemplo, intercambio de archivos de texto plano, bases de datos compartidas, sistemas de mensajería asíncrona, servicios de datos (RPC, servicios web, APIs REST).</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09"/>
                                        </p:tgtEl>
                                        <p:attrNameLst>
                                          <p:attrName>style.visibility</p:attrName>
                                        </p:attrNameLst>
                                      </p:cBhvr>
                                      <p:to>
                                        <p:strVal val="visible"/>
                                      </p:to>
                                    </p:set>
                                    <p:animEffect transition="in" filter="fade">
                                      <p:cBhvr>
                                        <p:cTn id="7" dur="500"/>
                                        <p:tgtEl>
                                          <p:spTgt spid="1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sp>
        <p:nvSpPr>
          <p:cNvPr id="124" name="Google Shape;124;p4"/>
          <p:cNvSpPr/>
          <p:nvPr/>
        </p:nvSpPr>
        <p:spPr>
          <a:xfrm>
            <a:off x="4099628" y="1690410"/>
            <a:ext cx="7403181" cy="4027255"/>
          </a:xfrm>
          <a:prstGeom prst="roundRect">
            <a:avLst>
              <a:gd name="adj" fmla="val 2971"/>
            </a:avLst>
          </a:prstGeom>
          <a:solidFill>
            <a:srgbClr val="732C6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25" name="Google Shape;125;p4"/>
          <p:cNvSpPr txBox="1"/>
          <p:nvPr/>
        </p:nvSpPr>
        <p:spPr>
          <a:xfrm>
            <a:off x="4218916" y="433528"/>
            <a:ext cx="7164149" cy="1008062"/>
          </a:xfrm>
          <a:prstGeom prst="rect">
            <a:avLst/>
          </a:prstGeom>
          <a:noFill/>
          <a:ln>
            <a:noFill/>
          </a:ln>
        </p:spPr>
        <p:txBody>
          <a:bodyPr spcFirstLastPara="1" wrap="square" lIns="91425" tIns="45700" rIns="91425" bIns="45700" anchor="ctr" anchorCtr="0">
            <a:noAutofit/>
          </a:bodyPr>
          <a:lstStyle/>
          <a:p>
            <a:pPr marL="0" marR="0" lvl="0" indent="0" algn="l" rtl="0">
              <a:lnSpc>
                <a:spcPct val="150000"/>
              </a:lnSpc>
              <a:spcBef>
                <a:spcPts val="0"/>
              </a:spcBef>
              <a:spcAft>
                <a:spcPts val="0"/>
              </a:spcAft>
              <a:buNone/>
            </a:pPr>
            <a:r>
              <a:rPr lang="es-ES" sz="3200">
                <a:solidFill>
                  <a:srgbClr val="7F7F7F"/>
                </a:solidFill>
                <a:latin typeface="Arial"/>
                <a:ea typeface="Arial"/>
                <a:cs typeface="Arial"/>
                <a:sym typeface="Arial"/>
              </a:rPr>
              <a:t>Archivos de Texto Plano y Binarios</a:t>
            </a:r>
            <a:endParaRPr sz="3200">
              <a:solidFill>
                <a:srgbClr val="7F7F7F"/>
              </a:solidFill>
              <a:latin typeface="Arial"/>
              <a:ea typeface="Arial"/>
              <a:cs typeface="Arial"/>
              <a:sym typeface="Arial"/>
            </a:endParaRPr>
          </a:p>
        </p:txBody>
      </p:sp>
      <p:sp>
        <p:nvSpPr>
          <p:cNvPr id="126" name="Google Shape;126;p4"/>
          <p:cNvSpPr txBox="1"/>
          <p:nvPr/>
        </p:nvSpPr>
        <p:spPr>
          <a:xfrm>
            <a:off x="4338660" y="1811211"/>
            <a:ext cx="6925115" cy="3785652"/>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600">
                <a:solidFill>
                  <a:schemeClr val="lt1"/>
                </a:solidFill>
                <a:latin typeface="Calibri"/>
                <a:ea typeface="Calibri"/>
                <a:cs typeface="Calibri"/>
                <a:sym typeface="Calibri"/>
              </a:rPr>
              <a:t>Todos los archivos de computación se componen de pequeñas piezas de información llamada </a:t>
            </a:r>
            <a:r>
              <a:rPr lang="es-ES" sz="1600" b="1">
                <a:solidFill>
                  <a:schemeClr val="lt1"/>
                </a:solidFill>
                <a:latin typeface="Calibri"/>
                <a:ea typeface="Calibri"/>
                <a:cs typeface="Calibri"/>
                <a:sym typeface="Calibri"/>
              </a:rPr>
              <a:t>bits</a:t>
            </a:r>
            <a:r>
              <a:rPr lang="es-ES" sz="1600">
                <a:solidFill>
                  <a:schemeClr val="lt1"/>
                </a:solidFill>
                <a:latin typeface="Calibri"/>
                <a:ea typeface="Calibri"/>
                <a:cs typeface="Calibri"/>
                <a:sym typeface="Calibri"/>
              </a:rPr>
              <a:t>. En un archivo ASCII, cada byte se correlaciona directamente con un carácter específico, según lo definido con la tabla ASCII estándar. Es por ésto que este tipo de archivo es legible fácilmente por una persona.</a:t>
            </a:r>
            <a:endParaRPr/>
          </a:p>
          <a:p>
            <a:pPr marL="0" marR="0" lvl="0" indent="0" algn="just" rtl="0">
              <a:spcBef>
                <a:spcPts val="0"/>
              </a:spcBef>
              <a:spcAft>
                <a:spcPts val="0"/>
              </a:spcAft>
              <a:buNone/>
            </a:pPr>
            <a:endParaRPr sz="1600">
              <a:solidFill>
                <a:schemeClr val="lt1"/>
              </a:solidFill>
              <a:latin typeface="Calibri"/>
              <a:ea typeface="Calibri"/>
              <a:cs typeface="Calibri"/>
              <a:sym typeface="Calibri"/>
            </a:endParaRPr>
          </a:p>
          <a:p>
            <a:pPr marL="0" marR="0" lvl="0" indent="0" algn="just" rtl="0">
              <a:spcBef>
                <a:spcPts val="0"/>
              </a:spcBef>
              <a:spcAft>
                <a:spcPts val="0"/>
              </a:spcAft>
              <a:buNone/>
            </a:pPr>
            <a:r>
              <a:rPr lang="es-ES" sz="1600">
                <a:solidFill>
                  <a:schemeClr val="lt1"/>
                </a:solidFill>
                <a:latin typeface="Calibri"/>
                <a:ea typeface="Calibri"/>
                <a:cs typeface="Calibri"/>
                <a:sym typeface="Calibri"/>
              </a:rPr>
              <a:t>Los archivos de texto plano están compuestos únicamente por texto sin formato, sólo caracteres, los cuales se pueden codificar de distintos modos dependiendo de la lengua usada. Este tipo de archivo puede ser abierto por un editor de texto cualquiera.</a:t>
            </a:r>
            <a:endParaRPr/>
          </a:p>
          <a:p>
            <a:pPr marL="0" marR="0" lvl="0" indent="0" algn="just" rtl="0">
              <a:spcBef>
                <a:spcPts val="0"/>
              </a:spcBef>
              <a:spcAft>
                <a:spcPts val="0"/>
              </a:spcAft>
              <a:buNone/>
            </a:pPr>
            <a:endParaRPr sz="1600">
              <a:solidFill>
                <a:schemeClr val="lt1"/>
              </a:solidFill>
              <a:latin typeface="Calibri"/>
              <a:ea typeface="Calibri"/>
              <a:cs typeface="Calibri"/>
              <a:sym typeface="Calibri"/>
            </a:endParaRPr>
          </a:p>
          <a:p>
            <a:pPr marL="0" marR="0" lvl="0" indent="0" algn="just" rtl="0">
              <a:spcBef>
                <a:spcPts val="0"/>
              </a:spcBef>
              <a:spcAft>
                <a:spcPts val="0"/>
              </a:spcAft>
              <a:buNone/>
            </a:pPr>
            <a:r>
              <a:rPr lang="es-ES" sz="1600">
                <a:solidFill>
                  <a:schemeClr val="lt1"/>
                </a:solidFill>
                <a:latin typeface="Calibri"/>
                <a:ea typeface="Calibri"/>
                <a:cs typeface="Calibri"/>
                <a:sym typeface="Calibri"/>
              </a:rPr>
              <a:t>Por otro lado, los archivos llamados binarios, su contenido no representa necesariamente una codificación ASCII, sino que puede almacenar bytes que puede representar la información de la forma en que un determinado programa elija.</a:t>
            </a:r>
            <a:endParaRPr/>
          </a:p>
        </p:txBody>
      </p:sp>
      <p:sp>
        <p:nvSpPr>
          <p:cNvPr id="127" name="Google Shape;127;p4"/>
          <p:cNvSpPr/>
          <p:nvPr/>
        </p:nvSpPr>
        <p:spPr>
          <a:xfrm>
            <a:off x="828507" y="1684505"/>
            <a:ext cx="2915645" cy="4033159"/>
          </a:xfrm>
          <a:prstGeom prst="roundRect">
            <a:avLst>
              <a:gd name="adj" fmla="val 2971"/>
            </a:avLst>
          </a:prstGeom>
          <a:solidFill>
            <a:schemeClr val="lt1"/>
          </a:solidFill>
          <a:ln w="38100" cap="flat" cmpd="sng">
            <a:solidFill>
              <a:srgbClr val="732C6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128" name="Google Shape;128;p4" descr="Icono Bloque, notas Gratis de Colobrush Icons"/>
          <p:cNvPicPr preferRelativeResize="0"/>
          <p:nvPr/>
        </p:nvPicPr>
        <p:blipFill rotWithShape="1">
          <a:blip r:embed="rId3">
            <a:alphaModFix/>
          </a:blip>
          <a:srcRect/>
          <a:stretch/>
        </p:blipFill>
        <p:spPr>
          <a:xfrm>
            <a:off x="1497793" y="1996761"/>
            <a:ext cx="1544412" cy="1587954"/>
          </a:xfrm>
          <a:prstGeom prst="rect">
            <a:avLst/>
          </a:prstGeom>
          <a:noFill/>
          <a:ln>
            <a:noFill/>
          </a:ln>
        </p:spPr>
      </p:pic>
      <p:pic>
        <p:nvPicPr>
          <p:cNvPr id="129" name="Google Shape;129;p4"/>
          <p:cNvPicPr preferRelativeResize="0"/>
          <p:nvPr/>
        </p:nvPicPr>
        <p:blipFill rotWithShape="1">
          <a:blip r:embed="rId4">
            <a:alphaModFix/>
          </a:blip>
          <a:srcRect/>
          <a:stretch/>
        </p:blipFill>
        <p:spPr>
          <a:xfrm>
            <a:off x="1582729" y="3850126"/>
            <a:ext cx="1363657" cy="1363657"/>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25"/>
                                        </p:tgtEl>
                                        <p:attrNameLst>
                                          <p:attrName>style.visibility</p:attrName>
                                        </p:attrNameLst>
                                      </p:cBhvr>
                                      <p:to>
                                        <p:strVal val="visible"/>
                                      </p:to>
                                    </p:set>
                                    <p:animEffect transition="in" filter="fade">
                                      <p:cBhvr>
                                        <p:cTn id="7" dur="500"/>
                                        <p:tgtEl>
                                          <p:spTgt spid="1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sp>
        <p:nvSpPr>
          <p:cNvPr id="134" name="Google Shape;134;p5"/>
          <p:cNvSpPr/>
          <p:nvPr/>
        </p:nvSpPr>
        <p:spPr>
          <a:xfrm>
            <a:off x="-440796" y="1299056"/>
            <a:ext cx="10025552" cy="4368745"/>
          </a:xfrm>
          <a:prstGeom prst="roundRect">
            <a:avLst>
              <a:gd name="adj" fmla="val 2971"/>
            </a:avLst>
          </a:prstGeom>
          <a:gradFill>
            <a:gsLst>
              <a:gs pos="0">
                <a:srgbClr val="451539"/>
              </a:gs>
              <a:gs pos="50000">
                <a:srgbClr val="641F53"/>
              </a:gs>
              <a:gs pos="100000">
                <a:srgbClr val="782663"/>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35" name="Google Shape;135;p5"/>
          <p:cNvSpPr txBox="1"/>
          <p:nvPr/>
        </p:nvSpPr>
        <p:spPr>
          <a:xfrm>
            <a:off x="953659" y="301879"/>
            <a:ext cx="10782300" cy="1008062"/>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None/>
            </a:pPr>
            <a:r>
              <a:rPr lang="es-ES" sz="3200">
                <a:solidFill>
                  <a:srgbClr val="7F7F7F"/>
                </a:solidFill>
                <a:latin typeface="Arial"/>
                <a:ea typeface="Arial"/>
                <a:cs typeface="Arial"/>
                <a:sym typeface="Arial"/>
              </a:rPr>
              <a:t>Formatos de Archivo de Texto</a:t>
            </a:r>
            <a:endParaRPr sz="3200">
              <a:solidFill>
                <a:srgbClr val="7F7F7F"/>
              </a:solidFill>
              <a:latin typeface="Arial"/>
              <a:ea typeface="Arial"/>
              <a:cs typeface="Arial"/>
              <a:sym typeface="Arial"/>
            </a:endParaRPr>
          </a:p>
        </p:txBody>
      </p:sp>
      <p:sp>
        <p:nvSpPr>
          <p:cNvPr id="136" name="Google Shape;136;p5"/>
          <p:cNvSpPr txBox="1"/>
          <p:nvPr/>
        </p:nvSpPr>
        <p:spPr>
          <a:xfrm>
            <a:off x="953659" y="1536174"/>
            <a:ext cx="8345984" cy="3785652"/>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2000" dirty="0">
                <a:solidFill>
                  <a:schemeClr val="lt1"/>
                </a:solidFill>
                <a:latin typeface="Calibri"/>
                <a:ea typeface="Calibri"/>
                <a:cs typeface="Calibri"/>
                <a:sym typeface="Calibri"/>
              </a:rPr>
              <a:t>Los archivos de texto son un mecanismo utilizado frecuentemente para el traspaso de información. El formato que puede tener un archivo puede ser diverso. A continuación, algunos ejemplos:</a:t>
            </a:r>
            <a:endParaRPr dirty="0">
              <a:solidFill>
                <a:schemeClr val="lt1"/>
              </a:solidFill>
            </a:endParaRPr>
          </a:p>
          <a:p>
            <a:pPr marL="0" marR="0" lvl="0" indent="0" algn="just" rtl="0">
              <a:spcBef>
                <a:spcPts val="0"/>
              </a:spcBef>
              <a:spcAft>
                <a:spcPts val="0"/>
              </a:spcAft>
              <a:buNone/>
            </a:pPr>
            <a:endParaRPr sz="2000">
              <a:solidFill>
                <a:schemeClr val="lt1"/>
              </a:solidFill>
              <a:latin typeface="Calibri"/>
              <a:ea typeface="Calibri"/>
              <a:cs typeface="Calibri"/>
              <a:sym typeface="Calibri"/>
            </a:endParaRPr>
          </a:p>
          <a:p>
            <a:pPr marL="342900" marR="0" lvl="0" indent="-342900" algn="just" rtl="0">
              <a:spcBef>
                <a:spcPts val="0"/>
              </a:spcBef>
              <a:spcAft>
                <a:spcPts val="0"/>
              </a:spcAft>
              <a:buClr>
                <a:schemeClr val="lt1"/>
              </a:buClr>
              <a:buSzPts val="2000"/>
              <a:buFont typeface="Arial"/>
              <a:buChar char="•"/>
            </a:pPr>
            <a:r>
              <a:rPr lang="es-ES" sz="2000" dirty="0">
                <a:solidFill>
                  <a:schemeClr val="lt1"/>
                </a:solidFill>
                <a:latin typeface="Calibri"/>
                <a:ea typeface="Calibri"/>
                <a:cs typeface="Calibri"/>
                <a:sym typeface="Calibri"/>
              </a:rPr>
              <a:t>Archivos de un registro por línea.</a:t>
            </a:r>
            <a:endParaRPr sz="2000" dirty="0">
              <a:solidFill>
                <a:schemeClr val="lt1"/>
              </a:solidFill>
              <a:latin typeface="Calibri"/>
              <a:ea typeface="Calibri"/>
              <a:cs typeface="Calibri"/>
              <a:sym typeface="Calibri"/>
            </a:endParaRPr>
          </a:p>
          <a:p>
            <a:pPr marL="342900" marR="0" lvl="0" indent="-342900" algn="just" rtl="0">
              <a:spcBef>
                <a:spcPts val="0"/>
              </a:spcBef>
              <a:spcAft>
                <a:spcPts val="0"/>
              </a:spcAft>
              <a:buClr>
                <a:schemeClr val="lt1"/>
              </a:buClr>
              <a:buSzPts val="2000"/>
              <a:buFont typeface="Arial"/>
              <a:buChar char="•"/>
            </a:pPr>
            <a:r>
              <a:rPr lang="es-ES" sz="2000" dirty="0">
                <a:solidFill>
                  <a:schemeClr val="lt1"/>
                </a:solidFill>
                <a:latin typeface="Calibri"/>
                <a:ea typeface="Calibri"/>
                <a:cs typeface="Calibri"/>
                <a:sym typeface="Calibri"/>
              </a:rPr>
              <a:t>Archivos con valores separados por coma (</a:t>
            </a:r>
            <a:r>
              <a:rPr lang="es-ES" sz="2000" dirty="0" err="1">
                <a:solidFill>
                  <a:schemeClr val="lt1"/>
                </a:solidFill>
                <a:latin typeface="Calibri"/>
                <a:ea typeface="Calibri"/>
                <a:cs typeface="Calibri"/>
                <a:sym typeface="Calibri"/>
              </a:rPr>
              <a:t>csv</a:t>
            </a:r>
            <a:r>
              <a:rPr lang="es-ES" sz="2000" dirty="0">
                <a:solidFill>
                  <a:schemeClr val="lt1"/>
                </a:solidFill>
                <a:latin typeface="Calibri"/>
                <a:ea typeface="Calibri"/>
                <a:cs typeface="Calibri"/>
                <a:sym typeface="Calibri"/>
              </a:rPr>
              <a:t>).</a:t>
            </a:r>
            <a:endParaRPr sz="2000" dirty="0">
              <a:solidFill>
                <a:schemeClr val="lt1"/>
              </a:solidFill>
              <a:latin typeface="Calibri"/>
              <a:ea typeface="Calibri"/>
              <a:cs typeface="Calibri"/>
              <a:sym typeface="Calibri"/>
            </a:endParaRPr>
          </a:p>
          <a:p>
            <a:pPr marL="342900" marR="0" lvl="0" indent="-342900" algn="just" rtl="0">
              <a:spcBef>
                <a:spcPts val="0"/>
              </a:spcBef>
              <a:spcAft>
                <a:spcPts val="0"/>
              </a:spcAft>
              <a:buClr>
                <a:schemeClr val="lt1"/>
              </a:buClr>
              <a:buSzPts val="2000"/>
              <a:buFont typeface="Arial"/>
              <a:buChar char="•"/>
            </a:pPr>
            <a:r>
              <a:rPr lang="es-ES" sz="2000" dirty="0">
                <a:solidFill>
                  <a:schemeClr val="lt1"/>
                </a:solidFill>
                <a:latin typeface="Calibri"/>
                <a:ea typeface="Calibri"/>
                <a:cs typeface="Calibri"/>
                <a:sym typeface="Calibri"/>
              </a:rPr>
              <a:t>Archivos con valores separados por tabulación.</a:t>
            </a:r>
            <a:endParaRPr sz="2000" dirty="0">
              <a:solidFill>
                <a:schemeClr val="lt1"/>
              </a:solidFill>
              <a:latin typeface="Calibri"/>
              <a:ea typeface="Calibri"/>
              <a:cs typeface="Calibri"/>
              <a:sym typeface="Calibri"/>
            </a:endParaRPr>
          </a:p>
          <a:p>
            <a:pPr marL="342900" marR="0" lvl="0" indent="-342900" algn="just" rtl="0">
              <a:spcBef>
                <a:spcPts val="0"/>
              </a:spcBef>
              <a:spcAft>
                <a:spcPts val="0"/>
              </a:spcAft>
              <a:buClr>
                <a:schemeClr val="lt1"/>
              </a:buClr>
              <a:buSzPts val="2000"/>
              <a:buFont typeface="Arial"/>
              <a:buChar char="•"/>
            </a:pPr>
            <a:r>
              <a:rPr lang="es-ES" sz="2000" dirty="0">
                <a:solidFill>
                  <a:schemeClr val="lt1"/>
                </a:solidFill>
                <a:latin typeface="Calibri"/>
                <a:ea typeface="Calibri"/>
                <a:cs typeface="Calibri"/>
                <a:sym typeface="Calibri"/>
              </a:rPr>
              <a:t>Archivos con valores de largo fijo.</a:t>
            </a:r>
            <a:endParaRPr sz="2000" dirty="0">
              <a:solidFill>
                <a:schemeClr val="lt1"/>
              </a:solidFill>
              <a:latin typeface="Calibri"/>
              <a:ea typeface="Calibri"/>
              <a:cs typeface="Calibri"/>
              <a:sym typeface="Calibri"/>
            </a:endParaRPr>
          </a:p>
          <a:p>
            <a:pPr marL="0" marR="0" lvl="0" indent="0" algn="just" rtl="0">
              <a:spcBef>
                <a:spcPts val="0"/>
              </a:spcBef>
              <a:spcAft>
                <a:spcPts val="0"/>
              </a:spcAft>
              <a:buNone/>
            </a:pPr>
            <a:endParaRPr sz="2000">
              <a:solidFill>
                <a:schemeClr val="lt1"/>
              </a:solidFill>
              <a:latin typeface="Calibri"/>
              <a:ea typeface="Calibri"/>
              <a:cs typeface="Calibri"/>
              <a:sym typeface="Calibri"/>
            </a:endParaRPr>
          </a:p>
          <a:p>
            <a:pPr marL="0" marR="0" lvl="0" indent="0" algn="just" rtl="0">
              <a:spcBef>
                <a:spcPts val="0"/>
              </a:spcBef>
              <a:spcAft>
                <a:spcPts val="0"/>
              </a:spcAft>
              <a:buNone/>
            </a:pPr>
            <a:r>
              <a:rPr lang="es-ES" sz="2000" dirty="0">
                <a:solidFill>
                  <a:schemeClr val="lt1"/>
                </a:solidFill>
                <a:latin typeface="Calibri"/>
                <a:ea typeface="Calibri"/>
                <a:cs typeface="Calibri"/>
                <a:sym typeface="Calibri"/>
              </a:rPr>
              <a:t>Archivos con estructura:</a:t>
            </a:r>
            <a:endParaRPr sz="2000" dirty="0">
              <a:solidFill>
                <a:schemeClr val="lt1"/>
              </a:solidFill>
              <a:latin typeface="Calibri"/>
              <a:ea typeface="Calibri"/>
              <a:cs typeface="Calibri"/>
              <a:sym typeface="Calibri"/>
            </a:endParaRPr>
          </a:p>
          <a:p>
            <a:pPr marL="342900" marR="0" lvl="0" indent="-342900" algn="just" rtl="0">
              <a:spcBef>
                <a:spcPts val="0"/>
              </a:spcBef>
              <a:spcAft>
                <a:spcPts val="0"/>
              </a:spcAft>
              <a:buClr>
                <a:schemeClr val="lt1"/>
              </a:buClr>
              <a:buSzPts val="2000"/>
              <a:buFont typeface="Arial"/>
              <a:buChar char="•"/>
            </a:pPr>
            <a:r>
              <a:rPr lang="es-ES" sz="2000" dirty="0">
                <a:solidFill>
                  <a:schemeClr val="lt1"/>
                </a:solidFill>
                <a:latin typeface="Calibri"/>
                <a:ea typeface="Calibri"/>
                <a:cs typeface="Calibri"/>
                <a:sym typeface="Calibri"/>
              </a:rPr>
              <a:t>Archivos XML</a:t>
            </a:r>
            <a:endParaRPr dirty="0">
              <a:solidFill>
                <a:schemeClr val="lt1"/>
              </a:solidFill>
            </a:endParaRPr>
          </a:p>
          <a:p>
            <a:pPr marL="342900" marR="0" lvl="0" indent="-342900" algn="just" rtl="0">
              <a:spcBef>
                <a:spcPts val="0"/>
              </a:spcBef>
              <a:spcAft>
                <a:spcPts val="0"/>
              </a:spcAft>
              <a:buClr>
                <a:schemeClr val="lt1"/>
              </a:buClr>
              <a:buSzPts val="2000"/>
              <a:buFont typeface="Arial"/>
              <a:buChar char="•"/>
            </a:pPr>
            <a:r>
              <a:rPr lang="es-ES" sz="2000" dirty="0">
                <a:solidFill>
                  <a:schemeClr val="lt1"/>
                </a:solidFill>
                <a:latin typeface="Calibri"/>
                <a:ea typeface="Calibri"/>
                <a:cs typeface="Calibri"/>
                <a:sym typeface="Calibri"/>
              </a:rPr>
              <a:t>Archivos JSON</a:t>
            </a:r>
            <a:endParaRPr sz="2000" dirty="0">
              <a:solidFill>
                <a:schemeClr val="lt1"/>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35"/>
                                        </p:tgtEl>
                                        <p:attrNameLst>
                                          <p:attrName>style.visibility</p:attrName>
                                        </p:attrNameLst>
                                      </p:cBhvr>
                                      <p:to>
                                        <p:strVal val="visible"/>
                                      </p:to>
                                    </p:set>
                                    <p:animEffect transition="in" filter="fade">
                                      <p:cBhvr>
                                        <p:cTn id="7" dur="500"/>
                                        <p:tgtEl>
                                          <p:spTgt spid="1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141" name="Google Shape;141;p6"/>
          <p:cNvSpPr/>
          <p:nvPr/>
        </p:nvSpPr>
        <p:spPr>
          <a:xfrm>
            <a:off x="5271912" y="1833914"/>
            <a:ext cx="6016919" cy="2484950"/>
          </a:xfrm>
          <a:prstGeom prst="roundRect">
            <a:avLst>
              <a:gd name="adj" fmla="val 2971"/>
            </a:avLst>
          </a:prstGeom>
          <a:gradFill>
            <a:gsLst>
              <a:gs pos="0">
                <a:srgbClr val="451539"/>
              </a:gs>
              <a:gs pos="50000">
                <a:srgbClr val="641F53"/>
              </a:gs>
              <a:gs pos="100000">
                <a:srgbClr val="782663"/>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42" name="Google Shape;142;p6"/>
          <p:cNvSpPr/>
          <p:nvPr/>
        </p:nvSpPr>
        <p:spPr>
          <a:xfrm>
            <a:off x="1004867" y="417220"/>
            <a:ext cx="4788843" cy="6164758"/>
          </a:xfrm>
          <a:prstGeom prst="roundRect">
            <a:avLst>
              <a:gd name="adj" fmla="val 2971"/>
            </a:avLst>
          </a:prstGeom>
          <a:solidFill>
            <a:srgbClr val="272B34"/>
          </a:solidFill>
          <a:ln w="38100" cap="flat" cmpd="sng">
            <a:solidFill>
              <a:srgbClr val="732C6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43" name="Google Shape;143;p6"/>
          <p:cNvSpPr txBox="1"/>
          <p:nvPr/>
        </p:nvSpPr>
        <p:spPr>
          <a:xfrm>
            <a:off x="5996905" y="780114"/>
            <a:ext cx="5190596" cy="1008062"/>
          </a:xfrm>
          <a:prstGeom prst="rect">
            <a:avLst/>
          </a:prstGeom>
          <a:noFill/>
          <a:ln>
            <a:noFill/>
          </a:ln>
        </p:spPr>
        <p:txBody>
          <a:bodyPr spcFirstLastPara="1" wrap="square" lIns="91425" tIns="45700" rIns="91425" bIns="45700" anchor="ctr" anchorCtr="0">
            <a:noAutofit/>
          </a:bodyPr>
          <a:lstStyle/>
          <a:p>
            <a:pPr marL="0" marR="0" lvl="0" indent="0" algn="l" rtl="0">
              <a:lnSpc>
                <a:spcPct val="150000"/>
              </a:lnSpc>
              <a:spcBef>
                <a:spcPts val="0"/>
              </a:spcBef>
              <a:spcAft>
                <a:spcPts val="0"/>
              </a:spcAft>
              <a:buNone/>
            </a:pPr>
            <a:r>
              <a:rPr lang="es-ES" sz="3200">
                <a:solidFill>
                  <a:srgbClr val="7F7F7F"/>
                </a:solidFill>
                <a:latin typeface="Arial"/>
                <a:ea typeface="Arial"/>
                <a:cs typeface="Arial"/>
                <a:sym typeface="Arial"/>
              </a:rPr>
              <a:t>Formato JSON</a:t>
            </a:r>
            <a:endParaRPr/>
          </a:p>
        </p:txBody>
      </p:sp>
      <p:sp>
        <p:nvSpPr>
          <p:cNvPr id="144" name="Google Shape;144;p6"/>
          <p:cNvSpPr txBox="1"/>
          <p:nvPr/>
        </p:nvSpPr>
        <p:spPr>
          <a:xfrm>
            <a:off x="6065454" y="2414669"/>
            <a:ext cx="5007111" cy="1323439"/>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2000">
                <a:solidFill>
                  <a:schemeClr val="lt1"/>
                </a:solidFill>
                <a:latin typeface="Calibri"/>
                <a:ea typeface="Calibri"/>
                <a:cs typeface="Calibri"/>
                <a:sym typeface="Calibri"/>
              </a:rPr>
              <a:t>El formato JSON almacenan estructuras de dato estilo JavaScript Object Notation y son utilizados comúnmente en los servicios REST API para el intercambio de información.</a:t>
            </a:r>
            <a:endParaRPr/>
          </a:p>
        </p:txBody>
      </p:sp>
      <p:pic>
        <p:nvPicPr>
          <p:cNvPr id="145" name="Google Shape;145;p6" descr="Screenshot of a .json file in GitHub Atom"/>
          <p:cNvPicPr preferRelativeResize="0"/>
          <p:nvPr/>
        </p:nvPicPr>
        <p:blipFill rotWithShape="1">
          <a:blip r:embed="rId3">
            <a:alphaModFix/>
          </a:blip>
          <a:srcRect t="4649" r="43638" b="3250"/>
          <a:stretch/>
        </p:blipFill>
        <p:spPr>
          <a:xfrm>
            <a:off x="1208062" y="574440"/>
            <a:ext cx="4267200" cy="5850319"/>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43"/>
                                        </p:tgtEl>
                                        <p:attrNameLst>
                                          <p:attrName>style.visibility</p:attrName>
                                        </p:attrNameLst>
                                      </p:cBhvr>
                                      <p:to>
                                        <p:strVal val="visible"/>
                                      </p:to>
                                    </p:set>
                                    <p:animEffect transition="in" filter="fade">
                                      <p:cBhvr>
                                        <p:cTn id="7" dur="500"/>
                                        <p:tgtEl>
                                          <p:spTgt spid="1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0" name="Google Shape;150;p7"/>
          <p:cNvSpPr txBox="1"/>
          <p:nvPr/>
        </p:nvSpPr>
        <p:spPr>
          <a:xfrm>
            <a:off x="33130" y="284293"/>
            <a:ext cx="4246529" cy="731156"/>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None/>
            </a:pPr>
            <a:r>
              <a:rPr lang="es-ES" sz="3200">
                <a:solidFill>
                  <a:srgbClr val="7F7F7F"/>
                </a:solidFill>
                <a:latin typeface="Arial"/>
                <a:ea typeface="Arial"/>
                <a:cs typeface="Arial"/>
                <a:sym typeface="Arial"/>
              </a:rPr>
              <a:t>Archivos HDF5</a:t>
            </a:r>
            <a:endParaRPr/>
          </a:p>
        </p:txBody>
      </p:sp>
      <p:sp>
        <p:nvSpPr>
          <p:cNvPr id="151" name="Google Shape;151;p7"/>
          <p:cNvSpPr/>
          <p:nvPr/>
        </p:nvSpPr>
        <p:spPr>
          <a:xfrm>
            <a:off x="678116" y="1165295"/>
            <a:ext cx="11066930" cy="4299056"/>
          </a:xfrm>
          <a:prstGeom prst="roundRect">
            <a:avLst>
              <a:gd name="adj" fmla="val 2971"/>
            </a:avLst>
          </a:prstGeom>
          <a:gradFill>
            <a:gsLst>
              <a:gs pos="0">
                <a:srgbClr val="451539"/>
              </a:gs>
              <a:gs pos="50000">
                <a:srgbClr val="641F53"/>
              </a:gs>
              <a:gs pos="100000">
                <a:srgbClr val="782663"/>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52" name="Google Shape;152;p7"/>
          <p:cNvSpPr txBox="1"/>
          <p:nvPr/>
        </p:nvSpPr>
        <p:spPr>
          <a:xfrm>
            <a:off x="965124" y="1299884"/>
            <a:ext cx="4075426" cy="2279386"/>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2000" b="1">
                <a:solidFill>
                  <a:schemeClr val="lt1"/>
                </a:solidFill>
                <a:latin typeface="Calibri"/>
                <a:ea typeface="Calibri"/>
                <a:cs typeface="Calibri"/>
                <a:sym typeface="Calibri"/>
              </a:rPr>
              <a:t>Hierarchical Data Format v5</a:t>
            </a:r>
            <a:r>
              <a:rPr lang="es-ES" sz="2000">
                <a:solidFill>
                  <a:schemeClr val="lt1"/>
                </a:solidFill>
                <a:latin typeface="Calibri"/>
                <a:ea typeface="Calibri"/>
                <a:cs typeface="Calibri"/>
                <a:sym typeface="Calibri"/>
              </a:rPr>
              <a:t> es un formato de archivo binario que permite el almacenamiento de datos grandes, complejos y heterogéneos con una estructura jerárquica de tipo directorio, y con meta data descriptiva, todo en un solo archivo</a:t>
            </a:r>
            <a:r>
              <a:rPr lang="es-ES" sz="1600">
                <a:solidFill>
                  <a:schemeClr val="lt1"/>
                </a:solidFill>
                <a:latin typeface="Arial"/>
                <a:ea typeface="Arial"/>
                <a:cs typeface="Arial"/>
                <a:sym typeface="Arial"/>
              </a:rPr>
              <a:t>.</a:t>
            </a:r>
            <a:endParaRPr/>
          </a:p>
        </p:txBody>
      </p:sp>
      <p:grpSp>
        <p:nvGrpSpPr>
          <p:cNvPr id="153" name="Google Shape;153;p7"/>
          <p:cNvGrpSpPr/>
          <p:nvPr/>
        </p:nvGrpSpPr>
        <p:grpSpPr>
          <a:xfrm>
            <a:off x="5199666" y="1295398"/>
            <a:ext cx="6384321" cy="4029756"/>
            <a:chOff x="2873829" y="2480783"/>
            <a:chExt cx="6384321" cy="4029756"/>
          </a:xfrm>
        </p:grpSpPr>
        <p:sp>
          <p:nvSpPr>
            <p:cNvPr id="154" name="Google Shape;154;p7"/>
            <p:cNvSpPr/>
            <p:nvPr/>
          </p:nvSpPr>
          <p:spPr>
            <a:xfrm>
              <a:off x="2873829" y="2480783"/>
              <a:ext cx="6384321" cy="4029756"/>
            </a:xfrm>
            <a:prstGeom prst="roundRect">
              <a:avLst>
                <a:gd name="adj" fmla="val 2971"/>
              </a:avLst>
            </a:prstGeom>
            <a:solidFill>
              <a:schemeClr val="lt1"/>
            </a:solidFill>
            <a:ln w="38100" cap="flat" cmpd="sng">
              <a:solidFill>
                <a:srgbClr val="732C6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155" name="Google Shape;155;p7" descr="An illustration of a HDF5 file structure which contains groups, datasets and associated metadata"/>
            <p:cNvPicPr preferRelativeResize="0"/>
            <p:nvPr/>
          </p:nvPicPr>
          <p:blipFill rotWithShape="1">
            <a:blip r:embed="rId3">
              <a:alphaModFix/>
            </a:blip>
            <a:srcRect/>
            <a:stretch/>
          </p:blipFill>
          <p:spPr>
            <a:xfrm>
              <a:off x="3167351" y="2785840"/>
              <a:ext cx="5857297" cy="3423096"/>
            </a:xfrm>
            <a:prstGeom prst="rect">
              <a:avLst/>
            </a:prstGeom>
            <a:noFill/>
            <a:ln w="9525" cap="flat" cmpd="sng">
              <a:solidFill>
                <a:srgbClr val="732C61"/>
              </a:solidFill>
              <a:prstDash val="solid"/>
              <a:round/>
              <a:headEnd type="none" w="sm" len="sm"/>
              <a:tailEnd type="none" w="sm" len="sm"/>
            </a:ln>
          </p:spPr>
        </p:pic>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50"/>
                                        </p:tgtEl>
                                        <p:attrNameLst>
                                          <p:attrName>style.visibility</p:attrName>
                                        </p:attrNameLst>
                                      </p:cBhvr>
                                      <p:to>
                                        <p:strVal val="visible"/>
                                      </p:to>
                                    </p:set>
                                    <p:animEffect transition="in" filter="fade">
                                      <p:cBhvr>
                                        <p:cTn id="7" dur="500"/>
                                        <p:tgtEl>
                                          <p:spTgt spid="1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sp>
        <p:nvSpPr>
          <p:cNvPr id="160" name="Google Shape;160;p8"/>
          <p:cNvSpPr txBox="1"/>
          <p:nvPr/>
        </p:nvSpPr>
        <p:spPr>
          <a:xfrm>
            <a:off x="685395" y="3812452"/>
            <a:ext cx="10782300" cy="731156"/>
          </a:xfrm>
          <a:prstGeom prst="rect">
            <a:avLst/>
          </a:prstGeom>
          <a:noFill/>
          <a:ln>
            <a:noFill/>
          </a:ln>
        </p:spPr>
        <p:txBody>
          <a:bodyPr spcFirstLastPara="1" wrap="square" lIns="91425" tIns="45700" rIns="91425" bIns="45700" anchor="ctr" anchorCtr="0">
            <a:noAutofit/>
          </a:bodyPr>
          <a:lstStyle/>
          <a:p>
            <a:pPr marL="0" marR="0" lvl="0" indent="0" algn="just" rtl="0">
              <a:lnSpc>
                <a:spcPct val="90000"/>
              </a:lnSpc>
              <a:spcBef>
                <a:spcPts val="0"/>
              </a:spcBef>
              <a:spcAft>
                <a:spcPts val="0"/>
              </a:spcAft>
              <a:buNone/>
            </a:pPr>
            <a:r>
              <a:rPr lang="es-ES" sz="3200">
                <a:solidFill>
                  <a:srgbClr val="7F7F7F"/>
                </a:solidFill>
                <a:latin typeface="Arial"/>
                <a:ea typeface="Arial"/>
                <a:cs typeface="Arial"/>
                <a:sym typeface="Arial"/>
              </a:rPr>
              <a:t>Pandas I/O</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60"/>
                                        </p:tgtEl>
                                        <p:attrNameLst>
                                          <p:attrName>style.visibility</p:attrName>
                                        </p:attrNameLst>
                                      </p:cBhvr>
                                      <p:to>
                                        <p:strVal val="visible"/>
                                      </p:to>
                                    </p:set>
                                    <p:animEffect transition="in" filter="fade">
                                      <p:cBhvr>
                                        <p:cTn id="7" dur="500"/>
                                        <p:tgtEl>
                                          <p:spTgt spid="1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sp>
        <p:nvSpPr>
          <p:cNvPr id="165" name="Google Shape;165;p9"/>
          <p:cNvSpPr/>
          <p:nvPr/>
        </p:nvSpPr>
        <p:spPr>
          <a:xfrm>
            <a:off x="-331694" y="1857148"/>
            <a:ext cx="6993752" cy="3539606"/>
          </a:xfrm>
          <a:prstGeom prst="roundRect">
            <a:avLst>
              <a:gd name="adj" fmla="val 2971"/>
            </a:avLst>
          </a:prstGeom>
          <a:gradFill>
            <a:gsLst>
              <a:gs pos="0">
                <a:srgbClr val="451539"/>
              </a:gs>
              <a:gs pos="50000">
                <a:srgbClr val="641F53"/>
              </a:gs>
              <a:gs pos="100000">
                <a:srgbClr val="782663"/>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66" name="Google Shape;166;p9"/>
          <p:cNvSpPr txBox="1"/>
          <p:nvPr/>
        </p:nvSpPr>
        <p:spPr>
          <a:xfrm>
            <a:off x="926761" y="643329"/>
            <a:ext cx="10299787" cy="1008062"/>
          </a:xfrm>
          <a:prstGeom prst="rect">
            <a:avLst/>
          </a:prstGeom>
          <a:noFill/>
          <a:ln>
            <a:noFill/>
          </a:ln>
        </p:spPr>
        <p:txBody>
          <a:bodyPr spcFirstLastPara="1" wrap="square" lIns="91425" tIns="45700" rIns="91425" bIns="45700" anchor="ctr" anchorCtr="0">
            <a:noAutofit/>
          </a:bodyPr>
          <a:lstStyle/>
          <a:p>
            <a:pPr marL="0" marR="0" lvl="0" indent="0" algn="l" rtl="0">
              <a:lnSpc>
                <a:spcPct val="150000"/>
              </a:lnSpc>
              <a:spcBef>
                <a:spcPts val="0"/>
              </a:spcBef>
              <a:spcAft>
                <a:spcPts val="0"/>
              </a:spcAft>
              <a:buNone/>
            </a:pPr>
            <a:r>
              <a:rPr lang="es-ES" sz="3200">
                <a:solidFill>
                  <a:srgbClr val="7F7F7F"/>
                </a:solidFill>
                <a:latin typeface="Arial"/>
                <a:ea typeface="Arial"/>
                <a:cs typeface="Arial"/>
                <a:sym typeface="Arial"/>
              </a:rPr>
              <a:t>Pandas I/O</a:t>
            </a:r>
            <a:endParaRPr sz="3200">
              <a:solidFill>
                <a:srgbClr val="7F7F7F"/>
              </a:solidFill>
              <a:latin typeface="Arial"/>
              <a:ea typeface="Arial"/>
              <a:cs typeface="Arial"/>
              <a:sym typeface="Arial"/>
            </a:endParaRPr>
          </a:p>
        </p:txBody>
      </p:sp>
      <p:sp>
        <p:nvSpPr>
          <p:cNvPr id="167" name="Google Shape;167;p9"/>
          <p:cNvSpPr txBox="1"/>
          <p:nvPr/>
        </p:nvSpPr>
        <p:spPr>
          <a:xfrm>
            <a:off x="926761" y="2041901"/>
            <a:ext cx="5441382" cy="3170099"/>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2000">
                <a:solidFill>
                  <a:schemeClr val="lt1"/>
                </a:solidFill>
                <a:latin typeface="Calibri"/>
                <a:ea typeface="Calibri"/>
                <a:cs typeface="Calibri"/>
                <a:sym typeface="Calibri"/>
              </a:rPr>
              <a:t>La librería Pandas provee de soporte para la lectura y escritura de información desde diversas fuentes, de forma simple y flexible. Dentro de las cuales se encuentran las siguientes:</a:t>
            </a:r>
            <a:endParaRPr/>
          </a:p>
          <a:p>
            <a:pPr marL="285750" marR="0" lvl="0" indent="-285750" algn="just" rtl="0">
              <a:spcBef>
                <a:spcPts val="0"/>
              </a:spcBef>
              <a:spcAft>
                <a:spcPts val="0"/>
              </a:spcAft>
              <a:buClr>
                <a:schemeClr val="lt1"/>
              </a:buClr>
              <a:buSzPts val="2000"/>
              <a:buFont typeface="Arial"/>
              <a:buChar char="•"/>
            </a:pPr>
            <a:r>
              <a:rPr lang="es-ES" sz="2000">
                <a:solidFill>
                  <a:schemeClr val="lt1"/>
                </a:solidFill>
                <a:latin typeface="Calibri"/>
                <a:ea typeface="Calibri"/>
                <a:cs typeface="Calibri"/>
                <a:sym typeface="Calibri"/>
              </a:rPr>
              <a:t>CSV</a:t>
            </a:r>
            <a:endParaRPr/>
          </a:p>
          <a:p>
            <a:pPr marL="285750" marR="0" lvl="0" indent="-285750" algn="just" rtl="0">
              <a:spcBef>
                <a:spcPts val="0"/>
              </a:spcBef>
              <a:spcAft>
                <a:spcPts val="0"/>
              </a:spcAft>
              <a:buClr>
                <a:schemeClr val="lt1"/>
              </a:buClr>
              <a:buSzPts val="2000"/>
              <a:buFont typeface="Arial"/>
              <a:buChar char="•"/>
            </a:pPr>
            <a:r>
              <a:rPr lang="es-ES" sz="2000">
                <a:solidFill>
                  <a:schemeClr val="lt1"/>
                </a:solidFill>
                <a:latin typeface="Calibri"/>
                <a:ea typeface="Calibri"/>
                <a:cs typeface="Calibri"/>
                <a:sym typeface="Calibri"/>
              </a:rPr>
              <a:t>Excel</a:t>
            </a:r>
            <a:endParaRPr/>
          </a:p>
          <a:p>
            <a:pPr marL="285750" marR="0" lvl="0" indent="-285750" algn="just" rtl="0">
              <a:spcBef>
                <a:spcPts val="0"/>
              </a:spcBef>
              <a:spcAft>
                <a:spcPts val="0"/>
              </a:spcAft>
              <a:buClr>
                <a:schemeClr val="lt1"/>
              </a:buClr>
              <a:buSzPts val="2000"/>
              <a:buFont typeface="Arial"/>
              <a:buChar char="•"/>
            </a:pPr>
            <a:r>
              <a:rPr lang="es-ES" sz="2000">
                <a:solidFill>
                  <a:schemeClr val="lt1"/>
                </a:solidFill>
                <a:latin typeface="Calibri"/>
                <a:ea typeface="Calibri"/>
                <a:cs typeface="Calibri"/>
                <a:sym typeface="Calibri"/>
              </a:rPr>
              <a:t>HTML</a:t>
            </a:r>
            <a:endParaRPr/>
          </a:p>
          <a:p>
            <a:pPr marL="285750" marR="0" lvl="0" indent="-285750" algn="just" rtl="0">
              <a:spcBef>
                <a:spcPts val="0"/>
              </a:spcBef>
              <a:spcAft>
                <a:spcPts val="0"/>
              </a:spcAft>
              <a:buClr>
                <a:schemeClr val="lt1"/>
              </a:buClr>
              <a:buSzPts val="2000"/>
              <a:buFont typeface="Arial"/>
              <a:buChar char="•"/>
            </a:pPr>
            <a:r>
              <a:rPr lang="es-ES" sz="2000">
                <a:solidFill>
                  <a:schemeClr val="lt1"/>
                </a:solidFill>
                <a:latin typeface="Calibri"/>
                <a:ea typeface="Calibri"/>
                <a:cs typeface="Calibri"/>
                <a:sym typeface="Calibri"/>
              </a:rPr>
              <a:t>SQL</a:t>
            </a:r>
            <a:endParaRPr/>
          </a:p>
          <a:p>
            <a:pPr marL="285750" marR="0" lvl="0" indent="-285750" algn="just" rtl="0">
              <a:spcBef>
                <a:spcPts val="0"/>
              </a:spcBef>
              <a:spcAft>
                <a:spcPts val="0"/>
              </a:spcAft>
              <a:buClr>
                <a:schemeClr val="lt1"/>
              </a:buClr>
              <a:buSzPts val="2000"/>
              <a:buFont typeface="Arial"/>
              <a:buChar char="•"/>
            </a:pPr>
            <a:r>
              <a:rPr lang="es-ES" sz="2000">
                <a:solidFill>
                  <a:schemeClr val="lt1"/>
                </a:solidFill>
                <a:latin typeface="Calibri"/>
                <a:ea typeface="Calibri"/>
                <a:cs typeface="Calibri"/>
                <a:sym typeface="Calibri"/>
              </a:rPr>
              <a:t>HDF5</a:t>
            </a:r>
            <a:endParaRPr/>
          </a:p>
          <a:p>
            <a:pPr marL="285750" marR="0" lvl="0" indent="-285750" algn="just" rtl="0">
              <a:spcBef>
                <a:spcPts val="0"/>
              </a:spcBef>
              <a:spcAft>
                <a:spcPts val="0"/>
              </a:spcAft>
              <a:buClr>
                <a:schemeClr val="lt1"/>
              </a:buClr>
              <a:buSzPts val="2000"/>
              <a:buFont typeface="Arial"/>
              <a:buChar char="•"/>
            </a:pPr>
            <a:r>
              <a:rPr lang="es-ES" sz="2000">
                <a:solidFill>
                  <a:schemeClr val="lt1"/>
                </a:solidFill>
                <a:latin typeface="Calibri"/>
                <a:ea typeface="Calibri"/>
                <a:cs typeface="Calibri"/>
                <a:sym typeface="Calibri"/>
              </a:rPr>
              <a:t>Otras</a:t>
            </a:r>
            <a:endParaRPr sz="2000">
              <a:solidFill>
                <a:schemeClr val="lt1"/>
              </a:solidFill>
              <a:latin typeface="Calibri"/>
              <a:ea typeface="Calibri"/>
              <a:cs typeface="Calibri"/>
              <a:sym typeface="Calibri"/>
            </a:endParaRPr>
          </a:p>
        </p:txBody>
      </p:sp>
      <p:sp>
        <p:nvSpPr>
          <p:cNvPr id="168" name="Google Shape;168;p9"/>
          <p:cNvSpPr/>
          <p:nvPr/>
        </p:nvSpPr>
        <p:spPr>
          <a:xfrm>
            <a:off x="7124380" y="2207635"/>
            <a:ext cx="4526711" cy="2757920"/>
          </a:xfrm>
          <a:prstGeom prst="roundRect">
            <a:avLst>
              <a:gd name="adj" fmla="val 2971"/>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169" name="Google Shape;169;p9"/>
          <p:cNvPicPr preferRelativeResize="0"/>
          <p:nvPr/>
        </p:nvPicPr>
        <p:blipFill rotWithShape="1">
          <a:blip r:embed="rId3">
            <a:alphaModFix/>
          </a:blip>
          <a:srcRect/>
          <a:stretch/>
        </p:blipFill>
        <p:spPr>
          <a:xfrm>
            <a:off x="479470" y="2291603"/>
            <a:ext cx="289524" cy="289524"/>
          </a:xfrm>
          <a:prstGeom prst="rect">
            <a:avLst/>
          </a:prstGeom>
          <a:noFill/>
          <a:ln>
            <a:noFill/>
          </a:ln>
        </p:spPr>
      </p:pic>
      <p:pic>
        <p:nvPicPr>
          <p:cNvPr id="170" name="Google Shape;170;p9"/>
          <p:cNvPicPr preferRelativeResize="0"/>
          <p:nvPr/>
        </p:nvPicPr>
        <p:blipFill rotWithShape="1">
          <a:blip r:embed="rId4">
            <a:alphaModFix/>
          </a:blip>
          <a:srcRect/>
          <a:stretch/>
        </p:blipFill>
        <p:spPr>
          <a:xfrm>
            <a:off x="7376846" y="2542479"/>
            <a:ext cx="4021778" cy="2088231"/>
          </a:xfrm>
          <a:prstGeom prst="rect">
            <a:avLst/>
          </a:prstGeom>
          <a:noFill/>
          <a:ln>
            <a:noFill/>
          </a:ln>
          <a:effectLst>
            <a:outerShdw blurRad="190500" algn="tl" rotWithShape="0">
              <a:srgbClr val="000000">
                <a:alpha val="69803"/>
              </a:srgbClr>
            </a:outerShdw>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66"/>
                                        </p:tgtEl>
                                        <p:attrNameLst>
                                          <p:attrName>style.visibility</p:attrName>
                                        </p:attrNameLst>
                                      </p:cBhvr>
                                      <p:to>
                                        <p:strVal val="visible"/>
                                      </p:to>
                                    </p:set>
                                    <p:animEffect transition="in" filter="fade">
                                      <p:cBhvr>
                                        <p:cTn id="7" dur="500"/>
                                        <p:tgtEl>
                                          <p:spTgt spid="1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sp>
        <p:nvSpPr>
          <p:cNvPr id="175" name="Google Shape;175;p10"/>
          <p:cNvSpPr txBox="1"/>
          <p:nvPr/>
        </p:nvSpPr>
        <p:spPr>
          <a:xfrm>
            <a:off x="1077685" y="417970"/>
            <a:ext cx="6908724" cy="1008062"/>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s-ES" sz="3200">
                <a:solidFill>
                  <a:srgbClr val="7F7F7F"/>
                </a:solidFill>
                <a:latin typeface="Arial"/>
                <a:ea typeface="Arial"/>
                <a:cs typeface="Arial"/>
                <a:sym typeface="Arial"/>
              </a:rPr>
              <a:t>Entrada y Salida de Información</a:t>
            </a:r>
            <a:endParaRPr sz="3200">
              <a:solidFill>
                <a:srgbClr val="7F7F7F"/>
              </a:solidFill>
              <a:latin typeface="Arial"/>
              <a:ea typeface="Arial"/>
              <a:cs typeface="Arial"/>
              <a:sym typeface="Arial"/>
            </a:endParaRPr>
          </a:p>
        </p:txBody>
      </p:sp>
      <p:sp>
        <p:nvSpPr>
          <p:cNvPr id="176" name="Google Shape;176;p10"/>
          <p:cNvSpPr/>
          <p:nvPr/>
        </p:nvSpPr>
        <p:spPr>
          <a:xfrm>
            <a:off x="1491342" y="1474579"/>
            <a:ext cx="9452808" cy="4534334"/>
          </a:xfrm>
          <a:prstGeom prst="roundRect">
            <a:avLst>
              <a:gd name="adj" fmla="val 2971"/>
            </a:avLst>
          </a:prstGeom>
          <a:solidFill>
            <a:schemeClr val="lt1"/>
          </a:solidFill>
          <a:ln w="38100" cap="flat" cmpd="sng">
            <a:solidFill>
              <a:srgbClr val="732C6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177" name="Google Shape;177;p10"/>
          <p:cNvPicPr preferRelativeResize="0"/>
          <p:nvPr/>
        </p:nvPicPr>
        <p:blipFill rotWithShape="1">
          <a:blip r:embed="rId3">
            <a:alphaModFix/>
          </a:blip>
          <a:srcRect/>
          <a:stretch/>
        </p:blipFill>
        <p:spPr>
          <a:xfrm>
            <a:off x="2247969" y="2135174"/>
            <a:ext cx="8211696" cy="3572374"/>
          </a:xfrm>
          <a:prstGeom prst="rect">
            <a:avLst/>
          </a:prstGeom>
          <a:noFill/>
          <a:ln>
            <a:noFill/>
          </a:ln>
        </p:spPr>
      </p:pic>
      <p:sp>
        <p:nvSpPr>
          <p:cNvPr id="178" name="Google Shape;178;p10"/>
          <p:cNvSpPr txBox="1"/>
          <p:nvPr/>
        </p:nvSpPr>
        <p:spPr>
          <a:xfrm>
            <a:off x="4261641" y="1630266"/>
            <a:ext cx="3910519" cy="369332"/>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s-ES" sz="1800">
                <a:solidFill>
                  <a:srgbClr val="7F7F7F"/>
                </a:solidFill>
                <a:latin typeface="Calibri"/>
                <a:ea typeface="Calibri"/>
                <a:cs typeface="Calibri"/>
                <a:sym typeface="Calibri"/>
              </a:rPr>
              <a:t>Archivos de Texto</a:t>
            </a:r>
            <a:endParaRPr sz="1800">
              <a:solidFill>
                <a:srgbClr val="7F7F7F"/>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75"/>
                                        </p:tgtEl>
                                        <p:attrNameLst>
                                          <p:attrName>style.visibility</p:attrName>
                                        </p:attrNameLst>
                                      </p:cBhvr>
                                      <p:to>
                                        <p:strVal val="visible"/>
                                      </p:to>
                                    </p:set>
                                    <p:animEffect transition="in" filter="fade">
                                      <p:cBhvr>
                                        <p:cTn id="7" dur="500"/>
                                        <p:tgtEl>
                                          <p:spTgt spid="1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82"/>
        <p:cNvGrpSpPr/>
        <p:nvPr/>
      </p:nvGrpSpPr>
      <p:grpSpPr>
        <a:xfrm>
          <a:off x="0" y="0"/>
          <a:ext cx="0" cy="0"/>
          <a:chOff x="0" y="0"/>
          <a:chExt cx="0" cy="0"/>
        </a:xfrm>
      </p:grpSpPr>
      <p:sp>
        <p:nvSpPr>
          <p:cNvPr id="183" name="Google Shape;183;p11"/>
          <p:cNvSpPr txBox="1"/>
          <p:nvPr/>
        </p:nvSpPr>
        <p:spPr>
          <a:xfrm>
            <a:off x="1244324" y="305454"/>
            <a:ext cx="6406069" cy="1008062"/>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3200">
              <a:solidFill>
                <a:srgbClr val="7F7F7F"/>
              </a:solidFill>
              <a:latin typeface="Arial"/>
              <a:ea typeface="Arial"/>
              <a:cs typeface="Arial"/>
              <a:sym typeface="Arial"/>
            </a:endParaRPr>
          </a:p>
          <a:p>
            <a:pPr marL="0" marR="0" lvl="0" indent="0" algn="ctr" rtl="0">
              <a:lnSpc>
                <a:spcPct val="100000"/>
              </a:lnSpc>
              <a:spcBef>
                <a:spcPts val="0"/>
              </a:spcBef>
              <a:spcAft>
                <a:spcPts val="0"/>
              </a:spcAft>
              <a:buNone/>
            </a:pPr>
            <a:r>
              <a:rPr lang="es-ES" sz="3200">
                <a:solidFill>
                  <a:srgbClr val="7F7F7F"/>
                </a:solidFill>
                <a:latin typeface="Arial"/>
                <a:ea typeface="Arial"/>
                <a:cs typeface="Arial"/>
                <a:sym typeface="Arial"/>
              </a:rPr>
              <a:t>Entrada y Salida de Información</a:t>
            </a:r>
            <a:endParaRPr sz="3200">
              <a:solidFill>
                <a:srgbClr val="7F7F7F"/>
              </a:solidFill>
              <a:latin typeface="Arial"/>
              <a:ea typeface="Arial"/>
              <a:cs typeface="Arial"/>
              <a:sym typeface="Arial"/>
            </a:endParaRPr>
          </a:p>
          <a:p>
            <a:pPr marL="0" marR="0" lvl="0" indent="0" algn="ctr" rtl="0">
              <a:lnSpc>
                <a:spcPct val="150000"/>
              </a:lnSpc>
              <a:spcBef>
                <a:spcPts val="0"/>
              </a:spcBef>
              <a:spcAft>
                <a:spcPts val="0"/>
              </a:spcAft>
              <a:buNone/>
            </a:pPr>
            <a:endParaRPr sz="3200">
              <a:solidFill>
                <a:srgbClr val="7F7F7F"/>
              </a:solidFill>
              <a:latin typeface="Arial"/>
              <a:ea typeface="Arial"/>
              <a:cs typeface="Arial"/>
              <a:sym typeface="Arial"/>
            </a:endParaRPr>
          </a:p>
        </p:txBody>
      </p:sp>
      <p:sp>
        <p:nvSpPr>
          <p:cNvPr id="184" name="Google Shape;184;p11"/>
          <p:cNvSpPr/>
          <p:nvPr/>
        </p:nvSpPr>
        <p:spPr>
          <a:xfrm>
            <a:off x="1534885" y="1147864"/>
            <a:ext cx="9137123" cy="5311302"/>
          </a:xfrm>
          <a:prstGeom prst="roundRect">
            <a:avLst>
              <a:gd name="adj" fmla="val 2971"/>
            </a:avLst>
          </a:prstGeom>
          <a:solidFill>
            <a:schemeClr val="lt1"/>
          </a:solidFill>
          <a:ln w="38100" cap="flat" cmpd="sng">
            <a:solidFill>
              <a:srgbClr val="732C6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185" name="Google Shape;185;p11"/>
          <p:cNvPicPr preferRelativeResize="0"/>
          <p:nvPr/>
        </p:nvPicPr>
        <p:blipFill rotWithShape="1">
          <a:blip r:embed="rId3">
            <a:alphaModFix/>
          </a:blip>
          <a:srcRect/>
          <a:stretch/>
        </p:blipFill>
        <p:spPr>
          <a:xfrm>
            <a:off x="2066362" y="1488167"/>
            <a:ext cx="8059275" cy="4563112"/>
          </a:xfrm>
          <a:prstGeom prst="rect">
            <a:avLst/>
          </a:prstGeom>
          <a:noFill/>
          <a:ln>
            <a:noFill/>
          </a:ln>
        </p:spPr>
      </p:pic>
      <p:sp>
        <p:nvSpPr>
          <p:cNvPr id="186" name="Google Shape;186;p11"/>
          <p:cNvSpPr txBox="1"/>
          <p:nvPr/>
        </p:nvSpPr>
        <p:spPr>
          <a:xfrm>
            <a:off x="3112852" y="1118835"/>
            <a:ext cx="5651770" cy="369332"/>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s-ES" sz="1800">
                <a:solidFill>
                  <a:srgbClr val="7F7F7F"/>
                </a:solidFill>
                <a:latin typeface="Calibri"/>
                <a:ea typeface="Calibri"/>
                <a:cs typeface="Calibri"/>
                <a:sym typeface="Calibri"/>
              </a:rPr>
              <a:t>Archivos de Texto</a:t>
            </a:r>
            <a:endParaRPr sz="1800">
              <a:solidFill>
                <a:srgbClr val="7F7F7F"/>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83"/>
                                        </p:tgtEl>
                                        <p:attrNameLst>
                                          <p:attrName>style.visibility</p:attrName>
                                        </p:attrNameLst>
                                      </p:cBhvr>
                                      <p:to>
                                        <p:strVal val="visible"/>
                                      </p:to>
                                    </p:set>
                                    <p:animEffect transition="in" filter="fade">
                                      <p:cBhvr>
                                        <p:cTn id="7" dur="500"/>
                                        <p:tgtEl>
                                          <p:spTgt spid="1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191" name="Google Shape;191;p12"/>
          <p:cNvSpPr txBox="1"/>
          <p:nvPr/>
        </p:nvSpPr>
        <p:spPr>
          <a:xfrm>
            <a:off x="1533333" y="679945"/>
            <a:ext cx="6141790" cy="1008062"/>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3200">
              <a:solidFill>
                <a:srgbClr val="7F7F7F"/>
              </a:solidFill>
              <a:latin typeface="Arial"/>
              <a:ea typeface="Arial"/>
              <a:cs typeface="Arial"/>
              <a:sym typeface="Arial"/>
            </a:endParaRPr>
          </a:p>
          <a:p>
            <a:pPr marL="0" marR="0" lvl="0" indent="0" algn="ctr" rtl="0">
              <a:lnSpc>
                <a:spcPct val="100000"/>
              </a:lnSpc>
              <a:spcBef>
                <a:spcPts val="0"/>
              </a:spcBef>
              <a:spcAft>
                <a:spcPts val="0"/>
              </a:spcAft>
              <a:buNone/>
            </a:pPr>
            <a:r>
              <a:rPr lang="es-ES" sz="3200">
                <a:solidFill>
                  <a:srgbClr val="7F7F7F"/>
                </a:solidFill>
                <a:latin typeface="Arial"/>
                <a:ea typeface="Arial"/>
                <a:cs typeface="Arial"/>
                <a:sym typeface="Arial"/>
              </a:rPr>
              <a:t>Entrada y Salida de Información</a:t>
            </a:r>
            <a:endParaRPr sz="3200">
              <a:solidFill>
                <a:srgbClr val="7F7F7F"/>
              </a:solidFill>
              <a:latin typeface="Arial"/>
              <a:ea typeface="Arial"/>
              <a:cs typeface="Arial"/>
              <a:sym typeface="Arial"/>
            </a:endParaRPr>
          </a:p>
          <a:p>
            <a:pPr marL="0" marR="0" lvl="0" indent="0" algn="ctr" rtl="0">
              <a:lnSpc>
                <a:spcPct val="150000"/>
              </a:lnSpc>
              <a:spcBef>
                <a:spcPts val="0"/>
              </a:spcBef>
              <a:spcAft>
                <a:spcPts val="0"/>
              </a:spcAft>
              <a:buNone/>
            </a:pPr>
            <a:endParaRPr sz="3200">
              <a:solidFill>
                <a:srgbClr val="7F7F7F"/>
              </a:solidFill>
              <a:latin typeface="Arial"/>
              <a:ea typeface="Arial"/>
              <a:cs typeface="Arial"/>
              <a:sym typeface="Arial"/>
            </a:endParaRPr>
          </a:p>
        </p:txBody>
      </p:sp>
      <p:sp>
        <p:nvSpPr>
          <p:cNvPr id="192" name="Google Shape;192;p12"/>
          <p:cNvSpPr/>
          <p:nvPr/>
        </p:nvSpPr>
        <p:spPr>
          <a:xfrm>
            <a:off x="1533333" y="2115171"/>
            <a:ext cx="9137123" cy="2700018"/>
          </a:xfrm>
          <a:prstGeom prst="roundRect">
            <a:avLst>
              <a:gd name="adj" fmla="val 2971"/>
            </a:avLst>
          </a:prstGeom>
          <a:solidFill>
            <a:schemeClr val="lt1"/>
          </a:solidFill>
          <a:ln w="38100" cap="flat" cmpd="sng">
            <a:solidFill>
              <a:srgbClr val="732C6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193" name="Google Shape;193;p12"/>
          <p:cNvPicPr preferRelativeResize="0"/>
          <p:nvPr/>
        </p:nvPicPr>
        <p:blipFill rotWithShape="1">
          <a:blip r:embed="rId3">
            <a:alphaModFix/>
          </a:blip>
          <a:srcRect/>
          <a:stretch/>
        </p:blipFill>
        <p:spPr>
          <a:xfrm>
            <a:off x="2105317" y="3223580"/>
            <a:ext cx="8078327" cy="1038370"/>
          </a:xfrm>
          <a:prstGeom prst="rect">
            <a:avLst/>
          </a:prstGeom>
          <a:noFill/>
          <a:ln>
            <a:noFill/>
          </a:ln>
        </p:spPr>
      </p:pic>
      <p:sp>
        <p:nvSpPr>
          <p:cNvPr id="194" name="Google Shape;194;p12"/>
          <p:cNvSpPr txBox="1"/>
          <p:nvPr/>
        </p:nvSpPr>
        <p:spPr>
          <a:xfrm>
            <a:off x="4328808" y="2479266"/>
            <a:ext cx="3346315" cy="369332"/>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s-ES" sz="1800">
                <a:solidFill>
                  <a:srgbClr val="7F7F7F"/>
                </a:solidFill>
                <a:latin typeface="Calibri"/>
                <a:ea typeface="Calibri"/>
                <a:cs typeface="Calibri"/>
                <a:sym typeface="Calibri"/>
              </a:rPr>
              <a:t>Formato SQL</a:t>
            </a:r>
            <a:endParaRPr sz="1800">
              <a:solidFill>
                <a:srgbClr val="7F7F7F"/>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91"/>
                                        </p:tgtEl>
                                        <p:attrNameLst>
                                          <p:attrName>style.visibility</p:attrName>
                                        </p:attrNameLst>
                                      </p:cBhvr>
                                      <p:to>
                                        <p:strVal val="visible"/>
                                      </p:to>
                                    </p:set>
                                    <p:animEffect transition="in" filter="fade">
                                      <p:cBhvr>
                                        <p:cTn id="7" dur="500"/>
                                        <p:tgtEl>
                                          <p:spTgt spid="1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sp>
        <p:nvSpPr>
          <p:cNvPr id="199" name="Google Shape;199;p13"/>
          <p:cNvSpPr txBox="1"/>
          <p:nvPr/>
        </p:nvSpPr>
        <p:spPr>
          <a:xfrm>
            <a:off x="1191232" y="3627627"/>
            <a:ext cx="9373006" cy="731156"/>
          </a:xfrm>
          <a:prstGeom prst="rect">
            <a:avLst/>
          </a:prstGeom>
          <a:noFill/>
          <a:ln>
            <a:noFill/>
          </a:ln>
        </p:spPr>
        <p:txBody>
          <a:bodyPr spcFirstLastPara="1" wrap="square" lIns="91425" tIns="45700" rIns="91425" bIns="45700" anchor="ctr" anchorCtr="0">
            <a:noAutofit/>
          </a:bodyPr>
          <a:lstStyle/>
          <a:p>
            <a:pPr marL="0" marR="0" lvl="0" indent="0" algn="just" rtl="0">
              <a:lnSpc>
                <a:spcPct val="90000"/>
              </a:lnSpc>
              <a:spcBef>
                <a:spcPts val="0"/>
              </a:spcBef>
              <a:spcAft>
                <a:spcPts val="0"/>
              </a:spcAft>
              <a:buNone/>
            </a:pPr>
            <a:r>
              <a:rPr lang="es-ES" sz="3200">
                <a:solidFill>
                  <a:srgbClr val="7F7F7F"/>
                </a:solidFill>
                <a:latin typeface="Arial"/>
                <a:ea typeface="Arial"/>
                <a:cs typeface="Arial"/>
                <a:sym typeface="Arial"/>
              </a:rPr>
              <a:t>Archivos de Texto Plano</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99"/>
                                        </p:tgtEl>
                                        <p:attrNameLst>
                                          <p:attrName>style.visibility</p:attrName>
                                        </p:attrNameLst>
                                      </p:cBhvr>
                                      <p:to>
                                        <p:strVal val="visible"/>
                                      </p:to>
                                    </p:set>
                                    <p:animEffect transition="in" filter="fade">
                                      <p:cBhvr>
                                        <p:cTn id="7" dur="500"/>
                                        <p:tgtEl>
                                          <p:spTgt spid="1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sp>
        <p:nvSpPr>
          <p:cNvPr id="204" name="Google Shape;204;p14"/>
          <p:cNvSpPr/>
          <p:nvPr/>
        </p:nvSpPr>
        <p:spPr>
          <a:xfrm>
            <a:off x="-439706" y="2089206"/>
            <a:ext cx="12165797" cy="3082581"/>
          </a:xfrm>
          <a:prstGeom prst="roundRect">
            <a:avLst>
              <a:gd name="adj" fmla="val 2971"/>
            </a:avLst>
          </a:prstGeom>
          <a:solidFill>
            <a:srgbClr val="732C61"/>
          </a:solidFill>
          <a:ln>
            <a:noFill/>
          </a:ln>
        </p:spPr>
        <p:txBody>
          <a:bodyPr spcFirstLastPara="1" wrap="square" lIns="91425" tIns="45700" rIns="91425" bIns="45700" anchor="ctr" anchorCtr="0">
            <a:noAutofit/>
          </a:bodyPr>
          <a:lstStyle/>
          <a:p>
            <a:pPr marL="0" marR="0" lvl="0" indent="0" algn="just" rtl="0">
              <a:spcBef>
                <a:spcPts val="0"/>
              </a:spcBef>
              <a:spcAft>
                <a:spcPts val="0"/>
              </a:spcAft>
              <a:buNone/>
            </a:pPr>
            <a:endParaRPr sz="1800">
              <a:solidFill>
                <a:schemeClr val="lt1"/>
              </a:solidFill>
              <a:latin typeface="Calibri"/>
              <a:ea typeface="Calibri"/>
              <a:cs typeface="Calibri"/>
              <a:sym typeface="Calibri"/>
            </a:endParaRPr>
          </a:p>
        </p:txBody>
      </p:sp>
      <p:sp>
        <p:nvSpPr>
          <p:cNvPr id="205" name="Google Shape;205;p14"/>
          <p:cNvSpPr/>
          <p:nvPr/>
        </p:nvSpPr>
        <p:spPr>
          <a:xfrm>
            <a:off x="6837027" y="2165406"/>
            <a:ext cx="4788843" cy="2897524"/>
          </a:xfrm>
          <a:prstGeom prst="roundRect">
            <a:avLst>
              <a:gd name="adj" fmla="val 2971"/>
            </a:avLst>
          </a:prstGeom>
          <a:solidFill>
            <a:srgbClr val="272B34"/>
          </a:solidFill>
          <a:ln w="38100" cap="flat" cmpd="sng">
            <a:solidFill>
              <a:srgbClr val="732C6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06" name="Google Shape;206;p14"/>
          <p:cNvSpPr txBox="1"/>
          <p:nvPr/>
        </p:nvSpPr>
        <p:spPr>
          <a:xfrm>
            <a:off x="1409700" y="380854"/>
            <a:ext cx="10782300" cy="1008062"/>
          </a:xfrm>
          <a:prstGeom prst="rect">
            <a:avLst/>
          </a:prstGeom>
          <a:noFill/>
          <a:ln>
            <a:noFill/>
          </a:ln>
        </p:spPr>
        <p:txBody>
          <a:bodyPr spcFirstLastPara="1" wrap="square" lIns="91425" tIns="45700" rIns="91425" bIns="45700" anchor="ctr" anchorCtr="0">
            <a:noAutofit/>
          </a:bodyPr>
          <a:lstStyle/>
          <a:p>
            <a:pPr marL="0" marR="0" lvl="0" indent="0" algn="l" rtl="0">
              <a:lnSpc>
                <a:spcPct val="150000"/>
              </a:lnSpc>
              <a:spcBef>
                <a:spcPts val="0"/>
              </a:spcBef>
              <a:spcAft>
                <a:spcPts val="0"/>
              </a:spcAft>
              <a:buNone/>
            </a:pPr>
            <a:r>
              <a:rPr lang="es-ES" sz="3200">
                <a:solidFill>
                  <a:srgbClr val="7F7F7F"/>
                </a:solidFill>
                <a:latin typeface="Arial"/>
                <a:ea typeface="Arial"/>
                <a:cs typeface="Arial"/>
                <a:sym typeface="Arial"/>
              </a:rPr>
              <a:t>Leyendo un archivo CSV</a:t>
            </a:r>
            <a:endParaRPr/>
          </a:p>
        </p:txBody>
      </p:sp>
      <p:sp>
        <p:nvSpPr>
          <p:cNvPr id="207" name="Google Shape;207;p14"/>
          <p:cNvSpPr txBox="1"/>
          <p:nvPr/>
        </p:nvSpPr>
        <p:spPr>
          <a:xfrm>
            <a:off x="1376484" y="2298959"/>
            <a:ext cx="4826623" cy="2246769"/>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2000">
                <a:solidFill>
                  <a:schemeClr val="lt1"/>
                </a:solidFill>
                <a:latin typeface="Calibri"/>
                <a:ea typeface="Calibri"/>
                <a:cs typeface="Calibri"/>
                <a:sym typeface="Calibri"/>
              </a:rPr>
              <a:t>El siguiente, es un archivo de texto plano con formato CSV (Comma Separated Value). En este formato, una línea equivale a un registro de información. Habitualmente, la primera fila contiene el nombre de las columnas. Más información en el siguiente enlace:</a:t>
            </a:r>
            <a:endParaRPr/>
          </a:p>
        </p:txBody>
      </p:sp>
      <p:pic>
        <p:nvPicPr>
          <p:cNvPr id="208" name="Google Shape;208;p14"/>
          <p:cNvPicPr preferRelativeResize="0"/>
          <p:nvPr/>
        </p:nvPicPr>
        <p:blipFill rotWithShape="1">
          <a:blip r:embed="rId3">
            <a:alphaModFix/>
          </a:blip>
          <a:srcRect/>
          <a:stretch/>
        </p:blipFill>
        <p:spPr>
          <a:xfrm>
            <a:off x="1078416" y="2342391"/>
            <a:ext cx="289524" cy="289524"/>
          </a:xfrm>
          <a:prstGeom prst="rect">
            <a:avLst/>
          </a:prstGeom>
          <a:noFill/>
          <a:ln>
            <a:noFill/>
          </a:ln>
        </p:spPr>
      </p:pic>
      <p:pic>
        <p:nvPicPr>
          <p:cNvPr id="209" name="Google Shape;209;p14"/>
          <p:cNvPicPr preferRelativeResize="0"/>
          <p:nvPr/>
        </p:nvPicPr>
        <p:blipFill rotWithShape="1">
          <a:blip r:embed="rId4">
            <a:alphaModFix/>
          </a:blip>
          <a:srcRect/>
          <a:stretch/>
        </p:blipFill>
        <p:spPr>
          <a:xfrm>
            <a:off x="7149487" y="2487612"/>
            <a:ext cx="4134427" cy="2229161"/>
          </a:xfrm>
          <a:prstGeom prst="rect">
            <a:avLst/>
          </a:prstGeom>
          <a:noFill/>
          <a:ln>
            <a:noFill/>
          </a:ln>
        </p:spPr>
      </p:pic>
      <p:sp>
        <p:nvSpPr>
          <p:cNvPr id="210" name="Google Shape;210;p14"/>
          <p:cNvSpPr/>
          <p:nvPr/>
        </p:nvSpPr>
        <p:spPr>
          <a:xfrm>
            <a:off x="1514041" y="4711856"/>
            <a:ext cx="4918124" cy="338514"/>
          </a:xfrm>
          <a:prstGeom prst="rect">
            <a:avLst/>
          </a:prstGeom>
          <a:solidFill>
            <a:schemeClr val="lt1"/>
          </a:solidFill>
          <a:ln>
            <a:noFill/>
          </a:ln>
        </p:spPr>
        <p:txBody>
          <a:bodyPr spcFirstLastPara="1" wrap="square" lIns="91425" tIns="45700" rIns="91425" bIns="45700" anchor="t" anchorCtr="0">
            <a:spAutoFit/>
          </a:bodyPr>
          <a:lstStyle/>
          <a:p>
            <a:pPr marL="0" marR="0" lvl="0" indent="0" algn="l" rtl="0">
              <a:spcBef>
                <a:spcPts val="0"/>
              </a:spcBef>
              <a:spcAft>
                <a:spcPts val="0"/>
              </a:spcAft>
              <a:buClr>
                <a:srgbClr val="757070"/>
              </a:buClr>
              <a:buSzPts val="1600"/>
              <a:buFont typeface="Calibri"/>
              <a:buNone/>
            </a:pPr>
            <a:r>
              <a:rPr lang="es-ES" sz="1600">
                <a:solidFill>
                  <a:srgbClr val="757070"/>
                </a:solidFill>
                <a:latin typeface="Calibri"/>
                <a:ea typeface="Calibri"/>
                <a:cs typeface="Calibri"/>
                <a:sym typeface="Calibri"/>
              </a:rPr>
              <a:t>https://en.wikipedia.org/wiki/Comma-separated_values</a:t>
            </a:r>
            <a:endParaRPr sz="2000">
              <a:solidFill>
                <a:srgbClr val="757070"/>
              </a:solidFill>
              <a:latin typeface="Calibri"/>
              <a:ea typeface="Calibri"/>
              <a:cs typeface="Calibri"/>
              <a:sym typeface="Calibri"/>
            </a:endParaRPr>
          </a:p>
        </p:txBody>
      </p:sp>
      <p:cxnSp>
        <p:nvCxnSpPr>
          <p:cNvPr id="211" name="Google Shape;211;p14"/>
          <p:cNvCxnSpPr/>
          <p:nvPr/>
        </p:nvCxnSpPr>
        <p:spPr>
          <a:xfrm flipH="1">
            <a:off x="9406815" y="2045724"/>
            <a:ext cx="171450" cy="389323"/>
          </a:xfrm>
          <a:prstGeom prst="straightConnector1">
            <a:avLst/>
          </a:prstGeom>
          <a:noFill/>
          <a:ln w="9525" cap="flat" cmpd="sng">
            <a:solidFill>
              <a:srgbClr val="732C61"/>
            </a:solidFill>
            <a:prstDash val="solid"/>
            <a:miter lim="800000"/>
            <a:headEnd type="none" w="sm" len="sm"/>
            <a:tailEnd type="triangle" w="med" len="med"/>
          </a:ln>
        </p:spPr>
      </p:cxnSp>
      <p:sp>
        <p:nvSpPr>
          <p:cNvPr id="212" name="Google Shape;212;p14"/>
          <p:cNvSpPr txBox="1"/>
          <p:nvPr/>
        </p:nvSpPr>
        <p:spPr>
          <a:xfrm>
            <a:off x="8494563" y="1426985"/>
            <a:ext cx="2227793" cy="52318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Clr>
                <a:srgbClr val="757070"/>
              </a:buClr>
              <a:buSzPts val="1400"/>
              <a:buFont typeface="Calibri"/>
              <a:buNone/>
            </a:pPr>
            <a:r>
              <a:rPr lang="es-ES" sz="1400">
                <a:solidFill>
                  <a:srgbClr val="757070"/>
                </a:solidFill>
                <a:latin typeface="Calibri"/>
                <a:ea typeface="Calibri"/>
                <a:cs typeface="Calibri"/>
                <a:sym typeface="Calibri"/>
              </a:rPr>
              <a:t>Header</a:t>
            </a:r>
            <a:endParaRPr sz="1400">
              <a:solidFill>
                <a:srgbClr val="757070"/>
              </a:solidFill>
              <a:latin typeface="Calibri"/>
              <a:ea typeface="Calibri"/>
              <a:cs typeface="Calibri"/>
              <a:sym typeface="Calibri"/>
            </a:endParaRPr>
          </a:p>
          <a:p>
            <a:pPr marL="0" marR="0" lvl="0" indent="0" algn="ctr" rtl="0">
              <a:spcBef>
                <a:spcPts val="0"/>
              </a:spcBef>
              <a:spcAft>
                <a:spcPts val="0"/>
              </a:spcAft>
              <a:buClr>
                <a:srgbClr val="757070"/>
              </a:buClr>
              <a:buSzPts val="1400"/>
              <a:buFont typeface="Calibri"/>
              <a:buNone/>
            </a:pPr>
            <a:r>
              <a:rPr lang="es-ES" sz="1400">
                <a:solidFill>
                  <a:srgbClr val="757070"/>
                </a:solidFill>
                <a:latin typeface="Calibri"/>
                <a:ea typeface="Calibri"/>
                <a:cs typeface="Calibri"/>
                <a:sym typeface="Calibri"/>
              </a:rPr>
              <a:t> (nombre de las columnas)</a:t>
            </a:r>
            <a:endParaRPr sz="1800">
              <a:solidFill>
                <a:srgbClr val="757070"/>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06"/>
                                        </p:tgtEl>
                                        <p:attrNameLst>
                                          <p:attrName>style.visibility</p:attrName>
                                        </p:attrNameLst>
                                      </p:cBhvr>
                                      <p:to>
                                        <p:strVal val="visible"/>
                                      </p:to>
                                    </p:set>
                                    <p:animEffect transition="in" filter="fade">
                                      <p:cBhvr>
                                        <p:cTn id="7" dur="500"/>
                                        <p:tgtEl>
                                          <p:spTgt spid="2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16"/>
        <p:cNvGrpSpPr/>
        <p:nvPr/>
      </p:nvGrpSpPr>
      <p:grpSpPr>
        <a:xfrm>
          <a:off x="0" y="0"/>
          <a:ext cx="0" cy="0"/>
          <a:chOff x="0" y="0"/>
          <a:chExt cx="0" cy="0"/>
        </a:xfrm>
      </p:grpSpPr>
      <p:sp>
        <p:nvSpPr>
          <p:cNvPr id="217" name="Google Shape;217;p15"/>
          <p:cNvSpPr txBox="1"/>
          <p:nvPr/>
        </p:nvSpPr>
        <p:spPr>
          <a:xfrm>
            <a:off x="653550" y="500156"/>
            <a:ext cx="5620102" cy="731156"/>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None/>
            </a:pPr>
            <a:r>
              <a:rPr lang="es-ES" sz="3200">
                <a:solidFill>
                  <a:srgbClr val="7F7F7F"/>
                </a:solidFill>
                <a:latin typeface="Arial"/>
                <a:ea typeface="Arial"/>
                <a:cs typeface="Arial"/>
                <a:sym typeface="Arial"/>
              </a:rPr>
              <a:t>Leyendo un Archivo CSV</a:t>
            </a:r>
            <a:endParaRPr/>
          </a:p>
        </p:txBody>
      </p:sp>
      <p:sp>
        <p:nvSpPr>
          <p:cNvPr id="218" name="Google Shape;218;p15"/>
          <p:cNvSpPr/>
          <p:nvPr/>
        </p:nvSpPr>
        <p:spPr>
          <a:xfrm>
            <a:off x="-331694" y="1225685"/>
            <a:ext cx="11892323" cy="4576123"/>
          </a:xfrm>
          <a:prstGeom prst="roundRect">
            <a:avLst>
              <a:gd name="adj" fmla="val 2971"/>
            </a:avLst>
          </a:prstGeom>
          <a:gradFill>
            <a:gsLst>
              <a:gs pos="0">
                <a:srgbClr val="451539"/>
              </a:gs>
              <a:gs pos="50000">
                <a:srgbClr val="641F53"/>
              </a:gs>
              <a:gs pos="100000">
                <a:srgbClr val="782663"/>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19" name="Google Shape;219;p15"/>
          <p:cNvSpPr txBox="1"/>
          <p:nvPr/>
        </p:nvSpPr>
        <p:spPr>
          <a:xfrm>
            <a:off x="1149312" y="1444283"/>
            <a:ext cx="4108257" cy="1569620"/>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600">
                <a:solidFill>
                  <a:schemeClr val="lt1"/>
                </a:solidFill>
                <a:latin typeface="Calibri"/>
                <a:ea typeface="Calibri"/>
                <a:cs typeface="Calibri"/>
                <a:sym typeface="Calibri"/>
              </a:rPr>
              <a:t>La función </a:t>
            </a:r>
            <a:r>
              <a:rPr lang="es-ES" sz="1600" b="1">
                <a:solidFill>
                  <a:schemeClr val="lt1"/>
                </a:solidFill>
                <a:latin typeface="Calibri"/>
                <a:ea typeface="Calibri"/>
                <a:cs typeface="Calibri"/>
                <a:sym typeface="Calibri"/>
              </a:rPr>
              <a:t>read_csv() </a:t>
            </a:r>
            <a:r>
              <a:rPr lang="es-ES" sz="1600">
                <a:solidFill>
                  <a:schemeClr val="lt1"/>
                </a:solidFill>
                <a:latin typeface="Calibri"/>
                <a:ea typeface="Calibri"/>
                <a:cs typeface="Calibri"/>
                <a:sym typeface="Calibri"/>
              </a:rPr>
              <a:t>realiza la lectura y retorna un objeto de tipo DataFrame. En este caso, el archivo se encuentra en el mismo directorio de trabajo que el notebook, pero en caso de no ser así, puede proporcionarse la ruta absoluta al archivo.</a:t>
            </a:r>
            <a:endParaRPr/>
          </a:p>
        </p:txBody>
      </p:sp>
      <p:sp>
        <p:nvSpPr>
          <p:cNvPr id="220" name="Google Shape;220;p15"/>
          <p:cNvSpPr/>
          <p:nvPr/>
        </p:nvSpPr>
        <p:spPr>
          <a:xfrm>
            <a:off x="5407016" y="1375818"/>
            <a:ext cx="6036418" cy="4298522"/>
          </a:xfrm>
          <a:prstGeom prst="roundRect">
            <a:avLst>
              <a:gd name="adj" fmla="val 2971"/>
            </a:avLst>
          </a:prstGeom>
          <a:solidFill>
            <a:schemeClr val="lt1"/>
          </a:solidFill>
          <a:ln w="38100" cap="flat" cmpd="sng">
            <a:solidFill>
              <a:srgbClr val="732C6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221" name="Google Shape;221;p15"/>
          <p:cNvPicPr preferRelativeResize="0"/>
          <p:nvPr/>
        </p:nvPicPr>
        <p:blipFill rotWithShape="1">
          <a:blip r:embed="rId3">
            <a:alphaModFix/>
          </a:blip>
          <a:srcRect/>
          <a:stretch/>
        </p:blipFill>
        <p:spPr>
          <a:xfrm>
            <a:off x="5585683" y="1513017"/>
            <a:ext cx="4591691" cy="4067743"/>
          </a:xfrm>
          <a:prstGeom prst="rect">
            <a:avLst/>
          </a:prstGeom>
          <a:noFill/>
          <a:ln>
            <a:noFill/>
          </a:ln>
        </p:spPr>
      </p:pic>
      <p:sp>
        <p:nvSpPr>
          <p:cNvPr id="222" name="Google Shape;222;p15"/>
          <p:cNvSpPr txBox="1"/>
          <p:nvPr/>
        </p:nvSpPr>
        <p:spPr>
          <a:xfrm>
            <a:off x="9069010" y="2899610"/>
            <a:ext cx="2216728" cy="523220"/>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Clr>
                <a:schemeClr val="dk1"/>
              </a:buClr>
              <a:buSzPts val="1400"/>
              <a:buFont typeface="Calibri"/>
              <a:buNone/>
            </a:pPr>
            <a:r>
              <a:rPr lang="es-ES" sz="1400">
                <a:solidFill>
                  <a:schemeClr val="dk1"/>
                </a:solidFill>
                <a:latin typeface="Calibri"/>
                <a:ea typeface="Calibri"/>
                <a:cs typeface="Calibri"/>
                <a:sym typeface="Calibri"/>
              </a:rPr>
              <a:t>El retorno es un DataFrame Pandas</a:t>
            </a:r>
            <a:endParaRPr sz="1400">
              <a:solidFill>
                <a:schemeClr val="dk1"/>
              </a:solidFill>
              <a:latin typeface="Calibri"/>
              <a:ea typeface="Calibri"/>
              <a:cs typeface="Calibri"/>
              <a:sym typeface="Calibri"/>
            </a:endParaRPr>
          </a:p>
        </p:txBody>
      </p:sp>
      <p:cxnSp>
        <p:nvCxnSpPr>
          <p:cNvPr id="223" name="Google Shape;223;p15"/>
          <p:cNvCxnSpPr/>
          <p:nvPr/>
        </p:nvCxnSpPr>
        <p:spPr>
          <a:xfrm rot="10800000">
            <a:off x="8738871" y="3069347"/>
            <a:ext cx="330139" cy="0"/>
          </a:xfrm>
          <a:prstGeom prst="straightConnector1">
            <a:avLst/>
          </a:prstGeom>
          <a:noFill/>
          <a:ln w="9525" cap="flat" cmpd="sng">
            <a:solidFill>
              <a:srgbClr val="732C61"/>
            </a:solidFill>
            <a:prstDash val="solid"/>
            <a:miter lim="800000"/>
            <a:headEnd type="none" w="sm" len="sm"/>
            <a:tailEnd type="triangle" w="med" len="med"/>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17"/>
                                        </p:tgtEl>
                                        <p:attrNameLst>
                                          <p:attrName>style.visibility</p:attrName>
                                        </p:attrNameLst>
                                      </p:cBhvr>
                                      <p:to>
                                        <p:strVal val="visible"/>
                                      </p:to>
                                    </p:set>
                                    <p:animEffect transition="in" filter="fade">
                                      <p:cBhvr>
                                        <p:cTn id="7" dur="500"/>
                                        <p:tgtEl>
                                          <p:spTgt spid="2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27"/>
        <p:cNvGrpSpPr/>
        <p:nvPr/>
      </p:nvGrpSpPr>
      <p:grpSpPr>
        <a:xfrm>
          <a:off x="0" y="0"/>
          <a:ext cx="0" cy="0"/>
          <a:chOff x="0" y="0"/>
          <a:chExt cx="0" cy="0"/>
        </a:xfrm>
      </p:grpSpPr>
      <p:sp>
        <p:nvSpPr>
          <p:cNvPr id="228" name="Google Shape;228;p16"/>
          <p:cNvSpPr txBox="1"/>
          <p:nvPr/>
        </p:nvSpPr>
        <p:spPr>
          <a:xfrm>
            <a:off x="772945" y="220595"/>
            <a:ext cx="7690120" cy="731156"/>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None/>
            </a:pPr>
            <a:r>
              <a:rPr lang="es-ES" sz="3200">
                <a:solidFill>
                  <a:srgbClr val="7F7F7F"/>
                </a:solidFill>
                <a:latin typeface="Arial"/>
                <a:ea typeface="Arial"/>
                <a:cs typeface="Arial"/>
                <a:sym typeface="Arial"/>
              </a:rPr>
              <a:t>Especificando el Separador de Campos</a:t>
            </a:r>
            <a:endParaRPr sz="3200">
              <a:solidFill>
                <a:srgbClr val="7F7F7F"/>
              </a:solidFill>
              <a:latin typeface="Arial"/>
              <a:ea typeface="Arial"/>
              <a:cs typeface="Arial"/>
              <a:sym typeface="Arial"/>
            </a:endParaRPr>
          </a:p>
        </p:txBody>
      </p:sp>
      <p:sp>
        <p:nvSpPr>
          <p:cNvPr id="229" name="Google Shape;229;p16"/>
          <p:cNvSpPr/>
          <p:nvPr/>
        </p:nvSpPr>
        <p:spPr>
          <a:xfrm>
            <a:off x="-349624" y="947581"/>
            <a:ext cx="12824653" cy="1237625"/>
          </a:xfrm>
          <a:prstGeom prst="roundRect">
            <a:avLst>
              <a:gd name="adj" fmla="val 2971"/>
            </a:avLst>
          </a:prstGeom>
          <a:gradFill>
            <a:gsLst>
              <a:gs pos="0">
                <a:srgbClr val="451539"/>
              </a:gs>
              <a:gs pos="50000">
                <a:srgbClr val="641F53"/>
              </a:gs>
              <a:gs pos="100000">
                <a:srgbClr val="782663"/>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30" name="Google Shape;230;p16"/>
          <p:cNvSpPr txBox="1"/>
          <p:nvPr/>
        </p:nvSpPr>
        <p:spPr>
          <a:xfrm>
            <a:off x="986953" y="1060398"/>
            <a:ext cx="9723200" cy="1015622"/>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2000" dirty="0">
                <a:solidFill>
                  <a:schemeClr val="lt1"/>
                </a:solidFill>
                <a:latin typeface="Calibri"/>
                <a:ea typeface="Calibri"/>
                <a:cs typeface="Calibri"/>
                <a:sym typeface="Calibri"/>
              </a:rPr>
              <a:t>En oportunidades, los archivos pueden venir con otro separador distinto a la </a:t>
            </a:r>
            <a:r>
              <a:rPr lang="es-ES" sz="2000" dirty="0" err="1">
                <a:solidFill>
                  <a:schemeClr val="lt1"/>
                </a:solidFill>
                <a:latin typeface="Calibri"/>
                <a:ea typeface="Calibri"/>
                <a:cs typeface="Calibri"/>
                <a:sym typeface="Calibri"/>
              </a:rPr>
              <a:t>comma</a:t>
            </a:r>
            <a:r>
              <a:rPr lang="es-ES" sz="2000" dirty="0">
                <a:solidFill>
                  <a:schemeClr val="lt1"/>
                </a:solidFill>
                <a:latin typeface="Calibri"/>
                <a:ea typeface="Calibri"/>
                <a:cs typeface="Calibri"/>
                <a:sym typeface="Calibri"/>
              </a:rPr>
              <a:t> (,) En el siguiente ejemplo, el </a:t>
            </a:r>
            <a:r>
              <a:rPr lang="es-ES" sz="2000" dirty="0" err="1">
                <a:solidFill>
                  <a:schemeClr val="lt1"/>
                </a:solidFill>
                <a:latin typeface="Calibri"/>
                <a:ea typeface="Calibri"/>
                <a:cs typeface="Calibri"/>
                <a:sym typeface="Calibri"/>
              </a:rPr>
              <a:t>caracter</a:t>
            </a:r>
            <a:r>
              <a:rPr lang="es-ES" sz="2000" dirty="0">
                <a:solidFill>
                  <a:schemeClr val="lt1"/>
                </a:solidFill>
                <a:latin typeface="Calibri"/>
                <a:ea typeface="Calibri"/>
                <a:cs typeface="Calibri"/>
                <a:sym typeface="Calibri"/>
              </a:rPr>
              <a:t> de separación corresponde a la tabulación, por lo tanto, se puede especificar el parámetro </a:t>
            </a:r>
            <a:r>
              <a:rPr lang="es-ES" sz="2000" dirty="0" err="1">
                <a:solidFill>
                  <a:schemeClr val="lt1"/>
                </a:solidFill>
                <a:latin typeface="Calibri"/>
                <a:ea typeface="Calibri"/>
                <a:cs typeface="Calibri"/>
                <a:sym typeface="Calibri"/>
              </a:rPr>
              <a:t>sep</a:t>
            </a:r>
            <a:r>
              <a:rPr lang="es-ES" sz="2000" dirty="0">
                <a:solidFill>
                  <a:schemeClr val="lt1"/>
                </a:solidFill>
                <a:latin typeface="Calibri"/>
                <a:ea typeface="Calibri"/>
                <a:cs typeface="Calibri"/>
                <a:sym typeface="Calibri"/>
              </a:rPr>
              <a:t>=‘\t’</a:t>
            </a:r>
            <a:endParaRPr lang="es-ES" sz="2000" dirty="0">
              <a:solidFill>
                <a:schemeClr val="lt1"/>
              </a:solidFill>
              <a:latin typeface="Calibri"/>
              <a:ea typeface="Calibri"/>
              <a:cs typeface="Calibri"/>
            </a:endParaRPr>
          </a:p>
        </p:txBody>
      </p:sp>
      <p:sp>
        <p:nvSpPr>
          <p:cNvPr id="231" name="Google Shape;231;p16"/>
          <p:cNvSpPr/>
          <p:nvPr/>
        </p:nvSpPr>
        <p:spPr>
          <a:xfrm>
            <a:off x="992224" y="2402501"/>
            <a:ext cx="9801866" cy="3841322"/>
          </a:xfrm>
          <a:prstGeom prst="roundRect">
            <a:avLst>
              <a:gd name="adj" fmla="val 2971"/>
            </a:avLst>
          </a:prstGeom>
          <a:solidFill>
            <a:schemeClr val="lt1"/>
          </a:solidFill>
          <a:ln w="38100" cap="flat" cmpd="sng">
            <a:solidFill>
              <a:srgbClr val="732C6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32" name="Google Shape;232;p16"/>
          <p:cNvSpPr txBox="1"/>
          <p:nvPr/>
        </p:nvSpPr>
        <p:spPr>
          <a:xfrm>
            <a:off x="6723319" y="4111399"/>
            <a:ext cx="2216728" cy="52322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Clr>
                <a:schemeClr val="dk1"/>
              </a:buClr>
              <a:buSzPts val="1400"/>
              <a:buFont typeface="Calibri"/>
              <a:buNone/>
            </a:pPr>
            <a:r>
              <a:rPr lang="es-ES" sz="1400">
                <a:solidFill>
                  <a:schemeClr val="dk1"/>
                </a:solidFill>
                <a:latin typeface="Calibri"/>
                <a:ea typeface="Calibri"/>
                <a:cs typeface="Calibri"/>
                <a:sym typeface="Calibri"/>
              </a:rPr>
              <a:t>El retorno es un DataFrame pandas</a:t>
            </a:r>
            <a:endParaRPr sz="1400">
              <a:solidFill>
                <a:schemeClr val="dk1"/>
              </a:solidFill>
              <a:latin typeface="Calibri"/>
              <a:ea typeface="Calibri"/>
              <a:cs typeface="Calibri"/>
              <a:sym typeface="Calibri"/>
            </a:endParaRPr>
          </a:p>
        </p:txBody>
      </p:sp>
      <p:cxnSp>
        <p:nvCxnSpPr>
          <p:cNvPr id="233" name="Google Shape;233;p16"/>
          <p:cNvCxnSpPr/>
          <p:nvPr/>
        </p:nvCxnSpPr>
        <p:spPr>
          <a:xfrm rot="10800000">
            <a:off x="6393180" y="4271409"/>
            <a:ext cx="330139" cy="0"/>
          </a:xfrm>
          <a:prstGeom prst="straightConnector1">
            <a:avLst/>
          </a:prstGeom>
          <a:noFill/>
          <a:ln w="9525" cap="flat" cmpd="sng">
            <a:solidFill>
              <a:schemeClr val="accent1"/>
            </a:solidFill>
            <a:prstDash val="solid"/>
            <a:miter lim="800000"/>
            <a:headEnd type="none" w="sm" len="sm"/>
            <a:tailEnd type="triangle" w="med" len="med"/>
          </a:ln>
        </p:spPr>
      </p:cxnSp>
      <p:pic>
        <p:nvPicPr>
          <p:cNvPr id="234" name="Google Shape;234;p16"/>
          <p:cNvPicPr preferRelativeResize="0"/>
          <p:nvPr/>
        </p:nvPicPr>
        <p:blipFill rotWithShape="1">
          <a:blip r:embed="rId3">
            <a:alphaModFix/>
          </a:blip>
          <a:srcRect r="-118" b="5813"/>
          <a:stretch/>
        </p:blipFill>
        <p:spPr>
          <a:xfrm>
            <a:off x="1296840" y="2551123"/>
            <a:ext cx="9268844" cy="3604644"/>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28"/>
                                        </p:tgtEl>
                                        <p:attrNameLst>
                                          <p:attrName>style.visibility</p:attrName>
                                        </p:attrNameLst>
                                      </p:cBhvr>
                                      <p:to>
                                        <p:strVal val="visible"/>
                                      </p:to>
                                    </p:set>
                                    <p:animEffect transition="in" filter="fade">
                                      <p:cBhvr>
                                        <p:cTn id="7" dur="500"/>
                                        <p:tgtEl>
                                          <p:spTgt spid="2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38"/>
        <p:cNvGrpSpPr/>
        <p:nvPr/>
      </p:nvGrpSpPr>
      <p:grpSpPr>
        <a:xfrm>
          <a:off x="0" y="0"/>
          <a:ext cx="0" cy="0"/>
          <a:chOff x="0" y="0"/>
          <a:chExt cx="0" cy="0"/>
        </a:xfrm>
      </p:grpSpPr>
      <p:sp>
        <p:nvSpPr>
          <p:cNvPr id="239" name="Google Shape;239;p17"/>
          <p:cNvSpPr/>
          <p:nvPr/>
        </p:nvSpPr>
        <p:spPr>
          <a:xfrm>
            <a:off x="-54980" y="1334886"/>
            <a:ext cx="5255535" cy="2990850"/>
          </a:xfrm>
          <a:prstGeom prst="roundRect">
            <a:avLst>
              <a:gd name="adj" fmla="val 2971"/>
            </a:avLst>
          </a:prstGeom>
          <a:solidFill>
            <a:srgbClr val="732C6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40" name="Google Shape;240;p17"/>
          <p:cNvSpPr txBox="1"/>
          <p:nvPr/>
        </p:nvSpPr>
        <p:spPr>
          <a:xfrm>
            <a:off x="523117" y="406490"/>
            <a:ext cx="4264640" cy="731156"/>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None/>
            </a:pPr>
            <a:r>
              <a:rPr lang="es-ES" sz="3200">
                <a:solidFill>
                  <a:srgbClr val="7F7F7F"/>
                </a:solidFill>
                <a:latin typeface="Arial"/>
                <a:ea typeface="Arial"/>
                <a:cs typeface="Arial"/>
                <a:sym typeface="Arial"/>
              </a:rPr>
              <a:t>Archivos sin Header</a:t>
            </a:r>
            <a:endParaRPr sz="3200">
              <a:solidFill>
                <a:srgbClr val="7F7F7F"/>
              </a:solidFill>
              <a:latin typeface="Arial"/>
              <a:ea typeface="Arial"/>
              <a:cs typeface="Arial"/>
              <a:sym typeface="Arial"/>
            </a:endParaRPr>
          </a:p>
        </p:txBody>
      </p:sp>
      <p:sp>
        <p:nvSpPr>
          <p:cNvPr id="241" name="Google Shape;241;p17"/>
          <p:cNvSpPr txBox="1"/>
          <p:nvPr/>
        </p:nvSpPr>
        <p:spPr>
          <a:xfrm>
            <a:off x="773062" y="1477497"/>
            <a:ext cx="3761087" cy="2585323"/>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800">
                <a:solidFill>
                  <a:schemeClr val="lt1"/>
                </a:solidFill>
                <a:latin typeface="Calibri"/>
                <a:ea typeface="Calibri"/>
                <a:cs typeface="Calibri"/>
                <a:sym typeface="Calibri"/>
              </a:rPr>
              <a:t>Cuando el archivo de datos no trae en la primera fila los nombres de las columnas, es necesario especificar el parámetro </a:t>
            </a:r>
            <a:r>
              <a:rPr lang="es-ES" sz="1800" b="1">
                <a:solidFill>
                  <a:schemeClr val="lt1"/>
                </a:solidFill>
                <a:latin typeface="Calibri"/>
                <a:ea typeface="Calibri"/>
                <a:cs typeface="Calibri"/>
                <a:sym typeface="Calibri"/>
              </a:rPr>
              <a:t>header</a:t>
            </a:r>
            <a:r>
              <a:rPr lang="es-ES" sz="1800">
                <a:solidFill>
                  <a:schemeClr val="lt1"/>
                </a:solidFill>
                <a:latin typeface="Calibri"/>
                <a:ea typeface="Calibri"/>
                <a:cs typeface="Calibri"/>
                <a:sym typeface="Calibri"/>
              </a:rPr>
              <a:t> para así no asignar los datos de la primera fila como nombres de columnas. Asimismo, el parámetro </a:t>
            </a:r>
            <a:r>
              <a:rPr lang="es-ES" sz="1800" b="1">
                <a:solidFill>
                  <a:schemeClr val="lt1"/>
                </a:solidFill>
                <a:latin typeface="Calibri"/>
                <a:ea typeface="Calibri"/>
                <a:cs typeface="Calibri"/>
                <a:sym typeface="Calibri"/>
              </a:rPr>
              <a:t>columns</a:t>
            </a:r>
            <a:r>
              <a:rPr lang="es-ES" sz="1800">
                <a:solidFill>
                  <a:schemeClr val="lt1"/>
                </a:solidFill>
                <a:latin typeface="Calibri"/>
                <a:ea typeface="Calibri"/>
                <a:cs typeface="Calibri"/>
                <a:sym typeface="Calibri"/>
              </a:rPr>
              <a:t> permite especificar los nombres de cada columna.</a:t>
            </a:r>
            <a:endParaRPr/>
          </a:p>
        </p:txBody>
      </p:sp>
      <p:sp>
        <p:nvSpPr>
          <p:cNvPr id="242" name="Google Shape;242;p17"/>
          <p:cNvSpPr/>
          <p:nvPr/>
        </p:nvSpPr>
        <p:spPr>
          <a:xfrm>
            <a:off x="5041812" y="937524"/>
            <a:ext cx="6625082" cy="4896058"/>
          </a:xfrm>
          <a:prstGeom prst="roundRect">
            <a:avLst>
              <a:gd name="adj" fmla="val 2971"/>
            </a:avLst>
          </a:prstGeom>
          <a:solidFill>
            <a:schemeClr val="lt1"/>
          </a:solidFill>
          <a:ln w="38100" cap="flat" cmpd="sng">
            <a:solidFill>
              <a:srgbClr val="732C6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43" name="Google Shape;243;p17"/>
          <p:cNvSpPr txBox="1"/>
          <p:nvPr/>
        </p:nvSpPr>
        <p:spPr>
          <a:xfrm>
            <a:off x="6886605" y="3798434"/>
            <a:ext cx="2216728" cy="52322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Clr>
                <a:schemeClr val="dk1"/>
              </a:buClr>
              <a:buSzPts val="1400"/>
              <a:buFont typeface="Calibri"/>
              <a:buNone/>
            </a:pPr>
            <a:r>
              <a:rPr lang="es-ES" sz="1400">
                <a:solidFill>
                  <a:schemeClr val="dk1"/>
                </a:solidFill>
                <a:latin typeface="Calibri"/>
                <a:ea typeface="Calibri"/>
                <a:cs typeface="Calibri"/>
                <a:sym typeface="Calibri"/>
              </a:rPr>
              <a:t>El retorno es un DataFrame pandas</a:t>
            </a:r>
            <a:endParaRPr sz="1400">
              <a:solidFill>
                <a:schemeClr val="dk1"/>
              </a:solidFill>
              <a:latin typeface="Calibri"/>
              <a:ea typeface="Calibri"/>
              <a:cs typeface="Calibri"/>
              <a:sym typeface="Calibri"/>
            </a:endParaRPr>
          </a:p>
        </p:txBody>
      </p:sp>
      <p:cxnSp>
        <p:nvCxnSpPr>
          <p:cNvPr id="244" name="Google Shape;244;p17"/>
          <p:cNvCxnSpPr/>
          <p:nvPr/>
        </p:nvCxnSpPr>
        <p:spPr>
          <a:xfrm rot="10800000">
            <a:off x="6556466" y="3958444"/>
            <a:ext cx="330139" cy="0"/>
          </a:xfrm>
          <a:prstGeom prst="straightConnector1">
            <a:avLst/>
          </a:prstGeom>
          <a:noFill/>
          <a:ln w="9525" cap="flat" cmpd="sng">
            <a:solidFill>
              <a:schemeClr val="accent1"/>
            </a:solidFill>
            <a:prstDash val="solid"/>
            <a:miter lim="800000"/>
            <a:headEnd type="none" w="sm" len="sm"/>
            <a:tailEnd type="triangle" w="med" len="med"/>
          </a:ln>
        </p:spPr>
      </p:cxnSp>
      <p:pic>
        <p:nvPicPr>
          <p:cNvPr id="245" name="Google Shape;245;p17"/>
          <p:cNvPicPr preferRelativeResize="0"/>
          <p:nvPr/>
        </p:nvPicPr>
        <p:blipFill rotWithShape="1">
          <a:blip r:embed="rId3">
            <a:alphaModFix/>
          </a:blip>
          <a:srcRect/>
          <a:stretch/>
        </p:blipFill>
        <p:spPr>
          <a:xfrm>
            <a:off x="5243812" y="1151628"/>
            <a:ext cx="6354062" cy="4467849"/>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40"/>
                                        </p:tgtEl>
                                        <p:attrNameLst>
                                          <p:attrName>style.visibility</p:attrName>
                                        </p:attrNameLst>
                                      </p:cBhvr>
                                      <p:to>
                                        <p:strVal val="visible"/>
                                      </p:to>
                                    </p:set>
                                    <p:animEffect transition="in" filter="fade">
                                      <p:cBhvr>
                                        <p:cTn id="7" dur="500"/>
                                        <p:tgtEl>
                                          <p:spTgt spid="2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49"/>
        <p:cNvGrpSpPr/>
        <p:nvPr/>
      </p:nvGrpSpPr>
      <p:grpSpPr>
        <a:xfrm>
          <a:off x="0" y="0"/>
          <a:ext cx="0" cy="0"/>
          <a:chOff x="0" y="0"/>
          <a:chExt cx="0" cy="0"/>
        </a:xfrm>
      </p:grpSpPr>
      <p:sp>
        <p:nvSpPr>
          <p:cNvPr id="250" name="Google Shape;250;p18"/>
          <p:cNvSpPr txBox="1"/>
          <p:nvPr/>
        </p:nvSpPr>
        <p:spPr>
          <a:xfrm>
            <a:off x="584079" y="55500"/>
            <a:ext cx="10782300" cy="1008062"/>
          </a:xfrm>
          <a:prstGeom prst="rect">
            <a:avLst/>
          </a:prstGeom>
          <a:noFill/>
          <a:ln>
            <a:noFill/>
          </a:ln>
        </p:spPr>
        <p:txBody>
          <a:bodyPr spcFirstLastPara="1" wrap="square" lIns="91425" tIns="45700" rIns="91425" bIns="45700" anchor="ctr" anchorCtr="0">
            <a:noAutofit/>
          </a:bodyPr>
          <a:lstStyle/>
          <a:p>
            <a:pPr marL="0" marR="0" lvl="0" indent="0" algn="l" rtl="0">
              <a:lnSpc>
                <a:spcPct val="150000"/>
              </a:lnSpc>
              <a:spcBef>
                <a:spcPts val="0"/>
              </a:spcBef>
              <a:spcAft>
                <a:spcPts val="0"/>
              </a:spcAft>
              <a:buNone/>
            </a:pPr>
            <a:r>
              <a:rPr lang="es-ES" sz="3200">
                <a:solidFill>
                  <a:srgbClr val="7F7F7F"/>
                </a:solidFill>
                <a:latin typeface="Arial"/>
                <a:ea typeface="Arial"/>
                <a:cs typeface="Arial"/>
                <a:sym typeface="Arial"/>
              </a:rPr>
              <a:t>Más Información</a:t>
            </a:r>
            <a:endParaRPr sz="3200">
              <a:solidFill>
                <a:srgbClr val="7F7F7F"/>
              </a:solidFill>
              <a:latin typeface="Arial"/>
              <a:ea typeface="Arial"/>
              <a:cs typeface="Arial"/>
              <a:sym typeface="Arial"/>
            </a:endParaRPr>
          </a:p>
        </p:txBody>
      </p:sp>
      <p:sp>
        <p:nvSpPr>
          <p:cNvPr id="251" name="Google Shape;251;p18"/>
          <p:cNvSpPr/>
          <p:nvPr/>
        </p:nvSpPr>
        <p:spPr>
          <a:xfrm>
            <a:off x="664934" y="971848"/>
            <a:ext cx="11043556" cy="5344800"/>
          </a:xfrm>
          <a:prstGeom prst="roundRect">
            <a:avLst>
              <a:gd name="adj" fmla="val 2971"/>
            </a:avLst>
          </a:prstGeom>
          <a:solidFill>
            <a:schemeClr val="lt1"/>
          </a:solidFill>
          <a:ln w="38100" cap="flat" cmpd="sng">
            <a:solidFill>
              <a:srgbClr val="732C6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252" name="Google Shape;252;p18"/>
          <p:cNvPicPr preferRelativeResize="0"/>
          <p:nvPr/>
        </p:nvPicPr>
        <p:blipFill rotWithShape="1">
          <a:blip r:embed="rId3">
            <a:alphaModFix/>
          </a:blip>
          <a:srcRect/>
          <a:stretch/>
        </p:blipFill>
        <p:spPr>
          <a:xfrm>
            <a:off x="1423822" y="1181450"/>
            <a:ext cx="6633145" cy="2725130"/>
          </a:xfrm>
          <a:prstGeom prst="rect">
            <a:avLst/>
          </a:prstGeom>
          <a:noFill/>
          <a:ln>
            <a:noFill/>
          </a:ln>
        </p:spPr>
      </p:pic>
      <p:pic>
        <p:nvPicPr>
          <p:cNvPr id="253" name="Google Shape;253;p18"/>
          <p:cNvPicPr preferRelativeResize="0"/>
          <p:nvPr/>
        </p:nvPicPr>
        <p:blipFill rotWithShape="1">
          <a:blip r:embed="rId4">
            <a:alphaModFix/>
          </a:blip>
          <a:srcRect t="3076"/>
          <a:stretch/>
        </p:blipFill>
        <p:spPr>
          <a:xfrm>
            <a:off x="8960482" y="1070283"/>
            <a:ext cx="1867161" cy="5069106"/>
          </a:xfrm>
          <a:prstGeom prst="rect">
            <a:avLst/>
          </a:prstGeom>
          <a:noFill/>
          <a:ln>
            <a:noFill/>
          </a:ln>
        </p:spPr>
      </p:pic>
      <p:sp>
        <p:nvSpPr>
          <p:cNvPr id="254" name="Google Shape;254;p18"/>
          <p:cNvSpPr txBox="1"/>
          <p:nvPr/>
        </p:nvSpPr>
        <p:spPr>
          <a:xfrm>
            <a:off x="1770366" y="5865290"/>
            <a:ext cx="5748900" cy="3387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a:solidFill>
                  <a:srgbClr val="757070"/>
                </a:solidFill>
                <a:latin typeface="Calibri"/>
                <a:ea typeface="Calibri"/>
                <a:cs typeface="Calibri"/>
                <a:sym typeface="Calibri"/>
              </a:rPr>
              <a:t>https://pandas.pydata.org/docs/user_guide/io.html</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50"/>
                                        </p:tgtEl>
                                        <p:attrNameLst>
                                          <p:attrName>style.visibility</p:attrName>
                                        </p:attrNameLst>
                                      </p:cBhvr>
                                      <p:to>
                                        <p:strVal val="visible"/>
                                      </p:to>
                                    </p:set>
                                    <p:animEffect transition="in" filter="fade">
                                      <p:cBhvr>
                                        <p:cTn id="7" dur="500"/>
                                        <p:tgtEl>
                                          <p:spTgt spid="2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58"/>
        <p:cNvGrpSpPr/>
        <p:nvPr/>
      </p:nvGrpSpPr>
      <p:grpSpPr>
        <a:xfrm>
          <a:off x="0" y="0"/>
          <a:ext cx="0" cy="0"/>
          <a:chOff x="0" y="0"/>
          <a:chExt cx="0" cy="0"/>
        </a:xfrm>
      </p:grpSpPr>
      <p:sp>
        <p:nvSpPr>
          <p:cNvPr id="259" name="Google Shape;259;p19"/>
          <p:cNvSpPr txBox="1"/>
          <p:nvPr/>
        </p:nvSpPr>
        <p:spPr>
          <a:xfrm>
            <a:off x="-1637277" y="335662"/>
            <a:ext cx="10782300" cy="731156"/>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None/>
            </a:pPr>
            <a:r>
              <a:rPr lang="es-ES" sz="3200">
                <a:solidFill>
                  <a:srgbClr val="7F7F7F"/>
                </a:solidFill>
                <a:latin typeface="Arial"/>
                <a:ea typeface="Arial"/>
                <a:cs typeface="Arial"/>
                <a:sym typeface="Arial"/>
              </a:rPr>
              <a:t>Leyendo un Archivo CSV</a:t>
            </a:r>
            <a:endParaRPr/>
          </a:p>
        </p:txBody>
      </p:sp>
      <p:sp>
        <p:nvSpPr>
          <p:cNvPr id="260" name="Google Shape;260;p19"/>
          <p:cNvSpPr/>
          <p:nvPr/>
        </p:nvSpPr>
        <p:spPr>
          <a:xfrm>
            <a:off x="-221829" y="1143528"/>
            <a:ext cx="12726041" cy="679356"/>
          </a:xfrm>
          <a:prstGeom prst="roundRect">
            <a:avLst>
              <a:gd name="adj" fmla="val 2971"/>
            </a:avLst>
          </a:prstGeom>
          <a:gradFill>
            <a:gsLst>
              <a:gs pos="0">
                <a:srgbClr val="451539"/>
              </a:gs>
              <a:gs pos="50000">
                <a:srgbClr val="641F53"/>
              </a:gs>
              <a:gs pos="100000">
                <a:srgbClr val="782663"/>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61" name="Google Shape;261;p19"/>
          <p:cNvSpPr txBox="1"/>
          <p:nvPr/>
        </p:nvSpPr>
        <p:spPr>
          <a:xfrm>
            <a:off x="-221829" y="1210380"/>
            <a:ext cx="11424630" cy="507791"/>
          </a:xfrm>
          <a:prstGeom prst="rect">
            <a:avLst/>
          </a:prstGeom>
          <a:noFill/>
          <a:ln>
            <a:noFill/>
          </a:ln>
        </p:spPr>
        <p:txBody>
          <a:bodyPr spcFirstLastPara="1" wrap="square" lIns="91425" tIns="45700" rIns="91425" bIns="45700" anchor="t" anchorCtr="0">
            <a:spAutoFit/>
          </a:bodyPr>
          <a:lstStyle/>
          <a:p>
            <a:pPr marL="0" marR="0" lvl="0" indent="0" algn="ctr" rtl="0">
              <a:lnSpc>
                <a:spcPct val="150000"/>
              </a:lnSpc>
              <a:spcBef>
                <a:spcPts val="0"/>
              </a:spcBef>
              <a:spcAft>
                <a:spcPts val="0"/>
              </a:spcAft>
              <a:buNone/>
            </a:pPr>
            <a:r>
              <a:rPr lang="es-ES" sz="1800" dirty="0">
                <a:solidFill>
                  <a:schemeClr val="lt1"/>
                </a:solidFill>
                <a:latin typeface="Calibri"/>
                <a:ea typeface="Calibri"/>
                <a:cs typeface="Calibri"/>
                <a:sym typeface="Calibri"/>
              </a:rPr>
              <a:t>Para escribir un </a:t>
            </a:r>
            <a:r>
              <a:rPr lang="es-ES" sz="1800" dirty="0" err="1">
                <a:solidFill>
                  <a:schemeClr val="lt1"/>
                </a:solidFill>
                <a:latin typeface="Calibri"/>
                <a:ea typeface="Calibri"/>
                <a:cs typeface="Calibri"/>
                <a:sym typeface="Calibri"/>
              </a:rPr>
              <a:t>Dataframe</a:t>
            </a:r>
            <a:r>
              <a:rPr lang="es-ES" sz="1800" dirty="0">
                <a:solidFill>
                  <a:schemeClr val="lt1"/>
                </a:solidFill>
                <a:latin typeface="Calibri"/>
                <a:ea typeface="Calibri"/>
                <a:cs typeface="Calibri"/>
                <a:sym typeface="Calibri"/>
              </a:rPr>
              <a:t> en un archivo </a:t>
            </a:r>
            <a:r>
              <a:rPr lang="es-ES" sz="1800" dirty="0" err="1">
                <a:solidFill>
                  <a:schemeClr val="lt1"/>
                </a:solidFill>
                <a:latin typeface="Calibri"/>
                <a:ea typeface="Calibri"/>
                <a:cs typeface="Calibri"/>
                <a:sym typeface="Calibri"/>
              </a:rPr>
              <a:t>csv</a:t>
            </a:r>
            <a:r>
              <a:rPr lang="es-ES" sz="1800" dirty="0">
                <a:solidFill>
                  <a:schemeClr val="lt1"/>
                </a:solidFill>
                <a:latin typeface="Calibri"/>
                <a:ea typeface="Calibri"/>
                <a:cs typeface="Calibri"/>
                <a:sym typeface="Calibri"/>
              </a:rPr>
              <a:t>, sólo debemos utilizar el método </a:t>
            </a:r>
            <a:r>
              <a:rPr lang="es-ES" sz="1800" b="1" dirty="0" err="1">
                <a:solidFill>
                  <a:schemeClr val="lt1"/>
                </a:solidFill>
                <a:latin typeface="Calibri"/>
                <a:ea typeface="Calibri"/>
                <a:cs typeface="Calibri"/>
                <a:sym typeface="Calibri"/>
              </a:rPr>
              <a:t>to_csv</a:t>
            </a:r>
            <a:r>
              <a:rPr lang="es-ES" sz="1800" b="1" dirty="0">
                <a:solidFill>
                  <a:schemeClr val="lt1"/>
                </a:solidFill>
                <a:latin typeface="Calibri"/>
                <a:ea typeface="Calibri"/>
                <a:cs typeface="Calibri"/>
                <a:sym typeface="Calibri"/>
              </a:rPr>
              <a:t>().</a:t>
            </a:r>
            <a:endParaRPr dirty="0">
              <a:solidFill>
                <a:schemeClr val="lt1"/>
              </a:solidFill>
            </a:endParaRPr>
          </a:p>
        </p:txBody>
      </p:sp>
      <p:sp>
        <p:nvSpPr>
          <p:cNvPr id="262" name="Google Shape;262;p19"/>
          <p:cNvSpPr/>
          <p:nvPr/>
        </p:nvSpPr>
        <p:spPr>
          <a:xfrm>
            <a:off x="1443276" y="2114714"/>
            <a:ext cx="9257440" cy="3682888"/>
          </a:xfrm>
          <a:prstGeom prst="roundRect">
            <a:avLst>
              <a:gd name="adj" fmla="val 2971"/>
            </a:avLst>
          </a:prstGeom>
          <a:solidFill>
            <a:schemeClr val="lt1"/>
          </a:solidFill>
          <a:ln w="38100" cap="flat" cmpd="sng">
            <a:solidFill>
              <a:srgbClr val="732C6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263" name="Google Shape;263;p19"/>
          <p:cNvPicPr preferRelativeResize="0"/>
          <p:nvPr/>
        </p:nvPicPr>
        <p:blipFill rotWithShape="1">
          <a:blip r:embed="rId3">
            <a:alphaModFix/>
          </a:blip>
          <a:srcRect b="12256"/>
          <a:stretch/>
        </p:blipFill>
        <p:spPr>
          <a:xfrm>
            <a:off x="1689988" y="2464315"/>
            <a:ext cx="6096000" cy="2983686"/>
          </a:xfrm>
          <a:prstGeom prst="rect">
            <a:avLst/>
          </a:prstGeom>
          <a:noFill/>
          <a:ln>
            <a:noFill/>
          </a:ln>
        </p:spPr>
      </p:pic>
      <p:sp>
        <p:nvSpPr>
          <p:cNvPr id="264" name="Google Shape;264;p19"/>
          <p:cNvSpPr txBox="1"/>
          <p:nvPr/>
        </p:nvSpPr>
        <p:spPr>
          <a:xfrm>
            <a:off x="8223414" y="2639834"/>
            <a:ext cx="2143150" cy="738664"/>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Clr>
                <a:srgbClr val="757070"/>
              </a:buClr>
              <a:buSzPts val="1400"/>
              <a:buFont typeface="Calibri"/>
              <a:buNone/>
            </a:pPr>
            <a:r>
              <a:rPr lang="es-ES" sz="1400">
                <a:solidFill>
                  <a:srgbClr val="757070"/>
                </a:solidFill>
                <a:latin typeface="Calibri"/>
                <a:ea typeface="Calibri"/>
                <a:cs typeface="Calibri"/>
                <a:sym typeface="Calibri"/>
              </a:rPr>
              <a:t>Y se genera el siguiente archivo en el directorio de trabajo.</a:t>
            </a:r>
            <a:endParaRPr sz="1800">
              <a:solidFill>
                <a:srgbClr val="757070"/>
              </a:solidFill>
              <a:latin typeface="Calibri"/>
              <a:ea typeface="Calibri"/>
              <a:cs typeface="Calibri"/>
              <a:sym typeface="Calibri"/>
            </a:endParaRPr>
          </a:p>
        </p:txBody>
      </p:sp>
      <p:pic>
        <p:nvPicPr>
          <p:cNvPr id="265" name="Google Shape;265;p19"/>
          <p:cNvPicPr preferRelativeResize="0"/>
          <p:nvPr/>
        </p:nvPicPr>
        <p:blipFill rotWithShape="1">
          <a:blip r:embed="rId4">
            <a:alphaModFix/>
          </a:blip>
          <a:srcRect/>
          <a:stretch/>
        </p:blipFill>
        <p:spPr>
          <a:xfrm>
            <a:off x="8213600" y="3545564"/>
            <a:ext cx="2057400" cy="1809750"/>
          </a:xfrm>
          <a:prstGeom prst="rect">
            <a:avLst/>
          </a:prstGeom>
          <a:noFill/>
          <a:ln>
            <a:noFill/>
          </a:ln>
        </p:spPr>
      </p:pic>
      <p:cxnSp>
        <p:nvCxnSpPr>
          <p:cNvPr id="266" name="Google Shape;266;p19"/>
          <p:cNvCxnSpPr/>
          <p:nvPr/>
        </p:nvCxnSpPr>
        <p:spPr>
          <a:xfrm>
            <a:off x="9145023" y="3211433"/>
            <a:ext cx="0" cy="334131"/>
          </a:xfrm>
          <a:prstGeom prst="straightConnector1">
            <a:avLst/>
          </a:prstGeom>
          <a:noFill/>
          <a:ln w="9525" cap="flat" cmpd="sng">
            <a:solidFill>
              <a:srgbClr val="732C61"/>
            </a:solidFill>
            <a:prstDash val="solid"/>
            <a:miter lim="800000"/>
            <a:headEnd type="none" w="sm" len="sm"/>
            <a:tailEnd type="triangle" w="med" len="med"/>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59"/>
                                        </p:tgtEl>
                                        <p:attrNameLst>
                                          <p:attrName>style.visibility</p:attrName>
                                        </p:attrNameLst>
                                      </p:cBhvr>
                                      <p:to>
                                        <p:strVal val="visible"/>
                                      </p:to>
                                    </p:set>
                                    <p:animEffect transition="in" filter="fade">
                                      <p:cBhvr>
                                        <p:cTn id="7" dur="500"/>
                                        <p:tgtEl>
                                          <p:spTgt spid="2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0"/>
        <p:cNvGrpSpPr/>
        <p:nvPr/>
      </p:nvGrpSpPr>
      <p:grpSpPr>
        <a:xfrm>
          <a:off x="0" y="0"/>
          <a:ext cx="0" cy="0"/>
          <a:chOff x="0" y="0"/>
          <a:chExt cx="0" cy="0"/>
        </a:xfrm>
      </p:grpSpPr>
      <p:sp>
        <p:nvSpPr>
          <p:cNvPr id="271" name="Google Shape;271;p20"/>
          <p:cNvSpPr txBox="1"/>
          <p:nvPr/>
        </p:nvSpPr>
        <p:spPr>
          <a:xfrm>
            <a:off x="-1902163" y="460967"/>
            <a:ext cx="10782300" cy="731156"/>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None/>
            </a:pPr>
            <a:r>
              <a:rPr lang="es-ES" sz="3200">
                <a:solidFill>
                  <a:srgbClr val="7F7F7F"/>
                </a:solidFill>
                <a:latin typeface="Arial"/>
                <a:ea typeface="Arial"/>
                <a:cs typeface="Arial"/>
                <a:sym typeface="Arial"/>
              </a:rPr>
              <a:t>Escribiendo un archivo CSV</a:t>
            </a:r>
            <a:endParaRPr/>
          </a:p>
        </p:txBody>
      </p:sp>
      <p:sp>
        <p:nvSpPr>
          <p:cNvPr id="272" name="Google Shape;272;p20"/>
          <p:cNvSpPr/>
          <p:nvPr/>
        </p:nvSpPr>
        <p:spPr>
          <a:xfrm>
            <a:off x="-353785" y="1420722"/>
            <a:ext cx="12743970" cy="679356"/>
          </a:xfrm>
          <a:prstGeom prst="roundRect">
            <a:avLst>
              <a:gd name="adj" fmla="val 2971"/>
            </a:avLst>
          </a:prstGeom>
          <a:solidFill>
            <a:srgbClr val="732C61"/>
          </a:solidFill>
          <a:ln w="12700" cap="flat" cmpd="sng">
            <a:solidFill>
              <a:srgbClr val="F6A12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73" name="Google Shape;273;p20"/>
          <p:cNvSpPr txBox="1"/>
          <p:nvPr/>
        </p:nvSpPr>
        <p:spPr>
          <a:xfrm>
            <a:off x="497754" y="1549254"/>
            <a:ext cx="11040892" cy="423449"/>
          </a:xfrm>
          <a:prstGeom prst="rect">
            <a:avLst/>
          </a:prstGeom>
          <a:noFill/>
          <a:ln>
            <a:noFill/>
          </a:ln>
        </p:spPr>
        <p:txBody>
          <a:bodyPr spcFirstLastPara="1" wrap="square" lIns="91425" tIns="45700" rIns="91425" bIns="45700" anchor="t" anchorCtr="0">
            <a:spAutoFit/>
          </a:bodyPr>
          <a:lstStyle/>
          <a:p>
            <a:pPr marL="0" marR="0" lvl="0" indent="0" algn="ctr" rtl="0">
              <a:lnSpc>
                <a:spcPct val="150000"/>
              </a:lnSpc>
              <a:spcBef>
                <a:spcPts val="0"/>
              </a:spcBef>
              <a:spcAft>
                <a:spcPts val="0"/>
              </a:spcAft>
              <a:buNone/>
            </a:pPr>
            <a:r>
              <a:rPr lang="es-ES" sz="1600">
                <a:solidFill>
                  <a:schemeClr val="lt1"/>
                </a:solidFill>
                <a:latin typeface="Calibri"/>
                <a:ea typeface="Calibri"/>
                <a:cs typeface="Calibri"/>
                <a:sym typeface="Calibri"/>
              </a:rPr>
              <a:t>Si queremos que no se guarde en el archivo csv, el índice del dataframe, entonces debemos usar el parámetro index=False.</a:t>
            </a:r>
            <a:endParaRPr/>
          </a:p>
        </p:txBody>
      </p:sp>
      <p:sp>
        <p:nvSpPr>
          <p:cNvPr id="274" name="Google Shape;274;p20"/>
          <p:cNvSpPr/>
          <p:nvPr/>
        </p:nvSpPr>
        <p:spPr>
          <a:xfrm>
            <a:off x="933351" y="2566521"/>
            <a:ext cx="6449710" cy="3682888"/>
          </a:xfrm>
          <a:prstGeom prst="roundRect">
            <a:avLst>
              <a:gd name="adj" fmla="val 2971"/>
            </a:avLst>
          </a:prstGeom>
          <a:solidFill>
            <a:schemeClr val="lt1"/>
          </a:solidFill>
          <a:ln w="38100" cap="flat" cmpd="sng">
            <a:solidFill>
              <a:srgbClr val="732C6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275" name="Google Shape;275;p20"/>
          <p:cNvPicPr preferRelativeResize="0"/>
          <p:nvPr/>
        </p:nvPicPr>
        <p:blipFill rotWithShape="1">
          <a:blip r:embed="rId3">
            <a:alphaModFix/>
          </a:blip>
          <a:srcRect/>
          <a:stretch/>
        </p:blipFill>
        <p:spPr>
          <a:xfrm>
            <a:off x="1287061" y="2829168"/>
            <a:ext cx="6096000" cy="409575"/>
          </a:xfrm>
          <a:prstGeom prst="rect">
            <a:avLst/>
          </a:prstGeom>
          <a:noFill/>
          <a:ln>
            <a:noFill/>
          </a:ln>
        </p:spPr>
      </p:pic>
      <p:pic>
        <p:nvPicPr>
          <p:cNvPr id="276" name="Google Shape;276;p20"/>
          <p:cNvPicPr preferRelativeResize="0"/>
          <p:nvPr/>
        </p:nvPicPr>
        <p:blipFill rotWithShape="1">
          <a:blip r:embed="rId4">
            <a:alphaModFix/>
          </a:blip>
          <a:srcRect/>
          <a:stretch/>
        </p:blipFill>
        <p:spPr>
          <a:xfrm>
            <a:off x="2609462" y="4002931"/>
            <a:ext cx="2847975" cy="2038350"/>
          </a:xfrm>
          <a:prstGeom prst="rect">
            <a:avLst/>
          </a:prstGeom>
          <a:noFill/>
          <a:ln>
            <a:noFill/>
          </a:ln>
        </p:spPr>
      </p:pic>
      <p:cxnSp>
        <p:nvCxnSpPr>
          <p:cNvPr id="277" name="Google Shape;277;p20"/>
          <p:cNvCxnSpPr/>
          <p:nvPr/>
        </p:nvCxnSpPr>
        <p:spPr>
          <a:xfrm>
            <a:off x="4033450" y="3424279"/>
            <a:ext cx="0" cy="350053"/>
          </a:xfrm>
          <a:prstGeom prst="straightConnector1">
            <a:avLst/>
          </a:prstGeom>
          <a:noFill/>
          <a:ln w="9525" cap="flat" cmpd="sng">
            <a:solidFill>
              <a:srgbClr val="732C61"/>
            </a:solidFill>
            <a:prstDash val="solid"/>
            <a:miter lim="800000"/>
            <a:headEnd type="none" w="sm" len="sm"/>
            <a:tailEnd type="triangle" w="med" len="med"/>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71"/>
                                        </p:tgtEl>
                                        <p:attrNameLst>
                                          <p:attrName>style.visibility</p:attrName>
                                        </p:attrNameLst>
                                      </p:cBhvr>
                                      <p:to>
                                        <p:strVal val="visible"/>
                                      </p:to>
                                    </p:set>
                                    <p:animEffect transition="in" filter="fade">
                                      <p:cBhvr>
                                        <p:cTn id="7" dur="500"/>
                                        <p:tgtEl>
                                          <p:spTgt spid="2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81"/>
        <p:cNvGrpSpPr/>
        <p:nvPr/>
      </p:nvGrpSpPr>
      <p:grpSpPr>
        <a:xfrm>
          <a:off x="0" y="0"/>
          <a:ext cx="0" cy="0"/>
          <a:chOff x="0" y="0"/>
          <a:chExt cx="0" cy="0"/>
        </a:xfrm>
      </p:grpSpPr>
      <p:sp>
        <p:nvSpPr>
          <p:cNvPr id="282" name="Google Shape;282;p21"/>
          <p:cNvSpPr txBox="1"/>
          <p:nvPr/>
        </p:nvSpPr>
        <p:spPr>
          <a:xfrm>
            <a:off x="-1092140" y="209004"/>
            <a:ext cx="10782300" cy="731156"/>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None/>
            </a:pPr>
            <a:r>
              <a:rPr lang="es-ES" sz="3200">
                <a:solidFill>
                  <a:srgbClr val="7F7F7F"/>
                </a:solidFill>
                <a:latin typeface="Arial"/>
                <a:ea typeface="Arial"/>
                <a:cs typeface="Arial"/>
                <a:sym typeface="Arial"/>
              </a:rPr>
              <a:t>Leyendo un Archivo con Largo Fijo</a:t>
            </a:r>
            <a:endParaRPr sz="3200">
              <a:solidFill>
                <a:srgbClr val="7F7F7F"/>
              </a:solidFill>
              <a:latin typeface="Arial"/>
              <a:ea typeface="Arial"/>
              <a:cs typeface="Arial"/>
              <a:sym typeface="Arial"/>
            </a:endParaRPr>
          </a:p>
        </p:txBody>
      </p:sp>
      <p:sp>
        <p:nvSpPr>
          <p:cNvPr id="283" name="Google Shape;283;p21"/>
          <p:cNvSpPr/>
          <p:nvPr/>
        </p:nvSpPr>
        <p:spPr>
          <a:xfrm>
            <a:off x="-313765" y="1060398"/>
            <a:ext cx="12788794" cy="1046398"/>
          </a:xfrm>
          <a:prstGeom prst="roundRect">
            <a:avLst>
              <a:gd name="adj" fmla="val 2971"/>
            </a:avLst>
          </a:prstGeom>
          <a:solidFill>
            <a:srgbClr val="732C61"/>
          </a:solidFill>
          <a:ln w="12700" cap="flat" cmpd="sng">
            <a:no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84" name="Google Shape;284;p21"/>
          <p:cNvSpPr txBox="1"/>
          <p:nvPr/>
        </p:nvSpPr>
        <p:spPr>
          <a:xfrm>
            <a:off x="1114697" y="1224441"/>
            <a:ext cx="9988732" cy="707846"/>
          </a:xfrm>
          <a:prstGeom prst="rect">
            <a:avLst/>
          </a:prstGeom>
          <a:noFill/>
          <a:ln>
            <a:noFill/>
          </a:ln>
        </p:spPr>
        <p:txBody>
          <a:bodyPr spcFirstLastPara="1" wrap="square" lIns="91425" tIns="45700" rIns="91425" bIns="45700" anchor="t" anchorCtr="0">
            <a:spAutoFit/>
          </a:bodyPr>
          <a:lstStyle/>
          <a:p>
            <a:pPr algn="just"/>
            <a:r>
              <a:rPr lang="es-ES" sz="2000" dirty="0">
                <a:solidFill>
                  <a:schemeClr val="lt1"/>
                </a:solidFill>
                <a:latin typeface="Calibri"/>
                <a:ea typeface="Calibri"/>
                <a:cs typeface="Calibri"/>
                <a:sym typeface="Calibri"/>
              </a:rPr>
              <a:t>En un archivo de largo fijo, cada fila corresponde a un registro y debemos conocer las posiciones en que vienen los campos.  A continuación, un ejemplo:</a:t>
            </a:r>
            <a:endParaRPr lang="es-ES" dirty="0">
              <a:solidFill>
                <a:schemeClr val="lt1"/>
              </a:solidFill>
            </a:endParaRPr>
          </a:p>
        </p:txBody>
      </p:sp>
      <p:sp>
        <p:nvSpPr>
          <p:cNvPr id="285" name="Google Shape;285;p21"/>
          <p:cNvSpPr/>
          <p:nvPr/>
        </p:nvSpPr>
        <p:spPr>
          <a:xfrm>
            <a:off x="1114697" y="2362913"/>
            <a:ext cx="6920350" cy="3872517"/>
          </a:xfrm>
          <a:prstGeom prst="roundRect">
            <a:avLst>
              <a:gd name="adj" fmla="val 2971"/>
            </a:avLst>
          </a:prstGeom>
          <a:solidFill>
            <a:schemeClr val="lt1"/>
          </a:solidFill>
          <a:ln w="38100" cap="flat" cmpd="sng">
            <a:solidFill>
              <a:srgbClr val="732C6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286" name="Google Shape;286;p21"/>
          <p:cNvPicPr preferRelativeResize="0"/>
          <p:nvPr/>
        </p:nvPicPr>
        <p:blipFill rotWithShape="1">
          <a:blip r:embed="rId3">
            <a:alphaModFix/>
          </a:blip>
          <a:srcRect/>
          <a:stretch/>
        </p:blipFill>
        <p:spPr>
          <a:xfrm>
            <a:off x="1155809" y="2667456"/>
            <a:ext cx="6838125" cy="3424128"/>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82"/>
                                        </p:tgtEl>
                                        <p:attrNameLst>
                                          <p:attrName>style.visibility</p:attrName>
                                        </p:attrNameLst>
                                      </p:cBhvr>
                                      <p:to>
                                        <p:strVal val="visible"/>
                                      </p:to>
                                    </p:set>
                                    <p:animEffect transition="in" filter="fade">
                                      <p:cBhvr>
                                        <p:cTn id="7" dur="500"/>
                                        <p:tgtEl>
                                          <p:spTgt spid="28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90"/>
        <p:cNvGrpSpPr/>
        <p:nvPr/>
      </p:nvGrpSpPr>
      <p:grpSpPr>
        <a:xfrm>
          <a:off x="0" y="0"/>
          <a:ext cx="0" cy="0"/>
          <a:chOff x="0" y="0"/>
          <a:chExt cx="0" cy="0"/>
        </a:xfrm>
      </p:grpSpPr>
      <p:sp>
        <p:nvSpPr>
          <p:cNvPr id="291" name="Google Shape;291;p22"/>
          <p:cNvSpPr txBox="1"/>
          <p:nvPr/>
        </p:nvSpPr>
        <p:spPr>
          <a:xfrm>
            <a:off x="685395" y="3783269"/>
            <a:ext cx="10782300" cy="731156"/>
          </a:xfrm>
          <a:prstGeom prst="rect">
            <a:avLst/>
          </a:prstGeom>
          <a:noFill/>
          <a:ln>
            <a:noFill/>
          </a:ln>
        </p:spPr>
        <p:txBody>
          <a:bodyPr spcFirstLastPara="1" wrap="square" lIns="91425" tIns="45700" rIns="91425" bIns="45700" anchor="ctr" anchorCtr="0">
            <a:noAutofit/>
          </a:bodyPr>
          <a:lstStyle/>
          <a:p>
            <a:pPr marL="0" marR="0" lvl="0" indent="0" algn="just" rtl="0">
              <a:lnSpc>
                <a:spcPct val="90000"/>
              </a:lnSpc>
              <a:spcBef>
                <a:spcPts val="0"/>
              </a:spcBef>
              <a:spcAft>
                <a:spcPts val="0"/>
              </a:spcAft>
              <a:buNone/>
            </a:pPr>
            <a:r>
              <a:rPr lang="es-ES" sz="3200">
                <a:solidFill>
                  <a:srgbClr val="7F7F7F"/>
                </a:solidFill>
                <a:latin typeface="Arial"/>
                <a:ea typeface="Arial"/>
                <a:cs typeface="Arial"/>
                <a:sym typeface="Arial"/>
              </a:rPr>
              <a:t>Leyendo un Archivo Excel</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91"/>
                                        </p:tgtEl>
                                        <p:attrNameLst>
                                          <p:attrName>style.visibility</p:attrName>
                                        </p:attrNameLst>
                                      </p:cBhvr>
                                      <p:to>
                                        <p:strVal val="visible"/>
                                      </p:to>
                                    </p:set>
                                    <p:animEffect transition="in" filter="fade">
                                      <p:cBhvr>
                                        <p:cTn id="7" dur="500"/>
                                        <p:tgtEl>
                                          <p:spTgt spid="2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95"/>
        <p:cNvGrpSpPr/>
        <p:nvPr/>
      </p:nvGrpSpPr>
      <p:grpSpPr>
        <a:xfrm>
          <a:off x="0" y="0"/>
          <a:ext cx="0" cy="0"/>
          <a:chOff x="0" y="0"/>
          <a:chExt cx="0" cy="0"/>
        </a:xfrm>
      </p:grpSpPr>
      <p:sp>
        <p:nvSpPr>
          <p:cNvPr id="296" name="Google Shape;296;p23"/>
          <p:cNvSpPr txBox="1"/>
          <p:nvPr/>
        </p:nvSpPr>
        <p:spPr>
          <a:xfrm>
            <a:off x="763216" y="259277"/>
            <a:ext cx="3332129" cy="731156"/>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None/>
            </a:pPr>
            <a:r>
              <a:rPr lang="es-ES" sz="3200">
                <a:solidFill>
                  <a:srgbClr val="7F7F7F"/>
                </a:solidFill>
                <a:latin typeface="Arial"/>
                <a:ea typeface="Arial"/>
                <a:cs typeface="Arial"/>
                <a:sym typeface="Arial"/>
              </a:rPr>
              <a:t>Archivos Excel</a:t>
            </a:r>
            <a:endParaRPr/>
          </a:p>
        </p:txBody>
      </p:sp>
      <p:sp>
        <p:nvSpPr>
          <p:cNvPr id="297" name="Google Shape;297;p23"/>
          <p:cNvSpPr/>
          <p:nvPr/>
        </p:nvSpPr>
        <p:spPr>
          <a:xfrm>
            <a:off x="-304800" y="980238"/>
            <a:ext cx="12779829" cy="1306965"/>
          </a:xfrm>
          <a:prstGeom prst="roundRect">
            <a:avLst>
              <a:gd name="adj" fmla="val 2971"/>
            </a:avLst>
          </a:prstGeom>
          <a:gradFill>
            <a:gsLst>
              <a:gs pos="0">
                <a:srgbClr val="451539"/>
              </a:gs>
              <a:gs pos="50000">
                <a:srgbClr val="641F53"/>
              </a:gs>
              <a:gs pos="100000">
                <a:srgbClr val="782663"/>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98" name="Google Shape;298;p23"/>
          <p:cNvSpPr txBox="1"/>
          <p:nvPr/>
        </p:nvSpPr>
        <p:spPr>
          <a:xfrm>
            <a:off x="77926" y="1115833"/>
            <a:ext cx="9985961" cy="1015622"/>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2000" dirty="0">
                <a:solidFill>
                  <a:schemeClr val="lt1"/>
                </a:solidFill>
                <a:latin typeface="Calibri"/>
                <a:ea typeface="Calibri"/>
                <a:cs typeface="Calibri"/>
                <a:sym typeface="Calibri"/>
              </a:rPr>
              <a:t>La librería Pandas puede leer y escribir archivos en formado Excel. </a:t>
            </a:r>
          </a:p>
          <a:p>
            <a:pPr marL="342900" marR="0" lvl="0" indent="-342900" algn="just" rtl="0">
              <a:spcBef>
                <a:spcPts val="0"/>
              </a:spcBef>
              <a:spcAft>
                <a:spcPts val="0"/>
              </a:spcAft>
              <a:buClr>
                <a:schemeClr val="bg1"/>
              </a:buClr>
              <a:buFont typeface="Wingdings" panose="05000000000000000000" pitchFamily="2" charset="2"/>
              <a:buChar char="ü"/>
            </a:pPr>
            <a:r>
              <a:rPr lang="es-ES" sz="2000" dirty="0">
                <a:solidFill>
                  <a:schemeClr val="lt1"/>
                </a:solidFill>
                <a:latin typeface="Calibri"/>
                <a:ea typeface="Calibri"/>
                <a:cs typeface="Calibri"/>
                <a:sym typeface="Calibri"/>
              </a:rPr>
              <a:t>Para archivos </a:t>
            </a:r>
            <a:r>
              <a:rPr lang="es-ES" sz="2000" b="1" dirty="0">
                <a:solidFill>
                  <a:schemeClr val="lt1"/>
                </a:solidFill>
                <a:latin typeface="Calibri"/>
                <a:ea typeface="Calibri"/>
                <a:cs typeface="Calibri"/>
                <a:sym typeface="Calibri"/>
              </a:rPr>
              <a:t>.xlsx </a:t>
            </a:r>
            <a:r>
              <a:rPr lang="es-ES" sz="2000" dirty="0">
                <a:solidFill>
                  <a:schemeClr val="lt1"/>
                </a:solidFill>
                <a:latin typeface="Calibri"/>
                <a:ea typeface="Calibri"/>
                <a:cs typeface="Calibri"/>
                <a:sym typeface="Calibri"/>
              </a:rPr>
              <a:t>modernos se recomienda instalar la librería </a:t>
            </a:r>
            <a:r>
              <a:rPr lang="es-ES" sz="2000" b="1" dirty="0" err="1">
                <a:solidFill>
                  <a:schemeClr val="lt1"/>
                </a:solidFill>
                <a:latin typeface="Calibri"/>
                <a:ea typeface="Calibri"/>
                <a:cs typeface="Calibri"/>
                <a:sym typeface="Calibri"/>
              </a:rPr>
              <a:t>openpyxl</a:t>
            </a:r>
            <a:r>
              <a:rPr lang="es-ES" sz="2000" dirty="0">
                <a:solidFill>
                  <a:schemeClr val="lt1"/>
                </a:solidFill>
                <a:latin typeface="Calibri"/>
                <a:ea typeface="Calibri"/>
                <a:cs typeface="Calibri"/>
                <a:sym typeface="Calibri"/>
              </a:rPr>
              <a:t>.</a:t>
            </a:r>
          </a:p>
          <a:p>
            <a:pPr marL="342900" marR="0" lvl="0" indent="-342900" algn="just" rtl="0">
              <a:spcBef>
                <a:spcPts val="0"/>
              </a:spcBef>
              <a:spcAft>
                <a:spcPts val="0"/>
              </a:spcAft>
              <a:buClr>
                <a:schemeClr val="bg1"/>
              </a:buClr>
              <a:buFont typeface="Wingdings" panose="05000000000000000000" pitchFamily="2" charset="2"/>
              <a:buChar char="ü"/>
            </a:pPr>
            <a:r>
              <a:rPr lang="es-ES" sz="2000" dirty="0">
                <a:solidFill>
                  <a:schemeClr val="lt1"/>
                </a:solidFill>
                <a:latin typeface="Calibri"/>
                <a:ea typeface="Calibri"/>
                <a:cs typeface="Calibri"/>
                <a:sym typeface="Calibri"/>
              </a:rPr>
              <a:t>Para escribir archivos también se puede utilizar </a:t>
            </a:r>
            <a:r>
              <a:rPr lang="es-ES" sz="2000" b="1" dirty="0" err="1">
                <a:solidFill>
                  <a:schemeClr val="lt1"/>
                </a:solidFill>
                <a:latin typeface="Calibri"/>
                <a:ea typeface="Calibri"/>
                <a:cs typeface="Calibri"/>
                <a:sym typeface="Calibri"/>
              </a:rPr>
              <a:t>xlsxwriter</a:t>
            </a:r>
            <a:r>
              <a:rPr lang="es-ES" sz="2000" dirty="0">
                <a:solidFill>
                  <a:schemeClr val="lt1"/>
                </a:solidFill>
                <a:latin typeface="Calibri"/>
                <a:ea typeface="Calibri"/>
                <a:cs typeface="Calibri"/>
                <a:sym typeface="Calibri"/>
              </a:rPr>
              <a:t>.</a:t>
            </a:r>
            <a:endParaRPr sz="2000" dirty="0"/>
          </a:p>
        </p:txBody>
      </p:sp>
      <p:sp>
        <p:nvSpPr>
          <p:cNvPr id="299" name="Google Shape;299;p23"/>
          <p:cNvSpPr/>
          <p:nvPr/>
        </p:nvSpPr>
        <p:spPr>
          <a:xfrm>
            <a:off x="763216" y="2412603"/>
            <a:ext cx="9916810" cy="4011849"/>
          </a:xfrm>
          <a:prstGeom prst="roundRect">
            <a:avLst>
              <a:gd name="adj" fmla="val 2971"/>
            </a:avLst>
          </a:prstGeom>
          <a:solidFill>
            <a:schemeClr val="lt1"/>
          </a:solidFill>
          <a:ln w="38100" cap="flat" cmpd="sng">
            <a:solidFill>
              <a:srgbClr val="732C6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300" name="Google Shape;300;p23"/>
          <p:cNvPicPr preferRelativeResize="0"/>
          <p:nvPr/>
        </p:nvPicPr>
        <p:blipFill rotWithShape="1">
          <a:blip r:embed="rId3">
            <a:alphaModFix/>
          </a:blip>
          <a:srcRect/>
          <a:stretch/>
        </p:blipFill>
        <p:spPr>
          <a:xfrm>
            <a:off x="2931811" y="4186978"/>
            <a:ext cx="6087325" cy="2143424"/>
          </a:xfrm>
          <a:prstGeom prst="rect">
            <a:avLst/>
          </a:prstGeom>
          <a:noFill/>
          <a:ln>
            <a:noFill/>
          </a:ln>
        </p:spPr>
      </p:pic>
      <p:pic>
        <p:nvPicPr>
          <p:cNvPr id="301" name="Google Shape;301;p23"/>
          <p:cNvPicPr preferRelativeResize="0"/>
          <p:nvPr/>
        </p:nvPicPr>
        <p:blipFill rotWithShape="1">
          <a:blip r:embed="rId4">
            <a:alphaModFix/>
          </a:blip>
          <a:srcRect/>
          <a:stretch/>
        </p:blipFill>
        <p:spPr>
          <a:xfrm>
            <a:off x="982494" y="2597295"/>
            <a:ext cx="9459645" cy="1495634"/>
          </a:xfrm>
          <a:prstGeom prst="rect">
            <a:avLst/>
          </a:prstGeom>
          <a:noFill/>
          <a:ln>
            <a:noFill/>
          </a:ln>
        </p:spPr>
      </p:pic>
      <p:pic>
        <p:nvPicPr>
          <p:cNvPr id="3" name="Imagen 2">
            <a:extLst>
              <a:ext uri="{FF2B5EF4-FFF2-40B4-BE49-F238E27FC236}">
                <a16:creationId xmlns:a16="http://schemas.microsoft.com/office/drawing/2014/main" id="{B73512A0-8C30-90B3-4EE5-150FEF6AA36C}"/>
              </a:ext>
            </a:extLst>
          </p:cNvPr>
          <p:cNvPicPr>
            <a:picLocks noChangeAspect="1"/>
          </p:cNvPicPr>
          <p:nvPr/>
        </p:nvPicPr>
        <p:blipFill>
          <a:blip r:embed="rId5"/>
          <a:stretch>
            <a:fillRect/>
          </a:stretch>
        </p:blipFill>
        <p:spPr>
          <a:xfrm>
            <a:off x="8323714" y="1528930"/>
            <a:ext cx="1390844" cy="209579"/>
          </a:xfrm>
          <a:prstGeom prst="rect">
            <a:avLst/>
          </a:prstGeom>
        </p:spPr>
      </p:pic>
      <p:pic>
        <p:nvPicPr>
          <p:cNvPr id="5" name="Imagen 4">
            <a:extLst>
              <a:ext uri="{FF2B5EF4-FFF2-40B4-BE49-F238E27FC236}">
                <a16:creationId xmlns:a16="http://schemas.microsoft.com/office/drawing/2014/main" id="{71D7BAEB-75F2-AA57-1D10-6F54C064D50A}"/>
              </a:ext>
            </a:extLst>
          </p:cNvPr>
          <p:cNvPicPr>
            <a:picLocks noChangeAspect="1"/>
          </p:cNvPicPr>
          <p:nvPr/>
        </p:nvPicPr>
        <p:blipFill>
          <a:blip r:embed="rId6"/>
          <a:stretch>
            <a:fillRect/>
          </a:stretch>
        </p:blipFill>
        <p:spPr>
          <a:xfrm>
            <a:off x="6694712" y="1818819"/>
            <a:ext cx="1629002" cy="266737"/>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96"/>
                                        </p:tgtEl>
                                        <p:attrNameLst>
                                          <p:attrName>style.visibility</p:attrName>
                                        </p:attrNameLst>
                                      </p:cBhvr>
                                      <p:to>
                                        <p:strVal val="visible"/>
                                      </p:to>
                                    </p:set>
                                    <p:animEffect transition="in" filter="fade">
                                      <p:cBhvr>
                                        <p:cTn id="7" dur="500"/>
                                        <p:tgtEl>
                                          <p:spTgt spid="2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05"/>
        <p:cNvGrpSpPr/>
        <p:nvPr/>
      </p:nvGrpSpPr>
      <p:grpSpPr>
        <a:xfrm>
          <a:off x="0" y="0"/>
          <a:ext cx="0" cy="0"/>
          <a:chOff x="0" y="0"/>
          <a:chExt cx="0" cy="0"/>
        </a:xfrm>
      </p:grpSpPr>
      <p:sp>
        <p:nvSpPr>
          <p:cNvPr id="306" name="Google Shape;306;p24"/>
          <p:cNvSpPr txBox="1"/>
          <p:nvPr/>
        </p:nvSpPr>
        <p:spPr>
          <a:xfrm>
            <a:off x="683347" y="259045"/>
            <a:ext cx="4326397" cy="731156"/>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None/>
            </a:pPr>
            <a:r>
              <a:rPr lang="es-ES" sz="3200">
                <a:solidFill>
                  <a:srgbClr val="7F7F7F"/>
                </a:solidFill>
                <a:latin typeface="Arial"/>
                <a:ea typeface="Arial"/>
                <a:cs typeface="Arial"/>
                <a:sym typeface="Arial"/>
              </a:rPr>
              <a:t>Archivos Excel</a:t>
            </a:r>
            <a:endParaRPr/>
          </a:p>
        </p:txBody>
      </p:sp>
      <p:sp>
        <p:nvSpPr>
          <p:cNvPr id="307" name="Google Shape;307;p24"/>
          <p:cNvSpPr/>
          <p:nvPr/>
        </p:nvSpPr>
        <p:spPr>
          <a:xfrm>
            <a:off x="-627970" y="1155198"/>
            <a:ext cx="12905335" cy="679356"/>
          </a:xfrm>
          <a:prstGeom prst="roundRect">
            <a:avLst>
              <a:gd name="adj" fmla="val 2971"/>
            </a:avLst>
          </a:prstGeom>
          <a:gradFill>
            <a:gsLst>
              <a:gs pos="0">
                <a:srgbClr val="451539"/>
              </a:gs>
              <a:gs pos="50000">
                <a:srgbClr val="641F53"/>
              </a:gs>
              <a:gs pos="100000">
                <a:srgbClr val="782663"/>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08" name="Google Shape;308;p24"/>
          <p:cNvSpPr txBox="1"/>
          <p:nvPr/>
        </p:nvSpPr>
        <p:spPr>
          <a:xfrm>
            <a:off x="749135" y="1255586"/>
            <a:ext cx="8230368" cy="553957"/>
          </a:xfrm>
          <a:prstGeom prst="rect">
            <a:avLst/>
          </a:prstGeom>
          <a:noFill/>
          <a:ln>
            <a:noFill/>
          </a:ln>
        </p:spPr>
        <p:txBody>
          <a:bodyPr spcFirstLastPara="1" wrap="square" lIns="91425" tIns="45700" rIns="91425" bIns="45700" anchor="t" anchorCtr="0">
            <a:spAutoFit/>
          </a:bodyPr>
          <a:lstStyle/>
          <a:p>
            <a:pPr marL="0" marR="0" lvl="0" indent="0" rtl="0">
              <a:lnSpc>
                <a:spcPct val="150000"/>
              </a:lnSpc>
              <a:spcBef>
                <a:spcPts val="0"/>
              </a:spcBef>
              <a:spcAft>
                <a:spcPts val="0"/>
              </a:spcAft>
              <a:buNone/>
            </a:pPr>
            <a:r>
              <a:rPr lang="es-ES" sz="2000" dirty="0">
                <a:solidFill>
                  <a:schemeClr val="lt1"/>
                </a:solidFill>
                <a:latin typeface="Calibri"/>
                <a:ea typeface="Calibri"/>
                <a:cs typeface="Calibri"/>
                <a:sym typeface="Calibri"/>
              </a:rPr>
              <a:t>Con el parámetro </a:t>
            </a:r>
            <a:r>
              <a:rPr lang="es-ES" sz="2000" b="1" dirty="0" err="1">
                <a:solidFill>
                  <a:schemeClr val="lt1"/>
                </a:solidFill>
                <a:latin typeface="Calibri"/>
                <a:ea typeface="Calibri"/>
                <a:cs typeface="Calibri"/>
                <a:sym typeface="Calibri"/>
              </a:rPr>
              <a:t>sheet_name</a:t>
            </a:r>
            <a:r>
              <a:rPr lang="es-ES" sz="2000" dirty="0">
                <a:solidFill>
                  <a:schemeClr val="lt1"/>
                </a:solidFill>
                <a:latin typeface="Calibri"/>
                <a:ea typeface="Calibri"/>
                <a:cs typeface="Calibri"/>
                <a:sym typeface="Calibri"/>
              </a:rPr>
              <a:t> se puede especificar la hoja a leer.</a:t>
            </a:r>
            <a:endParaRPr sz="2000" dirty="0"/>
          </a:p>
        </p:txBody>
      </p:sp>
      <p:sp>
        <p:nvSpPr>
          <p:cNvPr id="309" name="Google Shape;309;p24"/>
          <p:cNvSpPr/>
          <p:nvPr/>
        </p:nvSpPr>
        <p:spPr>
          <a:xfrm>
            <a:off x="749608" y="1939986"/>
            <a:ext cx="7284480" cy="4220589"/>
          </a:xfrm>
          <a:prstGeom prst="roundRect">
            <a:avLst>
              <a:gd name="adj" fmla="val 2971"/>
            </a:avLst>
          </a:prstGeom>
          <a:solidFill>
            <a:schemeClr val="lt1"/>
          </a:solidFill>
          <a:ln w="38100" cap="flat" cmpd="sng">
            <a:solidFill>
              <a:srgbClr val="732C6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310" name="Google Shape;310;p24"/>
          <p:cNvPicPr preferRelativeResize="0"/>
          <p:nvPr/>
        </p:nvPicPr>
        <p:blipFill rotWithShape="1">
          <a:blip r:embed="rId3">
            <a:alphaModFix/>
          </a:blip>
          <a:srcRect/>
          <a:stretch/>
        </p:blipFill>
        <p:spPr>
          <a:xfrm>
            <a:off x="1518092" y="2205371"/>
            <a:ext cx="6039693" cy="2152950"/>
          </a:xfrm>
          <a:prstGeom prst="rect">
            <a:avLst/>
          </a:prstGeom>
          <a:noFill/>
          <a:ln>
            <a:noFill/>
          </a:ln>
        </p:spPr>
      </p:pic>
      <p:pic>
        <p:nvPicPr>
          <p:cNvPr id="311" name="Google Shape;311;p24"/>
          <p:cNvPicPr preferRelativeResize="0"/>
          <p:nvPr/>
        </p:nvPicPr>
        <p:blipFill rotWithShape="1">
          <a:blip r:embed="rId4">
            <a:alphaModFix/>
          </a:blip>
          <a:srcRect/>
          <a:stretch/>
        </p:blipFill>
        <p:spPr>
          <a:xfrm>
            <a:off x="1370435" y="4673579"/>
            <a:ext cx="6335009" cy="1171739"/>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06"/>
                                        </p:tgtEl>
                                        <p:attrNameLst>
                                          <p:attrName>style.visibility</p:attrName>
                                        </p:attrNameLst>
                                      </p:cBhvr>
                                      <p:to>
                                        <p:strVal val="visible"/>
                                      </p:to>
                                    </p:set>
                                    <p:animEffect transition="in" filter="fade">
                                      <p:cBhvr>
                                        <p:cTn id="7" dur="500"/>
                                        <p:tgtEl>
                                          <p:spTgt spid="3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15"/>
        <p:cNvGrpSpPr/>
        <p:nvPr/>
      </p:nvGrpSpPr>
      <p:grpSpPr>
        <a:xfrm>
          <a:off x="0" y="0"/>
          <a:ext cx="0" cy="0"/>
          <a:chOff x="0" y="0"/>
          <a:chExt cx="0" cy="0"/>
        </a:xfrm>
      </p:grpSpPr>
      <p:sp>
        <p:nvSpPr>
          <p:cNvPr id="316" name="Google Shape;316;p25"/>
          <p:cNvSpPr txBox="1"/>
          <p:nvPr/>
        </p:nvSpPr>
        <p:spPr>
          <a:xfrm>
            <a:off x="703243" y="227442"/>
            <a:ext cx="7864929" cy="687614"/>
          </a:xfrm>
          <a:prstGeom prst="rect">
            <a:avLst/>
          </a:prstGeom>
          <a:noFill/>
          <a:ln>
            <a:noFill/>
          </a:ln>
        </p:spPr>
        <p:txBody>
          <a:bodyPr spcFirstLastPara="1" wrap="square" lIns="91425" tIns="45700" rIns="91425" bIns="45700" anchor="ctr" anchorCtr="0">
            <a:noAutofit/>
          </a:bodyPr>
          <a:lstStyle/>
          <a:p>
            <a:pPr marL="0" marR="0" lvl="0" indent="0" rtl="0">
              <a:lnSpc>
                <a:spcPct val="90000"/>
              </a:lnSpc>
              <a:spcBef>
                <a:spcPts val="0"/>
              </a:spcBef>
              <a:spcAft>
                <a:spcPts val="0"/>
              </a:spcAft>
              <a:buNone/>
            </a:pPr>
            <a:r>
              <a:rPr lang="es-ES" sz="3200">
                <a:solidFill>
                  <a:srgbClr val="7F7F7F"/>
                </a:solidFill>
                <a:latin typeface="Arial"/>
                <a:ea typeface="Arial"/>
                <a:cs typeface="Arial"/>
                <a:sym typeface="Arial"/>
              </a:rPr>
              <a:t>Archivos Excel</a:t>
            </a:r>
            <a:endParaRPr/>
          </a:p>
        </p:txBody>
      </p:sp>
      <p:sp>
        <p:nvSpPr>
          <p:cNvPr id="317" name="Google Shape;317;p25"/>
          <p:cNvSpPr/>
          <p:nvPr/>
        </p:nvSpPr>
        <p:spPr>
          <a:xfrm>
            <a:off x="-369474" y="1026341"/>
            <a:ext cx="12833617" cy="1010058"/>
          </a:xfrm>
          <a:prstGeom prst="roundRect">
            <a:avLst>
              <a:gd name="adj" fmla="val 2971"/>
            </a:avLst>
          </a:prstGeom>
          <a:gradFill>
            <a:gsLst>
              <a:gs pos="0">
                <a:srgbClr val="451539"/>
              </a:gs>
              <a:gs pos="50000">
                <a:srgbClr val="641F53"/>
              </a:gs>
              <a:gs pos="100000">
                <a:srgbClr val="782663"/>
              </a:gs>
            </a:gsLst>
            <a:lin ang="2700000" scaled="0"/>
          </a:gradFill>
          <a:ln w="12700" cap="flat" cmpd="sng">
            <a:no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18" name="Google Shape;318;p25"/>
          <p:cNvSpPr txBox="1"/>
          <p:nvPr/>
        </p:nvSpPr>
        <p:spPr>
          <a:xfrm>
            <a:off x="689275" y="1169255"/>
            <a:ext cx="9593625" cy="707846"/>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2000">
                <a:solidFill>
                  <a:schemeClr val="lt1"/>
                </a:solidFill>
                <a:latin typeface="Calibri"/>
                <a:ea typeface="Calibri"/>
                <a:cs typeface="Calibri"/>
                <a:sym typeface="Calibri"/>
              </a:rPr>
              <a:t>Para escribir un </a:t>
            </a:r>
            <a:r>
              <a:rPr lang="es-ES" sz="2000" b="1">
                <a:solidFill>
                  <a:schemeClr val="lt1"/>
                </a:solidFill>
                <a:latin typeface="Calibri"/>
                <a:ea typeface="Calibri"/>
                <a:cs typeface="Calibri"/>
                <a:sym typeface="Calibri"/>
              </a:rPr>
              <a:t>dataframe</a:t>
            </a:r>
            <a:r>
              <a:rPr lang="es-ES" sz="2000">
                <a:solidFill>
                  <a:schemeClr val="lt1"/>
                </a:solidFill>
                <a:latin typeface="Calibri"/>
                <a:ea typeface="Calibri"/>
                <a:cs typeface="Calibri"/>
                <a:sym typeface="Calibri"/>
              </a:rPr>
              <a:t> en un archivo Excel, utilizamos la función </a:t>
            </a:r>
            <a:r>
              <a:rPr lang="es-ES" sz="2000" b="1">
                <a:solidFill>
                  <a:schemeClr val="lt1"/>
                </a:solidFill>
                <a:latin typeface="Calibri"/>
                <a:ea typeface="Calibri"/>
                <a:cs typeface="Calibri"/>
                <a:sym typeface="Calibri"/>
              </a:rPr>
              <a:t>to_excel(). </a:t>
            </a:r>
            <a:r>
              <a:rPr lang="es-ES" sz="2000">
                <a:solidFill>
                  <a:schemeClr val="lt1"/>
                </a:solidFill>
                <a:latin typeface="Calibri"/>
                <a:ea typeface="Calibri"/>
                <a:cs typeface="Calibri"/>
                <a:sym typeface="Calibri"/>
              </a:rPr>
              <a:t>Requiere que se instale la librería mediante el comando </a:t>
            </a:r>
            <a:r>
              <a:rPr lang="es-ES" sz="2000" b="1">
                <a:solidFill>
                  <a:schemeClr val="lt1"/>
                </a:solidFill>
                <a:latin typeface="Calibri"/>
                <a:ea typeface="Calibri"/>
                <a:cs typeface="Calibri"/>
                <a:sym typeface="Calibri"/>
              </a:rPr>
              <a:t>conda install xlwt</a:t>
            </a:r>
            <a:r>
              <a:rPr lang="es-ES" sz="2000">
                <a:solidFill>
                  <a:schemeClr val="lt1"/>
                </a:solidFill>
                <a:latin typeface="Calibri"/>
                <a:ea typeface="Calibri"/>
                <a:cs typeface="Calibri"/>
                <a:sym typeface="Calibri"/>
              </a:rPr>
              <a:t>.</a:t>
            </a:r>
            <a:endParaRPr sz="2000"/>
          </a:p>
        </p:txBody>
      </p:sp>
      <p:sp>
        <p:nvSpPr>
          <p:cNvPr id="319" name="Google Shape;319;p25"/>
          <p:cNvSpPr/>
          <p:nvPr/>
        </p:nvSpPr>
        <p:spPr>
          <a:xfrm>
            <a:off x="694633" y="2346665"/>
            <a:ext cx="8395570" cy="3682888"/>
          </a:xfrm>
          <a:prstGeom prst="roundRect">
            <a:avLst>
              <a:gd name="adj" fmla="val 2971"/>
            </a:avLst>
          </a:prstGeom>
          <a:solidFill>
            <a:schemeClr val="lt1"/>
          </a:solidFill>
          <a:ln w="38100" cap="flat" cmpd="sng">
            <a:solidFill>
              <a:srgbClr val="732C6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cxnSp>
        <p:nvCxnSpPr>
          <p:cNvPr id="320" name="Google Shape;320;p25"/>
          <p:cNvCxnSpPr/>
          <p:nvPr/>
        </p:nvCxnSpPr>
        <p:spPr>
          <a:xfrm>
            <a:off x="4821811" y="3295914"/>
            <a:ext cx="2535" cy="541114"/>
          </a:xfrm>
          <a:prstGeom prst="straightConnector1">
            <a:avLst/>
          </a:prstGeom>
          <a:noFill/>
          <a:ln w="9525" cap="flat" cmpd="sng">
            <a:solidFill>
              <a:srgbClr val="732C61"/>
            </a:solidFill>
            <a:prstDash val="solid"/>
            <a:miter lim="800000"/>
            <a:headEnd type="none" w="sm" len="sm"/>
            <a:tailEnd type="triangle" w="med" len="med"/>
          </a:ln>
        </p:spPr>
      </p:cxnSp>
      <p:pic>
        <p:nvPicPr>
          <p:cNvPr id="321" name="Google Shape;321;p25"/>
          <p:cNvPicPr preferRelativeResize="0"/>
          <p:nvPr/>
        </p:nvPicPr>
        <p:blipFill rotWithShape="1">
          <a:blip r:embed="rId3">
            <a:alphaModFix/>
          </a:blip>
          <a:srcRect/>
          <a:stretch/>
        </p:blipFill>
        <p:spPr>
          <a:xfrm>
            <a:off x="2853204" y="2470372"/>
            <a:ext cx="6049219" cy="628738"/>
          </a:xfrm>
          <a:prstGeom prst="rect">
            <a:avLst/>
          </a:prstGeom>
          <a:noFill/>
          <a:ln>
            <a:noFill/>
          </a:ln>
        </p:spPr>
      </p:pic>
      <p:pic>
        <p:nvPicPr>
          <p:cNvPr id="322" name="Google Shape;322;p25"/>
          <p:cNvPicPr preferRelativeResize="0"/>
          <p:nvPr/>
        </p:nvPicPr>
        <p:blipFill rotWithShape="1">
          <a:blip r:embed="rId4">
            <a:alphaModFix/>
          </a:blip>
          <a:srcRect/>
          <a:stretch/>
        </p:blipFill>
        <p:spPr>
          <a:xfrm>
            <a:off x="3443836" y="3982709"/>
            <a:ext cx="4867954" cy="1829055"/>
          </a:xfrm>
          <a:prstGeom prst="rect">
            <a:avLst/>
          </a:prstGeom>
          <a:noFill/>
          <a:ln>
            <a:noFill/>
          </a:ln>
        </p:spPr>
      </p:pic>
      <p:sp>
        <p:nvSpPr>
          <p:cNvPr id="323" name="Google Shape;323;p25"/>
          <p:cNvSpPr txBox="1"/>
          <p:nvPr/>
        </p:nvSpPr>
        <p:spPr>
          <a:xfrm>
            <a:off x="1093677" y="4188109"/>
            <a:ext cx="1759527" cy="738664"/>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Clr>
                <a:srgbClr val="3A3838"/>
              </a:buClr>
              <a:buSzPts val="1400"/>
              <a:buFont typeface="Calibri"/>
              <a:buNone/>
            </a:pPr>
            <a:r>
              <a:rPr lang="es-ES" sz="1400">
                <a:solidFill>
                  <a:srgbClr val="3A3838"/>
                </a:solidFill>
                <a:latin typeface="Calibri"/>
                <a:ea typeface="Calibri"/>
                <a:cs typeface="Calibri"/>
                <a:sym typeface="Calibri"/>
              </a:rPr>
              <a:t>Por defecto se almacena el índice del dataframe</a:t>
            </a:r>
            <a:endParaRPr sz="1400">
              <a:solidFill>
                <a:srgbClr val="3A3838"/>
              </a:solidFill>
              <a:latin typeface="Calibri"/>
              <a:ea typeface="Calibri"/>
              <a:cs typeface="Calibri"/>
              <a:sym typeface="Calibri"/>
            </a:endParaRPr>
          </a:p>
        </p:txBody>
      </p:sp>
      <p:cxnSp>
        <p:nvCxnSpPr>
          <p:cNvPr id="324" name="Google Shape;324;p25"/>
          <p:cNvCxnSpPr/>
          <p:nvPr/>
        </p:nvCxnSpPr>
        <p:spPr>
          <a:xfrm>
            <a:off x="2853204" y="4543789"/>
            <a:ext cx="939536" cy="0"/>
          </a:xfrm>
          <a:prstGeom prst="straightConnector1">
            <a:avLst/>
          </a:prstGeom>
          <a:noFill/>
          <a:ln w="9525" cap="flat" cmpd="sng">
            <a:solidFill>
              <a:srgbClr val="732C61"/>
            </a:solidFill>
            <a:prstDash val="solid"/>
            <a:miter lim="800000"/>
            <a:headEnd type="none" w="sm" len="sm"/>
            <a:tailEnd type="triangle" w="med" len="med"/>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16"/>
                                        </p:tgtEl>
                                        <p:attrNameLst>
                                          <p:attrName>style.visibility</p:attrName>
                                        </p:attrNameLst>
                                      </p:cBhvr>
                                      <p:to>
                                        <p:strVal val="visible"/>
                                      </p:to>
                                    </p:set>
                                    <p:animEffect transition="in" filter="fade">
                                      <p:cBhvr>
                                        <p:cTn id="7" dur="500"/>
                                        <p:tgtEl>
                                          <p:spTgt spid="3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28"/>
        <p:cNvGrpSpPr/>
        <p:nvPr/>
      </p:nvGrpSpPr>
      <p:grpSpPr>
        <a:xfrm>
          <a:off x="0" y="0"/>
          <a:ext cx="0" cy="0"/>
          <a:chOff x="0" y="0"/>
          <a:chExt cx="0" cy="0"/>
        </a:xfrm>
      </p:grpSpPr>
      <p:sp>
        <p:nvSpPr>
          <p:cNvPr id="329" name="Google Shape;329;p26"/>
          <p:cNvSpPr txBox="1"/>
          <p:nvPr/>
        </p:nvSpPr>
        <p:spPr>
          <a:xfrm>
            <a:off x="717148" y="167114"/>
            <a:ext cx="3364459" cy="731156"/>
          </a:xfrm>
          <a:prstGeom prst="rect">
            <a:avLst/>
          </a:prstGeom>
          <a:noFill/>
          <a:ln>
            <a:noFill/>
          </a:ln>
        </p:spPr>
        <p:txBody>
          <a:bodyPr spcFirstLastPara="1" wrap="square" lIns="91425" tIns="45700" rIns="91425" bIns="45700" anchor="ctr" anchorCtr="0">
            <a:noAutofit/>
          </a:bodyPr>
          <a:lstStyle/>
          <a:p>
            <a:pPr marL="0" marR="0" lvl="0" indent="0" rtl="0">
              <a:lnSpc>
                <a:spcPct val="90000"/>
              </a:lnSpc>
              <a:spcBef>
                <a:spcPts val="0"/>
              </a:spcBef>
              <a:spcAft>
                <a:spcPts val="0"/>
              </a:spcAft>
              <a:buNone/>
            </a:pPr>
            <a:r>
              <a:rPr lang="es-ES" sz="3200">
                <a:solidFill>
                  <a:srgbClr val="7F7F7F"/>
                </a:solidFill>
                <a:latin typeface="Arial"/>
                <a:ea typeface="Arial"/>
                <a:cs typeface="Arial"/>
                <a:sym typeface="Arial"/>
              </a:rPr>
              <a:t>Archivos Excel</a:t>
            </a:r>
            <a:endParaRPr/>
          </a:p>
        </p:txBody>
      </p:sp>
      <p:sp>
        <p:nvSpPr>
          <p:cNvPr id="330" name="Google Shape;330;p26"/>
          <p:cNvSpPr/>
          <p:nvPr/>
        </p:nvSpPr>
        <p:spPr>
          <a:xfrm>
            <a:off x="-304037" y="929597"/>
            <a:ext cx="12788794" cy="948873"/>
          </a:xfrm>
          <a:prstGeom prst="roundRect">
            <a:avLst>
              <a:gd name="adj" fmla="val 2971"/>
            </a:avLst>
          </a:prstGeom>
          <a:gradFill>
            <a:gsLst>
              <a:gs pos="0">
                <a:srgbClr val="451539"/>
              </a:gs>
              <a:gs pos="50000">
                <a:srgbClr val="641F53"/>
              </a:gs>
              <a:gs pos="100000">
                <a:srgbClr val="782663"/>
              </a:gs>
            </a:gsLst>
            <a:lin ang="2700000" scaled="0"/>
          </a:gradFill>
          <a:ln w="12700" cap="flat" cmpd="sng">
            <a:no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000">
              <a:solidFill>
                <a:schemeClr val="lt1"/>
              </a:solidFill>
              <a:latin typeface="Calibri"/>
              <a:ea typeface="Calibri"/>
              <a:cs typeface="Calibri"/>
              <a:sym typeface="Calibri"/>
            </a:endParaRPr>
          </a:p>
        </p:txBody>
      </p:sp>
      <p:sp>
        <p:nvSpPr>
          <p:cNvPr id="331" name="Google Shape;331;p26"/>
          <p:cNvSpPr txBox="1"/>
          <p:nvPr/>
        </p:nvSpPr>
        <p:spPr>
          <a:xfrm>
            <a:off x="632708" y="1034159"/>
            <a:ext cx="10749065" cy="707846"/>
          </a:xfrm>
          <a:prstGeom prst="rect">
            <a:avLst/>
          </a:prstGeom>
          <a:noFill/>
          <a:ln>
            <a:noFill/>
          </a:ln>
        </p:spPr>
        <p:txBody>
          <a:bodyPr spcFirstLastPara="1" wrap="square" lIns="91425" tIns="45700" rIns="91425" bIns="45700" anchor="t" anchorCtr="0">
            <a:spAutoFit/>
          </a:bodyPr>
          <a:lstStyle/>
          <a:p>
            <a:pPr marL="0" marR="0" lvl="0" indent="0" rtl="0">
              <a:spcBef>
                <a:spcPts val="0"/>
              </a:spcBef>
              <a:spcAft>
                <a:spcPts val="0"/>
              </a:spcAft>
              <a:buNone/>
            </a:pPr>
            <a:r>
              <a:rPr lang="es-ES" sz="2000">
                <a:solidFill>
                  <a:schemeClr val="lt1"/>
                </a:solidFill>
                <a:latin typeface="Calibri"/>
                <a:ea typeface="Calibri"/>
                <a:cs typeface="Calibri"/>
                <a:sym typeface="Calibri"/>
              </a:rPr>
              <a:t>En este ejemplo se especifica que el índice no será almacenado, asimismo, se asigna un nombre a la hoja.</a:t>
            </a:r>
            <a:endParaRPr lang="es-ES" sz="2000"/>
          </a:p>
        </p:txBody>
      </p:sp>
      <p:sp>
        <p:nvSpPr>
          <p:cNvPr id="332" name="Google Shape;332;p26"/>
          <p:cNvSpPr/>
          <p:nvPr/>
        </p:nvSpPr>
        <p:spPr>
          <a:xfrm>
            <a:off x="675788" y="2068139"/>
            <a:ext cx="7405169" cy="4127437"/>
          </a:xfrm>
          <a:prstGeom prst="roundRect">
            <a:avLst>
              <a:gd name="adj" fmla="val 2971"/>
            </a:avLst>
          </a:prstGeom>
          <a:solidFill>
            <a:schemeClr val="lt1"/>
          </a:solidFill>
          <a:ln w="38100" cap="flat" cmpd="sng">
            <a:solidFill>
              <a:srgbClr val="732C6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cxnSp>
        <p:nvCxnSpPr>
          <p:cNvPr id="333" name="Google Shape;333;p26"/>
          <p:cNvCxnSpPr/>
          <p:nvPr/>
        </p:nvCxnSpPr>
        <p:spPr>
          <a:xfrm>
            <a:off x="4331979" y="3213100"/>
            <a:ext cx="999" cy="442647"/>
          </a:xfrm>
          <a:prstGeom prst="straightConnector1">
            <a:avLst/>
          </a:prstGeom>
          <a:noFill/>
          <a:ln w="9525" cap="flat" cmpd="sng">
            <a:solidFill>
              <a:srgbClr val="732C61"/>
            </a:solidFill>
            <a:prstDash val="solid"/>
            <a:miter lim="800000"/>
            <a:headEnd type="none" w="sm" len="sm"/>
            <a:tailEnd type="triangle" w="med" len="med"/>
          </a:ln>
        </p:spPr>
      </p:cxnSp>
      <p:pic>
        <p:nvPicPr>
          <p:cNvPr id="334" name="Google Shape;334;p26"/>
          <p:cNvPicPr preferRelativeResize="0"/>
          <p:nvPr/>
        </p:nvPicPr>
        <p:blipFill rotWithShape="1">
          <a:blip r:embed="rId3">
            <a:alphaModFix/>
          </a:blip>
          <a:srcRect/>
          <a:stretch/>
        </p:blipFill>
        <p:spPr>
          <a:xfrm>
            <a:off x="1208129" y="2331754"/>
            <a:ext cx="6344930" cy="712800"/>
          </a:xfrm>
          <a:prstGeom prst="rect">
            <a:avLst/>
          </a:prstGeom>
          <a:noFill/>
          <a:ln>
            <a:noFill/>
          </a:ln>
        </p:spPr>
      </p:pic>
      <p:pic>
        <p:nvPicPr>
          <p:cNvPr id="335" name="Google Shape;335;p26"/>
          <p:cNvPicPr preferRelativeResize="0"/>
          <p:nvPr/>
        </p:nvPicPr>
        <p:blipFill rotWithShape="1">
          <a:blip r:embed="rId4">
            <a:alphaModFix/>
          </a:blip>
          <a:srcRect/>
          <a:stretch/>
        </p:blipFill>
        <p:spPr>
          <a:xfrm>
            <a:off x="1824226" y="3811399"/>
            <a:ext cx="4788816" cy="1977771"/>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29"/>
                                        </p:tgtEl>
                                        <p:attrNameLst>
                                          <p:attrName>style.visibility</p:attrName>
                                        </p:attrNameLst>
                                      </p:cBhvr>
                                      <p:to>
                                        <p:strVal val="visible"/>
                                      </p:to>
                                    </p:set>
                                    <p:animEffect transition="in" filter="fade">
                                      <p:cBhvr>
                                        <p:cTn id="7" dur="500"/>
                                        <p:tgtEl>
                                          <p:spTgt spid="3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39"/>
        <p:cNvGrpSpPr/>
        <p:nvPr/>
      </p:nvGrpSpPr>
      <p:grpSpPr>
        <a:xfrm>
          <a:off x="0" y="0"/>
          <a:ext cx="0" cy="0"/>
          <a:chOff x="0" y="0"/>
          <a:chExt cx="0" cy="0"/>
        </a:xfrm>
      </p:grpSpPr>
      <p:sp>
        <p:nvSpPr>
          <p:cNvPr id="340" name="Google Shape;340;p27"/>
          <p:cNvSpPr txBox="1"/>
          <p:nvPr/>
        </p:nvSpPr>
        <p:spPr>
          <a:xfrm>
            <a:off x="879948" y="3647082"/>
            <a:ext cx="10782300" cy="731156"/>
          </a:xfrm>
          <a:prstGeom prst="rect">
            <a:avLst/>
          </a:prstGeom>
          <a:noFill/>
          <a:ln>
            <a:noFill/>
          </a:ln>
        </p:spPr>
        <p:txBody>
          <a:bodyPr spcFirstLastPara="1" wrap="square" lIns="91425" tIns="45700" rIns="91425" bIns="45700" anchor="ctr" anchorCtr="0">
            <a:noAutofit/>
          </a:bodyPr>
          <a:lstStyle/>
          <a:p>
            <a:pPr marL="0" marR="0" lvl="0" indent="0" algn="just" rtl="0">
              <a:lnSpc>
                <a:spcPct val="90000"/>
              </a:lnSpc>
              <a:spcBef>
                <a:spcPts val="0"/>
              </a:spcBef>
              <a:spcAft>
                <a:spcPts val="0"/>
              </a:spcAft>
              <a:buNone/>
            </a:pPr>
            <a:r>
              <a:rPr lang="es-ES" sz="3200">
                <a:solidFill>
                  <a:srgbClr val="7F7F7F"/>
                </a:solidFill>
                <a:latin typeface="Arial"/>
                <a:ea typeface="Arial"/>
                <a:cs typeface="Arial"/>
                <a:sym typeface="Arial"/>
              </a:rPr>
              <a:t>Leyendo una Tabla HTML</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40"/>
                                        </p:tgtEl>
                                        <p:attrNameLst>
                                          <p:attrName>style.visibility</p:attrName>
                                        </p:attrNameLst>
                                      </p:cBhvr>
                                      <p:to>
                                        <p:strVal val="visible"/>
                                      </p:to>
                                    </p:set>
                                    <p:animEffect transition="in" filter="fade">
                                      <p:cBhvr>
                                        <p:cTn id="7" dur="500"/>
                                        <p:tgtEl>
                                          <p:spTgt spid="3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44"/>
        <p:cNvGrpSpPr/>
        <p:nvPr/>
      </p:nvGrpSpPr>
      <p:grpSpPr>
        <a:xfrm>
          <a:off x="0" y="0"/>
          <a:ext cx="0" cy="0"/>
          <a:chOff x="0" y="0"/>
          <a:chExt cx="0" cy="0"/>
        </a:xfrm>
      </p:grpSpPr>
      <p:sp>
        <p:nvSpPr>
          <p:cNvPr id="345" name="Google Shape;345;p28"/>
          <p:cNvSpPr txBox="1"/>
          <p:nvPr/>
        </p:nvSpPr>
        <p:spPr>
          <a:xfrm>
            <a:off x="704850" y="250548"/>
            <a:ext cx="10782300" cy="731156"/>
          </a:xfrm>
          <a:prstGeom prst="rect">
            <a:avLst/>
          </a:prstGeom>
          <a:noFill/>
          <a:ln>
            <a:noFill/>
          </a:ln>
        </p:spPr>
        <p:txBody>
          <a:bodyPr spcFirstLastPara="1" wrap="square" lIns="91425" tIns="45700" rIns="91425" bIns="45700" anchor="ctr" anchorCtr="0">
            <a:noAutofit/>
          </a:bodyPr>
          <a:lstStyle/>
          <a:p>
            <a:pPr marL="0" marR="0" lvl="0" indent="0" algn="just" rtl="0">
              <a:lnSpc>
                <a:spcPct val="90000"/>
              </a:lnSpc>
              <a:spcBef>
                <a:spcPts val="0"/>
              </a:spcBef>
              <a:spcAft>
                <a:spcPts val="0"/>
              </a:spcAft>
              <a:buNone/>
            </a:pPr>
            <a:r>
              <a:rPr lang="es-ES" sz="3200">
                <a:solidFill>
                  <a:srgbClr val="7F7F7F"/>
                </a:solidFill>
                <a:latin typeface="Arial"/>
                <a:ea typeface="Arial"/>
                <a:cs typeface="Arial"/>
                <a:sym typeface="Arial"/>
              </a:rPr>
              <a:t>Tablas HTML</a:t>
            </a:r>
            <a:endParaRPr/>
          </a:p>
        </p:txBody>
      </p:sp>
      <p:sp>
        <p:nvSpPr>
          <p:cNvPr id="346" name="Google Shape;346;p28"/>
          <p:cNvSpPr/>
          <p:nvPr/>
        </p:nvSpPr>
        <p:spPr>
          <a:xfrm>
            <a:off x="-367553" y="980239"/>
            <a:ext cx="12842582" cy="731156"/>
          </a:xfrm>
          <a:prstGeom prst="roundRect">
            <a:avLst>
              <a:gd name="adj" fmla="val 2971"/>
            </a:avLst>
          </a:prstGeom>
          <a:gradFill>
            <a:gsLst>
              <a:gs pos="0">
                <a:srgbClr val="451539"/>
              </a:gs>
              <a:gs pos="50000">
                <a:srgbClr val="641F53"/>
              </a:gs>
              <a:gs pos="100000">
                <a:srgbClr val="782663"/>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47" name="Google Shape;347;p28"/>
          <p:cNvSpPr txBox="1"/>
          <p:nvPr/>
        </p:nvSpPr>
        <p:spPr>
          <a:xfrm>
            <a:off x="755202" y="1123869"/>
            <a:ext cx="11424630" cy="461665"/>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s-ES" sz="1600" dirty="0">
                <a:solidFill>
                  <a:schemeClr val="lt1"/>
                </a:solidFill>
                <a:latin typeface="Arial"/>
                <a:ea typeface="Arial"/>
                <a:cs typeface="Arial"/>
                <a:sym typeface="Arial"/>
              </a:rPr>
              <a:t>Extraeremos un </a:t>
            </a:r>
            <a:r>
              <a:rPr lang="es-ES" sz="1600" b="1" err="1">
                <a:solidFill>
                  <a:schemeClr val="lt1"/>
                </a:solidFill>
                <a:latin typeface="Calibri"/>
                <a:ea typeface="Calibri"/>
                <a:cs typeface="Calibri"/>
                <a:sym typeface="Calibri"/>
              </a:rPr>
              <a:t>dataset</a:t>
            </a:r>
            <a:r>
              <a:rPr lang="es-ES" sz="1600" b="1" dirty="0">
                <a:solidFill>
                  <a:schemeClr val="lt1"/>
                </a:solidFill>
                <a:latin typeface="Arial"/>
                <a:ea typeface="Arial"/>
                <a:cs typeface="Arial"/>
                <a:sym typeface="Arial"/>
              </a:rPr>
              <a:t> </a:t>
            </a:r>
            <a:r>
              <a:rPr lang="es-ES" sz="1600" dirty="0">
                <a:solidFill>
                  <a:schemeClr val="lt1"/>
                </a:solidFill>
                <a:latin typeface="Arial"/>
                <a:ea typeface="Arial"/>
                <a:cs typeface="Arial"/>
                <a:sym typeface="Arial"/>
              </a:rPr>
              <a:t>a partir de una tabla en la siguiente página web: </a:t>
            </a:r>
            <a:r>
              <a:rPr lang="es-ES" sz="1600" b="1" dirty="0">
                <a:solidFill>
                  <a:schemeClr val="lt1"/>
                </a:solidFill>
                <a:latin typeface="Arial"/>
                <a:ea typeface="Arial"/>
                <a:cs typeface="Arial"/>
                <a:sym typeface="Arial"/>
              </a:rPr>
              <a:t>https://es.wikipedia.org/wiki/Regiones_de_Chile</a:t>
            </a:r>
            <a:endParaRPr dirty="0">
              <a:solidFill>
                <a:schemeClr val="lt1"/>
              </a:solidFill>
            </a:endParaRPr>
          </a:p>
        </p:txBody>
      </p:sp>
      <p:sp>
        <p:nvSpPr>
          <p:cNvPr id="348" name="Google Shape;348;p28"/>
          <p:cNvSpPr/>
          <p:nvPr/>
        </p:nvSpPr>
        <p:spPr>
          <a:xfrm>
            <a:off x="759278" y="1853560"/>
            <a:ext cx="8063418" cy="4613642"/>
          </a:xfrm>
          <a:prstGeom prst="roundRect">
            <a:avLst>
              <a:gd name="adj" fmla="val 2971"/>
            </a:avLst>
          </a:prstGeom>
          <a:solidFill>
            <a:schemeClr val="lt1"/>
          </a:solidFill>
          <a:ln w="38100" cap="flat" cmpd="sng">
            <a:solidFill>
              <a:srgbClr val="732C6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349" name="Google Shape;349;p28"/>
          <p:cNvPicPr preferRelativeResize="0"/>
          <p:nvPr/>
        </p:nvPicPr>
        <p:blipFill rotWithShape="1">
          <a:blip r:embed="rId3">
            <a:alphaModFix/>
          </a:blip>
          <a:srcRect/>
          <a:stretch/>
        </p:blipFill>
        <p:spPr>
          <a:xfrm>
            <a:off x="1626562" y="2129469"/>
            <a:ext cx="6307079" cy="4061823"/>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45"/>
                                        </p:tgtEl>
                                        <p:attrNameLst>
                                          <p:attrName>style.visibility</p:attrName>
                                        </p:attrNameLst>
                                      </p:cBhvr>
                                      <p:to>
                                        <p:strVal val="visible"/>
                                      </p:to>
                                    </p:set>
                                    <p:animEffect transition="in" filter="fade">
                                      <p:cBhvr>
                                        <p:cTn id="7" dur="500"/>
                                        <p:tgtEl>
                                          <p:spTgt spid="3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53"/>
        <p:cNvGrpSpPr/>
        <p:nvPr/>
      </p:nvGrpSpPr>
      <p:grpSpPr>
        <a:xfrm>
          <a:off x="0" y="0"/>
          <a:ext cx="0" cy="0"/>
          <a:chOff x="0" y="0"/>
          <a:chExt cx="0" cy="0"/>
        </a:xfrm>
      </p:grpSpPr>
      <p:sp>
        <p:nvSpPr>
          <p:cNvPr id="355" name="Google Shape;355;p29"/>
          <p:cNvSpPr txBox="1"/>
          <p:nvPr/>
        </p:nvSpPr>
        <p:spPr>
          <a:xfrm>
            <a:off x="196940" y="770403"/>
            <a:ext cx="2945705" cy="731156"/>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None/>
            </a:pPr>
            <a:r>
              <a:rPr lang="es-ES" sz="3200">
                <a:solidFill>
                  <a:srgbClr val="7F7F7F"/>
                </a:solidFill>
                <a:latin typeface="Arial"/>
                <a:ea typeface="Arial"/>
                <a:cs typeface="Arial"/>
                <a:sym typeface="Arial"/>
              </a:rPr>
              <a:t>Tablas HTML</a:t>
            </a:r>
            <a:endParaRPr/>
          </a:p>
        </p:txBody>
      </p:sp>
      <p:sp>
        <p:nvSpPr>
          <p:cNvPr id="357" name="Google Shape;357;p29"/>
          <p:cNvSpPr/>
          <p:nvPr/>
        </p:nvSpPr>
        <p:spPr>
          <a:xfrm>
            <a:off x="3183912" y="486628"/>
            <a:ext cx="8046823" cy="5915209"/>
          </a:xfrm>
          <a:prstGeom prst="roundRect">
            <a:avLst>
              <a:gd name="adj" fmla="val 2971"/>
            </a:avLst>
          </a:prstGeom>
          <a:solidFill>
            <a:schemeClr val="lt1"/>
          </a:solidFill>
          <a:ln w="38100" cap="flat" cmpd="sng">
            <a:solidFill>
              <a:srgbClr val="732C6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nvGrpSpPr>
          <p:cNvPr id="358" name="Google Shape;358;p29"/>
          <p:cNvGrpSpPr/>
          <p:nvPr/>
        </p:nvGrpSpPr>
        <p:grpSpPr>
          <a:xfrm>
            <a:off x="3266445" y="762521"/>
            <a:ext cx="7724060" cy="5091414"/>
            <a:chOff x="1567087" y="605127"/>
            <a:chExt cx="9656018" cy="5896798"/>
          </a:xfrm>
        </p:grpSpPr>
        <p:sp>
          <p:nvSpPr>
            <p:cNvPr id="359" name="Google Shape;359;p29"/>
            <p:cNvSpPr/>
            <p:nvPr/>
          </p:nvSpPr>
          <p:spPr>
            <a:xfrm>
              <a:off x="1567087" y="1037663"/>
              <a:ext cx="1974152" cy="1104986"/>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Clr>
                  <a:srgbClr val="3A3838"/>
                </a:buClr>
                <a:buSzPts val="1400"/>
                <a:buFont typeface="Calibri"/>
                <a:buNone/>
              </a:pPr>
              <a:r>
                <a:rPr lang="es-ES" sz="1400">
                  <a:solidFill>
                    <a:srgbClr val="3A3838"/>
                  </a:solidFill>
                  <a:latin typeface="Calibri"/>
                  <a:ea typeface="Calibri"/>
                  <a:cs typeface="Calibri"/>
                  <a:sym typeface="Calibri"/>
                </a:rPr>
                <a:t>Una página web podría contener más de una tabla de datos.</a:t>
              </a:r>
              <a:endParaRPr sz="1400">
                <a:solidFill>
                  <a:srgbClr val="3A3838"/>
                </a:solidFill>
                <a:latin typeface="Calibri"/>
                <a:ea typeface="Calibri"/>
                <a:cs typeface="Calibri"/>
                <a:sym typeface="Calibri"/>
              </a:endParaRPr>
            </a:p>
          </p:txBody>
        </p:sp>
        <p:pic>
          <p:nvPicPr>
            <p:cNvPr id="360" name="Google Shape;360;p29"/>
            <p:cNvPicPr preferRelativeResize="0"/>
            <p:nvPr/>
          </p:nvPicPr>
          <p:blipFill rotWithShape="1">
            <a:blip r:embed="rId3">
              <a:alphaModFix/>
            </a:blip>
            <a:srcRect/>
            <a:stretch/>
          </p:blipFill>
          <p:spPr>
            <a:xfrm>
              <a:off x="4183148" y="605127"/>
              <a:ext cx="7039957" cy="5896798"/>
            </a:xfrm>
            <a:prstGeom prst="rect">
              <a:avLst/>
            </a:prstGeom>
            <a:noFill/>
            <a:ln>
              <a:noFill/>
            </a:ln>
          </p:spPr>
        </p:pic>
        <p:cxnSp>
          <p:nvCxnSpPr>
            <p:cNvPr id="361" name="Google Shape;361;p29"/>
            <p:cNvCxnSpPr/>
            <p:nvPr/>
          </p:nvCxnSpPr>
          <p:spPr>
            <a:xfrm>
              <a:off x="3422073" y="1554608"/>
              <a:ext cx="1565563" cy="191065"/>
            </a:xfrm>
            <a:prstGeom prst="straightConnector1">
              <a:avLst/>
            </a:prstGeom>
            <a:noFill/>
            <a:ln w="9525" cap="flat" cmpd="sng">
              <a:solidFill>
                <a:schemeClr val="accent1"/>
              </a:solidFill>
              <a:prstDash val="solid"/>
              <a:miter lim="800000"/>
              <a:headEnd type="none" w="sm" len="sm"/>
              <a:tailEnd type="triangle" w="med" len="med"/>
            </a:ln>
          </p:spPr>
        </p:cxnSp>
        <p:cxnSp>
          <p:nvCxnSpPr>
            <p:cNvPr id="362" name="Google Shape;362;p29"/>
            <p:cNvCxnSpPr/>
            <p:nvPr/>
          </p:nvCxnSpPr>
          <p:spPr>
            <a:xfrm>
              <a:off x="3422073" y="1554608"/>
              <a:ext cx="1510145" cy="2726447"/>
            </a:xfrm>
            <a:prstGeom prst="straightConnector1">
              <a:avLst/>
            </a:prstGeom>
            <a:noFill/>
            <a:ln w="9525" cap="flat" cmpd="sng">
              <a:solidFill>
                <a:schemeClr val="accent1"/>
              </a:solidFill>
              <a:prstDash val="solid"/>
              <a:miter lim="800000"/>
              <a:headEnd type="none" w="sm" len="sm"/>
              <a:tailEnd type="triangle" w="med" len="med"/>
            </a:ln>
          </p:spPr>
        </p:cxnSp>
        <p:cxnSp>
          <p:nvCxnSpPr>
            <p:cNvPr id="363" name="Google Shape;363;p29"/>
            <p:cNvCxnSpPr/>
            <p:nvPr/>
          </p:nvCxnSpPr>
          <p:spPr>
            <a:xfrm>
              <a:off x="3422073" y="1554608"/>
              <a:ext cx="1814020" cy="4569101"/>
            </a:xfrm>
            <a:prstGeom prst="straightConnector1">
              <a:avLst/>
            </a:prstGeom>
            <a:noFill/>
            <a:ln w="9525" cap="flat" cmpd="sng">
              <a:solidFill>
                <a:schemeClr val="accent1"/>
              </a:solidFill>
              <a:prstDash val="solid"/>
              <a:miter lim="800000"/>
              <a:headEnd type="none" w="sm" len="sm"/>
              <a:tailEnd type="triangle" w="med" len="med"/>
            </a:ln>
          </p:spPr>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55"/>
                                        </p:tgtEl>
                                        <p:attrNameLst>
                                          <p:attrName>style.visibility</p:attrName>
                                        </p:attrNameLst>
                                      </p:cBhvr>
                                      <p:to>
                                        <p:strVal val="visible"/>
                                      </p:to>
                                    </p:set>
                                    <p:animEffect transition="in" filter="fade">
                                      <p:cBhvr>
                                        <p:cTn id="7" dur="500"/>
                                        <p:tgtEl>
                                          <p:spTgt spid="3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67"/>
        <p:cNvGrpSpPr/>
        <p:nvPr/>
      </p:nvGrpSpPr>
      <p:grpSpPr>
        <a:xfrm>
          <a:off x="0" y="0"/>
          <a:ext cx="0" cy="0"/>
          <a:chOff x="0" y="0"/>
          <a:chExt cx="0" cy="0"/>
        </a:xfrm>
      </p:grpSpPr>
      <p:sp>
        <p:nvSpPr>
          <p:cNvPr id="368" name="Google Shape;368;p30"/>
          <p:cNvSpPr txBox="1"/>
          <p:nvPr/>
        </p:nvSpPr>
        <p:spPr>
          <a:xfrm>
            <a:off x="1060314" y="276810"/>
            <a:ext cx="6715328" cy="731156"/>
          </a:xfrm>
          <a:prstGeom prst="rect">
            <a:avLst/>
          </a:prstGeom>
          <a:noFill/>
          <a:ln>
            <a:noFill/>
          </a:ln>
        </p:spPr>
        <p:txBody>
          <a:bodyPr spcFirstLastPara="1" wrap="square" lIns="91425" tIns="45700" rIns="91425" bIns="45700" anchor="ctr" anchorCtr="0">
            <a:noAutofit/>
          </a:bodyPr>
          <a:lstStyle/>
          <a:p>
            <a:pPr marL="0" marR="0" lvl="0" indent="0" algn="just" rtl="0">
              <a:lnSpc>
                <a:spcPct val="90000"/>
              </a:lnSpc>
              <a:spcBef>
                <a:spcPts val="0"/>
              </a:spcBef>
              <a:spcAft>
                <a:spcPts val="0"/>
              </a:spcAft>
              <a:buNone/>
            </a:pPr>
            <a:r>
              <a:rPr lang="es-ES" sz="3200">
                <a:solidFill>
                  <a:srgbClr val="7F7F7F"/>
                </a:solidFill>
                <a:latin typeface="Arial"/>
                <a:ea typeface="Arial"/>
                <a:cs typeface="Arial"/>
                <a:sym typeface="Arial"/>
              </a:rPr>
              <a:t>Tablas HTML</a:t>
            </a:r>
            <a:endParaRPr/>
          </a:p>
        </p:txBody>
      </p:sp>
      <p:sp>
        <p:nvSpPr>
          <p:cNvPr id="369" name="Google Shape;369;p30"/>
          <p:cNvSpPr/>
          <p:nvPr/>
        </p:nvSpPr>
        <p:spPr>
          <a:xfrm>
            <a:off x="1060314" y="1031132"/>
            <a:ext cx="10009763" cy="4800658"/>
          </a:xfrm>
          <a:prstGeom prst="roundRect">
            <a:avLst>
              <a:gd name="adj" fmla="val 2971"/>
            </a:avLst>
          </a:prstGeom>
          <a:solidFill>
            <a:schemeClr val="lt1"/>
          </a:solidFill>
          <a:ln w="38100" cap="flat" cmpd="sng">
            <a:solidFill>
              <a:srgbClr val="732C6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70" name="Google Shape;370;p30"/>
          <p:cNvSpPr/>
          <p:nvPr/>
        </p:nvSpPr>
        <p:spPr>
          <a:xfrm>
            <a:off x="1168432" y="1885189"/>
            <a:ext cx="2685582" cy="738664"/>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Clr>
                <a:schemeClr val="dk1"/>
              </a:buClr>
              <a:buSzPts val="1400"/>
              <a:buFont typeface="Calibri"/>
              <a:buNone/>
            </a:pPr>
            <a:r>
              <a:rPr lang="es-ES" sz="1400">
                <a:solidFill>
                  <a:schemeClr val="dk1"/>
                </a:solidFill>
                <a:latin typeface="Calibri"/>
                <a:ea typeface="Calibri"/>
                <a:cs typeface="Calibri"/>
                <a:sym typeface="Calibri"/>
              </a:rPr>
              <a:t>En este caso, el elemento índice 1 del listado es el que contiene el dataframe con información.</a:t>
            </a:r>
            <a:endParaRPr sz="1400">
              <a:solidFill>
                <a:schemeClr val="dk1"/>
              </a:solidFill>
              <a:latin typeface="Calibri"/>
              <a:ea typeface="Calibri"/>
              <a:cs typeface="Calibri"/>
              <a:sym typeface="Calibri"/>
            </a:endParaRPr>
          </a:p>
        </p:txBody>
      </p:sp>
      <p:pic>
        <p:nvPicPr>
          <p:cNvPr id="371" name="Google Shape;371;p30"/>
          <p:cNvPicPr preferRelativeResize="0"/>
          <p:nvPr/>
        </p:nvPicPr>
        <p:blipFill rotWithShape="1">
          <a:blip r:embed="rId3">
            <a:alphaModFix/>
          </a:blip>
          <a:srcRect/>
          <a:stretch/>
        </p:blipFill>
        <p:spPr>
          <a:xfrm>
            <a:off x="4789758" y="1226115"/>
            <a:ext cx="6058746" cy="4410691"/>
          </a:xfrm>
          <a:prstGeom prst="rect">
            <a:avLst/>
          </a:prstGeom>
          <a:noFill/>
          <a:ln>
            <a:noFill/>
          </a:ln>
        </p:spPr>
      </p:pic>
      <p:cxnSp>
        <p:nvCxnSpPr>
          <p:cNvPr id="372" name="Google Shape;372;p30"/>
          <p:cNvCxnSpPr/>
          <p:nvPr/>
        </p:nvCxnSpPr>
        <p:spPr>
          <a:xfrm rot="10800000" flipH="1">
            <a:off x="3854014" y="2054423"/>
            <a:ext cx="935744" cy="5379"/>
          </a:xfrm>
          <a:prstGeom prst="straightConnector1">
            <a:avLst/>
          </a:prstGeom>
          <a:noFill/>
          <a:ln w="9525" cap="flat" cmpd="sng">
            <a:solidFill>
              <a:srgbClr val="732C61"/>
            </a:solidFill>
            <a:prstDash val="solid"/>
            <a:miter lim="800000"/>
            <a:headEnd type="none" w="sm" len="sm"/>
            <a:tailEnd type="triangle" w="med" len="med"/>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68"/>
                                        </p:tgtEl>
                                        <p:attrNameLst>
                                          <p:attrName>style.visibility</p:attrName>
                                        </p:attrNameLst>
                                      </p:cBhvr>
                                      <p:to>
                                        <p:strVal val="visible"/>
                                      </p:to>
                                    </p:set>
                                    <p:animEffect transition="in" filter="fade">
                                      <p:cBhvr>
                                        <p:cTn id="7" dur="500"/>
                                        <p:tgtEl>
                                          <p:spTgt spid="3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76"/>
        <p:cNvGrpSpPr/>
        <p:nvPr/>
      </p:nvGrpSpPr>
      <p:grpSpPr>
        <a:xfrm>
          <a:off x="0" y="0"/>
          <a:ext cx="0" cy="0"/>
          <a:chOff x="0" y="0"/>
          <a:chExt cx="0" cy="0"/>
        </a:xfrm>
      </p:grpSpPr>
      <p:sp>
        <p:nvSpPr>
          <p:cNvPr id="377" name="Google Shape;377;p31"/>
          <p:cNvSpPr txBox="1"/>
          <p:nvPr/>
        </p:nvSpPr>
        <p:spPr>
          <a:xfrm>
            <a:off x="714578" y="3627626"/>
            <a:ext cx="6989729" cy="731156"/>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None/>
            </a:pPr>
            <a:r>
              <a:rPr lang="es-ES" sz="3200">
                <a:solidFill>
                  <a:srgbClr val="7F7F7F"/>
                </a:solidFill>
                <a:latin typeface="Arial"/>
                <a:ea typeface="Arial"/>
                <a:cs typeface="Arial"/>
                <a:sym typeface="Arial"/>
              </a:rPr>
              <a:t>Leyendo una Base de Datos SQL</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77"/>
                                        </p:tgtEl>
                                        <p:attrNameLst>
                                          <p:attrName>style.visibility</p:attrName>
                                        </p:attrNameLst>
                                      </p:cBhvr>
                                      <p:to>
                                        <p:strVal val="visible"/>
                                      </p:to>
                                    </p:set>
                                    <p:animEffect transition="in" filter="fade">
                                      <p:cBhvr>
                                        <p:cTn id="7" dur="500"/>
                                        <p:tgtEl>
                                          <p:spTgt spid="3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81"/>
        <p:cNvGrpSpPr/>
        <p:nvPr/>
      </p:nvGrpSpPr>
      <p:grpSpPr>
        <a:xfrm>
          <a:off x="0" y="0"/>
          <a:ext cx="0" cy="0"/>
          <a:chOff x="0" y="0"/>
          <a:chExt cx="0" cy="0"/>
        </a:xfrm>
      </p:grpSpPr>
      <p:sp>
        <p:nvSpPr>
          <p:cNvPr id="382" name="Google Shape;382;p32"/>
          <p:cNvSpPr txBox="1"/>
          <p:nvPr/>
        </p:nvSpPr>
        <p:spPr>
          <a:xfrm>
            <a:off x="282198" y="749311"/>
            <a:ext cx="3282016" cy="731156"/>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None/>
            </a:pPr>
            <a:r>
              <a:rPr lang="es-ES" sz="3200">
                <a:solidFill>
                  <a:srgbClr val="7F7F7F"/>
                </a:solidFill>
                <a:latin typeface="Arial"/>
                <a:ea typeface="Arial"/>
                <a:cs typeface="Arial"/>
                <a:sym typeface="Arial"/>
              </a:rPr>
              <a:t>SQL</a:t>
            </a:r>
            <a:endParaRPr/>
          </a:p>
        </p:txBody>
      </p:sp>
      <p:sp>
        <p:nvSpPr>
          <p:cNvPr id="383" name="Google Shape;383;p32"/>
          <p:cNvSpPr/>
          <p:nvPr/>
        </p:nvSpPr>
        <p:spPr>
          <a:xfrm>
            <a:off x="847931" y="1558992"/>
            <a:ext cx="10594071" cy="3888213"/>
          </a:xfrm>
          <a:prstGeom prst="roundRect">
            <a:avLst>
              <a:gd name="adj" fmla="val 2971"/>
            </a:avLst>
          </a:prstGeom>
          <a:solidFill>
            <a:schemeClr val="lt1"/>
          </a:solidFill>
          <a:ln w="38100" cap="flat" cmpd="sng">
            <a:solidFill>
              <a:srgbClr val="732C6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84" name="Google Shape;384;p32"/>
          <p:cNvSpPr/>
          <p:nvPr/>
        </p:nvSpPr>
        <p:spPr>
          <a:xfrm>
            <a:off x="1350288" y="1898134"/>
            <a:ext cx="9439200" cy="830956"/>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Clr>
                <a:srgbClr val="757070"/>
              </a:buClr>
              <a:buSzPts val="1400"/>
              <a:buFont typeface="Arial"/>
              <a:buNone/>
            </a:pPr>
            <a:r>
              <a:rPr lang="es-ES" sz="1600" dirty="0">
                <a:solidFill>
                  <a:srgbClr val="757070"/>
                </a:solidFill>
                <a:latin typeface="Calibri"/>
                <a:ea typeface="Calibri"/>
                <a:cs typeface="Calibri"/>
                <a:sym typeface="Arial"/>
              </a:rPr>
              <a:t>La librería Pandas, también puede trabajar con tablas en una base de datos. Podemos utilizar conexiones a distintos motores de datos, por ejemplo, </a:t>
            </a:r>
            <a:r>
              <a:rPr lang="es-ES" sz="1600" b="1" dirty="0" err="1">
                <a:solidFill>
                  <a:srgbClr val="757070"/>
                </a:solidFill>
                <a:latin typeface="Calibri"/>
                <a:ea typeface="Calibri"/>
                <a:cs typeface="Calibri"/>
                <a:sym typeface="Arial"/>
              </a:rPr>
              <a:t>Postgres</a:t>
            </a:r>
            <a:r>
              <a:rPr lang="es-ES" sz="1600" dirty="0">
                <a:solidFill>
                  <a:srgbClr val="757070"/>
                </a:solidFill>
                <a:latin typeface="Calibri"/>
                <a:ea typeface="Calibri"/>
                <a:cs typeface="Calibri"/>
                <a:sym typeface="Arial"/>
              </a:rPr>
              <a:t>. En este ejemplo, nos conectaremos a una base de datos en memoria que se llama </a:t>
            </a:r>
            <a:r>
              <a:rPr lang="es-ES" sz="1600" b="1" dirty="0">
                <a:solidFill>
                  <a:srgbClr val="757070"/>
                </a:solidFill>
                <a:latin typeface="Calibri"/>
                <a:ea typeface="Calibri"/>
                <a:cs typeface="Calibri"/>
                <a:sym typeface="Arial"/>
              </a:rPr>
              <a:t>SQLite</a:t>
            </a:r>
            <a:r>
              <a:rPr lang="es-ES" sz="1600" dirty="0">
                <a:solidFill>
                  <a:schemeClr val="dk1"/>
                </a:solidFill>
                <a:latin typeface="Calibri"/>
                <a:ea typeface="Calibri"/>
                <a:cs typeface="Calibri"/>
                <a:sym typeface="Arial"/>
              </a:rPr>
              <a:t>.</a:t>
            </a:r>
            <a:endParaRPr sz="2000" dirty="0">
              <a:solidFill>
                <a:schemeClr val="dk1"/>
              </a:solidFill>
              <a:latin typeface="Calibri"/>
              <a:ea typeface="Calibri"/>
              <a:cs typeface="Calibri"/>
              <a:sym typeface="Arial"/>
            </a:endParaRPr>
          </a:p>
        </p:txBody>
      </p:sp>
      <p:sp>
        <p:nvSpPr>
          <p:cNvPr id="385" name="Google Shape;385;p32"/>
          <p:cNvSpPr/>
          <p:nvPr/>
        </p:nvSpPr>
        <p:spPr>
          <a:xfrm>
            <a:off x="8032089" y="2840781"/>
            <a:ext cx="2909400" cy="523200"/>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Clr>
                <a:srgbClr val="757070"/>
              </a:buClr>
              <a:buSzPts val="1400"/>
              <a:buFont typeface="Calibri"/>
              <a:buNone/>
            </a:pPr>
            <a:r>
              <a:rPr lang="es-ES" sz="1400">
                <a:solidFill>
                  <a:srgbClr val="757070"/>
                </a:solidFill>
                <a:latin typeface="Calibri"/>
                <a:ea typeface="Calibri"/>
                <a:cs typeface="Calibri"/>
                <a:sym typeface="Calibri"/>
              </a:rPr>
              <a:t>Importamos la librería específica para el motor de datos.</a:t>
            </a:r>
            <a:endParaRPr sz="1400">
              <a:solidFill>
                <a:srgbClr val="757070"/>
              </a:solidFill>
              <a:latin typeface="Calibri"/>
              <a:ea typeface="Calibri"/>
              <a:cs typeface="Calibri"/>
              <a:sym typeface="Calibri"/>
            </a:endParaRPr>
          </a:p>
        </p:txBody>
      </p:sp>
      <p:pic>
        <p:nvPicPr>
          <p:cNvPr id="386" name="Google Shape;386;p32"/>
          <p:cNvPicPr preferRelativeResize="0"/>
          <p:nvPr/>
        </p:nvPicPr>
        <p:blipFill rotWithShape="1">
          <a:blip r:embed="rId3">
            <a:alphaModFix/>
          </a:blip>
          <a:srcRect/>
          <a:stretch/>
        </p:blipFill>
        <p:spPr>
          <a:xfrm>
            <a:off x="1350288" y="3210113"/>
            <a:ext cx="6058746" cy="971686"/>
          </a:xfrm>
          <a:prstGeom prst="rect">
            <a:avLst/>
          </a:prstGeom>
          <a:noFill/>
          <a:ln>
            <a:noFill/>
          </a:ln>
        </p:spPr>
      </p:pic>
      <p:cxnSp>
        <p:nvCxnSpPr>
          <p:cNvPr id="387" name="Google Shape;387;p32"/>
          <p:cNvCxnSpPr/>
          <p:nvPr/>
        </p:nvCxnSpPr>
        <p:spPr>
          <a:xfrm flipH="1">
            <a:off x="4573717" y="3034894"/>
            <a:ext cx="3236700" cy="400800"/>
          </a:xfrm>
          <a:prstGeom prst="straightConnector1">
            <a:avLst/>
          </a:prstGeom>
          <a:noFill/>
          <a:ln w="9525" cap="flat" cmpd="sng">
            <a:solidFill>
              <a:srgbClr val="732C61"/>
            </a:solidFill>
            <a:prstDash val="solid"/>
            <a:miter lim="800000"/>
            <a:headEnd type="none" w="sm" len="sm"/>
            <a:tailEnd type="triangle" w="med" len="med"/>
          </a:ln>
        </p:spPr>
      </p:cxnSp>
      <p:sp>
        <p:nvSpPr>
          <p:cNvPr id="388" name="Google Shape;388;p32"/>
          <p:cNvSpPr txBox="1"/>
          <p:nvPr/>
        </p:nvSpPr>
        <p:spPr>
          <a:xfrm>
            <a:off x="8032089" y="4185782"/>
            <a:ext cx="2687700" cy="523200"/>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Clr>
                <a:srgbClr val="757070"/>
              </a:buClr>
              <a:buSzPts val="1400"/>
              <a:buFont typeface="Calibri"/>
              <a:buNone/>
            </a:pPr>
            <a:r>
              <a:rPr lang="es-ES" sz="1400">
                <a:solidFill>
                  <a:srgbClr val="757070"/>
                </a:solidFill>
                <a:latin typeface="Calibri"/>
                <a:ea typeface="Calibri"/>
                <a:cs typeface="Calibri"/>
                <a:sym typeface="Calibri"/>
              </a:rPr>
              <a:t>Creamos una conexión a la base de datos.</a:t>
            </a:r>
            <a:endParaRPr sz="1400">
              <a:solidFill>
                <a:srgbClr val="757070"/>
              </a:solidFill>
              <a:latin typeface="Calibri"/>
              <a:ea typeface="Calibri"/>
              <a:cs typeface="Calibri"/>
              <a:sym typeface="Calibri"/>
            </a:endParaRPr>
          </a:p>
        </p:txBody>
      </p:sp>
      <p:cxnSp>
        <p:nvCxnSpPr>
          <p:cNvPr id="389" name="Google Shape;389;p32"/>
          <p:cNvCxnSpPr/>
          <p:nvPr/>
        </p:nvCxnSpPr>
        <p:spPr>
          <a:xfrm rot="10800000">
            <a:off x="4593096" y="3978587"/>
            <a:ext cx="3282000" cy="455700"/>
          </a:xfrm>
          <a:prstGeom prst="straightConnector1">
            <a:avLst/>
          </a:prstGeom>
          <a:noFill/>
          <a:ln w="9525" cap="flat" cmpd="sng">
            <a:solidFill>
              <a:srgbClr val="732C61"/>
            </a:solidFill>
            <a:prstDash val="solid"/>
            <a:miter lim="800000"/>
            <a:headEnd type="none" w="sm" len="sm"/>
            <a:tailEnd type="triangle" w="med" len="med"/>
          </a:ln>
        </p:spPr>
      </p:cxnSp>
      <p:sp>
        <p:nvSpPr>
          <p:cNvPr id="390" name="Google Shape;390;p32"/>
          <p:cNvSpPr txBox="1"/>
          <p:nvPr/>
        </p:nvSpPr>
        <p:spPr>
          <a:xfrm>
            <a:off x="1350288" y="4477879"/>
            <a:ext cx="3954900" cy="523200"/>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Clr>
                <a:srgbClr val="757070"/>
              </a:buClr>
              <a:buSzPts val="1400"/>
              <a:buFont typeface="Calibri"/>
              <a:buNone/>
            </a:pPr>
            <a:r>
              <a:rPr lang="es-ES" sz="1400">
                <a:solidFill>
                  <a:srgbClr val="757070"/>
                </a:solidFill>
                <a:latin typeface="Calibri"/>
                <a:ea typeface="Calibri"/>
                <a:cs typeface="Calibri"/>
                <a:sym typeface="Calibri"/>
              </a:rPr>
              <a:t>Dependiendo del motor de datos puede ser necesario instalar librerías adicionales.</a:t>
            </a:r>
            <a:endParaRPr sz="1400">
              <a:solidFill>
                <a:srgbClr val="757070"/>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82"/>
                                        </p:tgtEl>
                                        <p:attrNameLst>
                                          <p:attrName>style.visibility</p:attrName>
                                        </p:attrNameLst>
                                      </p:cBhvr>
                                      <p:to>
                                        <p:strVal val="visible"/>
                                      </p:to>
                                    </p:set>
                                    <p:animEffect transition="in" filter="fade">
                                      <p:cBhvr>
                                        <p:cTn id="7" dur="500"/>
                                        <p:tgtEl>
                                          <p:spTgt spid="38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94"/>
        <p:cNvGrpSpPr/>
        <p:nvPr/>
      </p:nvGrpSpPr>
      <p:grpSpPr>
        <a:xfrm>
          <a:off x="0" y="0"/>
          <a:ext cx="0" cy="0"/>
          <a:chOff x="0" y="0"/>
          <a:chExt cx="0" cy="0"/>
        </a:xfrm>
      </p:grpSpPr>
      <p:sp>
        <p:nvSpPr>
          <p:cNvPr id="395" name="Google Shape;395;p33"/>
          <p:cNvSpPr/>
          <p:nvPr/>
        </p:nvSpPr>
        <p:spPr>
          <a:xfrm>
            <a:off x="1133550" y="1648050"/>
            <a:ext cx="9749700" cy="3855600"/>
          </a:xfrm>
          <a:prstGeom prst="roundRect">
            <a:avLst>
              <a:gd name="adj" fmla="val 2971"/>
            </a:avLst>
          </a:prstGeom>
          <a:solidFill>
            <a:schemeClr val="lt1"/>
          </a:solidFill>
          <a:ln w="38100" cap="flat" cmpd="sng">
            <a:solidFill>
              <a:srgbClr val="732C6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96" name="Google Shape;396;p33"/>
          <p:cNvSpPr txBox="1"/>
          <p:nvPr/>
        </p:nvSpPr>
        <p:spPr>
          <a:xfrm>
            <a:off x="-3606940" y="466266"/>
            <a:ext cx="10782300" cy="1008000"/>
          </a:xfrm>
          <a:prstGeom prst="rect">
            <a:avLst/>
          </a:prstGeom>
          <a:noFill/>
          <a:ln>
            <a:noFill/>
          </a:ln>
        </p:spPr>
        <p:txBody>
          <a:bodyPr spcFirstLastPara="1" wrap="square" lIns="91425" tIns="45700" rIns="91425" bIns="45700" anchor="ctr" anchorCtr="0">
            <a:noAutofit/>
          </a:bodyPr>
          <a:lstStyle/>
          <a:p>
            <a:pPr marL="0" marR="0" lvl="0" indent="0" algn="ctr" rtl="0">
              <a:lnSpc>
                <a:spcPct val="150000"/>
              </a:lnSpc>
              <a:spcBef>
                <a:spcPts val="0"/>
              </a:spcBef>
              <a:spcAft>
                <a:spcPts val="0"/>
              </a:spcAft>
              <a:buNone/>
            </a:pPr>
            <a:r>
              <a:rPr lang="es-ES" sz="3200">
                <a:solidFill>
                  <a:srgbClr val="7F7F7F"/>
                </a:solidFill>
                <a:latin typeface="Arial"/>
                <a:ea typeface="Arial"/>
                <a:cs typeface="Arial"/>
                <a:sym typeface="Arial"/>
              </a:rPr>
              <a:t>SQL</a:t>
            </a:r>
            <a:endParaRPr/>
          </a:p>
        </p:txBody>
      </p:sp>
      <p:pic>
        <p:nvPicPr>
          <p:cNvPr id="397" name="Google Shape;397;p33"/>
          <p:cNvPicPr preferRelativeResize="0"/>
          <p:nvPr/>
        </p:nvPicPr>
        <p:blipFill rotWithShape="1">
          <a:blip r:embed="rId3">
            <a:alphaModFix/>
          </a:blip>
          <a:srcRect/>
          <a:stretch/>
        </p:blipFill>
        <p:spPr>
          <a:xfrm>
            <a:off x="2700496" y="2315048"/>
            <a:ext cx="5943600" cy="361950"/>
          </a:xfrm>
          <a:prstGeom prst="rect">
            <a:avLst/>
          </a:prstGeom>
          <a:noFill/>
          <a:ln>
            <a:noFill/>
          </a:ln>
        </p:spPr>
      </p:pic>
      <p:sp>
        <p:nvSpPr>
          <p:cNvPr id="398" name="Google Shape;398;p33"/>
          <p:cNvSpPr/>
          <p:nvPr/>
        </p:nvSpPr>
        <p:spPr>
          <a:xfrm>
            <a:off x="1430950" y="1828952"/>
            <a:ext cx="7303371" cy="307736"/>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Clr>
                <a:srgbClr val="3A3838"/>
              </a:buClr>
              <a:buSzPts val="1400"/>
              <a:buFont typeface="Calibri"/>
              <a:buNone/>
            </a:pPr>
            <a:r>
              <a:rPr lang="es-ES" sz="1400" dirty="0">
                <a:solidFill>
                  <a:srgbClr val="3A3838"/>
                </a:solidFill>
                <a:latin typeface="Calibri"/>
                <a:ea typeface="Calibri"/>
                <a:cs typeface="Calibri"/>
                <a:sym typeface="Calibri"/>
              </a:rPr>
              <a:t>Con esta instrucción llevamos un </a:t>
            </a:r>
            <a:r>
              <a:rPr lang="es-ES" dirty="0" err="1">
                <a:solidFill>
                  <a:srgbClr val="3A3838"/>
                </a:solidFill>
                <a:latin typeface="Calibri"/>
                <a:ea typeface="Calibri"/>
                <a:cs typeface="Calibri"/>
                <a:sym typeface="Calibri"/>
              </a:rPr>
              <a:t>Dataframe</a:t>
            </a:r>
            <a:r>
              <a:rPr lang="es-ES" sz="1400" dirty="0">
                <a:solidFill>
                  <a:srgbClr val="3A3838"/>
                </a:solidFill>
                <a:latin typeface="Calibri"/>
                <a:ea typeface="Calibri"/>
                <a:cs typeface="Calibri"/>
                <a:sym typeface="Calibri"/>
              </a:rPr>
              <a:t> a una tabla en la base de datos.</a:t>
            </a:r>
            <a:endParaRPr sz="1800" dirty="0">
              <a:solidFill>
                <a:srgbClr val="3A3838"/>
              </a:solidFill>
              <a:latin typeface="Calibri"/>
              <a:ea typeface="Calibri"/>
              <a:cs typeface="Calibri"/>
              <a:sym typeface="Calibri"/>
            </a:endParaRPr>
          </a:p>
        </p:txBody>
      </p:sp>
      <p:pic>
        <p:nvPicPr>
          <p:cNvPr id="399" name="Google Shape;399;p33"/>
          <p:cNvPicPr preferRelativeResize="0"/>
          <p:nvPr/>
        </p:nvPicPr>
        <p:blipFill rotWithShape="1">
          <a:blip r:embed="rId4">
            <a:alphaModFix/>
          </a:blip>
          <a:srcRect/>
          <a:stretch/>
        </p:blipFill>
        <p:spPr>
          <a:xfrm>
            <a:off x="2700496" y="3308597"/>
            <a:ext cx="6115050" cy="1809750"/>
          </a:xfrm>
          <a:prstGeom prst="rect">
            <a:avLst/>
          </a:prstGeom>
          <a:noFill/>
          <a:ln>
            <a:noFill/>
          </a:ln>
        </p:spPr>
      </p:pic>
      <p:sp>
        <p:nvSpPr>
          <p:cNvPr id="400" name="Google Shape;400;p33"/>
          <p:cNvSpPr/>
          <p:nvPr/>
        </p:nvSpPr>
        <p:spPr>
          <a:xfrm>
            <a:off x="1550693" y="2911611"/>
            <a:ext cx="8821928" cy="307736"/>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Clr>
                <a:srgbClr val="3A3838"/>
              </a:buClr>
              <a:buSzPts val="1400"/>
              <a:buFont typeface="Calibri"/>
              <a:buNone/>
            </a:pPr>
            <a:r>
              <a:rPr lang="es-ES" sz="1400">
                <a:solidFill>
                  <a:srgbClr val="3A3838"/>
                </a:solidFill>
                <a:latin typeface="Calibri"/>
                <a:ea typeface="Calibri"/>
                <a:cs typeface="Calibri"/>
                <a:sym typeface="Calibri"/>
              </a:rPr>
              <a:t>Y de esta forma podemos leer una tabla en la base de datos.</a:t>
            </a:r>
            <a:endParaRPr sz="1800">
              <a:solidFill>
                <a:srgbClr val="3A3838"/>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96"/>
                                        </p:tgtEl>
                                        <p:attrNameLst>
                                          <p:attrName>style.visibility</p:attrName>
                                        </p:attrNameLst>
                                      </p:cBhvr>
                                      <p:to>
                                        <p:strVal val="visible"/>
                                      </p:to>
                                    </p:set>
                                    <p:animEffect transition="in" filter="fade">
                                      <p:cBhvr>
                                        <p:cTn id="7" dur="500"/>
                                        <p:tgtEl>
                                          <p:spTgt spid="3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404"/>
        <p:cNvGrpSpPr/>
        <p:nvPr/>
      </p:nvGrpSpPr>
      <p:grpSpPr>
        <a:xfrm>
          <a:off x="0" y="0"/>
          <a:ext cx="0" cy="0"/>
          <a:chOff x="0" y="0"/>
          <a:chExt cx="0" cy="0"/>
        </a:xfrm>
      </p:grpSpPr>
      <p:sp>
        <p:nvSpPr>
          <p:cNvPr id="405" name="Google Shape;405;p34"/>
          <p:cNvSpPr txBox="1"/>
          <p:nvPr/>
        </p:nvSpPr>
        <p:spPr>
          <a:xfrm>
            <a:off x="1527635" y="525959"/>
            <a:ext cx="10782300" cy="731156"/>
          </a:xfrm>
          <a:prstGeom prst="rect">
            <a:avLst/>
          </a:prstGeom>
          <a:noFill/>
          <a:ln>
            <a:noFill/>
          </a:ln>
        </p:spPr>
        <p:txBody>
          <a:bodyPr spcFirstLastPara="1" wrap="square" lIns="91425" tIns="45700" rIns="91425" bIns="45700" anchor="ctr" anchorCtr="0">
            <a:noAutofit/>
          </a:bodyPr>
          <a:lstStyle/>
          <a:p>
            <a:pPr marL="0" marR="0" lvl="0" indent="0" algn="just">
              <a:lnSpc>
                <a:spcPct val="90000"/>
              </a:lnSpc>
              <a:spcBef>
                <a:spcPts val="0"/>
              </a:spcBef>
              <a:spcAft>
                <a:spcPts val="0"/>
              </a:spcAft>
              <a:buNone/>
            </a:pPr>
            <a:r>
              <a:rPr lang="es-ES" sz="3200" dirty="0">
                <a:solidFill>
                  <a:srgbClr val="7F7F7F"/>
                </a:solidFill>
              </a:rPr>
              <a:t>SQL</a:t>
            </a:r>
            <a:endParaRPr lang="es-ES" dirty="0"/>
          </a:p>
        </p:txBody>
      </p:sp>
      <p:sp>
        <p:nvSpPr>
          <p:cNvPr id="406" name="Google Shape;406;p34"/>
          <p:cNvSpPr/>
          <p:nvPr/>
        </p:nvSpPr>
        <p:spPr>
          <a:xfrm>
            <a:off x="-346950" y="1336285"/>
            <a:ext cx="12851547" cy="1022796"/>
          </a:xfrm>
          <a:prstGeom prst="roundRect">
            <a:avLst>
              <a:gd name="adj" fmla="val 2971"/>
            </a:avLst>
          </a:prstGeom>
          <a:gradFill>
            <a:gsLst>
              <a:gs pos="0">
                <a:srgbClr val="451539"/>
              </a:gs>
              <a:gs pos="50000">
                <a:srgbClr val="641F53"/>
              </a:gs>
              <a:gs pos="100000">
                <a:srgbClr val="782663"/>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07" name="Google Shape;407;p34"/>
          <p:cNvSpPr txBox="1"/>
          <p:nvPr/>
        </p:nvSpPr>
        <p:spPr>
          <a:xfrm>
            <a:off x="1516749" y="1494112"/>
            <a:ext cx="9124151" cy="707846"/>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2000">
                <a:solidFill>
                  <a:schemeClr val="lt1"/>
                </a:solidFill>
                <a:latin typeface="Calibri"/>
                <a:ea typeface="Calibri"/>
                <a:cs typeface="Calibri"/>
                <a:sym typeface="Calibri"/>
              </a:rPr>
              <a:t>Para establecer una conexión a una BD mediante ODBC, es necesario instalar la librería </a:t>
            </a:r>
            <a:r>
              <a:rPr lang="es-ES" sz="2000" b="1">
                <a:solidFill>
                  <a:schemeClr val="lt1"/>
                </a:solidFill>
                <a:latin typeface="Calibri"/>
                <a:ea typeface="Calibri"/>
                <a:cs typeface="Calibri"/>
                <a:sym typeface="Calibri"/>
              </a:rPr>
              <a:t>pyodbc</a:t>
            </a:r>
            <a:r>
              <a:rPr lang="es-ES" sz="2000">
                <a:solidFill>
                  <a:schemeClr val="lt1"/>
                </a:solidFill>
                <a:latin typeface="Calibri"/>
                <a:ea typeface="Calibri"/>
                <a:cs typeface="Calibri"/>
                <a:sym typeface="Calibri"/>
              </a:rPr>
              <a:t>. Esto puede realizarse con </a:t>
            </a:r>
            <a:r>
              <a:rPr lang="es-ES" sz="2000" b="1">
                <a:solidFill>
                  <a:schemeClr val="lt1"/>
                </a:solidFill>
                <a:latin typeface="Calibri"/>
                <a:ea typeface="Calibri"/>
                <a:cs typeface="Calibri"/>
                <a:sym typeface="Calibri"/>
              </a:rPr>
              <a:t>pip</a:t>
            </a:r>
            <a:r>
              <a:rPr lang="es-ES" sz="2000">
                <a:solidFill>
                  <a:schemeClr val="lt1"/>
                </a:solidFill>
                <a:latin typeface="Calibri"/>
                <a:ea typeface="Calibri"/>
                <a:cs typeface="Calibri"/>
                <a:sym typeface="Calibri"/>
              </a:rPr>
              <a:t>, o bien, con </a:t>
            </a:r>
            <a:r>
              <a:rPr lang="es-ES" sz="2000" b="1">
                <a:solidFill>
                  <a:schemeClr val="lt1"/>
                </a:solidFill>
                <a:latin typeface="Calibri"/>
                <a:ea typeface="Calibri"/>
                <a:cs typeface="Calibri"/>
                <a:sym typeface="Calibri"/>
              </a:rPr>
              <a:t>conda</a:t>
            </a:r>
            <a:r>
              <a:rPr lang="es-ES" sz="2000">
                <a:solidFill>
                  <a:schemeClr val="lt1"/>
                </a:solidFill>
                <a:latin typeface="Calibri"/>
                <a:ea typeface="Calibri"/>
                <a:cs typeface="Calibri"/>
                <a:sym typeface="Calibri"/>
              </a:rPr>
              <a:t>.</a:t>
            </a:r>
            <a:endParaRPr lang="es-ES" sz="1600"/>
          </a:p>
        </p:txBody>
      </p:sp>
      <p:sp>
        <p:nvSpPr>
          <p:cNvPr id="408" name="Google Shape;408;p34"/>
          <p:cNvSpPr/>
          <p:nvPr/>
        </p:nvSpPr>
        <p:spPr>
          <a:xfrm>
            <a:off x="1571643" y="2636730"/>
            <a:ext cx="9288201" cy="2950028"/>
          </a:xfrm>
          <a:prstGeom prst="roundRect">
            <a:avLst>
              <a:gd name="adj" fmla="val 2971"/>
            </a:avLst>
          </a:prstGeom>
          <a:solidFill>
            <a:schemeClr val="lt1"/>
          </a:solidFill>
          <a:ln w="38100" cap="flat" cmpd="sng">
            <a:solidFill>
              <a:srgbClr val="732C6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409" name="Google Shape;409;p34" descr="Install the pyodbc package"/>
          <p:cNvPicPr preferRelativeResize="0"/>
          <p:nvPr/>
        </p:nvPicPr>
        <p:blipFill rotWithShape="1">
          <a:blip r:embed="rId3">
            <a:alphaModFix/>
          </a:blip>
          <a:srcRect/>
          <a:stretch/>
        </p:blipFill>
        <p:spPr>
          <a:xfrm>
            <a:off x="1967628" y="2977619"/>
            <a:ext cx="8518002" cy="2268251"/>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405"/>
                                        </p:tgtEl>
                                        <p:attrNameLst>
                                          <p:attrName>style.visibility</p:attrName>
                                        </p:attrNameLst>
                                      </p:cBhvr>
                                      <p:to>
                                        <p:strVal val="visible"/>
                                      </p:to>
                                    </p:set>
                                    <p:animEffect transition="in" filter="fade">
                                      <p:cBhvr>
                                        <p:cTn id="7" dur="500"/>
                                        <p:tgtEl>
                                          <p:spTgt spid="4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413"/>
        <p:cNvGrpSpPr/>
        <p:nvPr/>
      </p:nvGrpSpPr>
      <p:grpSpPr>
        <a:xfrm>
          <a:off x="0" y="0"/>
          <a:ext cx="0" cy="0"/>
          <a:chOff x="0" y="0"/>
          <a:chExt cx="0" cy="0"/>
        </a:xfrm>
      </p:grpSpPr>
      <p:sp>
        <p:nvSpPr>
          <p:cNvPr id="414" name="Google Shape;414;p35"/>
          <p:cNvSpPr txBox="1"/>
          <p:nvPr/>
        </p:nvSpPr>
        <p:spPr>
          <a:xfrm>
            <a:off x="1195820" y="518738"/>
            <a:ext cx="10291330" cy="731156"/>
          </a:xfrm>
          <a:prstGeom prst="rect">
            <a:avLst/>
          </a:prstGeom>
          <a:noFill/>
          <a:ln>
            <a:noFill/>
          </a:ln>
        </p:spPr>
        <p:txBody>
          <a:bodyPr spcFirstLastPara="1" wrap="square" lIns="91425" tIns="45700" rIns="91425" bIns="45700" anchor="ctr" anchorCtr="0">
            <a:noAutofit/>
          </a:bodyPr>
          <a:lstStyle/>
          <a:p>
            <a:pPr marL="0" marR="0" lvl="0" indent="0" algn="just" rtl="0">
              <a:lnSpc>
                <a:spcPct val="90000"/>
              </a:lnSpc>
              <a:spcBef>
                <a:spcPts val="0"/>
              </a:spcBef>
              <a:spcAft>
                <a:spcPts val="0"/>
              </a:spcAft>
              <a:buNone/>
            </a:pPr>
            <a:r>
              <a:rPr lang="es-ES" sz="3200">
                <a:solidFill>
                  <a:srgbClr val="7F7F7F"/>
                </a:solidFill>
                <a:latin typeface="Calibri"/>
                <a:ea typeface="Calibri"/>
                <a:cs typeface="Calibri"/>
                <a:sym typeface="Calibri"/>
              </a:rPr>
              <a:t>Conexión Mediante pyodbc</a:t>
            </a:r>
            <a:endParaRPr sz="3200">
              <a:solidFill>
                <a:srgbClr val="7F7F7F"/>
              </a:solidFill>
              <a:latin typeface="Calibri"/>
              <a:ea typeface="Calibri"/>
              <a:cs typeface="Calibri"/>
              <a:sym typeface="Calibri"/>
            </a:endParaRPr>
          </a:p>
        </p:txBody>
      </p:sp>
      <p:sp>
        <p:nvSpPr>
          <p:cNvPr id="415" name="Google Shape;415;p35"/>
          <p:cNvSpPr/>
          <p:nvPr/>
        </p:nvSpPr>
        <p:spPr>
          <a:xfrm>
            <a:off x="1195820" y="1464637"/>
            <a:ext cx="9800359" cy="4605630"/>
          </a:xfrm>
          <a:prstGeom prst="roundRect">
            <a:avLst>
              <a:gd name="adj" fmla="val 2971"/>
            </a:avLst>
          </a:prstGeom>
          <a:solidFill>
            <a:schemeClr val="lt1"/>
          </a:solidFill>
          <a:ln w="38100" cap="flat" cmpd="sng">
            <a:solidFill>
              <a:srgbClr val="732C6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416" name="Google Shape;416;p35" descr="SQL Server - Server Name"/>
          <p:cNvPicPr preferRelativeResize="0"/>
          <p:nvPr/>
        </p:nvPicPr>
        <p:blipFill rotWithShape="1">
          <a:blip r:embed="rId3">
            <a:alphaModFix/>
          </a:blip>
          <a:srcRect/>
          <a:stretch/>
        </p:blipFill>
        <p:spPr>
          <a:xfrm>
            <a:off x="1588491" y="1997750"/>
            <a:ext cx="5331226" cy="3539404"/>
          </a:xfrm>
          <a:prstGeom prst="rect">
            <a:avLst/>
          </a:prstGeom>
          <a:noFill/>
          <a:ln>
            <a:noFill/>
          </a:ln>
        </p:spPr>
      </p:pic>
      <p:pic>
        <p:nvPicPr>
          <p:cNvPr id="417" name="Google Shape;417;p35" descr="SQL Server - Database Name"/>
          <p:cNvPicPr preferRelativeResize="0"/>
          <p:nvPr/>
        </p:nvPicPr>
        <p:blipFill rotWithShape="1">
          <a:blip r:embed="rId4">
            <a:alphaModFix/>
          </a:blip>
          <a:srcRect/>
          <a:stretch/>
        </p:blipFill>
        <p:spPr>
          <a:xfrm>
            <a:off x="7312387" y="1766307"/>
            <a:ext cx="3387653" cy="400229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414"/>
                                        </p:tgtEl>
                                        <p:attrNameLst>
                                          <p:attrName>style.visibility</p:attrName>
                                        </p:attrNameLst>
                                      </p:cBhvr>
                                      <p:to>
                                        <p:strVal val="visible"/>
                                      </p:to>
                                    </p:set>
                                    <p:animEffect transition="in" filter="fade">
                                      <p:cBhvr>
                                        <p:cTn id="7" dur="500"/>
                                        <p:tgtEl>
                                          <p:spTgt spid="4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421"/>
        <p:cNvGrpSpPr/>
        <p:nvPr/>
      </p:nvGrpSpPr>
      <p:grpSpPr>
        <a:xfrm>
          <a:off x="0" y="0"/>
          <a:ext cx="0" cy="0"/>
          <a:chOff x="0" y="0"/>
          <a:chExt cx="0" cy="0"/>
        </a:xfrm>
      </p:grpSpPr>
      <p:sp>
        <p:nvSpPr>
          <p:cNvPr id="422" name="Google Shape;422;p36"/>
          <p:cNvSpPr txBox="1"/>
          <p:nvPr/>
        </p:nvSpPr>
        <p:spPr>
          <a:xfrm>
            <a:off x="573930" y="524065"/>
            <a:ext cx="7226437" cy="731156"/>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None/>
            </a:pPr>
            <a:r>
              <a:rPr lang="es-ES" sz="3200">
                <a:solidFill>
                  <a:srgbClr val="7F7F7F"/>
                </a:solidFill>
                <a:latin typeface="Arial"/>
                <a:ea typeface="Arial"/>
                <a:cs typeface="Arial"/>
                <a:sym typeface="Arial"/>
              </a:rPr>
              <a:t>Conexión Mediante pyodbc</a:t>
            </a:r>
            <a:endParaRPr sz="3200">
              <a:solidFill>
                <a:srgbClr val="7F7F7F"/>
              </a:solidFill>
              <a:latin typeface="Arial"/>
              <a:ea typeface="Arial"/>
              <a:cs typeface="Arial"/>
              <a:sym typeface="Arial"/>
            </a:endParaRPr>
          </a:p>
        </p:txBody>
      </p:sp>
      <p:sp>
        <p:nvSpPr>
          <p:cNvPr id="423" name="Google Shape;423;p36"/>
          <p:cNvSpPr/>
          <p:nvPr/>
        </p:nvSpPr>
        <p:spPr>
          <a:xfrm>
            <a:off x="1382402" y="1534937"/>
            <a:ext cx="9427196" cy="4713463"/>
          </a:xfrm>
          <a:prstGeom prst="roundRect">
            <a:avLst>
              <a:gd name="adj" fmla="val 2971"/>
            </a:avLst>
          </a:prstGeom>
          <a:solidFill>
            <a:schemeClr val="lt1"/>
          </a:solidFill>
          <a:ln w="38100" cap="flat" cmpd="sng">
            <a:solidFill>
              <a:srgbClr val="732C6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424" name="Google Shape;424;p36" descr="SQL Server - Table Name"/>
          <p:cNvPicPr preferRelativeResize="0"/>
          <p:nvPr/>
        </p:nvPicPr>
        <p:blipFill rotWithShape="1">
          <a:blip r:embed="rId3">
            <a:alphaModFix/>
          </a:blip>
          <a:srcRect/>
          <a:stretch/>
        </p:blipFill>
        <p:spPr>
          <a:xfrm>
            <a:off x="2060756" y="2094370"/>
            <a:ext cx="4035244" cy="3590836"/>
          </a:xfrm>
          <a:prstGeom prst="rect">
            <a:avLst/>
          </a:prstGeom>
          <a:noFill/>
          <a:ln>
            <a:noFill/>
          </a:ln>
        </p:spPr>
      </p:pic>
      <p:pic>
        <p:nvPicPr>
          <p:cNvPr id="425" name="Google Shape;425;p36" descr="Select query"/>
          <p:cNvPicPr preferRelativeResize="0"/>
          <p:nvPr/>
        </p:nvPicPr>
        <p:blipFill rotWithShape="1">
          <a:blip r:embed="rId4">
            <a:alphaModFix/>
          </a:blip>
          <a:srcRect/>
          <a:stretch/>
        </p:blipFill>
        <p:spPr>
          <a:xfrm>
            <a:off x="6490442" y="1985538"/>
            <a:ext cx="3496131" cy="3747651"/>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422"/>
                                        </p:tgtEl>
                                        <p:attrNameLst>
                                          <p:attrName>style.visibility</p:attrName>
                                        </p:attrNameLst>
                                      </p:cBhvr>
                                      <p:to>
                                        <p:strVal val="visible"/>
                                      </p:to>
                                    </p:set>
                                    <p:animEffect transition="in" filter="fade">
                                      <p:cBhvr>
                                        <p:cTn id="7" dur="500"/>
                                        <p:tgtEl>
                                          <p:spTgt spid="4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429"/>
        <p:cNvGrpSpPr/>
        <p:nvPr/>
      </p:nvGrpSpPr>
      <p:grpSpPr>
        <a:xfrm>
          <a:off x="0" y="0"/>
          <a:ext cx="0" cy="0"/>
          <a:chOff x="0" y="0"/>
          <a:chExt cx="0" cy="0"/>
        </a:xfrm>
      </p:grpSpPr>
      <p:sp>
        <p:nvSpPr>
          <p:cNvPr id="430" name="Google Shape;430;p37"/>
          <p:cNvSpPr txBox="1"/>
          <p:nvPr/>
        </p:nvSpPr>
        <p:spPr>
          <a:xfrm>
            <a:off x="1285871" y="515813"/>
            <a:ext cx="9343823" cy="731156"/>
          </a:xfrm>
          <a:prstGeom prst="rect">
            <a:avLst/>
          </a:prstGeom>
          <a:noFill/>
          <a:ln>
            <a:noFill/>
          </a:ln>
        </p:spPr>
        <p:txBody>
          <a:bodyPr spcFirstLastPara="1" wrap="square" lIns="91425" tIns="45700" rIns="91425" bIns="45700" anchor="ctr" anchorCtr="0">
            <a:noAutofit/>
          </a:bodyPr>
          <a:lstStyle/>
          <a:p>
            <a:pPr marL="0" marR="0" lvl="0" indent="0" algn="just" rtl="0">
              <a:lnSpc>
                <a:spcPct val="90000"/>
              </a:lnSpc>
              <a:spcBef>
                <a:spcPts val="0"/>
              </a:spcBef>
              <a:spcAft>
                <a:spcPts val="0"/>
              </a:spcAft>
              <a:buNone/>
            </a:pPr>
            <a:r>
              <a:rPr lang="es-ES" sz="3200">
                <a:solidFill>
                  <a:srgbClr val="7F7F7F"/>
                </a:solidFill>
                <a:latin typeface="Arial"/>
                <a:ea typeface="Arial"/>
                <a:cs typeface="Arial"/>
                <a:sym typeface="Arial"/>
              </a:rPr>
              <a:t>Conexión Mediante pyodbc</a:t>
            </a:r>
            <a:endParaRPr sz="3200">
              <a:solidFill>
                <a:srgbClr val="7F7F7F"/>
              </a:solidFill>
              <a:latin typeface="Arial"/>
              <a:ea typeface="Arial"/>
              <a:cs typeface="Arial"/>
              <a:sym typeface="Arial"/>
            </a:endParaRPr>
          </a:p>
        </p:txBody>
      </p:sp>
      <p:sp>
        <p:nvSpPr>
          <p:cNvPr id="431" name="Google Shape;431;p37"/>
          <p:cNvSpPr/>
          <p:nvPr/>
        </p:nvSpPr>
        <p:spPr>
          <a:xfrm>
            <a:off x="-320046" y="1346510"/>
            <a:ext cx="12851547" cy="679356"/>
          </a:xfrm>
          <a:prstGeom prst="roundRect">
            <a:avLst>
              <a:gd name="adj" fmla="val 2971"/>
            </a:avLst>
          </a:prstGeom>
          <a:gradFill>
            <a:gsLst>
              <a:gs pos="0">
                <a:srgbClr val="451539"/>
              </a:gs>
              <a:gs pos="50000">
                <a:srgbClr val="641F53"/>
              </a:gs>
              <a:gs pos="100000">
                <a:srgbClr val="782663"/>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32" name="Google Shape;432;p37"/>
          <p:cNvSpPr txBox="1"/>
          <p:nvPr/>
        </p:nvSpPr>
        <p:spPr>
          <a:xfrm>
            <a:off x="1171773" y="1412640"/>
            <a:ext cx="9572017" cy="1015622"/>
          </a:xfrm>
          <a:prstGeom prst="rect">
            <a:avLst/>
          </a:prstGeom>
          <a:noFill/>
          <a:ln>
            <a:noFill/>
          </a:ln>
        </p:spPr>
        <p:txBody>
          <a:bodyPr spcFirstLastPara="1" wrap="square" lIns="91425" tIns="45700" rIns="91425" bIns="45700" anchor="t" anchorCtr="0">
            <a:spAutoFit/>
          </a:bodyPr>
          <a:lstStyle/>
          <a:p>
            <a:pPr marL="0" marR="0" lvl="0" indent="0" algn="ctr" rtl="0">
              <a:lnSpc>
                <a:spcPct val="150000"/>
              </a:lnSpc>
              <a:spcBef>
                <a:spcPts val="0"/>
              </a:spcBef>
              <a:spcAft>
                <a:spcPts val="0"/>
              </a:spcAft>
              <a:buNone/>
            </a:pPr>
            <a:r>
              <a:rPr lang="es-ES" sz="2000">
                <a:solidFill>
                  <a:schemeClr val="lt1"/>
                </a:solidFill>
                <a:latin typeface="Calibri"/>
                <a:ea typeface="Calibri"/>
                <a:cs typeface="Calibri"/>
                <a:sym typeface="Calibri"/>
              </a:rPr>
              <a:t>Una vez que contamos con la información, podemos establecer la conexión de la siguiente manera.</a:t>
            </a:r>
            <a:endParaRPr sz="2000"/>
          </a:p>
        </p:txBody>
      </p:sp>
      <p:sp>
        <p:nvSpPr>
          <p:cNvPr id="433" name="Google Shape;433;p37"/>
          <p:cNvSpPr/>
          <p:nvPr/>
        </p:nvSpPr>
        <p:spPr>
          <a:xfrm>
            <a:off x="1285873" y="2336596"/>
            <a:ext cx="9853508" cy="3253566"/>
          </a:xfrm>
          <a:prstGeom prst="roundRect">
            <a:avLst>
              <a:gd name="adj" fmla="val 2971"/>
            </a:avLst>
          </a:prstGeom>
          <a:solidFill>
            <a:schemeClr val="lt1"/>
          </a:solidFill>
          <a:ln w="38100" cap="flat" cmpd="sng">
            <a:solidFill>
              <a:srgbClr val="732C6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434" name="Google Shape;434;p37" descr="How to Connect Python to SQL Server using pyodbc"/>
          <p:cNvPicPr preferRelativeResize="0"/>
          <p:nvPr/>
        </p:nvPicPr>
        <p:blipFill rotWithShape="1">
          <a:blip r:embed="rId3">
            <a:alphaModFix/>
          </a:blip>
          <a:srcRect t="8474" r="-160" b="10508"/>
          <a:stretch/>
        </p:blipFill>
        <p:spPr>
          <a:xfrm>
            <a:off x="2682668" y="2562397"/>
            <a:ext cx="6831330" cy="2602933"/>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430"/>
                                        </p:tgtEl>
                                        <p:attrNameLst>
                                          <p:attrName>style.visibility</p:attrName>
                                        </p:attrNameLst>
                                      </p:cBhvr>
                                      <p:to>
                                        <p:strVal val="visible"/>
                                      </p:to>
                                    </p:set>
                                    <p:animEffect transition="in" filter="fade">
                                      <p:cBhvr>
                                        <p:cTn id="7" dur="500"/>
                                        <p:tgtEl>
                                          <p:spTgt spid="4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438"/>
        <p:cNvGrpSpPr/>
        <p:nvPr/>
      </p:nvGrpSpPr>
      <p:grpSpPr>
        <a:xfrm>
          <a:off x="0" y="0"/>
          <a:ext cx="0" cy="0"/>
          <a:chOff x="0" y="0"/>
          <a:chExt cx="0" cy="0"/>
        </a:xfrm>
      </p:grpSpPr>
      <p:sp>
        <p:nvSpPr>
          <p:cNvPr id="439" name="Google Shape;439;p38"/>
          <p:cNvSpPr txBox="1"/>
          <p:nvPr/>
        </p:nvSpPr>
        <p:spPr>
          <a:xfrm>
            <a:off x="1605909" y="237111"/>
            <a:ext cx="8949446" cy="731156"/>
          </a:xfrm>
          <a:prstGeom prst="rect">
            <a:avLst/>
          </a:prstGeom>
          <a:noFill/>
          <a:ln>
            <a:noFill/>
          </a:ln>
        </p:spPr>
        <p:txBody>
          <a:bodyPr spcFirstLastPara="1" wrap="square" lIns="91425" tIns="45700" rIns="91425" bIns="45700" anchor="ctr" anchorCtr="0">
            <a:noAutofit/>
          </a:bodyPr>
          <a:lstStyle/>
          <a:p>
            <a:pPr marL="0" marR="0" lvl="0" indent="0" algn="just" rtl="0">
              <a:lnSpc>
                <a:spcPct val="90000"/>
              </a:lnSpc>
              <a:spcBef>
                <a:spcPts val="0"/>
              </a:spcBef>
              <a:spcAft>
                <a:spcPts val="0"/>
              </a:spcAft>
              <a:buNone/>
            </a:pPr>
            <a:r>
              <a:rPr lang="es-ES" sz="3200">
                <a:solidFill>
                  <a:srgbClr val="7F7F7F"/>
                </a:solidFill>
                <a:latin typeface="Arial"/>
                <a:ea typeface="Arial"/>
                <a:cs typeface="Arial"/>
                <a:sym typeface="Arial"/>
              </a:rPr>
              <a:t>Conexión Postgres</a:t>
            </a:r>
            <a:endParaRPr sz="3200">
              <a:solidFill>
                <a:srgbClr val="7F7F7F"/>
              </a:solidFill>
              <a:latin typeface="Arial"/>
              <a:ea typeface="Arial"/>
              <a:cs typeface="Arial"/>
              <a:sym typeface="Arial"/>
            </a:endParaRPr>
          </a:p>
        </p:txBody>
      </p:sp>
      <p:sp>
        <p:nvSpPr>
          <p:cNvPr id="440" name="Google Shape;440;p38"/>
          <p:cNvSpPr/>
          <p:nvPr/>
        </p:nvSpPr>
        <p:spPr>
          <a:xfrm>
            <a:off x="-194022" y="3777868"/>
            <a:ext cx="5723966" cy="1765298"/>
          </a:xfrm>
          <a:prstGeom prst="roundRect">
            <a:avLst>
              <a:gd name="adj" fmla="val 2971"/>
            </a:avLst>
          </a:prstGeom>
          <a:gradFill>
            <a:gsLst>
              <a:gs pos="0">
                <a:srgbClr val="451539"/>
              </a:gs>
              <a:gs pos="50000">
                <a:srgbClr val="641F53"/>
              </a:gs>
              <a:gs pos="100000">
                <a:srgbClr val="782663"/>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41" name="Google Shape;441;p38"/>
          <p:cNvSpPr txBox="1"/>
          <p:nvPr/>
        </p:nvSpPr>
        <p:spPr>
          <a:xfrm>
            <a:off x="1725652" y="3965729"/>
            <a:ext cx="3350824" cy="1323399"/>
          </a:xfrm>
          <a:prstGeom prst="rect">
            <a:avLst/>
          </a:prstGeom>
          <a:noFill/>
          <a:ln>
            <a:noFill/>
          </a:ln>
        </p:spPr>
        <p:txBody>
          <a:bodyPr spcFirstLastPara="1" wrap="square" lIns="91425" tIns="45700" rIns="91425" bIns="45700" anchor="t" anchorCtr="0">
            <a:spAutoFit/>
          </a:bodyPr>
          <a:lstStyle/>
          <a:p>
            <a:pPr marL="0" marR="0" lvl="0" indent="0" rtl="0">
              <a:spcBef>
                <a:spcPts val="0"/>
              </a:spcBef>
              <a:spcAft>
                <a:spcPts val="0"/>
              </a:spcAft>
              <a:buNone/>
            </a:pPr>
            <a:r>
              <a:rPr lang="es-ES" sz="2000">
                <a:solidFill>
                  <a:schemeClr val="lt1"/>
                </a:solidFill>
                <a:latin typeface="Calibri"/>
                <a:ea typeface="Calibri"/>
                <a:cs typeface="Calibri"/>
                <a:sym typeface="Calibri"/>
              </a:rPr>
              <a:t>En el caso de una conexión a una base de datos </a:t>
            </a:r>
            <a:r>
              <a:rPr lang="es-ES" sz="2000" b="1" err="1">
                <a:solidFill>
                  <a:schemeClr val="lt1"/>
                </a:solidFill>
                <a:latin typeface="Calibri"/>
                <a:ea typeface="Calibri"/>
                <a:cs typeface="Calibri"/>
                <a:sym typeface="Calibri"/>
              </a:rPr>
              <a:t>Postgres</a:t>
            </a:r>
            <a:r>
              <a:rPr lang="es-ES" sz="2000">
                <a:solidFill>
                  <a:schemeClr val="lt1"/>
                </a:solidFill>
                <a:latin typeface="Calibri"/>
                <a:ea typeface="Calibri"/>
                <a:cs typeface="Calibri"/>
                <a:sym typeface="Calibri"/>
              </a:rPr>
              <a:t>, se debe instalar la librería </a:t>
            </a:r>
            <a:r>
              <a:rPr lang="es-ES" sz="2000" b="1">
                <a:solidFill>
                  <a:schemeClr val="lt1"/>
                </a:solidFill>
                <a:latin typeface="Calibri"/>
                <a:ea typeface="Calibri"/>
                <a:cs typeface="Calibri"/>
                <a:sym typeface="Calibri"/>
              </a:rPr>
              <a:t>psycopg2</a:t>
            </a:r>
            <a:r>
              <a:rPr lang="es-ES" sz="2000">
                <a:solidFill>
                  <a:schemeClr val="lt1"/>
                </a:solidFill>
                <a:latin typeface="Calibri"/>
                <a:ea typeface="Calibri"/>
                <a:cs typeface="Calibri"/>
                <a:sym typeface="Calibri"/>
              </a:rPr>
              <a:t>.</a:t>
            </a:r>
            <a:endParaRPr lang="es-ES" sz="2000">
              <a:solidFill>
                <a:schemeClr val="lt1"/>
              </a:solidFill>
            </a:endParaRPr>
          </a:p>
        </p:txBody>
      </p:sp>
      <p:sp>
        <p:nvSpPr>
          <p:cNvPr id="442" name="Google Shape;442;p38"/>
          <p:cNvSpPr/>
          <p:nvPr/>
        </p:nvSpPr>
        <p:spPr>
          <a:xfrm>
            <a:off x="5648065" y="996185"/>
            <a:ext cx="5810251" cy="4525674"/>
          </a:xfrm>
          <a:prstGeom prst="roundRect">
            <a:avLst>
              <a:gd name="adj" fmla="val 2971"/>
            </a:avLst>
          </a:prstGeom>
          <a:solidFill>
            <a:schemeClr val="lt1"/>
          </a:solidFill>
          <a:ln w="38100" cap="flat" cmpd="sng">
            <a:solidFill>
              <a:srgbClr val="732C6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443" name="Google Shape;443;p38"/>
          <p:cNvPicPr preferRelativeResize="0"/>
          <p:nvPr/>
        </p:nvPicPr>
        <p:blipFill rotWithShape="1">
          <a:blip r:embed="rId3">
            <a:alphaModFix/>
          </a:blip>
          <a:srcRect/>
          <a:stretch/>
        </p:blipFill>
        <p:spPr>
          <a:xfrm>
            <a:off x="5985844" y="3132482"/>
            <a:ext cx="5134692" cy="2152950"/>
          </a:xfrm>
          <a:prstGeom prst="rect">
            <a:avLst/>
          </a:prstGeom>
          <a:noFill/>
          <a:ln>
            <a:noFill/>
          </a:ln>
        </p:spPr>
      </p:pic>
      <p:pic>
        <p:nvPicPr>
          <p:cNvPr id="444" name="Google Shape;444;p38"/>
          <p:cNvPicPr preferRelativeResize="0"/>
          <p:nvPr/>
        </p:nvPicPr>
        <p:blipFill rotWithShape="1">
          <a:blip r:embed="rId4">
            <a:alphaModFix/>
          </a:blip>
          <a:srcRect/>
          <a:stretch/>
        </p:blipFill>
        <p:spPr>
          <a:xfrm>
            <a:off x="5985844" y="1162263"/>
            <a:ext cx="5134692" cy="1733792"/>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439"/>
                                        </p:tgtEl>
                                        <p:attrNameLst>
                                          <p:attrName>style.visibility</p:attrName>
                                        </p:attrNameLst>
                                      </p:cBhvr>
                                      <p:to>
                                        <p:strVal val="visible"/>
                                      </p:to>
                                    </p:set>
                                    <p:animEffect transition="in" filter="fade">
                                      <p:cBhvr>
                                        <p:cTn id="7" dur="500"/>
                                        <p:tgtEl>
                                          <p:spTgt spid="4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448"/>
        <p:cNvGrpSpPr/>
        <p:nvPr/>
      </p:nvGrpSpPr>
      <p:grpSpPr>
        <a:xfrm>
          <a:off x="0" y="0"/>
          <a:ext cx="0" cy="0"/>
          <a:chOff x="0" y="0"/>
          <a:chExt cx="0" cy="0"/>
        </a:xfrm>
      </p:grpSpPr>
      <p:sp>
        <p:nvSpPr>
          <p:cNvPr id="449" name="Google Shape;449;p39"/>
          <p:cNvSpPr txBox="1"/>
          <p:nvPr/>
        </p:nvSpPr>
        <p:spPr>
          <a:xfrm>
            <a:off x="432476" y="3510894"/>
            <a:ext cx="5297116" cy="731156"/>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None/>
            </a:pPr>
            <a:r>
              <a:rPr lang="es-ES" sz="3200">
                <a:solidFill>
                  <a:srgbClr val="7F7F7F"/>
                </a:solidFill>
                <a:latin typeface="Arial"/>
                <a:ea typeface="Arial"/>
                <a:cs typeface="Arial"/>
                <a:sym typeface="Arial"/>
              </a:rPr>
              <a:t>Lectura de una API</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449"/>
                                        </p:tgtEl>
                                        <p:attrNameLst>
                                          <p:attrName>style.visibility</p:attrName>
                                        </p:attrNameLst>
                                      </p:cBhvr>
                                      <p:to>
                                        <p:strVal val="visible"/>
                                      </p:to>
                                    </p:set>
                                    <p:animEffect transition="in" filter="fade">
                                      <p:cBhvr>
                                        <p:cTn id="7" dur="500"/>
                                        <p:tgtEl>
                                          <p:spTgt spid="4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453"/>
        <p:cNvGrpSpPr/>
        <p:nvPr/>
      </p:nvGrpSpPr>
      <p:grpSpPr>
        <a:xfrm>
          <a:off x="0" y="0"/>
          <a:ext cx="0" cy="0"/>
          <a:chOff x="0" y="0"/>
          <a:chExt cx="0" cy="0"/>
        </a:xfrm>
      </p:grpSpPr>
      <p:sp>
        <p:nvSpPr>
          <p:cNvPr id="454" name="Google Shape;454;p40"/>
          <p:cNvSpPr txBox="1"/>
          <p:nvPr/>
        </p:nvSpPr>
        <p:spPr>
          <a:xfrm>
            <a:off x="855862" y="193185"/>
            <a:ext cx="5632489" cy="731156"/>
          </a:xfrm>
          <a:prstGeom prst="rect">
            <a:avLst/>
          </a:prstGeom>
          <a:noFill/>
          <a:ln>
            <a:noFill/>
          </a:ln>
        </p:spPr>
        <p:txBody>
          <a:bodyPr spcFirstLastPara="1" wrap="square" lIns="91425" tIns="45700" rIns="91425" bIns="45700" anchor="ctr" anchorCtr="0">
            <a:noAutofit/>
          </a:bodyPr>
          <a:lstStyle/>
          <a:p>
            <a:pPr marL="0" marR="0" lvl="0" indent="0" rtl="0">
              <a:lnSpc>
                <a:spcPct val="90000"/>
              </a:lnSpc>
              <a:spcBef>
                <a:spcPts val="0"/>
              </a:spcBef>
              <a:spcAft>
                <a:spcPts val="0"/>
              </a:spcAft>
              <a:buNone/>
            </a:pPr>
            <a:r>
              <a:rPr lang="es-ES" sz="3200">
                <a:solidFill>
                  <a:srgbClr val="7F7F7F"/>
                </a:solidFill>
                <a:latin typeface="Arial"/>
                <a:ea typeface="Arial"/>
                <a:cs typeface="Arial"/>
                <a:sym typeface="Arial"/>
              </a:rPr>
              <a:t>¿Qué es una API </a:t>
            </a:r>
            <a:r>
              <a:rPr lang="es-ES" sz="3200" err="1">
                <a:solidFill>
                  <a:srgbClr val="7F7F7F"/>
                </a:solidFill>
                <a:latin typeface="Arial"/>
                <a:ea typeface="Arial"/>
                <a:cs typeface="Arial"/>
                <a:sym typeface="Arial"/>
              </a:rPr>
              <a:t>Rest</a:t>
            </a:r>
            <a:r>
              <a:rPr lang="es-ES" sz="3200">
                <a:solidFill>
                  <a:srgbClr val="7F7F7F"/>
                </a:solidFill>
                <a:latin typeface="Arial"/>
                <a:ea typeface="Arial"/>
                <a:cs typeface="Arial"/>
                <a:sym typeface="Arial"/>
              </a:rPr>
              <a:t>?</a:t>
            </a:r>
            <a:endParaRPr lang="es-ES" sz="3200">
              <a:solidFill>
                <a:srgbClr val="7F7F7F"/>
              </a:solidFill>
              <a:latin typeface="Arial"/>
              <a:ea typeface="Arial"/>
              <a:cs typeface="Arial"/>
            </a:endParaRPr>
          </a:p>
        </p:txBody>
      </p:sp>
      <p:sp>
        <p:nvSpPr>
          <p:cNvPr id="455" name="Google Shape;455;p40"/>
          <p:cNvSpPr/>
          <p:nvPr/>
        </p:nvSpPr>
        <p:spPr>
          <a:xfrm>
            <a:off x="-394447" y="1107209"/>
            <a:ext cx="12869476" cy="1685545"/>
          </a:xfrm>
          <a:prstGeom prst="roundRect">
            <a:avLst>
              <a:gd name="adj" fmla="val 2971"/>
            </a:avLst>
          </a:prstGeom>
          <a:solidFill>
            <a:srgbClr val="732C61"/>
          </a:solidFill>
          <a:ln w="12700" cap="flat" cmpd="sng">
            <a:no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56" name="Google Shape;456;p40"/>
          <p:cNvSpPr txBox="1"/>
          <p:nvPr/>
        </p:nvSpPr>
        <p:spPr>
          <a:xfrm>
            <a:off x="858507" y="1275819"/>
            <a:ext cx="10629898" cy="1323399"/>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2000">
                <a:solidFill>
                  <a:schemeClr val="lt1"/>
                </a:solidFill>
                <a:latin typeface="Calibri"/>
                <a:ea typeface="Calibri"/>
                <a:cs typeface="Calibri"/>
                <a:sym typeface="Calibri"/>
              </a:rPr>
              <a:t>El término REST (Representational State Transfer) se originó en el año 2000, descrito en la tesis de Roy Fielding, padre de la especificación HTTP. Un servicio REST no es una arquitectura software, sino un conjunto de restricciones que tener en cuenta en la arquitectura software que usaremos para crear aplicaciones web respetando HTTP.</a:t>
            </a:r>
            <a:endParaRPr sz="2000"/>
          </a:p>
        </p:txBody>
      </p:sp>
      <p:sp>
        <p:nvSpPr>
          <p:cNvPr id="457" name="Google Shape;457;p40"/>
          <p:cNvSpPr/>
          <p:nvPr/>
        </p:nvSpPr>
        <p:spPr>
          <a:xfrm>
            <a:off x="938771" y="3056835"/>
            <a:ext cx="10542812" cy="2906220"/>
          </a:xfrm>
          <a:prstGeom prst="roundRect">
            <a:avLst>
              <a:gd name="adj" fmla="val 2971"/>
            </a:avLst>
          </a:prstGeom>
          <a:solidFill>
            <a:schemeClr val="lt1"/>
          </a:solidFill>
          <a:ln w="38100" cap="flat" cmpd="sng">
            <a:solidFill>
              <a:srgbClr val="732C6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458" name="Google Shape;458;p40" descr="Introducción a la API RESTful"/>
          <p:cNvPicPr preferRelativeResize="0"/>
          <p:nvPr/>
        </p:nvPicPr>
        <p:blipFill rotWithShape="1">
          <a:blip r:embed="rId3">
            <a:alphaModFix/>
          </a:blip>
          <a:srcRect/>
          <a:stretch/>
        </p:blipFill>
        <p:spPr>
          <a:xfrm>
            <a:off x="2592239" y="3339256"/>
            <a:ext cx="6896100" cy="1847851"/>
          </a:xfrm>
          <a:prstGeom prst="rect">
            <a:avLst/>
          </a:prstGeom>
          <a:noFill/>
          <a:ln>
            <a:noFill/>
          </a:ln>
        </p:spPr>
      </p:pic>
      <p:sp>
        <p:nvSpPr>
          <p:cNvPr id="459" name="Google Shape;459;p40"/>
          <p:cNvSpPr/>
          <p:nvPr/>
        </p:nvSpPr>
        <p:spPr>
          <a:xfrm>
            <a:off x="2083517" y="5418539"/>
            <a:ext cx="7913545" cy="307736"/>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Clr>
                <a:srgbClr val="3A3838"/>
              </a:buClr>
              <a:buSzPts val="1400"/>
              <a:buFont typeface="Calibri"/>
              <a:buNone/>
            </a:pPr>
            <a:r>
              <a:rPr lang="es-ES" sz="1400">
                <a:solidFill>
                  <a:srgbClr val="3A3838"/>
                </a:solidFill>
                <a:latin typeface="Calibri"/>
                <a:ea typeface="Calibri"/>
                <a:cs typeface="Calibri"/>
                <a:sym typeface="Calibri"/>
              </a:rPr>
              <a:t>Hoy en día, las API REST son ampliamente utilizadas para el intercambio de información entre sistemas.</a:t>
            </a:r>
            <a:endParaRPr sz="1100">
              <a:solidFill>
                <a:srgbClr val="3A3838"/>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454"/>
                                        </p:tgtEl>
                                        <p:attrNameLst>
                                          <p:attrName>style.visibility</p:attrName>
                                        </p:attrNameLst>
                                      </p:cBhvr>
                                      <p:to>
                                        <p:strVal val="visible"/>
                                      </p:to>
                                    </p:set>
                                    <p:animEffect transition="in" filter="fade">
                                      <p:cBhvr>
                                        <p:cTn id="7" dur="500"/>
                                        <p:tgtEl>
                                          <p:spTgt spid="4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463"/>
        <p:cNvGrpSpPr/>
        <p:nvPr/>
      </p:nvGrpSpPr>
      <p:grpSpPr>
        <a:xfrm>
          <a:off x="0" y="0"/>
          <a:ext cx="0" cy="0"/>
          <a:chOff x="0" y="0"/>
          <a:chExt cx="0" cy="0"/>
        </a:xfrm>
      </p:grpSpPr>
      <p:sp>
        <p:nvSpPr>
          <p:cNvPr id="464" name="Google Shape;464;p41"/>
          <p:cNvSpPr/>
          <p:nvPr/>
        </p:nvSpPr>
        <p:spPr>
          <a:xfrm>
            <a:off x="-282389" y="2443042"/>
            <a:ext cx="5537739" cy="2814917"/>
          </a:xfrm>
          <a:prstGeom prst="roundRect">
            <a:avLst>
              <a:gd name="adj" fmla="val 2971"/>
            </a:avLst>
          </a:prstGeom>
          <a:gradFill>
            <a:gsLst>
              <a:gs pos="0">
                <a:srgbClr val="451539"/>
              </a:gs>
              <a:gs pos="50000">
                <a:srgbClr val="641F53"/>
              </a:gs>
              <a:gs pos="100000">
                <a:srgbClr val="782663"/>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65" name="Google Shape;465;p41"/>
          <p:cNvSpPr txBox="1"/>
          <p:nvPr/>
        </p:nvSpPr>
        <p:spPr>
          <a:xfrm>
            <a:off x="387633" y="1466285"/>
            <a:ext cx="10782300" cy="1008062"/>
          </a:xfrm>
          <a:prstGeom prst="rect">
            <a:avLst/>
          </a:prstGeom>
          <a:noFill/>
          <a:ln>
            <a:noFill/>
          </a:ln>
        </p:spPr>
        <p:txBody>
          <a:bodyPr spcFirstLastPara="1" wrap="square" lIns="91425" tIns="45700" rIns="91425" bIns="45700" anchor="ctr" anchorCtr="0">
            <a:noAutofit/>
          </a:bodyPr>
          <a:lstStyle/>
          <a:p>
            <a:pPr marL="0" marR="0" lvl="0" indent="0" algn="just" rtl="0">
              <a:lnSpc>
                <a:spcPct val="150000"/>
              </a:lnSpc>
              <a:spcBef>
                <a:spcPts val="0"/>
              </a:spcBef>
              <a:spcAft>
                <a:spcPts val="0"/>
              </a:spcAft>
              <a:buNone/>
            </a:pPr>
            <a:r>
              <a:rPr lang="es-ES" sz="3200">
                <a:solidFill>
                  <a:srgbClr val="7F7F7F"/>
                </a:solidFill>
                <a:latin typeface="Arial"/>
                <a:ea typeface="Arial"/>
                <a:cs typeface="Arial"/>
                <a:sym typeface="Arial"/>
              </a:rPr>
              <a:t>¿Qué es una API Rest?</a:t>
            </a:r>
            <a:endParaRPr sz="3200">
              <a:solidFill>
                <a:srgbClr val="7F7F7F"/>
              </a:solidFill>
              <a:latin typeface="Arial"/>
              <a:ea typeface="Arial"/>
              <a:cs typeface="Arial"/>
              <a:sym typeface="Arial"/>
            </a:endParaRPr>
          </a:p>
        </p:txBody>
      </p:sp>
      <p:sp>
        <p:nvSpPr>
          <p:cNvPr id="466" name="Google Shape;466;p41"/>
          <p:cNvSpPr txBox="1"/>
          <p:nvPr/>
        </p:nvSpPr>
        <p:spPr>
          <a:xfrm>
            <a:off x="611222" y="2696338"/>
            <a:ext cx="3998067" cy="2308324"/>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800">
                <a:solidFill>
                  <a:schemeClr val="lt1"/>
                </a:solidFill>
                <a:latin typeface="Calibri"/>
                <a:ea typeface="Calibri"/>
                <a:cs typeface="Calibri"/>
                <a:sym typeface="Calibri"/>
              </a:rPr>
              <a:t>Para este ejemplo, utilizaremos una API pública que disponibiliza distintos recursos.</a:t>
            </a:r>
            <a:endParaRPr/>
          </a:p>
          <a:p>
            <a:pPr marL="0" marR="0" lvl="0" indent="0" algn="just" rtl="0">
              <a:spcBef>
                <a:spcPts val="0"/>
              </a:spcBef>
              <a:spcAft>
                <a:spcPts val="0"/>
              </a:spcAft>
              <a:buNone/>
            </a:pPr>
            <a:endParaRPr sz="1800">
              <a:solidFill>
                <a:schemeClr val="lt1"/>
              </a:solidFill>
              <a:latin typeface="Calibri"/>
              <a:ea typeface="Calibri"/>
              <a:cs typeface="Calibri"/>
              <a:sym typeface="Calibri"/>
            </a:endParaRPr>
          </a:p>
          <a:p>
            <a:pPr marL="0" marR="0" lvl="0" indent="0" algn="just" rtl="0">
              <a:spcBef>
                <a:spcPts val="0"/>
              </a:spcBef>
              <a:spcAft>
                <a:spcPts val="0"/>
              </a:spcAft>
              <a:buNone/>
            </a:pPr>
            <a:r>
              <a:rPr lang="es-ES" sz="1800">
                <a:solidFill>
                  <a:schemeClr val="lt1"/>
                </a:solidFill>
                <a:latin typeface="Calibri"/>
                <a:ea typeface="Calibri"/>
                <a:cs typeface="Calibri"/>
                <a:sym typeface="Calibri"/>
              </a:rPr>
              <a:t>Puede ver más información en la siguiente web:</a:t>
            </a:r>
            <a:endParaRPr/>
          </a:p>
          <a:p>
            <a:pPr marL="0" marR="0" lvl="0" indent="0" algn="just" rtl="0">
              <a:spcBef>
                <a:spcPts val="0"/>
              </a:spcBef>
              <a:spcAft>
                <a:spcPts val="0"/>
              </a:spcAft>
              <a:buNone/>
            </a:pPr>
            <a:endParaRPr sz="1800">
              <a:solidFill>
                <a:schemeClr val="lt1"/>
              </a:solidFill>
              <a:latin typeface="Calibri"/>
              <a:ea typeface="Calibri"/>
              <a:cs typeface="Calibri"/>
              <a:sym typeface="Calibri"/>
            </a:endParaRPr>
          </a:p>
          <a:p>
            <a:pPr marL="0" marR="0" lvl="0" indent="0" algn="just" rtl="0">
              <a:spcBef>
                <a:spcPts val="0"/>
              </a:spcBef>
              <a:spcAft>
                <a:spcPts val="0"/>
              </a:spcAft>
              <a:buNone/>
            </a:pPr>
            <a:r>
              <a:rPr lang="es-ES" sz="1800">
                <a:solidFill>
                  <a:schemeClr val="lt1"/>
                </a:solidFill>
                <a:latin typeface="Calibri"/>
                <a:ea typeface="Calibri"/>
                <a:cs typeface="Calibri"/>
                <a:sym typeface="Calibri"/>
              </a:rPr>
              <a:t>https://jsonplaceholder.typicode.com/</a:t>
            </a:r>
            <a:endParaRPr/>
          </a:p>
        </p:txBody>
      </p:sp>
      <p:sp>
        <p:nvSpPr>
          <p:cNvPr id="467" name="Google Shape;467;p41"/>
          <p:cNvSpPr/>
          <p:nvPr/>
        </p:nvSpPr>
        <p:spPr>
          <a:xfrm>
            <a:off x="4904065" y="1241131"/>
            <a:ext cx="6850109" cy="4495800"/>
          </a:xfrm>
          <a:prstGeom prst="roundRect">
            <a:avLst>
              <a:gd name="adj" fmla="val 2971"/>
            </a:avLst>
          </a:prstGeom>
          <a:solidFill>
            <a:schemeClr val="lt1"/>
          </a:solidFill>
          <a:ln w="38100" cap="flat" cmpd="sng">
            <a:solidFill>
              <a:srgbClr val="732C6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468" name="Google Shape;468;p41"/>
          <p:cNvPicPr preferRelativeResize="0"/>
          <p:nvPr/>
        </p:nvPicPr>
        <p:blipFill rotWithShape="1">
          <a:blip r:embed="rId3">
            <a:alphaModFix/>
          </a:blip>
          <a:srcRect/>
          <a:stretch/>
        </p:blipFill>
        <p:spPr>
          <a:xfrm>
            <a:off x="5041607" y="1462630"/>
            <a:ext cx="6575023" cy="4052801"/>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465"/>
                                        </p:tgtEl>
                                        <p:attrNameLst>
                                          <p:attrName>style.visibility</p:attrName>
                                        </p:attrNameLst>
                                      </p:cBhvr>
                                      <p:to>
                                        <p:strVal val="visible"/>
                                      </p:to>
                                    </p:set>
                                    <p:animEffect transition="in" filter="fade">
                                      <p:cBhvr>
                                        <p:cTn id="7" dur="500"/>
                                        <p:tgtEl>
                                          <p:spTgt spid="4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472"/>
        <p:cNvGrpSpPr/>
        <p:nvPr/>
      </p:nvGrpSpPr>
      <p:grpSpPr>
        <a:xfrm>
          <a:off x="0" y="0"/>
          <a:ext cx="0" cy="0"/>
          <a:chOff x="0" y="0"/>
          <a:chExt cx="0" cy="0"/>
        </a:xfrm>
      </p:grpSpPr>
      <p:sp>
        <p:nvSpPr>
          <p:cNvPr id="473" name="Google Shape;473;p42"/>
          <p:cNvSpPr txBox="1"/>
          <p:nvPr/>
        </p:nvSpPr>
        <p:spPr>
          <a:xfrm>
            <a:off x="704850" y="250548"/>
            <a:ext cx="10782300" cy="595365"/>
          </a:xfrm>
          <a:prstGeom prst="rect">
            <a:avLst/>
          </a:prstGeom>
          <a:noFill/>
          <a:ln>
            <a:noFill/>
          </a:ln>
        </p:spPr>
        <p:txBody>
          <a:bodyPr spcFirstLastPara="1" wrap="square" lIns="91425" tIns="45700" rIns="91425" bIns="45700" anchor="ctr" anchorCtr="0">
            <a:noAutofit/>
          </a:bodyPr>
          <a:lstStyle/>
          <a:p>
            <a:pPr marL="0" marR="0" lvl="0" indent="0" algn="just" rtl="0">
              <a:lnSpc>
                <a:spcPct val="90000"/>
              </a:lnSpc>
              <a:spcBef>
                <a:spcPts val="0"/>
              </a:spcBef>
              <a:spcAft>
                <a:spcPts val="0"/>
              </a:spcAft>
              <a:buNone/>
            </a:pPr>
            <a:r>
              <a:rPr lang="es-ES" sz="3200">
                <a:solidFill>
                  <a:srgbClr val="7F7F7F"/>
                </a:solidFill>
                <a:latin typeface="Arial"/>
                <a:ea typeface="Arial"/>
                <a:cs typeface="Arial"/>
                <a:sym typeface="Arial"/>
              </a:rPr>
              <a:t>¿Qué es una API Rest?</a:t>
            </a:r>
            <a:endParaRPr sz="3200">
              <a:solidFill>
                <a:srgbClr val="7F7F7F"/>
              </a:solidFill>
              <a:latin typeface="Arial"/>
              <a:ea typeface="Arial"/>
              <a:cs typeface="Arial"/>
              <a:sym typeface="Arial"/>
            </a:endParaRPr>
          </a:p>
        </p:txBody>
      </p:sp>
      <p:sp>
        <p:nvSpPr>
          <p:cNvPr id="474" name="Google Shape;474;p42"/>
          <p:cNvSpPr/>
          <p:nvPr/>
        </p:nvSpPr>
        <p:spPr>
          <a:xfrm>
            <a:off x="-248451" y="1902253"/>
            <a:ext cx="4960044" cy="2253343"/>
          </a:xfrm>
          <a:prstGeom prst="roundRect">
            <a:avLst>
              <a:gd name="adj" fmla="val 2971"/>
            </a:avLst>
          </a:prstGeom>
          <a:gradFill>
            <a:gsLst>
              <a:gs pos="0">
                <a:srgbClr val="451539"/>
              </a:gs>
              <a:gs pos="50000">
                <a:srgbClr val="641F53"/>
              </a:gs>
              <a:gs pos="100000">
                <a:srgbClr val="782663"/>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75" name="Google Shape;475;p42"/>
          <p:cNvSpPr txBox="1"/>
          <p:nvPr/>
        </p:nvSpPr>
        <p:spPr>
          <a:xfrm>
            <a:off x="754747" y="2207978"/>
            <a:ext cx="2880023" cy="1631175"/>
          </a:xfrm>
          <a:prstGeom prst="rect">
            <a:avLst/>
          </a:prstGeom>
          <a:noFill/>
          <a:ln>
            <a:noFill/>
          </a:ln>
        </p:spPr>
        <p:txBody>
          <a:bodyPr spcFirstLastPara="1" wrap="square" lIns="91425" tIns="45700" rIns="91425" bIns="45700" anchor="t" anchorCtr="0">
            <a:spAutoFit/>
          </a:bodyPr>
          <a:lstStyle/>
          <a:p>
            <a:pPr algn="just"/>
            <a:r>
              <a:rPr lang="es-ES" sz="2000" dirty="0">
                <a:solidFill>
                  <a:schemeClr val="lt1"/>
                </a:solidFill>
                <a:latin typeface="Calibri"/>
                <a:ea typeface="Calibri"/>
                <a:cs typeface="Calibri"/>
                <a:sym typeface="Calibri"/>
              </a:rPr>
              <a:t>Para este ejemplo, utilizaremos el servicio que pone a disposición un listado de posts de una red social.</a:t>
            </a:r>
            <a:endParaRPr lang="es-ES" sz="2000" dirty="0">
              <a:solidFill>
                <a:schemeClr val="lt1"/>
              </a:solidFill>
            </a:endParaRPr>
          </a:p>
        </p:txBody>
      </p:sp>
      <p:sp>
        <p:nvSpPr>
          <p:cNvPr id="476" name="Google Shape;476;p42"/>
          <p:cNvSpPr/>
          <p:nvPr/>
        </p:nvSpPr>
        <p:spPr>
          <a:xfrm>
            <a:off x="3835405" y="1036481"/>
            <a:ext cx="7676365" cy="5083153"/>
          </a:xfrm>
          <a:prstGeom prst="roundRect">
            <a:avLst>
              <a:gd name="adj" fmla="val 2971"/>
            </a:avLst>
          </a:prstGeom>
          <a:solidFill>
            <a:schemeClr val="lt1"/>
          </a:solidFill>
          <a:ln w="38100" cap="flat" cmpd="sng">
            <a:solidFill>
              <a:srgbClr val="732C6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477" name="Google Shape;477;p42"/>
          <p:cNvPicPr preferRelativeResize="0"/>
          <p:nvPr/>
        </p:nvPicPr>
        <p:blipFill rotWithShape="1">
          <a:blip r:embed="rId3">
            <a:alphaModFix/>
          </a:blip>
          <a:srcRect/>
          <a:stretch/>
        </p:blipFill>
        <p:spPr>
          <a:xfrm>
            <a:off x="3989763" y="1264365"/>
            <a:ext cx="7334991" cy="4670928"/>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473"/>
                                        </p:tgtEl>
                                        <p:attrNameLst>
                                          <p:attrName>style.visibility</p:attrName>
                                        </p:attrNameLst>
                                      </p:cBhvr>
                                      <p:to>
                                        <p:strVal val="visible"/>
                                      </p:to>
                                    </p:set>
                                    <p:animEffect transition="in" filter="fade">
                                      <p:cBhvr>
                                        <p:cTn id="7" dur="500"/>
                                        <p:tgtEl>
                                          <p:spTgt spid="4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481"/>
        <p:cNvGrpSpPr/>
        <p:nvPr/>
      </p:nvGrpSpPr>
      <p:grpSpPr>
        <a:xfrm>
          <a:off x="0" y="0"/>
          <a:ext cx="0" cy="0"/>
          <a:chOff x="0" y="0"/>
          <a:chExt cx="0" cy="0"/>
        </a:xfrm>
      </p:grpSpPr>
      <p:sp>
        <p:nvSpPr>
          <p:cNvPr id="482" name="Google Shape;482;p43"/>
          <p:cNvSpPr txBox="1"/>
          <p:nvPr/>
        </p:nvSpPr>
        <p:spPr>
          <a:xfrm>
            <a:off x="1881796" y="426705"/>
            <a:ext cx="10782300" cy="731156"/>
          </a:xfrm>
          <a:prstGeom prst="rect">
            <a:avLst/>
          </a:prstGeom>
          <a:noFill/>
          <a:ln>
            <a:noFill/>
          </a:ln>
        </p:spPr>
        <p:txBody>
          <a:bodyPr spcFirstLastPara="1" wrap="square" lIns="91425" tIns="45700" rIns="91425" bIns="45700" anchor="ctr" anchorCtr="0">
            <a:noAutofit/>
          </a:bodyPr>
          <a:lstStyle/>
          <a:p>
            <a:pPr marL="0" marR="0" lvl="0" indent="0" algn="just" rtl="0">
              <a:lnSpc>
                <a:spcPct val="90000"/>
              </a:lnSpc>
              <a:spcBef>
                <a:spcPts val="0"/>
              </a:spcBef>
              <a:spcAft>
                <a:spcPts val="0"/>
              </a:spcAft>
              <a:buNone/>
            </a:pPr>
            <a:r>
              <a:rPr lang="es-ES" sz="3200">
                <a:solidFill>
                  <a:srgbClr val="7F7F7F"/>
                </a:solidFill>
                <a:latin typeface="Arial"/>
                <a:ea typeface="Arial"/>
                <a:cs typeface="Arial"/>
                <a:sym typeface="Arial"/>
              </a:rPr>
              <a:t>Consumiendo una API Rest</a:t>
            </a:r>
            <a:endParaRPr sz="3200">
              <a:solidFill>
                <a:srgbClr val="7F7F7F"/>
              </a:solidFill>
              <a:latin typeface="Arial"/>
              <a:ea typeface="Arial"/>
              <a:cs typeface="Arial"/>
              <a:sym typeface="Arial"/>
            </a:endParaRPr>
          </a:p>
        </p:txBody>
      </p:sp>
      <p:sp>
        <p:nvSpPr>
          <p:cNvPr id="483" name="Google Shape;483;p43"/>
          <p:cNvSpPr/>
          <p:nvPr/>
        </p:nvSpPr>
        <p:spPr>
          <a:xfrm>
            <a:off x="-313765" y="1377567"/>
            <a:ext cx="12788794" cy="1148166"/>
          </a:xfrm>
          <a:prstGeom prst="roundRect">
            <a:avLst>
              <a:gd name="adj" fmla="val 2971"/>
            </a:avLst>
          </a:prstGeom>
          <a:gradFill>
            <a:gsLst>
              <a:gs pos="0">
                <a:srgbClr val="451539"/>
              </a:gs>
              <a:gs pos="50000">
                <a:srgbClr val="641F53"/>
              </a:gs>
              <a:gs pos="100000">
                <a:srgbClr val="782663"/>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84" name="Google Shape;484;p43"/>
          <p:cNvSpPr txBox="1"/>
          <p:nvPr/>
        </p:nvSpPr>
        <p:spPr>
          <a:xfrm>
            <a:off x="1885559" y="1575915"/>
            <a:ext cx="8499213" cy="707846"/>
          </a:xfrm>
          <a:prstGeom prst="rect">
            <a:avLst/>
          </a:prstGeom>
          <a:noFill/>
          <a:ln>
            <a:noFill/>
          </a:ln>
        </p:spPr>
        <p:txBody>
          <a:bodyPr spcFirstLastPara="1" wrap="square" lIns="91425" tIns="45700" rIns="91425" bIns="45700" anchor="t" anchorCtr="0">
            <a:spAutoFit/>
          </a:bodyPr>
          <a:lstStyle/>
          <a:p>
            <a:pPr marL="0" marR="0" lvl="0" indent="0" rtl="0">
              <a:spcBef>
                <a:spcPts val="0"/>
              </a:spcBef>
              <a:spcAft>
                <a:spcPts val="0"/>
              </a:spcAft>
              <a:buNone/>
            </a:pPr>
            <a:r>
              <a:rPr lang="es-ES" sz="2000" dirty="0">
                <a:solidFill>
                  <a:schemeClr val="lt1"/>
                </a:solidFill>
                <a:latin typeface="Calibri"/>
                <a:ea typeface="Calibri"/>
                <a:cs typeface="Calibri"/>
                <a:sym typeface="Arial"/>
              </a:rPr>
              <a:t>Para realizar </a:t>
            </a:r>
            <a:r>
              <a:rPr lang="es-ES" sz="2000" b="1" err="1">
                <a:solidFill>
                  <a:schemeClr val="lt1"/>
                </a:solidFill>
                <a:latin typeface="Calibri"/>
                <a:ea typeface="Calibri"/>
                <a:cs typeface="Calibri"/>
                <a:sym typeface="Arial"/>
              </a:rPr>
              <a:t>requests</a:t>
            </a:r>
            <a:r>
              <a:rPr lang="es-ES" sz="2000" b="1" dirty="0">
                <a:solidFill>
                  <a:schemeClr val="lt1"/>
                </a:solidFill>
                <a:latin typeface="Calibri"/>
                <a:ea typeface="Calibri"/>
                <a:cs typeface="Calibri"/>
                <a:sym typeface="Arial"/>
              </a:rPr>
              <a:t> </a:t>
            </a:r>
            <a:r>
              <a:rPr lang="es-ES" sz="2000" dirty="0">
                <a:solidFill>
                  <a:schemeClr val="lt1"/>
                </a:solidFill>
                <a:latin typeface="Calibri"/>
                <a:ea typeface="Calibri"/>
                <a:cs typeface="Calibri"/>
                <a:sym typeface="Arial"/>
              </a:rPr>
              <a:t>a una API </a:t>
            </a:r>
            <a:r>
              <a:rPr lang="es-ES" sz="2000" err="1">
                <a:solidFill>
                  <a:schemeClr val="lt1"/>
                </a:solidFill>
                <a:latin typeface="Calibri"/>
                <a:ea typeface="Calibri"/>
                <a:cs typeface="Calibri"/>
                <a:sym typeface="Arial"/>
              </a:rPr>
              <a:t>Rest</a:t>
            </a:r>
            <a:r>
              <a:rPr lang="es-ES" sz="2000" dirty="0">
                <a:solidFill>
                  <a:schemeClr val="lt1"/>
                </a:solidFill>
                <a:latin typeface="Calibri"/>
                <a:ea typeface="Calibri"/>
                <a:cs typeface="Calibri"/>
                <a:sym typeface="Arial"/>
              </a:rPr>
              <a:t>, debemos importar la librería </a:t>
            </a:r>
            <a:r>
              <a:rPr lang="es-ES" sz="2000" b="1" err="1">
                <a:solidFill>
                  <a:schemeClr val="lt1"/>
                </a:solidFill>
                <a:latin typeface="Calibri"/>
                <a:ea typeface="Calibri"/>
                <a:cs typeface="Calibri"/>
                <a:sym typeface="Arial"/>
              </a:rPr>
              <a:t>requests</a:t>
            </a:r>
            <a:r>
              <a:rPr lang="es-ES" sz="2000" dirty="0">
                <a:solidFill>
                  <a:schemeClr val="lt1"/>
                </a:solidFill>
                <a:latin typeface="Calibri"/>
                <a:ea typeface="Calibri"/>
                <a:cs typeface="Calibri"/>
                <a:sym typeface="Arial"/>
              </a:rPr>
              <a:t>, que es parte de la librería estándar de Python.</a:t>
            </a:r>
            <a:endParaRPr lang="es-ES" sz="2000" dirty="0">
              <a:solidFill>
                <a:schemeClr val="lt1"/>
              </a:solidFill>
              <a:latin typeface="Calibri"/>
              <a:ea typeface="Calibri"/>
              <a:cs typeface="Calibri"/>
            </a:endParaRPr>
          </a:p>
        </p:txBody>
      </p:sp>
      <p:sp>
        <p:nvSpPr>
          <p:cNvPr id="485" name="Google Shape;485;p43"/>
          <p:cNvSpPr/>
          <p:nvPr/>
        </p:nvSpPr>
        <p:spPr>
          <a:xfrm>
            <a:off x="1881639" y="2977384"/>
            <a:ext cx="8315731" cy="2172838"/>
          </a:xfrm>
          <a:prstGeom prst="roundRect">
            <a:avLst>
              <a:gd name="adj" fmla="val 2971"/>
            </a:avLst>
          </a:prstGeom>
          <a:solidFill>
            <a:schemeClr val="lt1"/>
          </a:solidFill>
          <a:ln w="38100" cap="flat" cmpd="sng">
            <a:solidFill>
              <a:srgbClr val="732C6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486" name="Google Shape;486;p43"/>
          <p:cNvPicPr preferRelativeResize="0"/>
          <p:nvPr/>
        </p:nvPicPr>
        <p:blipFill rotWithShape="1">
          <a:blip r:embed="rId3">
            <a:alphaModFix/>
          </a:blip>
          <a:srcRect/>
          <a:stretch/>
        </p:blipFill>
        <p:spPr>
          <a:xfrm>
            <a:off x="2144115" y="3173091"/>
            <a:ext cx="7706801" cy="1781424"/>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482"/>
                                        </p:tgtEl>
                                        <p:attrNameLst>
                                          <p:attrName>style.visibility</p:attrName>
                                        </p:attrNameLst>
                                      </p:cBhvr>
                                      <p:to>
                                        <p:strVal val="visible"/>
                                      </p:to>
                                    </p:set>
                                    <p:animEffect transition="in" filter="fade">
                                      <p:cBhvr>
                                        <p:cTn id="7" dur="500"/>
                                        <p:tgtEl>
                                          <p:spTgt spid="48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490"/>
        <p:cNvGrpSpPr/>
        <p:nvPr/>
      </p:nvGrpSpPr>
      <p:grpSpPr>
        <a:xfrm>
          <a:off x="0" y="0"/>
          <a:ext cx="0" cy="0"/>
          <a:chOff x="0" y="0"/>
          <a:chExt cx="0" cy="0"/>
        </a:xfrm>
      </p:grpSpPr>
      <p:sp>
        <p:nvSpPr>
          <p:cNvPr id="491" name="Google Shape;491;p44"/>
          <p:cNvSpPr txBox="1"/>
          <p:nvPr/>
        </p:nvSpPr>
        <p:spPr>
          <a:xfrm>
            <a:off x="1984986" y="297846"/>
            <a:ext cx="10782300" cy="731156"/>
          </a:xfrm>
          <a:prstGeom prst="rect">
            <a:avLst/>
          </a:prstGeom>
          <a:noFill/>
          <a:ln>
            <a:noFill/>
          </a:ln>
        </p:spPr>
        <p:txBody>
          <a:bodyPr spcFirstLastPara="1" wrap="square" lIns="91425" tIns="45700" rIns="91425" bIns="45700" anchor="ctr" anchorCtr="0">
            <a:noAutofit/>
          </a:bodyPr>
          <a:lstStyle/>
          <a:p>
            <a:pPr marL="0" marR="0" lvl="0" indent="0" algn="just" rtl="0">
              <a:lnSpc>
                <a:spcPct val="90000"/>
              </a:lnSpc>
              <a:spcBef>
                <a:spcPts val="0"/>
              </a:spcBef>
              <a:spcAft>
                <a:spcPts val="0"/>
              </a:spcAft>
              <a:buNone/>
            </a:pPr>
            <a:r>
              <a:rPr lang="es-ES" sz="3200">
                <a:solidFill>
                  <a:srgbClr val="7F7F7F"/>
                </a:solidFill>
                <a:latin typeface="Arial"/>
                <a:ea typeface="Arial"/>
                <a:cs typeface="Arial"/>
                <a:sym typeface="Arial"/>
              </a:rPr>
              <a:t>Consumiendo una API Rest</a:t>
            </a:r>
            <a:endParaRPr sz="3200">
              <a:solidFill>
                <a:srgbClr val="7F7F7F"/>
              </a:solidFill>
              <a:latin typeface="Arial"/>
              <a:ea typeface="Arial"/>
              <a:cs typeface="Arial"/>
              <a:sym typeface="Arial"/>
            </a:endParaRPr>
          </a:p>
        </p:txBody>
      </p:sp>
      <p:sp>
        <p:nvSpPr>
          <p:cNvPr id="492" name="Google Shape;492;p44"/>
          <p:cNvSpPr/>
          <p:nvPr/>
        </p:nvSpPr>
        <p:spPr>
          <a:xfrm>
            <a:off x="-466165" y="1159342"/>
            <a:ext cx="12941194" cy="1043923"/>
          </a:xfrm>
          <a:prstGeom prst="roundRect">
            <a:avLst>
              <a:gd name="adj" fmla="val 2971"/>
            </a:avLst>
          </a:prstGeom>
          <a:gradFill>
            <a:gsLst>
              <a:gs pos="0">
                <a:srgbClr val="451539"/>
              </a:gs>
              <a:gs pos="50000">
                <a:srgbClr val="641F53"/>
              </a:gs>
              <a:gs pos="100000">
                <a:srgbClr val="782663"/>
              </a:gs>
            </a:gsLst>
            <a:lin ang="2700000" scaled="0"/>
          </a:gradFill>
          <a:ln w="12700" cap="flat" cmpd="sng">
            <a:no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93" name="Google Shape;493;p44"/>
          <p:cNvSpPr txBox="1"/>
          <p:nvPr/>
        </p:nvSpPr>
        <p:spPr>
          <a:xfrm>
            <a:off x="1985600" y="1306996"/>
            <a:ext cx="8100015" cy="707846"/>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2000">
                <a:solidFill>
                  <a:schemeClr val="lt1"/>
                </a:solidFill>
                <a:latin typeface="Calibri"/>
                <a:ea typeface="Calibri"/>
                <a:cs typeface="Calibri"/>
                <a:sym typeface="Calibri"/>
              </a:rPr>
              <a:t>Posteriormente, la respuesta la podemos interpretar como un dataframe con la función </a:t>
            </a:r>
            <a:r>
              <a:rPr lang="es-ES" sz="2000" b="1">
                <a:solidFill>
                  <a:schemeClr val="lt1"/>
                </a:solidFill>
                <a:latin typeface="Calibri"/>
                <a:ea typeface="Calibri"/>
                <a:cs typeface="Calibri"/>
                <a:sym typeface="Calibri"/>
              </a:rPr>
              <a:t>json_normalize().</a:t>
            </a:r>
            <a:endParaRPr lang="es-ES" sz="2000"/>
          </a:p>
        </p:txBody>
      </p:sp>
      <p:sp>
        <p:nvSpPr>
          <p:cNvPr id="494" name="Google Shape;494;p44"/>
          <p:cNvSpPr/>
          <p:nvPr/>
        </p:nvSpPr>
        <p:spPr>
          <a:xfrm>
            <a:off x="1981200" y="2454729"/>
            <a:ext cx="8115299" cy="3477462"/>
          </a:xfrm>
          <a:prstGeom prst="roundRect">
            <a:avLst>
              <a:gd name="adj" fmla="val 2971"/>
            </a:avLst>
          </a:prstGeom>
          <a:solidFill>
            <a:schemeClr val="lt1"/>
          </a:solidFill>
          <a:ln w="38100" cap="flat" cmpd="sng">
            <a:solidFill>
              <a:srgbClr val="732C6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495" name="Google Shape;495;p44"/>
          <p:cNvPicPr preferRelativeResize="0"/>
          <p:nvPr/>
        </p:nvPicPr>
        <p:blipFill rotWithShape="1">
          <a:blip r:embed="rId3">
            <a:alphaModFix/>
          </a:blip>
          <a:srcRect/>
          <a:stretch/>
        </p:blipFill>
        <p:spPr>
          <a:xfrm>
            <a:off x="2211438" y="2694325"/>
            <a:ext cx="7678222" cy="2991267"/>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491"/>
                                        </p:tgtEl>
                                        <p:attrNameLst>
                                          <p:attrName>style.visibility</p:attrName>
                                        </p:attrNameLst>
                                      </p:cBhvr>
                                      <p:to>
                                        <p:strVal val="visible"/>
                                      </p:to>
                                    </p:set>
                                    <p:animEffect transition="in" filter="fade">
                                      <p:cBhvr>
                                        <p:cTn id="7" dur="500"/>
                                        <p:tgtEl>
                                          <p:spTgt spid="4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499"/>
        <p:cNvGrpSpPr/>
        <p:nvPr/>
      </p:nvGrpSpPr>
      <p:grpSpPr>
        <a:xfrm>
          <a:off x="0" y="0"/>
          <a:ext cx="0" cy="0"/>
          <a:chOff x="0" y="0"/>
          <a:chExt cx="0" cy="0"/>
        </a:xfrm>
      </p:grpSpPr>
      <p:sp>
        <p:nvSpPr>
          <p:cNvPr id="500" name="Google Shape;500;p45"/>
          <p:cNvSpPr txBox="1"/>
          <p:nvPr/>
        </p:nvSpPr>
        <p:spPr>
          <a:xfrm>
            <a:off x="724305" y="3627626"/>
            <a:ext cx="10782300" cy="731156"/>
          </a:xfrm>
          <a:prstGeom prst="rect">
            <a:avLst/>
          </a:prstGeom>
          <a:noFill/>
          <a:ln>
            <a:noFill/>
          </a:ln>
        </p:spPr>
        <p:txBody>
          <a:bodyPr spcFirstLastPara="1" wrap="square" lIns="91425" tIns="45700" rIns="91425" bIns="45700" anchor="ctr" anchorCtr="0">
            <a:noAutofit/>
          </a:bodyPr>
          <a:lstStyle/>
          <a:p>
            <a:pPr marL="0" marR="0" lvl="0" indent="0" algn="just" rtl="0">
              <a:lnSpc>
                <a:spcPct val="90000"/>
              </a:lnSpc>
              <a:spcBef>
                <a:spcPts val="0"/>
              </a:spcBef>
              <a:spcAft>
                <a:spcPts val="0"/>
              </a:spcAft>
              <a:buNone/>
            </a:pPr>
            <a:r>
              <a:rPr lang="es-ES" sz="3200">
                <a:solidFill>
                  <a:srgbClr val="7F7F7F"/>
                </a:solidFill>
                <a:latin typeface="Arial"/>
                <a:ea typeface="Arial"/>
                <a:cs typeface="Arial"/>
                <a:sym typeface="Arial"/>
              </a:rPr>
              <a:t>Web Scraping</a:t>
            </a:r>
            <a:endParaRPr sz="3200">
              <a:solidFill>
                <a:srgbClr val="7F7F7F"/>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500"/>
                                        </p:tgtEl>
                                        <p:attrNameLst>
                                          <p:attrName>style.visibility</p:attrName>
                                        </p:attrNameLst>
                                      </p:cBhvr>
                                      <p:to>
                                        <p:strVal val="visible"/>
                                      </p:to>
                                    </p:set>
                                    <p:animEffect transition="in" filter="fade">
                                      <p:cBhvr>
                                        <p:cTn id="7" dur="500"/>
                                        <p:tgtEl>
                                          <p:spTgt spid="5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504"/>
        <p:cNvGrpSpPr/>
        <p:nvPr/>
      </p:nvGrpSpPr>
      <p:grpSpPr>
        <a:xfrm>
          <a:off x="0" y="0"/>
          <a:ext cx="0" cy="0"/>
          <a:chOff x="0" y="0"/>
          <a:chExt cx="0" cy="0"/>
        </a:xfrm>
      </p:grpSpPr>
      <p:sp>
        <p:nvSpPr>
          <p:cNvPr id="505" name="Google Shape;505;p46"/>
          <p:cNvSpPr/>
          <p:nvPr/>
        </p:nvSpPr>
        <p:spPr>
          <a:xfrm>
            <a:off x="-252550" y="1706881"/>
            <a:ext cx="6444343" cy="3163308"/>
          </a:xfrm>
          <a:prstGeom prst="roundRect">
            <a:avLst>
              <a:gd name="adj" fmla="val 2971"/>
            </a:avLst>
          </a:prstGeom>
          <a:gradFill>
            <a:gsLst>
              <a:gs pos="0">
                <a:srgbClr val="451539"/>
              </a:gs>
              <a:gs pos="50000">
                <a:srgbClr val="641F53"/>
              </a:gs>
              <a:gs pos="100000">
                <a:srgbClr val="782663"/>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06" name="Google Shape;506;p46"/>
          <p:cNvSpPr txBox="1"/>
          <p:nvPr/>
        </p:nvSpPr>
        <p:spPr>
          <a:xfrm>
            <a:off x="714956" y="683785"/>
            <a:ext cx="11229990" cy="683966"/>
          </a:xfrm>
          <a:prstGeom prst="rect">
            <a:avLst/>
          </a:prstGeom>
          <a:noFill/>
          <a:ln>
            <a:noFill/>
          </a:ln>
        </p:spPr>
        <p:txBody>
          <a:bodyPr spcFirstLastPara="1" wrap="square" lIns="91425" tIns="45700" rIns="91425" bIns="45700" anchor="ctr" anchorCtr="0">
            <a:noAutofit/>
          </a:bodyPr>
          <a:lstStyle/>
          <a:p>
            <a:pPr marL="0" marR="0" lvl="0" indent="0" algn="just" rtl="0">
              <a:lnSpc>
                <a:spcPct val="150000"/>
              </a:lnSpc>
              <a:spcBef>
                <a:spcPts val="0"/>
              </a:spcBef>
              <a:spcAft>
                <a:spcPts val="0"/>
              </a:spcAft>
              <a:buNone/>
            </a:pPr>
            <a:r>
              <a:rPr lang="es-ES" sz="3200">
                <a:solidFill>
                  <a:srgbClr val="7F7F7F"/>
                </a:solidFill>
                <a:latin typeface="Arial"/>
                <a:ea typeface="Arial"/>
                <a:cs typeface="Arial"/>
                <a:sym typeface="Arial"/>
              </a:rPr>
              <a:t>Web Scraping</a:t>
            </a:r>
            <a:endParaRPr sz="3200">
              <a:solidFill>
                <a:srgbClr val="7F7F7F"/>
              </a:solidFill>
              <a:latin typeface="Arial"/>
              <a:ea typeface="Arial"/>
              <a:cs typeface="Arial"/>
              <a:sym typeface="Arial"/>
            </a:endParaRPr>
          </a:p>
        </p:txBody>
      </p:sp>
      <p:sp>
        <p:nvSpPr>
          <p:cNvPr id="507" name="Google Shape;507;p46"/>
          <p:cNvSpPr txBox="1"/>
          <p:nvPr/>
        </p:nvSpPr>
        <p:spPr>
          <a:xfrm>
            <a:off x="714956" y="1976514"/>
            <a:ext cx="5199461" cy="2554545"/>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600">
                <a:solidFill>
                  <a:schemeClr val="lt1"/>
                </a:solidFill>
                <a:latin typeface="Calibri"/>
                <a:ea typeface="Calibri"/>
                <a:cs typeface="Calibri"/>
                <a:sym typeface="Calibri"/>
              </a:rPr>
              <a:t>Muchas veces necesitamos obtener datos que están publicadas en distintas páginas web, con mucho menos estructuración de la que nos brinda la librería Pandas. Entonces, es necesario el uso de herramientas más sofisticadas para la obtención de datos.</a:t>
            </a:r>
            <a:endParaRPr/>
          </a:p>
          <a:p>
            <a:pPr marL="0" marR="0" lvl="0" indent="0" algn="just" rtl="0">
              <a:spcBef>
                <a:spcPts val="0"/>
              </a:spcBef>
              <a:spcAft>
                <a:spcPts val="0"/>
              </a:spcAft>
              <a:buNone/>
            </a:pPr>
            <a:endParaRPr sz="1600">
              <a:solidFill>
                <a:schemeClr val="lt1"/>
              </a:solidFill>
              <a:latin typeface="Calibri"/>
              <a:ea typeface="Calibri"/>
              <a:cs typeface="Calibri"/>
              <a:sym typeface="Calibri"/>
            </a:endParaRPr>
          </a:p>
          <a:p>
            <a:pPr marL="0" marR="0" lvl="0" indent="0" algn="just" rtl="0">
              <a:spcBef>
                <a:spcPts val="0"/>
              </a:spcBef>
              <a:spcAft>
                <a:spcPts val="0"/>
              </a:spcAft>
              <a:buNone/>
            </a:pPr>
            <a:r>
              <a:rPr lang="es-ES" sz="1600">
                <a:solidFill>
                  <a:schemeClr val="lt1"/>
                </a:solidFill>
                <a:latin typeface="Calibri"/>
                <a:ea typeface="Calibri"/>
                <a:cs typeface="Calibri"/>
                <a:sym typeface="Calibri"/>
              </a:rPr>
              <a:t>Un web </a:t>
            </a:r>
            <a:r>
              <a:rPr lang="es-ES" sz="1600" b="1">
                <a:solidFill>
                  <a:schemeClr val="lt1"/>
                </a:solidFill>
                <a:latin typeface="Calibri"/>
                <a:ea typeface="Calibri"/>
                <a:cs typeface="Calibri"/>
                <a:sym typeface="Calibri"/>
              </a:rPr>
              <a:t>scraper</a:t>
            </a:r>
            <a:r>
              <a:rPr lang="es-ES" sz="1600">
                <a:solidFill>
                  <a:schemeClr val="lt1"/>
                </a:solidFill>
                <a:latin typeface="Calibri"/>
                <a:ea typeface="Calibri"/>
                <a:cs typeface="Calibri"/>
                <a:sym typeface="Calibri"/>
              </a:rPr>
              <a:t> es una herramienta especializada que permite la extracción de textos desde sitios y portales web completos, a partir de etiquetas y selectores, con el propósito de armar una base de datos de información. </a:t>
            </a:r>
            <a:endParaRPr/>
          </a:p>
        </p:txBody>
      </p:sp>
      <p:sp>
        <p:nvSpPr>
          <p:cNvPr id="508" name="Google Shape;508;p46"/>
          <p:cNvSpPr/>
          <p:nvPr/>
        </p:nvSpPr>
        <p:spPr>
          <a:xfrm>
            <a:off x="6236073" y="2564635"/>
            <a:ext cx="5708874" cy="3060475"/>
          </a:xfrm>
          <a:prstGeom prst="roundRect">
            <a:avLst>
              <a:gd name="adj" fmla="val 2971"/>
            </a:avLst>
          </a:prstGeom>
          <a:solidFill>
            <a:schemeClr val="lt1"/>
          </a:solidFill>
          <a:ln w="38100" cap="flat" cmpd="sng">
            <a:solidFill>
              <a:srgbClr val="732C6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509" name="Google Shape;509;p46"/>
          <p:cNvPicPr preferRelativeResize="0"/>
          <p:nvPr/>
        </p:nvPicPr>
        <p:blipFill rotWithShape="1">
          <a:blip r:embed="rId3">
            <a:alphaModFix/>
          </a:blip>
          <a:srcRect/>
          <a:stretch/>
        </p:blipFill>
        <p:spPr>
          <a:xfrm>
            <a:off x="381152" y="2090107"/>
            <a:ext cx="289524" cy="289524"/>
          </a:xfrm>
          <a:prstGeom prst="rect">
            <a:avLst/>
          </a:prstGeom>
          <a:noFill/>
          <a:ln>
            <a:noFill/>
          </a:ln>
        </p:spPr>
      </p:pic>
      <p:pic>
        <p:nvPicPr>
          <p:cNvPr id="510" name="Google Shape;510;p46"/>
          <p:cNvPicPr preferRelativeResize="0"/>
          <p:nvPr/>
        </p:nvPicPr>
        <p:blipFill rotWithShape="1">
          <a:blip r:embed="rId3">
            <a:alphaModFix/>
          </a:blip>
          <a:srcRect/>
          <a:stretch/>
        </p:blipFill>
        <p:spPr>
          <a:xfrm>
            <a:off x="345594" y="3594757"/>
            <a:ext cx="289524" cy="289524"/>
          </a:xfrm>
          <a:prstGeom prst="rect">
            <a:avLst/>
          </a:prstGeom>
          <a:noFill/>
          <a:ln>
            <a:noFill/>
          </a:ln>
        </p:spPr>
      </p:pic>
      <p:pic>
        <p:nvPicPr>
          <p:cNvPr id="511" name="Google Shape;511;p46"/>
          <p:cNvPicPr preferRelativeResize="0"/>
          <p:nvPr/>
        </p:nvPicPr>
        <p:blipFill rotWithShape="1">
          <a:blip r:embed="rId4">
            <a:alphaModFix/>
          </a:blip>
          <a:srcRect r="2871"/>
          <a:stretch/>
        </p:blipFill>
        <p:spPr>
          <a:xfrm>
            <a:off x="6445934" y="2811800"/>
            <a:ext cx="5289151" cy="2381438"/>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506"/>
                                        </p:tgtEl>
                                        <p:attrNameLst>
                                          <p:attrName>style.visibility</p:attrName>
                                        </p:attrNameLst>
                                      </p:cBhvr>
                                      <p:to>
                                        <p:strVal val="visible"/>
                                      </p:to>
                                    </p:set>
                                    <p:animEffect transition="in" filter="fade">
                                      <p:cBhvr>
                                        <p:cTn id="7" dur="500"/>
                                        <p:tgtEl>
                                          <p:spTgt spid="5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515"/>
        <p:cNvGrpSpPr/>
        <p:nvPr/>
      </p:nvGrpSpPr>
      <p:grpSpPr>
        <a:xfrm>
          <a:off x="0" y="0"/>
          <a:ext cx="0" cy="0"/>
          <a:chOff x="0" y="0"/>
          <a:chExt cx="0" cy="0"/>
        </a:xfrm>
      </p:grpSpPr>
      <p:sp>
        <p:nvSpPr>
          <p:cNvPr id="516" name="Google Shape;516;p47"/>
          <p:cNvSpPr txBox="1"/>
          <p:nvPr/>
        </p:nvSpPr>
        <p:spPr>
          <a:xfrm>
            <a:off x="1829533" y="571812"/>
            <a:ext cx="8598518" cy="731156"/>
          </a:xfrm>
          <a:prstGeom prst="rect">
            <a:avLst/>
          </a:prstGeom>
          <a:noFill/>
          <a:ln>
            <a:noFill/>
          </a:ln>
        </p:spPr>
        <p:txBody>
          <a:bodyPr spcFirstLastPara="1" wrap="square" lIns="91425" tIns="45700" rIns="91425" bIns="45700" anchor="ctr" anchorCtr="0">
            <a:noAutofit/>
          </a:bodyPr>
          <a:lstStyle/>
          <a:p>
            <a:pPr marL="0" marR="0" lvl="0" indent="0" algn="just" rtl="0">
              <a:lnSpc>
                <a:spcPct val="90000"/>
              </a:lnSpc>
              <a:spcBef>
                <a:spcPts val="0"/>
              </a:spcBef>
              <a:spcAft>
                <a:spcPts val="0"/>
              </a:spcAft>
              <a:buNone/>
            </a:pPr>
            <a:r>
              <a:rPr lang="es-ES" sz="3200">
                <a:solidFill>
                  <a:srgbClr val="7F7F7F"/>
                </a:solidFill>
                <a:latin typeface="Arial"/>
                <a:ea typeface="Arial"/>
                <a:cs typeface="Arial"/>
                <a:sym typeface="Arial"/>
              </a:rPr>
              <a:t>Web Scraping con Python</a:t>
            </a:r>
            <a:endParaRPr/>
          </a:p>
        </p:txBody>
      </p:sp>
      <p:sp>
        <p:nvSpPr>
          <p:cNvPr id="517" name="Google Shape;517;p47"/>
          <p:cNvSpPr/>
          <p:nvPr/>
        </p:nvSpPr>
        <p:spPr>
          <a:xfrm>
            <a:off x="1605064" y="1429966"/>
            <a:ext cx="8945632" cy="4135570"/>
          </a:xfrm>
          <a:prstGeom prst="roundRect">
            <a:avLst>
              <a:gd name="adj" fmla="val 2971"/>
            </a:avLst>
          </a:prstGeom>
          <a:gradFill>
            <a:gsLst>
              <a:gs pos="0">
                <a:srgbClr val="451539"/>
              </a:gs>
              <a:gs pos="50000">
                <a:srgbClr val="641F53"/>
              </a:gs>
              <a:gs pos="100000">
                <a:srgbClr val="782663"/>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18" name="Google Shape;518;p47"/>
          <p:cNvSpPr txBox="1"/>
          <p:nvPr/>
        </p:nvSpPr>
        <p:spPr>
          <a:xfrm>
            <a:off x="1829533" y="1645569"/>
            <a:ext cx="8496693" cy="3693319"/>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800">
                <a:solidFill>
                  <a:schemeClr val="lt1"/>
                </a:solidFill>
                <a:latin typeface="Calibri"/>
                <a:ea typeface="Calibri"/>
                <a:cs typeface="Calibri"/>
                <a:sym typeface="Calibri"/>
              </a:rPr>
              <a:t>¿Por qué web scraping con Python?</a:t>
            </a:r>
            <a:endParaRPr/>
          </a:p>
          <a:p>
            <a:pPr marL="0" marR="0" lvl="0" indent="0" algn="just" rtl="0">
              <a:spcBef>
                <a:spcPts val="0"/>
              </a:spcBef>
              <a:spcAft>
                <a:spcPts val="0"/>
              </a:spcAft>
              <a:buNone/>
            </a:pPr>
            <a:r>
              <a:rPr lang="es-ES" sz="1800">
                <a:solidFill>
                  <a:schemeClr val="lt1"/>
                </a:solidFill>
                <a:latin typeface="Calibri"/>
                <a:ea typeface="Calibri"/>
                <a:cs typeface="Calibri"/>
                <a:sym typeface="Calibri"/>
              </a:rPr>
              <a:t> </a:t>
            </a:r>
            <a:endParaRPr sz="1800">
              <a:solidFill>
                <a:schemeClr val="lt1"/>
              </a:solidFill>
              <a:latin typeface="Calibri"/>
              <a:ea typeface="Calibri"/>
              <a:cs typeface="Calibri"/>
              <a:sym typeface="Calibri"/>
            </a:endParaRPr>
          </a:p>
          <a:p>
            <a:pPr marL="0" marR="0" lvl="0" indent="0" algn="just" rtl="0">
              <a:spcBef>
                <a:spcPts val="0"/>
              </a:spcBef>
              <a:spcAft>
                <a:spcPts val="0"/>
              </a:spcAft>
              <a:buNone/>
            </a:pPr>
            <a:r>
              <a:rPr lang="es-ES" sz="1800">
                <a:solidFill>
                  <a:schemeClr val="lt1"/>
                </a:solidFill>
                <a:latin typeface="Calibri"/>
                <a:ea typeface="Calibri"/>
                <a:cs typeface="Calibri"/>
                <a:sym typeface="Calibri"/>
              </a:rPr>
              <a:t>Fundamentalmente, por ser un lenguaje intuitivo, fácil de usar y, por las librerías y herramientas que han surgido en torno al mismo para llevar a cabo esta técnica.</a:t>
            </a:r>
            <a:endParaRPr/>
          </a:p>
          <a:p>
            <a:pPr marL="0" marR="0" lvl="0" indent="0" algn="just" rtl="0">
              <a:spcBef>
                <a:spcPts val="0"/>
              </a:spcBef>
              <a:spcAft>
                <a:spcPts val="0"/>
              </a:spcAft>
              <a:buNone/>
            </a:pPr>
            <a:endParaRPr sz="1800">
              <a:solidFill>
                <a:schemeClr val="lt1"/>
              </a:solidFill>
              <a:latin typeface="Calibri"/>
              <a:ea typeface="Calibri"/>
              <a:cs typeface="Calibri"/>
              <a:sym typeface="Calibri"/>
            </a:endParaRPr>
          </a:p>
          <a:p>
            <a:pPr marL="0" marR="0" lvl="0" indent="0" algn="just" rtl="0">
              <a:spcBef>
                <a:spcPts val="0"/>
              </a:spcBef>
              <a:spcAft>
                <a:spcPts val="0"/>
              </a:spcAft>
              <a:buNone/>
            </a:pPr>
            <a:r>
              <a:rPr lang="es-ES" sz="1800">
                <a:solidFill>
                  <a:schemeClr val="lt1"/>
                </a:solidFill>
                <a:latin typeface="Calibri"/>
                <a:ea typeface="Calibri"/>
                <a:cs typeface="Calibri"/>
                <a:sym typeface="Calibri"/>
              </a:rPr>
              <a:t>En función del proyecto y sus características, existen dos alternativas:</a:t>
            </a:r>
            <a:endParaRPr/>
          </a:p>
          <a:p>
            <a:pPr marL="0" marR="0" lvl="0" indent="0" algn="just" rtl="0">
              <a:spcBef>
                <a:spcPts val="0"/>
              </a:spcBef>
              <a:spcAft>
                <a:spcPts val="0"/>
              </a:spcAft>
              <a:buNone/>
            </a:pPr>
            <a:endParaRPr sz="1800">
              <a:solidFill>
                <a:schemeClr val="lt1"/>
              </a:solidFill>
              <a:latin typeface="Calibri"/>
              <a:ea typeface="Calibri"/>
              <a:cs typeface="Calibri"/>
              <a:sym typeface="Calibri"/>
            </a:endParaRPr>
          </a:p>
          <a:p>
            <a:pPr marL="285750" marR="0" lvl="0" indent="-285750" algn="just" rtl="0">
              <a:spcBef>
                <a:spcPts val="0"/>
              </a:spcBef>
              <a:spcAft>
                <a:spcPts val="0"/>
              </a:spcAft>
              <a:buClr>
                <a:schemeClr val="lt1"/>
              </a:buClr>
              <a:buSzPts val="1800"/>
              <a:buFont typeface="Arial"/>
              <a:buChar char="•"/>
            </a:pPr>
            <a:r>
              <a:rPr lang="es-ES" sz="1800">
                <a:solidFill>
                  <a:schemeClr val="lt1"/>
                </a:solidFill>
                <a:latin typeface="Calibri"/>
                <a:ea typeface="Calibri"/>
                <a:cs typeface="Calibri"/>
                <a:sym typeface="Calibri"/>
              </a:rPr>
              <a:t>Utilizar las </a:t>
            </a:r>
            <a:r>
              <a:rPr lang="es-ES" sz="1800" b="1">
                <a:solidFill>
                  <a:schemeClr val="lt1"/>
                </a:solidFill>
                <a:latin typeface="Calibri"/>
                <a:ea typeface="Calibri"/>
                <a:cs typeface="Calibri"/>
                <a:sym typeface="Calibri"/>
              </a:rPr>
              <a:t>librerías requests</a:t>
            </a:r>
            <a:r>
              <a:rPr lang="es-ES" sz="1800">
                <a:solidFill>
                  <a:schemeClr val="lt1"/>
                </a:solidFill>
                <a:latin typeface="Calibri"/>
                <a:ea typeface="Calibri"/>
                <a:cs typeface="Calibri"/>
                <a:sym typeface="Calibri"/>
              </a:rPr>
              <a:t> y </a:t>
            </a:r>
            <a:r>
              <a:rPr lang="es-ES" sz="1800" b="1">
                <a:solidFill>
                  <a:schemeClr val="lt1"/>
                </a:solidFill>
                <a:latin typeface="Calibri"/>
                <a:ea typeface="Calibri"/>
                <a:cs typeface="Calibri"/>
                <a:sym typeface="Calibri"/>
              </a:rPr>
              <a:t>Beautiful Soup</a:t>
            </a:r>
            <a:r>
              <a:rPr lang="es-ES" sz="1800">
                <a:solidFill>
                  <a:schemeClr val="lt1"/>
                </a:solidFill>
                <a:latin typeface="Calibri"/>
                <a:ea typeface="Calibri"/>
                <a:cs typeface="Calibri"/>
                <a:sym typeface="Calibri"/>
              </a:rPr>
              <a:t> de manera conjunta (es lo que veremos en este tutorial).</a:t>
            </a:r>
            <a:endParaRPr/>
          </a:p>
          <a:p>
            <a:pPr marL="285750" marR="0" lvl="0" indent="-171450" algn="just" rtl="0">
              <a:spcBef>
                <a:spcPts val="0"/>
              </a:spcBef>
              <a:spcAft>
                <a:spcPts val="0"/>
              </a:spcAft>
              <a:buClr>
                <a:schemeClr val="dk1"/>
              </a:buClr>
              <a:buSzPts val="1800"/>
              <a:buFont typeface="Arial"/>
              <a:buNone/>
            </a:pPr>
            <a:endParaRPr sz="1800">
              <a:solidFill>
                <a:schemeClr val="lt1"/>
              </a:solidFill>
              <a:latin typeface="Calibri"/>
              <a:ea typeface="Calibri"/>
              <a:cs typeface="Calibri"/>
              <a:sym typeface="Calibri"/>
            </a:endParaRPr>
          </a:p>
          <a:p>
            <a:pPr marL="285750" marR="0" lvl="0" indent="-285750" algn="just" rtl="0">
              <a:spcBef>
                <a:spcPts val="0"/>
              </a:spcBef>
              <a:spcAft>
                <a:spcPts val="0"/>
              </a:spcAft>
              <a:buClr>
                <a:schemeClr val="lt1"/>
              </a:buClr>
              <a:buSzPts val="1800"/>
              <a:buFont typeface="Arial"/>
              <a:buChar char="•"/>
            </a:pPr>
            <a:r>
              <a:rPr lang="es-ES" sz="1800">
                <a:solidFill>
                  <a:schemeClr val="lt1"/>
                </a:solidFill>
                <a:latin typeface="Calibri"/>
                <a:ea typeface="Calibri"/>
                <a:cs typeface="Calibri"/>
                <a:sym typeface="Calibri"/>
              </a:rPr>
              <a:t>Utilizar el </a:t>
            </a:r>
            <a:r>
              <a:rPr lang="es-ES" sz="1800" b="1">
                <a:solidFill>
                  <a:schemeClr val="lt1"/>
                </a:solidFill>
                <a:latin typeface="Calibri"/>
                <a:ea typeface="Calibri"/>
                <a:cs typeface="Calibri"/>
                <a:sym typeface="Calibri"/>
              </a:rPr>
              <a:t>framework Scrapy</a:t>
            </a:r>
            <a:r>
              <a:rPr lang="es-ES" sz="1800">
                <a:solidFill>
                  <a:schemeClr val="lt1"/>
                </a:solidFill>
                <a:latin typeface="Calibri"/>
                <a:ea typeface="Calibri"/>
                <a:cs typeface="Calibri"/>
                <a:sym typeface="Calibri"/>
              </a:rPr>
              <a:t>. Este framework, además de hacer scraping (extraer información de una página) permite hacer crawling fácilmente (descubrir los enlaces de una web y navegar a través de ellos).</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516"/>
                                        </p:tgtEl>
                                        <p:attrNameLst>
                                          <p:attrName>style.visibility</p:attrName>
                                        </p:attrNameLst>
                                      </p:cBhvr>
                                      <p:to>
                                        <p:strVal val="visible"/>
                                      </p:to>
                                    </p:set>
                                    <p:animEffect transition="in" filter="fade">
                                      <p:cBhvr>
                                        <p:cTn id="7" dur="500"/>
                                        <p:tgtEl>
                                          <p:spTgt spid="5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522"/>
        <p:cNvGrpSpPr/>
        <p:nvPr/>
      </p:nvGrpSpPr>
      <p:grpSpPr>
        <a:xfrm>
          <a:off x="0" y="0"/>
          <a:ext cx="0" cy="0"/>
          <a:chOff x="0" y="0"/>
          <a:chExt cx="0" cy="0"/>
        </a:xfrm>
      </p:grpSpPr>
      <p:sp>
        <p:nvSpPr>
          <p:cNvPr id="523" name="Google Shape;523;p48"/>
          <p:cNvSpPr txBox="1"/>
          <p:nvPr/>
        </p:nvSpPr>
        <p:spPr>
          <a:xfrm>
            <a:off x="768485" y="367280"/>
            <a:ext cx="10718665" cy="731156"/>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None/>
            </a:pPr>
            <a:r>
              <a:rPr lang="es-ES" sz="3200">
                <a:solidFill>
                  <a:srgbClr val="7F7F7F"/>
                </a:solidFill>
                <a:latin typeface="Arial"/>
                <a:ea typeface="Arial"/>
                <a:cs typeface="Arial"/>
                <a:sym typeface="Arial"/>
              </a:rPr>
              <a:t>Beautiful Soup</a:t>
            </a:r>
            <a:endParaRPr sz="3200">
              <a:solidFill>
                <a:srgbClr val="7F7F7F"/>
              </a:solidFill>
              <a:latin typeface="Arial"/>
              <a:ea typeface="Arial"/>
              <a:cs typeface="Arial"/>
              <a:sym typeface="Arial"/>
            </a:endParaRPr>
          </a:p>
        </p:txBody>
      </p:sp>
      <p:sp>
        <p:nvSpPr>
          <p:cNvPr id="524" name="Google Shape;524;p48"/>
          <p:cNvSpPr/>
          <p:nvPr/>
        </p:nvSpPr>
        <p:spPr>
          <a:xfrm>
            <a:off x="-304800" y="1232253"/>
            <a:ext cx="6611193" cy="4911962"/>
          </a:xfrm>
          <a:prstGeom prst="roundRect">
            <a:avLst>
              <a:gd name="adj" fmla="val 2971"/>
            </a:avLst>
          </a:prstGeom>
          <a:gradFill>
            <a:gsLst>
              <a:gs pos="0">
                <a:srgbClr val="451539"/>
              </a:gs>
              <a:gs pos="50000">
                <a:srgbClr val="641F53"/>
              </a:gs>
              <a:gs pos="100000">
                <a:srgbClr val="782663"/>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25" name="Google Shape;525;p48"/>
          <p:cNvSpPr txBox="1"/>
          <p:nvPr/>
        </p:nvSpPr>
        <p:spPr>
          <a:xfrm>
            <a:off x="768485" y="1513184"/>
            <a:ext cx="5184844" cy="4247317"/>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800" b="1">
                <a:solidFill>
                  <a:schemeClr val="lt1"/>
                </a:solidFill>
                <a:latin typeface="Calibri"/>
                <a:ea typeface="Calibri"/>
                <a:cs typeface="Calibri"/>
                <a:sym typeface="Calibri"/>
              </a:rPr>
              <a:t>Beautiful Soup</a:t>
            </a:r>
            <a:r>
              <a:rPr lang="es-ES" sz="1800">
                <a:solidFill>
                  <a:schemeClr val="lt1"/>
                </a:solidFill>
                <a:latin typeface="Calibri"/>
                <a:ea typeface="Calibri"/>
                <a:cs typeface="Calibri"/>
                <a:sym typeface="Calibri"/>
              </a:rPr>
              <a:t> es una librería Python que permite extraer información de contenido en formato HTML o XML. Para usarla, es necesario especificar un parser, que es responsable de transformar un documento HTML o XML en un árbol complejo de objetos Python. Esto permite, por ejemplo, que podamos interactuar con los elementos de una página web como si estuviésemos utilizando las herramientas del desarrollador de un navegador.</a:t>
            </a:r>
            <a:endParaRPr/>
          </a:p>
          <a:p>
            <a:pPr marL="0" marR="0" lvl="0" indent="0" algn="just" rtl="0">
              <a:spcBef>
                <a:spcPts val="0"/>
              </a:spcBef>
              <a:spcAft>
                <a:spcPts val="0"/>
              </a:spcAft>
              <a:buNone/>
            </a:pPr>
            <a:r>
              <a:rPr lang="es-ES" sz="1800">
                <a:solidFill>
                  <a:schemeClr val="lt1"/>
                </a:solidFill>
                <a:latin typeface="Calibri"/>
                <a:ea typeface="Calibri"/>
                <a:cs typeface="Calibri"/>
                <a:sym typeface="Calibri"/>
              </a:rPr>
              <a:t>A la hora de extraer información de una web, uno de los </a:t>
            </a:r>
            <a:r>
              <a:rPr lang="es-ES" sz="1800" b="1">
                <a:solidFill>
                  <a:schemeClr val="lt1"/>
                </a:solidFill>
                <a:latin typeface="Calibri"/>
                <a:ea typeface="Calibri"/>
                <a:cs typeface="Calibri"/>
                <a:sym typeface="Calibri"/>
              </a:rPr>
              <a:t>parsers</a:t>
            </a:r>
            <a:r>
              <a:rPr lang="es-ES" sz="1800">
                <a:solidFill>
                  <a:schemeClr val="lt1"/>
                </a:solidFill>
                <a:latin typeface="Calibri"/>
                <a:ea typeface="Calibri"/>
                <a:cs typeface="Calibri"/>
                <a:sym typeface="Calibri"/>
              </a:rPr>
              <a:t> más utilizado es el parser HTML de lxml. </a:t>
            </a:r>
            <a:endParaRPr/>
          </a:p>
          <a:p>
            <a:pPr marL="0" marR="0" lvl="0" indent="0" algn="just" rtl="0">
              <a:spcBef>
                <a:spcPts val="0"/>
              </a:spcBef>
              <a:spcAft>
                <a:spcPts val="0"/>
              </a:spcAft>
              <a:buNone/>
            </a:pPr>
            <a:endParaRPr sz="1800">
              <a:solidFill>
                <a:schemeClr val="lt1"/>
              </a:solidFill>
              <a:latin typeface="Calibri"/>
              <a:ea typeface="Calibri"/>
              <a:cs typeface="Calibri"/>
              <a:sym typeface="Calibri"/>
            </a:endParaRPr>
          </a:p>
          <a:p>
            <a:pPr marL="0" marR="0" lvl="0" indent="0" algn="just" rtl="0">
              <a:spcBef>
                <a:spcPts val="0"/>
              </a:spcBef>
              <a:spcAft>
                <a:spcPts val="0"/>
              </a:spcAft>
              <a:buNone/>
            </a:pPr>
            <a:r>
              <a:rPr lang="es-ES" sz="1800">
                <a:solidFill>
                  <a:schemeClr val="lt1"/>
                </a:solidFill>
                <a:latin typeface="Calibri"/>
                <a:ea typeface="Calibri"/>
                <a:cs typeface="Calibri"/>
                <a:sym typeface="Calibri"/>
              </a:rPr>
              <a:t>A continuación, te muestro cómo instalar tanto la </a:t>
            </a:r>
            <a:r>
              <a:rPr lang="es-ES" sz="1800" b="1">
                <a:solidFill>
                  <a:schemeClr val="lt1"/>
                </a:solidFill>
                <a:latin typeface="Calibri"/>
                <a:ea typeface="Calibri"/>
                <a:cs typeface="Calibri"/>
                <a:sym typeface="Calibri"/>
              </a:rPr>
              <a:t>librería Beautiful Soup</a:t>
            </a:r>
            <a:r>
              <a:rPr lang="es-ES" sz="1800">
                <a:solidFill>
                  <a:schemeClr val="lt1"/>
                </a:solidFill>
                <a:latin typeface="Calibri"/>
                <a:ea typeface="Calibri"/>
                <a:cs typeface="Calibri"/>
                <a:sym typeface="Calibri"/>
              </a:rPr>
              <a:t> como el </a:t>
            </a:r>
            <a:r>
              <a:rPr lang="es-ES" sz="1800" b="1">
                <a:solidFill>
                  <a:schemeClr val="lt1"/>
                </a:solidFill>
                <a:latin typeface="Calibri"/>
                <a:ea typeface="Calibri"/>
                <a:cs typeface="Calibri"/>
                <a:sym typeface="Calibri"/>
              </a:rPr>
              <a:t>parser lxml</a:t>
            </a:r>
            <a:r>
              <a:rPr lang="es-ES" sz="1800">
                <a:solidFill>
                  <a:schemeClr val="lt1"/>
                </a:solidFill>
                <a:latin typeface="Calibri"/>
                <a:ea typeface="Calibri"/>
                <a:cs typeface="Calibri"/>
                <a:sym typeface="Calibri"/>
              </a:rPr>
              <a:t> utilizando el gestor de paquetes pip.</a:t>
            </a:r>
            <a:endParaRPr sz="1800">
              <a:solidFill>
                <a:schemeClr val="lt1"/>
              </a:solidFill>
              <a:latin typeface="Calibri"/>
              <a:ea typeface="Calibri"/>
              <a:cs typeface="Calibri"/>
              <a:sym typeface="Calibri"/>
            </a:endParaRPr>
          </a:p>
        </p:txBody>
      </p:sp>
      <p:sp>
        <p:nvSpPr>
          <p:cNvPr id="526" name="Google Shape;526;p48"/>
          <p:cNvSpPr/>
          <p:nvPr/>
        </p:nvSpPr>
        <p:spPr>
          <a:xfrm>
            <a:off x="6460375" y="1235384"/>
            <a:ext cx="5309543" cy="4832296"/>
          </a:xfrm>
          <a:prstGeom prst="roundRect">
            <a:avLst>
              <a:gd name="adj" fmla="val 2971"/>
            </a:avLst>
          </a:prstGeom>
          <a:solidFill>
            <a:schemeClr val="lt1"/>
          </a:solidFill>
          <a:ln w="38100" cap="flat" cmpd="sng">
            <a:solidFill>
              <a:srgbClr val="732C6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527" name="Google Shape;527;p48"/>
          <p:cNvPicPr preferRelativeResize="0"/>
          <p:nvPr/>
        </p:nvPicPr>
        <p:blipFill rotWithShape="1">
          <a:blip r:embed="rId3">
            <a:alphaModFix/>
          </a:blip>
          <a:srcRect/>
          <a:stretch/>
        </p:blipFill>
        <p:spPr>
          <a:xfrm>
            <a:off x="6577376" y="2098761"/>
            <a:ext cx="5075537" cy="1335668"/>
          </a:xfrm>
          <a:prstGeom prst="rect">
            <a:avLst/>
          </a:prstGeom>
          <a:noFill/>
          <a:ln>
            <a:noFill/>
          </a:ln>
        </p:spPr>
      </p:pic>
      <p:sp>
        <p:nvSpPr>
          <p:cNvPr id="528" name="Google Shape;528;p48"/>
          <p:cNvSpPr/>
          <p:nvPr/>
        </p:nvSpPr>
        <p:spPr>
          <a:xfrm>
            <a:off x="6783802" y="1513184"/>
            <a:ext cx="4662687"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400">
                <a:solidFill>
                  <a:srgbClr val="595959"/>
                </a:solidFill>
                <a:latin typeface="Arial"/>
                <a:ea typeface="Arial"/>
                <a:cs typeface="Arial"/>
                <a:sym typeface="Arial"/>
              </a:rPr>
              <a:t>Para instalar Beautiful Soup, ejecuta el siguiente comando:</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523"/>
                                        </p:tgtEl>
                                        <p:attrNameLst>
                                          <p:attrName>style.visibility</p:attrName>
                                        </p:attrNameLst>
                                      </p:cBhvr>
                                      <p:to>
                                        <p:strVal val="visible"/>
                                      </p:to>
                                    </p:set>
                                    <p:animEffect transition="in" filter="fade">
                                      <p:cBhvr>
                                        <p:cTn id="7" dur="500"/>
                                        <p:tgtEl>
                                          <p:spTgt spid="5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532"/>
        <p:cNvGrpSpPr/>
        <p:nvPr/>
      </p:nvGrpSpPr>
      <p:grpSpPr>
        <a:xfrm>
          <a:off x="0" y="0"/>
          <a:ext cx="0" cy="0"/>
          <a:chOff x="0" y="0"/>
          <a:chExt cx="0" cy="0"/>
        </a:xfrm>
      </p:grpSpPr>
      <p:sp>
        <p:nvSpPr>
          <p:cNvPr id="536" name="Google Shape;536;p49"/>
          <p:cNvSpPr/>
          <p:nvPr/>
        </p:nvSpPr>
        <p:spPr>
          <a:xfrm>
            <a:off x="6300978" y="1824384"/>
            <a:ext cx="5286863" cy="1607799"/>
          </a:xfrm>
          <a:prstGeom prst="roundRect">
            <a:avLst>
              <a:gd name="adj" fmla="val 2971"/>
            </a:avLst>
          </a:prstGeom>
          <a:solidFill>
            <a:schemeClr val="lt1"/>
          </a:solidFill>
          <a:ln w="38100" cap="flat" cmpd="sng">
            <a:solidFill>
              <a:srgbClr val="732C6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33" name="Google Shape;533;p49"/>
          <p:cNvSpPr/>
          <p:nvPr/>
        </p:nvSpPr>
        <p:spPr>
          <a:xfrm>
            <a:off x="-402425" y="1321802"/>
            <a:ext cx="7106647" cy="4351740"/>
          </a:xfrm>
          <a:prstGeom prst="roundRect">
            <a:avLst>
              <a:gd name="adj" fmla="val 2971"/>
            </a:avLst>
          </a:prstGeom>
          <a:gradFill>
            <a:gsLst>
              <a:gs pos="0">
                <a:srgbClr val="451539"/>
              </a:gs>
              <a:gs pos="50000">
                <a:srgbClr val="641F53"/>
              </a:gs>
              <a:gs pos="100000">
                <a:srgbClr val="782663"/>
              </a:gs>
            </a:gsLst>
            <a:lin ang="2700000" scaled="0"/>
          </a:gradFill>
          <a:ln w="1270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34" name="Google Shape;534;p49"/>
          <p:cNvSpPr txBox="1"/>
          <p:nvPr/>
        </p:nvSpPr>
        <p:spPr>
          <a:xfrm>
            <a:off x="695123" y="419932"/>
            <a:ext cx="10782300" cy="731156"/>
          </a:xfrm>
          <a:prstGeom prst="rect">
            <a:avLst/>
          </a:prstGeom>
          <a:noFill/>
          <a:ln>
            <a:noFill/>
          </a:ln>
        </p:spPr>
        <p:txBody>
          <a:bodyPr spcFirstLastPara="1" wrap="square" lIns="91425" tIns="45700" rIns="91425" bIns="45700" anchor="ctr" anchorCtr="0">
            <a:noAutofit/>
          </a:bodyPr>
          <a:lstStyle/>
          <a:p>
            <a:pPr marL="0" marR="0" lvl="0" indent="0" algn="just" rtl="0">
              <a:lnSpc>
                <a:spcPct val="90000"/>
              </a:lnSpc>
              <a:spcBef>
                <a:spcPts val="0"/>
              </a:spcBef>
              <a:spcAft>
                <a:spcPts val="0"/>
              </a:spcAft>
              <a:buNone/>
            </a:pPr>
            <a:r>
              <a:rPr lang="es-ES" sz="3200">
                <a:solidFill>
                  <a:srgbClr val="7F7F7F"/>
                </a:solidFill>
                <a:latin typeface="Arial"/>
                <a:ea typeface="Arial"/>
                <a:cs typeface="Arial"/>
                <a:sym typeface="Arial"/>
              </a:rPr>
              <a:t>Pasos para hacer Web Scraping</a:t>
            </a:r>
            <a:endParaRPr sz="3200">
              <a:solidFill>
                <a:srgbClr val="7F7F7F"/>
              </a:solidFill>
              <a:latin typeface="Arial"/>
              <a:ea typeface="Arial"/>
              <a:cs typeface="Arial"/>
              <a:sym typeface="Arial"/>
            </a:endParaRPr>
          </a:p>
        </p:txBody>
      </p:sp>
      <p:sp>
        <p:nvSpPr>
          <p:cNvPr id="535" name="Google Shape;535;p49"/>
          <p:cNvSpPr txBox="1"/>
          <p:nvPr/>
        </p:nvSpPr>
        <p:spPr>
          <a:xfrm>
            <a:off x="699697" y="1487178"/>
            <a:ext cx="5758583" cy="4031873"/>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600">
                <a:solidFill>
                  <a:schemeClr val="lt1"/>
                </a:solidFill>
                <a:latin typeface="Calibri"/>
                <a:ea typeface="Calibri"/>
                <a:cs typeface="Calibri"/>
                <a:sym typeface="Calibri"/>
              </a:rPr>
              <a:t>Identifica los elementos de la página de los que puede extraer la información. Las páginas web son documento estructurados formados por una jerarquía de elementos. El primer paso para extraer información es identificar correctamente el elemento o elementos que contienen la información deseada. Para ello, lo más fácil es abrir la página en un navegador e inspeccionar el elemento. Esto se consigue haciendo clic con el botón derecho sobre el elemento en cuestión y pulsando sobre la opción Inspeccionar o Inspeccionar elemento (depende del navegador).</a:t>
            </a:r>
            <a:endParaRPr/>
          </a:p>
          <a:p>
            <a:pPr marL="0" marR="0" lvl="0" indent="0" algn="just" rtl="0">
              <a:spcBef>
                <a:spcPts val="0"/>
              </a:spcBef>
              <a:spcAft>
                <a:spcPts val="0"/>
              </a:spcAft>
              <a:buNone/>
            </a:pPr>
            <a:endParaRPr sz="1600">
              <a:solidFill>
                <a:schemeClr val="lt1"/>
              </a:solidFill>
              <a:latin typeface="Calibri"/>
              <a:ea typeface="Calibri"/>
              <a:cs typeface="Calibri"/>
              <a:sym typeface="Calibri"/>
            </a:endParaRPr>
          </a:p>
          <a:p>
            <a:pPr marL="0" marR="0" lvl="0" indent="0" algn="just" rtl="0">
              <a:spcBef>
                <a:spcPts val="0"/>
              </a:spcBef>
              <a:spcAft>
                <a:spcPts val="0"/>
              </a:spcAft>
              <a:buNone/>
            </a:pPr>
            <a:r>
              <a:rPr lang="es-ES" sz="1600">
                <a:solidFill>
                  <a:schemeClr val="lt1"/>
                </a:solidFill>
                <a:latin typeface="Calibri"/>
                <a:ea typeface="Calibri"/>
                <a:cs typeface="Calibri"/>
                <a:sym typeface="Calibri"/>
              </a:rPr>
              <a:t>Descarga el contenido de la página. Para ello, utiliza la </a:t>
            </a:r>
            <a:r>
              <a:rPr lang="es-ES" sz="1600" b="1">
                <a:solidFill>
                  <a:schemeClr val="lt1"/>
                </a:solidFill>
                <a:latin typeface="Calibri"/>
                <a:ea typeface="Calibri"/>
                <a:cs typeface="Calibri"/>
                <a:sym typeface="Calibri"/>
              </a:rPr>
              <a:t>librería requests</a:t>
            </a:r>
            <a:r>
              <a:rPr lang="es-ES" sz="1600">
                <a:solidFill>
                  <a:schemeClr val="lt1"/>
                </a:solidFill>
                <a:latin typeface="Calibri"/>
                <a:ea typeface="Calibri"/>
                <a:cs typeface="Calibri"/>
                <a:sym typeface="Calibri"/>
              </a:rPr>
              <a:t>. El contenido de la respuesta, el que contiene la página en HTML, será el que pasemos posteriormente a Beautiful Soup para generar el árbol de elementos y poder hacer consultas al mismo.</a:t>
            </a:r>
            <a:endParaRPr/>
          </a:p>
        </p:txBody>
      </p:sp>
      <p:pic>
        <p:nvPicPr>
          <p:cNvPr id="537" name="Google Shape;537;p49"/>
          <p:cNvPicPr preferRelativeResize="0"/>
          <p:nvPr/>
        </p:nvPicPr>
        <p:blipFill rotWithShape="1">
          <a:blip r:embed="rId3">
            <a:alphaModFix/>
          </a:blip>
          <a:srcRect/>
          <a:stretch/>
        </p:blipFill>
        <p:spPr>
          <a:xfrm>
            <a:off x="7051202" y="2005983"/>
            <a:ext cx="4330700" cy="13208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534"/>
                                        </p:tgtEl>
                                        <p:attrNameLst>
                                          <p:attrName>style.visibility</p:attrName>
                                        </p:attrNameLst>
                                      </p:cBhvr>
                                      <p:to>
                                        <p:strVal val="visible"/>
                                      </p:to>
                                    </p:set>
                                    <p:animEffect transition="in" filter="fade">
                                      <p:cBhvr>
                                        <p:cTn id="7" dur="500"/>
                                        <p:tgtEl>
                                          <p:spTgt spid="5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541"/>
        <p:cNvGrpSpPr/>
        <p:nvPr/>
      </p:nvGrpSpPr>
      <p:grpSpPr>
        <a:xfrm>
          <a:off x="0" y="0"/>
          <a:ext cx="0" cy="0"/>
          <a:chOff x="0" y="0"/>
          <a:chExt cx="0" cy="0"/>
        </a:xfrm>
      </p:grpSpPr>
      <p:sp>
        <p:nvSpPr>
          <p:cNvPr id="542" name="Google Shape;542;p50"/>
          <p:cNvSpPr txBox="1"/>
          <p:nvPr/>
        </p:nvSpPr>
        <p:spPr>
          <a:xfrm>
            <a:off x="612842" y="845821"/>
            <a:ext cx="10645708" cy="731156"/>
          </a:xfrm>
          <a:prstGeom prst="rect">
            <a:avLst/>
          </a:prstGeom>
          <a:noFill/>
          <a:ln>
            <a:noFill/>
          </a:ln>
        </p:spPr>
        <p:txBody>
          <a:bodyPr spcFirstLastPara="1" wrap="square" lIns="91425" tIns="45700" rIns="91425" bIns="45700" anchor="ctr" anchorCtr="0">
            <a:noAutofit/>
          </a:bodyPr>
          <a:lstStyle/>
          <a:p>
            <a:pPr marL="0" marR="0" lvl="0" indent="0" algn="just" rtl="0">
              <a:lnSpc>
                <a:spcPct val="90000"/>
              </a:lnSpc>
              <a:spcBef>
                <a:spcPts val="0"/>
              </a:spcBef>
              <a:spcAft>
                <a:spcPts val="0"/>
              </a:spcAft>
              <a:buNone/>
            </a:pPr>
            <a:r>
              <a:rPr lang="es-ES" sz="3200">
                <a:solidFill>
                  <a:srgbClr val="7F7F7F"/>
                </a:solidFill>
                <a:latin typeface="Arial"/>
                <a:ea typeface="Arial"/>
                <a:cs typeface="Arial"/>
                <a:sym typeface="Arial"/>
              </a:rPr>
              <a:t>Pasos para hacer Web Scraping</a:t>
            </a:r>
            <a:endParaRPr sz="3200">
              <a:solidFill>
                <a:srgbClr val="7F7F7F"/>
              </a:solidFill>
              <a:latin typeface="Arial"/>
              <a:ea typeface="Arial"/>
              <a:cs typeface="Arial"/>
              <a:sym typeface="Arial"/>
            </a:endParaRPr>
          </a:p>
        </p:txBody>
      </p:sp>
      <p:sp>
        <p:nvSpPr>
          <p:cNvPr id="543" name="Google Shape;543;p50"/>
          <p:cNvSpPr/>
          <p:nvPr/>
        </p:nvSpPr>
        <p:spPr>
          <a:xfrm>
            <a:off x="-457200" y="2285999"/>
            <a:ext cx="7176443" cy="2381251"/>
          </a:xfrm>
          <a:prstGeom prst="roundRect">
            <a:avLst>
              <a:gd name="adj" fmla="val 2971"/>
            </a:avLst>
          </a:prstGeom>
          <a:solidFill>
            <a:srgbClr val="732C61"/>
          </a:solidFill>
          <a:ln w="1270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44" name="Google Shape;544;p50"/>
          <p:cNvSpPr txBox="1"/>
          <p:nvPr/>
        </p:nvSpPr>
        <p:spPr>
          <a:xfrm>
            <a:off x="612842" y="2605403"/>
            <a:ext cx="5869601" cy="1754326"/>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800" dirty="0">
                <a:solidFill>
                  <a:schemeClr val="lt1"/>
                </a:solidFill>
                <a:latin typeface="Calibri"/>
                <a:ea typeface="Calibri"/>
                <a:cs typeface="Calibri"/>
                <a:sym typeface="Calibri"/>
              </a:rPr>
              <a:t>Crear la “sopa”. El contenido de la página obtenido en el paso anterior será el que utilicemos para crear la «sopa», esto es, el árbol de objetos Python que representan al documento HTML. Para ello, hay que crear un objeto de tipo </a:t>
            </a:r>
            <a:r>
              <a:rPr lang="es-ES" sz="1800" b="1" dirty="0" err="1">
                <a:solidFill>
                  <a:schemeClr val="lt1"/>
                </a:solidFill>
                <a:latin typeface="Calibri"/>
                <a:ea typeface="Calibri"/>
                <a:cs typeface="Calibri"/>
                <a:sym typeface="Calibri"/>
              </a:rPr>
              <a:t>BeautifulSoup</a:t>
            </a:r>
            <a:r>
              <a:rPr lang="es-ES" sz="1800" dirty="0">
                <a:solidFill>
                  <a:schemeClr val="lt1"/>
                </a:solidFill>
                <a:latin typeface="Calibri"/>
                <a:ea typeface="Calibri"/>
                <a:cs typeface="Calibri"/>
                <a:sym typeface="Calibri"/>
              </a:rPr>
              <a:t>, al cual se le pasa el texto en formato HTML y el identificador del </a:t>
            </a:r>
            <a:r>
              <a:rPr lang="es-ES" sz="1800" dirty="0" err="1">
                <a:solidFill>
                  <a:schemeClr val="lt1"/>
                </a:solidFill>
                <a:latin typeface="Calibri"/>
                <a:ea typeface="Calibri"/>
                <a:cs typeface="Calibri"/>
                <a:sym typeface="Calibri"/>
              </a:rPr>
              <a:t>parser</a:t>
            </a:r>
            <a:r>
              <a:rPr lang="es-ES" sz="1800" dirty="0">
                <a:solidFill>
                  <a:schemeClr val="lt1"/>
                </a:solidFill>
                <a:latin typeface="Calibri"/>
                <a:ea typeface="Calibri"/>
                <a:cs typeface="Calibri"/>
                <a:sym typeface="Calibri"/>
              </a:rPr>
              <a:t> a utilizar:</a:t>
            </a:r>
            <a:endParaRPr dirty="0">
              <a:solidFill>
                <a:schemeClr val="lt1"/>
              </a:solidFill>
            </a:endParaRPr>
          </a:p>
        </p:txBody>
      </p:sp>
      <p:sp>
        <p:nvSpPr>
          <p:cNvPr id="545" name="Google Shape;545;p50"/>
          <p:cNvSpPr/>
          <p:nvPr/>
        </p:nvSpPr>
        <p:spPr>
          <a:xfrm>
            <a:off x="6686114" y="2663670"/>
            <a:ext cx="4808034" cy="1683999"/>
          </a:xfrm>
          <a:prstGeom prst="roundRect">
            <a:avLst>
              <a:gd name="adj" fmla="val 2971"/>
            </a:avLst>
          </a:prstGeom>
          <a:solidFill>
            <a:schemeClr val="lt1"/>
          </a:solidFill>
          <a:ln w="38100" cap="flat" cmpd="sng">
            <a:solidFill>
              <a:srgbClr val="732C6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546" name="Google Shape;546;p50"/>
          <p:cNvPicPr preferRelativeResize="0"/>
          <p:nvPr/>
        </p:nvPicPr>
        <p:blipFill rotWithShape="1">
          <a:blip r:embed="rId3">
            <a:alphaModFix/>
          </a:blip>
          <a:srcRect/>
          <a:stretch/>
        </p:blipFill>
        <p:spPr>
          <a:xfrm>
            <a:off x="6963690" y="2845269"/>
            <a:ext cx="4330700" cy="13208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542"/>
                                        </p:tgtEl>
                                        <p:attrNameLst>
                                          <p:attrName>style.visibility</p:attrName>
                                        </p:attrNameLst>
                                      </p:cBhvr>
                                      <p:to>
                                        <p:strVal val="visible"/>
                                      </p:to>
                                    </p:set>
                                    <p:animEffect transition="in" filter="fade">
                                      <p:cBhvr>
                                        <p:cTn id="7" dur="500"/>
                                        <p:tgtEl>
                                          <p:spTgt spid="5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550"/>
        <p:cNvGrpSpPr/>
        <p:nvPr/>
      </p:nvGrpSpPr>
      <p:grpSpPr>
        <a:xfrm>
          <a:off x="0" y="0"/>
          <a:ext cx="0" cy="0"/>
          <a:chOff x="0" y="0"/>
          <a:chExt cx="0" cy="0"/>
        </a:xfrm>
      </p:grpSpPr>
      <p:sp>
        <p:nvSpPr>
          <p:cNvPr id="551" name="Google Shape;551;p51"/>
          <p:cNvSpPr txBox="1"/>
          <p:nvPr/>
        </p:nvSpPr>
        <p:spPr>
          <a:xfrm>
            <a:off x="1196271" y="221365"/>
            <a:ext cx="10157528" cy="731156"/>
          </a:xfrm>
          <a:prstGeom prst="rect">
            <a:avLst/>
          </a:prstGeom>
          <a:noFill/>
          <a:ln>
            <a:noFill/>
          </a:ln>
        </p:spPr>
        <p:txBody>
          <a:bodyPr spcFirstLastPara="1" wrap="square" lIns="91425" tIns="45700" rIns="91425" bIns="45700" anchor="ctr" anchorCtr="0">
            <a:noAutofit/>
          </a:bodyPr>
          <a:lstStyle/>
          <a:p>
            <a:pPr marL="0" marR="0" lvl="0" indent="0" algn="just" rtl="0">
              <a:lnSpc>
                <a:spcPct val="90000"/>
              </a:lnSpc>
              <a:spcBef>
                <a:spcPts val="0"/>
              </a:spcBef>
              <a:spcAft>
                <a:spcPts val="0"/>
              </a:spcAft>
              <a:buNone/>
            </a:pPr>
            <a:r>
              <a:rPr lang="es-ES" sz="3200">
                <a:solidFill>
                  <a:srgbClr val="7F7F7F"/>
                </a:solidFill>
                <a:latin typeface="Arial"/>
                <a:ea typeface="Arial"/>
                <a:cs typeface="Arial"/>
                <a:sym typeface="Arial"/>
              </a:rPr>
              <a:t>Consumiento una API Rest</a:t>
            </a:r>
            <a:endParaRPr sz="3200">
              <a:solidFill>
                <a:srgbClr val="7F7F7F"/>
              </a:solidFill>
              <a:latin typeface="Arial"/>
              <a:ea typeface="Arial"/>
              <a:cs typeface="Arial"/>
              <a:sym typeface="Arial"/>
            </a:endParaRPr>
          </a:p>
        </p:txBody>
      </p:sp>
      <p:sp>
        <p:nvSpPr>
          <p:cNvPr id="552" name="Google Shape;552;p51"/>
          <p:cNvSpPr/>
          <p:nvPr/>
        </p:nvSpPr>
        <p:spPr>
          <a:xfrm>
            <a:off x="-295835" y="1034885"/>
            <a:ext cx="12770864" cy="811128"/>
          </a:xfrm>
          <a:prstGeom prst="roundRect">
            <a:avLst>
              <a:gd name="adj" fmla="val 2971"/>
            </a:avLst>
          </a:prstGeom>
          <a:gradFill>
            <a:gsLst>
              <a:gs pos="0">
                <a:srgbClr val="451539"/>
              </a:gs>
              <a:gs pos="50000">
                <a:srgbClr val="641F53"/>
              </a:gs>
              <a:gs pos="100000">
                <a:srgbClr val="782663"/>
              </a:gs>
            </a:gsLst>
            <a:lin ang="2700000" scaled="0"/>
          </a:gradFill>
          <a:ln w="12700" cap="flat" cmpd="sng">
            <a:no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53" name="Google Shape;553;p51"/>
          <p:cNvSpPr txBox="1"/>
          <p:nvPr/>
        </p:nvSpPr>
        <p:spPr>
          <a:xfrm>
            <a:off x="1196271" y="1163243"/>
            <a:ext cx="10543971" cy="553957"/>
          </a:xfrm>
          <a:prstGeom prst="rect">
            <a:avLst/>
          </a:prstGeom>
          <a:noFill/>
          <a:ln>
            <a:noFill/>
          </a:ln>
        </p:spPr>
        <p:txBody>
          <a:bodyPr spcFirstLastPara="1" wrap="square" lIns="91425" tIns="45700" rIns="91425" bIns="45700" anchor="t" anchorCtr="0">
            <a:spAutoFit/>
          </a:bodyPr>
          <a:lstStyle/>
          <a:p>
            <a:pPr algn="just">
              <a:lnSpc>
                <a:spcPct val="150000"/>
              </a:lnSpc>
            </a:pPr>
            <a:r>
              <a:rPr lang="es-ES" sz="2000" dirty="0">
                <a:solidFill>
                  <a:schemeClr val="lt1"/>
                </a:solidFill>
                <a:latin typeface="Calibri"/>
                <a:ea typeface="Calibri"/>
                <a:cs typeface="Calibri"/>
                <a:sym typeface="Calibri"/>
              </a:rPr>
              <a:t>Busca los elementos en la sopa y obtén la información deseada. </a:t>
            </a:r>
            <a:endParaRPr sz="2000" dirty="0"/>
          </a:p>
        </p:txBody>
      </p:sp>
      <p:sp>
        <p:nvSpPr>
          <p:cNvPr id="554" name="Google Shape;554;p51"/>
          <p:cNvSpPr/>
          <p:nvPr/>
        </p:nvSpPr>
        <p:spPr>
          <a:xfrm>
            <a:off x="1196272" y="2105453"/>
            <a:ext cx="8029946" cy="4264692"/>
          </a:xfrm>
          <a:prstGeom prst="roundRect">
            <a:avLst>
              <a:gd name="adj" fmla="val 2971"/>
            </a:avLst>
          </a:prstGeom>
          <a:solidFill>
            <a:schemeClr val="lt1"/>
          </a:solidFill>
          <a:ln w="38100" cap="flat" cmpd="sng">
            <a:solidFill>
              <a:srgbClr val="732C6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555" name="Google Shape;555;p51"/>
          <p:cNvPicPr preferRelativeResize="0"/>
          <p:nvPr/>
        </p:nvPicPr>
        <p:blipFill rotWithShape="1">
          <a:blip r:embed="rId3">
            <a:alphaModFix/>
          </a:blip>
          <a:srcRect/>
          <a:stretch/>
        </p:blipFill>
        <p:spPr>
          <a:xfrm>
            <a:off x="2418297" y="2195202"/>
            <a:ext cx="5596782" cy="4019878"/>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551"/>
                                        </p:tgtEl>
                                        <p:attrNameLst>
                                          <p:attrName>style.visibility</p:attrName>
                                        </p:attrNameLst>
                                      </p:cBhvr>
                                      <p:to>
                                        <p:strVal val="visible"/>
                                      </p:to>
                                    </p:set>
                                    <p:animEffect transition="in" filter="fade">
                                      <p:cBhvr>
                                        <p:cTn id="7" dur="500"/>
                                        <p:tgtEl>
                                          <p:spTgt spid="5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559"/>
        <p:cNvGrpSpPr/>
        <p:nvPr/>
      </p:nvGrpSpPr>
      <p:grpSpPr>
        <a:xfrm>
          <a:off x="0" y="0"/>
          <a:ext cx="0" cy="0"/>
          <a:chOff x="0" y="0"/>
          <a:chExt cx="0" cy="0"/>
        </a:xfrm>
      </p:grpSpPr>
      <p:sp>
        <p:nvSpPr>
          <p:cNvPr id="560" name="Google Shape;560;p52"/>
          <p:cNvSpPr txBox="1"/>
          <p:nvPr/>
        </p:nvSpPr>
        <p:spPr>
          <a:xfrm>
            <a:off x="942975" y="169627"/>
            <a:ext cx="10306050" cy="731156"/>
          </a:xfrm>
          <a:prstGeom prst="rect">
            <a:avLst/>
          </a:prstGeom>
          <a:noFill/>
          <a:ln>
            <a:noFill/>
          </a:ln>
        </p:spPr>
        <p:txBody>
          <a:bodyPr spcFirstLastPara="1" wrap="square" lIns="91425" tIns="45700" rIns="91425" bIns="45700" anchor="ctr" anchorCtr="0">
            <a:noAutofit/>
          </a:bodyPr>
          <a:lstStyle/>
          <a:p>
            <a:pPr marL="0" marR="0" lvl="0" indent="0" algn="just" rtl="0">
              <a:lnSpc>
                <a:spcPct val="90000"/>
              </a:lnSpc>
              <a:spcBef>
                <a:spcPts val="0"/>
              </a:spcBef>
              <a:spcAft>
                <a:spcPts val="0"/>
              </a:spcAft>
              <a:buNone/>
            </a:pPr>
            <a:r>
              <a:rPr lang="es-ES" sz="3200">
                <a:solidFill>
                  <a:srgbClr val="7F7F7F"/>
                </a:solidFill>
                <a:latin typeface="Arial"/>
                <a:ea typeface="Arial"/>
                <a:cs typeface="Arial"/>
                <a:sym typeface="Arial"/>
              </a:rPr>
              <a:t>Tipos de objetos de Beautiful Soup</a:t>
            </a:r>
            <a:endParaRPr sz="3200">
              <a:solidFill>
                <a:srgbClr val="7F7F7F"/>
              </a:solidFill>
              <a:latin typeface="Arial"/>
              <a:ea typeface="Arial"/>
              <a:cs typeface="Arial"/>
              <a:sym typeface="Arial"/>
            </a:endParaRPr>
          </a:p>
        </p:txBody>
      </p:sp>
      <p:sp>
        <p:nvSpPr>
          <p:cNvPr id="561" name="Google Shape;561;p52"/>
          <p:cNvSpPr/>
          <p:nvPr/>
        </p:nvSpPr>
        <p:spPr>
          <a:xfrm>
            <a:off x="942975" y="955999"/>
            <a:ext cx="5977007" cy="5561037"/>
          </a:xfrm>
          <a:prstGeom prst="roundRect">
            <a:avLst>
              <a:gd name="adj" fmla="val 2971"/>
            </a:avLst>
          </a:prstGeom>
          <a:solidFill>
            <a:schemeClr val="l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562" name="Google Shape;562;p52"/>
          <p:cNvPicPr preferRelativeResize="0"/>
          <p:nvPr/>
        </p:nvPicPr>
        <p:blipFill rotWithShape="1">
          <a:blip r:embed="rId3">
            <a:alphaModFix/>
          </a:blip>
          <a:srcRect/>
          <a:stretch/>
        </p:blipFill>
        <p:spPr>
          <a:xfrm>
            <a:off x="1194995" y="1047965"/>
            <a:ext cx="5474962" cy="5310301"/>
          </a:xfrm>
          <a:prstGeom prst="rect">
            <a:avLst/>
          </a:prstGeom>
          <a:noFill/>
          <a:ln>
            <a:noFill/>
          </a:ln>
        </p:spPr>
      </p:pic>
      <p:pic>
        <p:nvPicPr>
          <p:cNvPr id="563" name="Google Shape;563;p52"/>
          <p:cNvPicPr preferRelativeResize="0"/>
          <p:nvPr/>
        </p:nvPicPr>
        <p:blipFill rotWithShape="1">
          <a:blip r:embed="rId4">
            <a:alphaModFix/>
          </a:blip>
          <a:srcRect/>
          <a:stretch/>
        </p:blipFill>
        <p:spPr>
          <a:xfrm>
            <a:off x="7201729" y="1509095"/>
            <a:ext cx="4049625" cy="384832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560"/>
                                        </p:tgtEl>
                                        <p:attrNameLst>
                                          <p:attrName>style.visibility</p:attrName>
                                        </p:attrNameLst>
                                      </p:cBhvr>
                                      <p:to>
                                        <p:strVal val="visible"/>
                                      </p:to>
                                    </p:set>
                                    <p:animEffect transition="in" filter="fade">
                                      <p:cBhvr>
                                        <p:cTn id="7" dur="500"/>
                                        <p:tgtEl>
                                          <p:spTgt spid="5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567"/>
        <p:cNvGrpSpPr/>
        <p:nvPr/>
      </p:nvGrpSpPr>
      <p:grpSpPr>
        <a:xfrm>
          <a:off x="0" y="0"/>
          <a:ext cx="0" cy="0"/>
          <a:chOff x="0" y="0"/>
          <a:chExt cx="0" cy="0"/>
        </a:xfrm>
      </p:grpSpPr>
      <p:sp>
        <p:nvSpPr>
          <p:cNvPr id="568" name="Google Shape;568;p53"/>
          <p:cNvSpPr/>
          <p:nvPr/>
        </p:nvSpPr>
        <p:spPr>
          <a:xfrm>
            <a:off x="-585177" y="3057041"/>
            <a:ext cx="7800454" cy="1045333"/>
          </a:xfrm>
          <a:prstGeom prst="roundRect">
            <a:avLst>
              <a:gd name="adj" fmla="val 9640"/>
            </a:avLst>
          </a:prstGeom>
          <a:gradFill>
            <a:gsLst>
              <a:gs pos="0">
                <a:srgbClr val="451539"/>
              </a:gs>
              <a:gs pos="50000">
                <a:srgbClr val="641F53"/>
              </a:gs>
              <a:gs pos="100000">
                <a:srgbClr val="782663"/>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1">
              <a:solidFill>
                <a:srgbClr val="008CAD"/>
              </a:solidFill>
              <a:latin typeface="Calibri"/>
              <a:ea typeface="Calibri"/>
              <a:cs typeface="Calibri"/>
              <a:sym typeface="Calibri"/>
            </a:endParaRPr>
          </a:p>
        </p:txBody>
      </p:sp>
      <p:sp>
        <p:nvSpPr>
          <p:cNvPr id="569" name="Google Shape;569;p53"/>
          <p:cNvSpPr txBox="1"/>
          <p:nvPr/>
        </p:nvSpPr>
        <p:spPr>
          <a:xfrm>
            <a:off x="2768633" y="2835053"/>
            <a:ext cx="4446644" cy="1489308"/>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None/>
            </a:pPr>
            <a:r>
              <a:rPr lang="es-ES" sz="3600">
                <a:solidFill>
                  <a:schemeClr val="lt1"/>
                </a:solidFill>
                <a:latin typeface="Arial"/>
                <a:ea typeface="Arial"/>
                <a:cs typeface="Arial"/>
                <a:sym typeface="Arial"/>
              </a:rPr>
              <a:t>Dudas y consultas</a:t>
            </a:r>
            <a:endParaRPr sz="3600">
              <a:solidFill>
                <a:schemeClr val="lt1"/>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569"/>
                                        </p:tgtEl>
                                        <p:attrNameLst>
                                          <p:attrName>style.visibility</p:attrName>
                                        </p:attrNameLst>
                                      </p:cBhvr>
                                      <p:to>
                                        <p:strVal val="visible"/>
                                      </p:to>
                                    </p:set>
                                    <p:animEffect transition="in" filter="fade">
                                      <p:cBhvr>
                                        <p:cTn id="7" dur="500"/>
                                        <p:tgtEl>
                                          <p:spTgt spid="5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573"/>
        <p:cNvGrpSpPr/>
        <p:nvPr/>
      </p:nvGrpSpPr>
      <p:grpSpPr>
        <a:xfrm>
          <a:off x="0" y="0"/>
          <a:ext cx="0" cy="0"/>
          <a:chOff x="0" y="0"/>
          <a:chExt cx="0" cy="0"/>
        </a:xfrm>
      </p:grpSpPr>
      <p:sp>
        <p:nvSpPr>
          <p:cNvPr id="574" name="Google Shape;574;p54"/>
          <p:cNvSpPr txBox="1"/>
          <p:nvPr/>
        </p:nvSpPr>
        <p:spPr>
          <a:xfrm>
            <a:off x="490842" y="2783107"/>
            <a:ext cx="10782300" cy="1008062"/>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None/>
            </a:pPr>
            <a:r>
              <a:rPr lang="es-ES" sz="3200">
                <a:solidFill>
                  <a:srgbClr val="7F7F7F"/>
                </a:solidFill>
                <a:latin typeface="Arial"/>
                <a:ea typeface="Arial"/>
                <a:cs typeface="Arial"/>
                <a:sym typeface="Arial"/>
              </a:rPr>
              <a:t>Fin presentación</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574"/>
                                        </p:tgtEl>
                                        <p:attrNameLst>
                                          <p:attrName>style.visibility</p:attrName>
                                        </p:attrNameLst>
                                      </p:cBhvr>
                                      <p:to>
                                        <p:strVal val="visible"/>
                                      </p:to>
                                    </p:set>
                                    <p:animEffect transition="in" filter="fade">
                                      <p:cBhvr>
                                        <p:cTn id="7" dur="500"/>
                                        <p:tgtEl>
                                          <p:spTgt spid="5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Tema de Offic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TotalTime>
  <Words>2055</Words>
  <Application>Microsoft Office PowerPoint</Application>
  <PresentationFormat>Panorámica</PresentationFormat>
  <Paragraphs>163</Paragraphs>
  <Slides>54</Slides>
  <Notes>54</Notes>
  <HiddenSlides>0</HiddenSlides>
  <MMClips>0</MMClips>
  <ScaleCrop>false</ScaleCrop>
  <HeadingPairs>
    <vt:vector size="4" baseType="variant">
      <vt:variant>
        <vt:lpstr>Tema</vt:lpstr>
      </vt:variant>
      <vt:variant>
        <vt:i4>1</vt:i4>
      </vt:variant>
      <vt:variant>
        <vt:lpstr>Títulos de diapositiva</vt:lpstr>
      </vt:variant>
      <vt:variant>
        <vt:i4>54</vt:i4>
      </vt:variant>
    </vt:vector>
  </HeadingPairs>
  <TitlesOfParts>
    <vt:vector size="55" baseType="lpstr">
      <vt:lpstr>Tema de Office</vt:lpstr>
      <vt:lpstr>   Obtención y Preparación de Datos</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Obtención y Preparación de Datos</dc:title>
  <dc:creator>Kibernum</dc:creator>
  <cp:lastModifiedBy>Diseño ITA</cp:lastModifiedBy>
  <cp:revision>172</cp:revision>
  <dcterms:created xsi:type="dcterms:W3CDTF">2023-01-03T12:28:26Z</dcterms:created>
  <dcterms:modified xsi:type="dcterms:W3CDTF">2025-10-06T15:53:35Z</dcterms:modified>
</cp:coreProperties>
</file>