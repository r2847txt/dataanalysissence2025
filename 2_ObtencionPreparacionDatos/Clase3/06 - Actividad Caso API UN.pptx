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562" r:id="rId5"/>
    <p:sldId id="595" r:id="rId6"/>
    <p:sldId id="634" r:id="rId7"/>
    <p:sldId id="635" r:id="rId8"/>
    <p:sldId id="632" r:id="rId9"/>
    <p:sldId id="636" r:id="rId10"/>
  </p:sldIdLst>
  <p:sldSz cx="12192000" cy="6858000"/>
  <p:notesSz cx="6858000" cy="9144000"/>
  <p:defaultTextStyle>
    <a:defPPr>
      <a:defRPr lang="es-ES_tradn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8CAE"/>
    <a:srgbClr val="FD0075"/>
    <a:srgbClr val="98C340"/>
    <a:srgbClr val="F6A120"/>
    <a:srgbClr val="7FAEF2"/>
    <a:srgbClr val="000000"/>
    <a:srgbClr val="4E7FDE"/>
    <a:srgbClr val="006BCE"/>
    <a:srgbClr val="F8D6D9"/>
    <a:srgbClr val="8AD3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1B20A0-D5B2-ACCE-8E92-F56013483D8F}" v="4" dt="2025-10-06T15:52:59.5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54" autoAdjust="0"/>
    <p:restoredTop sz="96395" autoAdjust="0"/>
  </p:normalViewPr>
  <p:slideViewPr>
    <p:cSldViewPr snapToGrid="0">
      <p:cViewPr varScale="1">
        <p:scale>
          <a:sx n="76" d="100"/>
          <a:sy n="76" d="100"/>
        </p:scale>
        <p:origin x="126" y="3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raya Salazar" userId="S::soraya.salazar@kibernumacademy.com::fdf00a5c-f577-43dc-8064-9968cad83607" providerId="AD" clId="Web-{2E1B20A0-D5B2-ACCE-8E92-F56013483D8F}"/>
    <pc:docChg chg="modSld">
      <pc:chgData name="Soraya Salazar" userId="S::soraya.salazar@kibernumacademy.com::fdf00a5c-f577-43dc-8064-9968cad83607" providerId="AD" clId="Web-{2E1B20A0-D5B2-ACCE-8E92-F56013483D8F}" dt="2025-10-06T15:52:59.575" v="1"/>
      <pc:docMkLst>
        <pc:docMk/>
      </pc:docMkLst>
      <pc:sldChg chg="delSp modSp">
        <pc:chgData name="Soraya Salazar" userId="S::soraya.salazar@kibernumacademy.com::fdf00a5c-f577-43dc-8064-9968cad83607" providerId="AD" clId="Web-{2E1B20A0-D5B2-ACCE-8E92-F56013483D8F}" dt="2025-10-06T15:52:59.575" v="1"/>
        <pc:sldMkLst>
          <pc:docMk/>
          <pc:sldMk cId="1998777028" sldId="562"/>
        </pc:sldMkLst>
        <pc:spChg chg="mod">
          <ac:chgData name="Soraya Salazar" userId="S::soraya.salazar@kibernumacademy.com::fdf00a5c-f577-43dc-8064-9968cad83607" providerId="AD" clId="Web-{2E1B20A0-D5B2-ACCE-8E92-F56013483D8F}" dt="2025-10-06T15:52:54.200" v="0" actId="20577"/>
          <ac:spMkLst>
            <pc:docMk/>
            <pc:sldMk cId="1998777028" sldId="562"/>
            <ac:spMk id="6" creationId="{00000000-0000-0000-0000-000000000000}"/>
          </ac:spMkLst>
        </pc:spChg>
        <pc:spChg chg="del">
          <ac:chgData name="Soraya Salazar" userId="S::soraya.salazar@kibernumacademy.com::fdf00a5c-f577-43dc-8064-9968cad83607" providerId="AD" clId="Web-{2E1B20A0-D5B2-ACCE-8E92-F56013483D8F}" dt="2025-10-06T15:52:59.575" v="1"/>
          <ac:spMkLst>
            <pc:docMk/>
            <pc:sldMk cId="1998777028" sldId="562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214ECDC-27AA-4BAE-B04E-533364742B70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_tradnl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Editar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_tradnl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61DC0F2-0470-49B2-BD20-1BE6BAB0CFEB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3CE86C-1FAA-476E-8610-6CF612D82F6D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FDA0F7-3317-4A90-85A9-784F1E0F6A0E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269372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5A1AB2-ABDE-4AA7-B0BA-B4771DBF257E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CBBCA2-D1A3-4B4D-AC73-9D069169A434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254672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6A1A31-6B2F-42D4-9D8B-250D0522AC84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48B1C2-5544-4117-B964-FFA2790965CB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4244721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C90434-FF42-4568-BAFD-14D07093E120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203834-0EF4-4D06-A8D3-876274F5BE0F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939723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E415DC-2033-47BD-86E8-F874CF6E7C58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8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9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3AF083-3250-4136-BEB9-7AF9A938BA7A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3192155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8908FD-EE54-425E-B52D-A5E77FE0F4E1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4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5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C4D746-ECE6-4F12-9BD7-02F1A03DE9BC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155446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4B1D3B-28B6-43FE-A4A1-ACF50A9182C7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3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4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EC160-BB17-4C5C-A913-243CEE97784F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2921665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2D298C-5E21-4FDC-838E-33C54A0835BE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1B316F-FC05-4AA9-8B17-611F2B66785A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524700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_tradnl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5492E0-A143-485F-B68F-8CC91249D59B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C192D6-CB19-4D76-BAD3-1D4E4EA927D1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631019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38D573-BBF9-4466-8100-20705A6765C2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F13FBE-C0B8-4F7C-B7BE-9681116FC5EC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856682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C05822-3120-4BF7-B215-1DFE2C6DC6A3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9D8483-F2FB-4D92-932B-BB90B8B7CC0E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3455749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Haga clic para modificar el estilo de título del patrón</a:t>
            </a:r>
            <a:endParaRPr lang="es-ES_tradnl" altLang="en-US"/>
          </a:p>
        </p:txBody>
      </p:sp>
      <p:sp>
        <p:nvSpPr>
          <p:cNvPr id="1027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Editar el estilo de texto del patrón</a:t>
            </a:r>
          </a:p>
          <a:p>
            <a:pPr lvl="1"/>
            <a:r>
              <a:rPr lang="es-ES" altLang="en-US"/>
              <a:t>Segundo nivel</a:t>
            </a:r>
          </a:p>
          <a:p>
            <a:pPr lvl="2"/>
            <a:r>
              <a:rPr lang="es-ES" altLang="en-US"/>
              <a:t>Tercer nivel</a:t>
            </a:r>
          </a:p>
          <a:p>
            <a:pPr lvl="3"/>
            <a:r>
              <a:rPr lang="es-ES" altLang="en-US"/>
              <a:t>Cuarto nivel</a:t>
            </a:r>
          </a:p>
          <a:p>
            <a:pPr lvl="4"/>
            <a:r>
              <a:rPr lang="es-ES" altLang="en-US"/>
              <a:t>Quinto nivel</a:t>
            </a:r>
            <a:endParaRPr lang="es-ES_tradnl" alt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0F057B8-E3CD-456E-9A46-2B8B20AF9933}" type="datetimeFigureOut">
              <a:rPr lang="es-ES_tradnl"/>
              <a:pPr>
                <a:defRPr/>
              </a:pPr>
              <a:t>06/10/2025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F59D94CD-8797-4F90-8E76-E70F46B730A3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 con confianza media">
            <a:extLst>
              <a:ext uri="{FF2B5EF4-FFF2-40B4-BE49-F238E27FC236}">
                <a16:creationId xmlns:a16="http://schemas.microsoft.com/office/drawing/2014/main" id="{A8A3BFFD-35E7-1135-4D1C-50C91FA77E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443"/>
            <a:ext cx="12192000" cy="7037762"/>
          </a:xfrm>
          <a:prstGeom prst="rect">
            <a:avLst/>
          </a:prstGeom>
        </p:spPr>
      </p:pic>
      <p:sp>
        <p:nvSpPr>
          <p:cNvPr id="5" name="Rectangle: Rounded Corners 22"/>
          <p:cNvSpPr/>
          <p:nvPr/>
        </p:nvSpPr>
        <p:spPr>
          <a:xfrm>
            <a:off x="3701143" y="3498438"/>
            <a:ext cx="7835345" cy="1604785"/>
          </a:xfrm>
          <a:prstGeom prst="roundRect">
            <a:avLst>
              <a:gd name="adj" fmla="val 7874"/>
            </a:avLst>
          </a:prstGeom>
          <a:solidFill>
            <a:schemeClr val="tx1">
              <a:alpha val="76000"/>
            </a:schemeClr>
          </a:solidFill>
          <a:ln>
            <a:noFill/>
            <a:prstDash val="lg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540000" anchor="ctr"/>
          <a:lstStyle/>
          <a:p>
            <a:pPr algn="ctr">
              <a:defRPr/>
            </a:pPr>
            <a:endParaRPr lang="en-US" sz="2800" b="1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944282" y="3786913"/>
            <a:ext cx="7804255" cy="1685747"/>
          </a:xfrm>
        </p:spPr>
        <p:txBody>
          <a:bodyPr rtlCol="0">
            <a:no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br>
              <a:rPr lang="es-CL" sz="5000" b="1" dirty="0">
                <a:solidFill>
                  <a:schemeClr val="bg1"/>
                </a:solidFill>
                <a:latin typeface="Source Sans Pro" panose="020B0503030403020204" pitchFamily="34" charset="0"/>
              </a:rPr>
            </a:br>
            <a:br>
              <a:rPr lang="es-CL" sz="1600" b="1" dirty="0">
                <a:solidFill>
                  <a:schemeClr val="bg1"/>
                </a:solidFill>
                <a:latin typeface="Source Sans Pro Light" panose="020B0403030403020204" pitchFamily="34" charset="0"/>
              </a:rPr>
            </a:br>
            <a:br>
              <a:rPr lang="es-CL" sz="1600" b="1" dirty="0">
                <a:solidFill>
                  <a:schemeClr val="bg1"/>
                </a:solidFill>
                <a:latin typeface="Source Sans Pro" panose="020B0503030403020204" pitchFamily="34" charset="0"/>
              </a:rPr>
            </a:br>
            <a:br>
              <a:rPr lang="es-CL" sz="1600" b="1" dirty="0">
                <a:solidFill>
                  <a:schemeClr val="bg1"/>
                </a:solidFill>
                <a:latin typeface="Source Sans Pro" panose="020B0503030403020204" pitchFamily="34" charset="0"/>
              </a:rPr>
            </a:br>
            <a:r>
              <a:rPr lang="es-CL" sz="5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Actividad: Caso API UN </a:t>
            </a:r>
            <a:r>
              <a:rPr lang="es-CL" sz="5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comtrade</a:t>
            </a:r>
            <a:br>
              <a:rPr lang="es-ES" sz="5000" b="1" dirty="0">
                <a:solidFill>
                  <a:schemeClr val="bg1"/>
                </a:solidFill>
                <a:latin typeface="Source Sans Pro" panose="020B0503030403020204" pitchFamily="34" charset="0"/>
              </a:rPr>
            </a:br>
            <a:endParaRPr lang="es-ES_tradnl" sz="30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Google Shape;92;p1"/>
          <p:cNvSpPr txBox="1"/>
          <p:nvPr/>
        </p:nvSpPr>
        <p:spPr>
          <a:xfrm>
            <a:off x="3944282" y="2902622"/>
            <a:ext cx="6165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Obtención y Preparación de Datos</a:t>
            </a: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8777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redondeado 3"/>
          <p:cNvSpPr/>
          <p:nvPr/>
        </p:nvSpPr>
        <p:spPr>
          <a:xfrm>
            <a:off x="1719769" y="1781666"/>
            <a:ext cx="8941946" cy="3525625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" name="Título 1"/>
          <p:cNvSpPr txBox="1">
            <a:spLocks/>
          </p:cNvSpPr>
          <p:nvPr/>
        </p:nvSpPr>
        <p:spPr bwMode="auto">
          <a:xfrm>
            <a:off x="1719769" y="523999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Actividad: Caso Limpieza Datos UN </a:t>
            </a:r>
            <a:r>
              <a:rPr lang="es-MX" sz="32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Comtrade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815" y="2417884"/>
            <a:ext cx="7377248" cy="2272168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541931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 noGrp="1"/>
          </p:cNvSpPr>
          <p:nvPr>
            <p:ph type="title"/>
          </p:nvPr>
        </p:nvSpPr>
        <p:spPr bwMode="auto">
          <a:xfrm>
            <a:off x="7249212" y="437785"/>
            <a:ext cx="3916052" cy="955397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Caso UN </a:t>
            </a:r>
            <a:r>
              <a:rPr lang="es-ES" sz="32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Comtrade</a:t>
            </a:r>
            <a:endParaRPr lang="es-ES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565271" y="437785"/>
            <a:ext cx="5769429" cy="6052457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28575">
            <a:solidFill>
              <a:srgbClr val="078C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17" y="574061"/>
            <a:ext cx="5498950" cy="5506483"/>
          </a:xfrm>
          <a:prstGeom prst="rect">
            <a:avLst/>
          </a:prstGeom>
        </p:spPr>
      </p:pic>
      <p:sp>
        <p:nvSpPr>
          <p:cNvPr id="8" name="Rectángulo redondeado 7"/>
          <p:cNvSpPr/>
          <p:nvPr/>
        </p:nvSpPr>
        <p:spPr>
          <a:xfrm>
            <a:off x="6359466" y="1661923"/>
            <a:ext cx="5948083" cy="3909094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078CAE">
                  <a:shade val="30000"/>
                  <a:satMod val="115000"/>
                </a:srgbClr>
              </a:gs>
              <a:gs pos="50000">
                <a:srgbClr val="078CAE">
                  <a:shade val="67500"/>
                  <a:satMod val="115000"/>
                </a:srgbClr>
              </a:gs>
              <a:gs pos="100000">
                <a:srgbClr val="078CAE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746CFDD-6FC3-5AA7-5C1D-362E2C5244F1}"/>
              </a:ext>
            </a:extLst>
          </p:cNvPr>
          <p:cNvSpPr txBox="1"/>
          <p:nvPr/>
        </p:nvSpPr>
        <p:spPr>
          <a:xfrm>
            <a:off x="6559690" y="1953112"/>
            <a:ext cx="5072215" cy="369331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just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Source Sans Pro"/>
              </a:rPr>
              <a:t>UN </a:t>
            </a:r>
            <a:r>
              <a:rPr lang="es-ES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Source Sans Pro"/>
              </a:rPr>
              <a:t>Comtrade</a:t>
            </a:r>
            <a:r>
              <a:rPr lang="es-E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Source Sans Pro"/>
              </a:rPr>
              <a:t> 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es el seudónimo para la base de datos estadística de comercio de las Naciones Unidas, en las cuales más de 170 países o áreas del mundo, llamados </a:t>
            </a:r>
            <a:r>
              <a:rPr lang="es-E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Source Sans Pro"/>
              </a:rPr>
              <a:t>reporters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, proveen información a la división estadística de las Naciones Unidas con su información anual acerca de comercio e intercambio detallada en categorías de 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commodities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 o servicios con sus 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partners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 de comercio. Más información en la web oficial de UN 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Comtrade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dirty="0">
              <a:solidFill>
                <a:schemeClr val="bg1"/>
              </a:solidFill>
              <a:latin typeface="+mn-lt"/>
              <a:ea typeface="Source Sans Pro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https: //comtrade.un.org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982009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redondeado 6"/>
          <p:cNvSpPr/>
          <p:nvPr/>
        </p:nvSpPr>
        <p:spPr>
          <a:xfrm>
            <a:off x="7041023" y="2113024"/>
            <a:ext cx="5383307" cy="3466836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078CAE">
                  <a:shade val="30000"/>
                  <a:satMod val="115000"/>
                </a:srgbClr>
              </a:gs>
              <a:gs pos="50000">
                <a:srgbClr val="078CAE">
                  <a:shade val="67500"/>
                  <a:satMod val="115000"/>
                </a:srgbClr>
              </a:gs>
              <a:gs pos="100000">
                <a:srgbClr val="078CAE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" name="Título 1"/>
          <p:cNvSpPr txBox="1">
            <a:spLocks noGrp="1"/>
          </p:cNvSpPr>
          <p:nvPr>
            <p:ph type="title"/>
          </p:nvPr>
        </p:nvSpPr>
        <p:spPr bwMode="auto">
          <a:xfrm>
            <a:off x="7415400" y="636810"/>
            <a:ext cx="4101445" cy="1325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Caso UN </a:t>
            </a:r>
            <a:r>
              <a:rPr lang="es-ES" sz="32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Comtrade</a:t>
            </a:r>
            <a:endParaRPr lang="es-ES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204793" y="518474"/>
            <a:ext cx="6999513" cy="6157131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28575">
            <a:solidFill>
              <a:srgbClr val="078C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t="3620" r="1259" b="1361"/>
          <a:stretch/>
        </p:blipFill>
        <p:spPr>
          <a:xfrm>
            <a:off x="410098" y="641023"/>
            <a:ext cx="6588902" cy="590117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746CFDD-6FC3-5AA7-5C1D-362E2C5244F1}"/>
              </a:ext>
            </a:extLst>
          </p:cNvPr>
          <p:cNvSpPr txBox="1"/>
          <p:nvPr/>
        </p:nvSpPr>
        <p:spPr>
          <a:xfrm>
            <a:off x="7417549" y="2587715"/>
            <a:ext cx="4630257" cy="23083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ES" sz="1600" dirty="0">
                <a:solidFill>
                  <a:schemeClr val="bg1"/>
                </a:solidFill>
                <a:latin typeface="+mn-lt"/>
                <a:ea typeface="Source Sans Pro"/>
              </a:rPr>
              <a:t>Para la consulta de información, se dispone de una aplicación web de consultas mediante un formulario, así como también una API, la cual tiene acceso público.</a:t>
            </a:r>
          </a:p>
          <a:p>
            <a:pPr algn="just"/>
            <a:endParaRPr lang="es-ES" sz="1600" dirty="0">
              <a:solidFill>
                <a:schemeClr val="bg1"/>
              </a:solidFill>
              <a:latin typeface="+mn-lt"/>
              <a:ea typeface="Source Sans Pro"/>
            </a:endParaRPr>
          </a:p>
          <a:p>
            <a:pPr algn="just"/>
            <a:r>
              <a:rPr lang="es-ES" sz="1600" dirty="0">
                <a:solidFill>
                  <a:schemeClr val="bg1"/>
                </a:solidFill>
                <a:latin typeface="+mn-lt"/>
                <a:ea typeface="Source Sans Pro"/>
              </a:rPr>
              <a:t>El trabajo de obtención ya se ha realizado y se cuenta con un archivo en formato </a:t>
            </a:r>
            <a:r>
              <a:rPr lang="es-ES" sz="1600" dirty="0" err="1">
                <a:solidFill>
                  <a:schemeClr val="bg1"/>
                </a:solidFill>
                <a:latin typeface="+mn-lt"/>
                <a:ea typeface="Source Sans Pro"/>
              </a:rPr>
              <a:t>csv</a:t>
            </a:r>
            <a:r>
              <a:rPr lang="es-ES" sz="1600" dirty="0">
                <a:solidFill>
                  <a:schemeClr val="bg1"/>
                </a:solidFill>
                <a:latin typeface="+mn-lt"/>
                <a:ea typeface="Source Sans Pro"/>
              </a:rPr>
              <a:t> con el intercambio comercial de Chile con el resto del </a:t>
            </a:r>
            <a:r>
              <a:rPr lang="es-ES" sz="1600" dirty="0" err="1">
                <a:solidFill>
                  <a:schemeClr val="bg1"/>
                </a:solidFill>
                <a:latin typeface="+mn-lt"/>
                <a:ea typeface="Source Sans Pro"/>
              </a:rPr>
              <a:t>munto</a:t>
            </a:r>
            <a:r>
              <a:rPr lang="es-ES" sz="1600" dirty="0">
                <a:solidFill>
                  <a:schemeClr val="bg1"/>
                </a:solidFill>
                <a:latin typeface="+mn-lt"/>
                <a:ea typeface="Source Sans Pro"/>
              </a:rPr>
              <a:t> entre los años 2016 y 2019.</a:t>
            </a:r>
          </a:p>
        </p:txBody>
      </p:sp>
    </p:spTree>
    <p:extLst>
      <p:ext uri="{BB962C8B-B14F-4D97-AF65-F5344CB8AC3E}">
        <p14:creationId xmlns:p14="http://schemas.microsoft.com/office/powerpoint/2010/main" val="357057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-300896" y="1393097"/>
            <a:ext cx="11019172" cy="4253559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078CAE">
                  <a:shade val="30000"/>
                  <a:satMod val="115000"/>
                </a:srgbClr>
              </a:gs>
              <a:gs pos="50000">
                <a:srgbClr val="078CAE">
                  <a:shade val="67500"/>
                  <a:satMod val="115000"/>
                </a:srgbClr>
              </a:gs>
              <a:gs pos="100000">
                <a:srgbClr val="078CAE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" name="Título 1"/>
          <p:cNvSpPr txBox="1">
            <a:spLocks/>
          </p:cNvSpPr>
          <p:nvPr/>
        </p:nvSpPr>
        <p:spPr bwMode="auto">
          <a:xfrm>
            <a:off x="1409563" y="385035"/>
            <a:ext cx="7936199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Caso UN </a:t>
            </a:r>
            <a:r>
              <a:rPr lang="es-ES" sz="32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Comtrade</a:t>
            </a:r>
            <a:endParaRPr lang="es-ES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746CFDD-6FC3-5AA7-5C1D-362E2C5244F1}"/>
              </a:ext>
            </a:extLst>
          </p:cNvPr>
          <p:cNvSpPr txBox="1"/>
          <p:nvPr/>
        </p:nvSpPr>
        <p:spPr>
          <a:xfrm>
            <a:off x="1409563" y="1740451"/>
            <a:ext cx="8117297" cy="3416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Construya un notebook, ordenado, documentado y reproducible para desarrollar los siguientes requerimientos que se solicitan. Se pide:</a:t>
            </a:r>
          </a:p>
          <a:p>
            <a:pPr algn="just"/>
            <a:endParaRPr lang="es-ES" dirty="0">
              <a:solidFill>
                <a:schemeClr val="bg1"/>
              </a:solidFill>
              <a:latin typeface="+mn-lt"/>
              <a:ea typeface="Source Sans Pro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Hacer un análisis exploratorio de los datos, variables numéricas y categóricas.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Hacer un análisis de valores nulos en el set de datos ¿Qué porcentaje de valores nulos posee las variables numéricas de estudio?.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Hacer un análisis de 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outlaiers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 ¿Posee 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outiers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 las variables 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NetWeight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 y 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TradeValue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?.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Aplicar técnicas de limpieza.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A partir de los datos limpios, obtener el valor total y peso de las exportaciones de 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commodities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 de Chile para el año 2019 y 2020.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Guardar datos limpios en un archivo Excel.</a:t>
            </a:r>
          </a:p>
        </p:txBody>
      </p:sp>
    </p:spTree>
    <p:extLst>
      <p:ext uri="{BB962C8B-B14F-4D97-AF65-F5344CB8AC3E}">
        <p14:creationId xmlns:p14="http://schemas.microsoft.com/office/powerpoint/2010/main" val="4134718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redondeado 3"/>
          <p:cNvSpPr/>
          <p:nvPr/>
        </p:nvSpPr>
        <p:spPr>
          <a:xfrm>
            <a:off x="1357459" y="754144"/>
            <a:ext cx="5599522" cy="5263123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28575">
            <a:solidFill>
              <a:srgbClr val="078C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" name="Rectángulo redondeado 4"/>
          <p:cNvSpPr/>
          <p:nvPr/>
        </p:nvSpPr>
        <p:spPr>
          <a:xfrm>
            <a:off x="7303304" y="2590254"/>
            <a:ext cx="4920343" cy="1590900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078CAE">
                  <a:shade val="30000"/>
                  <a:satMod val="115000"/>
                </a:srgbClr>
              </a:gs>
              <a:gs pos="50000">
                <a:srgbClr val="078CAE">
                  <a:shade val="67500"/>
                  <a:satMod val="115000"/>
                </a:srgbClr>
              </a:gs>
              <a:gs pos="100000">
                <a:srgbClr val="078CAE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980" y="1051873"/>
            <a:ext cx="5106479" cy="466766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7" name="Título 4"/>
          <p:cNvSpPr>
            <a:spLocks noGrp="1"/>
          </p:cNvSpPr>
          <p:nvPr>
            <p:ph type="title"/>
          </p:nvPr>
        </p:nvSpPr>
        <p:spPr>
          <a:xfrm>
            <a:off x="8145409" y="3062538"/>
            <a:ext cx="19833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L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¡Éxito!</a:t>
            </a:r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1340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C9CD3420DD7C44287EDEB9C6D6708D7" ma:contentTypeVersion="15" ma:contentTypeDescription="Crear nuevo documento." ma:contentTypeScope="" ma:versionID="f7a9dcde27c9264a09c73004259269f1">
  <xsd:schema xmlns:xsd="http://www.w3.org/2001/XMLSchema" xmlns:xs="http://www.w3.org/2001/XMLSchema" xmlns:p="http://schemas.microsoft.com/office/2006/metadata/properties" xmlns:ns2="470d2f17-52cb-407b-8136-5e632d1cee08" xmlns:ns3="6171001b-fa9d-409b-8713-8b6a17935d68" targetNamespace="http://schemas.microsoft.com/office/2006/metadata/properties" ma:root="true" ma:fieldsID="674b5fe278d71baa753a58252eaf8fe3" ns2:_="" ns3:_="">
    <xsd:import namespace="470d2f17-52cb-407b-8136-5e632d1cee08"/>
    <xsd:import namespace="6171001b-fa9d-409b-8713-8b6a17935d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0d2f17-52cb-407b-8136-5e632d1cee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5ecad781-11e1-4240-b729-e370ca3e03e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71001b-fa9d-409b-8713-8b6a17935d68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626c5a85-e9ed-4a7d-a8f2-1ac62c4b72da}" ma:internalName="TaxCatchAll" ma:showField="CatchAllData" ma:web="6171001b-fa9d-409b-8713-8b6a17935d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171001b-fa9d-409b-8713-8b6a17935d68"/>
    <lcf76f155ced4ddcb4097134ff3c332f xmlns="470d2f17-52cb-407b-8136-5e632d1cee0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9B05674-0616-4E66-A9FD-3C514085E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D405DB1-990F-4DDD-81A1-478BCA203F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0d2f17-52cb-407b-8136-5e632d1cee08"/>
    <ds:schemaRef ds:uri="6171001b-fa9d-409b-8713-8b6a17935d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E26BDBF-E58D-4DAC-8738-D11056BF4C72}">
  <ds:schemaRefs>
    <ds:schemaRef ds:uri="http://purl.org/dc/dcmitype/"/>
    <ds:schemaRef ds:uri="http://www.w3.org/XML/1998/namespace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6171001b-fa9d-409b-8713-8b6a17935d68"/>
    <ds:schemaRef ds:uri="470d2f17-52cb-407b-8136-5e632d1cee08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7785</TotalTime>
  <Words>286</Words>
  <Application>Microsoft Office PowerPoint</Application>
  <PresentationFormat>Panorámica</PresentationFormat>
  <Paragraphs>22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7" baseType="lpstr">
      <vt:lpstr>Tema de Office</vt:lpstr>
      <vt:lpstr>    Actividad: Caso API UN comtrade </vt:lpstr>
      <vt:lpstr>Presentación de PowerPoint</vt:lpstr>
      <vt:lpstr>Caso UN Comtrade</vt:lpstr>
      <vt:lpstr>Caso UN Comtrade</vt:lpstr>
      <vt:lpstr>Presentación de PowerPoint</vt:lpstr>
      <vt:lpstr>¡Éxito!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Kibernum</dc:creator>
  <cp:lastModifiedBy>kibernum</cp:lastModifiedBy>
  <cp:revision>257</cp:revision>
  <dcterms:created xsi:type="dcterms:W3CDTF">2023-01-03T12:28:26Z</dcterms:created>
  <dcterms:modified xsi:type="dcterms:W3CDTF">2025-10-06T15:53:01Z</dcterms:modified>
</cp:coreProperties>
</file>