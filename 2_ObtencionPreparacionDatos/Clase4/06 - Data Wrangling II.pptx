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hqgpCkbCXv12MEn/6qeu9QJRC+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FA34A1-A7A5-7E8E-F032-411734C7634B}" v="4" dt="2025-10-06T15:49:30.9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2BFA34A1-A7A5-7E8E-F032-411734C7634B}"/>
    <pc:docChg chg="modSld">
      <pc:chgData name="Soraya Salazar" userId="S::soraya.salazar@kibernumacademy.com::fdf00a5c-f577-43dc-8064-9968cad83607" providerId="AD" clId="Web-{2BFA34A1-A7A5-7E8E-F032-411734C7634B}" dt="2025-10-06T15:49:28.786" v="0" actId="20577"/>
      <pc:docMkLst>
        <pc:docMk/>
      </pc:docMkLst>
      <pc:sldChg chg="modSp">
        <pc:chgData name="Soraya Salazar" userId="S::soraya.salazar@kibernumacademy.com::fdf00a5c-f577-43dc-8064-9968cad83607" providerId="AD" clId="Web-{2BFA34A1-A7A5-7E8E-F032-411734C7634B}" dt="2025-10-06T15:49:28.786" v="0" actId="20577"/>
        <pc:sldMkLst>
          <pc:docMk/>
          <pc:sldMk cId="0" sldId="256"/>
        </pc:sldMkLst>
        <pc:spChg chg="mod">
          <ac:chgData name="Soraya Salazar" userId="S::soraya.salazar@kibernumacademy.com::fdf00a5c-f577-43dc-8064-9968cad83607" providerId="AD" clId="Web-{2BFA34A1-A7A5-7E8E-F032-411734C7634B}" dt="2025-10-06T15:49:28.786" v="0" actId="20577"/>
          <ac:spMkLst>
            <pc:docMk/>
            <pc:sldMk cId="0" sldId="256"/>
            <ac:spMk id="9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 name="Google Shape;17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9" name="Google Shape;17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9" name="Google Shape;1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0" name="Google Shape;21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2" name="Google Shape;2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2" name="Google Shape;23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2" name="Google Shape;24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jp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1"/>
          <p:cNvSpPr/>
          <p:nvPr/>
        </p:nvSpPr>
        <p:spPr>
          <a:xfrm>
            <a:off x="4328375" y="3212199"/>
            <a:ext cx="7308567" cy="1655893"/>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89" name="Google Shape;89;p1"/>
          <p:cNvSpPr txBox="1">
            <a:spLocks noGrp="1"/>
          </p:cNvSpPr>
          <p:nvPr>
            <p:ph type="ctrTitle"/>
          </p:nvPr>
        </p:nvSpPr>
        <p:spPr>
          <a:xfrm>
            <a:off x="4815839" y="3449858"/>
            <a:ext cx="6950647" cy="1407489"/>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None/>
            </a:pPr>
            <a:r>
              <a:rPr lang="es-ES" sz="5000" b="1">
                <a:solidFill>
                  <a:schemeClr val="lt1"/>
                </a:solidFill>
                <a:latin typeface="Arial"/>
                <a:ea typeface="Arial"/>
                <a:cs typeface="Arial"/>
                <a:sym typeface="Arial"/>
              </a:rPr>
              <a:t>Data Wrangling II</a:t>
            </a:r>
            <a:br>
              <a:rPr lang="es-ES" sz="5000" b="1">
                <a:solidFill>
                  <a:schemeClr val="lt1"/>
                </a:solidFill>
                <a:latin typeface="Arial"/>
                <a:ea typeface="Arial"/>
                <a:cs typeface="Arial"/>
                <a:sym typeface="Arial"/>
              </a:rPr>
            </a:br>
            <a:endParaRPr sz="3000" b="1">
              <a:solidFill>
                <a:schemeClr val="lt1"/>
              </a:solidFill>
              <a:latin typeface="Calibri"/>
              <a:ea typeface="Calibri"/>
              <a:cs typeface="Calibri"/>
              <a:sym typeface="Calibri"/>
            </a:endParaRPr>
          </a:p>
        </p:txBody>
      </p:sp>
      <p:sp>
        <p:nvSpPr>
          <p:cNvPr id="90" name="Google Shape;90;p1"/>
          <p:cNvSpPr txBox="1"/>
          <p:nvPr/>
        </p:nvSpPr>
        <p:spPr>
          <a:xfrm>
            <a:off x="4815839" y="2832122"/>
            <a:ext cx="61655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800"/>
              <a:buFont typeface="Arial"/>
              <a:buNone/>
            </a:pPr>
            <a:r>
              <a:rPr lang="es-ES" sz="1800" b="1" i="0" u="none" strike="noStrike" cap="none" dirty="0">
                <a:solidFill>
                  <a:schemeClr val="lt1"/>
                </a:solidFill>
                <a:latin typeface="Arial"/>
                <a:ea typeface="Arial"/>
                <a:cs typeface="Arial"/>
                <a:sym typeface="Arial"/>
              </a:rPr>
              <a:t>Obtención y Preparación de Datos</a:t>
            </a:r>
            <a:endParaRPr sz="1800" b="0" i="0" u="none" strike="noStrike" cap="none"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2"/>
          <p:cNvSpPr/>
          <p:nvPr/>
        </p:nvSpPr>
        <p:spPr>
          <a:xfrm>
            <a:off x="6721434" y="-306331"/>
            <a:ext cx="4273138" cy="5461805"/>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2"/>
          <p:cNvSpPr txBox="1"/>
          <p:nvPr/>
        </p:nvSpPr>
        <p:spPr>
          <a:xfrm>
            <a:off x="155957" y="584282"/>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ES" sz="3200">
                <a:solidFill>
                  <a:srgbClr val="7F7F7F"/>
                </a:solidFill>
                <a:latin typeface="Arial"/>
                <a:ea typeface="Arial"/>
                <a:cs typeface="Arial"/>
                <a:sym typeface="Arial"/>
              </a:rPr>
              <a:t>Objetivos</a:t>
            </a:r>
            <a:endParaRPr/>
          </a:p>
        </p:txBody>
      </p:sp>
      <p:sp>
        <p:nvSpPr>
          <p:cNvPr id="98" name="Google Shape;98;p2"/>
          <p:cNvSpPr txBox="1"/>
          <p:nvPr/>
        </p:nvSpPr>
        <p:spPr>
          <a:xfrm>
            <a:off x="6820653" y="2561110"/>
            <a:ext cx="4324289" cy="967957"/>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Concatenación de dataframes.</a:t>
            </a:r>
            <a:endParaRPr sz="2000">
              <a:solidFill>
                <a:schemeClr val="dk1"/>
              </a:solidFill>
              <a:latin typeface="Calibri"/>
              <a:ea typeface="Calibri"/>
              <a:cs typeface="Calibri"/>
              <a:sym typeface="Calibri"/>
            </a:endParaRPr>
          </a:p>
          <a:p>
            <a:pPr marL="342900" marR="0" lvl="0" indent="-342900" algn="l" rtl="0">
              <a:lnSpc>
                <a:spcPct val="150000"/>
              </a:lnSpc>
              <a:spcBef>
                <a:spcPts val="0"/>
              </a:spcBef>
              <a:spcAft>
                <a:spcPts val="0"/>
              </a:spcAft>
              <a:buClr>
                <a:srgbClr val="FFFFFF"/>
              </a:buClr>
              <a:buSzPts val="2000"/>
              <a:buFont typeface="Arial"/>
              <a:buChar char="•"/>
            </a:pPr>
            <a:r>
              <a:rPr lang="es-ES" sz="2000">
                <a:solidFill>
                  <a:srgbClr val="FFFFFF"/>
                </a:solidFill>
                <a:latin typeface="Calibri"/>
                <a:ea typeface="Calibri"/>
                <a:cs typeface="Calibri"/>
                <a:sym typeface="Calibri"/>
              </a:rPr>
              <a:t>Combinación de dataframes.</a:t>
            </a:r>
            <a:endParaRPr sz="2000">
              <a:solidFill>
                <a:schemeClr val="dk1"/>
              </a:solidFill>
              <a:latin typeface="Calibri"/>
              <a:ea typeface="Calibri"/>
              <a:cs typeface="Calibri"/>
              <a:sym typeface="Calibri"/>
            </a:endParaRPr>
          </a:p>
        </p:txBody>
      </p:sp>
      <p:grpSp>
        <p:nvGrpSpPr>
          <p:cNvPr id="99" name="Google Shape;99;p2"/>
          <p:cNvGrpSpPr/>
          <p:nvPr/>
        </p:nvGrpSpPr>
        <p:grpSpPr>
          <a:xfrm>
            <a:off x="1120545" y="1659284"/>
            <a:ext cx="3524500" cy="3720972"/>
            <a:chOff x="884486" y="0"/>
            <a:chExt cx="3524500" cy="3720972"/>
          </a:xfrm>
        </p:grpSpPr>
        <p:sp>
          <p:nvSpPr>
            <p:cNvPr id="100" name="Google Shape;100;p2"/>
            <p:cNvSpPr/>
            <p:nvPr/>
          </p:nvSpPr>
          <p:spPr>
            <a:xfrm>
              <a:off x="884486" y="0"/>
              <a:ext cx="3524500" cy="3524500"/>
            </a:xfrm>
            <a:prstGeom prst="ellipse">
              <a:avLst/>
            </a:prstGeom>
            <a:blipFill rotWithShape="1">
              <a:blip r:embed="rId4">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
        <p:nvSpPr>
          <p:cNvPr id="103" name="Google Shape;103;p2"/>
          <p:cNvSpPr txBox="1"/>
          <p:nvPr/>
        </p:nvSpPr>
        <p:spPr>
          <a:xfrm>
            <a:off x="7132319" y="1416509"/>
            <a:ext cx="3152503"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ES" sz="2000">
                <a:solidFill>
                  <a:schemeClr val="lt1"/>
                </a:solidFill>
                <a:latin typeface="Calibri"/>
                <a:ea typeface="Calibri"/>
                <a:cs typeface="Calibri"/>
                <a:sym typeface="Calibri"/>
              </a:rPr>
              <a:t>Data Wrangling II</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3"/>
          <p:cNvSpPr/>
          <p:nvPr/>
        </p:nvSpPr>
        <p:spPr>
          <a:xfrm>
            <a:off x="-193769" y="1271495"/>
            <a:ext cx="12383529" cy="1513200"/>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3"/>
          <p:cNvSpPr/>
          <p:nvPr/>
        </p:nvSpPr>
        <p:spPr>
          <a:xfrm>
            <a:off x="1524001" y="3085261"/>
            <a:ext cx="9503228" cy="3189513"/>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3"/>
          <p:cNvSpPr txBox="1"/>
          <p:nvPr/>
        </p:nvSpPr>
        <p:spPr>
          <a:xfrm>
            <a:off x="1521240" y="584282"/>
            <a:ext cx="9508285" cy="594729"/>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111" name="Google Shape;111;p3"/>
          <p:cNvPicPr preferRelativeResize="0"/>
          <p:nvPr/>
        </p:nvPicPr>
        <p:blipFill rotWithShape="1">
          <a:blip r:embed="rId4">
            <a:alphaModFix/>
          </a:blip>
          <a:srcRect/>
          <a:stretch/>
        </p:blipFill>
        <p:spPr>
          <a:xfrm>
            <a:off x="2209208" y="3286632"/>
            <a:ext cx="7577642" cy="2786769"/>
          </a:xfrm>
          <a:prstGeom prst="rect">
            <a:avLst/>
          </a:prstGeom>
          <a:noFill/>
          <a:ln>
            <a:noFill/>
          </a:ln>
        </p:spPr>
      </p:pic>
      <p:sp>
        <p:nvSpPr>
          <p:cNvPr id="112" name="Google Shape;112;p3"/>
          <p:cNvSpPr txBox="1"/>
          <p:nvPr/>
        </p:nvSpPr>
        <p:spPr>
          <a:xfrm>
            <a:off x="1524001" y="1432053"/>
            <a:ext cx="9339857" cy="120028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Sea el siguiente set de datos extraído desde el servicio de impuestos internos que contiene el valor de la UF de un mes determinado. Como se puede observar, la lectura ha tenido algunas dificultades, por lo tanto, debemos volver a realizar la carga agregando algunos parámetros adicionales.</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6"/>
        <p:cNvGrpSpPr/>
        <p:nvPr/>
      </p:nvGrpSpPr>
      <p:grpSpPr>
        <a:xfrm>
          <a:off x="0" y="0"/>
          <a:ext cx="0" cy="0"/>
          <a:chOff x="0" y="0"/>
          <a:chExt cx="0" cy="0"/>
        </a:xfrm>
      </p:grpSpPr>
      <p:sp>
        <p:nvSpPr>
          <p:cNvPr id="117" name="Google Shape;117;p4"/>
          <p:cNvSpPr/>
          <p:nvPr/>
        </p:nvSpPr>
        <p:spPr>
          <a:xfrm>
            <a:off x="-41369" y="1159325"/>
            <a:ext cx="12405300" cy="1132200"/>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4"/>
          <p:cNvSpPr/>
          <p:nvPr/>
        </p:nvSpPr>
        <p:spPr>
          <a:xfrm>
            <a:off x="1955714" y="2628131"/>
            <a:ext cx="8164286" cy="3298371"/>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4"/>
          <p:cNvSpPr txBox="1"/>
          <p:nvPr/>
        </p:nvSpPr>
        <p:spPr>
          <a:xfrm>
            <a:off x="1955714" y="485291"/>
            <a:ext cx="8238949" cy="684920"/>
          </a:xfrm>
          <a:prstGeom prst="rect">
            <a:avLst/>
          </a:prstGeom>
          <a:noFill/>
          <a:ln>
            <a:noFill/>
          </a:ln>
        </p:spPr>
        <p:txBody>
          <a:bodyPr spcFirstLastPara="1" wrap="square" lIns="91425" tIns="45700" rIns="91425" bIns="45700" anchor="ctr" anchorCtr="0">
            <a:no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120" name="Google Shape;120;p4"/>
          <p:cNvPicPr preferRelativeResize="0"/>
          <p:nvPr/>
        </p:nvPicPr>
        <p:blipFill rotWithShape="1">
          <a:blip r:embed="rId4">
            <a:alphaModFix/>
          </a:blip>
          <a:srcRect/>
          <a:stretch/>
        </p:blipFill>
        <p:spPr>
          <a:xfrm>
            <a:off x="2590276" y="2872291"/>
            <a:ext cx="6895162" cy="2810049"/>
          </a:xfrm>
          <a:prstGeom prst="rect">
            <a:avLst/>
          </a:prstGeom>
          <a:noFill/>
          <a:ln>
            <a:noFill/>
          </a:ln>
        </p:spPr>
      </p:pic>
      <p:sp>
        <p:nvSpPr>
          <p:cNvPr id="121" name="Google Shape;121;p4"/>
          <p:cNvSpPr txBox="1"/>
          <p:nvPr/>
        </p:nvSpPr>
        <p:spPr>
          <a:xfrm>
            <a:off x="1955714" y="1263717"/>
            <a:ext cx="8164200"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a:solidFill>
                  <a:schemeClr val="lt1"/>
                </a:solidFill>
                <a:latin typeface="Calibri"/>
                <a:ea typeface="Calibri"/>
                <a:cs typeface="Calibri"/>
                <a:sym typeface="Calibri"/>
              </a:rPr>
              <a:t>Como se puede observar, se especificó el caracter de separación. Se indicó también, que el set de datos no trae header y se asignaron nombres de columnas. Ahora el set de datos luce de mejor forma.</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5"/>
        <p:cNvGrpSpPr/>
        <p:nvPr/>
      </p:nvGrpSpPr>
      <p:grpSpPr>
        <a:xfrm>
          <a:off x="0" y="0"/>
          <a:ext cx="0" cy="0"/>
          <a:chOff x="0" y="0"/>
          <a:chExt cx="0" cy="0"/>
        </a:xfrm>
      </p:grpSpPr>
      <p:sp>
        <p:nvSpPr>
          <p:cNvPr id="126" name="Google Shape;126;p5"/>
          <p:cNvSpPr/>
          <p:nvPr/>
        </p:nvSpPr>
        <p:spPr>
          <a:xfrm>
            <a:off x="-254214" y="1521581"/>
            <a:ext cx="11335871" cy="2503714"/>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5"/>
          <p:cNvSpPr txBox="1"/>
          <p:nvPr/>
        </p:nvSpPr>
        <p:spPr>
          <a:xfrm>
            <a:off x="685895" y="519894"/>
            <a:ext cx="6958149"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p:txBody>
      </p:sp>
      <p:sp>
        <p:nvSpPr>
          <p:cNvPr id="128" name="Google Shape;128;p5"/>
          <p:cNvSpPr txBox="1"/>
          <p:nvPr/>
        </p:nvSpPr>
        <p:spPr>
          <a:xfrm>
            <a:off x="685895" y="1712873"/>
            <a:ext cx="9763981" cy="9559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dirty="0">
                <a:solidFill>
                  <a:schemeClr val="lt1"/>
                </a:solidFill>
                <a:latin typeface="Calibri"/>
                <a:ea typeface="Calibri"/>
                <a:cs typeface="Calibri"/>
                <a:sym typeface="Calibri"/>
              </a:rPr>
              <a:t>Crearemos tres </a:t>
            </a:r>
            <a:r>
              <a:rPr lang="es-ES" sz="1800" err="1">
                <a:solidFill>
                  <a:schemeClr val="lt1"/>
                </a:solidFill>
                <a:latin typeface="Calibri"/>
                <a:ea typeface="Calibri"/>
                <a:cs typeface="Calibri"/>
                <a:sym typeface="Calibri"/>
              </a:rPr>
              <a:t>dataframes</a:t>
            </a:r>
            <a:r>
              <a:rPr lang="es-ES" sz="1800" dirty="0">
                <a:solidFill>
                  <a:schemeClr val="lt1"/>
                </a:solidFill>
                <a:latin typeface="Calibri"/>
                <a:ea typeface="Calibri"/>
                <a:cs typeface="Calibri"/>
                <a:sym typeface="Calibri"/>
              </a:rPr>
              <a:t> independientes con la información de día y valor. Nótese que hemos utilizado el método </a:t>
            </a:r>
            <a:r>
              <a:rPr lang="es-ES" sz="1800" b="1" err="1">
                <a:solidFill>
                  <a:schemeClr val="lt1"/>
                </a:solidFill>
                <a:latin typeface="Calibri"/>
                <a:ea typeface="Calibri"/>
                <a:cs typeface="Calibri"/>
                <a:sym typeface="Calibri"/>
              </a:rPr>
              <a:t>copy</a:t>
            </a:r>
            <a:r>
              <a:rPr lang="es-ES" sz="1800" b="1" dirty="0">
                <a:solidFill>
                  <a:schemeClr val="lt1"/>
                </a:solidFill>
                <a:latin typeface="Calibri"/>
                <a:ea typeface="Calibri"/>
                <a:cs typeface="Calibri"/>
                <a:sym typeface="Calibri"/>
              </a:rPr>
              <a:t>()</a:t>
            </a:r>
            <a:r>
              <a:rPr lang="es-ES" sz="1800" dirty="0">
                <a:solidFill>
                  <a:schemeClr val="lt1"/>
                </a:solidFill>
                <a:latin typeface="Calibri"/>
                <a:ea typeface="Calibri"/>
                <a:cs typeface="Calibri"/>
                <a:sym typeface="Calibri"/>
              </a:rPr>
              <a:t> para crear un objeto distinto y no trabajar con referencias a un mismo objeto.</a:t>
            </a:r>
            <a:endParaRPr sz="1600" dirty="0">
              <a:solidFill>
                <a:schemeClr val="lt1"/>
              </a:solidFill>
            </a:endParaRPr>
          </a:p>
        </p:txBody>
      </p:sp>
      <p:pic>
        <p:nvPicPr>
          <p:cNvPr id="129" name="Google Shape;129;p5"/>
          <p:cNvPicPr preferRelativeResize="0"/>
          <p:nvPr/>
        </p:nvPicPr>
        <p:blipFill rotWithShape="1">
          <a:blip r:embed="rId4">
            <a:alphaModFix/>
          </a:blip>
          <a:srcRect/>
          <a:stretch/>
        </p:blipFill>
        <p:spPr>
          <a:xfrm>
            <a:off x="207740" y="1956879"/>
            <a:ext cx="289524" cy="289524"/>
          </a:xfrm>
          <a:prstGeom prst="rect">
            <a:avLst/>
          </a:prstGeom>
          <a:noFill/>
          <a:ln>
            <a:noFill/>
          </a:ln>
        </p:spPr>
      </p:pic>
      <p:sp>
        <p:nvSpPr>
          <p:cNvPr id="130" name="Google Shape;130;p5"/>
          <p:cNvSpPr/>
          <p:nvPr/>
        </p:nvSpPr>
        <p:spPr>
          <a:xfrm>
            <a:off x="779633" y="4144836"/>
            <a:ext cx="10302556" cy="1852372"/>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31" name="Google Shape;131;p5"/>
          <p:cNvPicPr preferRelativeResize="0"/>
          <p:nvPr/>
        </p:nvPicPr>
        <p:blipFill rotWithShape="1">
          <a:blip r:embed="rId5">
            <a:alphaModFix/>
          </a:blip>
          <a:srcRect/>
          <a:stretch/>
        </p:blipFill>
        <p:spPr>
          <a:xfrm>
            <a:off x="2090153" y="2778881"/>
            <a:ext cx="6508289" cy="1057423"/>
          </a:xfrm>
          <a:prstGeom prst="rect">
            <a:avLst/>
          </a:prstGeom>
          <a:noFill/>
          <a:ln>
            <a:noFill/>
          </a:ln>
        </p:spPr>
      </p:pic>
      <p:pic>
        <p:nvPicPr>
          <p:cNvPr id="132" name="Google Shape;132;p5"/>
          <p:cNvPicPr preferRelativeResize="0"/>
          <p:nvPr/>
        </p:nvPicPr>
        <p:blipFill rotWithShape="1">
          <a:blip r:embed="rId6">
            <a:alphaModFix/>
          </a:blip>
          <a:srcRect/>
          <a:stretch/>
        </p:blipFill>
        <p:spPr>
          <a:xfrm>
            <a:off x="1743768" y="4249790"/>
            <a:ext cx="2018530" cy="1580116"/>
          </a:xfrm>
          <a:prstGeom prst="rect">
            <a:avLst/>
          </a:prstGeom>
          <a:noFill/>
          <a:ln>
            <a:noFill/>
          </a:ln>
        </p:spPr>
      </p:pic>
      <p:pic>
        <p:nvPicPr>
          <p:cNvPr id="133" name="Google Shape;133;p5"/>
          <p:cNvPicPr preferRelativeResize="0"/>
          <p:nvPr/>
        </p:nvPicPr>
        <p:blipFill rotWithShape="1">
          <a:blip r:embed="rId7">
            <a:alphaModFix/>
          </a:blip>
          <a:srcRect/>
          <a:stretch/>
        </p:blipFill>
        <p:spPr>
          <a:xfrm>
            <a:off x="4716524" y="4217139"/>
            <a:ext cx="1908926" cy="1653185"/>
          </a:xfrm>
          <a:prstGeom prst="rect">
            <a:avLst/>
          </a:prstGeom>
          <a:noFill/>
          <a:ln>
            <a:noFill/>
          </a:ln>
        </p:spPr>
      </p:pic>
      <p:pic>
        <p:nvPicPr>
          <p:cNvPr id="134" name="Google Shape;134;p5"/>
          <p:cNvPicPr preferRelativeResize="0"/>
          <p:nvPr/>
        </p:nvPicPr>
        <p:blipFill rotWithShape="1">
          <a:blip r:embed="rId8">
            <a:alphaModFix/>
          </a:blip>
          <a:srcRect/>
          <a:stretch/>
        </p:blipFill>
        <p:spPr>
          <a:xfrm>
            <a:off x="7786669" y="4246123"/>
            <a:ext cx="1799323" cy="148878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7"/>
                                        </p:tgtEl>
                                        <p:attrNameLst>
                                          <p:attrName>style.visibility</p:attrName>
                                        </p:attrNameLst>
                                      </p:cBhvr>
                                      <p:to>
                                        <p:strVal val="visible"/>
                                      </p:to>
                                    </p:set>
                                    <p:animEffect transition="in" filter="fade">
                                      <p:cBhvr>
                                        <p:cTn id="7"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8"/>
        <p:cNvGrpSpPr/>
        <p:nvPr/>
      </p:nvGrpSpPr>
      <p:grpSpPr>
        <a:xfrm>
          <a:off x="0" y="0"/>
          <a:ext cx="0" cy="0"/>
          <a:chOff x="0" y="0"/>
          <a:chExt cx="0" cy="0"/>
        </a:xfrm>
      </p:grpSpPr>
      <p:sp>
        <p:nvSpPr>
          <p:cNvPr id="139" name="Google Shape;139;p6"/>
          <p:cNvSpPr/>
          <p:nvPr/>
        </p:nvSpPr>
        <p:spPr>
          <a:xfrm>
            <a:off x="-84910" y="1299274"/>
            <a:ext cx="12405361" cy="824843"/>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0" name="Google Shape;140;p6"/>
          <p:cNvSpPr/>
          <p:nvPr/>
        </p:nvSpPr>
        <p:spPr>
          <a:xfrm>
            <a:off x="2079172" y="2383971"/>
            <a:ext cx="8164286" cy="3145971"/>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 name="Google Shape;141;p6"/>
          <p:cNvSpPr txBox="1"/>
          <p:nvPr/>
        </p:nvSpPr>
        <p:spPr>
          <a:xfrm>
            <a:off x="2002972" y="360566"/>
            <a:ext cx="10098868"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p:txBody>
      </p:sp>
      <p:pic>
        <p:nvPicPr>
          <p:cNvPr id="142" name="Google Shape;142;p6"/>
          <p:cNvPicPr preferRelativeResize="0"/>
          <p:nvPr/>
        </p:nvPicPr>
        <p:blipFill rotWithShape="1">
          <a:blip r:embed="rId4">
            <a:alphaModFix/>
          </a:blip>
          <a:srcRect/>
          <a:stretch/>
        </p:blipFill>
        <p:spPr>
          <a:xfrm>
            <a:off x="2773617" y="2536371"/>
            <a:ext cx="6775396" cy="2824320"/>
          </a:xfrm>
          <a:prstGeom prst="rect">
            <a:avLst/>
          </a:prstGeom>
          <a:noFill/>
          <a:ln>
            <a:noFill/>
          </a:ln>
        </p:spPr>
      </p:pic>
      <p:sp>
        <p:nvSpPr>
          <p:cNvPr id="143" name="Google Shape;143;p6"/>
          <p:cNvSpPr txBox="1"/>
          <p:nvPr/>
        </p:nvSpPr>
        <p:spPr>
          <a:xfrm>
            <a:off x="2035629" y="1417600"/>
            <a:ext cx="816428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a:solidFill>
                  <a:schemeClr val="lt1"/>
                </a:solidFill>
                <a:latin typeface="Calibri"/>
                <a:ea typeface="Calibri"/>
                <a:cs typeface="Calibri"/>
                <a:sym typeface="Calibri"/>
              </a:rPr>
              <a:t>Ahora renombraremos las columnas, para que los tres dataframes tengan los mismos nombres.</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
        <p:cNvGrpSpPr/>
        <p:nvPr/>
      </p:nvGrpSpPr>
      <p:grpSpPr>
        <a:xfrm>
          <a:off x="0" y="0"/>
          <a:ext cx="0" cy="0"/>
          <a:chOff x="0" y="0"/>
          <a:chExt cx="0" cy="0"/>
        </a:xfrm>
      </p:grpSpPr>
      <p:sp>
        <p:nvSpPr>
          <p:cNvPr id="148" name="Google Shape;148;p7"/>
          <p:cNvSpPr/>
          <p:nvPr/>
        </p:nvSpPr>
        <p:spPr>
          <a:xfrm>
            <a:off x="7070625" y="1570512"/>
            <a:ext cx="4606200" cy="3958500"/>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7"/>
          <p:cNvSpPr txBox="1"/>
          <p:nvPr/>
        </p:nvSpPr>
        <p:spPr>
          <a:xfrm>
            <a:off x="1101344" y="242083"/>
            <a:ext cx="10098868"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p:txBody>
      </p:sp>
      <p:sp>
        <p:nvSpPr>
          <p:cNvPr id="150" name="Google Shape;150;p7"/>
          <p:cNvSpPr/>
          <p:nvPr/>
        </p:nvSpPr>
        <p:spPr>
          <a:xfrm>
            <a:off x="881832" y="1803711"/>
            <a:ext cx="5893268" cy="4856650"/>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7"/>
          <p:cNvSpPr/>
          <p:nvPr/>
        </p:nvSpPr>
        <p:spPr>
          <a:xfrm>
            <a:off x="7851118" y="1898835"/>
            <a:ext cx="3576600" cy="3293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Utilizaremos la función </a:t>
            </a:r>
            <a:r>
              <a:rPr lang="es-ES" sz="1600" b="1" err="1">
                <a:solidFill>
                  <a:schemeClr val="lt1"/>
                </a:solidFill>
                <a:latin typeface="Calibri"/>
                <a:ea typeface="Calibri"/>
                <a:cs typeface="Calibri"/>
                <a:sym typeface="Calibri"/>
              </a:rPr>
              <a:t>concat</a:t>
            </a:r>
            <a:r>
              <a:rPr lang="es-ES" sz="1600" b="1" dirty="0">
                <a:solidFill>
                  <a:schemeClr val="lt1"/>
                </a:solidFill>
                <a:latin typeface="Calibri"/>
                <a:ea typeface="Calibri"/>
                <a:cs typeface="Calibri"/>
                <a:sym typeface="Calibri"/>
              </a:rPr>
              <a:t>()</a:t>
            </a:r>
            <a:r>
              <a:rPr lang="es-ES" sz="1600" dirty="0">
                <a:solidFill>
                  <a:schemeClr val="lt1"/>
                </a:solidFill>
                <a:latin typeface="Calibri"/>
                <a:ea typeface="Calibri"/>
                <a:cs typeface="Calibri"/>
                <a:sym typeface="Calibri"/>
              </a:rPr>
              <a:t> que posee la librería pandas para unir los </a:t>
            </a:r>
            <a:r>
              <a:rPr lang="es-ES" sz="1600" err="1">
                <a:solidFill>
                  <a:schemeClr val="lt1"/>
                </a:solidFill>
                <a:latin typeface="Calibri"/>
                <a:ea typeface="Calibri"/>
                <a:cs typeface="Calibri"/>
                <a:sym typeface="Calibri"/>
              </a:rPr>
              <a:t>dataframes</a:t>
            </a:r>
            <a:r>
              <a:rPr lang="es-ES" sz="1600" dirty="0">
                <a:solidFill>
                  <a:schemeClr val="lt1"/>
                </a:solidFill>
                <a:latin typeface="Calibri"/>
                <a:ea typeface="Calibri"/>
                <a:cs typeface="Calibri"/>
                <a:sym typeface="Calibri"/>
              </a:rPr>
              <a:t>.</a:t>
            </a:r>
            <a:endParaRPr dirty="0">
              <a:solidFill>
                <a:schemeClr val="lt1"/>
              </a:solidFill>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Nótese que esta función recibe como parámetro un listado con los </a:t>
            </a:r>
            <a:r>
              <a:rPr lang="es-ES" sz="1600" dirty="0" err="1">
                <a:solidFill>
                  <a:schemeClr val="lt1"/>
                </a:solidFill>
                <a:latin typeface="Calibri"/>
                <a:ea typeface="Calibri"/>
                <a:cs typeface="Calibri"/>
                <a:sym typeface="Calibri"/>
              </a:rPr>
              <a:t>dataframes</a:t>
            </a:r>
            <a:r>
              <a:rPr lang="es-ES" sz="1600" dirty="0">
                <a:solidFill>
                  <a:schemeClr val="lt1"/>
                </a:solidFill>
                <a:latin typeface="Calibri"/>
                <a:ea typeface="Calibri"/>
                <a:cs typeface="Calibri"/>
                <a:sym typeface="Calibri"/>
              </a:rPr>
              <a:t> que se busca concatenar.</a:t>
            </a:r>
            <a:endParaRPr dirty="0">
              <a:solidFill>
                <a:schemeClr val="lt1"/>
              </a:solidFill>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600" dirty="0">
                <a:solidFill>
                  <a:schemeClr val="lt1"/>
                </a:solidFill>
                <a:latin typeface="Calibri"/>
                <a:ea typeface="Calibri"/>
                <a:cs typeface="Calibri"/>
                <a:sym typeface="Calibri"/>
              </a:rPr>
              <a:t>Sin embargo, han quedado algunas filas con valores </a:t>
            </a:r>
            <a:r>
              <a:rPr lang="es-ES" sz="1600" dirty="0" err="1">
                <a:solidFill>
                  <a:schemeClr val="lt1"/>
                </a:solidFill>
                <a:latin typeface="Calibri"/>
                <a:ea typeface="Calibri"/>
                <a:cs typeface="Calibri"/>
                <a:sym typeface="Calibri"/>
              </a:rPr>
              <a:t>NaN</a:t>
            </a:r>
            <a:r>
              <a:rPr lang="es-ES" sz="1600" dirty="0">
                <a:solidFill>
                  <a:schemeClr val="lt1"/>
                </a:solidFill>
                <a:latin typeface="Calibri"/>
                <a:ea typeface="Calibri"/>
                <a:cs typeface="Calibri"/>
                <a:sym typeface="Calibri"/>
              </a:rPr>
              <a:t> y el índice repite algunos valores. Ese será el último paso que realizaremos para ajustar el </a:t>
            </a:r>
            <a:r>
              <a:rPr lang="es-ES" sz="1600" dirty="0" err="1">
                <a:solidFill>
                  <a:schemeClr val="lt1"/>
                </a:solidFill>
                <a:latin typeface="Calibri"/>
                <a:ea typeface="Calibri"/>
                <a:cs typeface="Calibri"/>
                <a:sym typeface="Calibri"/>
              </a:rPr>
              <a:t>dataframe</a:t>
            </a:r>
            <a:r>
              <a:rPr lang="es-ES" sz="1600" dirty="0">
                <a:solidFill>
                  <a:schemeClr val="lt1"/>
                </a:solidFill>
                <a:latin typeface="Calibri"/>
                <a:ea typeface="Calibri"/>
                <a:cs typeface="Calibri"/>
                <a:sym typeface="Calibri"/>
              </a:rPr>
              <a:t> final.</a:t>
            </a:r>
            <a:endParaRPr sz="1400" dirty="0">
              <a:solidFill>
                <a:schemeClr val="lt1"/>
              </a:solidFill>
              <a:latin typeface="Calibri"/>
              <a:ea typeface="Calibri"/>
              <a:cs typeface="Calibri"/>
              <a:sym typeface="Calibri"/>
            </a:endParaRPr>
          </a:p>
        </p:txBody>
      </p:sp>
      <p:pic>
        <p:nvPicPr>
          <p:cNvPr id="152" name="Google Shape;152;p7"/>
          <p:cNvPicPr preferRelativeResize="0"/>
          <p:nvPr/>
        </p:nvPicPr>
        <p:blipFill rotWithShape="1">
          <a:blip r:embed="rId4">
            <a:alphaModFix/>
          </a:blip>
          <a:srcRect/>
          <a:stretch/>
        </p:blipFill>
        <p:spPr>
          <a:xfrm>
            <a:off x="1101344" y="1882784"/>
            <a:ext cx="5350498" cy="4460171"/>
          </a:xfrm>
          <a:prstGeom prst="rect">
            <a:avLst/>
          </a:prstGeom>
          <a:noFill/>
          <a:ln>
            <a:noFill/>
          </a:ln>
        </p:spPr>
      </p:pic>
      <p:cxnSp>
        <p:nvCxnSpPr>
          <p:cNvPr id="153" name="Google Shape;153;p7"/>
          <p:cNvCxnSpPr/>
          <p:nvPr/>
        </p:nvCxnSpPr>
        <p:spPr>
          <a:xfrm rot="10800000">
            <a:off x="3403524" y="2211646"/>
            <a:ext cx="3591088" cy="867619"/>
          </a:xfrm>
          <a:prstGeom prst="straightConnector1">
            <a:avLst/>
          </a:prstGeom>
          <a:noFill/>
          <a:ln w="19050" cap="flat" cmpd="sng">
            <a:solidFill>
              <a:srgbClr val="595959"/>
            </a:solidFill>
            <a:prstDash val="solid"/>
            <a:miter lim="800000"/>
            <a:headEnd type="none" w="sm" len="sm"/>
            <a:tailEnd type="triangle" w="med" len="med"/>
          </a:ln>
        </p:spPr>
      </p:cxnSp>
      <p:pic>
        <p:nvPicPr>
          <p:cNvPr id="154" name="Google Shape;154;p7"/>
          <p:cNvPicPr preferRelativeResize="0"/>
          <p:nvPr/>
        </p:nvPicPr>
        <p:blipFill rotWithShape="1">
          <a:blip r:embed="rId5">
            <a:alphaModFix/>
          </a:blip>
          <a:srcRect/>
          <a:stretch/>
        </p:blipFill>
        <p:spPr>
          <a:xfrm>
            <a:off x="7398554" y="2042407"/>
            <a:ext cx="289524" cy="289524"/>
          </a:xfrm>
          <a:prstGeom prst="rect">
            <a:avLst/>
          </a:prstGeom>
          <a:noFill/>
          <a:ln>
            <a:noFill/>
          </a:ln>
        </p:spPr>
      </p:pic>
      <p:pic>
        <p:nvPicPr>
          <p:cNvPr id="155" name="Google Shape;155;p7"/>
          <p:cNvPicPr preferRelativeResize="0"/>
          <p:nvPr/>
        </p:nvPicPr>
        <p:blipFill rotWithShape="1">
          <a:blip r:embed="rId5">
            <a:alphaModFix/>
          </a:blip>
          <a:srcRect/>
          <a:stretch/>
        </p:blipFill>
        <p:spPr>
          <a:xfrm>
            <a:off x="7398554" y="3079282"/>
            <a:ext cx="289524" cy="289524"/>
          </a:xfrm>
          <a:prstGeom prst="rect">
            <a:avLst/>
          </a:prstGeom>
          <a:noFill/>
          <a:ln>
            <a:noFill/>
          </a:ln>
        </p:spPr>
      </p:pic>
      <p:pic>
        <p:nvPicPr>
          <p:cNvPr id="156" name="Google Shape;156;p7"/>
          <p:cNvPicPr preferRelativeResize="0"/>
          <p:nvPr/>
        </p:nvPicPr>
        <p:blipFill rotWithShape="1">
          <a:blip r:embed="rId5">
            <a:alphaModFix/>
          </a:blip>
          <a:srcRect/>
          <a:stretch/>
        </p:blipFill>
        <p:spPr>
          <a:xfrm>
            <a:off x="7398554" y="4087270"/>
            <a:ext cx="289524" cy="2895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0"/>
        <p:cNvGrpSpPr/>
        <p:nvPr/>
      </p:nvGrpSpPr>
      <p:grpSpPr>
        <a:xfrm>
          <a:off x="0" y="0"/>
          <a:ext cx="0" cy="0"/>
          <a:chOff x="0" y="0"/>
          <a:chExt cx="0" cy="0"/>
        </a:xfrm>
      </p:grpSpPr>
      <p:sp>
        <p:nvSpPr>
          <p:cNvPr id="161" name="Google Shape;161;p8"/>
          <p:cNvSpPr/>
          <p:nvPr/>
        </p:nvSpPr>
        <p:spPr>
          <a:xfrm>
            <a:off x="694832" y="1605832"/>
            <a:ext cx="6016076" cy="2796543"/>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8"/>
          <p:cNvSpPr txBox="1"/>
          <p:nvPr/>
        </p:nvSpPr>
        <p:spPr>
          <a:xfrm>
            <a:off x="691101" y="374034"/>
            <a:ext cx="5802416"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s-ES" sz="3200">
                <a:solidFill>
                  <a:srgbClr val="7F7F7F"/>
                </a:solidFill>
                <a:latin typeface="Arial"/>
                <a:ea typeface="Arial"/>
                <a:cs typeface="Arial"/>
                <a:sym typeface="Arial"/>
              </a:rPr>
              <a:t>Concatenación de dataframes</a:t>
            </a:r>
            <a:endParaRPr sz="3200">
              <a:solidFill>
                <a:srgbClr val="7F7F7F"/>
              </a:solidFill>
              <a:latin typeface="Arial"/>
              <a:ea typeface="Arial"/>
              <a:cs typeface="Arial"/>
              <a:sym typeface="Arial"/>
            </a:endParaRPr>
          </a:p>
        </p:txBody>
      </p:sp>
      <p:sp>
        <p:nvSpPr>
          <p:cNvPr id="163" name="Google Shape;163;p8"/>
          <p:cNvSpPr/>
          <p:nvPr/>
        </p:nvSpPr>
        <p:spPr>
          <a:xfrm>
            <a:off x="7117895" y="584150"/>
            <a:ext cx="4538852" cy="5467872"/>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8"/>
          <p:cNvSpPr/>
          <p:nvPr/>
        </p:nvSpPr>
        <p:spPr>
          <a:xfrm>
            <a:off x="1446333" y="1791849"/>
            <a:ext cx="4889203" cy="230828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Realizamos algunos ajustes finales, tales como eliminar los valores perdidos y reseteamos el índice.</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ES" sz="1800">
                <a:solidFill>
                  <a:schemeClr val="lt1"/>
                </a:solidFill>
                <a:latin typeface="Calibri"/>
                <a:ea typeface="Calibri"/>
                <a:cs typeface="Calibri"/>
                <a:sym typeface="Calibri"/>
              </a:rPr>
              <a:t>La opción drop=True en el método de reseteo del índice sirve para indicar que no deseamos que el índice sea promovido a columna, puesto que no es de utilidad en este caso.</a:t>
            </a:r>
            <a:endParaRPr sz="1400">
              <a:solidFill>
                <a:schemeClr val="dk1"/>
              </a:solidFill>
              <a:latin typeface="Calibri"/>
              <a:ea typeface="Calibri"/>
              <a:cs typeface="Calibri"/>
              <a:sym typeface="Calibri"/>
            </a:endParaRPr>
          </a:p>
        </p:txBody>
      </p:sp>
      <p:pic>
        <p:nvPicPr>
          <p:cNvPr id="165" name="Google Shape;165;p8"/>
          <p:cNvPicPr preferRelativeResize="0"/>
          <p:nvPr/>
        </p:nvPicPr>
        <p:blipFill rotWithShape="1">
          <a:blip r:embed="rId4">
            <a:alphaModFix/>
          </a:blip>
          <a:srcRect/>
          <a:stretch/>
        </p:blipFill>
        <p:spPr>
          <a:xfrm>
            <a:off x="7536851" y="682122"/>
            <a:ext cx="3795180" cy="5228821"/>
          </a:xfrm>
          <a:prstGeom prst="rect">
            <a:avLst/>
          </a:prstGeom>
          <a:noFill/>
          <a:ln>
            <a:noFill/>
          </a:ln>
        </p:spPr>
      </p:pic>
      <p:pic>
        <p:nvPicPr>
          <p:cNvPr id="166" name="Google Shape;166;p8"/>
          <p:cNvPicPr preferRelativeResize="0"/>
          <p:nvPr/>
        </p:nvPicPr>
        <p:blipFill rotWithShape="1">
          <a:blip r:embed="rId5">
            <a:alphaModFix/>
          </a:blip>
          <a:srcRect/>
          <a:stretch/>
        </p:blipFill>
        <p:spPr>
          <a:xfrm>
            <a:off x="953354" y="1927303"/>
            <a:ext cx="289524" cy="289524"/>
          </a:xfrm>
          <a:prstGeom prst="rect">
            <a:avLst/>
          </a:prstGeom>
          <a:noFill/>
          <a:ln>
            <a:noFill/>
          </a:ln>
        </p:spPr>
      </p:pic>
      <p:pic>
        <p:nvPicPr>
          <p:cNvPr id="167" name="Google Shape;167;p8"/>
          <p:cNvPicPr preferRelativeResize="0"/>
          <p:nvPr/>
        </p:nvPicPr>
        <p:blipFill rotWithShape="1">
          <a:blip r:embed="rId5">
            <a:alphaModFix/>
          </a:blip>
          <a:srcRect/>
          <a:stretch/>
        </p:blipFill>
        <p:spPr>
          <a:xfrm>
            <a:off x="953354" y="3071607"/>
            <a:ext cx="289524" cy="2895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1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1"/>
        <p:cNvGrpSpPr/>
        <p:nvPr/>
      </p:nvGrpSpPr>
      <p:grpSpPr>
        <a:xfrm>
          <a:off x="0" y="0"/>
          <a:ext cx="0" cy="0"/>
          <a:chOff x="0" y="0"/>
          <a:chExt cx="0" cy="0"/>
        </a:xfrm>
      </p:grpSpPr>
      <p:sp>
        <p:nvSpPr>
          <p:cNvPr id="172" name="Google Shape;172;p9"/>
          <p:cNvSpPr/>
          <p:nvPr/>
        </p:nvSpPr>
        <p:spPr>
          <a:xfrm>
            <a:off x="920210" y="1498199"/>
            <a:ext cx="10133485" cy="3934370"/>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9"/>
          <p:cNvSpPr/>
          <p:nvPr/>
        </p:nvSpPr>
        <p:spPr>
          <a:xfrm>
            <a:off x="4460364" y="1630009"/>
            <a:ext cx="6487885" cy="3722914"/>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9"/>
          <p:cNvSpPr txBox="1"/>
          <p:nvPr/>
        </p:nvSpPr>
        <p:spPr>
          <a:xfrm>
            <a:off x="930279" y="382629"/>
            <a:ext cx="9929050" cy="1008062"/>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pic>
        <p:nvPicPr>
          <p:cNvPr id="175" name="Google Shape;175;p9"/>
          <p:cNvPicPr preferRelativeResize="0"/>
          <p:nvPr/>
        </p:nvPicPr>
        <p:blipFill rotWithShape="1">
          <a:blip r:embed="rId4">
            <a:alphaModFix/>
          </a:blip>
          <a:srcRect/>
          <a:stretch/>
        </p:blipFill>
        <p:spPr>
          <a:xfrm>
            <a:off x="4903565" y="1786176"/>
            <a:ext cx="5601482" cy="3458058"/>
          </a:xfrm>
          <a:prstGeom prst="rect">
            <a:avLst/>
          </a:prstGeom>
          <a:noFill/>
          <a:ln>
            <a:noFill/>
          </a:ln>
        </p:spPr>
      </p:pic>
      <p:sp>
        <p:nvSpPr>
          <p:cNvPr id="176" name="Google Shape;176;p9"/>
          <p:cNvSpPr txBox="1"/>
          <p:nvPr/>
        </p:nvSpPr>
        <p:spPr>
          <a:xfrm>
            <a:off x="1142268" y="1704415"/>
            <a:ext cx="3164442"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a:solidFill>
                  <a:schemeClr val="lt1"/>
                </a:solidFill>
                <a:latin typeface="Calibri"/>
                <a:ea typeface="Calibri"/>
                <a:cs typeface="Calibri"/>
                <a:sym typeface="Calibri"/>
              </a:rPr>
              <a:t>Sea el siguiente set de datos que contiene información de los clientes, el cual incluye a su comuna y su segmento de cliente en un banco determinado.</a:t>
            </a: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10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sp>
        <p:nvSpPr>
          <p:cNvPr id="181" name="Google Shape;181;p10"/>
          <p:cNvSpPr/>
          <p:nvPr/>
        </p:nvSpPr>
        <p:spPr>
          <a:xfrm>
            <a:off x="-208277" y="1335046"/>
            <a:ext cx="12756956" cy="783377"/>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10"/>
          <p:cNvSpPr txBox="1"/>
          <p:nvPr/>
        </p:nvSpPr>
        <p:spPr>
          <a:xfrm>
            <a:off x="1328985" y="517939"/>
            <a:ext cx="9929050" cy="927761"/>
          </a:xfrm>
          <a:prstGeom prst="rect">
            <a:avLst/>
          </a:prstGeom>
          <a:noFill/>
          <a:ln>
            <a:noFill/>
          </a:ln>
        </p:spPr>
        <p:txBody>
          <a:bodyPr spcFirstLastPara="1" wrap="square" lIns="91425" tIns="45700" rIns="91425" bIns="45700" anchor="ctr" anchorCtr="0">
            <a:noAutofit/>
          </a:bodyPr>
          <a:lstStyle/>
          <a:p>
            <a:pPr marL="0" marR="0" lvl="0" indent="0" algn="just"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a:p>
            <a:pPr marL="0" marR="0" lvl="0" indent="0" algn="l" rtl="0">
              <a:lnSpc>
                <a:spcPct val="90000"/>
              </a:lnSpc>
              <a:spcBef>
                <a:spcPts val="0"/>
              </a:spcBef>
              <a:spcAft>
                <a:spcPts val="0"/>
              </a:spcAft>
              <a:buNone/>
            </a:pPr>
            <a:endParaRPr sz="3200">
              <a:solidFill>
                <a:srgbClr val="7F7F7F"/>
              </a:solidFill>
              <a:latin typeface="Arial"/>
              <a:ea typeface="Arial"/>
              <a:cs typeface="Arial"/>
              <a:sym typeface="Arial"/>
            </a:endParaRPr>
          </a:p>
        </p:txBody>
      </p:sp>
      <p:sp>
        <p:nvSpPr>
          <p:cNvPr id="183" name="Google Shape;183;p10"/>
          <p:cNvSpPr txBox="1"/>
          <p:nvPr/>
        </p:nvSpPr>
        <p:spPr>
          <a:xfrm>
            <a:off x="1328985" y="1445700"/>
            <a:ext cx="9351986" cy="646331"/>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s-ES" sz="1800">
                <a:solidFill>
                  <a:schemeClr val="lt1"/>
                </a:solidFill>
                <a:latin typeface="Calibri"/>
                <a:ea typeface="Calibri"/>
                <a:cs typeface="Calibri"/>
                <a:sym typeface="Calibri"/>
              </a:rPr>
              <a:t>Sean los siguientes set de datos que contienen el maestro de comunas y los factores de riesgo aplicados a cada par segmento/comuna.</a:t>
            </a:r>
            <a:endParaRPr sz="1800">
              <a:solidFill>
                <a:schemeClr val="lt1"/>
              </a:solidFill>
              <a:latin typeface="Calibri"/>
              <a:ea typeface="Calibri"/>
              <a:cs typeface="Calibri"/>
              <a:sym typeface="Calibri"/>
            </a:endParaRPr>
          </a:p>
        </p:txBody>
      </p:sp>
      <p:sp>
        <p:nvSpPr>
          <p:cNvPr id="184" name="Google Shape;184;p10"/>
          <p:cNvSpPr/>
          <p:nvPr/>
        </p:nvSpPr>
        <p:spPr>
          <a:xfrm>
            <a:off x="1328985" y="2399401"/>
            <a:ext cx="9351986" cy="3753024"/>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85" name="Google Shape;185;p10"/>
          <p:cNvPicPr preferRelativeResize="0"/>
          <p:nvPr/>
        </p:nvPicPr>
        <p:blipFill rotWithShape="1">
          <a:blip r:embed="rId4">
            <a:alphaModFix/>
          </a:blip>
          <a:srcRect/>
          <a:stretch/>
        </p:blipFill>
        <p:spPr>
          <a:xfrm>
            <a:off x="6243840" y="2541388"/>
            <a:ext cx="3999564" cy="2858753"/>
          </a:xfrm>
          <a:prstGeom prst="rect">
            <a:avLst/>
          </a:prstGeom>
          <a:noFill/>
          <a:ln>
            <a:noFill/>
          </a:ln>
        </p:spPr>
      </p:pic>
      <p:pic>
        <p:nvPicPr>
          <p:cNvPr id="186" name="Google Shape;186;p10"/>
          <p:cNvPicPr preferRelativeResize="0"/>
          <p:nvPr/>
        </p:nvPicPr>
        <p:blipFill rotWithShape="1">
          <a:blip r:embed="rId5">
            <a:alphaModFix/>
          </a:blip>
          <a:srcRect/>
          <a:stretch/>
        </p:blipFill>
        <p:spPr>
          <a:xfrm>
            <a:off x="1795440" y="2541388"/>
            <a:ext cx="3981945" cy="34690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2"/>
                                        </p:tgtEl>
                                        <p:attrNameLst>
                                          <p:attrName>style.visibility</p:attrName>
                                        </p:attrNameLst>
                                      </p:cBhvr>
                                      <p:to>
                                        <p:strVal val="visible"/>
                                      </p:to>
                                    </p:set>
                                    <p:animEffect transition="in" filter="fade">
                                      <p:cBhvr>
                                        <p:cTn id="7"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0"/>
        <p:cNvGrpSpPr/>
        <p:nvPr/>
      </p:nvGrpSpPr>
      <p:grpSpPr>
        <a:xfrm>
          <a:off x="0" y="0"/>
          <a:ext cx="0" cy="0"/>
          <a:chOff x="0" y="0"/>
          <a:chExt cx="0" cy="0"/>
        </a:xfrm>
      </p:grpSpPr>
      <p:sp>
        <p:nvSpPr>
          <p:cNvPr id="191" name="Google Shape;191;p11"/>
          <p:cNvSpPr/>
          <p:nvPr/>
        </p:nvSpPr>
        <p:spPr>
          <a:xfrm>
            <a:off x="-394447" y="1859827"/>
            <a:ext cx="12496943" cy="35877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1"/>
          <p:cNvSpPr txBox="1"/>
          <p:nvPr/>
        </p:nvSpPr>
        <p:spPr>
          <a:xfrm>
            <a:off x="818441" y="668461"/>
            <a:ext cx="4970912" cy="1008062"/>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ES" sz="3200">
                <a:solidFill>
                  <a:srgbClr val="7F7F7F"/>
                </a:solidFill>
                <a:latin typeface="Arial"/>
                <a:ea typeface="Arial"/>
                <a:cs typeface="Arial"/>
                <a:sym typeface="Arial"/>
              </a:rPr>
              <a:t>Merge</a:t>
            </a:r>
            <a:endParaRPr sz="3600">
              <a:solidFill>
                <a:srgbClr val="7F7F7F"/>
              </a:solidFill>
              <a:latin typeface="Arial"/>
              <a:ea typeface="Arial"/>
              <a:cs typeface="Arial"/>
              <a:sym typeface="Arial"/>
            </a:endParaRPr>
          </a:p>
        </p:txBody>
      </p:sp>
      <p:sp>
        <p:nvSpPr>
          <p:cNvPr id="193" name="Google Shape;193;p11"/>
          <p:cNvSpPr txBox="1"/>
          <p:nvPr/>
        </p:nvSpPr>
        <p:spPr>
          <a:xfrm>
            <a:off x="819768" y="2063957"/>
            <a:ext cx="5123850" cy="313928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800">
                <a:solidFill>
                  <a:schemeClr val="lt1"/>
                </a:solidFill>
                <a:latin typeface="Calibri"/>
                <a:ea typeface="Calibri"/>
                <a:cs typeface="Calibri"/>
                <a:sym typeface="Calibri"/>
              </a:rPr>
              <a:t>Primero, realizaremos un merge entre el dataframe de clientes y de comunas. El método de unión es análogo a los joins de bases de datos. Un inner join corresponde a un producto cruz entre el dataframe left y right con todas las filas que hicieron match con la columna declarada en el parámetro </a:t>
            </a:r>
            <a:r>
              <a:rPr lang="es-ES" sz="1800" b="1">
                <a:solidFill>
                  <a:schemeClr val="lt1"/>
                </a:solidFill>
                <a:latin typeface="Calibri"/>
                <a:ea typeface="Calibri"/>
                <a:cs typeface="Calibri"/>
                <a:sym typeface="Calibri"/>
              </a:rPr>
              <a:t>on.</a:t>
            </a:r>
            <a:endParaRPr sz="1600"/>
          </a:p>
          <a:p>
            <a:pPr marL="0" marR="0" lvl="0" indent="0" algn="just" rtl="0">
              <a:spcBef>
                <a:spcPts val="0"/>
              </a:spcBef>
              <a:spcAft>
                <a:spcPts val="0"/>
              </a:spcAft>
              <a:buNone/>
            </a:pPr>
            <a:r>
              <a:rPr lang="es-ES" sz="1800">
                <a:solidFill>
                  <a:schemeClr val="lt1"/>
                </a:solidFill>
                <a:latin typeface="Calibri"/>
                <a:ea typeface="Calibri"/>
                <a:cs typeface="Calibri"/>
                <a:sym typeface="Calibri"/>
              </a:rPr>
              <a:t>Sin embargo, se aprecia que ya no figuran algunos registros de cliente a causa que no hubo match en el campo de la comuna. Esto es perjudicial puesto que se han perdido registros de clientes durante el merge.</a:t>
            </a:r>
            <a:endParaRPr sz="1600"/>
          </a:p>
        </p:txBody>
      </p:sp>
      <p:pic>
        <p:nvPicPr>
          <p:cNvPr id="194" name="Google Shape;194;p11"/>
          <p:cNvPicPr preferRelativeResize="0"/>
          <p:nvPr/>
        </p:nvPicPr>
        <p:blipFill rotWithShape="1">
          <a:blip r:embed="rId4">
            <a:alphaModFix/>
          </a:blip>
          <a:srcRect/>
          <a:stretch/>
        </p:blipFill>
        <p:spPr>
          <a:xfrm>
            <a:off x="292665" y="2138190"/>
            <a:ext cx="289524" cy="289524"/>
          </a:xfrm>
          <a:prstGeom prst="rect">
            <a:avLst/>
          </a:prstGeom>
          <a:noFill/>
          <a:ln>
            <a:noFill/>
          </a:ln>
        </p:spPr>
      </p:pic>
      <p:sp>
        <p:nvSpPr>
          <p:cNvPr id="195" name="Google Shape;195;p11"/>
          <p:cNvSpPr/>
          <p:nvPr/>
        </p:nvSpPr>
        <p:spPr>
          <a:xfrm>
            <a:off x="6209591" y="2009323"/>
            <a:ext cx="5735338" cy="3307576"/>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96" name="Google Shape;196;p11"/>
          <p:cNvPicPr preferRelativeResize="0"/>
          <p:nvPr/>
        </p:nvPicPr>
        <p:blipFill rotWithShape="1">
          <a:blip r:embed="rId5">
            <a:alphaModFix/>
          </a:blip>
          <a:srcRect/>
          <a:stretch/>
        </p:blipFill>
        <p:spPr>
          <a:xfrm>
            <a:off x="6355841" y="2199114"/>
            <a:ext cx="5442839" cy="2927994"/>
          </a:xfrm>
          <a:prstGeom prst="rect">
            <a:avLst/>
          </a:prstGeom>
          <a:noFill/>
          <a:ln>
            <a:noFill/>
          </a:ln>
        </p:spPr>
      </p:pic>
      <p:cxnSp>
        <p:nvCxnSpPr>
          <p:cNvPr id="197" name="Google Shape;197;p11"/>
          <p:cNvCxnSpPr>
            <a:stCxn id="198" idx="2"/>
          </p:cNvCxnSpPr>
          <p:nvPr/>
        </p:nvCxnSpPr>
        <p:spPr>
          <a:xfrm>
            <a:off x="6324929" y="1637910"/>
            <a:ext cx="808200" cy="788100"/>
          </a:xfrm>
          <a:prstGeom prst="straightConnector1">
            <a:avLst/>
          </a:prstGeom>
          <a:noFill/>
          <a:ln w="9525" cap="flat" cmpd="sng">
            <a:solidFill>
              <a:srgbClr val="3F3F3F"/>
            </a:solidFill>
            <a:prstDash val="solid"/>
            <a:miter lim="800000"/>
            <a:headEnd type="none" w="sm" len="sm"/>
            <a:tailEnd type="triangle" w="med" len="med"/>
          </a:ln>
        </p:spPr>
      </p:cxnSp>
      <p:cxnSp>
        <p:nvCxnSpPr>
          <p:cNvPr id="199" name="Google Shape;199;p11"/>
          <p:cNvCxnSpPr>
            <a:stCxn id="200" idx="2"/>
          </p:cNvCxnSpPr>
          <p:nvPr/>
        </p:nvCxnSpPr>
        <p:spPr>
          <a:xfrm>
            <a:off x="7490504" y="1637910"/>
            <a:ext cx="6600" cy="785100"/>
          </a:xfrm>
          <a:prstGeom prst="straightConnector1">
            <a:avLst/>
          </a:prstGeom>
          <a:noFill/>
          <a:ln w="9525" cap="flat" cmpd="sng">
            <a:solidFill>
              <a:srgbClr val="3F3F3F"/>
            </a:solidFill>
            <a:prstDash val="solid"/>
            <a:miter lim="800000"/>
            <a:headEnd type="none" w="sm" len="sm"/>
            <a:tailEnd type="triangle" w="med" len="med"/>
          </a:ln>
        </p:spPr>
      </p:cxnSp>
      <p:cxnSp>
        <p:nvCxnSpPr>
          <p:cNvPr id="201" name="Google Shape;201;p11"/>
          <p:cNvCxnSpPr>
            <a:stCxn id="202" idx="2"/>
          </p:cNvCxnSpPr>
          <p:nvPr/>
        </p:nvCxnSpPr>
        <p:spPr>
          <a:xfrm flipH="1">
            <a:off x="8390147" y="1663780"/>
            <a:ext cx="396600" cy="800100"/>
          </a:xfrm>
          <a:prstGeom prst="straightConnector1">
            <a:avLst/>
          </a:prstGeom>
          <a:noFill/>
          <a:ln w="9525" cap="flat" cmpd="sng">
            <a:solidFill>
              <a:srgbClr val="3F3F3F"/>
            </a:solidFill>
            <a:prstDash val="solid"/>
            <a:miter lim="800000"/>
            <a:headEnd type="none" w="sm" len="sm"/>
            <a:tailEnd type="triangle" w="med" len="med"/>
          </a:ln>
        </p:spPr>
      </p:cxnSp>
      <p:cxnSp>
        <p:nvCxnSpPr>
          <p:cNvPr id="203" name="Google Shape;203;p11"/>
          <p:cNvCxnSpPr/>
          <p:nvPr/>
        </p:nvCxnSpPr>
        <p:spPr>
          <a:xfrm flipH="1">
            <a:off x="9371310" y="1663820"/>
            <a:ext cx="800761" cy="755685"/>
          </a:xfrm>
          <a:prstGeom prst="straightConnector1">
            <a:avLst/>
          </a:prstGeom>
          <a:noFill/>
          <a:ln w="9525" cap="flat" cmpd="sng">
            <a:solidFill>
              <a:srgbClr val="595959"/>
            </a:solidFill>
            <a:prstDash val="solid"/>
            <a:miter lim="800000"/>
            <a:headEnd type="none" w="sm" len="sm"/>
            <a:tailEnd type="triangle" w="med" len="med"/>
          </a:ln>
        </p:spPr>
      </p:cxnSp>
      <p:sp>
        <p:nvSpPr>
          <p:cNvPr id="198" name="Google Shape;198;p11"/>
          <p:cNvSpPr txBox="1"/>
          <p:nvPr/>
        </p:nvSpPr>
        <p:spPr>
          <a:xfrm>
            <a:off x="5803495" y="1114690"/>
            <a:ext cx="104286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7F7F7F"/>
              </a:buClr>
              <a:buSzPts val="1400"/>
              <a:buFont typeface="Calibri"/>
              <a:buNone/>
            </a:pPr>
            <a:r>
              <a:rPr lang="es-ES" sz="1400" b="1">
                <a:solidFill>
                  <a:srgbClr val="7F7F7F"/>
                </a:solidFill>
                <a:latin typeface="Calibri"/>
                <a:ea typeface="Calibri"/>
                <a:cs typeface="Calibri"/>
                <a:sym typeface="Calibri"/>
              </a:rPr>
              <a:t>Left dataframe</a:t>
            </a:r>
            <a:endParaRPr sz="1400" b="1">
              <a:solidFill>
                <a:srgbClr val="7F7F7F"/>
              </a:solidFill>
              <a:latin typeface="Calibri"/>
              <a:ea typeface="Calibri"/>
              <a:cs typeface="Calibri"/>
              <a:sym typeface="Calibri"/>
            </a:endParaRPr>
          </a:p>
        </p:txBody>
      </p:sp>
      <p:sp>
        <p:nvSpPr>
          <p:cNvPr id="200" name="Google Shape;200;p11"/>
          <p:cNvSpPr txBox="1"/>
          <p:nvPr/>
        </p:nvSpPr>
        <p:spPr>
          <a:xfrm>
            <a:off x="6948395" y="1114690"/>
            <a:ext cx="1084217"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7F7F7F"/>
              </a:buClr>
              <a:buSzPts val="1400"/>
              <a:buFont typeface="Calibri"/>
              <a:buNone/>
            </a:pPr>
            <a:r>
              <a:rPr lang="es-ES" sz="1400" b="1">
                <a:solidFill>
                  <a:srgbClr val="7F7F7F"/>
                </a:solidFill>
                <a:latin typeface="Calibri"/>
                <a:ea typeface="Calibri"/>
                <a:cs typeface="Calibri"/>
                <a:sym typeface="Calibri"/>
              </a:rPr>
              <a:t>Rigth dataframe</a:t>
            </a:r>
            <a:endParaRPr sz="1400" b="1">
              <a:solidFill>
                <a:srgbClr val="7F7F7F"/>
              </a:solidFill>
              <a:latin typeface="Calibri"/>
              <a:ea typeface="Calibri"/>
              <a:cs typeface="Calibri"/>
              <a:sym typeface="Calibri"/>
            </a:endParaRPr>
          </a:p>
        </p:txBody>
      </p:sp>
      <p:sp>
        <p:nvSpPr>
          <p:cNvPr id="202" name="Google Shape;202;p11"/>
          <p:cNvSpPr txBox="1"/>
          <p:nvPr/>
        </p:nvSpPr>
        <p:spPr>
          <a:xfrm>
            <a:off x="8244638" y="1140600"/>
            <a:ext cx="1084217"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1400" b="1">
                <a:solidFill>
                  <a:srgbClr val="7F7F7F"/>
                </a:solidFill>
                <a:latin typeface="Calibri"/>
                <a:ea typeface="Calibri"/>
                <a:cs typeface="Calibri"/>
                <a:sym typeface="Calibri"/>
              </a:rPr>
              <a:t>Método de unión </a:t>
            </a:r>
            <a:endParaRPr sz="1400" b="1">
              <a:solidFill>
                <a:srgbClr val="7F7F7F"/>
              </a:solidFill>
              <a:latin typeface="Calibri"/>
              <a:ea typeface="Calibri"/>
              <a:cs typeface="Calibri"/>
              <a:sym typeface="Calibri"/>
            </a:endParaRPr>
          </a:p>
        </p:txBody>
      </p:sp>
      <p:sp>
        <p:nvSpPr>
          <p:cNvPr id="204" name="Google Shape;204;p11"/>
          <p:cNvSpPr txBox="1"/>
          <p:nvPr/>
        </p:nvSpPr>
        <p:spPr>
          <a:xfrm>
            <a:off x="9565075" y="1122712"/>
            <a:ext cx="1489085" cy="5231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7F7F7F"/>
              </a:buClr>
              <a:buSzPts val="1400"/>
              <a:buFont typeface="Calibri"/>
              <a:buNone/>
            </a:pPr>
            <a:r>
              <a:rPr lang="es-ES" sz="1400" b="1">
                <a:solidFill>
                  <a:srgbClr val="7F7F7F"/>
                </a:solidFill>
                <a:latin typeface="Calibri"/>
                <a:ea typeface="Calibri"/>
                <a:cs typeface="Calibri"/>
                <a:sym typeface="Calibri"/>
              </a:rPr>
              <a:t>Columna para hacer unión</a:t>
            </a:r>
            <a:endParaRPr sz="1400" b="1">
              <a:solidFill>
                <a:srgbClr val="7F7F7F"/>
              </a:solidFill>
              <a:latin typeface="Calibri"/>
              <a:ea typeface="Calibri"/>
              <a:cs typeface="Calibri"/>
              <a:sym typeface="Calibri"/>
            </a:endParaRPr>
          </a:p>
        </p:txBody>
      </p:sp>
      <p:sp>
        <p:nvSpPr>
          <p:cNvPr id="205" name="Google Shape;205;p11"/>
          <p:cNvSpPr/>
          <p:nvPr/>
        </p:nvSpPr>
        <p:spPr>
          <a:xfrm>
            <a:off x="754454" y="5641717"/>
            <a:ext cx="4970912" cy="720078"/>
          </a:xfrm>
          <a:prstGeom prst="roundRect">
            <a:avLst>
              <a:gd name="adj" fmla="val 16667"/>
            </a:avLst>
          </a:prstGeom>
          <a:solidFill>
            <a:srgbClr val="F2F2F2"/>
          </a:solid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11"/>
          <p:cNvSpPr txBox="1"/>
          <p:nvPr/>
        </p:nvSpPr>
        <p:spPr>
          <a:xfrm>
            <a:off x="1484136" y="5740146"/>
            <a:ext cx="4176464"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1400">
                <a:solidFill>
                  <a:srgbClr val="7F7F7F"/>
                </a:solidFill>
                <a:latin typeface="Calibri"/>
                <a:ea typeface="Calibri"/>
                <a:cs typeface="Calibri"/>
                <a:sym typeface="Calibri"/>
              </a:rPr>
              <a:t>Inner significa que se combinan las filas cundo la llave está presente en ambos dataframes. </a:t>
            </a:r>
            <a:endParaRPr sz="1400">
              <a:solidFill>
                <a:srgbClr val="7F7F7F"/>
              </a:solidFill>
              <a:latin typeface="Calibri"/>
              <a:ea typeface="Calibri"/>
              <a:cs typeface="Calibri"/>
              <a:sym typeface="Calibri"/>
            </a:endParaRPr>
          </a:p>
        </p:txBody>
      </p:sp>
      <p:pic>
        <p:nvPicPr>
          <p:cNvPr id="207" name="Google Shape;207;p11"/>
          <p:cNvPicPr preferRelativeResize="0"/>
          <p:nvPr/>
        </p:nvPicPr>
        <p:blipFill rotWithShape="1">
          <a:blip r:embed="rId6">
            <a:alphaModFix/>
          </a:blip>
          <a:srcRect/>
          <a:stretch/>
        </p:blipFill>
        <p:spPr>
          <a:xfrm>
            <a:off x="1000270" y="5758541"/>
            <a:ext cx="419100" cy="5048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10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1"/>
        <p:cNvGrpSpPr/>
        <p:nvPr/>
      </p:nvGrpSpPr>
      <p:grpSpPr>
        <a:xfrm>
          <a:off x="0" y="0"/>
          <a:ext cx="0" cy="0"/>
          <a:chOff x="0" y="0"/>
          <a:chExt cx="0" cy="0"/>
        </a:xfrm>
      </p:grpSpPr>
      <p:sp>
        <p:nvSpPr>
          <p:cNvPr id="212" name="Google Shape;212;p12"/>
          <p:cNvSpPr/>
          <p:nvPr/>
        </p:nvSpPr>
        <p:spPr>
          <a:xfrm>
            <a:off x="-435427" y="1224043"/>
            <a:ext cx="13517747" cy="1023247"/>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213" name="Google Shape;213;p12"/>
          <p:cNvSpPr/>
          <p:nvPr/>
        </p:nvSpPr>
        <p:spPr>
          <a:xfrm>
            <a:off x="603105" y="141729"/>
            <a:ext cx="3785100" cy="9243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p:txBody>
      </p:sp>
      <p:sp>
        <p:nvSpPr>
          <p:cNvPr id="214" name="Google Shape;214;p12"/>
          <p:cNvSpPr txBox="1"/>
          <p:nvPr/>
        </p:nvSpPr>
        <p:spPr>
          <a:xfrm>
            <a:off x="687730" y="1231677"/>
            <a:ext cx="10050900" cy="1008000"/>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ES" sz="2000" dirty="0">
                <a:solidFill>
                  <a:schemeClr val="lt1"/>
                </a:solidFill>
                <a:latin typeface="Calibri"/>
                <a:ea typeface="Calibri"/>
                <a:cs typeface="Calibri"/>
                <a:sym typeface="Calibri"/>
              </a:rPr>
              <a:t>En este caso, es más conveniente aplicar un “</a:t>
            </a:r>
            <a:r>
              <a:rPr lang="es-ES" sz="2000" b="1" err="1">
                <a:solidFill>
                  <a:schemeClr val="lt1"/>
                </a:solidFill>
                <a:latin typeface="Calibri"/>
                <a:ea typeface="Calibri"/>
                <a:cs typeface="Calibri"/>
                <a:sym typeface="Calibri"/>
              </a:rPr>
              <a:t>left</a:t>
            </a:r>
            <a:r>
              <a:rPr lang="es-ES" sz="2000" b="1" dirty="0">
                <a:solidFill>
                  <a:schemeClr val="lt1"/>
                </a:solidFill>
                <a:latin typeface="Calibri"/>
                <a:ea typeface="Calibri"/>
                <a:cs typeface="Calibri"/>
                <a:sym typeface="Calibri"/>
              </a:rPr>
              <a:t> </a:t>
            </a:r>
            <a:r>
              <a:rPr lang="es-ES" sz="2000" b="1" err="1">
                <a:solidFill>
                  <a:schemeClr val="lt1"/>
                </a:solidFill>
                <a:latin typeface="Calibri"/>
                <a:ea typeface="Calibri"/>
                <a:cs typeface="Calibri"/>
                <a:sym typeface="Calibri"/>
              </a:rPr>
              <a:t>merge</a:t>
            </a:r>
            <a:r>
              <a:rPr lang="es-ES" sz="2000" dirty="0">
                <a:solidFill>
                  <a:schemeClr val="lt1"/>
                </a:solidFill>
                <a:latin typeface="Calibri"/>
                <a:ea typeface="Calibri"/>
                <a:cs typeface="Calibri"/>
                <a:sym typeface="Calibri"/>
              </a:rPr>
              <a:t>”, puesto que así no desaparecería registros de clientes que no hicieron match con la comuna.</a:t>
            </a:r>
            <a:endParaRPr sz="3200" dirty="0">
              <a:solidFill>
                <a:schemeClr val="lt1"/>
              </a:solidFill>
              <a:latin typeface="Arial"/>
              <a:ea typeface="Arial"/>
              <a:cs typeface="Arial"/>
              <a:sym typeface="Arial"/>
            </a:endParaRPr>
          </a:p>
        </p:txBody>
      </p:sp>
      <p:sp>
        <p:nvSpPr>
          <p:cNvPr id="215" name="Google Shape;215;p12"/>
          <p:cNvSpPr/>
          <p:nvPr/>
        </p:nvSpPr>
        <p:spPr>
          <a:xfrm>
            <a:off x="603107" y="2416455"/>
            <a:ext cx="10787743" cy="3848158"/>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16" name="Google Shape;216;p12"/>
          <p:cNvPicPr preferRelativeResize="0"/>
          <p:nvPr/>
        </p:nvPicPr>
        <p:blipFill rotWithShape="1">
          <a:blip r:embed="rId4">
            <a:alphaModFix/>
          </a:blip>
          <a:srcRect/>
          <a:stretch/>
        </p:blipFill>
        <p:spPr>
          <a:xfrm>
            <a:off x="1184238" y="2608842"/>
            <a:ext cx="5618538" cy="3655771"/>
          </a:xfrm>
          <a:prstGeom prst="rect">
            <a:avLst/>
          </a:prstGeom>
          <a:noFill/>
          <a:ln>
            <a:noFill/>
          </a:ln>
        </p:spPr>
      </p:pic>
      <p:cxnSp>
        <p:nvCxnSpPr>
          <p:cNvPr id="217" name="Google Shape;217;p12"/>
          <p:cNvCxnSpPr/>
          <p:nvPr/>
        </p:nvCxnSpPr>
        <p:spPr>
          <a:xfrm flipH="1">
            <a:off x="6945549" y="2974352"/>
            <a:ext cx="927269" cy="663793"/>
          </a:xfrm>
          <a:prstGeom prst="straightConnector1">
            <a:avLst/>
          </a:prstGeom>
          <a:noFill/>
          <a:ln w="9525" cap="flat" cmpd="sng">
            <a:solidFill>
              <a:srgbClr val="595959"/>
            </a:solidFill>
            <a:prstDash val="solid"/>
            <a:miter lim="800000"/>
            <a:headEnd type="none" w="sm" len="sm"/>
            <a:tailEnd type="triangle" w="med" len="med"/>
          </a:ln>
        </p:spPr>
      </p:cxnSp>
      <p:sp>
        <p:nvSpPr>
          <p:cNvPr id="218" name="Google Shape;218;p12"/>
          <p:cNvSpPr txBox="1"/>
          <p:nvPr/>
        </p:nvSpPr>
        <p:spPr>
          <a:xfrm>
            <a:off x="7919360" y="2593652"/>
            <a:ext cx="3104230" cy="738623"/>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Clr>
                <a:srgbClr val="7F7F7F"/>
              </a:buClr>
              <a:buSzPts val="1400"/>
              <a:buFont typeface="Calibri"/>
              <a:buNone/>
            </a:pPr>
            <a:r>
              <a:rPr lang="es-ES" sz="1400">
                <a:solidFill>
                  <a:srgbClr val="7F7F7F"/>
                </a:solidFill>
                <a:latin typeface="Calibri"/>
                <a:ea typeface="Calibri"/>
                <a:cs typeface="Calibri"/>
                <a:sym typeface="Calibri"/>
              </a:rPr>
              <a:t>En este caso, los registros del dataframe derecho son completados con NaN, pero no se pierde el registro de cliente.</a:t>
            </a:r>
            <a:endParaRPr sz="1400">
              <a:solidFill>
                <a:srgbClr val="7F7F7F"/>
              </a:solidFill>
              <a:latin typeface="Calibri"/>
              <a:ea typeface="Calibri"/>
              <a:cs typeface="Calibri"/>
              <a:sym typeface="Calibri"/>
            </a:endParaRPr>
          </a:p>
        </p:txBody>
      </p:sp>
      <p:sp>
        <p:nvSpPr>
          <p:cNvPr id="219" name="Google Shape;219;p12"/>
          <p:cNvSpPr/>
          <p:nvPr/>
        </p:nvSpPr>
        <p:spPr>
          <a:xfrm>
            <a:off x="6284067" y="3508843"/>
            <a:ext cx="542847" cy="518408"/>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10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3"/>
        <p:cNvGrpSpPr/>
        <p:nvPr/>
      </p:nvGrpSpPr>
      <p:grpSpPr>
        <a:xfrm>
          <a:off x="0" y="0"/>
          <a:ext cx="0" cy="0"/>
          <a:chOff x="0" y="0"/>
          <a:chExt cx="0" cy="0"/>
        </a:xfrm>
      </p:grpSpPr>
      <p:sp>
        <p:nvSpPr>
          <p:cNvPr id="224" name="Google Shape;224;p13"/>
          <p:cNvSpPr/>
          <p:nvPr/>
        </p:nvSpPr>
        <p:spPr>
          <a:xfrm>
            <a:off x="1389682" y="1541415"/>
            <a:ext cx="5643000" cy="1213800"/>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225" name="Google Shape;225;p13"/>
          <p:cNvSpPr/>
          <p:nvPr/>
        </p:nvSpPr>
        <p:spPr>
          <a:xfrm>
            <a:off x="1427429" y="291830"/>
            <a:ext cx="3784969" cy="92442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p:txBody>
      </p:sp>
      <p:sp>
        <p:nvSpPr>
          <p:cNvPr id="226" name="Google Shape;226;p13"/>
          <p:cNvSpPr/>
          <p:nvPr/>
        </p:nvSpPr>
        <p:spPr>
          <a:xfrm>
            <a:off x="5690486" y="1152034"/>
            <a:ext cx="5475600" cy="4692000"/>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7" name="Google Shape;227;p13"/>
          <p:cNvPicPr preferRelativeResize="0"/>
          <p:nvPr/>
        </p:nvPicPr>
        <p:blipFill rotWithShape="1">
          <a:blip r:embed="rId4">
            <a:alphaModFix/>
          </a:blip>
          <a:srcRect/>
          <a:stretch/>
        </p:blipFill>
        <p:spPr>
          <a:xfrm>
            <a:off x="5919086" y="1489767"/>
            <a:ext cx="4985843" cy="4191568"/>
          </a:xfrm>
          <a:prstGeom prst="rect">
            <a:avLst/>
          </a:prstGeom>
          <a:noFill/>
          <a:ln>
            <a:noFill/>
          </a:ln>
        </p:spPr>
      </p:pic>
      <p:sp>
        <p:nvSpPr>
          <p:cNvPr id="228" name="Google Shape;228;p13"/>
          <p:cNvSpPr/>
          <p:nvPr/>
        </p:nvSpPr>
        <p:spPr>
          <a:xfrm>
            <a:off x="6289545" y="4456346"/>
            <a:ext cx="1872000" cy="1147800"/>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29" name="Google Shape;229;p13"/>
          <p:cNvSpPr/>
          <p:nvPr/>
        </p:nvSpPr>
        <p:spPr>
          <a:xfrm>
            <a:off x="1783199" y="1848761"/>
            <a:ext cx="3725872"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s-ES" sz="1800" dirty="0">
                <a:solidFill>
                  <a:schemeClr val="lt1"/>
                </a:solidFill>
                <a:latin typeface="Arial"/>
                <a:ea typeface="Arial"/>
                <a:cs typeface="Arial"/>
                <a:sym typeface="Arial"/>
              </a:rPr>
              <a:t>Esto es lo que ocurriría con un “</a:t>
            </a:r>
            <a:r>
              <a:rPr lang="es-ES" sz="1800" b="1" dirty="0" err="1">
                <a:solidFill>
                  <a:schemeClr val="lt1"/>
                </a:solidFill>
                <a:latin typeface="Arial"/>
                <a:ea typeface="Arial"/>
                <a:cs typeface="Arial"/>
                <a:sym typeface="Arial"/>
              </a:rPr>
              <a:t>right</a:t>
            </a:r>
            <a:r>
              <a:rPr lang="es-ES" sz="1800" b="1" dirty="0">
                <a:solidFill>
                  <a:schemeClr val="lt1"/>
                </a:solidFill>
                <a:latin typeface="Arial"/>
                <a:ea typeface="Arial"/>
                <a:cs typeface="Arial"/>
                <a:sym typeface="Arial"/>
              </a:rPr>
              <a:t> </a:t>
            </a:r>
            <a:r>
              <a:rPr lang="es-ES" sz="1800" b="1" dirty="0" err="1">
                <a:solidFill>
                  <a:schemeClr val="lt1"/>
                </a:solidFill>
                <a:latin typeface="Arial"/>
                <a:ea typeface="Arial"/>
                <a:cs typeface="Arial"/>
                <a:sym typeface="Arial"/>
              </a:rPr>
              <a:t>merge</a:t>
            </a:r>
            <a:r>
              <a:rPr lang="es-ES" sz="1800" dirty="0">
                <a:solidFill>
                  <a:schemeClr val="lt1"/>
                </a:solidFill>
                <a:latin typeface="Arial"/>
                <a:ea typeface="Arial"/>
                <a:cs typeface="Arial"/>
                <a:sym typeface="Arial"/>
              </a:rPr>
              <a:t>”.</a:t>
            </a:r>
            <a:endParaRPr sz="1800" dirty="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fade">
                                      <p:cBhvr>
                                        <p:cTn id="7" dur="1000"/>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3"/>
        <p:cNvGrpSpPr/>
        <p:nvPr/>
      </p:nvGrpSpPr>
      <p:grpSpPr>
        <a:xfrm>
          <a:off x="0" y="0"/>
          <a:ext cx="0" cy="0"/>
          <a:chOff x="0" y="0"/>
          <a:chExt cx="0" cy="0"/>
        </a:xfrm>
      </p:grpSpPr>
      <p:sp>
        <p:nvSpPr>
          <p:cNvPr id="234" name="Google Shape;234;p14"/>
          <p:cNvSpPr/>
          <p:nvPr/>
        </p:nvSpPr>
        <p:spPr>
          <a:xfrm>
            <a:off x="1313867" y="1275343"/>
            <a:ext cx="3635494" cy="1393956"/>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endParaRPr lang="es-ES" sz="1800" dirty="0">
              <a:solidFill>
                <a:schemeClr val="lt1"/>
              </a:solidFill>
            </a:endParaRPr>
          </a:p>
        </p:txBody>
      </p:sp>
      <p:sp>
        <p:nvSpPr>
          <p:cNvPr id="235" name="Google Shape;235;p14"/>
          <p:cNvSpPr/>
          <p:nvPr/>
        </p:nvSpPr>
        <p:spPr>
          <a:xfrm>
            <a:off x="1301063" y="21977"/>
            <a:ext cx="3784969" cy="92442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p:txBody>
      </p:sp>
      <p:sp>
        <p:nvSpPr>
          <p:cNvPr id="236" name="Google Shape;236;p14"/>
          <p:cNvSpPr/>
          <p:nvPr/>
        </p:nvSpPr>
        <p:spPr>
          <a:xfrm>
            <a:off x="5218924" y="337746"/>
            <a:ext cx="6419182" cy="6041847"/>
          </a:xfrm>
          <a:prstGeom prst="roundRect">
            <a:avLst>
              <a:gd name="adj" fmla="val 2971"/>
            </a:avLst>
          </a:prstGeom>
          <a:solidFill>
            <a:schemeClr val="lt1"/>
          </a:solidFill>
          <a:ln w="38100" cap="flat" cmpd="sng">
            <a:solidFill>
              <a:srgbClr val="BF9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37" name="Google Shape;237;p14"/>
          <p:cNvPicPr preferRelativeResize="0"/>
          <p:nvPr/>
        </p:nvPicPr>
        <p:blipFill rotWithShape="1">
          <a:blip r:embed="rId4">
            <a:alphaModFix/>
          </a:blip>
          <a:srcRect/>
          <a:stretch/>
        </p:blipFill>
        <p:spPr>
          <a:xfrm>
            <a:off x="5392275" y="481318"/>
            <a:ext cx="6077798" cy="5639587"/>
          </a:xfrm>
          <a:prstGeom prst="rect">
            <a:avLst/>
          </a:prstGeom>
          <a:noFill/>
          <a:ln>
            <a:noFill/>
          </a:ln>
        </p:spPr>
      </p:pic>
      <p:sp>
        <p:nvSpPr>
          <p:cNvPr id="238" name="Google Shape;238;p14"/>
          <p:cNvSpPr/>
          <p:nvPr/>
        </p:nvSpPr>
        <p:spPr>
          <a:xfrm>
            <a:off x="5792477" y="4680928"/>
            <a:ext cx="2197949" cy="1483913"/>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39" name="Google Shape;239;p14"/>
          <p:cNvSpPr/>
          <p:nvPr/>
        </p:nvSpPr>
        <p:spPr>
          <a:xfrm>
            <a:off x="10805112" y="1460401"/>
            <a:ext cx="514624" cy="588540"/>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9CE01348-0A98-AF82-6184-370FEF0F48C1}"/>
              </a:ext>
            </a:extLst>
          </p:cNvPr>
          <p:cNvSpPr txBox="1"/>
          <p:nvPr/>
        </p:nvSpPr>
        <p:spPr>
          <a:xfrm>
            <a:off x="1763485" y="1611085"/>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1800" dirty="0">
                <a:solidFill>
                  <a:srgbClr val="FFFFFF"/>
                </a:solidFill>
              </a:rPr>
              <a:t>Esto es lo que ocurriría con un “</a:t>
            </a:r>
            <a:r>
              <a:rPr lang="es-ES" sz="1800" b="1" err="1">
                <a:solidFill>
                  <a:srgbClr val="FFFFFF"/>
                </a:solidFill>
              </a:rPr>
              <a:t>outer</a:t>
            </a:r>
            <a:r>
              <a:rPr lang="es-ES" sz="1800" b="1" dirty="0">
                <a:solidFill>
                  <a:srgbClr val="FFFFFF"/>
                </a:solidFill>
              </a:rPr>
              <a:t> </a:t>
            </a:r>
            <a:r>
              <a:rPr lang="es-ES" sz="1800" b="1" err="1">
                <a:solidFill>
                  <a:srgbClr val="FFFFFF"/>
                </a:solidFill>
              </a:rPr>
              <a:t>merge</a:t>
            </a:r>
            <a:r>
              <a:rPr lang="es-ES" sz="1800" dirty="0">
                <a:solidFill>
                  <a:srgbClr val="FFFFFF"/>
                </a:solidFill>
              </a:rPr>
              <a:t>”.</a:t>
            </a:r>
            <a:endParaRPr lang="es-E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5"/>
                                        </p:tgtEl>
                                        <p:attrNameLst>
                                          <p:attrName>style.visibility</p:attrName>
                                        </p:attrNameLst>
                                      </p:cBhvr>
                                      <p:to>
                                        <p:strVal val="visible"/>
                                      </p:to>
                                    </p:set>
                                    <p:animEffect transition="in" filter="fade">
                                      <p:cBhvr>
                                        <p:cTn id="7" dur="1000"/>
                                        <p:tgtEl>
                                          <p:spTgt spid="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15"/>
          <p:cNvSpPr/>
          <p:nvPr/>
        </p:nvSpPr>
        <p:spPr>
          <a:xfrm>
            <a:off x="1504915" y="505647"/>
            <a:ext cx="3210127" cy="1077218"/>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s-ES" sz="3200">
                <a:solidFill>
                  <a:srgbClr val="7F7F7F"/>
                </a:solidFill>
                <a:latin typeface="Arial"/>
                <a:ea typeface="Arial"/>
                <a:cs typeface="Arial"/>
                <a:sym typeface="Arial"/>
              </a:rPr>
              <a:t>Merge</a:t>
            </a:r>
            <a:endParaRPr sz="3200">
              <a:solidFill>
                <a:srgbClr val="7F7F7F"/>
              </a:solidFill>
              <a:latin typeface="Arial"/>
              <a:ea typeface="Arial"/>
              <a:cs typeface="Arial"/>
              <a:sym typeface="Arial"/>
            </a:endParaRPr>
          </a:p>
        </p:txBody>
      </p:sp>
      <p:sp>
        <p:nvSpPr>
          <p:cNvPr id="245" name="Google Shape;245;p15"/>
          <p:cNvSpPr/>
          <p:nvPr/>
        </p:nvSpPr>
        <p:spPr>
          <a:xfrm>
            <a:off x="1236929" y="1582865"/>
            <a:ext cx="10038355" cy="4592305"/>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6" name="Google Shape;246;p15"/>
          <p:cNvPicPr preferRelativeResize="0"/>
          <p:nvPr/>
        </p:nvPicPr>
        <p:blipFill rotWithShape="1">
          <a:blip r:embed="rId4">
            <a:alphaModFix/>
          </a:blip>
          <a:srcRect/>
          <a:stretch/>
        </p:blipFill>
        <p:spPr>
          <a:xfrm>
            <a:off x="1504915" y="1897542"/>
            <a:ext cx="6068272" cy="3962953"/>
          </a:xfrm>
          <a:prstGeom prst="rect">
            <a:avLst/>
          </a:prstGeom>
          <a:noFill/>
          <a:ln>
            <a:noFill/>
          </a:ln>
        </p:spPr>
      </p:pic>
      <p:sp>
        <p:nvSpPr>
          <p:cNvPr id="247" name="Google Shape;247;p15"/>
          <p:cNvSpPr/>
          <p:nvPr/>
        </p:nvSpPr>
        <p:spPr>
          <a:xfrm>
            <a:off x="7047668" y="2841965"/>
            <a:ext cx="467528" cy="862859"/>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48" name="Google Shape;248;p15"/>
          <p:cNvSpPr/>
          <p:nvPr/>
        </p:nvSpPr>
        <p:spPr>
          <a:xfrm>
            <a:off x="7047668" y="4152247"/>
            <a:ext cx="467528" cy="731005"/>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249" name="Google Shape;249;p15"/>
          <p:cNvSpPr/>
          <p:nvPr/>
        </p:nvSpPr>
        <p:spPr>
          <a:xfrm>
            <a:off x="7047668" y="5249867"/>
            <a:ext cx="467528" cy="588540"/>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250" name="Google Shape;250;p15"/>
          <p:cNvCxnSpPr/>
          <p:nvPr/>
        </p:nvCxnSpPr>
        <p:spPr>
          <a:xfrm rot="10800000">
            <a:off x="7515196" y="3395520"/>
            <a:ext cx="1197388" cy="390112"/>
          </a:xfrm>
          <a:prstGeom prst="straightConnector1">
            <a:avLst/>
          </a:prstGeom>
          <a:noFill/>
          <a:ln w="9525" cap="flat" cmpd="sng">
            <a:solidFill>
              <a:srgbClr val="595959"/>
            </a:solidFill>
            <a:prstDash val="solid"/>
            <a:miter lim="800000"/>
            <a:headEnd type="none" w="sm" len="sm"/>
            <a:tailEnd type="triangle" w="med" len="med"/>
          </a:ln>
        </p:spPr>
      </p:cxnSp>
      <p:sp>
        <p:nvSpPr>
          <p:cNvPr id="251" name="Google Shape;251;p15"/>
          <p:cNvSpPr txBox="1"/>
          <p:nvPr/>
        </p:nvSpPr>
        <p:spPr>
          <a:xfrm>
            <a:off x="8782234" y="3704824"/>
            <a:ext cx="2083562" cy="830956"/>
          </a:xfrm>
          <a:prstGeom prst="rect">
            <a:avLst/>
          </a:prstGeom>
          <a:solidFill>
            <a:srgbClr val="F2F2F2"/>
          </a:solidFill>
          <a:ln w="9525" cap="flat" cmpd="sng">
            <a:solidFill>
              <a:srgbClr val="D8D8D8"/>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spcBef>
                <a:spcPts val="0"/>
              </a:spcBef>
              <a:spcAft>
                <a:spcPts val="0"/>
              </a:spcAft>
              <a:buClr>
                <a:srgbClr val="7F7F7F"/>
              </a:buClr>
              <a:buSzPts val="1600"/>
              <a:buFont typeface="Calibri"/>
              <a:buNone/>
            </a:pPr>
            <a:r>
              <a:rPr lang="es-ES" sz="1600">
                <a:solidFill>
                  <a:srgbClr val="7F7F7F"/>
                </a:solidFill>
                <a:latin typeface="Calibri"/>
                <a:ea typeface="Calibri"/>
                <a:cs typeface="Calibri"/>
                <a:sym typeface="Calibri"/>
              </a:rPr>
              <a:t>En estos casos, la doble llave no hizo match.</a:t>
            </a:r>
            <a:endParaRPr sz="1600">
              <a:solidFill>
                <a:srgbClr val="7F7F7F"/>
              </a:solidFill>
              <a:latin typeface="Calibri"/>
              <a:ea typeface="Calibri"/>
              <a:cs typeface="Calibri"/>
              <a:sym typeface="Calibri"/>
            </a:endParaRPr>
          </a:p>
        </p:txBody>
      </p:sp>
      <p:cxnSp>
        <p:nvCxnSpPr>
          <p:cNvPr id="252" name="Google Shape;252;p15"/>
          <p:cNvCxnSpPr/>
          <p:nvPr/>
        </p:nvCxnSpPr>
        <p:spPr>
          <a:xfrm flipH="1">
            <a:off x="7584846" y="4075889"/>
            <a:ext cx="1139396" cy="466346"/>
          </a:xfrm>
          <a:prstGeom prst="straightConnector1">
            <a:avLst/>
          </a:prstGeom>
          <a:noFill/>
          <a:ln w="9525" cap="flat" cmpd="sng">
            <a:solidFill>
              <a:srgbClr val="595959"/>
            </a:solidFill>
            <a:prstDash val="solid"/>
            <a:miter lim="800000"/>
            <a:headEnd type="none" w="sm" len="sm"/>
            <a:tailEnd type="triangle" w="med" len="med"/>
          </a:ln>
        </p:spPr>
      </p:cxnSp>
      <p:cxnSp>
        <p:nvCxnSpPr>
          <p:cNvPr id="253" name="Google Shape;253;p15"/>
          <p:cNvCxnSpPr/>
          <p:nvPr/>
        </p:nvCxnSpPr>
        <p:spPr>
          <a:xfrm flipH="1">
            <a:off x="7545698" y="4385330"/>
            <a:ext cx="1194376" cy="1119026"/>
          </a:xfrm>
          <a:prstGeom prst="straightConnector1">
            <a:avLst/>
          </a:prstGeom>
          <a:noFill/>
          <a:ln w="9525" cap="flat" cmpd="sng">
            <a:solidFill>
              <a:srgbClr val="595959"/>
            </a:solidFill>
            <a:prstDash val="solid"/>
            <a:miter lim="800000"/>
            <a:headEnd type="none" w="sm" len="sm"/>
            <a:tailEnd type="triangle" w="med" len="med"/>
          </a:ln>
        </p:spPr>
      </p:cxnSp>
      <p:sp>
        <p:nvSpPr>
          <p:cNvPr id="254" name="Google Shape;254;p15"/>
          <p:cNvSpPr/>
          <p:nvPr/>
        </p:nvSpPr>
        <p:spPr>
          <a:xfrm>
            <a:off x="5372678" y="912050"/>
            <a:ext cx="5825240" cy="605715"/>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r>
              <a:rPr lang="es-ES" sz="1800" dirty="0">
                <a:solidFill>
                  <a:schemeClr val="lt1"/>
                </a:solidFill>
                <a:latin typeface="Calibri"/>
                <a:cs typeface="Calibri"/>
                <a:sym typeface="Calibri"/>
              </a:rPr>
              <a:t>           </a:t>
            </a:r>
            <a:r>
              <a:rPr lang="es-ES" sz="1800" dirty="0">
                <a:solidFill>
                  <a:schemeClr val="lt1"/>
                </a:solidFill>
                <a:latin typeface="Calibri"/>
                <a:cs typeface="Calibri"/>
              </a:rPr>
              <a:t>  </a:t>
            </a:r>
            <a:r>
              <a:rPr lang="es-ES" sz="1800" dirty="0">
                <a:solidFill>
                  <a:schemeClr val="lt1"/>
                </a:solidFill>
                <a:latin typeface="Calibri"/>
                <a:ea typeface="Calibri"/>
                <a:cs typeface="Calibri"/>
                <a:sym typeface="Calibri"/>
              </a:rPr>
              <a:t> </a:t>
            </a:r>
            <a:r>
              <a:rPr lang="es-ES" sz="1800" dirty="0">
                <a:solidFill>
                  <a:schemeClr val="lt1"/>
                </a:solidFill>
              </a:rPr>
              <a:t>Esto es lo que ocurriría con un “</a:t>
            </a:r>
            <a:r>
              <a:rPr lang="es-ES" sz="1800" b="1" dirty="0" err="1">
                <a:solidFill>
                  <a:schemeClr val="lt1"/>
                </a:solidFill>
              </a:rPr>
              <a:t>left</a:t>
            </a:r>
            <a:r>
              <a:rPr lang="es-ES" sz="1800" b="1" dirty="0">
                <a:solidFill>
                  <a:schemeClr val="lt1"/>
                </a:solidFill>
              </a:rPr>
              <a:t> </a:t>
            </a:r>
            <a:r>
              <a:rPr lang="es-ES" sz="1800" b="1" dirty="0" err="1">
                <a:solidFill>
                  <a:schemeClr val="lt1"/>
                </a:solidFill>
              </a:rPr>
              <a:t>merge</a:t>
            </a:r>
            <a:r>
              <a:rPr lang="es-ES" sz="1800" dirty="0">
                <a:solidFill>
                  <a:schemeClr val="lt1"/>
                </a:solidFill>
              </a:rPr>
              <a:t>”.</a:t>
            </a:r>
            <a:endParaRPr sz="1800" dirty="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8"/>
        <p:cNvGrpSpPr/>
        <p:nvPr/>
      </p:nvGrpSpPr>
      <p:grpSpPr>
        <a:xfrm>
          <a:off x="0" y="0"/>
          <a:ext cx="0" cy="0"/>
          <a:chOff x="0" y="0"/>
          <a:chExt cx="0" cy="0"/>
        </a:xfrm>
      </p:grpSpPr>
      <p:sp>
        <p:nvSpPr>
          <p:cNvPr id="259" name="Google Shape;259;p16"/>
          <p:cNvSpPr/>
          <p:nvPr/>
        </p:nvSpPr>
        <p:spPr>
          <a:xfrm>
            <a:off x="-585177" y="3057041"/>
            <a:ext cx="7800454" cy="1045333"/>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rgbClr val="008CAD"/>
              </a:solidFill>
              <a:latin typeface="Calibri"/>
              <a:ea typeface="Calibri"/>
              <a:cs typeface="Calibri"/>
              <a:sym typeface="Calibri"/>
            </a:endParaRPr>
          </a:p>
        </p:txBody>
      </p:sp>
      <p:sp>
        <p:nvSpPr>
          <p:cNvPr id="260" name="Google Shape;260;p16"/>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None/>
            </a:pPr>
            <a:r>
              <a:rPr lang="es-ES" sz="3600">
                <a:solidFill>
                  <a:schemeClr val="lt1"/>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fade">
                                      <p:cBhvr>
                                        <p:cTn id="7" dur="5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4"/>
        <p:cNvGrpSpPr/>
        <p:nvPr/>
      </p:nvGrpSpPr>
      <p:grpSpPr>
        <a:xfrm>
          <a:off x="0" y="0"/>
          <a:ext cx="0" cy="0"/>
          <a:chOff x="0" y="0"/>
          <a:chExt cx="0" cy="0"/>
        </a:xfrm>
      </p:grpSpPr>
      <p:sp>
        <p:nvSpPr>
          <p:cNvPr id="265" name="Google Shape;265;p17"/>
          <p:cNvSpPr txBox="1"/>
          <p:nvPr/>
        </p:nvSpPr>
        <p:spPr>
          <a:xfrm>
            <a:off x="475933" y="2794329"/>
            <a:ext cx="10782300" cy="1008062"/>
          </a:xfrm>
          <a:prstGeom prst="rect">
            <a:avLst/>
          </a:prstGeom>
          <a:noFill/>
          <a:ln>
            <a:noFill/>
          </a:ln>
        </p:spPr>
        <p:txBody>
          <a:bodyPr spcFirstLastPara="1" wrap="square" lIns="91425" tIns="45700" rIns="91425" bIns="45700" anchor="ctr" anchorCtr="0">
            <a:noAutofit/>
          </a:bodyPr>
          <a:lstStyle/>
          <a:p>
            <a:pPr algn="ctr">
              <a:lnSpc>
                <a:spcPct val="90000"/>
              </a:lnSpc>
            </a:pPr>
            <a:r>
              <a:rPr lang="es-ES" sz="3600">
                <a:solidFill>
                  <a:srgbClr val="7F7F7F"/>
                </a:solidFill>
                <a:latin typeface="Arial"/>
                <a:ea typeface="Arial"/>
                <a:cs typeface="Arial"/>
                <a:sym typeface="Arial"/>
              </a:rPr>
              <a:t>Fin</a:t>
            </a:r>
            <a:r>
              <a:rPr lang="es-ES" sz="3600">
                <a:solidFill>
                  <a:srgbClr val="7F7F7F"/>
                </a:solidFill>
              </a:rPr>
              <a:t> de la</a:t>
            </a:r>
            <a:r>
              <a:rPr lang="es-ES" sz="3600">
                <a:solidFill>
                  <a:srgbClr val="7F7F7F"/>
                </a:solidFill>
                <a:latin typeface="Arial"/>
                <a:ea typeface="Arial"/>
                <a:cs typeface="Arial"/>
                <a:sym typeface="Arial"/>
              </a:rPr>
              <a:t> presentación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590</Words>
  <Application>Microsoft Office PowerPoint</Application>
  <PresentationFormat>Panorámica</PresentationFormat>
  <Paragraphs>48</Paragraphs>
  <Slides>17</Slides>
  <Notes>17</Notes>
  <HiddenSlides>0</HiddenSlides>
  <MMClips>0</MMClips>
  <ScaleCrop>false</ScaleCrop>
  <HeadingPairs>
    <vt:vector size="4" baseType="variant">
      <vt:variant>
        <vt:lpstr>Tema</vt:lpstr>
      </vt:variant>
      <vt:variant>
        <vt:i4>1</vt:i4>
      </vt:variant>
      <vt:variant>
        <vt:lpstr>Títulos de diapositiva</vt:lpstr>
      </vt:variant>
      <vt:variant>
        <vt:i4>17</vt:i4>
      </vt:variant>
    </vt:vector>
  </HeadingPairs>
  <TitlesOfParts>
    <vt:vector size="18" baseType="lpstr">
      <vt:lpstr>Tema de Office</vt:lpstr>
      <vt:lpstr>Data Wrangling II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Wrangling II </dc:title>
  <dc:creator>Kibernum</dc:creator>
  <cp:lastModifiedBy>Diseño ITA</cp:lastModifiedBy>
  <cp:revision>75</cp:revision>
  <dcterms:created xsi:type="dcterms:W3CDTF">2023-01-03T12:28:26Z</dcterms:created>
  <dcterms:modified xsi:type="dcterms:W3CDTF">2025-10-06T15:49:39Z</dcterms:modified>
</cp:coreProperties>
</file>