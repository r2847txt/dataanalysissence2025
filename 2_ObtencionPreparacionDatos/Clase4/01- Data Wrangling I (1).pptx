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h1Hty/rzrQ5BS7Fq4R72cmg9L/7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D94397-40C4-A221-3D56-81102281C29F}" v="2" dt="2025-10-06T15:51:03.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B8D94397-40C4-A221-3D56-81102281C29F}"/>
    <pc:docChg chg="modSld">
      <pc:chgData name="Soraya Salazar" userId="S::soraya.salazar@kibernumacademy.com::fdf00a5c-f577-43dc-8064-9968cad83607" providerId="AD" clId="Web-{B8D94397-40C4-A221-3D56-81102281C29F}" dt="2025-10-06T15:51:03.439" v="0" actId="20577"/>
      <pc:docMkLst>
        <pc:docMk/>
      </pc:docMkLst>
      <pc:sldChg chg="modSp">
        <pc:chgData name="Soraya Salazar" userId="S::soraya.salazar@kibernumacademy.com::fdf00a5c-f577-43dc-8064-9968cad83607" providerId="AD" clId="Web-{B8D94397-40C4-A221-3D56-81102281C29F}" dt="2025-10-06T15:51:03.439" v="0" actId="20577"/>
        <pc:sldMkLst>
          <pc:docMk/>
          <pc:sldMk cId="0" sldId="256"/>
        </pc:sldMkLst>
        <pc:spChg chg="mod">
          <ac:chgData name="Soraya Salazar" userId="S::soraya.salazar@kibernumacademy.com::fdf00a5c-f577-43dc-8064-9968cad83607" providerId="AD" clId="Web-{B8D94397-40C4-A221-3D56-81102281C29F}" dt="2025-10-06T15:51:03.439" v="0"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3" name="Google Shape;1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2" name="Google Shape;1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7" name="Google Shape;16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 name="Google Shape;17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 name="Google Shape;18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4" name="Google Shape;20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9" name="Google Shape;21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3" name="Google Shape;23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8" name="Google Shape;23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0" name="Google Shape;25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2" name="Google Shape;26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6" name="Google Shape;27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3" name="Google Shape;28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4" name="Google Shape;29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9" name="Google Shape;30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8" name="Google Shape;31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1" name="Google Shape;33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2" name="Google Shape;34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0" name="Google Shape;36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9" name="Google Shape;36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4" name="Google Shape;37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6" name="Google Shape;38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4" name="Google Shape;40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3" name="Google Shape;41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2" name="Google Shape;42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1" name="Google Shape;43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6" name="Google Shape;43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4" name="Google Shape;45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6" name="Google Shape;46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5" name="Google Shape;47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5" name="Google Shape;48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5" name="Google Shape;49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6" name="Google Shape;50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1" name="Google Shape;511;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1" name="Google Shape;521;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4" name="Google Shape;53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4" name="Google Shape;54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4" name="Google Shape;55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9" name="Google Shape;55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7" name="Google Shape;56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8" name="Google Shape;57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7" name="Google Shape;587;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6" name="Google Shape;59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3" name="Google Shape;603;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5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5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5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5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5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5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5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6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6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6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6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62"/>
          <p:cNvSpPr>
            <a:spLocks noGrp="1"/>
          </p:cNvSpPr>
          <p:nvPr>
            <p:ph type="pic" idx="2"/>
          </p:nvPr>
        </p:nvSpPr>
        <p:spPr>
          <a:xfrm>
            <a:off x="5183188" y="987425"/>
            <a:ext cx="6172200" cy="4873625"/>
          </a:xfrm>
          <a:prstGeom prst="rect">
            <a:avLst/>
          </a:prstGeom>
          <a:noFill/>
          <a:ln>
            <a:noFill/>
          </a:ln>
        </p:spPr>
      </p:sp>
      <p:sp>
        <p:nvSpPr>
          <p:cNvPr id="68" name="Google Shape;68;p6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6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6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6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Un conjunto de letras negras en un fondo blanco&#10;&#10;Descripción generada automáticamente con confianza medi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p:nvPr/>
        </p:nvSpPr>
        <p:spPr>
          <a:xfrm>
            <a:off x="4044874" y="3715090"/>
            <a:ext cx="6713694" cy="1655893"/>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593027" y="3988526"/>
            <a:ext cx="7150100" cy="84459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br>
              <a:rPr lang="es-ES" sz="5000" b="1">
                <a:solidFill>
                  <a:schemeClr val="lt1"/>
                </a:solidFill>
                <a:latin typeface="Arial"/>
                <a:ea typeface="Arial"/>
                <a:cs typeface="Arial"/>
                <a:sym typeface="Arial"/>
              </a:rPr>
            </a:br>
            <a:r>
              <a:rPr lang="es-ES" sz="5000" b="1">
                <a:solidFill>
                  <a:schemeClr val="lt1"/>
                </a:solidFill>
                <a:latin typeface="Arial"/>
                <a:ea typeface="Arial"/>
                <a:cs typeface="Arial"/>
                <a:sym typeface="Arial"/>
              </a:rPr>
              <a:t>Data Wrangling</a:t>
            </a:r>
            <a:endParaRPr sz="3000" b="1">
              <a:solidFill>
                <a:schemeClr val="lt1"/>
              </a:solidFill>
              <a:latin typeface="Arial"/>
              <a:ea typeface="Arial"/>
              <a:cs typeface="Arial"/>
              <a:sym typeface="Arial"/>
            </a:endParaRPr>
          </a:p>
        </p:txBody>
      </p:sp>
      <p:sp>
        <p:nvSpPr>
          <p:cNvPr id="91" name="Google Shape;91;p1"/>
          <p:cNvSpPr txBox="1"/>
          <p:nvPr/>
        </p:nvSpPr>
        <p:spPr>
          <a:xfrm>
            <a:off x="4593027" y="3345758"/>
            <a:ext cx="61655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i="0" u="none" strike="noStrike" cap="none">
                <a:solidFill>
                  <a:schemeClr val="lt1"/>
                </a:solidFill>
                <a:latin typeface="Arial"/>
                <a:ea typeface="Arial"/>
                <a:cs typeface="Arial"/>
                <a:sym typeface="Arial"/>
              </a:rPr>
              <a:t> Obtención y Preparación de Datos</a:t>
            </a: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6068291" y="-387943"/>
            <a:ext cx="4130786" cy="5961429"/>
          </a:xfrm>
          <a:prstGeom prst="roundRect">
            <a:avLst>
              <a:gd name="adj" fmla="val 2778"/>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583815" y="651222"/>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Contenidos</a:t>
            </a:r>
            <a:endParaRPr/>
          </a:p>
        </p:txBody>
      </p:sp>
      <p:sp>
        <p:nvSpPr>
          <p:cNvPr id="99" name="Google Shape;99;p2"/>
          <p:cNvSpPr txBox="1"/>
          <p:nvPr/>
        </p:nvSpPr>
        <p:spPr>
          <a:xfrm>
            <a:off x="6330979" y="1671288"/>
            <a:ext cx="3666462" cy="341632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Qué es Data Wrangling.</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Muestreos Aleatorios.</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Duplicados.</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Transformación de datos.</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Expresiones regulares.</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Conversión de tipos de datos.</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Ordenamiento.</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Columnas e Índices.</a:t>
            </a:r>
            <a:endParaRPr sz="1800">
              <a:solidFill>
                <a:schemeClr val="dk1"/>
              </a:solidFill>
              <a:latin typeface="Calibri"/>
              <a:ea typeface="Calibri"/>
              <a:cs typeface="Calibri"/>
              <a:sym typeface="Calibri"/>
            </a:endParaRPr>
          </a:p>
        </p:txBody>
      </p:sp>
      <p:grpSp>
        <p:nvGrpSpPr>
          <p:cNvPr id="100" name="Google Shape;100;p2"/>
          <p:cNvGrpSpPr/>
          <p:nvPr/>
        </p:nvGrpSpPr>
        <p:grpSpPr>
          <a:xfrm>
            <a:off x="1564694" y="1715384"/>
            <a:ext cx="3524500" cy="3664872"/>
            <a:chOff x="1328635" y="56100"/>
            <a:chExt cx="3524500" cy="3664872"/>
          </a:xfrm>
        </p:grpSpPr>
        <p:sp>
          <p:nvSpPr>
            <p:cNvPr id="101" name="Google Shape;101;p2"/>
            <p:cNvSpPr/>
            <p:nvPr/>
          </p:nvSpPr>
          <p:spPr>
            <a:xfrm>
              <a:off x="1328635" y="5610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
        <p:nvSpPr>
          <p:cNvPr id="104" name="Google Shape;104;p2"/>
          <p:cNvSpPr txBox="1"/>
          <p:nvPr/>
        </p:nvSpPr>
        <p:spPr>
          <a:xfrm>
            <a:off x="5348695" y="619118"/>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chemeClr val="lt1"/>
                </a:solidFill>
                <a:latin typeface="Calibri"/>
                <a:ea typeface="Calibri"/>
                <a:cs typeface="Calibri"/>
                <a:sym typeface="Calibri"/>
              </a:rPr>
              <a:t>Data Wrangling I</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par>
                                <p:cTn id="8" presetID="10" presetClass="entr" presetSubtype="0" fill="hold" nodeType="withEffect">
                                  <p:stCondLst>
                                    <p:cond delay="0"/>
                                  </p:stCondLst>
                                  <p:childTnLst>
                                    <p:set>
                                      <p:cBhvr>
                                        <p:cTn id="9" dur="1" fill="hold">
                                          <p:stCondLst>
                                            <p:cond delay="0"/>
                                          </p:stCondLst>
                                        </p:cTn>
                                        <p:tgtEl>
                                          <p:spTgt spid="104"/>
                                        </p:tgtEl>
                                        <p:attrNameLst>
                                          <p:attrName>style.visibility</p:attrName>
                                        </p:attrNameLst>
                                      </p:cBhvr>
                                      <p:to>
                                        <p:strVal val="visible"/>
                                      </p:to>
                                    </p:set>
                                    <p:animEffect transition="in" filter="fade">
                                      <p:cBhvr>
                                        <p:cTn id="10"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p:nvPr/>
        </p:nvSpPr>
        <p:spPr>
          <a:xfrm>
            <a:off x="1541417" y="428109"/>
            <a:ext cx="953485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Data Wrangling</a:t>
            </a:r>
            <a:endParaRPr sz="3200">
              <a:solidFill>
                <a:srgbClr val="7F7F7F"/>
              </a:solidFill>
              <a:latin typeface="Arial"/>
              <a:ea typeface="Arial"/>
              <a:cs typeface="Arial"/>
              <a:sym typeface="Arial"/>
            </a:endParaRPr>
          </a:p>
        </p:txBody>
      </p:sp>
      <p:sp>
        <p:nvSpPr>
          <p:cNvPr id="110" name="Google Shape;110;p3"/>
          <p:cNvSpPr/>
          <p:nvPr/>
        </p:nvSpPr>
        <p:spPr>
          <a:xfrm>
            <a:off x="-478971" y="1591408"/>
            <a:ext cx="8412394" cy="3572775"/>
          </a:xfrm>
          <a:prstGeom prst="roundRect">
            <a:avLst>
              <a:gd name="adj" fmla="val 4466"/>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3"/>
          <p:cNvSpPr txBox="1"/>
          <p:nvPr/>
        </p:nvSpPr>
        <p:spPr>
          <a:xfrm>
            <a:off x="293967" y="1780995"/>
            <a:ext cx="7364133" cy="313932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Uno de los errores más comunes es pensar que los proyectos relacionados con analítica concentran su esfuerzo en la implementación y utilización de herramientas de análisis.</a:t>
            </a:r>
            <a:endParaRPr/>
          </a:p>
          <a:p>
            <a:pPr marL="342900" marR="0" lvl="0" indent="-228600" algn="just" rtl="0">
              <a:spcBef>
                <a:spcPts val="0"/>
              </a:spcBef>
              <a:spcAft>
                <a:spcPts val="0"/>
              </a:spcAft>
              <a:buClr>
                <a:srgbClr val="FFFFFF"/>
              </a:buClr>
              <a:buSzPts val="1800"/>
              <a:buFont typeface="Arial"/>
              <a:buNone/>
            </a:pPr>
            <a:endParaRPr sz="18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Lo anterior no es correcto. La mayor parte del tiempo será destinado al trabajo de los datos, debido a que la forma natural de éstos (Raw Data) suelen tener un porcentaje considerable de errores que imposibilitan el análisis.</a:t>
            </a:r>
            <a:endParaRPr/>
          </a:p>
          <a:p>
            <a:pPr marL="342900" marR="0" lvl="0" indent="-228600" algn="just" rtl="0">
              <a:spcBef>
                <a:spcPts val="0"/>
              </a:spcBef>
              <a:spcAft>
                <a:spcPts val="0"/>
              </a:spcAft>
              <a:buClr>
                <a:srgbClr val="FFFFFF"/>
              </a:buClr>
              <a:buSzPts val="1800"/>
              <a:buFont typeface="Arial"/>
              <a:buNone/>
            </a:pPr>
            <a:endParaRPr sz="18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1800"/>
              <a:buFont typeface="Arial"/>
              <a:buChar char="•"/>
            </a:pPr>
            <a:r>
              <a:rPr lang="es-ES" sz="1800">
                <a:solidFill>
                  <a:srgbClr val="FFFFFF"/>
                </a:solidFill>
                <a:latin typeface="Calibri"/>
                <a:ea typeface="Calibri"/>
                <a:cs typeface="Calibri"/>
                <a:sym typeface="Calibri"/>
              </a:rPr>
              <a:t>Un analista puede dedicar en promedio el 80% de su tiempo a realizar Data Wranging. </a:t>
            </a:r>
            <a:endParaRPr/>
          </a:p>
        </p:txBody>
      </p:sp>
      <p:pic>
        <p:nvPicPr>
          <p:cNvPr id="112" name="Google Shape;112;p3" descr="The Top 7 Blogging Mistakes To Avoid - Business 2 Community"/>
          <p:cNvPicPr preferRelativeResize="0"/>
          <p:nvPr/>
        </p:nvPicPr>
        <p:blipFill rotWithShape="1">
          <a:blip r:embed="rId3">
            <a:alphaModFix/>
          </a:blip>
          <a:srcRect l="19662" t="4720" r="19661" b="4720"/>
          <a:stretch/>
        </p:blipFill>
        <p:spPr>
          <a:xfrm>
            <a:off x="8799995" y="2335628"/>
            <a:ext cx="2276272" cy="2276272"/>
          </a:xfrm>
          <a:custGeom>
            <a:avLst/>
            <a:gdLst/>
            <a:ahLst/>
            <a:cxnLst/>
            <a:rect l="l" t="t" r="r" b="b"/>
            <a:pathLst>
              <a:path w="2705316" h="2705316" extrusionOk="0">
                <a:moveTo>
                  <a:pt x="1352658" y="0"/>
                </a:moveTo>
                <a:cubicBezTo>
                  <a:pt x="2099710" y="0"/>
                  <a:pt x="2705316" y="605606"/>
                  <a:pt x="2705316" y="1352658"/>
                </a:cubicBezTo>
                <a:cubicBezTo>
                  <a:pt x="2705316" y="2099710"/>
                  <a:pt x="2099710" y="2705316"/>
                  <a:pt x="1352658" y="2705316"/>
                </a:cubicBezTo>
                <a:cubicBezTo>
                  <a:pt x="605606" y="2705316"/>
                  <a:pt x="0" y="2099710"/>
                  <a:pt x="0" y="1352658"/>
                </a:cubicBezTo>
                <a:cubicBezTo>
                  <a:pt x="0" y="605606"/>
                  <a:pt x="605606" y="0"/>
                  <a:pt x="1352658" y="0"/>
                </a:cubicBezTo>
                <a:close/>
              </a:path>
            </a:pathLst>
          </a:cu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7119375" y="954152"/>
            <a:ext cx="3989397" cy="5173164"/>
          </a:xfrm>
          <a:prstGeom prst="roundRect">
            <a:avLst>
              <a:gd name="adj" fmla="val 2778"/>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4"/>
          <p:cNvSpPr/>
          <p:nvPr/>
        </p:nvSpPr>
        <p:spPr>
          <a:xfrm>
            <a:off x="702861" y="1495696"/>
            <a:ext cx="5941780" cy="4632961"/>
          </a:xfrm>
          <a:prstGeom prst="roundRect">
            <a:avLst>
              <a:gd name="adj" fmla="val 2778"/>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9" name="Google Shape;119;p4" descr="Byte Me: Data Wrangler – SQLServerCentral"/>
          <p:cNvPicPr preferRelativeResize="0"/>
          <p:nvPr/>
        </p:nvPicPr>
        <p:blipFill rotWithShape="1">
          <a:blip r:embed="rId3">
            <a:alphaModFix/>
          </a:blip>
          <a:srcRect/>
          <a:stretch/>
        </p:blipFill>
        <p:spPr>
          <a:xfrm>
            <a:off x="7325836" y="1283544"/>
            <a:ext cx="3576473" cy="3800003"/>
          </a:xfrm>
          <a:prstGeom prst="rect">
            <a:avLst/>
          </a:prstGeom>
          <a:noFill/>
          <a:ln>
            <a:noFill/>
          </a:ln>
          <a:effectLst>
            <a:outerShdw blurRad="190500" algn="tl" rotWithShape="0">
              <a:srgbClr val="000000">
                <a:alpha val="69803"/>
              </a:srgbClr>
            </a:outerShdw>
          </a:effectLst>
        </p:spPr>
      </p:pic>
      <p:pic>
        <p:nvPicPr>
          <p:cNvPr id="120" name="Google Shape;120;p4" descr="Everyday IT Hero Contest Alert! | SAP Blogs"/>
          <p:cNvPicPr preferRelativeResize="0"/>
          <p:nvPr/>
        </p:nvPicPr>
        <p:blipFill rotWithShape="1">
          <a:blip r:embed="rId4">
            <a:alphaModFix/>
          </a:blip>
          <a:srcRect/>
          <a:stretch/>
        </p:blipFill>
        <p:spPr>
          <a:xfrm>
            <a:off x="1000615" y="1544501"/>
            <a:ext cx="5322364" cy="3800003"/>
          </a:xfrm>
          <a:prstGeom prst="rect">
            <a:avLst/>
          </a:prstGeom>
          <a:noFill/>
          <a:ln>
            <a:noFill/>
          </a:ln>
        </p:spPr>
      </p:pic>
      <p:sp>
        <p:nvSpPr>
          <p:cNvPr id="121" name="Google Shape;121;p4"/>
          <p:cNvSpPr txBox="1"/>
          <p:nvPr/>
        </p:nvSpPr>
        <p:spPr>
          <a:xfrm>
            <a:off x="1000615" y="450196"/>
            <a:ext cx="990285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Data Wrangling</a:t>
            </a:r>
            <a:endParaRPr sz="3200">
              <a:solidFill>
                <a:srgbClr val="7F7F7F"/>
              </a:solidFill>
              <a:latin typeface="Arial"/>
              <a:ea typeface="Arial"/>
              <a:cs typeface="Arial"/>
              <a:sym typeface="Arial"/>
            </a:endParaRPr>
          </a:p>
        </p:txBody>
      </p:sp>
      <p:sp>
        <p:nvSpPr>
          <p:cNvPr id="2" name="CuadroTexto 1">
            <a:extLst>
              <a:ext uri="{FF2B5EF4-FFF2-40B4-BE49-F238E27FC236}">
                <a16:creationId xmlns:a16="http://schemas.microsoft.com/office/drawing/2014/main" id="{1F684C6D-FC67-3A7B-A239-1314E4510A70}"/>
              </a:ext>
            </a:extLst>
          </p:cNvPr>
          <p:cNvSpPr txBox="1"/>
          <p:nvPr/>
        </p:nvSpPr>
        <p:spPr>
          <a:xfrm>
            <a:off x="1001486" y="5475515"/>
            <a:ext cx="532311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595959"/>
                </a:solidFill>
                <a:latin typeface="SegoeUIVariable"/>
              </a:rPr>
              <a:t>"Esto es </a:t>
            </a:r>
            <a:r>
              <a:rPr lang="en-US" dirty="0" err="1">
                <a:solidFill>
                  <a:srgbClr val="595959"/>
                </a:solidFill>
                <a:latin typeface="SegoeUIVariable"/>
              </a:rPr>
              <a:t>fácil</a:t>
            </a:r>
            <a:r>
              <a:rPr lang="en-US" dirty="0">
                <a:solidFill>
                  <a:srgbClr val="595959"/>
                </a:solidFill>
                <a:latin typeface="SegoeUIVariable"/>
              </a:rPr>
              <a:t>. </a:t>
            </a:r>
            <a:r>
              <a:rPr lang="en-US" dirty="0" err="1">
                <a:solidFill>
                  <a:srgbClr val="595959"/>
                </a:solidFill>
                <a:latin typeface="SegoeUIVariable"/>
              </a:rPr>
              <a:t>Intenta</a:t>
            </a:r>
            <a:r>
              <a:rPr lang="en-US" dirty="0">
                <a:solidFill>
                  <a:srgbClr val="595959"/>
                </a:solidFill>
                <a:latin typeface="SegoeUIVariable"/>
              </a:rPr>
              <a:t> </a:t>
            </a:r>
            <a:r>
              <a:rPr lang="en-US" dirty="0" err="1">
                <a:solidFill>
                  <a:srgbClr val="595959"/>
                </a:solidFill>
                <a:latin typeface="SegoeUIVariable"/>
              </a:rPr>
              <a:t>manejar</a:t>
            </a:r>
            <a:r>
              <a:rPr lang="en-US" dirty="0">
                <a:solidFill>
                  <a:srgbClr val="595959"/>
                </a:solidFill>
                <a:latin typeface="SegoeUIVariable"/>
              </a:rPr>
              <a:t> silos de </a:t>
            </a:r>
            <a:r>
              <a:rPr lang="en-US" dirty="0" err="1">
                <a:solidFill>
                  <a:srgbClr val="595959"/>
                </a:solidFill>
                <a:latin typeface="SegoeUIVariable"/>
              </a:rPr>
              <a:t>datos</a:t>
            </a:r>
            <a:r>
              <a:rPr lang="en-US" dirty="0">
                <a:solidFill>
                  <a:srgbClr val="595959"/>
                </a:solidFill>
                <a:latin typeface="SegoeUIVariable"/>
              </a:rPr>
              <a:t> y </a:t>
            </a:r>
            <a:r>
              <a:rPr lang="en-US" dirty="0" err="1">
                <a:solidFill>
                  <a:srgbClr val="595959"/>
                </a:solidFill>
                <a:latin typeface="SegoeUIVariable"/>
              </a:rPr>
              <a:t>controlar</a:t>
            </a:r>
            <a:r>
              <a:rPr lang="en-US" dirty="0">
                <a:solidFill>
                  <a:srgbClr val="595959"/>
                </a:solidFill>
                <a:latin typeface="SegoeUIVariable"/>
              </a:rPr>
              <a:t> </a:t>
            </a:r>
            <a:r>
              <a:rPr lang="en-US" dirty="0" err="1">
                <a:solidFill>
                  <a:srgbClr val="595959"/>
                </a:solidFill>
                <a:latin typeface="SegoeUIVariable"/>
              </a:rPr>
              <a:t>los</a:t>
            </a:r>
            <a:r>
              <a:rPr lang="en-US" dirty="0">
                <a:solidFill>
                  <a:srgbClr val="595959"/>
                </a:solidFill>
                <a:latin typeface="SegoeUIVariable"/>
              </a:rPr>
              <a:t> </a:t>
            </a:r>
            <a:r>
              <a:rPr lang="en-US" dirty="0" err="1">
                <a:solidFill>
                  <a:srgbClr val="595959"/>
                </a:solidFill>
                <a:latin typeface="SegoeUIVariable"/>
              </a:rPr>
              <a:t>costos</a:t>
            </a:r>
            <a:r>
              <a:rPr lang="en-US" dirty="0">
                <a:solidFill>
                  <a:srgbClr val="595959"/>
                </a:solidFill>
                <a:latin typeface="SegoeUIVariable"/>
              </a:rPr>
              <a:t> </a:t>
            </a:r>
            <a:r>
              <a:rPr lang="en-US" dirty="0" err="1">
                <a:solidFill>
                  <a:srgbClr val="595959"/>
                </a:solidFill>
                <a:latin typeface="SegoeUIVariable"/>
              </a:rPr>
              <a:t>como</a:t>
            </a:r>
            <a:r>
              <a:rPr lang="en-US" dirty="0">
                <a:solidFill>
                  <a:srgbClr val="595959"/>
                </a:solidFill>
                <a:latin typeface="SegoeUIVariable"/>
              </a:rPr>
              <a:t> </a:t>
            </a:r>
            <a:r>
              <a:rPr lang="en-US" dirty="0" err="1">
                <a:solidFill>
                  <a:srgbClr val="595959"/>
                </a:solidFill>
                <a:latin typeface="SegoeUIVariable"/>
              </a:rPr>
              <a:t>arquitecto</a:t>
            </a:r>
            <a:r>
              <a:rPr lang="en-US" dirty="0">
                <a:solidFill>
                  <a:srgbClr val="595959"/>
                </a:solidFill>
                <a:latin typeface="SegoeUIVariable"/>
              </a:rPr>
              <a:t> de </a:t>
            </a:r>
            <a:r>
              <a:rPr lang="en-US" dirty="0" err="1">
                <a:solidFill>
                  <a:srgbClr val="595959"/>
                </a:solidFill>
                <a:latin typeface="SegoeUIVariable"/>
              </a:rPr>
              <a:t>almacén</a:t>
            </a:r>
            <a:r>
              <a:rPr lang="en-US" dirty="0">
                <a:solidFill>
                  <a:srgbClr val="595959"/>
                </a:solidFill>
                <a:latin typeface="SegoeUIVariable"/>
              </a:rPr>
              <a:t> de </a:t>
            </a:r>
            <a:r>
              <a:rPr lang="en-US" dirty="0" err="1">
                <a:solidFill>
                  <a:srgbClr val="595959"/>
                </a:solidFill>
                <a:latin typeface="SegoeUIVariable"/>
              </a:rPr>
              <a:t>datos</a:t>
            </a:r>
            <a:r>
              <a:rPr lang="en-US" dirty="0">
                <a:solidFill>
                  <a:srgbClr val="595959"/>
                </a:solidFill>
                <a:latin typeface="SegoeUIVariable"/>
              </a:rPr>
              <a:t>"</a:t>
            </a:r>
            <a:endParaRPr lang="en-US" dirty="0" err="1">
              <a:solidFill>
                <a:srgbClr val="595959"/>
              </a:solidFill>
            </a:endParaRPr>
          </a:p>
        </p:txBody>
      </p:sp>
      <p:sp>
        <p:nvSpPr>
          <p:cNvPr id="3" name="CuadroTexto 2">
            <a:extLst>
              <a:ext uri="{FF2B5EF4-FFF2-40B4-BE49-F238E27FC236}">
                <a16:creationId xmlns:a16="http://schemas.microsoft.com/office/drawing/2014/main" id="{ED5B0F42-32CA-9D0C-9F16-B623CCC015CE}"/>
              </a:ext>
            </a:extLst>
          </p:cNvPr>
          <p:cNvSpPr txBox="1"/>
          <p:nvPr/>
        </p:nvSpPr>
        <p:spPr>
          <a:xfrm>
            <a:off x="7326086" y="5265965"/>
            <a:ext cx="358003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595959"/>
                </a:solidFill>
                <a:latin typeface="SegoeUIVariable"/>
              </a:rPr>
              <a:t>"¿</a:t>
            </a:r>
            <a:r>
              <a:rPr lang="en-US" dirty="0" err="1">
                <a:solidFill>
                  <a:srgbClr val="595959"/>
                </a:solidFill>
                <a:latin typeface="SegoeUIVariable"/>
              </a:rPr>
              <a:t>Dónde</a:t>
            </a:r>
            <a:r>
              <a:rPr lang="en-US" dirty="0">
                <a:solidFill>
                  <a:srgbClr val="595959"/>
                </a:solidFill>
                <a:latin typeface="SegoeUIVariable"/>
              </a:rPr>
              <a:t> </a:t>
            </a:r>
            <a:r>
              <a:rPr lang="en-US" dirty="0" err="1">
                <a:solidFill>
                  <a:srgbClr val="595959"/>
                </a:solidFill>
                <a:latin typeface="SegoeUIVariable"/>
              </a:rPr>
              <a:t>está</a:t>
            </a:r>
            <a:r>
              <a:rPr lang="en-US" dirty="0">
                <a:solidFill>
                  <a:srgbClr val="595959"/>
                </a:solidFill>
                <a:latin typeface="SegoeUIVariable"/>
              </a:rPr>
              <a:t> </a:t>
            </a:r>
            <a:r>
              <a:rPr lang="en-US" dirty="0" err="1">
                <a:solidFill>
                  <a:srgbClr val="595959"/>
                </a:solidFill>
                <a:latin typeface="SegoeUIVariable"/>
              </a:rPr>
              <a:t>el</a:t>
            </a:r>
            <a:r>
              <a:rPr lang="en-US" dirty="0">
                <a:solidFill>
                  <a:srgbClr val="595959"/>
                </a:solidFill>
                <a:latin typeface="SegoeUIVariable"/>
              </a:rPr>
              <a:t> nuevo </a:t>
            </a:r>
            <a:r>
              <a:rPr lang="en-US" dirty="0" err="1">
                <a:solidFill>
                  <a:srgbClr val="595959"/>
                </a:solidFill>
                <a:latin typeface="SegoeUIVariable"/>
              </a:rPr>
              <a:t>empleado</a:t>
            </a:r>
            <a:r>
              <a:rPr lang="en-US" dirty="0">
                <a:solidFill>
                  <a:srgbClr val="595959"/>
                </a:solidFill>
                <a:latin typeface="SegoeUIVariable"/>
              </a:rPr>
              <a:t> que </a:t>
            </a:r>
            <a:r>
              <a:rPr lang="en-US" dirty="0" err="1">
                <a:solidFill>
                  <a:srgbClr val="595959"/>
                </a:solidFill>
                <a:latin typeface="SegoeUIVariable"/>
              </a:rPr>
              <a:t>contrataste</a:t>
            </a:r>
            <a:r>
              <a:rPr lang="en-US" dirty="0">
                <a:solidFill>
                  <a:srgbClr val="595959"/>
                </a:solidFill>
                <a:latin typeface="SegoeUIVariable"/>
              </a:rPr>
              <a:t> para </a:t>
            </a:r>
            <a:r>
              <a:rPr lang="en-US" dirty="0" err="1">
                <a:solidFill>
                  <a:srgbClr val="595959"/>
                </a:solidFill>
                <a:latin typeface="SegoeUIVariable"/>
              </a:rPr>
              <a:t>gestionar</a:t>
            </a:r>
            <a:r>
              <a:rPr lang="en-US" dirty="0">
                <a:solidFill>
                  <a:srgbClr val="595959"/>
                </a:solidFill>
                <a:latin typeface="SegoeUIVariable"/>
              </a:rPr>
              <a:t> las </a:t>
            </a:r>
            <a:r>
              <a:rPr lang="en-US" dirty="0" err="1">
                <a:solidFill>
                  <a:srgbClr val="595959"/>
                </a:solidFill>
                <a:latin typeface="SegoeUIVariable"/>
              </a:rPr>
              <a:t>migraciones</a:t>
            </a:r>
            <a:r>
              <a:rPr lang="en-US" dirty="0">
                <a:solidFill>
                  <a:srgbClr val="595959"/>
                </a:solidFill>
                <a:latin typeface="SegoeUIVariable"/>
              </a:rPr>
              <a:t> de </a:t>
            </a:r>
            <a:r>
              <a:rPr lang="en-US" dirty="0" err="1">
                <a:solidFill>
                  <a:srgbClr val="595959"/>
                </a:solidFill>
                <a:latin typeface="SegoeUIVariable"/>
              </a:rPr>
              <a:t>datos</a:t>
            </a:r>
            <a:r>
              <a:rPr lang="en-US" dirty="0">
                <a:solidFill>
                  <a:srgbClr val="595959"/>
                </a:solidFill>
                <a:latin typeface="SegoeUIVariable"/>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p:nvPr/>
        </p:nvSpPr>
        <p:spPr>
          <a:xfrm>
            <a:off x="3579779" y="1220598"/>
            <a:ext cx="4671191" cy="4265801"/>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5"/>
          <p:cNvSpPr txBox="1"/>
          <p:nvPr/>
        </p:nvSpPr>
        <p:spPr>
          <a:xfrm>
            <a:off x="1166949" y="206766"/>
            <a:ext cx="455458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Data Wrangling</a:t>
            </a:r>
            <a:endParaRPr sz="3200">
              <a:solidFill>
                <a:srgbClr val="7F7F7F"/>
              </a:solidFill>
              <a:latin typeface="Arial"/>
              <a:ea typeface="Arial"/>
              <a:cs typeface="Arial"/>
              <a:sym typeface="Arial"/>
            </a:endParaRPr>
          </a:p>
        </p:txBody>
      </p:sp>
      <p:pic>
        <p:nvPicPr>
          <p:cNvPr id="128" name="Google Shape;128;p5"/>
          <p:cNvPicPr preferRelativeResize="0"/>
          <p:nvPr/>
        </p:nvPicPr>
        <p:blipFill rotWithShape="1">
          <a:blip r:embed="rId3">
            <a:alphaModFix/>
          </a:blip>
          <a:srcRect/>
          <a:stretch/>
        </p:blipFill>
        <p:spPr>
          <a:xfrm>
            <a:off x="3748945" y="1329179"/>
            <a:ext cx="4359033" cy="4062500"/>
          </a:xfrm>
          <a:prstGeom prst="rect">
            <a:avLst/>
          </a:prstGeom>
          <a:noFill/>
          <a:ln>
            <a:noFill/>
          </a:ln>
        </p:spPr>
      </p:pic>
      <p:sp>
        <p:nvSpPr>
          <p:cNvPr id="129" name="Google Shape;129;p5"/>
          <p:cNvSpPr txBox="1"/>
          <p:nvPr/>
        </p:nvSpPr>
        <p:spPr>
          <a:xfrm>
            <a:off x="6996552" y="475187"/>
            <a:ext cx="2254143" cy="738623"/>
          </a:xfrm>
          <a:prstGeom prst="rect">
            <a:avLst/>
          </a:prstGeom>
          <a:noFill/>
          <a:ln>
            <a:noFill/>
          </a:ln>
        </p:spPr>
        <p:txBody>
          <a:bodyPr spcFirstLastPara="1" wrap="square" lIns="91425" tIns="45700" rIns="91425" bIns="45700" anchor="t" anchorCtr="0">
            <a:spAutoFit/>
          </a:bodyPr>
          <a:lstStyle/>
          <a:p>
            <a:pPr algn="ctr"/>
            <a:r>
              <a:rPr lang="es-ES" b="1" dirty="0">
                <a:solidFill>
                  <a:srgbClr val="595959"/>
                </a:solidFill>
              </a:rPr>
              <a:t>Descubrimiento</a:t>
            </a:r>
          </a:p>
          <a:p>
            <a:pPr marL="0" marR="0" lvl="0" indent="0" algn="ctr">
              <a:spcBef>
                <a:spcPts val="0"/>
              </a:spcBef>
              <a:spcAft>
                <a:spcPts val="0"/>
              </a:spcAft>
              <a:buNone/>
            </a:pPr>
            <a:r>
              <a:rPr lang="es-ES" sz="1400" dirty="0">
                <a:solidFill>
                  <a:srgbClr val="595959"/>
                </a:solidFill>
                <a:latin typeface="Arial"/>
                <a:ea typeface="Arial"/>
                <a:cs typeface="Arial"/>
                <a:sym typeface="Arial"/>
              </a:rPr>
              <a:t>Entendimiento de los datos</a:t>
            </a:r>
            <a:endParaRPr dirty="0"/>
          </a:p>
        </p:txBody>
      </p:sp>
      <p:cxnSp>
        <p:nvCxnSpPr>
          <p:cNvPr id="130" name="Google Shape;130;p5"/>
          <p:cNvCxnSpPr/>
          <p:nvPr/>
        </p:nvCxnSpPr>
        <p:spPr>
          <a:xfrm flipH="1">
            <a:off x="6361092" y="1153345"/>
            <a:ext cx="609600" cy="308852"/>
          </a:xfrm>
          <a:prstGeom prst="straightConnector1">
            <a:avLst/>
          </a:prstGeom>
          <a:noFill/>
          <a:ln w="9525" cap="flat" cmpd="sng">
            <a:solidFill>
              <a:schemeClr val="accent1"/>
            </a:solidFill>
            <a:prstDash val="solid"/>
            <a:miter lim="800000"/>
            <a:headEnd type="none" w="sm" len="sm"/>
            <a:tailEnd type="triangle" w="med" len="med"/>
          </a:ln>
        </p:spPr>
      </p:cxnSp>
      <p:sp>
        <p:nvSpPr>
          <p:cNvPr id="131" name="Google Shape;131;p5"/>
          <p:cNvSpPr txBox="1"/>
          <p:nvPr/>
        </p:nvSpPr>
        <p:spPr>
          <a:xfrm>
            <a:off x="9419242" y="2180086"/>
            <a:ext cx="1668961" cy="954067"/>
          </a:xfrm>
          <a:prstGeom prst="rect">
            <a:avLst/>
          </a:prstGeom>
          <a:noFill/>
          <a:ln>
            <a:noFill/>
          </a:ln>
        </p:spPr>
        <p:txBody>
          <a:bodyPr spcFirstLastPara="1" wrap="square" lIns="91425" tIns="45700" rIns="91425" bIns="45700" anchor="t" anchorCtr="0">
            <a:spAutoFit/>
          </a:bodyPr>
          <a:lstStyle/>
          <a:p>
            <a:pPr algn="ctr"/>
            <a:r>
              <a:rPr lang="es-ES" b="1" dirty="0">
                <a:solidFill>
                  <a:srgbClr val="595959"/>
                </a:solidFill>
              </a:rPr>
              <a:t>Estructuración</a:t>
            </a:r>
          </a:p>
          <a:p>
            <a:pPr marL="0" marR="0" lvl="0" indent="0" algn="ctr">
              <a:spcBef>
                <a:spcPts val="0"/>
              </a:spcBef>
              <a:spcAft>
                <a:spcPts val="0"/>
              </a:spcAft>
              <a:buNone/>
            </a:pPr>
            <a:r>
              <a:rPr lang="es-ES" sz="1400" dirty="0">
                <a:solidFill>
                  <a:srgbClr val="595959"/>
                </a:solidFill>
                <a:latin typeface="Arial"/>
                <a:ea typeface="Arial"/>
                <a:cs typeface="Arial"/>
                <a:sym typeface="Arial"/>
              </a:rPr>
              <a:t>Organización de las estructuras de datos</a:t>
            </a:r>
            <a:endParaRPr dirty="0"/>
          </a:p>
        </p:txBody>
      </p:sp>
      <p:cxnSp>
        <p:nvCxnSpPr>
          <p:cNvPr id="132" name="Google Shape;132;p5"/>
          <p:cNvCxnSpPr/>
          <p:nvPr/>
        </p:nvCxnSpPr>
        <p:spPr>
          <a:xfrm rot="10800000">
            <a:off x="8107978" y="2562202"/>
            <a:ext cx="1290506" cy="20489"/>
          </a:xfrm>
          <a:prstGeom prst="straightConnector1">
            <a:avLst/>
          </a:prstGeom>
          <a:noFill/>
          <a:ln w="9525" cap="flat" cmpd="sng">
            <a:solidFill>
              <a:schemeClr val="accent1"/>
            </a:solidFill>
            <a:prstDash val="solid"/>
            <a:miter lim="800000"/>
            <a:headEnd type="none" w="sm" len="sm"/>
            <a:tailEnd type="triangle" w="med" len="med"/>
          </a:ln>
        </p:spPr>
      </p:cxnSp>
      <p:sp>
        <p:nvSpPr>
          <p:cNvPr id="133" name="Google Shape;133;p5"/>
          <p:cNvSpPr txBox="1"/>
          <p:nvPr/>
        </p:nvSpPr>
        <p:spPr>
          <a:xfrm>
            <a:off x="9407305" y="4883416"/>
            <a:ext cx="1668961" cy="738623"/>
          </a:xfrm>
          <a:prstGeom prst="rect">
            <a:avLst/>
          </a:prstGeom>
          <a:noFill/>
          <a:ln>
            <a:noFill/>
          </a:ln>
        </p:spPr>
        <p:txBody>
          <a:bodyPr spcFirstLastPara="1" wrap="square" lIns="91425" tIns="45700" rIns="91425" bIns="45700" anchor="t" anchorCtr="0">
            <a:spAutoFit/>
          </a:bodyPr>
          <a:lstStyle/>
          <a:p>
            <a:pPr algn="ctr"/>
            <a:r>
              <a:rPr lang="es-ES" b="1" dirty="0">
                <a:solidFill>
                  <a:srgbClr val="595959"/>
                </a:solidFill>
              </a:rPr>
              <a:t>Limpieza</a:t>
            </a:r>
          </a:p>
          <a:p>
            <a:pPr marL="0" marR="0" lvl="0" indent="0" algn="ctr">
              <a:spcBef>
                <a:spcPts val="0"/>
              </a:spcBef>
              <a:spcAft>
                <a:spcPts val="0"/>
              </a:spcAft>
              <a:buNone/>
            </a:pPr>
            <a:r>
              <a:rPr lang="es-ES" sz="1400" err="1">
                <a:solidFill>
                  <a:srgbClr val="595959"/>
                </a:solidFill>
                <a:latin typeface="Arial"/>
                <a:ea typeface="Arial"/>
                <a:cs typeface="Arial"/>
                <a:sym typeface="Arial"/>
              </a:rPr>
              <a:t>Null</a:t>
            </a:r>
            <a:r>
              <a:rPr lang="es-ES" sz="1400" dirty="0">
                <a:solidFill>
                  <a:srgbClr val="595959"/>
                </a:solidFill>
                <a:latin typeface="Arial"/>
                <a:ea typeface="Arial"/>
                <a:cs typeface="Arial"/>
                <a:sym typeface="Arial"/>
              </a:rPr>
              <a:t> </a:t>
            </a:r>
            <a:r>
              <a:rPr lang="es-ES" sz="1400" err="1">
                <a:solidFill>
                  <a:srgbClr val="595959"/>
                </a:solidFill>
                <a:latin typeface="Arial"/>
                <a:ea typeface="Arial"/>
                <a:cs typeface="Arial"/>
                <a:sym typeface="Arial"/>
              </a:rPr>
              <a:t>values</a:t>
            </a:r>
            <a:r>
              <a:rPr lang="es-ES" sz="1400" dirty="0">
                <a:solidFill>
                  <a:srgbClr val="595959"/>
                </a:solidFill>
                <a:latin typeface="Arial"/>
                <a:ea typeface="Arial"/>
                <a:cs typeface="Arial"/>
                <a:sym typeface="Arial"/>
              </a:rPr>
              <a:t>, </a:t>
            </a:r>
            <a:r>
              <a:rPr lang="es-ES" sz="1400" err="1">
                <a:solidFill>
                  <a:srgbClr val="595959"/>
                </a:solidFill>
                <a:latin typeface="Arial"/>
                <a:ea typeface="Arial"/>
                <a:cs typeface="Arial"/>
                <a:sym typeface="Arial"/>
              </a:rPr>
              <a:t>outliers</a:t>
            </a:r>
            <a:endParaRPr sz="1400" err="1">
              <a:solidFill>
                <a:srgbClr val="595959"/>
              </a:solidFill>
              <a:latin typeface="Arial"/>
              <a:ea typeface="Arial"/>
              <a:cs typeface="Arial"/>
            </a:endParaRPr>
          </a:p>
        </p:txBody>
      </p:sp>
      <p:cxnSp>
        <p:nvCxnSpPr>
          <p:cNvPr id="134" name="Google Shape;134;p5"/>
          <p:cNvCxnSpPr>
            <a:stCxn id="133" idx="1"/>
          </p:cNvCxnSpPr>
          <p:nvPr/>
        </p:nvCxnSpPr>
        <p:spPr>
          <a:xfrm flipH="1" flipV="1">
            <a:off x="7935805" y="4381505"/>
            <a:ext cx="1471500" cy="871223"/>
          </a:xfrm>
          <a:prstGeom prst="straightConnector1">
            <a:avLst/>
          </a:prstGeom>
          <a:noFill/>
          <a:ln w="9525" cap="flat" cmpd="sng">
            <a:solidFill>
              <a:schemeClr val="accent1"/>
            </a:solidFill>
            <a:prstDash val="solid"/>
            <a:miter lim="800000"/>
            <a:headEnd type="none" w="sm" len="sm"/>
            <a:tailEnd type="triangle" w="med" len="med"/>
          </a:ln>
        </p:spPr>
      </p:cxnSp>
      <p:sp>
        <p:nvSpPr>
          <p:cNvPr id="135" name="Google Shape;135;p5"/>
          <p:cNvSpPr txBox="1"/>
          <p:nvPr/>
        </p:nvSpPr>
        <p:spPr>
          <a:xfrm>
            <a:off x="4737463" y="5641054"/>
            <a:ext cx="2569028" cy="738623"/>
          </a:xfrm>
          <a:prstGeom prst="rect">
            <a:avLst/>
          </a:prstGeom>
          <a:noFill/>
          <a:ln>
            <a:noFill/>
          </a:ln>
        </p:spPr>
        <p:txBody>
          <a:bodyPr spcFirstLastPara="1" wrap="square" lIns="91425" tIns="45700" rIns="91425" bIns="45700" anchor="t" anchorCtr="0">
            <a:spAutoFit/>
          </a:bodyPr>
          <a:lstStyle/>
          <a:p>
            <a:pPr algn="ctr"/>
            <a:r>
              <a:rPr lang="es-ES" b="1" dirty="0">
                <a:solidFill>
                  <a:srgbClr val="595959"/>
                </a:solidFill>
              </a:rPr>
              <a:t>Enriquecimiento</a:t>
            </a:r>
          </a:p>
          <a:p>
            <a:pPr marL="0" marR="0" lvl="0" indent="0" algn="ctr">
              <a:spcBef>
                <a:spcPts val="0"/>
              </a:spcBef>
              <a:spcAft>
                <a:spcPts val="0"/>
              </a:spcAft>
              <a:buNone/>
            </a:pPr>
            <a:r>
              <a:rPr lang="es-ES" sz="1400" dirty="0">
                <a:solidFill>
                  <a:srgbClr val="595959"/>
                </a:solidFill>
                <a:latin typeface="Arial"/>
                <a:ea typeface="Arial"/>
                <a:cs typeface="Arial"/>
                <a:sym typeface="Arial"/>
              </a:rPr>
              <a:t>Incorporación de nuevos datos, columnas, entre otros.</a:t>
            </a:r>
            <a:endParaRPr sz="1400" dirty="0">
              <a:solidFill>
                <a:srgbClr val="595959"/>
              </a:solidFill>
              <a:latin typeface="Arial"/>
              <a:ea typeface="Arial"/>
              <a:cs typeface="Arial"/>
            </a:endParaRPr>
          </a:p>
        </p:txBody>
      </p:sp>
      <p:cxnSp>
        <p:nvCxnSpPr>
          <p:cNvPr id="136" name="Google Shape;136;p5"/>
          <p:cNvCxnSpPr/>
          <p:nvPr/>
        </p:nvCxnSpPr>
        <p:spPr>
          <a:xfrm rot="10800000">
            <a:off x="5928462" y="5191193"/>
            <a:ext cx="0" cy="449861"/>
          </a:xfrm>
          <a:prstGeom prst="straightConnector1">
            <a:avLst/>
          </a:prstGeom>
          <a:noFill/>
          <a:ln w="9525" cap="flat" cmpd="sng">
            <a:solidFill>
              <a:schemeClr val="accent1"/>
            </a:solidFill>
            <a:prstDash val="solid"/>
            <a:miter lim="800000"/>
            <a:headEnd type="none" w="sm" len="sm"/>
            <a:tailEnd type="triangle" w="med" len="med"/>
          </a:ln>
        </p:spPr>
      </p:cxnSp>
      <p:sp>
        <p:nvSpPr>
          <p:cNvPr id="137" name="Google Shape;137;p5"/>
          <p:cNvSpPr txBox="1"/>
          <p:nvPr/>
        </p:nvSpPr>
        <p:spPr>
          <a:xfrm>
            <a:off x="1242526" y="4902390"/>
            <a:ext cx="1668961" cy="1169511"/>
          </a:xfrm>
          <a:prstGeom prst="rect">
            <a:avLst/>
          </a:prstGeom>
          <a:noFill/>
          <a:ln>
            <a:noFill/>
          </a:ln>
        </p:spPr>
        <p:txBody>
          <a:bodyPr spcFirstLastPara="1" wrap="square" lIns="91425" tIns="45700" rIns="91425" bIns="45700" anchor="t" anchorCtr="0">
            <a:spAutoFit/>
          </a:bodyPr>
          <a:lstStyle/>
          <a:p>
            <a:pPr algn="ctr"/>
            <a:r>
              <a:rPr lang="es-ES" b="1" dirty="0">
                <a:solidFill>
                  <a:srgbClr val="595959"/>
                </a:solidFill>
              </a:rPr>
              <a:t>Validación</a:t>
            </a:r>
          </a:p>
          <a:p>
            <a:pPr marL="0" marR="0" lvl="0" indent="0" algn="ctr">
              <a:spcBef>
                <a:spcPts val="0"/>
              </a:spcBef>
              <a:spcAft>
                <a:spcPts val="0"/>
              </a:spcAft>
              <a:buNone/>
            </a:pPr>
            <a:r>
              <a:rPr lang="es-ES" sz="1400" dirty="0">
                <a:solidFill>
                  <a:srgbClr val="595959"/>
                </a:solidFill>
                <a:latin typeface="Arial"/>
                <a:ea typeface="Arial"/>
                <a:cs typeface="Arial"/>
                <a:sym typeface="Arial"/>
              </a:rPr>
              <a:t>Verificación de la consistencia y calidad de los datos</a:t>
            </a:r>
            <a:endParaRPr dirty="0"/>
          </a:p>
        </p:txBody>
      </p:sp>
      <p:cxnSp>
        <p:nvCxnSpPr>
          <p:cNvPr id="138" name="Google Shape;138;p5"/>
          <p:cNvCxnSpPr/>
          <p:nvPr/>
        </p:nvCxnSpPr>
        <p:spPr>
          <a:xfrm rot="10800000" flipH="1">
            <a:off x="2911487" y="4685897"/>
            <a:ext cx="1152575" cy="362758"/>
          </a:xfrm>
          <a:prstGeom prst="straightConnector1">
            <a:avLst/>
          </a:prstGeom>
          <a:noFill/>
          <a:ln w="9525" cap="flat" cmpd="sng">
            <a:solidFill>
              <a:schemeClr val="accent1"/>
            </a:solidFill>
            <a:prstDash val="solid"/>
            <a:miter lim="800000"/>
            <a:headEnd type="none" w="sm" len="sm"/>
            <a:tailEnd type="triangle" w="med" len="med"/>
          </a:ln>
        </p:spPr>
      </p:cxnSp>
      <p:sp>
        <p:nvSpPr>
          <p:cNvPr id="139" name="Google Shape;139;p5"/>
          <p:cNvSpPr txBox="1"/>
          <p:nvPr/>
        </p:nvSpPr>
        <p:spPr>
          <a:xfrm>
            <a:off x="1166083" y="2180086"/>
            <a:ext cx="1668961" cy="954067"/>
          </a:xfrm>
          <a:prstGeom prst="rect">
            <a:avLst/>
          </a:prstGeom>
          <a:noFill/>
          <a:ln>
            <a:noFill/>
          </a:ln>
        </p:spPr>
        <p:txBody>
          <a:bodyPr spcFirstLastPara="1" wrap="square" lIns="91425" tIns="45700" rIns="91425" bIns="45700" anchor="t" anchorCtr="0">
            <a:spAutoFit/>
          </a:bodyPr>
          <a:lstStyle/>
          <a:p>
            <a:pPr algn="ctr"/>
            <a:r>
              <a:rPr lang="es-ES" b="1" dirty="0">
                <a:solidFill>
                  <a:srgbClr val="595959"/>
                </a:solidFill>
              </a:rPr>
              <a:t>Publicación</a:t>
            </a:r>
          </a:p>
          <a:p>
            <a:pPr marL="0" marR="0" lvl="0" indent="0" algn="ctr">
              <a:spcBef>
                <a:spcPts val="0"/>
              </a:spcBef>
              <a:spcAft>
                <a:spcPts val="0"/>
              </a:spcAft>
              <a:buNone/>
            </a:pPr>
            <a:r>
              <a:rPr lang="es-ES" sz="1400" dirty="0">
                <a:solidFill>
                  <a:srgbClr val="595959"/>
                </a:solidFill>
                <a:latin typeface="Arial"/>
                <a:ea typeface="Arial"/>
                <a:cs typeface="Arial"/>
                <a:sym typeface="Arial"/>
              </a:rPr>
              <a:t>Preparación de la información para su posterior uso</a:t>
            </a:r>
            <a:endParaRPr dirty="0"/>
          </a:p>
        </p:txBody>
      </p:sp>
      <p:cxnSp>
        <p:nvCxnSpPr>
          <p:cNvPr id="140" name="Google Shape;140;p5"/>
          <p:cNvCxnSpPr>
            <a:stCxn id="139" idx="3"/>
          </p:cNvCxnSpPr>
          <p:nvPr/>
        </p:nvCxnSpPr>
        <p:spPr>
          <a:xfrm flipV="1">
            <a:off x="2835044" y="2653818"/>
            <a:ext cx="1159500" cy="3302"/>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p:nvPr/>
        </p:nvSpPr>
        <p:spPr>
          <a:xfrm>
            <a:off x="6380435" y="513806"/>
            <a:ext cx="4011944" cy="5164183"/>
          </a:xfrm>
          <a:prstGeom prst="roundRect">
            <a:avLst>
              <a:gd name="adj" fmla="val 4466"/>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 name="Google Shape;146;p6"/>
          <p:cNvSpPr/>
          <p:nvPr/>
        </p:nvSpPr>
        <p:spPr>
          <a:xfrm>
            <a:off x="2001481" y="1125584"/>
            <a:ext cx="4090850" cy="5253445"/>
          </a:xfrm>
          <a:prstGeom prst="roundRect">
            <a:avLst>
              <a:gd name="adj" fmla="val 4466"/>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6"/>
          <p:cNvSpPr txBox="1">
            <a:spLocks noGrp="1"/>
          </p:cNvSpPr>
          <p:nvPr>
            <p:ph type="title"/>
          </p:nvPr>
        </p:nvSpPr>
        <p:spPr>
          <a:xfrm>
            <a:off x="1521456" y="298931"/>
            <a:ext cx="8870923" cy="74957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br>
              <a:rPr lang="es-ES" sz="3200">
                <a:solidFill>
                  <a:srgbClr val="7F7F7F"/>
                </a:solidFill>
                <a:latin typeface="Arial"/>
                <a:ea typeface="Arial"/>
                <a:cs typeface="Arial"/>
                <a:sym typeface="Arial"/>
              </a:rPr>
            </a:br>
            <a:r>
              <a:rPr lang="es-ES" sz="3200">
                <a:solidFill>
                  <a:srgbClr val="7F7F7F"/>
                </a:solidFill>
                <a:latin typeface="Arial"/>
                <a:ea typeface="Arial"/>
                <a:cs typeface="Arial"/>
                <a:sym typeface="Arial"/>
              </a:rPr>
              <a:t>“Explorando a fondo”</a:t>
            </a:r>
            <a:br>
              <a:rPr lang="es-ES" sz="3200">
                <a:solidFill>
                  <a:srgbClr val="7F7F7F"/>
                </a:solidFill>
                <a:latin typeface="Arial"/>
                <a:ea typeface="Arial"/>
                <a:cs typeface="Arial"/>
                <a:sym typeface="Arial"/>
              </a:rPr>
            </a:br>
            <a:endParaRPr/>
          </a:p>
        </p:txBody>
      </p:sp>
      <p:pic>
        <p:nvPicPr>
          <p:cNvPr id="148" name="Google Shape;148;p6"/>
          <p:cNvPicPr preferRelativeResize="0"/>
          <p:nvPr/>
        </p:nvPicPr>
        <p:blipFill rotWithShape="1">
          <a:blip r:embed="rId3">
            <a:alphaModFix/>
          </a:blip>
          <a:srcRect t="1365" b="1849"/>
          <a:stretch/>
        </p:blipFill>
        <p:spPr>
          <a:xfrm>
            <a:off x="6489293" y="675655"/>
            <a:ext cx="3794228" cy="4937760"/>
          </a:xfrm>
          <a:prstGeom prst="rect">
            <a:avLst/>
          </a:prstGeom>
          <a:noFill/>
          <a:ln>
            <a:noFill/>
          </a:ln>
        </p:spPr>
      </p:pic>
      <p:pic>
        <p:nvPicPr>
          <p:cNvPr id="149" name="Google Shape;149;p6" descr="Resultado de imagen para python for data analysis"/>
          <p:cNvPicPr preferRelativeResize="0"/>
          <p:nvPr/>
        </p:nvPicPr>
        <p:blipFill rotWithShape="1">
          <a:blip r:embed="rId4">
            <a:alphaModFix/>
          </a:blip>
          <a:srcRect/>
          <a:stretch/>
        </p:blipFill>
        <p:spPr>
          <a:xfrm>
            <a:off x="2174600" y="1290632"/>
            <a:ext cx="3755500" cy="49342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10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p:nvPr/>
        </p:nvSpPr>
        <p:spPr>
          <a:xfrm>
            <a:off x="1027706" y="3495547"/>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600">
                <a:solidFill>
                  <a:srgbClr val="7F7F7F"/>
                </a:solidFill>
                <a:latin typeface="Arial"/>
                <a:ea typeface="Arial"/>
                <a:cs typeface="Arial"/>
                <a:sym typeface="Arial"/>
              </a:rPr>
              <a:t>Muestreo aleatorio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8"/>
        <p:cNvGrpSpPr/>
        <p:nvPr/>
      </p:nvGrpSpPr>
      <p:grpSpPr>
        <a:xfrm>
          <a:off x="0" y="0"/>
          <a:ext cx="0" cy="0"/>
          <a:chOff x="0" y="0"/>
          <a:chExt cx="0" cy="0"/>
        </a:xfrm>
      </p:grpSpPr>
      <p:pic>
        <p:nvPicPr>
          <p:cNvPr id="159" name="Google Shape;159;p8"/>
          <p:cNvPicPr preferRelativeResize="0"/>
          <p:nvPr/>
        </p:nvPicPr>
        <p:blipFill rotWithShape="1">
          <a:blip r:embed="rId4">
            <a:alphaModFix/>
          </a:blip>
          <a:srcRect/>
          <a:stretch/>
        </p:blipFill>
        <p:spPr>
          <a:xfrm>
            <a:off x="771175" y="1356732"/>
            <a:ext cx="10641874" cy="1035094"/>
          </a:xfrm>
          <a:prstGeom prst="rect">
            <a:avLst/>
          </a:prstGeom>
          <a:noFill/>
          <a:ln>
            <a:noFill/>
          </a:ln>
        </p:spPr>
      </p:pic>
      <p:sp>
        <p:nvSpPr>
          <p:cNvPr id="160" name="Google Shape;160;p8"/>
          <p:cNvSpPr/>
          <p:nvPr/>
        </p:nvSpPr>
        <p:spPr>
          <a:xfrm>
            <a:off x="771175" y="2494524"/>
            <a:ext cx="10641874" cy="290857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 name="Google Shape;161;p8"/>
          <p:cNvSpPr txBox="1"/>
          <p:nvPr/>
        </p:nvSpPr>
        <p:spPr>
          <a:xfrm>
            <a:off x="923109" y="602281"/>
            <a:ext cx="10285635" cy="651753"/>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s-ES" sz="3200">
                <a:solidFill>
                  <a:srgbClr val="7F7F7F"/>
                </a:solidFill>
                <a:latin typeface="Arial"/>
                <a:ea typeface="Arial"/>
                <a:cs typeface="Arial"/>
                <a:sym typeface="Arial"/>
              </a:rPr>
              <a:t>Muestreos Aleatorios</a:t>
            </a:r>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162" name="Google Shape;162;p8"/>
          <p:cNvPicPr preferRelativeResize="0"/>
          <p:nvPr/>
        </p:nvPicPr>
        <p:blipFill rotWithShape="1">
          <a:blip r:embed="rId5">
            <a:alphaModFix/>
          </a:blip>
          <a:srcRect/>
          <a:stretch/>
        </p:blipFill>
        <p:spPr>
          <a:xfrm>
            <a:off x="849552" y="2829508"/>
            <a:ext cx="6098757" cy="2238602"/>
          </a:xfrm>
          <a:prstGeom prst="rect">
            <a:avLst/>
          </a:prstGeom>
          <a:noFill/>
          <a:ln>
            <a:noFill/>
          </a:ln>
        </p:spPr>
      </p:pic>
      <p:pic>
        <p:nvPicPr>
          <p:cNvPr id="163" name="Google Shape;163;p8"/>
          <p:cNvPicPr preferRelativeResize="0"/>
          <p:nvPr/>
        </p:nvPicPr>
        <p:blipFill rotWithShape="1">
          <a:blip r:embed="rId6">
            <a:alphaModFix/>
          </a:blip>
          <a:srcRect/>
          <a:stretch/>
        </p:blipFill>
        <p:spPr>
          <a:xfrm>
            <a:off x="7009729" y="2829508"/>
            <a:ext cx="4263523" cy="2238603"/>
          </a:xfrm>
          <a:prstGeom prst="rect">
            <a:avLst/>
          </a:prstGeom>
          <a:noFill/>
          <a:ln>
            <a:noFill/>
          </a:ln>
        </p:spPr>
      </p:pic>
      <p:sp>
        <p:nvSpPr>
          <p:cNvPr id="164" name="Google Shape;164;p8"/>
          <p:cNvSpPr txBox="1"/>
          <p:nvPr/>
        </p:nvSpPr>
        <p:spPr>
          <a:xfrm>
            <a:off x="923109" y="1419497"/>
            <a:ext cx="10350143"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Como se ha visto anteriormente, es frecuente la utilización tanto, del método head() como del método tail() para la visualización de algunos registros del dataset.  También, es posible utilizar el método sample() para obtener un conjunto de datos obtenidos de forma aleatoria.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500"/>
                                        <p:tgtEl>
                                          <p:spTgt spid="161"/>
                                        </p:tgtEl>
                                      </p:cBhvr>
                                    </p:animEffect>
                                  </p:childTnLst>
                                </p:cTn>
                              </p:par>
                              <p:par>
                                <p:cTn id="8" presetID="10" presetClass="entr" presetSubtype="0" fill="hold" nodeType="withEffect">
                                  <p:stCondLst>
                                    <p:cond delay="0"/>
                                  </p:stCondLst>
                                  <p:childTnLst>
                                    <p:set>
                                      <p:cBhvr>
                                        <p:cTn id="9" dur="1" fill="hold">
                                          <p:stCondLst>
                                            <p:cond delay="0"/>
                                          </p:stCondLst>
                                        </p:cTn>
                                        <p:tgtEl>
                                          <p:spTgt spid="161">
                                            <p:txEl>
                                              <p:pRg st="0" end="0"/>
                                            </p:txEl>
                                          </p:spTgt>
                                        </p:tgtEl>
                                        <p:attrNameLst>
                                          <p:attrName>style.visibility</p:attrName>
                                        </p:attrNameLst>
                                      </p:cBhvr>
                                      <p:to>
                                        <p:strVal val="visible"/>
                                      </p:to>
                                    </p:set>
                                    <p:animEffect transition="in" filter="fade">
                                      <p:cBhvr>
                                        <p:cTn id="10" dur="1000"/>
                                        <p:tgtEl>
                                          <p:spTgt spid="16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1">
                                            <p:txEl>
                                              <p:pRg st="1" end="1"/>
                                            </p:txEl>
                                          </p:spTgt>
                                        </p:tgtEl>
                                        <p:attrNameLst>
                                          <p:attrName>style.visibility</p:attrName>
                                        </p:attrNameLst>
                                      </p:cBhvr>
                                      <p:to>
                                        <p:strVal val="visible"/>
                                      </p:to>
                                    </p:set>
                                    <p:animEffect transition="in" filter="fade">
                                      <p:cBhvr>
                                        <p:cTn id="13" dur="1000"/>
                                        <p:tgtEl>
                                          <p:spTgt spid="16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9"/>
          <p:cNvPicPr preferRelativeResize="0"/>
          <p:nvPr/>
        </p:nvPicPr>
        <p:blipFill rotWithShape="1">
          <a:blip r:embed="rId3">
            <a:alphaModFix/>
          </a:blip>
          <a:srcRect/>
          <a:stretch/>
        </p:blipFill>
        <p:spPr>
          <a:xfrm>
            <a:off x="-1079864" y="1175658"/>
            <a:ext cx="13881463" cy="1128271"/>
          </a:xfrm>
          <a:prstGeom prst="rect">
            <a:avLst/>
          </a:prstGeom>
          <a:noFill/>
          <a:ln>
            <a:noFill/>
          </a:ln>
        </p:spPr>
      </p:pic>
      <p:sp>
        <p:nvSpPr>
          <p:cNvPr id="170" name="Google Shape;170;p9"/>
          <p:cNvSpPr txBox="1">
            <a:spLocks noGrp="1"/>
          </p:cNvSpPr>
          <p:nvPr>
            <p:ph type="body" idx="1"/>
          </p:nvPr>
        </p:nvSpPr>
        <p:spPr>
          <a:xfrm>
            <a:off x="838200" y="1225937"/>
            <a:ext cx="10515600" cy="1048204"/>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000"/>
              <a:buNone/>
            </a:pPr>
            <a:r>
              <a:rPr lang="es-ES" sz="2000">
                <a:solidFill>
                  <a:schemeClr val="lt1"/>
                </a:solidFill>
              </a:rPr>
              <a:t>Con el parámetro frac, se puede indicar qué fracción de la data se quiere obtener de forma aleatoria. Por defecto, retorna una proporción de filas del dataset, pero con el parámetro axis=1, puede retornar un dataframe con columnas seleccionadas de forma aleatoria.</a:t>
            </a:r>
            <a:endParaRPr/>
          </a:p>
          <a:p>
            <a:pPr marL="0" lvl="0" indent="0" algn="l" rtl="0">
              <a:lnSpc>
                <a:spcPct val="90000"/>
              </a:lnSpc>
              <a:spcBef>
                <a:spcPts val="1000"/>
              </a:spcBef>
              <a:spcAft>
                <a:spcPts val="0"/>
              </a:spcAft>
              <a:buClr>
                <a:schemeClr val="dk1"/>
              </a:buClr>
              <a:buSzPts val="2800"/>
              <a:buNone/>
            </a:pPr>
            <a:endParaRPr/>
          </a:p>
        </p:txBody>
      </p:sp>
      <p:sp>
        <p:nvSpPr>
          <p:cNvPr id="171" name="Google Shape;171;p9"/>
          <p:cNvSpPr txBox="1">
            <a:spLocks noGrp="1"/>
          </p:cNvSpPr>
          <p:nvPr>
            <p:ph type="title"/>
          </p:nvPr>
        </p:nvSpPr>
        <p:spPr>
          <a:xfrm>
            <a:off x="838200" y="365126"/>
            <a:ext cx="10515600" cy="810532"/>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s-ES" sz="3200" b="0" i="0" u="none" strike="noStrike" cap="none">
                <a:solidFill>
                  <a:srgbClr val="7F7F7F"/>
                </a:solidFill>
                <a:latin typeface="Arial"/>
                <a:ea typeface="Arial"/>
                <a:cs typeface="Arial"/>
                <a:sym typeface="Arial"/>
              </a:rPr>
              <a:t>Muestreos Aleatorios</a:t>
            </a:r>
            <a:endParaRPr/>
          </a:p>
          <a:p>
            <a:pPr marL="0" marR="0" lvl="0" indent="0" algn="l" rtl="0">
              <a:lnSpc>
                <a:spcPct val="90000"/>
              </a:lnSpc>
              <a:spcBef>
                <a:spcPts val="0"/>
              </a:spcBef>
              <a:spcAft>
                <a:spcPts val="0"/>
              </a:spcAft>
              <a:buNone/>
            </a:pPr>
            <a:endParaRPr sz="3200" b="0" i="0" u="none" strike="noStrike" cap="none">
              <a:solidFill>
                <a:srgbClr val="7F7F7F"/>
              </a:solidFill>
              <a:latin typeface="Arial"/>
              <a:ea typeface="Arial"/>
              <a:cs typeface="Arial"/>
              <a:sym typeface="Arial"/>
            </a:endParaRPr>
          </a:p>
        </p:txBody>
      </p:sp>
      <p:sp>
        <p:nvSpPr>
          <p:cNvPr id="172" name="Google Shape;172;p9"/>
          <p:cNvSpPr/>
          <p:nvPr/>
        </p:nvSpPr>
        <p:spPr>
          <a:xfrm>
            <a:off x="2905900" y="2450036"/>
            <a:ext cx="5087566" cy="392024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73" name="Google Shape;173;p9"/>
          <p:cNvPicPr preferRelativeResize="0"/>
          <p:nvPr/>
        </p:nvPicPr>
        <p:blipFill rotWithShape="1">
          <a:blip r:embed="rId4">
            <a:alphaModFix/>
          </a:blip>
          <a:srcRect/>
          <a:stretch/>
        </p:blipFill>
        <p:spPr>
          <a:xfrm>
            <a:off x="3166951" y="2634864"/>
            <a:ext cx="4602779" cy="35262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7"/>
        <p:cNvGrpSpPr/>
        <p:nvPr/>
      </p:nvGrpSpPr>
      <p:grpSpPr>
        <a:xfrm>
          <a:off x="0" y="0"/>
          <a:ext cx="0" cy="0"/>
          <a:chOff x="0" y="0"/>
          <a:chExt cx="0" cy="0"/>
        </a:xfrm>
      </p:grpSpPr>
      <p:sp>
        <p:nvSpPr>
          <p:cNvPr id="178" name="Google Shape;178;p10"/>
          <p:cNvSpPr txBox="1"/>
          <p:nvPr/>
        </p:nvSpPr>
        <p:spPr>
          <a:xfrm>
            <a:off x="1055880" y="3642590"/>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600">
                <a:solidFill>
                  <a:srgbClr val="7F7F7F"/>
                </a:solidFill>
                <a:latin typeface="Arial"/>
                <a:ea typeface="Arial"/>
                <a:cs typeface="Arial"/>
                <a:sym typeface="Arial"/>
              </a:rPr>
              <a:t>Duplicados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11"/>
          <p:cNvPicPr preferRelativeResize="0"/>
          <p:nvPr/>
        </p:nvPicPr>
        <p:blipFill rotWithShape="1">
          <a:blip r:embed="rId3">
            <a:alphaModFix/>
          </a:blip>
          <a:srcRect/>
          <a:stretch/>
        </p:blipFill>
        <p:spPr>
          <a:xfrm>
            <a:off x="-1079864" y="1175658"/>
            <a:ext cx="13881463" cy="936713"/>
          </a:xfrm>
          <a:prstGeom prst="rect">
            <a:avLst/>
          </a:prstGeom>
          <a:noFill/>
          <a:ln>
            <a:noFill/>
          </a:ln>
        </p:spPr>
      </p:pic>
      <p:sp>
        <p:nvSpPr>
          <p:cNvPr id="184" name="Google Shape;184;p11"/>
          <p:cNvSpPr/>
          <p:nvPr/>
        </p:nvSpPr>
        <p:spPr>
          <a:xfrm>
            <a:off x="1488140" y="2214282"/>
            <a:ext cx="9197789" cy="404308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11"/>
          <p:cNvSpPr txBox="1"/>
          <p:nvPr/>
        </p:nvSpPr>
        <p:spPr>
          <a:xfrm>
            <a:off x="779930" y="23901"/>
            <a:ext cx="9919063" cy="1049846"/>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Identificación de valores duplicados</a:t>
            </a:r>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186" name="Google Shape;186;p11"/>
          <p:cNvPicPr preferRelativeResize="0"/>
          <p:nvPr/>
        </p:nvPicPr>
        <p:blipFill rotWithShape="1">
          <a:blip r:embed="rId4">
            <a:alphaModFix/>
          </a:blip>
          <a:srcRect/>
          <a:stretch/>
        </p:blipFill>
        <p:spPr>
          <a:xfrm>
            <a:off x="7034865" y="3565162"/>
            <a:ext cx="3153457" cy="2624206"/>
          </a:xfrm>
          <a:prstGeom prst="rect">
            <a:avLst/>
          </a:prstGeom>
          <a:noFill/>
          <a:ln>
            <a:noFill/>
          </a:ln>
        </p:spPr>
      </p:pic>
      <p:cxnSp>
        <p:nvCxnSpPr>
          <p:cNvPr id="187" name="Google Shape;187;p11"/>
          <p:cNvCxnSpPr/>
          <p:nvPr/>
        </p:nvCxnSpPr>
        <p:spPr>
          <a:xfrm flipH="1">
            <a:off x="7734134" y="3270383"/>
            <a:ext cx="291247" cy="220808"/>
          </a:xfrm>
          <a:prstGeom prst="straightConnector1">
            <a:avLst/>
          </a:prstGeom>
          <a:noFill/>
          <a:ln w="9525" cap="flat" cmpd="sng">
            <a:solidFill>
              <a:schemeClr val="accent1"/>
            </a:solidFill>
            <a:prstDash val="solid"/>
            <a:miter lim="800000"/>
            <a:headEnd type="none" w="sm" len="sm"/>
            <a:tailEnd type="triangle" w="med" len="med"/>
          </a:ln>
        </p:spPr>
      </p:cxnSp>
      <p:sp>
        <p:nvSpPr>
          <p:cNvPr id="188" name="Google Shape;188;p11"/>
          <p:cNvSpPr txBox="1"/>
          <p:nvPr/>
        </p:nvSpPr>
        <p:spPr>
          <a:xfrm>
            <a:off x="7436330" y="2349923"/>
            <a:ext cx="2823710" cy="95410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El método duplicated retorna una serie de valores booleanos en donde se indican las filas duplicadas con valor True.</a:t>
            </a:r>
            <a:endParaRPr sz="1400">
              <a:solidFill>
                <a:srgbClr val="7F7F7F"/>
              </a:solidFill>
              <a:latin typeface="Calibri"/>
              <a:ea typeface="Calibri"/>
              <a:cs typeface="Calibri"/>
              <a:sym typeface="Calibri"/>
            </a:endParaRPr>
          </a:p>
        </p:txBody>
      </p:sp>
      <p:sp>
        <p:nvSpPr>
          <p:cNvPr id="189" name="Google Shape;189;p11"/>
          <p:cNvSpPr txBox="1"/>
          <p:nvPr/>
        </p:nvSpPr>
        <p:spPr>
          <a:xfrm>
            <a:off x="3047952" y="5450704"/>
            <a:ext cx="2212028"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Su sumanos, obtenemos la cantidad total de registros duplicados en el dataset.</a:t>
            </a:r>
            <a:endParaRPr sz="1400">
              <a:solidFill>
                <a:srgbClr val="7F7F7F"/>
              </a:solidFill>
              <a:latin typeface="Calibri"/>
              <a:ea typeface="Calibri"/>
              <a:cs typeface="Calibri"/>
              <a:sym typeface="Calibri"/>
            </a:endParaRPr>
          </a:p>
        </p:txBody>
      </p:sp>
      <p:cxnSp>
        <p:nvCxnSpPr>
          <p:cNvPr id="190" name="Google Shape;190;p11"/>
          <p:cNvCxnSpPr/>
          <p:nvPr/>
        </p:nvCxnSpPr>
        <p:spPr>
          <a:xfrm rot="10800000" flipH="1">
            <a:off x="5365992" y="5769406"/>
            <a:ext cx="1326358" cy="12829"/>
          </a:xfrm>
          <a:prstGeom prst="straightConnector1">
            <a:avLst/>
          </a:prstGeom>
          <a:noFill/>
          <a:ln w="9525" cap="flat" cmpd="sng">
            <a:solidFill>
              <a:schemeClr val="accent1"/>
            </a:solidFill>
            <a:prstDash val="solid"/>
            <a:miter lim="800000"/>
            <a:headEnd type="none" w="sm" len="sm"/>
            <a:tailEnd type="triangle" w="med" len="med"/>
          </a:ln>
        </p:spPr>
      </p:cxnSp>
      <p:pic>
        <p:nvPicPr>
          <p:cNvPr id="191" name="Google Shape;191;p11"/>
          <p:cNvPicPr preferRelativeResize="0"/>
          <p:nvPr/>
        </p:nvPicPr>
        <p:blipFill rotWithShape="1">
          <a:blip r:embed="rId5">
            <a:alphaModFix/>
          </a:blip>
          <a:srcRect/>
          <a:stretch/>
        </p:blipFill>
        <p:spPr>
          <a:xfrm>
            <a:off x="2048214" y="2433151"/>
            <a:ext cx="3153457" cy="1132011"/>
          </a:xfrm>
          <a:prstGeom prst="rect">
            <a:avLst/>
          </a:prstGeom>
          <a:noFill/>
          <a:ln>
            <a:noFill/>
          </a:ln>
        </p:spPr>
      </p:pic>
      <p:sp>
        <p:nvSpPr>
          <p:cNvPr id="192" name="Google Shape;192;p11"/>
          <p:cNvSpPr txBox="1"/>
          <p:nvPr/>
        </p:nvSpPr>
        <p:spPr>
          <a:xfrm>
            <a:off x="779930" y="1222623"/>
            <a:ext cx="1068593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Los sets de datos pueden contener filas duplicadas en la información, lo cual puede provocar la doble contabilización en los análisis. Es conveniente identificarlas con el objeto de tomar una decisión sobre su tratamiento. Para esto, tomaremos el siguiente dataset de pasajeros que volaron en Estados Unidos entre 1949 y 1960.</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12"/>
          <p:cNvPicPr preferRelativeResize="0"/>
          <p:nvPr/>
        </p:nvPicPr>
        <p:blipFill rotWithShape="1">
          <a:blip r:embed="rId3">
            <a:alphaModFix/>
          </a:blip>
          <a:srcRect/>
          <a:stretch/>
        </p:blipFill>
        <p:spPr>
          <a:xfrm>
            <a:off x="-762001" y="1351734"/>
            <a:ext cx="13881463" cy="936713"/>
          </a:xfrm>
          <a:prstGeom prst="rect">
            <a:avLst/>
          </a:prstGeom>
          <a:noFill/>
          <a:ln>
            <a:noFill/>
          </a:ln>
        </p:spPr>
      </p:pic>
      <p:sp>
        <p:nvSpPr>
          <p:cNvPr id="198" name="Google Shape;198;p12"/>
          <p:cNvSpPr/>
          <p:nvPr/>
        </p:nvSpPr>
        <p:spPr>
          <a:xfrm>
            <a:off x="2424411" y="2447109"/>
            <a:ext cx="6138154" cy="351826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12"/>
          <p:cNvSpPr txBox="1"/>
          <p:nvPr/>
        </p:nvSpPr>
        <p:spPr>
          <a:xfrm>
            <a:off x="1552876" y="311252"/>
            <a:ext cx="1057008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Identificación de valores duplicados</a:t>
            </a:r>
            <a:endParaRPr sz="3200">
              <a:solidFill>
                <a:srgbClr val="7F7F7F"/>
              </a:solidFill>
              <a:latin typeface="Arial"/>
              <a:ea typeface="Arial"/>
              <a:cs typeface="Arial"/>
              <a:sym typeface="Arial"/>
            </a:endParaRPr>
          </a:p>
        </p:txBody>
      </p:sp>
      <p:pic>
        <p:nvPicPr>
          <p:cNvPr id="200" name="Google Shape;200;p12"/>
          <p:cNvPicPr preferRelativeResize="0"/>
          <p:nvPr/>
        </p:nvPicPr>
        <p:blipFill rotWithShape="1">
          <a:blip r:embed="rId4">
            <a:alphaModFix/>
          </a:blip>
          <a:srcRect/>
          <a:stretch/>
        </p:blipFill>
        <p:spPr>
          <a:xfrm>
            <a:off x="2851238" y="2626468"/>
            <a:ext cx="5284499" cy="3242479"/>
          </a:xfrm>
          <a:prstGeom prst="rect">
            <a:avLst/>
          </a:prstGeom>
          <a:noFill/>
          <a:ln>
            <a:noFill/>
          </a:ln>
        </p:spPr>
      </p:pic>
      <p:sp>
        <p:nvSpPr>
          <p:cNvPr id="201" name="Google Shape;201;p12"/>
          <p:cNvSpPr txBox="1"/>
          <p:nvPr/>
        </p:nvSpPr>
        <p:spPr>
          <a:xfrm>
            <a:off x="1640541" y="1480715"/>
            <a:ext cx="904538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También, podemos contabilizar duplicados en ciertas columnas y los no duplicados, utilizando el operador negación (virgulilla alt-126).</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13"/>
          <p:cNvPicPr preferRelativeResize="0"/>
          <p:nvPr/>
        </p:nvPicPr>
        <p:blipFill rotWithShape="1">
          <a:blip r:embed="rId3">
            <a:alphaModFix/>
          </a:blip>
          <a:srcRect/>
          <a:stretch/>
        </p:blipFill>
        <p:spPr>
          <a:xfrm>
            <a:off x="-753036" y="913782"/>
            <a:ext cx="13881463" cy="571978"/>
          </a:xfrm>
          <a:prstGeom prst="rect">
            <a:avLst/>
          </a:prstGeom>
          <a:noFill/>
          <a:ln>
            <a:noFill/>
          </a:ln>
        </p:spPr>
      </p:pic>
      <p:sp>
        <p:nvSpPr>
          <p:cNvPr id="207" name="Google Shape;207;p13"/>
          <p:cNvSpPr/>
          <p:nvPr/>
        </p:nvSpPr>
        <p:spPr>
          <a:xfrm>
            <a:off x="1407458" y="1588503"/>
            <a:ext cx="8910917" cy="453439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13"/>
          <p:cNvSpPr txBox="1"/>
          <p:nvPr/>
        </p:nvSpPr>
        <p:spPr>
          <a:xfrm>
            <a:off x="1407458" y="95233"/>
            <a:ext cx="9870142" cy="90283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Identificación de las filas duplicados</a:t>
            </a:r>
            <a:endParaRPr sz="3200">
              <a:solidFill>
                <a:srgbClr val="7F7F7F"/>
              </a:solidFill>
              <a:latin typeface="Arial"/>
              <a:ea typeface="Arial"/>
              <a:cs typeface="Arial"/>
              <a:sym typeface="Arial"/>
            </a:endParaRPr>
          </a:p>
        </p:txBody>
      </p:sp>
      <p:pic>
        <p:nvPicPr>
          <p:cNvPr id="209" name="Google Shape;209;p13"/>
          <p:cNvPicPr preferRelativeResize="0"/>
          <p:nvPr/>
        </p:nvPicPr>
        <p:blipFill rotWithShape="1">
          <a:blip r:embed="rId4">
            <a:alphaModFix/>
          </a:blip>
          <a:srcRect/>
          <a:stretch/>
        </p:blipFill>
        <p:spPr>
          <a:xfrm>
            <a:off x="1706585" y="1648290"/>
            <a:ext cx="3224003" cy="1559272"/>
          </a:xfrm>
          <a:prstGeom prst="rect">
            <a:avLst/>
          </a:prstGeom>
          <a:noFill/>
          <a:ln>
            <a:noFill/>
          </a:ln>
        </p:spPr>
      </p:pic>
      <p:pic>
        <p:nvPicPr>
          <p:cNvPr id="210" name="Google Shape;210;p13"/>
          <p:cNvPicPr preferRelativeResize="0"/>
          <p:nvPr/>
        </p:nvPicPr>
        <p:blipFill rotWithShape="1">
          <a:blip r:embed="rId5">
            <a:alphaModFix/>
          </a:blip>
          <a:srcRect/>
          <a:stretch/>
        </p:blipFill>
        <p:spPr>
          <a:xfrm>
            <a:off x="6823274" y="2145949"/>
            <a:ext cx="3246601" cy="1054580"/>
          </a:xfrm>
          <a:prstGeom prst="rect">
            <a:avLst/>
          </a:prstGeom>
          <a:noFill/>
          <a:ln>
            <a:noFill/>
          </a:ln>
        </p:spPr>
      </p:pic>
      <p:cxnSp>
        <p:nvCxnSpPr>
          <p:cNvPr id="211" name="Google Shape;211;p13"/>
          <p:cNvCxnSpPr/>
          <p:nvPr/>
        </p:nvCxnSpPr>
        <p:spPr>
          <a:xfrm>
            <a:off x="3511786" y="2509469"/>
            <a:ext cx="3311488" cy="374785"/>
          </a:xfrm>
          <a:prstGeom prst="straightConnector1">
            <a:avLst/>
          </a:prstGeom>
          <a:noFill/>
          <a:ln w="9525" cap="flat" cmpd="sng">
            <a:solidFill>
              <a:schemeClr val="accent1"/>
            </a:solidFill>
            <a:prstDash val="solid"/>
            <a:miter lim="800000"/>
            <a:headEnd type="none" w="sm" len="sm"/>
            <a:tailEnd type="triangle" w="med" len="med"/>
          </a:ln>
        </p:spPr>
      </p:cxnSp>
      <p:pic>
        <p:nvPicPr>
          <p:cNvPr id="212" name="Google Shape;212;p13"/>
          <p:cNvPicPr preferRelativeResize="0"/>
          <p:nvPr/>
        </p:nvPicPr>
        <p:blipFill rotWithShape="1">
          <a:blip r:embed="rId6">
            <a:alphaModFix/>
          </a:blip>
          <a:srcRect/>
          <a:stretch/>
        </p:blipFill>
        <p:spPr>
          <a:xfrm>
            <a:off x="6648813" y="4003839"/>
            <a:ext cx="3261667" cy="1039515"/>
          </a:xfrm>
          <a:prstGeom prst="rect">
            <a:avLst/>
          </a:prstGeom>
          <a:noFill/>
          <a:ln>
            <a:noFill/>
          </a:ln>
        </p:spPr>
      </p:pic>
      <p:cxnSp>
        <p:nvCxnSpPr>
          <p:cNvPr id="213" name="Google Shape;213;p13"/>
          <p:cNvCxnSpPr>
            <a:endCxn id="212" idx="1"/>
          </p:cNvCxnSpPr>
          <p:nvPr/>
        </p:nvCxnSpPr>
        <p:spPr>
          <a:xfrm>
            <a:off x="3511713" y="2705896"/>
            <a:ext cx="3137100" cy="1817700"/>
          </a:xfrm>
          <a:prstGeom prst="straightConnector1">
            <a:avLst/>
          </a:prstGeom>
          <a:noFill/>
          <a:ln w="9525" cap="flat" cmpd="sng">
            <a:solidFill>
              <a:schemeClr val="accent1"/>
            </a:solidFill>
            <a:prstDash val="solid"/>
            <a:miter lim="800000"/>
            <a:headEnd type="none" w="sm" len="sm"/>
            <a:tailEnd type="triangle" w="med" len="med"/>
          </a:ln>
        </p:spPr>
      </p:cxnSp>
      <p:cxnSp>
        <p:nvCxnSpPr>
          <p:cNvPr id="214" name="Google Shape;214;p13"/>
          <p:cNvCxnSpPr/>
          <p:nvPr/>
        </p:nvCxnSpPr>
        <p:spPr>
          <a:xfrm>
            <a:off x="2576280" y="3207562"/>
            <a:ext cx="225286" cy="1420125"/>
          </a:xfrm>
          <a:prstGeom prst="straightConnector1">
            <a:avLst/>
          </a:prstGeom>
          <a:noFill/>
          <a:ln w="9525" cap="flat" cmpd="sng">
            <a:solidFill>
              <a:schemeClr val="accent1"/>
            </a:solidFill>
            <a:prstDash val="solid"/>
            <a:miter lim="800000"/>
            <a:headEnd type="none" w="sm" len="sm"/>
            <a:tailEnd type="triangle" w="med" len="med"/>
          </a:ln>
        </p:spPr>
      </p:cxnSp>
      <p:pic>
        <p:nvPicPr>
          <p:cNvPr id="215" name="Google Shape;215;p13"/>
          <p:cNvPicPr preferRelativeResize="0"/>
          <p:nvPr/>
        </p:nvPicPr>
        <p:blipFill rotWithShape="1">
          <a:blip r:embed="rId7">
            <a:alphaModFix/>
          </a:blip>
          <a:srcRect/>
          <a:stretch/>
        </p:blipFill>
        <p:spPr>
          <a:xfrm>
            <a:off x="1706585" y="4746309"/>
            <a:ext cx="3208937" cy="1257964"/>
          </a:xfrm>
          <a:prstGeom prst="rect">
            <a:avLst/>
          </a:prstGeom>
          <a:noFill/>
          <a:ln>
            <a:noFill/>
          </a:ln>
        </p:spPr>
      </p:pic>
      <p:sp>
        <p:nvSpPr>
          <p:cNvPr id="216" name="Google Shape;216;p13"/>
          <p:cNvSpPr txBox="1"/>
          <p:nvPr/>
        </p:nvSpPr>
        <p:spPr>
          <a:xfrm>
            <a:off x="1407450" y="961961"/>
            <a:ext cx="10272300" cy="3693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1800">
                <a:solidFill>
                  <a:schemeClr val="lt1"/>
                </a:solidFill>
                <a:latin typeface="Calibri"/>
                <a:ea typeface="Calibri"/>
                <a:cs typeface="Calibri"/>
                <a:sym typeface="Calibri"/>
              </a:rPr>
              <a:t>Con esta expresión podemos visualizar los registros que están marcados como duplicados.</a:t>
            </a:r>
            <a:endParaRPr sz="2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p:nvPr/>
        </p:nvSpPr>
        <p:spPr>
          <a:xfrm>
            <a:off x="-331694" y="1893803"/>
            <a:ext cx="7037294" cy="3418425"/>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4"/>
          <p:cNvSpPr txBox="1">
            <a:spLocks noGrp="1"/>
          </p:cNvSpPr>
          <p:nvPr>
            <p:ph type="body" idx="1"/>
          </p:nvPr>
        </p:nvSpPr>
        <p:spPr>
          <a:xfrm>
            <a:off x="2182906" y="5541501"/>
            <a:ext cx="4522694" cy="775106"/>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7F7F7F"/>
              </a:buClr>
              <a:buSzPts val="1600"/>
              <a:buNone/>
            </a:pPr>
            <a:r>
              <a:rPr lang="es-ES" sz="1600">
                <a:solidFill>
                  <a:srgbClr val="7F7F7F"/>
                </a:solidFill>
              </a:rPr>
              <a:t>Retorna una copia del dataframe sin duplicados. Nótese que tiene 4 registros menos.</a:t>
            </a:r>
            <a:endParaRPr/>
          </a:p>
          <a:p>
            <a:pPr marL="228600" lvl="0" indent="-50800" algn="l" rtl="0">
              <a:lnSpc>
                <a:spcPct val="90000"/>
              </a:lnSpc>
              <a:spcBef>
                <a:spcPts val="1000"/>
              </a:spcBef>
              <a:spcAft>
                <a:spcPts val="0"/>
              </a:spcAft>
              <a:buClr>
                <a:schemeClr val="dk1"/>
              </a:buClr>
              <a:buSzPts val="2800"/>
              <a:buNone/>
            </a:pPr>
            <a:endParaRPr/>
          </a:p>
        </p:txBody>
      </p:sp>
      <p:sp>
        <p:nvSpPr>
          <p:cNvPr id="223" name="Google Shape;223;p14"/>
          <p:cNvSpPr txBox="1">
            <a:spLocks noGrp="1"/>
          </p:cNvSpPr>
          <p:nvPr>
            <p:ph type="title"/>
          </p:nvPr>
        </p:nvSpPr>
        <p:spPr>
          <a:xfrm>
            <a:off x="838200" y="949586"/>
            <a:ext cx="6291152" cy="592343"/>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b="0" i="0" u="none" strike="noStrike" cap="none">
                <a:solidFill>
                  <a:srgbClr val="7F7F7F"/>
                </a:solidFill>
                <a:latin typeface="Arial"/>
                <a:ea typeface="Arial"/>
                <a:cs typeface="Arial"/>
                <a:sym typeface="Arial"/>
              </a:rPr>
              <a:t>Eliminar duplicados de un dataset</a:t>
            </a:r>
            <a:endParaRPr sz="3200" b="0" i="0" u="none" strike="noStrike" cap="none">
              <a:solidFill>
                <a:srgbClr val="7F7F7F"/>
              </a:solidFill>
              <a:latin typeface="Arial"/>
              <a:ea typeface="Arial"/>
              <a:cs typeface="Arial"/>
              <a:sym typeface="Arial"/>
            </a:endParaRPr>
          </a:p>
        </p:txBody>
      </p:sp>
      <p:sp>
        <p:nvSpPr>
          <p:cNvPr id="224" name="Google Shape;224;p14"/>
          <p:cNvSpPr/>
          <p:nvPr/>
        </p:nvSpPr>
        <p:spPr>
          <a:xfrm>
            <a:off x="7300062" y="949587"/>
            <a:ext cx="4224448" cy="521603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5" name="Google Shape;225;p14"/>
          <p:cNvPicPr preferRelativeResize="0"/>
          <p:nvPr/>
        </p:nvPicPr>
        <p:blipFill rotWithShape="1">
          <a:blip r:embed="rId3">
            <a:alphaModFix/>
          </a:blip>
          <a:srcRect/>
          <a:stretch/>
        </p:blipFill>
        <p:spPr>
          <a:xfrm>
            <a:off x="7495637" y="1979072"/>
            <a:ext cx="3858163" cy="4029637"/>
          </a:xfrm>
          <a:prstGeom prst="rect">
            <a:avLst/>
          </a:prstGeom>
          <a:noFill/>
          <a:ln>
            <a:noFill/>
          </a:ln>
        </p:spPr>
      </p:pic>
      <p:pic>
        <p:nvPicPr>
          <p:cNvPr id="226" name="Google Shape;226;p14"/>
          <p:cNvPicPr preferRelativeResize="0"/>
          <p:nvPr/>
        </p:nvPicPr>
        <p:blipFill rotWithShape="1">
          <a:blip r:embed="rId4">
            <a:alphaModFix/>
          </a:blip>
          <a:srcRect/>
          <a:stretch/>
        </p:blipFill>
        <p:spPr>
          <a:xfrm>
            <a:off x="7457531" y="1042898"/>
            <a:ext cx="3896269" cy="647790"/>
          </a:xfrm>
          <a:prstGeom prst="rect">
            <a:avLst/>
          </a:prstGeom>
          <a:noFill/>
          <a:ln>
            <a:noFill/>
          </a:ln>
        </p:spPr>
      </p:pic>
      <p:cxnSp>
        <p:nvCxnSpPr>
          <p:cNvPr id="227" name="Google Shape;227;p14"/>
          <p:cNvCxnSpPr/>
          <p:nvPr/>
        </p:nvCxnSpPr>
        <p:spPr>
          <a:xfrm rot="10800000" flipH="1">
            <a:off x="6203056" y="2420472"/>
            <a:ext cx="1292581" cy="3134069"/>
          </a:xfrm>
          <a:prstGeom prst="straightConnector1">
            <a:avLst/>
          </a:prstGeom>
          <a:noFill/>
          <a:ln w="12700" cap="flat" cmpd="sng">
            <a:solidFill>
              <a:srgbClr val="3F3F3F"/>
            </a:solidFill>
            <a:prstDash val="solid"/>
            <a:miter lim="800000"/>
            <a:headEnd type="none" w="sm" len="sm"/>
            <a:tailEnd type="triangle" w="med" len="med"/>
          </a:ln>
        </p:spPr>
      </p:cxnSp>
      <p:sp>
        <p:nvSpPr>
          <p:cNvPr id="228" name="Google Shape;228;p14"/>
          <p:cNvSpPr txBox="1"/>
          <p:nvPr/>
        </p:nvSpPr>
        <p:spPr>
          <a:xfrm>
            <a:off x="616370" y="2313821"/>
            <a:ext cx="5768924" cy="25545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Después de haber identificado y analizado los registros duplicados de un dataset, el próximo paso podría ser su eliminación. El método drop_duplicates() nos ayuda en la eliminación de duplicados en un dataset. Este método también, acepta el parámetro subset, con lo cual se puede acotar el rango de columnas donde localizar los registros duplicados.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Por defecto, drop_duplicates() retorna una copia del dataframe con la operación realizada, pero no afecta el dataframe original a no ser que especifiquemos el parámetro inplace=True.</a:t>
            </a:r>
            <a:endParaRPr/>
          </a:p>
        </p:txBody>
      </p:sp>
      <p:pic>
        <p:nvPicPr>
          <p:cNvPr id="229" name="Google Shape;229;p14"/>
          <p:cNvPicPr preferRelativeResize="0"/>
          <p:nvPr/>
        </p:nvPicPr>
        <p:blipFill rotWithShape="1">
          <a:blip r:embed="rId5">
            <a:alphaModFix/>
          </a:blip>
          <a:srcRect/>
          <a:stretch/>
        </p:blipFill>
        <p:spPr>
          <a:xfrm>
            <a:off x="296064" y="2345996"/>
            <a:ext cx="289524" cy="289524"/>
          </a:xfrm>
          <a:prstGeom prst="rect">
            <a:avLst/>
          </a:prstGeom>
          <a:noFill/>
          <a:ln>
            <a:noFill/>
          </a:ln>
        </p:spPr>
      </p:pic>
      <p:pic>
        <p:nvPicPr>
          <p:cNvPr id="230" name="Google Shape;230;p14"/>
          <p:cNvPicPr preferRelativeResize="0"/>
          <p:nvPr/>
        </p:nvPicPr>
        <p:blipFill rotWithShape="1">
          <a:blip r:embed="rId5">
            <a:alphaModFix/>
          </a:blip>
          <a:srcRect/>
          <a:stretch/>
        </p:blipFill>
        <p:spPr>
          <a:xfrm>
            <a:off x="279124" y="4026246"/>
            <a:ext cx="289524" cy="2895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5"/>
          <p:cNvSpPr txBox="1"/>
          <p:nvPr/>
        </p:nvSpPr>
        <p:spPr>
          <a:xfrm>
            <a:off x="957269" y="3269125"/>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600">
                <a:solidFill>
                  <a:srgbClr val="7F7F7F"/>
                </a:solidFill>
                <a:latin typeface="Arial"/>
                <a:ea typeface="Arial"/>
                <a:cs typeface="Arial"/>
                <a:sym typeface="Arial"/>
              </a:rPr>
              <a:t>Columnas categóricas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500"/>
                                        <p:tgtEl>
                                          <p:spTgt spid="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6"/>
          <p:cNvSpPr/>
          <p:nvPr/>
        </p:nvSpPr>
        <p:spPr>
          <a:xfrm>
            <a:off x="-330926" y="2189446"/>
            <a:ext cx="6663993" cy="2554163"/>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16"/>
          <p:cNvSpPr txBox="1"/>
          <p:nvPr/>
        </p:nvSpPr>
        <p:spPr>
          <a:xfrm>
            <a:off x="704850" y="389146"/>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Chequeo de columnas categóricas</a:t>
            </a:r>
            <a:endParaRPr/>
          </a:p>
        </p:txBody>
      </p:sp>
      <p:sp>
        <p:nvSpPr>
          <p:cNvPr id="242" name="Google Shape;242;p16"/>
          <p:cNvSpPr txBox="1"/>
          <p:nvPr/>
        </p:nvSpPr>
        <p:spPr>
          <a:xfrm>
            <a:off x="704850" y="2467450"/>
            <a:ext cx="5123850" cy="181588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Las variables categóricas pueden tener datos erróneos, o bien, sin estandarizar.  Nótese cómo en la primera figura aparece “Tec. Enfermería” y “T. Enfermería”, los cuales, para efectos de análisis éstos serían representados como categorías distintas. Idem para “Administrativo” y “Administrativa”. Sin embargo, al ser un dataframe con demasiados registros, se puede perder la visualización.</a:t>
            </a:r>
            <a:endParaRPr/>
          </a:p>
        </p:txBody>
      </p:sp>
      <p:pic>
        <p:nvPicPr>
          <p:cNvPr id="243" name="Google Shape;243;p16"/>
          <p:cNvPicPr preferRelativeResize="0"/>
          <p:nvPr/>
        </p:nvPicPr>
        <p:blipFill rotWithShape="1">
          <a:blip r:embed="rId3">
            <a:alphaModFix/>
          </a:blip>
          <a:srcRect/>
          <a:stretch/>
        </p:blipFill>
        <p:spPr>
          <a:xfrm>
            <a:off x="304339" y="2685316"/>
            <a:ext cx="289524" cy="289524"/>
          </a:xfrm>
          <a:prstGeom prst="rect">
            <a:avLst/>
          </a:prstGeom>
          <a:noFill/>
          <a:ln>
            <a:noFill/>
          </a:ln>
        </p:spPr>
      </p:pic>
      <p:sp>
        <p:nvSpPr>
          <p:cNvPr id="244" name="Google Shape;244;p16"/>
          <p:cNvSpPr/>
          <p:nvPr/>
        </p:nvSpPr>
        <p:spPr>
          <a:xfrm>
            <a:off x="6096000" y="1774367"/>
            <a:ext cx="5735338" cy="330757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5" name="Google Shape;245;p16"/>
          <p:cNvPicPr preferRelativeResize="0"/>
          <p:nvPr/>
        </p:nvPicPr>
        <p:blipFill rotWithShape="1">
          <a:blip r:embed="rId4">
            <a:alphaModFix/>
          </a:blip>
          <a:srcRect/>
          <a:stretch/>
        </p:blipFill>
        <p:spPr>
          <a:xfrm>
            <a:off x="6333067" y="1874029"/>
            <a:ext cx="5243565" cy="3002725"/>
          </a:xfrm>
          <a:prstGeom prst="rect">
            <a:avLst/>
          </a:prstGeom>
          <a:noFill/>
          <a:ln>
            <a:noFill/>
          </a:ln>
        </p:spPr>
      </p:pic>
      <p:sp>
        <p:nvSpPr>
          <p:cNvPr id="246" name="Google Shape;246;p16"/>
          <p:cNvSpPr/>
          <p:nvPr/>
        </p:nvSpPr>
        <p:spPr>
          <a:xfrm>
            <a:off x="7432848" y="2540962"/>
            <a:ext cx="1431752" cy="561467"/>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16"/>
          <p:cNvSpPr/>
          <p:nvPr/>
        </p:nvSpPr>
        <p:spPr>
          <a:xfrm>
            <a:off x="7432848" y="3894667"/>
            <a:ext cx="1431752" cy="35076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1"/>
                                        </p:tgtEl>
                                        <p:attrNameLst>
                                          <p:attrName>style.visibility</p:attrName>
                                        </p:attrNameLst>
                                      </p:cBhvr>
                                      <p:to>
                                        <p:strVal val="visible"/>
                                      </p:to>
                                    </p:set>
                                    <p:animEffect transition="in" filter="fade">
                                      <p:cBhvr>
                                        <p:cTn id="7" dur="5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p:nvPr/>
        </p:nvSpPr>
        <p:spPr>
          <a:xfrm>
            <a:off x="1407458" y="1295401"/>
            <a:ext cx="9403977" cy="491714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3" name="Google Shape;253;p17"/>
          <p:cNvSpPr txBox="1"/>
          <p:nvPr/>
        </p:nvSpPr>
        <p:spPr>
          <a:xfrm>
            <a:off x="1409700" y="507903"/>
            <a:ext cx="10782300" cy="903276"/>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Chequeo de columnas categóricas</a:t>
            </a:r>
            <a:endParaRPr/>
          </a:p>
          <a:p>
            <a:pPr marL="0" marR="0" lvl="0" indent="0" algn="just"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254" name="Google Shape;254;p17"/>
          <p:cNvPicPr preferRelativeResize="0"/>
          <p:nvPr/>
        </p:nvPicPr>
        <p:blipFill rotWithShape="1">
          <a:blip r:embed="rId3">
            <a:alphaModFix/>
          </a:blip>
          <a:srcRect/>
          <a:stretch/>
        </p:blipFill>
        <p:spPr>
          <a:xfrm>
            <a:off x="1629328" y="1468125"/>
            <a:ext cx="4150927" cy="4656488"/>
          </a:xfrm>
          <a:prstGeom prst="rect">
            <a:avLst/>
          </a:prstGeom>
          <a:noFill/>
          <a:ln>
            <a:noFill/>
          </a:ln>
        </p:spPr>
      </p:pic>
      <p:sp>
        <p:nvSpPr>
          <p:cNvPr id="255" name="Google Shape;255;p17"/>
          <p:cNvSpPr/>
          <p:nvPr/>
        </p:nvSpPr>
        <p:spPr>
          <a:xfrm>
            <a:off x="7132712" y="1951076"/>
            <a:ext cx="3424534" cy="116955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El método </a:t>
            </a:r>
            <a:r>
              <a:rPr lang="es-ES" sz="1400" b="1">
                <a:solidFill>
                  <a:srgbClr val="7F7F7F"/>
                </a:solidFill>
                <a:latin typeface="Calibri"/>
                <a:ea typeface="Calibri"/>
                <a:cs typeface="Calibri"/>
                <a:sym typeface="Calibri"/>
              </a:rPr>
              <a:t>unique() </a:t>
            </a:r>
            <a:r>
              <a:rPr lang="es-ES" sz="1400">
                <a:solidFill>
                  <a:srgbClr val="7F7F7F"/>
                </a:solidFill>
                <a:latin typeface="Calibri"/>
                <a:ea typeface="Calibri"/>
                <a:cs typeface="Calibri"/>
                <a:sym typeface="Calibri"/>
              </a:rPr>
              <a:t>permite visualizar los valores únicos de una serie de datos. De esta forma, se pueden identificar de forma fácil los problemas de estandarización y errores.</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256" name="Google Shape;256;p17"/>
          <p:cNvPicPr preferRelativeResize="0"/>
          <p:nvPr/>
        </p:nvPicPr>
        <p:blipFill rotWithShape="1">
          <a:blip r:embed="rId4">
            <a:alphaModFix/>
          </a:blip>
          <a:srcRect/>
          <a:stretch/>
        </p:blipFill>
        <p:spPr>
          <a:xfrm>
            <a:off x="7075899" y="3210894"/>
            <a:ext cx="3481347" cy="571452"/>
          </a:xfrm>
          <a:prstGeom prst="rect">
            <a:avLst/>
          </a:prstGeom>
          <a:noFill/>
          <a:ln>
            <a:noFill/>
          </a:ln>
        </p:spPr>
      </p:pic>
      <p:cxnSp>
        <p:nvCxnSpPr>
          <p:cNvPr id="257" name="Google Shape;257;p17"/>
          <p:cNvCxnSpPr/>
          <p:nvPr/>
        </p:nvCxnSpPr>
        <p:spPr>
          <a:xfrm rot="10800000">
            <a:off x="4769224" y="1778144"/>
            <a:ext cx="2283783" cy="340659"/>
          </a:xfrm>
          <a:prstGeom prst="straightConnector1">
            <a:avLst/>
          </a:prstGeom>
          <a:noFill/>
          <a:ln w="9525" cap="flat" cmpd="sng">
            <a:solidFill>
              <a:srgbClr val="757070"/>
            </a:solidFill>
            <a:prstDash val="solid"/>
            <a:miter lim="800000"/>
            <a:headEnd type="none" w="sm" len="sm"/>
            <a:tailEnd type="triangle" w="med" len="med"/>
          </a:ln>
        </p:spPr>
      </p:cxnSp>
      <p:cxnSp>
        <p:nvCxnSpPr>
          <p:cNvPr id="258" name="Google Shape;258;p17"/>
          <p:cNvCxnSpPr/>
          <p:nvPr/>
        </p:nvCxnSpPr>
        <p:spPr>
          <a:xfrm rot="10800000" flipH="1">
            <a:off x="8843690" y="3688374"/>
            <a:ext cx="422384" cy="577964"/>
          </a:xfrm>
          <a:prstGeom prst="straightConnector1">
            <a:avLst/>
          </a:prstGeom>
          <a:noFill/>
          <a:ln w="9525" cap="flat" cmpd="sng">
            <a:solidFill>
              <a:srgbClr val="757070"/>
            </a:solidFill>
            <a:prstDash val="solid"/>
            <a:miter lim="800000"/>
            <a:headEnd type="none" w="sm" len="sm"/>
            <a:tailEnd type="triangle" w="med" len="med"/>
          </a:ln>
        </p:spPr>
      </p:cxnSp>
      <p:sp>
        <p:nvSpPr>
          <p:cNvPr id="259" name="Google Shape;259;p17"/>
          <p:cNvSpPr/>
          <p:nvPr/>
        </p:nvSpPr>
        <p:spPr>
          <a:xfrm>
            <a:off x="7132713" y="4266899"/>
            <a:ext cx="3424534" cy="95410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Por otra parte, si lo que buscamos es conocer cuántos valores distintos hay en la serie de datos, podemos utilizar el método </a:t>
            </a:r>
            <a:r>
              <a:rPr lang="es-ES" sz="1400" b="1">
                <a:solidFill>
                  <a:srgbClr val="7F7F7F"/>
                </a:solidFill>
                <a:latin typeface="Calibri"/>
                <a:ea typeface="Calibri"/>
                <a:cs typeface="Calibri"/>
                <a:sym typeface="Calibri"/>
              </a:rPr>
              <a:t>nunique()</a:t>
            </a:r>
            <a:r>
              <a:rPr lang="es-ES" sz="1400">
                <a:solidFill>
                  <a:srgbClr val="7F7F7F"/>
                </a:solidFill>
                <a:latin typeface="Calibri"/>
                <a:ea typeface="Calibri"/>
                <a:cs typeface="Calibri"/>
                <a:sym typeface="Calibri"/>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3"/>
                                        </p:tgtEl>
                                        <p:attrNameLst>
                                          <p:attrName>style.visibility</p:attrName>
                                        </p:attrNameLst>
                                      </p:cBhvr>
                                      <p:to>
                                        <p:strVal val="visible"/>
                                      </p:to>
                                    </p:set>
                                    <p:animEffect transition="in" filter="fade">
                                      <p:cBhvr>
                                        <p:cTn id="7" dur="5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18"/>
          <p:cNvPicPr preferRelativeResize="0"/>
          <p:nvPr/>
        </p:nvPicPr>
        <p:blipFill rotWithShape="1">
          <a:blip r:embed="rId3">
            <a:alphaModFix/>
          </a:blip>
          <a:srcRect/>
          <a:stretch/>
        </p:blipFill>
        <p:spPr>
          <a:xfrm>
            <a:off x="646870" y="1788452"/>
            <a:ext cx="5275470" cy="1642170"/>
          </a:xfrm>
          <a:prstGeom prst="rect">
            <a:avLst/>
          </a:prstGeom>
          <a:noFill/>
          <a:ln>
            <a:noFill/>
          </a:ln>
        </p:spPr>
      </p:pic>
      <p:sp>
        <p:nvSpPr>
          <p:cNvPr id="265" name="Google Shape;265;p18"/>
          <p:cNvSpPr txBox="1">
            <a:spLocks noGrp="1"/>
          </p:cNvSpPr>
          <p:nvPr>
            <p:ph type="title"/>
          </p:nvPr>
        </p:nvSpPr>
        <p:spPr>
          <a:xfrm>
            <a:off x="552610" y="582733"/>
            <a:ext cx="5693229" cy="89964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br>
              <a:rPr lang="es-ES" sz="3200" dirty="0">
                <a:latin typeface="Arial"/>
                <a:ea typeface="Arial"/>
                <a:cs typeface="Arial"/>
              </a:rPr>
            </a:br>
            <a:r>
              <a:rPr lang="es-ES" sz="3200" dirty="0">
                <a:solidFill>
                  <a:srgbClr val="7F7F7F"/>
                </a:solidFill>
                <a:latin typeface="Arial"/>
                <a:ea typeface="Arial"/>
                <a:cs typeface="Arial"/>
                <a:sym typeface="Arial"/>
              </a:rPr>
              <a:t>Chequeo de columnas categóricas</a:t>
            </a:r>
            <a:br>
              <a:rPr lang="es-ES" sz="3200" dirty="0">
                <a:latin typeface="Arial"/>
                <a:ea typeface="Arial"/>
                <a:cs typeface="Arial"/>
              </a:rPr>
            </a:br>
            <a:endParaRPr lang="es-ES"/>
          </a:p>
        </p:txBody>
      </p:sp>
      <p:sp>
        <p:nvSpPr>
          <p:cNvPr id="266" name="Google Shape;266;p18"/>
          <p:cNvSpPr/>
          <p:nvPr/>
        </p:nvSpPr>
        <p:spPr>
          <a:xfrm>
            <a:off x="836023" y="2074493"/>
            <a:ext cx="4826366" cy="113877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Otro método muy útil es </a:t>
            </a:r>
            <a:r>
              <a:rPr lang="es-ES" sz="1800" b="1" err="1">
                <a:solidFill>
                  <a:schemeClr val="lt1"/>
                </a:solidFill>
                <a:latin typeface="Calibri"/>
                <a:ea typeface="Calibri"/>
                <a:cs typeface="Calibri"/>
                <a:sym typeface="Calibri"/>
              </a:rPr>
              <a:t>value_counts</a:t>
            </a:r>
            <a:r>
              <a:rPr lang="es-ES" sz="1800" b="1" dirty="0">
                <a:solidFill>
                  <a:schemeClr val="lt1"/>
                </a:solidFill>
                <a:latin typeface="Calibri"/>
                <a:ea typeface="Calibri"/>
                <a:cs typeface="Calibri"/>
                <a:sym typeface="Calibri"/>
              </a:rPr>
              <a:t>()</a:t>
            </a:r>
            <a:r>
              <a:rPr lang="es-ES" sz="1800" dirty="0">
                <a:solidFill>
                  <a:schemeClr val="lt1"/>
                </a:solidFill>
                <a:latin typeface="Calibri"/>
                <a:ea typeface="Calibri"/>
                <a:cs typeface="Calibri"/>
                <a:sym typeface="Calibri"/>
              </a:rPr>
              <a:t>, que muestra de forma ordenada las clases y su frecuencia.</a:t>
            </a:r>
            <a:endParaRPr dirty="0">
              <a:solidFill>
                <a:schemeClr val="lt1"/>
              </a:solidFill>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67" name="Google Shape;267;p18"/>
          <p:cNvSpPr/>
          <p:nvPr/>
        </p:nvSpPr>
        <p:spPr>
          <a:xfrm>
            <a:off x="6637086" y="584486"/>
            <a:ext cx="5181600" cy="555307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68" name="Google Shape;268;p18"/>
          <p:cNvPicPr preferRelativeResize="0"/>
          <p:nvPr/>
        </p:nvPicPr>
        <p:blipFill rotWithShape="1">
          <a:blip r:embed="rId4">
            <a:alphaModFix/>
          </a:blip>
          <a:srcRect/>
          <a:stretch/>
        </p:blipFill>
        <p:spPr>
          <a:xfrm>
            <a:off x="7096734" y="687721"/>
            <a:ext cx="4448796" cy="5239481"/>
          </a:xfrm>
          <a:prstGeom prst="rect">
            <a:avLst/>
          </a:prstGeom>
          <a:noFill/>
          <a:ln>
            <a:noFill/>
          </a:ln>
        </p:spPr>
      </p:pic>
      <p:sp>
        <p:nvSpPr>
          <p:cNvPr id="269" name="Google Shape;269;p18"/>
          <p:cNvSpPr/>
          <p:nvPr/>
        </p:nvSpPr>
        <p:spPr>
          <a:xfrm>
            <a:off x="7103200" y="5602306"/>
            <a:ext cx="3528004" cy="317246"/>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0" name="Google Shape;270;p18"/>
          <p:cNvSpPr/>
          <p:nvPr/>
        </p:nvSpPr>
        <p:spPr>
          <a:xfrm>
            <a:off x="7096734" y="4013008"/>
            <a:ext cx="3528004" cy="16881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18"/>
          <p:cNvSpPr/>
          <p:nvPr/>
        </p:nvSpPr>
        <p:spPr>
          <a:xfrm>
            <a:off x="7103200" y="1702946"/>
            <a:ext cx="3528004" cy="16881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2" name="Google Shape;272;p18"/>
          <p:cNvSpPr/>
          <p:nvPr/>
        </p:nvSpPr>
        <p:spPr>
          <a:xfrm>
            <a:off x="7103200" y="1208866"/>
            <a:ext cx="3528004" cy="340100"/>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3" name="Google Shape;273;p18"/>
          <p:cNvSpPr/>
          <p:nvPr/>
        </p:nvSpPr>
        <p:spPr>
          <a:xfrm>
            <a:off x="7103200" y="4483765"/>
            <a:ext cx="3528004" cy="168812"/>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10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9"/>
          <p:cNvSpPr/>
          <p:nvPr/>
        </p:nvSpPr>
        <p:spPr>
          <a:xfrm>
            <a:off x="3930896" y="1915886"/>
            <a:ext cx="4080989" cy="3431178"/>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 name="Google Shape;279;p19"/>
          <p:cNvSpPr txBox="1"/>
          <p:nvPr/>
        </p:nvSpPr>
        <p:spPr>
          <a:xfrm>
            <a:off x="944908" y="606772"/>
            <a:ext cx="836506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s-ES" sz="3600">
                <a:solidFill>
                  <a:srgbClr val="7F7F7F"/>
                </a:solidFill>
                <a:latin typeface="Arial"/>
                <a:ea typeface="Arial"/>
                <a:cs typeface="Arial"/>
                <a:sym typeface="Arial"/>
              </a:rPr>
              <a:t>Transformación de Datos</a:t>
            </a:r>
            <a:endParaRPr/>
          </a:p>
        </p:txBody>
      </p:sp>
      <p:pic>
        <p:nvPicPr>
          <p:cNvPr id="280" name="Google Shape;280;p19"/>
          <p:cNvPicPr preferRelativeResize="0"/>
          <p:nvPr/>
        </p:nvPicPr>
        <p:blipFill rotWithShape="1">
          <a:blip r:embed="rId3">
            <a:alphaModFix/>
          </a:blip>
          <a:srcRect/>
          <a:stretch/>
        </p:blipFill>
        <p:spPr>
          <a:xfrm>
            <a:off x="4559329" y="2142915"/>
            <a:ext cx="2864336" cy="2864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9"/>
                                        </p:tgtEl>
                                        <p:attrNameLst>
                                          <p:attrName>style.visibility</p:attrName>
                                        </p:attrNameLst>
                                      </p:cBhvr>
                                      <p:to>
                                        <p:strVal val="visible"/>
                                      </p:to>
                                    </p:set>
                                    <p:animEffect transition="in" filter="fade">
                                      <p:cBhvr>
                                        <p:cTn id="7" dur="50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0"/>
          <p:cNvSpPr/>
          <p:nvPr/>
        </p:nvSpPr>
        <p:spPr>
          <a:xfrm>
            <a:off x="-330926" y="2189445"/>
            <a:ext cx="6663993" cy="3502471"/>
          </a:xfrm>
          <a:prstGeom prst="roundRect">
            <a:avLst>
              <a:gd name="adj" fmla="val 2971"/>
            </a:avLst>
          </a:prstGeom>
          <a:solidFill>
            <a:srgbClr val="98C3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20"/>
          <p:cNvSpPr txBox="1">
            <a:spLocks noGrp="1"/>
          </p:cNvSpPr>
          <p:nvPr>
            <p:ph type="title"/>
          </p:nvPr>
        </p:nvSpPr>
        <p:spPr>
          <a:xfrm>
            <a:off x="838200" y="365125"/>
            <a:ext cx="9981803" cy="13255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b="0" i="0" u="none" strike="noStrike" cap="none">
                <a:solidFill>
                  <a:srgbClr val="7F7F7F"/>
                </a:solidFill>
                <a:latin typeface="Arial"/>
                <a:ea typeface="Arial"/>
                <a:cs typeface="Arial"/>
                <a:sym typeface="Arial"/>
              </a:rPr>
              <a:t>Transformando una serie</a:t>
            </a:r>
            <a:endParaRPr/>
          </a:p>
        </p:txBody>
      </p:sp>
      <p:sp>
        <p:nvSpPr>
          <p:cNvPr id="287" name="Google Shape;287;p20"/>
          <p:cNvSpPr/>
          <p:nvPr/>
        </p:nvSpPr>
        <p:spPr>
          <a:xfrm>
            <a:off x="5824886" y="527219"/>
            <a:ext cx="5528517" cy="545374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20"/>
          <p:cNvSpPr/>
          <p:nvPr/>
        </p:nvSpPr>
        <p:spPr>
          <a:xfrm>
            <a:off x="1500502" y="2367056"/>
            <a:ext cx="3954671" cy="33547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 continuación, vamos a definir una serie de datos. El objetivo es transformar cada uno de los elementos que compone la serie con la función cubo(), que también ha sido definida.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Como se puede apreciar, se creó una nueva serie vacía y se realizó una iteración, elemento a elemento, para calcular el cubo de cada elemento y agregarlo a la serie de salida.</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289" name="Google Shape;289;p20"/>
          <p:cNvPicPr preferRelativeResize="0"/>
          <p:nvPr/>
        </p:nvPicPr>
        <p:blipFill rotWithShape="1">
          <a:blip r:embed="rId3">
            <a:alphaModFix/>
          </a:blip>
          <a:srcRect/>
          <a:stretch/>
        </p:blipFill>
        <p:spPr>
          <a:xfrm>
            <a:off x="946844" y="2386211"/>
            <a:ext cx="404992" cy="404992"/>
          </a:xfrm>
          <a:prstGeom prst="rect">
            <a:avLst/>
          </a:prstGeom>
          <a:noFill/>
          <a:ln>
            <a:noFill/>
          </a:ln>
        </p:spPr>
      </p:pic>
      <p:pic>
        <p:nvPicPr>
          <p:cNvPr id="290" name="Google Shape;290;p20"/>
          <p:cNvPicPr preferRelativeResize="0"/>
          <p:nvPr/>
        </p:nvPicPr>
        <p:blipFill rotWithShape="1">
          <a:blip r:embed="rId3">
            <a:alphaModFix/>
          </a:blip>
          <a:srcRect/>
          <a:stretch/>
        </p:blipFill>
        <p:spPr>
          <a:xfrm>
            <a:off x="946844" y="4039063"/>
            <a:ext cx="404992" cy="404992"/>
          </a:xfrm>
          <a:prstGeom prst="rect">
            <a:avLst/>
          </a:prstGeom>
          <a:noFill/>
          <a:ln>
            <a:noFill/>
          </a:ln>
        </p:spPr>
      </p:pic>
      <p:pic>
        <p:nvPicPr>
          <p:cNvPr id="291" name="Google Shape;291;p20"/>
          <p:cNvPicPr preferRelativeResize="0"/>
          <p:nvPr/>
        </p:nvPicPr>
        <p:blipFill rotWithShape="1">
          <a:blip r:embed="rId4">
            <a:alphaModFix/>
          </a:blip>
          <a:srcRect/>
          <a:stretch/>
        </p:blipFill>
        <p:spPr>
          <a:xfrm>
            <a:off x="6226629" y="673557"/>
            <a:ext cx="4726094" cy="51719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6"/>
                                        </p:tgtEl>
                                        <p:attrNameLst>
                                          <p:attrName>style.visibility</p:attrName>
                                        </p:attrNameLst>
                                      </p:cBhvr>
                                      <p:to>
                                        <p:strVal val="visible"/>
                                      </p:to>
                                    </p:set>
                                    <p:animEffect transition="in" filter="fade">
                                      <p:cBhvr>
                                        <p:cTn id="7" dur="500"/>
                                        <p:tgtEl>
                                          <p:spTgt spid="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1"/>
          <p:cNvSpPr/>
          <p:nvPr/>
        </p:nvSpPr>
        <p:spPr>
          <a:xfrm>
            <a:off x="805255" y="1601045"/>
            <a:ext cx="5139415" cy="3265378"/>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 name="Google Shape;297;p21"/>
          <p:cNvSpPr/>
          <p:nvPr/>
        </p:nvSpPr>
        <p:spPr>
          <a:xfrm>
            <a:off x="805255" y="5012411"/>
            <a:ext cx="5139415" cy="720078"/>
          </a:xfrm>
          <a:prstGeom prst="roundRect">
            <a:avLst>
              <a:gd name="adj" fmla="val 16667"/>
            </a:avLst>
          </a:prstGeom>
          <a:solidFill>
            <a:srgbClr val="F2F2F2"/>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21"/>
          <p:cNvSpPr txBox="1">
            <a:spLocks noGrp="1"/>
          </p:cNvSpPr>
          <p:nvPr>
            <p:ph type="title"/>
          </p:nvPr>
        </p:nvSpPr>
        <p:spPr>
          <a:xfrm>
            <a:off x="935276" y="547268"/>
            <a:ext cx="10515600" cy="78794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br>
              <a:rPr lang="es-ES" sz="3600">
                <a:solidFill>
                  <a:srgbClr val="7F7F7F"/>
                </a:solidFill>
                <a:latin typeface="Arial"/>
                <a:ea typeface="Arial"/>
                <a:cs typeface="Arial"/>
                <a:sym typeface="Arial"/>
              </a:rPr>
            </a:br>
            <a:r>
              <a:rPr lang="es-ES" sz="3200">
                <a:solidFill>
                  <a:srgbClr val="7F7F7F"/>
                </a:solidFill>
                <a:latin typeface="Arial"/>
                <a:ea typeface="Arial"/>
                <a:cs typeface="Arial"/>
                <a:sym typeface="Arial"/>
              </a:rPr>
              <a:t>Transformando una serie</a:t>
            </a:r>
            <a:br>
              <a:rPr lang="es-ES" sz="3600">
                <a:solidFill>
                  <a:srgbClr val="7F7F7F"/>
                </a:solidFill>
                <a:latin typeface="Arial"/>
                <a:ea typeface="Arial"/>
                <a:cs typeface="Arial"/>
                <a:sym typeface="Arial"/>
              </a:rPr>
            </a:br>
            <a:endParaRPr/>
          </a:p>
        </p:txBody>
      </p:sp>
      <p:sp>
        <p:nvSpPr>
          <p:cNvPr id="299" name="Google Shape;299;p21"/>
          <p:cNvSpPr/>
          <p:nvPr/>
        </p:nvSpPr>
        <p:spPr>
          <a:xfrm>
            <a:off x="6567272" y="653501"/>
            <a:ext cx="5139415" cy="507955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21"/>
          <p:cNvSpPr/>
          <p:nvPr/>
        </p:nvSpPr>
        <p:spPr>
          <a:xfrm>
            <a:off x="1460748" y="1953745"/>
            <a:ext cx="4000500" cy="32624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El mismo resultado se puede obtener utilizando el método apply() de una serie, que retorna una nueva serie de datos con los elementos en el cual se le ha aplicado la función especificada. De esta forma, se produce el efecto de transformación de la serie original.</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El mismo resultado se puede obtener utilizando directamente una expresión lambda.</a:t>
            </a:r>
            <a:endParaRPr/>
          </a:p>
          <a:p>
            <a:pPr marL="0" marR="0" lvl="0" indent="0" algn="ctr" rtl="0">
              <a:spcBef>
                <a:spcPts val="0"/>
              </a:spcBef>
              <a:spcAft>
                <a:spcPts val="0"/>
              </a:spcAft>
              <a:buNone/>
            </a:pPr>
            <a:endParaRPr sz="16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301" name="Google Shape;301;p21"/>
          <p:cNvPicPr preferRelativeResize="0"/>
          <p:nvPr/>
        </p:nvPicPr>
        <p:blipFill rotWithShape="1">
          <a:blip r:embed="rId3">
            <a:alphaModFix/>
          </a:blip>
          <a:srcRect/>
          <a:stretch/>
        </p:blipFill>
        <p:spPr>
          <a:xfrm>
            <a:off x="1088482" y="1953745"/>
            <a:ext cx="372265" cy="372265"/>
          </a:xfrm>
          <a:prstGeom prst="rect">
            <a:avLst/>
          </a:prstGeom>
          <a:noFill/>
          <a:ln>
            <a:noFill/>
          </a:ln>
        </p:spPr>
      </p:pic>
      <p:pic>
        <p:nvPicPr>
          <p:cNvPr id="302" name="Google Shape;302;p21"/>
          <p:cNvPicPr preferRelativeResize="0"/>
          <p:nvPr/>
        </p:nvPicPr>
        <p:blipFill rotWithShape="1">
          <a:blip r:embed="rId3">
            <a:alphaModFix/>
          </a:blip>
          <a:srcRect/>
          <a:stretch/>
        </p:blipFill>
        <p:spPr>
          <a:xfrm>
            <a:off x="1088482" y="3880080"/>
            <a:ext cx="372265" cy="372265"/>
          </a:xfrm>
          <a:prstGeom prst="rect">
            <a:avLst/>
          </a:prstGeom>
          <a:noFill/>
          <a:ln>
            <a:noFill/>
          </a:ln>
        </p:spPr>
      </p:pic>
      <p:pic>
        <p:nvPicPr>
          <p:cNvPr id="303" name="Google Shape;303;p21"/>
          <p:cNvPicPr preferRelativeResize="0"/>
          <p:nvPr/>
        </p:nvPicPr>
        <p:blipFill rotWithShape="1">
          <a:blip r:embed="rId4">
            <a:alphaModFix/>
          </a:blip>
          <a:srcRect/>
          <a:stretch/>
        </p:blipFill>
        <p:spPr>
          <a:xfrm>
            <a:off x="6983027" y="1308204"/>
            <a:ext cx="4467849" cy="1743318"/>
          </a:xfrm>
          <a:prstGeom prst="rect">
            <a:avLst/>
          </a:prstGeom>
          <a:noFill/>
          <a:ln>
            <a:noFill/>
          </a:ln>
        </p:spPr>
      </p:pic>
      <p:pic>
        <p:nvPicPr>
          <p:cNvPr id="304" name="Google Shape;304;p21"/>
          <p:cNvPicPr preferRelativeResize="0"/>
          <p:nvPr/>
        </p:nvPicPr>
        <p:blipFill rotWithShape="1">
          <a:blip r:embed="rId5">
            <a:alphaModFix/>
          </a:blip>
          <a:srcRect/>
          <a:stretch/>
        </p:blipFill>
        <p:spPr>
          <a:xfrm>
            <a:off x="6983027" y="3266000"/>
            <a:ext cx="4458322" cy="1600423"/>
          </a:xfrm>
          <a:prstGeom prst="rect">
            <a:avLst/>
          </a:prstGeom>
          <a:noFill/>
          <a:ln>
            <a:noFill/>
          </a:ln>
        </p:spPr>
      </p:pic>
      <p:sp>
        <p:nvSpPr>
          <p:cNvPr id="305" name="Google Shape;305;p21"/>
          <p:cNvSpPr txBox="1"/>
          <p:nvPr/>
        </p:nvSpPr>
        <p:spPr>
          <a:xfrm>
            <a:off x="1568497" y="5110840"/>
            <a:ext cx="4266246"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chemeClr val="dk1"/>
                </a:solidFill>
                <a:latin typeface="Calibri"/>
                <a:ea typeface="Calibri"/>
                <a:cs typeface="Calibri"/>
                <a:sym typeface="Calibri"/>
              </a:rPr>
              <a:t>Una </a:t>
            </a:r>
            <a:r>
              <a:rPr lang="es-ES" sz="1400" b="1">
                <a:solidFill>
                  <a:schemeClr val="dk1"/>
                </a:solidFill>
                <a:latin typeface="Calibri"/>
                <a:ea typeface="Calibri"/>
                <a:cs typeface="Calibri"/>
                <a:sym typeface="Calibri"/>
              </a:rPr>
              <a:t>expresión lambda</a:t>
            </a:r>
            <a:r>
              <a:rPr lang="es-ES" sz="1400">
                <a:solidFill>
                  <a:schemeClr val="dk1"/>
                </a:solidFill>
                <a:latin typeface="Calibri"/>
                <a:ea typeface="Calibri"/>
                <a:cs typeface="Calibri"/>
                <a:sym typeface="Calibri"/>
              </a:rPr>
              <a:t> es una función anónima (función literal), no está enlazada a un identificador.</a:t>
            </a:r>
            <a:endParaRPr/>
          </a:p>
        </p:txBody>
      </p:sp>
      <p:pic>
        <p:nvPicPr>
          <p:cNvPr id="306" name="Google Shape;306;p21"/>
          <p:cNvPicPr preferRelativeResize="0"/>
          <p:nvPr/>
        </p:nvPicPr>
        <p:blipFill rotWithShape="1">
          <a:blip r:embed="rId6">
            <a:alphaModFix/>
          </a:blip>
          <a:srcRect/>
          <a:stretch/>
        </p:blipFill>
        <p:spPr>
          <a:xfrm>
            <a:off x="977326" y="5120037"/>
            <a:ext cx="419100" cy="504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100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pic>
        <p:nvPicPr>
          <p:cNvPr id="311" name="Google Shape;311;p22"/>
          <p:cNvPicPr preferRelativeResize="0"/>
          <p:nvPr/>
        </p:nvPicPr>
        <p:blipFill rotWithShape="1">
          <a:blip r:embed="rId3">
            <a:alphaModFix/>
          </a:blip>
          <a:srcRect/>
          <a:stretch/>
        </p:blipFill>
        <p:spPr>
          <a:xfrm>
            <a:off x="-204703" y="1249164"/>
            <a:ext cx="12684036" cy="936713"/>
          </a:xfrm>
          <a:prstGeom prst="rect">
            <a:avLst/>
          </a:prstGeom>
          <a:noFill/>
          <a:ln>
            <a:noFill/>
          </a:ln>
        </p:spPr>
      </p:pic>
      <p:sp>
        <p:nvSpPr>
          <p:cNvPr id="312" name="Google Shape;312;p22"/>
          <p:cNvSpPr/>
          <p:nvPr/>
        </p:nvSpPr>
        <p:spPr>
          <a:xfrm>
            <a:off x="1361152" y="2439154"/>
            <a:ext cx="9858805" cy="359092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3" name="Google Shape;313;p22"/>
          <p:cNvSpPr txBox="1"/>
          <p:nvPr/>
        </p:nvSpPr>
        <p:spPr>
          <a:xfrm>
            <a:off x="1215123" y="208318"/>
            <a:ext cx="10128340" cy="801234"/>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Transformando una serie</a:t>
            </a:r>
            <a:endParaRPr sz="3200">
              <a:solidFill>
                <a:srgbClr val="7F7F7F"/>
              </a:solidFill>
              <a:latin typeface="Arial"/>
              <a:ea typeface="Arial"/>
              <a:cs typeface="Arial"/>
              <a:sym typeface="Arial"/>
            </a:endParaRPr>
          </a:p>
        </p:txBody>
      </p:sp>
      <p:pic>
        <p:nvPicPr>
          <p:cNvPr id="314" name="Google Shape;314;p22"/>
          <p:cNvPicPr preferRelativeResize="0"/>
          <p:nvPr/>
        </p:nvPicPr>
        <p:blipFill rotWithShape="1">
          <a:blip r:embed="rId4">
            <a:alphaModFix/>
          </a:blip>
          <a:srcRect/>
          <a:stretch/>
        </p:blipFill>
        <p:spPr>
          <a:xfrm>
            <a:off x="3734589" y="2608691"/>
            <a:ext cx="4715183" cy="3251850"/>
          </a:xfrm>
          <a:prstGeom prst="rect">
            <a:avLst/>
          </a:prstGeom>
          <a:noFill/>
          <a:ln>
            <a:noFill/>
          </a:ln>
        </p:spPr>
      </p:pic>
      <p:sp>
        <p:nvSpPr>
          <p:cNvPr id="315" name="Google Shape;315;p22"/>
          <p:cNvSpPr txBox="1"/>
          <p:nvPr/>
        </p:nvSpPr>
        <p:spPr>
          <a:xfrm>
            <a:off x="1358283" y="1366273"/>
            <a:ext cx="9867436" cy="646331"/>
          </a:xfrm>
          <a:prstGeom prst="rect">
            <a:avLst/>
          </a:prstGeom>
          <a:noFill/>
          <a:ln>
            <a:noFill/>
          </a:ln>
        </p:spPr>
        <p:txBody>
          <a:bodyPr spcFirstLastPara="1" wrap="square" lIns="91425" tIns="45700" rIns="91425" bIns="45700" anchor="t" anchorCtr="0">
            <a:spAutoFit/>
          </a:bodyPr>
          <a:lstStyle/>
          <a:p>
            <a:pPr algn="just"/>
            <a:r>
              <a:rPr lang="es-ES" sz="1800" dirty="0">
                <a:solidFill>
                  <a:schemeClr val="lt1"/>
                </a:solidFill>
                <a:latin typeface="Calibri"/>
                <a:ea typeface="Calibri"/>
                <a:cs typeface="Calibri"/>
                <a:sym typeface="Calibri"/>
              </a:rPr>
              <a:t>Un caso de uso muy práctico es la limpieza de columnas en un </a:t>
            </a:r>
            <a:r>
              <a:rPr lang="es-ES" sz="180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En este caso, la columna </a:t>
            </a:r>
            <a:r>
              <a:rPr lang="es-ES" sz="1800" b="1" dirty="0">
                <a:solidFill>
                  <a:schemeClr val="lt1"/>
                </a:solidFill>
                <a:latin typeface="Calibri"/>
                <a:ea typeface="Calibri"/>
                <a:cs typeface="Calibri"/>
                <a:sym typeface="Calibri"/>
              </a:rPr>
              <a:t>OWN_OCCUPIED</a:t>
            </a:r>
            <a:r>
              <a:rPr lang="es-ES" sz="1800" dirty="0">
                <a:solidFill>
                  <a:schemeClr val="lt1"/>
                </a:solidFill>
                <a:latin typeface="Calibri"/>
                <a:ea typeface="Calibri"/>
                <a:cs typeface="Calibri"/>
                <a:sym typeface="Calibri"/>
              </a:rPr>
              <a:t> del </a:t>
            </a:r>
            <a:r>
              <a:rPr lang="es-ES" sz="180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de </a:t>
            </a:r>
            <a:r>
              <a:rPr lang="es-ES" sz="1800" b="1" dirty="0">
                <a:solidFill>
                  <a:schemeClr val="lt1"/>
                </a:solidFill>
                <a:latin typeface="Calibri"/>
                <a:ea typeface="Calibri"/>
                <a:cs typeface="Calibri"/>
                <a:sym typeface="Calibri"/>
              </a:rPr>
              <a:t>real estate </a:t>
            </a:r>
            <a:r>
              <a:rPr lang="es-ES" sz="1800" dirty="0">
                <a:solidFill>
                  <a:schemeClr val="lt1"/>
                </a:solidFill>
                <a:latin typeface="Calibri"/>
                <a:ea typeface="Calibri"/>
                <a:cs typeface="Calibri"/>
                <a:sym typeface="Calibri"/>
              </a:rPr>
              <a:t>tiene valores que fueron detectados como erróneos. </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320" name="Google Shape;320;p23"/>
          <p:cNvPicPr preferRelativeResize="0"/>
          <p:nvPr/>
        </p:nvPicPr>
        <p:blipFill rotWithShape="1">
          <a:blip r:embed="rId3">
            <a:alphaModFix/>
          </a:blip>
          <a:srcRect/>
          <a:stretch/>
        </p:blipFill>
        <p:spPr>
          <a:xfrm>
            <a:off x="-760940" y="1120963"/>
            <a:ext cx="13881463" cy="936713"/>
          </a:xfrm>
          <a:prstGeom prst="rect">
            <a:avLst/>
          </a:prstGeom>
          <a:noFill/>
          <a:ln>
            <a:noFill/>
          </a:ln>
        </p:spPr>
      </p:pic>
      <p:sp>
        <p:nvSpPr>
          <p:cNvPr id="321" name="Google Shape;321;p23"/>
          <p:cNvSpPr/>
          <p:nvPr/>
        </p:nvSpPr>
        <p:spPr>
          <a:xfrm>
            <a:off x="860822" y="2978426"/>
            <a:ext cx="4648201" cy="364807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23"/>
          <p:cNvSpPr txBox="1"/>
          <p:nvPr/>
        </p:nvSpPr>
        <p:spPr>
          <a:xfrm>
            <a:off x="788641" y="51978"/>
            <a:ext cx="10782300" cy="90170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Transformando una serie</a:t>
            </a:r>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323" name="Google Shape;323;p23"/>
          <p:cNvPicPr preferRelativeResize="0"/>
          <p:nvPr/>
        </p:nvPicPr>
        <p:blipFill rotWithShape="1">
          <a:blip r:embed="rId4">
            <a:alphaModFix/>
          </a:blip>
          <a:srcRect/>
          <a:stretch/>
        </p:blipFill>
        <p:spPr>
          <a:xfrm>
            <a:off x="1129453" y="3082941"/>
            <a:ext cx="4110938" cy="3439043"/>
          </a:xfrm>
          <a:prstGeom prst="rect">
            <a:avLst/>
          </a:prstGeom>
          <a:noFill/>
          <a:ln>
            <a:noFill/>
          </a:ln>
        </p:spPr>
      </p:pic>
      <p:sp>
        <p:nvSpPr>
          <p:cNvPr id="324" name="Google Shape;324;p23"/>
          <p:cNvSpPr/>
          <p:nvPr/>
        </p:nvSpPr>
        <p:spPr>
          <a:xfrm>
            <a:off x="6084852" y="3033758"/>
            <a:ext cx="4648201" cy="256222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25" name="Google Shape;325;p23"/>
          <p:cNvPicPr preferRelativeResize="0"/>
          <p:nvPr/>
        </p:nvPicPr>
        <p:blipFill rotWithShape="1">
          <a:blip r:embed="rId5">
            <a:alphaModFix/>
          </a:blip>
          <a:srcRect/>
          <a:stretch/>
        </p:blipFill>
        <p:spPr>
          <a:xfrm>
            <a:off x="6179792" y="3124040"/>
            <a:ext cx="4458322" cy="2276793"/>
          </a:xfrm>
          <a:prstGeom prst="rect">
            <a:avLst/>
          </a:prstGeom>
          <a:noFill/>
          <a:ln>
            <a:noFill/>
          </a:ln>
        </p:spPr>
      </p:pic>
      <p:sp>
        <p:nvSpPr>
          <p:cNvPr id="326" name="Google Shape;326;p23"/>
          <p:cNvSpPr txBox="1"/>
          <p:nvPr/>
        </p:nvSpPr>
        <p:spPr>
          <a:xfrm>
            <a:off x="6084853" y="2313736"/>
            <a:ext cx="4648200" cy="609228"/>
          </a:xfrm>
          <a:prstGeom prst="rect">
            <a:avLst/>
          </a:prstGeom>
          <a:solidFill>
            <a:schemeClr val="lt1"/>
          </a:solidFill>
          <a:ln w="9525" cap="flat" cmpd="sng">
            <a:solidFill>
              <a:srgbClr val="98C34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solidFill>
                <a:srgbClr val="7F7F7F"/>
              </a:solidFill>
              <a:latin typeface="Arial"/>
              <a:ea typeface="Arial"/>
              <a:cs typeface="Arial"/>
              <a:sym typeface="Arial"/>
            </a:endParaRPr>
          </a:p>
          <a:p>
            <a:pPr marL="0" marR="0" lvl="0" indent="0" algn="just" rtl="0">
              <a:lnSpc>
                <a:spcPct val="100000"/>
              </a:lnSpc>
              <a:spcBef>
                <a:spcPts val="0"/>
              </a:spcBef>
              <a:spcAft>
                <a:spcPts val="0"/>
              </a:spcAft>
              <a:buNone/>
            </a:pPr>
            <a:r>
              <a:rPr lang="es-ES" sz="1600">
                <a:solidFill>
                  <a:srgbClr val="7F7F7F"/>
                </a:solidFill>
                <a:latin typeface="Calibri"/>
                <a:ea typeface="Calibri"/>
                <a:cs typeface="Calibri"/>
                <a:sym typeface="Calibri"/>
              </a:rPr>
              <a:t>                      Lo mismo en una sola línea.</a:t>
            </a:r>
            <a:endParaRPr/>
          </a:p>
          <a:p>
            <a:pPr marL="0" marR="0" lvl="0" indent="0" algn="just" rtl="0">
              <a:lnSpc>
                <a:spcPct val="90000"/>
              </a:lnSpc>
              <a:spcBef>
                <a:spcPts val="0"/>
              </a:spcBef>
              <a:spcAft>
                <a:spcPts val="0"/>
              </a:spcAft>
              <a:buNone/>
            </a:pPr>
            <a:endParaRPr sz="2800">
              <a:solidFill>
                <a:srgbClr val="7F7F7F"/>
              </a:solidFill>
              <a:latin typeface="Calibri"/>
              <a:ea typeface="Calibri"/>
              <a:cs typeface="Calibri"/>
              <a:sym typeface="Calibri"/>
            </a:endParaRPr>
          </a:p>
        </p:txBody>
      </p:sp>
      <p:sp>
        <p:nvSpPr>
          <p:cNvPr id="327" name="Google Shape;327;p23"/>
          <p:cNvSpPr txBox="1"/>
          <p:nvPr/>
        </p:nvSpPr>
        <p:spPr>
          <a:xfrm>
            <a:off x="734364" y="1245140"/>
            <a:ext cx="10428936" cy="9233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Un caso de uso muy práctico es la limpieza de columnas en un DataFrame. En este caso, definimos previamente una función que sólo retorna ‘Y’ o ‘N’ de acuerdo a una definición razonable.</a:t>
            </a:r>
            <a:endParaRPr/>
          </a:p>
          <a:p>
            <a:pPr marL="0" marR="0" lvl="0" indent="0" algn="just" rtl="0">
              <a:lnSpc>
                <a:spcPct val="100000"/>
              </a:lnSpc>
              <a:spcBef>
                <a:spcPts val="0"/>
              </a:spcBef>
              <a:spcAft>
                <a:spcPts val="0"/>
              </a:spcAft>
              <a:buNone/>
            </a:pPr>
            <a:endParaRPr sz="1800">
              <a:solidFill>
                <a:srgbClr val="7F7F7F"/>
              </a:solidFill>
              <a:latin typeface="Calibri"/>
              <a:ea typeface="Calibri"/>
              <a:cs typeface="Calibri"/>
              <a:sym typeface="Calibri"/>
            </a:endParaRPr>
          </a:p>
        </p:txBody>
      </p:sp>
      <p:sp>
        <p:nvSpPr>
          <p:cNvPr id="328" name="Google Shape;328;p23"/>
          <p:cNvSpPr txBox="1"/>
          <p:nvPr/>
        </p:nvSpPr>
        <p:spPr>
          <a:xfrm>
            <a:off x="860822" y="2305455"/>
            <a:ext cx="4648201" cy="584775"/>
          </a:xfrm>
          <a:prstGeom prst="rect">
            <a:avLst/>
          </a:prstGeom>
          <a:solidFill>
            <a:schemeClr val="lt1"/>
          </a:solidFill>
          <a:ln w="9525" cap="flat" cmpd="sng">
            <a:solidFill>
              <a:srgbClr val="98C340"/>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600">
                <a:solidFill>
                  <a:srgbClr val="7F7F7F"/>
                </a:solidFill>
                <a:latin typeface="Calibri"/>
                <a:ea typeface="Calibri"/>
                <a:cs typeface="Calibri"/>
                <a:sym typeface="Calibri"/>
              </a:rPr>
              <a:t>Finalmente, aplicamos la función y reescribimos la serie.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24"/>
          <p:cNvPicPr preferRelativeResize="0"/>
          <p:nvPr/>
        </p:nvPicPr>
        <p:blipFill rotWithShape="1">
          <a:blip r:embed="rId3">
            <a:alphaModFix/>
          </a:blip>
          <a:srcRect/>
          <a:stretch/>
        </p:blipFill>
        <p:spPr>
          <a:xfrm>
            <a:off x="551359" y="1570184"/>
            <a:ext cx="3659779" cy="4213311"/>
          </a:xfrm>
          <a:prstGeom prst="rect">
            <a:avLst/>
          </a:prstGeom>
          <a:noFill/>
          <a:ln>
            <a:noFill/>
          </a:ln>
        </p:spPr>
      </p:pic>
      <p:sp>
        <p:nvSpPr>
          <p:cNvPr id="334" name="Google Shape;334;p24"/>
          <p:cNvSpPr txBox="1">
            <a:spLocks noGrp="1"/>
          </p:cNvSpPr>
          <p:nvPr>
            <p:ph type="title"/>
          </p:nvPr>
        </p:nvSpPr>
        <p:spPr>
          <a:xfrm>
            <a:off x="838200" y="49857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200">
                <a:solidFill>
                  <a:srgbClr val="7F7F7F"/>
                </a:solidFill>
                <a:latin typeface="Arial"/>
                <a:ea typeface="Arial"/>
                <a:cs typeface="Arial"/>
                <a:sym typeface="Arial"/>
              </a:rPr>
              <a:t>Transformando un dataframe</a:t>
            </a:r>
            <a:br>
              <a:rPr lang="es-ES">
                <a:solidFill>
                  <a:srgbClr val="7F7F7F"/>
                </a:solidFill>
                <a:latin typeface="Arial"/>
                <a:ea typeface="Arial"/>
                <a:cs typeface="Arial"/>
                <a:sym typeface="Arial"/>
              </a:rPr>
            </a:br>
            <a:endParaRPr>
              <a:latin typeface="Arial"/>
              <a:ea typeface="Arial"/>
              <a:cs typeface="Arial"/>
              <a:sym typeface="Arial"/>
            </a:endParaRPr>
          </a:p>
        </p:txBody>
      </p:sp>
      <p:sp>
        <p:nvSpPr>
          <p:cNvPr id="335" name="Google Shape;335;p24"/>
          <p:cNvSpPr txBox="1"/>
          <p:nvPr/>
        </p:nvSpPr>
        <p:spPr>
          <a:xfrm>
            <a:off x="854620" y="2574764"/>
            <a:ext cx="3042557" cy="2161625"/>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2000" dirty="0">
                <a:solidFill>
                  <a:schemeClr val="lt1"/>
                </a:solidFill>
                <a:latin typeface="Calibri"/>
                <a:ea typeface="Calibri"/>
                <a:cs typeface="Calibri"/>
                <a:sym typeface="Calibri"/>
              </a:rPr>
              <a:t>Los </a:t>
            </a:r>
            <a:r>
              <a:rPr lang="es-ES" sz="2000" err="1">
                <a:solidFill>
                  <a:schemeClr val="lt1"/>
                </a:solidFill>
                <a:latin typeface="Calibri"/>
                <a:ea typeface="Calibri"/>
                <a:cs typeface="Calibri"/>
                <a:sym typeface="Calibri"/>
              </a:rPr>
              <a:t>dataframes</a:t>
            </a:r>
            <a:r>
              <a:rPr lang="es-ES" sz="2000" dirty="0">
                <a:solidFill>
                  <a:schemeClr val="lt1"/>
                </a:solidFill>
                <a:latin typeface="Calibri"/>
                <a:ea typeface="Calibri"/>
                <a:cs typeface="Calibri"/>
                <a:sym typeface="Calibri"/>
              </a:rPr>
              <a:t> también, cuentan con el método </a:t>
            </a:r>
            <a:r>
              <a:rPr lang="es-ES" sz="2000" b="1" err="1">
                <a:solidFill>
                  <a:schemeClr val="lt1"/>
                </a:solidFill>
                <a:latin typeface="Calibri"/>
                <a:ea typeface="Calibri"/>
                <a:cs typeface="Calibri"/>
                <a:sym typeface="Calibri"/>
              </a:rPr>
              <a:t>apply</a:t>
            </a:r>
            <a:r>
              <a:rPr lang="es-ES" sz="2000" b="1" dirty="0">
                <a:solidFill>
                  <a:schemeClr val="lt1"/>
                </a:solidFill>
                <a:latin typeface="Calibri"/>
                <a:ea typeface="Calibri"/>
                <a:cs typeface="Calibri"/>
                <a:sym typeface="Calibri"/>
              </a:rPr>
              <a:t>()</a:t>
            </a:r>
            <a:r>
              <a:rPr lang="es-ES" sz="2000" dirty="0">
                <a:solidFill>
                  <a:schemeClr val="lt1"/>
                </a:solidFill>
                <a:latin typeface="Calibri"/>
                <a:ea typeface="Calibri"/>
                <a:cs typeface="Calibri"/>
                <a:sym typeface="Calibri"/>
              </a:rPr>
              <a:t>, en ese caso, lo que se itera es una fila del </a:t>
            </a:r>
            <a:r>
              <a:rPr lang="es-ES" sz="2000" err="1">
                <a:solidFill>
                  <a:schemeClr val="lt1"/>
                </a:solidFill>
                <a:latin typeface="Calibri"/>
                <a:ea typeface="Calibri"/>
                <a:cs typeface="Calibri"/>
                <a:sym typeface="Calibri"/>
              </a:rPr>
              <a:t>dataframe</a:t>
            </a:r>
            <a:r>
              <a:rPr lang="es-ES" sz="2000" dirty="0">
                <a:solidFill>
                  <a:schemeClr val="lt1"/>
                </a:solidFill>
                <a:latin typeface="Calibri"/>
                <a:ea typeface="Calibri"/>
                <a:cs typeface="Calibri"/>
                <a:sym typeface="Calibri"/>
              </a:rPr>
              <a:t>, o bien, una columna (si se indica el parámetro </a:t>
            </a:r>
            <a:r>
              <a:rPr lang="es-ES" sz="2000" b="1" dirty="0">
                <a:solidFill>
                  <a:schemeClr val="lt1"/>
                </a:solidFill>
                <a:latin typeface="Calibri"/>
                <a:ea typeface="Calibri"/>
                <a:cs typeface="Calibri"/>
                <a:sym typeface="Calibri"/>
              </a:rPr>
              <a:t>axis=1</a:t>
            </a:r>
            <a:r>
              <a:rPr lang="es-ES" sz="2000" dirty="0">
                <a:solidFill>
                  <a:schemeClr val="lt1"/>
                </a:solidFill>
                <a:latin typeface="Calibri"/>
                <a:ea typeface="Calibri"/>
                <a:cs typeface="Calibri"/>
                <a:sym typeface="Calibri"/>
              </a:rPr>
              <a:t>).</a:t>
            </a:r>
            <a:endParaRPr sz="3200" dirty="0">
              <a:solidFill>
                <a:schemeClr val="lt1"/>
              </a:solidFill>
              <a:latin typeface="Calibri"/>
              <a:ea typeface="Calibri"/>
              <a:cs typeface="Calibri"/>
              <a:sym typeface="Calibri"/>
            </a:endParaRPr>
          </a:p>
        </p:txBody>
      </p:sp>
      <p:sp>
        <p:nvSpPr>
          <p:cNvPr id="336" name="Google Shape;336;p24"/>
          <p:cNvSpPr/>
          <p:nvPr/>
        </p:nvSpPr>
        <p:spPr>
          <a:xfrm>
            <a:off x="4489591" y="1565754"/>
            <a:ext cx="7266562" cy="4213268"/>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37" name="Google Shape;337;p24"/>
          <p:cNvPicPr preferRelativeResize="0"/>
          <p:nvPr/>
        </p:nvPicPr>
        <p:blipFill rotWithShape="1">
          <a:blip r:embed="rId4">
            <a:alphaModFix/>
          </a:blip>
          <a:srcRect/>
          <a:stretch/>
        </p:blipFill>
        <p:spPr>
          <a:xfrm>
            <a:off x="4599776" y="1639238"/>
            <a:ext cx="7046192" cy="4048905"/>
          </a:xfrm>
          <a:prstGeom prst="rect">
            <a:avLst/>
          </a:prstGeom>
          <a:noFill/>
          <a:ln>
            <a:noFill/>
          </a:ln>
        </p:spPr>
      </p:pic>
      <p:cxnSp>
        <p:nvCxnSpPr>
          <p:cNvPr id="338" name="Google Shape;338;p24"/>
          <p:cNvCxnSpPr/>
          <p:nvPr/>
        </p:nvCxnSpPr>
        <p:spPr>
          <a:xfrm flipH="1">
            <a:off x="6058248" y="4702165"/>
            <a:ext cx="2237360" cy="9728"/>
          </a:xfrm>
          <a:prstGeom prst="straightConnector1">
            <a:avLst/>
          </a:prstGeom>
          <a:noFill/>
          <a:ln w="9525" cap="flat" cmpd="sng">
            <a:solidFill>
              <a:srgbClr val="3A3838"/>
            </a:solidFill>
            <a:prstDash val="solid"/>
            <a:miter lim="800000"/>
            <a:headEnd type="none" w="sm" len="sm"/>
            <a:tailEnd type="triangle" w="med" len="med"/>
          </a:ln>
        </p:spPr>
      </p:cxnSp>
      <p:sp>
        <p:nvSpPr>
          <p:cNvPr id="339" name="Google Shape;339;p24"/>
          <p:cNvSpPr txBox="1"/>
          <p:nvPr/>
        </p:nvSpPr>
        <p:spPr>
          <a:xfrm>
            <a:off x="8328061" y="4285363"/>
            <a:ext cx="3285454" cy="830997"/>
          </a:xfrm>
          <a:prstGeom prst="rect">
            <a:avLst/>
          </a:prstGeom>
          <a:noFill/>
          <a:ln w="9525" cap="flat" cmpd="sng">
            <a:solidFill>
              <a:srgbClr val="98C340"/>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7F7F7F"/>
                </a:solidFill>
                <a:latin typeface="Calibri"/>
                <a:ea typeface="Calibri"/>
                <a:cs typeface="Calibri"/>
                <a:sym typeface="Calibri"/>
              </a:rPr>
              <a:t>Nótese que la columna Age tiene valores nulos. Realizaremos una imputación</a:t>
            </a:r>
            <a:endParaRPr sz="16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500"/>
                                        <p:tgtEl>
                                          <p:spTgt spid="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25"/>
          <p:cNvPicPr preferRelativeResize="0"/>
          <p:nvPr/>
        </p:nvPicPr>
        <p:blipFill rotWithShape="1">
          <a:blip r:embed="rId3">
            <a:alphaModFix/>
          </a:blip>
          <a:srcRect/>
          <a:stretch/>
        </p:blipFill>
        <p:spPr>
          <a:xfrm>
            <a:off x="-221526" y="1174638"/>
            <a:ext cx="12727578" cy="1405309"/>
          </a:xfrm>
          <a:prstGeom prst="rect">
            <a:avLst/>
          </a:prstGeom>
          <a:noFill/>
          <a:ln>
            <a:noFill/>
          </a:ln>
        </p:spPr>
      </p:pic>
      <p:sp>
        <p:nvSpPr>
          <p:cNvPr id="345" name="Google Shape;345;p25"/>
          <p:cNvSpPr/>
          <p:nvPr/>
        </p:nvSpPr>
        <p:spPr>
          <a:xfrm>
            <a:off x="2294860" y="2980364"/>
            <a:ext cx="6677025" cy="276225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25"/>
          <p:cNvSpPr txBox="1"/>
          <p:nvPr/>
        </p:nvSpPr>
        <p:spPr>
          <a:xfrm>
            <a:off x="1099226" y="263880"/>
            <a:ext cx="10301591" cy="990357"/>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Transformando un dataframe</a:t>
            </a:r>
            <a:endParaRPr sz="3200">
              <a:solidFill>
                <a:srgbClr val="7F7F7F"/>
              </a:solidFill>
              <a:latin typeface="Arial"/>
              <a:ea typeface="Arial"/>
              <a:cs typeface="Arial"/>
              <a:sym typeface="Arial"/>
            </a:endParaRPr>
          </a:p>
          <a:p>
            <a:pPr marL="0" marR="0" lvl="0" indent="0" algn="l" rtl="0">
              <a:lnSpc>
                <a:spcPct val="100000"/>
              </a:lnSpc>
              <a:spcBef>
                <a:spcPts val="0"/>
              </a:spcBef>
              <a:spcAft>
                <a:spcPts val="0"/>
              </a:spcAft>
              <a:buNone/>
            </a:pPr>
            <a:endParaRPr sz="18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347" name="Google Shape;347;p25"/>
          <p:cNvPicPr preferRelativeResize="0"/>
          <p:nvPr/>
        </p:nvPicPr>
        <p:blipFill rotWithShape="1">
          <a:blip r:embed="rId4">
            <a:alphaModFix/>
          </a:blip>
          <a:srcRect/>
          <a:stretch/>
        </p:blipFill>
        <p:spPr>
          <a:xfrm>
            <a:off x="2636153" y="3156724"/>
            <a:ext cx="5994437" cy="2409529"/>
          </a:xfrm>
          <a:prstGeom prst="rect">
            <a:avLst/>
          </a:prstGeom>
          <a:noFill/>
          <a:ln>
            <a:noFill/>
          </a:ln>
        </p:spPr>
      </p:pic>
      <p:sp>
        <p:nvSpPr>
          <p:cNvPr id="348" name="Google Shape;348;p25"/>
          <p:cNvSpPr txBox="1"/>
          <p:nvPr/>
        </p:nvSpPr>
        <p:spPr>
          <a:xfrm>
            <a:off x="1099699" y="1255018"/>
            <a:ext cx="10297332" cy="12002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Vamos a realizar una imputación estratificada en la columna Age. Nótese que si se analiza la edad promedio de los pasajeros del Titanic de acuerdo a la clase de pasajero (Pclass), se observa que en promedio los pasajeros que viajaron en clases superiores tenían un promedio de edad mayor. Por tanto, resulta razonable realizar la imputación estratificada.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6"/>
                                        </p:tgtEl>
                                        <p:attrNameLst>
                                          <p:attrName>style.visibility</p:attrName>
                                        </p:attrNameLst>
                                      </p:cBhvr>
                                      <p:to>
                                        <p:strVal val="visible"/>
                                      </p:to>
                                    </p:set>
                                    <p:animEffect transition="in" filter="fade">
                                      <p:cBhvr>
                                        <p:cTn id="7" dur="500"/>
                                        <p:tgtEl>
                                          <p:spTgt spid="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6"/>
          <p:cNvSpPr/>
          <p:nvPr/>
        </p:nvSpPr>
        <p:spPr>
          <a:xfrm>
            <a:off x="622548" y="1371599"/>
            <a:ext cx="5673099" cy="2013627"/>
          </a:xfrm>
          <a:prstGeom prst="roundRect">
            <a:avLst>
              <a:gd name="adj" fmla="val 2971"/>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 name="Google Shape;354;p26"/>
          <p:cNvSpPr/>
          <p:nvPr/>
        </p:nvSpPr>
        <p:spPr>
          <a:xfrm>
            <a:off x="5989864" y="1371599"/>
            <a:ext cx="5248275" cy="464820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 name="Google Shape;355;p26"/>
          <p:cNvSpPr txBox="1"/>
          <p:nvPr/>
        </p:nvSpPr>
        <p:spPr>
          <a:xfrm>
            <a:off x="676883" y="722943"/>
            <a:ext cx="10782300" cy="778213"/>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Transformando un dataframe</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356" name="Google Shape;356;p26"/>
          <p:cNvPicPr preferRelativeResize="0"/>
          <p:nvPr/>
        </p:nvPicPr>
        <p:blipFill rotWithShape="1">
          <a:blip r:embed="rId3">
            <a:alphaModFix/>
          </a:blip>
          <a:srcRect/>
          <a:stretch/>
        </p:blipFill>
        <p:spPr>
          <a:xfrm>
            <a:off x="6260668" y="1494526"/>
            <a:ext cx="4715533" cy="4363059"/>
          </a:xfrm>
          <a:prstGeom prst="rect">
            <a:avLst/>
          </a:prstGeom>
          <a:noFill/>
          <a:ln>
            <a:noFill/>
          </a:ln>
        </p:spPr>
      </p:pic>
      <p:sp>
        <p:nvSpPr>
          <p:cNvPr id="357" name="Google Shape;357;p26"/>
          <p:cNvSpPr txBox="1"/>
          <p:nvPr/>
        </p:nvSpPr>
        <p:spPr>
          <a:xfrm>
            <a:off x="1002863" y="1778247"/>
            <a:ext cx="4912468" cy="120032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dirty="0">
                <a:solidFill>
                  <a:schemeClr val="lt1"/>
                </a:solidFill>
                <a:latin typeface="Calibri"/>
                <a:ea typeface="Calibri"/>
                <a:cs typeface="Calibri"/>
                <a:sym typeface="Calibri"/>
              </a:rPr>
              <a:t>Para realizar la imputación, hemos definido una función que toma dos parámetros de entrada: </a:t>
            </a:r>
            <a:r>
              <a:rPr lang="es-ES" sz="1800" dirty="0" err="1">
                <a:solidFill>
                  <a:schemeClr val="lt1"/>
                </a:solidFill>
                <a:latin typeface="Calibri"/>
                <a:ea typeface="Calibri"/>
                <a:cs typeface="Calibri"/>
                <a:sym typeface="Calibri"/>
              </a:rPr>
              <a:t>pclass</a:t>
            </a:r>
            <a:r>
              <a:rPr lang="es-ES" sz="1800" dirty="0">
                <a:solidFill>
                  <a:schemeClr val="lt1"/>
                </a:solidFill>
                <a:latin typeface="Calibri"/>
                <a:ea typeface="Calibri"/>
                <a:cs typeface="Calibri"/>
                <a:sym typeface="Calibri"/>
              </a:rPr>
              <a:t> y </a:t>
            </a:r>
            <a:r>
              <a:rPr lang="es-ES" sz="1800" dirty="0" err="1">
                <a:solidFill>
                  <a:schemeClr val="lt1"/>
                </a:solidFill>
                <a:latin typeface="Calibri"/>
                <a:ea typeface="Calibri"/>
                <a:cs typeface="Calibri"/>
                <a:sym typeface="Calibri"/>
              </a:rPr>
              <a:t>age</a:t>
            </a:r>
            <a:r>
              <a:rPr lang="es-ES" sz="1800" dirty="0">
                <a:solidFill>
                  <a:schemeClr val="lt1"/>
                </a:solidFill>
                <a:latin typeface="Calibri"/>
                <a:ea typeface="Calibri"/>
                <a:cs typeface="Calibri"/>
                <a:sym typeface="Calibri"/>
              </a:rPr>
              <a:t>. También, se realizan algunos </a:t>
            </a:r>
            <a:r>
              <a:rPr lang="es-ES" sz="1800" dirty="0" err="1">
                <a:solidFill>
                  <a:schemeClr val="lt1"/>
                </a:solidFill>
                <a:latin typeface="Calibri"/>
                <a:ea typeface="Calibri"/>
                <a:cs typeface="Calibri"/>
                <a:sym typeface="Calibri"/>
              </a:rPr>
              <a:t>tests</a:t>
            </a:r>
            <a:r>
              <a:rPr lang="es-ES" sz="1800" dirty="0">
                <a:solidFill>
                  <a:schemeClr val="lt1"/>
                </a:solidFill>
                <a:latin typeface="Calibri"/>
                <a:ea typeface="Calibri"/>
                <a:cs typeface="Calibri"/>
                <a:sym typeface="Calibri"/>
              </a:rPr>
              <a:t> para verificar el correcto funcionamiento.</a:t>
            </a:r>
            <a:endParaRPr sz="1800"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500"/>
                                        <p:tgtEl>
                                          <p:spTgt spid="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pic>
        <p:nvPicPr>
          <p:cNvPr id="362" name="Google Shape;362;p27"/>
          <p:cNvPicPr preferRelativeResize="0"/>
          <p:nvPr/>
        </p:nvPicPr>
        <p:blipFill rotWithShape="1">
          <a:blip r:embed="rId4">
            <a:alphaModFix/>
          </a:blip>
          <a:srcRect/>
          <a:stretch/>
        </p:blipFill>
        <p:spPr>
          <a:xfrm>
            <a:off x="-647921" y="1091165"/>
            <a:ext cx="13881463" cy="1336997"/>
          </a:xfrm>
          <a:prstGeom prst="rect">
            <a:avLst/>
          </a:prstGeom>
          <a:noFill/>
          <a:ln>
            <a:noFill/>
          </a:ln>
        </p:spPr>
      </p:pic>
      <p:sp>
        <p:nvSpPr>
          <p:cNvPr id="363" name="Google Shape;363;p27"/>
          <p:cNvSpPr/>
          <p:nvPr/>
        </p:nvSpPr>
        <p:spPr>
          <a:xfrm>
            <a:off x="915762" y="2718707"/>
            <a:ext cx="10318294" cy="3246326"/>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27"/>
          <p:cNvSpPr txBox="1"/>
          <p:nvPr/>
        </p:nvSpPr>
        <p:spPr>
          <a:xfrm>
            <a:off x="1215957" y="0"/>
            <a:ext cx="10350600" cy="1059694"/>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Transformando un dataframe</a:t>
            </a:r>
            <a:endParaRPr sz="32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pic>
        <p:nvPicPr>
          <p:cNvPr id="365" name="Google Shape;365;p27"/>
          <p:cNvPicPr preferRelativeResize="0"/>
          <p:nvPr/>
        </p:nvPicPr>
        <p:blipFill>
          <a:blip r:embed="rId5"/>
          <a:srcRect/>
          <a:stretch/>
        </p:blipFill>
        <p:spPr>
          <a:xfrm>
            <a:off x="2293628" y="2827283"/>
            <a:ext cx="7277636" cy="3029173"/>
          </a:xfrm>
          <a:prstGeom prst="rect">
            <a:avLst/>
          </a:prstGeom>
          <a:noFill/>
          <a:ln>
            <a:noFill/>
          </a:ln>
        </p:spPr>
      </p:pic>
      <p:sp>
        <p:nvSpPr>
          <p:cNvPr id="366" name="Google Shape;366;p27"/>
          <p:cNvSpPr/>
          <p:nvPr/>
        </p:nvSpPr>
        <p:spPr>
          <a:xfrm>
            <a:off x="910463" y="1252267"/>
            <a:ext cx="10116072" cy="92328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Al utilizar el método </a:t>
            </a:r>
            <a:r>
              <a:rPr lang="es-ES" sz="1800" b="1" dirty="0" err="1">
                <a:solidFill>
                  <a:schemeClr val="lt1"/>
                </a:solidFill>
                <a:latin typeface="Calibri"/>
                <a:ea typeface="Calibri"/>
                <a:cs typeface="Calibri"/>
                <a:sym typeface="Calibri"/>
              </a:rPr>
              <a:t>apply</a:t>
            </a:r>
            <a:r>
              <a:rPr lang="es-ES" sz="1800" b="1" dirty="0">
                <a:solidFill>
                  <a:schemeClr val="lt1"/>
                </a:solidFill>
                <a:latin typeface="Calibri"/>
                <a:ea typeface="Calibri"/>
                <a:cs typeface="Calibri"/>
                <a:sym typeface="Calibri"/>
              </a:rPr>
              <a:t>()</a:t>
            </a:r>
            <a:r>
              <a:rPr lang="es-ES" sz="1800" dirty="0">
                <a:solidFill>
                  <a:schemeClr val="lt1"/>
                </a:solidFill>
                <a:latin typeface="Calibri"/>
                <a:ea typeface="Calibri"/>
                <a:cs typeface="Calibri"/>
                <a:sym typeface="Calibri"/>
              </a:rPr>
              <a:t> en un </a:t>
            </a:r>
            <a:r>
              <a:rPr lang="es-ES" sz="1800" dirty="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se debe especificar si se desea iterar filas o columnas. En este caso, iteraremos filas del </a:t>
            </a:r>
            <a:r>
              <a:rPr lang="es-ES" sz="1800" dirty="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por esto, debemos especificar el parámetro </a:t>
            </a:r>
            <a:r>
              <a:rPr lang="es-ES" sz="1800" b="1" dirty="0">
                <a:solidFill>
                  <a:schemeClr val="lt1"/>
                </a:solidFill>
                <a:latin typeface="Calibri"/>
                <a:ea typeface="Calibri"/>
                <a:cs typeface="Calibri"/>
                <a:sym typeface="Calibri"/>
              </a:rPr>
              <a:t>axis=1</a:t>
            </a:r>
            <a:r>
              <a:rPr lang="es-ES" sz="1800" dirty="0">
                <a:solidFill>
                  <a:schemeClr val="lt1"/>
                </a:solidFill>
                <a:latin typeface="Calibri"/>
                <a:ea typeface="Calibri"/>
                <a:cs typeface="Calibri"/>
                <a:sym typeface="Calibri"/>
              </a:rPr>
              <a:t>. Cada valor de la variable </a:t>
            </a:r>
            <a:r>
              <a:rPr lang="es-ES" sz="1800" dirty="0" err="1">
                <a:solidFill>
                  <a:schemeClr val="lt1"/>
                </a:solidFill>
                <a:latin typeface="Calibri"/>
                <a:ea typeface="Calibri"/>
                <a:cs typeface="Calibri"/>
                <a:sym typeface="Calibri"/>
              </a:rPr>
              <a:t>row</a:t>
            </a:r>
            <a:r>
              <a:rPr lang="es-ES" sz="1800" dirty="0">
                <a:solidFill>
                  <a:schemeClr val="lt1"/>
                </a:solidFill>
                <a:latin typeface="Calibri"/>
                <a:ea typeface="Calibri"/>
                <a:cs typeface="Calibri"/>
                <a:sym typeface="Calibri"/>
              </a:rPr>
              <a:t> corresponde a la serie de datos correspondiente a la columna iterada.</a:t>
            </a:r>
            <a:endParaRPr lang="es-ES" sz="1600"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4"/>
                                        </p:tgtEl>
                                        <p:attrNameLst>
                                          <p:attrName>style.visibility</p:attrName>
                                        </p:attrNameLst>
                                      </p:cBhvr>
                                      <p:to>
                                        <p:strVal val="visible"/>
                                      </p:to>
                                    </p:set>
                                    <p:animEffect transition="in" filter="fade">
                                      <p:cBhvr>
                                        <p:cTn id="7" dur="5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8"/>
          <p:cNvSpPr txBox="1"/>
          <p:nvPr/>
        </p:nvSpPr>
        <p:spPr>
          <a:xfrm>
            <a:off x="844482" y="3348027"/>
            <a:ext cx="836506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600">
                <a:solidFill>
                  <a:srgbClr val="7F7F7F"/>
                </a:solidFill>
                <a:latin typeface="Arial"/>
                <a:ea typeface="Arial"/>
                <a:cs typeface="Arial"/>
                <a:sym typeface="Arial"/>
              </a:rPr>
              <a:t>Expresiones Regulares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1"/>
                                        </p:tgtEl>
                                        <p:attrNameLst>
                                          <p:attrName>style.visibility</p:attrName>
                                        </p:attrNameLst>
                                      </p:cBhvr>
                                      <p:to>
                                        <p:strVal val="visible"/>
                                      </p:to>
                                    </p:set>
                                    <p:animEffect transition="in" filter="fade">
                                      <p:cBhvr>
                                        <p:cTn id="7" dur="1000"/>
                                        <p:tgtEl>
                                          <p:spTgt spid="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5"/>
        <p:cNvGrpSpPr/>
        <p:nvPr/>
      </p:nvGrpSpPr>
      <p:grpSpPr>
        <a:xfrm>
          <a:off x="0" y="0"/>
          <a:ext cx="0" cy="0"/>
          <a:chOff x="0" y="0"/>
          <a:chExt cx="0" cy="0"/>
        </a:xfrm>
      </p:grpSpPr>
      <p:pic>
        <p:nvPicPr>
          <p:cNvPr id="376" name="Google Shape;376;p29"/>
          <p:cNvPicPr preferRelativeResize="0"/>
          <p:nvPr/>
        </p:nvPicPr>
        <p:blipFill rotWithShape="1">
          <a:blip r:embed="rId4">
            <a:alphaModFix/>
          </a:blip>
          <a:srcRect/>
          <a:stretch/>
        </p:blipFill>
        <p:spPr>
          <a:xfrm>
            <a:off x="-604378" y="1133615"/>
            <a:ext cx="13881463" cy="1139142"/>
          </a:xfrm>
          <a:prstGeom prst="rect">
            <a:avLst/>
          </a:prstGeom>
          <a:noFill/>
          <a:ln>
            <a:noFill/>
          </a:ln>
        </p:spPr>
      </p:pic>
      <p:sp>
        <p:nvSpPr>
          <p:cNvPr id="377" name="Google Shape;377;p29"/>
          <p:cNvSpPr/>
          <p:nvPr/>
        </p:nvSpPr>
        <p:spPr>
          <a:xfrm>
            <a:off x="1160732" y="2708863"/>
            <a:ext cx="9896475" cy="26670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8" name="Google Shape;378;p29"/>
          <p:cNvSpPr txBox="1"/>
          <p:nvPr/>
        </p:nvSpPr>
        <p:spPr>
          <a:xfrm>
            <a:off x="1075312" y="111443"/>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Expresiones Regulares</a:t>
            </a:r>
            <a:endParaRPr sz="3200">
              <a:solidFill>
                <a:srgbClr val="7F7F7F"/>
              </a:solidFill>
              <a:latin typeface="Arial"/>
              <a:ea typeface="Arial"/>
              <a:cs typeface="Arial"/>
              <a:sym typeface="Arial"/>
            </a:endParaRPr>
          </a:p>
        </p:txBody>
      </p:sp>
      <p:sp>
        <p:nvSpPr>
          <p:cNvPr id="379" name="Google Shape;379;p29"/>
          <p:cNvSpPr/>
          <p:nvPr/>
        </p:nvSpPr>
        <p:spPr>
          <a:xfrm>
            <a:off x="6564959" y="3177979"/>
            <a:ext cx="3954671" cy="129266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7F7F7F"/>
                </a:solidFill>
                <a:latin typeface="Calibri"/>
                <a:ea typeface="Calibri"/>
                <a:cs typeface="Calibri"/>
                <a:sym typeface="Calibri"/>
              </a:rPr>
              <a:t>Supongamos que necesitamos verificar que los valores de la columna Name cumplen con el siguiente formato:</a:t>
            </a:r>
            <a:endParaRPr/>
          </a:p>
          <a:p>
            <a:pPr marL="0" marR="0" lvl="0" indent="0" algn="ctr" rtl="0">
              <a:spcBef>
                <a:spcPts val="0"/>
              </a:spcBef>
              <a:spcAft>
                <a:spcPts val="0"/>
              </a:spcAft>
              <a:buNone/>
            </a:pPr>
            <a:endParaRPr sz="1600">
              <a:solidFill>
                <a:schemeClr val="dk1"/>
              </a:solidFill>
              <a:latin typeface="Arial"/>
              <a:ea typeface="Arial"/>
              <a:cs typeface="Arial"/>
              <a:sym typeface="Arial"/>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380" name="Google Shape;380;p29"/>
          <p:cNvPicPr preferRelativeResize="0"/>
          <p:nvPr/>
        </p:nvPicPr>
        <p:blipFill rotWithShape="1">
          <a:blip r:embed="rId5">
            <a:alphaModFix/>
          </a:blip>
          <a:srcRect/>
          <a:stretch/>
        </p:blipFill>
        <p:spPr>
          <a:xfrm>
            <a:off x="6090604" y="3269910"/>
            <a:ext cx="404992" cy="404992"/>
          </a:xfrm>
          <a:prstGeom prst="rect">
            <a:avLst/>
          </a:prstGeom>
          <a:noFill/>
          <a:ln>
            <a:noFill/>
          </a:ln>
        </p:spPr>
      </p:pic>
      <p:sp>
        <p:nvSpPr>
          <p:cNvPr id="381" name="Google Shape;381;p29"/>
          <p:cNvSpPr txBox="1"/>
          <p:nvPr/>
        </p:nvSpPr>
        <p:spPr>
          <a:xfrm>
            <a:off x="6663447" y="4085878"/>
            <a:ext cx="3856183"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b="1">
                <a:solidFill>
                  <a:srgbClr val="7F7F7F"/>
                </a:solidFill>
                <a:latin typeface="Arial"/>
                <a:ea typeface="Arial"/>
                <a:cs typeface="Arial"/>
                <a:sym typeface="Arial"/>
              </a:rPr>
              <a:t>Braund, Mr. Owen Harris</a:t>
            </a:r>
            <a:endParaRPr/>
          </a:p>
          <a:p>
            <a:pPr marL="0" marR="0" lvl="0" indent="0" algn="ctr" rtl="0">
              <a:spcBef>
                <a:spcPts val="0"/>
              </a:spcBef>
              <a:spcAft>
                <a:spcPts val="0"/>
              </a:spcAft>
              <a:buNone/>
            </a:pPr>
            <a:r>
              <a:rPr lang="es-ES" sz="1400">
                <a:solidFill>
                  <a:srgbClr val="7F7F7F"/>
                </a:solidFill>
                <a:latin typeface="Arial"/>
                <a:ea typeface="Arial"/>
                <a:cs typeface="Arial"/>
                <a:sym typeface="Arial"/>
              </a:rPr>
              <a:t>LastName,       Title.   Name      MiddleName</a:t>
            </a:r>
            <a:endParaRPr sz="1400">
              <a:solidFill>
                <a:srgbClr val="7F7F7F"/>
              </a:solidFill>
              <a:latin typeface="Arial"/>
              <a:ea typeface="Arial"/>
              <a:cs typeface="Arial"/>
              <a:sym typeface="Arial"/>
            </a:endParaRPr>
          </a:p>
        </p:txBody>
      </p:sp>
      <p:pic>
        <p:nvPicPr>
          <p:cNvPr id="382" name="Google Shape;382;p29"/>
          <p:cNvPicPr preferRelativeResize="0"/>
          <p:nvPr/>
        </p:nvPicPr>
        <p:blipFill rotWithShape="1">
          <a:blip r:embed="rId6">
            <a:alphaModFix/>
          </a:blip>
          <a:srcRect t="15316"/>
          <a:stretch/>
        </p:blipFill>
        <p:spPr>
          <a:xfrm>
            <a:off x="1411263" y="2935850"/>
            <a:ext cx="4511491" cy="2272872"/>
          </a:xfrm>
          <a:prstGeom prst="rect">
            <a:avLst/>
          </a:prstGeom>
          <a:noFill/>
          <a:ln>
            <a:noFill/>
          </a:ln>
        </p:spPr>
      </p:pic>
      <p:sp>
        <p:nvSpPr>
          <p:cNvPr id="383" name="Google Shape;383;p29"/>
          <p:cNvSpPr txBox="1"/>
          <p:nvPr/>
        </p:nvSpPr>
        <p:spPr>
          <a:xfrm>
            <a:off x="1073645" y="1247794"/>
            <a:ext cx="9896475" cy="92328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Hay oportunidades en que es necesario aplicar patrones de búsqueda para la limpieza o transformación de datos. Por ejemplo, para verificar que una columna cumple con el formato adecuado, o bien, para la creación de nuevas columnas.</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8"/>
                                        </p:tgtEl>
                                        <p:attrNameLst>
                                          <p:attrName>style.visibility</p:attrName>
                                        </p:attrNameLst>
                                      </p:cBhvr>
                                      <p:to>
                                        <p:strVal val="visible"/>
                                      </p:to>
                                    </p:set>
                                    <p:animEffect transition="in" filter="fade">
                                      <p:cBhvr>
                                        <p:cTn id="7" dur="1000"/>
                                        <p:tgtEl>
                                          <p:spTgt spid="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30"/>
          <p:cNvPicPr preferRelativeResize="0"/>
          <p:nvPr/>
        </p:nvPicPr>
        <p:blipFill rotWithShape="1">
          <a:blip r:embed="rId3">
            <a:alphaModFix/>
          </a:blip>
          <a:srcRect/>
          <a:stretch/>
        </p:blipFill>
        <p:spPr>
          <a:xfrm>
            <a:off x="-593335" y="1166745"/>
            <a:ext cx="13174681" cy="1106012"/>
          </a:xfrm>
          <a:prstGeom prst="rect">
            <a:avLst/>
          </a:prstGeom>
          <a:noFill/>
          <a:ln>
            <a:noFill/>
          </a:ln>
        </p:spPr>
      </p:pic>
      <p:sp>
        <p:nvSpPr>
          <p:cNvPr id="389" name="Google Shape;389;p30"/>
          <p:cNvSpPr txBox="1">
            <a:spLocks noGrp="1"/>
          </p:cNvSpPr>
          <p:nvPr>
            <p:ph type="title"/>
          </p:nvPr>
        </p:nvSpPr>
        <p:spPr>
          <a:xfrm>
            <a:off x="963038" y="355399"/>
            <a:ext cx="10515600" cy="82164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br>
              <a:rPr lang="es-ES">
                <a:solidFill>
                  <a:srgbClr val="7F7F7F"/>
                </a:solidFill>
                <a:latin typeface="Arial"/>
                <a:ea typeface="Arial"/>
                <a:cs typeface="Arial"/>
                <a:sym typeface="Arial"/>
              </a:rPr>
            </a:br>
            <a:r>
              <a:rPr lang="es-ES" sz="3600">
                <a:solidFill>
                  <a:srgbClr val="7F7F7F"/>
                </a:solidFill>
                <a:latin typeface="Arial"/>
                <a:ea typeface="Arial"/>
                <a:cs typeface="Arial"/>
                <a:sym typeface="Arial"/>
              </a:rPr>
              <a:t>Expresiones Regulares</a:t>
            </a:r>
            <a:br>
              <a:rPr lang="es-ES">
                <a:solidFill>
                  <a:srgbClr val="7F7F7F"/>
                </a:solidFill>
                <a:latin typeface="Arial"/>
                <a:ea typeface="Arial"/>
                <a:cs typeface="Arial"/>
                <a:sym typeface="Arial"/>
              </a:rPr>
            </a:br>
            <a:endParaRPr/>
          </a:p>
        </p:txBody>
      </p:sp>
      <p:sp>
        <p:nvSpPr>
          <p:cNvPr id="390" name="Google Shape;390;p30"/>
          <p:cNvSpPr txBox="1"/>
          <p:nvPr/>
        </p:nvSpPr>
        <p:spPr>
          <a:xfrm>
            <a:off x="963038" y="1400783"/>
            <a:ext cx="10826885"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Una Expresión Regular es una secuencia de caracteres que definen un patrón de búsqueda. En este caso, utilizaremos una expresión regular para verificar si una cadena de caracteres respeta el patrón definido. </a:t>
            </a:r>
            <a:endParaRPr sz="1800">
              <a:solidFill>
                <a:schemeClr val="lt1"/>
              </a:solidFill>
              <a:latin typeface="Calibri"/>
              <a:ea typeface="Calibri"/>
              <a:cs typeface="Calibri"/>
              <a:sym typeface="Calibri"/>
            </a:endParaRPr>
          </a:p>
        </p:txBody>
      </p:sp>
      <p:sp>
        <p:nvSpPr>
          <p:cNvPr id="391" name="Google Shape;391;p30"/>
          <p:cNvSpPr/>
          <p:nvPr/>
        </p:nvSpPr>
        <p:spPr>
          <a:xfrm>
            <a:off x="584123" y="2568748"/>
            <a:ext cx="11202596" cy="322344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92" name="Google Shape;392;p30"/>
          <p:cNvPicPr preferRelativeResize="0"/>
          <p:nvPr/>
        </p:nvPicPr>
        <p:blipFill rotWithShape="1">
          <a:blip r:embed="rId4">
            <a:alphaModFix/>
          </a:blip>
          <a:srcRect/>
          <a:stretch/>
        </p:blipFill>
        <p:spPr>
          <a:xfrm>
            <a:off x="981662" y="3152964"/>
            <a:ext cx="5753903" cy="1962424"/>
          </a:xfrm>
          <a:prstGeom prst="rect">
            <a:avLst/>
          </a:prstGeom>
          <a:noFill/>
          <a:ln>
            <a:noFill/>
          </a:ln>
        </p:spPr>
      </p:pic>
      <p:cxnSp>
        <p:nvCxnSpPr>
          <p:cNvPr id="393" name="Google Shape;393;p30"/>
          <p:cNvCxnSpPr/>
          <p:nvPr/>
        </p:nvCxnSpPr>
        <p:spPr>
          <a:xfrm flipH="1">
            <a:off x="1499561" y="2971765"/>
            <a:ext cx="564800" cy="348136"/>
          </a:xfrm>
          <a:prstGeom prst="straightConnector1">
            <a:avLst/>
          </a:prstGeom>
          <a:noFill/>
          <a:ln w="12700" cap="flat" cmpd="sng">
            <a:solidFill>
              <a:srgbClr val="7F7F7F"/>
            </a:solidFill>
            <a:prstDash val="solid"/>
            <a:miter lim="800000"/>
            <a:headEnd type="none" w="sm" len="sm"/>
            <a:tailEnd type="triangle" w="med" len="med"/>
          </a:ln>
        </p:spPr>
      </p:cxnSp>
      <p:sp>
        <p:nvSpPr>
          <p:cNvPr id="394" name="Google Shape;394;p30"/>
          <p:cNvSpPr txBox="1"/>
          <p:nvPr/>
        </p:nvSpPr>
        <p:spPr>
          <a:xfrm>
            <a:off x="2155478" y="2663988"/>
            <a:ext cx="189285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7F7F7F"/>
                </a:solidFill>
                <a:latin typeface="Arial"/>
                <a:ea typeface="Arial"/>
                <a:cs typeface="Arial"/>
                <a:sym typeface="Arial"/>
              </a:rPr>
              <a:t>Importamos la librería</a:t>
            </a:r>
            <a:endParaRPr/>
          </a:p>
        </p:txBody>
      </p:sp>
      <p:cxnSp>
        <p:nvCxnSpPr>
          <p:cNvPr id="395" name="Google Shape;395;p30"/>
          <p:cNvCxnSpPr/>
          <p:nvPr/>
        </p:nvCxnSpPr>
        <p:spPr>
          <a:xfrm flipH="1">
            <a:off x="4441418" y="3094953"/>
            <a:ext cx="1130231" cy="696097"/>
          </a:xfrm>
          <a:prstGeom prst="straightConnector1">
            <a:avLst/>
          </a:prstGeom>
          <a:noFill/>
          <a:ln w="12700" cap="flat" cmpd="sng">
            <a:solidFill>
              <a:srgbClr val="7F7F7F"/>
            </a:solidFill>
            <a:prstDash val="solid"/>
            <a:miter lim="800000"/>
            <a:headEnd type="none" w="sm" len="sm"/>
            <a:tailEnd type="triangle" w="med" len="med"/>
          </a:ln>
        </p:spPr>
      </p:cxnSp>
      <p:sp>
        <p:nvSpPr>
          <p:cNvPr id="396" name="Google Shape;396;p30"/>
          <p:cNvSpPr txBox="1"/>
          <p:nvPr/>
        </p:nvSpPr>
        <p:spPr>
          <a:xfrm>
            <a:off x="5006184" y="2741470"/>
            <a:ext cx="189285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7F7F7F"/>
                </a:solidFill>
                <a:latin typeface="Arial"/>
                <a:ea typeface="Arial"/>
                <a:cs typeface="Arial"/>
                <a:sym typeface="Arial"/>
              </a:rPr>
              <a:t>Definimos el patrón</a:t>
            </a:r>
            <a:endParaRPr/>
          </a:p>
        </p:txBody>
      </p:sp>
      <p:cxnSp>
        <p:nvCxnSpPr>
          <p:cNvPr id="397" name="Google Shape;397;p30"/>
          <p:cNvCxnSpPr/>
          <p:nvPr/>
        </p:nvCxnSpPr>
        <p:spPr>
          <a:xfrm rot="10800000">
            <a:off x="2278342" y="4750844"/>
            <a:ext cx="942536" cy="364544"/>
          </a:xfrm>
          <a:prstGeom prst="straightConnector1">
            <a:avLst/>
          </a:prstGeom>
          <a:noFill/>
          <a:ln w="12700" cap="flat" cmpd="sng">
            <a:solidFill>
              <a:srgbClr val="7F7F7F"/>
            </a:solidFill>
            <a:prstDash val="solid"/>
            <a:miter lim="800000"/>
            <a:headEnd type="none" w="sm" len="sm"/>
            <a:tailEnd type="triangle" w="med" len="med"/>
          </a:ln>
        </p:spPr>
      </p:cxnSp>
      <p:sp>
        <p:nvSpPr>
          <p:cNvPr id="398" name="Google Shape;398;p30"/>
          <p:cNvSpPr txBox="1"/>
          <p:nvPr/>
        </p:nvSpPr>
        <p:spPr>
          <a:xfrm>
            <a:off x="2565983" y="5148949"/>
            <a:ext cx="189285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1">
                <a:solidFill>
                  <a:srgbClr val="7F7F7F"/>
                </a:solidFill>
                <a:latin typeface="Arial"/>
                <a:ea typeface="Arial"/>
                <a:cs typeface="Arial"/>
                <a:sym typeface="Arial"/>
              </a:rPr>
              <a:t>Utilizamos el patrón</a:t>
            </a:r>
            <a:endParaRPr/>
          </a:p>
        </p:txBody>
      </p:sp>
      <p:sp>
        <p:nvSpPr>
          <p:cNvPr id="399" name="Google Shape;399;p30"/>
          <p:cNvSpPr txBox="1"/>
          <p:nvPr/>
        </p:nvSpPr>
        <p:spPr>
          <a:xfrm>
            <a:off x="7062050" y="4183177"/>
            <a:ext cx="4432108" cy="523180"/>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a:solidFill>
                  <a:srgbClr val="7F7F7F"/>
                </a:solidFill>
                <a:latin typeface="Calibri"/>
                <a:ea typeface="Calibri"/>
                <a:cs typeface="Calibri"/>
                <a:sym typeface="Calibri"/>
              </a:rPr>
              <a:t>   https://regexone.com/</a:t>
            </a:r>
            <a:endParaRPr sz="1200"/>
          </a:p>
          <a:p>
            <a:pPr marL="0" marR="0" lvl="0" indent="0" algn="l" rtl="0">
              <a:spcBef>
                <a:spcPts val="0"/>
              </a:spcBef>
              <a:spcAft>
                <a:spcPts val="0"/>
              </a:spcAft>
              <a:buNone/>
            </a:pPr>
            <a:r>
              <a:rPr lang="es-ES">
                <a:solidFill>
                  <a:srgbClr val="7F7F7F"/>
                </a:solidFill>
                <a:latin typeface="Calibri"/>
                <a:ea typeface="Calibri"/>
                <a:cs typeface="Calibri"/>
                <a:sym typeface="Calibri"/>
              </a:rPr>
              <a:t>   https://www.w3schools.com/python/python_regex.asp</a:t>
            </a:r>
            <a:endParaRPr sz="1200"/>
          </a:p>
        </p:txBody>
      </p:sp>
      <p:sp>
        <p:nvSpPr>
          <p:cNvPr id="401" name="Google Shape;401;p30"/>
          <p:cNvSpPr txBox="1"/>
          <p:nvPr/>
        </p:nvSpPr>
        <p:spPr>
          <a:xfrm>
            <a:off x="7064320" y="3385703"/>
            <a:ext cx="4417097" cy="7386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dirty="0">
                <a:solidFill>
                  <a:schemeClr val="tx1">
                    <a:lumMod val="65000"/>
                    <a:lumOff val="35000"/>
                  </a:schemeClr>
                </a:solidFill>
                <a:latin typeface="Calibri"/>
                <a:ea typeface="Calibri"/>
                <a:cs typeface="Calibri"/>
                <a:sym typeface="Calibri"/>
              </a:rPr>
              <a:t>En este curso, no abordaremos en profundidad la creación de expresiones regulares, pero se recomienda revisar algunos tutoriales. Puede comenzar por estos links: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1000"/>
                                        <p:tgtEl>
                                          <p:spTgt spid="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5"/>
        <p:cNvGrpSpPr/>
        <p:nvPr/>
      </p:nvGrpSpPr>
      <p:grpSpPr>
        <a:xfrm>
          <a:off x="0" y="0"/>
          <a:ext cx="0" cy="0"/>
          <a:chOff x="0" y="0"/>
          <a:chExt cx="0" cy="0"/>
        </a:xfrm>
      </p:grpSpPr>
      <p:pic>
        <p:nvPicPr>
          <p:cNvPr id="406" name="Google Shape;406;p31"/>
          <p:cNvPicPr preferRelativeResize="0"/>
          <p:nvPr/>
        </p:nvPicPr>
        <p:blipFill rotWithShape="1">
          <a:blip r:embed="rId4">
            <a:alphaModFix/>
          </a:blip>
          <a:srcRect/>
          <a:stretch/>
        </p:blipFill>
        <p:spPr>
          <a:xfrm>
            <a:off x="776415" y="2390271"/>
            <a:ext cx="5703188" cy="2449456"/>
          </a:xfrm>
          <a:prstGeom prst="rect">
            <a:avLst/>
          </a:prstGeom>
          <a:noFill/>
          <a:ln>
            <a:noFill/>
          </a:ln>
        </p:spPr>
      </p:pic>
      <p:sp>
        <p:nvSpPr>
          <p:cNvPr id="407" name="Google Shape;407;p31"/>
          <p:cNvSpPr/>
          <p:nvPr/>
        </p:nvSpPr>
        <p:spPr>
          <a:xfrm>
            <a:off x="4968275" y="1834769"/>
            <a:ext cx="6638721" cy="359846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8" name="Google Shape;408;p31"/>
          <p:cNvSpPr txBox="1"/>
          <p:nvPr/>
        </p:nvSpPr>
        <p:spPr>
          <a:xfrm>
            <a:off x="734612" y="51150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Expresiones Regulares</a:t>
            </a:r>
            <a:endParaRPr sz="3200">
              <a:solidFill>
                <a:srgbClr val="7F7F7F"/>
              </a:solidFill>
              <a:latin typeface="Arial"/>
              <a:ea typeface="Arial"/>
              <a:cs typeface="Arial"/>
              <a:sym typeface="Arial"/>
            </a:endParaRPr>
          </a:p>
        </p:txBody>
      </p:sp>
      <p:pic>
        <p:nvPicPr>
          <p:cNvPr id="409" name="Google Shape;409;p31"/>
          <p:cNvPicPr preferRelativeResize="0"/>
          <p:nvPr/>
        </p:nvPicPr>
        <p:blipFill rotWithShape="1">
          <a:blip r:embed="rId5">
            <a:alphaModFix/>
          </a:blip>
          <a:srcRect t="36428"/>
          <a:stretch/>
        </p:blipFill>
        <p:spPr>
          <a:xfrm>
            <a:off x="5132275" y="2121285"/>
            <a:ext cx="6310720" cy="3025437"/>
          </a:xfrm>
          <a:prstGeom prst="rect">
            <a:avLst/>
          </a:prstGeom>
          <a:noFill/>
          <a:ln>
            <a:noFill/>
          </a:ln>
        </p:spPr>
      </p:pic>
      <p:sp>
        <p:nvSpPr>
          <p:cNvPr id="410" name="Google Shape;410;p31"/>
          <p:cNvSpPr txBox="1"/>
          <p:nvPr/>
        </p:nvSpPr>
        <p:spPr>
          <a:xfrm>
            <a:off x="1121781" y="2596126"/>
            <a:ext cx="3658295" cy="203128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Ahora, mediante el método apply(), vamos a aplicar el patrón a todos los elementos de la serie de datos correspondiente a la columna Name. Note que en el resultado se aprecia que hubo algunos registros que no hicieron match.</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5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4"/>
        <p:cNvGrpSpPr/>
        <p:nvPr/>
      </p:nvGrpSpPr>
      <p:grpSpPr>
        <a:xfrm>
          <a:off x="0" y="0"/>
          <a:ext cx="0" cy="0"/>
          <a:chOff x="0" y="0"/>
          <a:chExt cx="0" cy="0"/>
        </a:xfrm>
      </p:grpSpPr>
      <p:pic>
        <p:nvPicPr>
          <p:cNvPr id="415" name="Google Shape;415;p32"/>
          <p:cNvPicPr preferRelativeResize="0"/>
          <p:nvPr/>
        </p:nvPicPr>
        <p:blipFill rotWithShape="1">
          <a:blip r:embed="rId4">
            <a:alphaModFix/>
          </a:blip>
          <a:srcRect/>
          <a:stretch/>
        </p:blipFill>
        <p:spPr>
          <a:xfrm>
            <a:off x="-223736" y="1101240"/>
            <a:ext cx="12752962" cy="1013398"/>
          </a:xfrm>
          <a:prstGeom prst="rect">
            <a:avLst/>
          </a:prstGeom>
          <a:noFill/>
          <a:ln>
            <a:noFill/>
          </a:ln>
        </p:spPr>
      </p:pic>
      <p:sp>
        <p:nvSpPr>
          <p:cNvPr id="416" name="Google Shape;416;p32"/>
          <p:cNvSpPr/>
          <p:nvPr/>
        </p:nvSpPr>
        <p:spPr>
          <a:xfrm>
            <a:off x="1731507" y="2476616"/>
            <a:ext cx="8376555" cy="364399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7" name="Google Shape;417;p32"/>
          <p:cNvSpPr txBox="1"/>
          <p:nvPr/>
        </p:nvSpPr>
        <p:spPr>
          <a:xfrm>
            <a:off x="1732029" y="124628"/>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Expresiones Regulares</a:t>
            </a:r>
            <a:endParaRPr sz="3200">
              <a:solidFill>
                <a:srgbClr val="7F7F7F"/>
              </a:solidFill>
              <a:latin typeface="Arial"/>
              <a:ea typeface="Arial"/>
              <a:cs typeface="Arial"/>
              <a:sym typeface="Arial"/>
            </a:endParaRPr>
          </a:p>
        </p:txBody>
      </p:sp>
      <p:pic>
        <p:nvPicPr>
          <p:cNvPr id="418" name="Google Shape;418;p32"/>
          <p:cNvPicPr preferRelativeResize="0"/>
          <p:nvPr/>
        </p:nvPicPr>
        <p:blipFill rotWithShape="1">
          <a:blip r:embed="rId5">
            <a:alphaModFix/>
          </a:blip>
          <a:srcRect/>
          <a:stretch/>
        </p:blipFill>
        <p:spPr>
          <a:xfrm>
            <a:off x="2751806" y="2734071"/>
            <a:ext cx="6689860" cy="3107312"/>
          </a:xfrm>
          <a:prstGeom prst="rect">
            <a:avLst/>
          </a:prstGeom>
          <a:noFill/>
          <a:ln>
            <a:noFill/>
          </a:ln>
        </p:spPr>
      </p:pic>
      <p:sp>
        <p:nvSpPr>
          <p:cNvPr id="419" name="Google Shape;419;p32"/>
          <p:cNvSpPr txBox="1"/>
          <p:nvPr/>
        </p:nvSpPr>
        <p:spPr>
          <a:xfrm>
            <a:off x="1732029" y="1164139"/>
            <a:ext cx="8375515" cy="9233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Exploremos, entonces, cuáles fueron los registros donde la expresión regular no hizo match. Como se puede apreciar, estos registros no hicieron match debido a que no poseen un </a:t>
            </a:r>
            <a:r>
              <a:rPr lang="es-ES" sz="1800" b="1">
                <a:solidFill>
                  <a:schemeClr val="lt1"/>
                </a:solidFill>
                <a:latin typeface="Calibri"/>
                <a:ea typeface="Calibri"/>
                <a:cs typeface="Calibri"/>
                <a:sym typeface="Calibri"/>
              </a:rPr>
              <a:t>middle name</a:t>
            </a:r>
            <a:r>
              <a:rPr lang="es-ES" sz="1800">
                <a:solidFill>
                  <a:schemeClr val="lt1"/>
                </a:solidFill>
                <a:latin typeface="Calibri"/>
                <a:ea typeface="Calibri"/>
                <a:cs typeface="Calibri"/>
                <a:sym typeface="Calibri"/>
              </a:rPr>
              <a:t>.</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7"/>
                                        </p:tgtEl>
                                        <p:attrNameLst>
                                          <p:attrName>style.visibility</p:attrName>
                                        </p:attrNameLst>
                                      </p:cBhvr>
                                      <p:to>
                                        <p:strVal val="visible"/>
                                      </p:to>
                                    </p:set>
                                    <p:animEffect transition="in" filter="fade">
                                      <p:cBhvr>
                                        <p:cTn id="7" dur="500"/>
                                        <p:tgtEl>
                                          <p:spTgt spid="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3"/>
          <p:cNvSpPr txBox="1">
            <a:spLocks noGrp="1"/>
          </p:cNvSpPr>
          <p:nvPr>
            <p:ph type="title"/>
          </p:nvPr>
        </p:nvSpPr>
        <p:spPr>
          <a:xfrm>
            <a:off x="544547" y="278899"/>
            <a:ext cx="10515600" cy="666007"/>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b="0" i="0" u="none" strike="noStrike" cap="none">
                <a:solidFill>
                  <a:srgbClr val="7F7F7F"/>
                </a:solidFill>
                <a:latin typeface="Arial"/>
                <a:ea typeface="Arial"/>
                <a:cs typeface="Arial"/>
                <a:sym typeface="Arial"/>
              </a:rPr>
              <a:t>Expresiones Regulares</a:t>
            </a:r>
            <a:endParaRPr sz="3200" b="0" i="0" u="none" strike="noStrike" cap="none">
              <a:solidFill>
                <a:srgbClr val="7F7F7F"/>
              </a:solidFill>
              <a:latin typeface="Arial"/>
              <a:ea typeface="Arial"/>
              <a:cs typeface="Arial"/>
              <a:sym typeface="Arial"/>
            </a:endParaRPr>
          </a:p>
        </p:txBody>
      </p:sp>
      <p:pic>
        <p:nvPicPr>
          <p:cNvPr id="425" name="Google Shape;425;p33"/>
          <p:cNvPicPr preferRelativeResize="0"/>
          <p:nvPr/>
        </p:nvPicPr>
        <p:blipFill rotWithShape="1">
          <a:blip r:embed="rId3">
            <a:alphaModFix/>
          </a:blip>
          <a:srcRect/>
          <a:stretch/>
        </p:blipFill>
        <p:spPr>
          <a:xfrm>
            <a:off x="-224663" y="1358928"/>
            <a:ext cx="3761362" cy="4432371"/>
          </a:xfrm>
          <a:prstGeom prst="rect">
            <a:avLst/>
          </a:prstGeom>
          <a:noFill/>
          <a:ln>
            <a:noFill/>
          </a:ln>
        </p:spPr>
      </p:pic>
      <p:sp>
        <p:nvSpPr>
          <p:cNvPr id="426" name="Google Shape;426;p33"/>
          <p:cNvSpPr txBox="1"/>
          <p:nvPr/>
        </p:nvSpPr>
        <p:spPr>
          <a:xfrm>
            <a:off x="548335" y="1828750"/>
            <a:ext cx="2731589" cy="3416279"/>
          </a:xfrm>
          <a:prstGeom prst="rect">
            <a:avLst/>
          </a:prstGeom>
          <a:noFill/>
          <a:ln>
            <a:noFill/>
          </a:ln>
        </p:spPr>
        <p:txBody>
          <a:bodyPr spcFirstLastPara="1" wrap="square" lIns="91425" tIns="45700" rIns="91425" bIns="45700" anchor="t" anchorCtr="0">
            <a:spAutoFit/>
          </a:bodyPr>
          <a:lstStyle/>
          <a:p>
            <a:pPr algn="just"/>
            <a:r>
              <a:rPr lang="es-ES" sz="1800" dirty="0">
                <a:solidFill>
                  <a:schemeClr val="lt1"/>
                </a:solidFill>
                <a:latin typeface="Arial"/>
                <a:ea typeface="Arial"/>
                <a:cs typeface="Arial"/>
                <a:sym typeface="Arial"/>
              </a:rPr>
              <a:t>Podemos mejorar la expresión regular para que acepte como válidos los nombres que no presentan un </a:t>
            </a:r>
            <a:r>
              <a:rPr lang="es-ES" sz="1800" err="1">
                <a:solidFill>
                  <a:schemeClr val="lt1"/>
                </a:solidFill>
                <a:latin typeface="Arial"/>
                <a:ea typeface="Arial"/>
                <a:cs typeface="Arial"/>
                <a:sym typeface="Arial"/>
              </a:rPr>
              <a:t>Middle</a:t>
            </a:r>
            <a:r>
              <a:rPr lang="es-ES" sz="1800" dirty="0">
                <a:solidFill>
                  <a:schemeClr val="lt1"/>
                </a:solidFill>
                <a:latin typeface="Arial"/>
                <a:ea typeface="Arial"/>
                <a:cs typeface="Arial"/>
                <a:sym typeface="Arial"/>
              </a:rPr>
              <a:t> </a:t>
            </a:r>
            <a:r>
              <a:rPr lang="es-ES" sz="1800" err="1">
                <a:solidFill>
                  <a:schemeClr val="lt1"/>
                </a:solidFill>
                <a:latin typeface="Arial"/>
                <a:ea typeface="Arial"/>
                <a:cs typeface="Arial"/>
                <a:sym typeface="Arial"/>
              </a:rPr>
              <a:t>Name</a:t>
            </a:r>
            <a:r>
              <a:rPr lang="es-ES" sz="1800" dirty="0">
                <a:solidFill>
                  <a:schemeClr val="lt1"/>
                </a:solidFill>
                <a:latin typeface="Arial"/>
                <a:ea typeface="Arial"/>
                <a:cs typeface="Arial"/>
                <a:sym typeface="Arial"/>
              </a:rPr>
              <a:t>. Se recomienda probar los patrones con un </a:t>
            </a:r>
            <a:r>
              <a:rPr lang="es-ES" sz="1800" err="1">
                <a:solidFill>
                  <a:schemeClr val="lt1"/>
                </a:solidFill>
                <a:latin typeface="Arial"/>
                <a:ea typeface="Arial"/>
                <a:cs typeface="Arial"/>
                <a:sym typeface="Arial"/>
              </a:rPr>
              <a:t>testeador</a:t>
            </a:r>
            <a:r>
              <a:rPr lang="es-ES" sz="1800" dirty="0">
                <a:solidFill>
                  <a:schemeClr val="lt1"/>
                </a:solidFill>
                <a:latin typeface="Arial"/>
                <a:ea typeface="Arial"/>
                <a:cs typeface="Arial"/>
                <a:sym typeface="Arial"/>
              </a:rPr>
              <a:t> de expresiones regulares, tal como:</a:t>
            </a:r>
            <a:r>
              <a:rPr lang="es-ES" sz="1800" dirty="0">
                <a:solidFill>
                  <a:schemeClr val="lt1"/>
                </a:solidFill>
              </a:rPr>
              <a:t> </a:t>
            </a:r>
          </a:p>
          <a:p>
            <a:pPr algn="just"/>
            <a:endParaRPr lang="es-ES" sz="1800" dirty="0">
              <a:solidFill>
                <a:schemeClr val="lt1"/>
              </a:solidFill>
            </a:endParaRPr>
          </a:p>
          <a:p>
            <a:pPr marL="0" marR="0" lvl="0" indent="0" algn="just">
              <a:lnSpc>
                <a:spcPct val="100000"/>
              </a:lnSpc>
              <a:spcBef>
                <a:spcPts val="0"/>
              </a:spcBef>
              <a:spcAft>
                <a:spcPts val="0"/>
              </a:spcAft>
              <a:buNone/>
            </a:pPr>
            <a:r>
              <a:rPr lang="es-ES" sz="1800" dirty="0">
                <a:solidFill>
                  <a:schemeClr val="lt1"/>
                </a:solidFill>
              </a:rPr>
              <a:t>http://regex101</a:t>
            </a:r>
            <a:r>
              <a:rPr lang="es-ES" sz="1800" dirty="0">
                <a:solidFill>
                  <a:schemeClr val="lt1"/>
                </a:solidFill>
                <a:latin typeface="Arial"/>
                <a:ea typeface="Arial"/>
                <a:cs typeface="Arial"/>
                <a:sym typeface="Arial"/>
              </a:rPr>
              <a:t>.com</a:t>
            </a:r>
            <a:endParaRPr sz="1800" dirty="0">
              <a:solidFill>
                <a:schemeClr val="lt1"/>
              </a:solidFill>
              <a:latin typeface="Arial"/>
              <a:ea typeface="Arial"/>
              <a:cs typeface="Arial"/>
            </a:endParaRPr>
          </a:p>
        </p:txBody>
      </p:sp>
      <p:sp>
        <p:nvSpPr>
          <p:cNvPr id="427" name="Google Shape;427;p33"/>
          <p:cNvSpPr/>
          <p:nvPr/>
        </p:nvSpPr>
        <p:spPr>
          <a:xfrm>
            <a:off x="3646976" y="1361179"/>
            <a:ext cx="8122798" cy="4426887"/>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8" name="Google Shape;428;p33"/>
          <p:cNvPicPr preferRelativeResize="0"/>
          <p:nvPr/>
        </p:nvPicPr>
        <p:blipFill rotWithShape="1">
          <a:blip r:embed="rId4">
            <a:alphaModFix/>
          </a:blip>
          <a:srcRect/>
          <a:stretch/>
        </p:blipFill>
        <p:spPr>
          <a:xfrm>
            <a:off x="3940629" y="1450051"/>
            <a:ext cx="7623303" cy="3766742"/>
          </a:xfrm>
          <a:prstGeom prst="rect">
            <a:avLst/>
          </a:prstGeom>
          <a:noFill/>
          <a:ln>
            <a:noFill/>
          </a:ln>
        </p:spPr>
      </p:pic>
      <p:sp>
        <p:nvSpPr>
          <p:cNvPr id="2" name="CuadroTexto 1">
            <a:extLst>
              <a:ext uri="{FF2B5EF4-FFF2-40B4-BE49-F238E27FC236}">
                <a16:creationId xmlns:a16="http://schemas.microsoft.com/office/drawing/2014/main" id="{39664B9A-CFD9-2952-6F52-C5EA436DD85F}"/>
              </a:ext>
            </a:extLst>
          </p:cNvPr>
          <p:cNvSpPr txBox="1"/>
          <p:nvPr/>
        </p:nvSpPr>
        <p:spPr>
          <a:xfrm>
            <a:off x="3940629" y="5366657"/>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solidFill>
                  <a:srgbClr val="595959"/>
                </a:solidFill>
              </a:rPr>
              <a:t>http://regex101.com</a:t>
            </a:r>
            <a:endParaRPr lang="es-ES" sz="1100">
              <a:solidFill>
                <a:srgbClr val="59595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500"/>
                                        <p:tgtEl>
                                          <p:spTgt spid="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4"/>
          <p:cNvSpPr txBox="1"/>
          <p:nvPr/>
        </p:nvSpPr>
        <p:spPr>
          <a:xfrm>
            <a:off x="708294" y="3620401"/>
            <a:ext cx="8365061"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s-ES" sz="3600" dirty="0">
                <a:solidFill>
                  <a:srgbClr val="7F7F7F"/>
                </a:solidFill>
                <a:latin typeface="Arial"/>
                <a:ea typeface="Arial"/>
                <a:cs typeface="Arial"/>
                <a:sym typeface="Arial"/>
              </a:rPr>
              <a:t>Conversión de tipos de </a:t>
            </a:r>
            <a:r>
              <a:rPr lang="es-ES" sz="3600" dirty="0">
                <a:solidFill>
                  <a:srgbClr val="7F7F7F"/>
                </a:solidFill>
              </a:rPr>
              <a:t>datos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3"/>
                                        </p:tgtEl>
                                        <p:attrNameLst>
                                          <p:attrName>style.visibility</p:attrName>
                                        </p:attrNameLst>
                                      </p:cBhvr>
                                      <p:to>
                                        <p:strVal val="visible"/>
                                      </p:to>
                                    </p:set>
                                    <p:animEffect transition="in" filter="fade">
                                      <p:cBhvr>
                                        <p:cTn id="7" dur="500"/>
                                        <p:tgtEl>
                                          <p:spTgt spid="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7"/>
        <p:cNvGrpSpPr/>
        <p:nvPr/>
      </p:nvGrpSpPr>
      <p:grpSpPr>
        <a:xfrm>
          <a:off x="0" y="0"/>
          <a:ext cx="0" cy="0"/>
          <a:chOff x="0" y="0"/>
          <a:chExt cx="0" cy="0"/>
        </a:xfrm>
      </p:grpSpPr>
      <p:pic>
        <p:nvPicPr>
          <p:cNvPr id="438" name="Google Shape;438;p35"/>
          <p:cNvPicPr preferRelativeResize="0"/>
          <p:nvPr/>
        </p:nvPicPr>
        <p:blipFill rotWithShape="1">
          <a:blip r:embed="rId4">
            <a:alphaModFix/>
          </a:blip>
          <a:srcRect/>
          <a:stretch/>
        </p:blipFill>
        <p:spPr>
          <a:xfrm>
            <a:off x="-306422" y="1060227"/>
            <a:ext cx="12752962" cy="1550595"/>
          </a:xfrm>
          <a:prstGeom prst="rect">
            <a:avLst/>
          </a:prstGeom>
          <a:noFill/>
          <a:ln>
            <a:noFill/>
          </a:ln>
        </p:spPr>
      </p:pic>
      <p:sp>
        <p:nvSpPr>
          <p:cNvPr id="439" name="Google Shape;439;p35"/>
          <p:cNvSpPr/>
          <p:nvPr/>
        </p:nvSpPr>
        <p:spPr>
          <a:xfrm>
            <a:off x="888815" y="2830748"/>
            <a:ext cx="10789102" cy="3134897"/>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35"/>
          <p:cNvSpPr txBox="1"/>
          <p:nvPr/>
        </p:nvSpPr>
        <p:spPr>
          <a:xfrm>
            <a:off x="885817" y="43603"/>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Conversión de tipos de datos</a:t>
            </a:r>
            <a:endParaRPr sz="3200">
              <a:solidFill>
                <a:srgbClr val="7F7F7F"/>
              </a:solidFill>
              <a:latin typeface="Arial"/>
              <a:ea typeface="Arial"/>
              <a:cs typeface="Arial"/>
              <a:sym typeface="Arial"/>
            </a:endParaRPr>
          </a:p>
        </p:txBody>
      </p:sp>
      <p:sp>
        <p:nvSpPr>
          <p:cNvPr id="441" name="Google Shape;441;p35"/>
          <p:cNvSpPr txBox="1"/>
          <p:nvPr/>
        </p:nvSpPr>
        <p:spPr>
          <a:xfrm>
            <a:off x="7050966" y="5052446"/>
            <a:ext cx="3429479"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Lo reconoció como object , debería haberlo identificado como dato numérico. Eso indica que hay una posible inconsistencia.</a:t>
            </a:r>
            <a:endParaRPr/>
          </a:p>
        </p:txBody>
      </p:sp>
      <p:cxnSp>
        <p:nvCxnSpPr>
          <p:cNvPr id="442" name="Google Shape;442;p35"/>
          <p:cNvCxnSpPr>
            <a:stCxn id="443" idx="1"/>
          </p:cNvCxnSpPr>
          <p:nvPr/>
        </p:nvCxnSpPr>
        <p:spPr>
          <a:xfrm rot="10800000">
            <a:off x="5877665" y="4588685"/>
            <a:ext cx="1173300" cy="600"/>
          </a:xfrm>
          <a:prstGeom prst="straightConnector1">
            <a:avLst/>
          </a:prstGeom>
          <a:noFill/>
          <a:ln w="9525" cap="flat" cmpd="sng">
            <a:solidFill>
              <a:schemeClr val="accent1"/>
            </a:solidFill>
            <a:prstDash val="solid"/>
            <a:miter lim="800000"/>
            <a:headEnd type="none" w="sm" len="sm"/>
            <a:tailEnd type="triangle" w="med" len="med"/>
          </a:ln>
        </p:spPr>
      </p:cxnSp>
      <p:sp>
        <p:nvSpPr>
          <p:cNvPr id="443" name="Google Shape;443;p35"/>
          <p:cNvSpPr txBox="1"/>
          <p:nvPr/>
        </p:nvSpPr>
        <p:spPr>
          <a:xfrm>
            <a:off x="7050965" y="4327675"/>
            <a:ext cx="3308992"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Lo reconoció como object , este campo podría ser boolean</a:t>
            </a:r>
            <a:endParaRPr sz="1400">
              <a:solidFill>
                <a:srgbClr val="7F7F7F"/>
              </a:solidFill>
              <a:latin typeface="Calibri"/>
              <a:ea typeface="Calibri"/>
              <a:cs typeface="Calibri"/>
              <a:sym typeface="Calibri"/>
            </a:endParaRPr>
          </a:p>
        </p:txBody>
      </p:sp>
      <p:sp>
        <p:nvSpPr>
          <p:cNvPr id="444" name="Google Shape;444;p35"/>
          <p:cNvSpPr txBox="1"/>
          <p:nvPr/>
        </p:nvSpPr>
        <p:spPr>
          <a:xfrm>
            <a:off x="7050961" y="3607478"/>
            <a:ext cx="3308996" cy="3077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Estos valores podrían se int</a:t>
            </a:r>
            <a:endParaRPr sz="1400">
              <a:solidFill>
                <a:srgbClr val="7F7F7F"/>
              </a:solidFill>
              <a:latin typeface="Calibri"/>
              <a:ea typeface="Calibri"/>
              <a:cs typeface="Calibri"/>
              <a:sym typeface="Calibri"/>
            </a:endParaRPr>
          </a:p>
        </p:txBody>
      </p:sp>
      <p:sp>
        <p:nvSpPr>
          <p:cNvPr id="445" name="Google Shape;445;p35"/>
          <p:cNvSpPr txBox="1"/>
          <p:nvPr/>
        </p:nvSpPr>
        <p:spPr>
          <a:xfrm>
            <a:off x="885817" y="1256594"/>
            <a:ext cx="10658368"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dirty="0">
                <a:solidFill>
                  <a:schemeClr val="lt1"/>
                </a:solidFill>
                <a:latin typeface="Calibri"/>
                <a:ea typeface="Calibri"/>
                <a:cs typeface="Calibri"/>
                <a:sym typeface="Calibri"/>
              </a:rPr>
              <a:t>La librería Pandas, al momento de crear un </a:t>
            </a:r>
            <a:r>
              <a:rPr lang="es-ES" sz="1800" dirty="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durante la lectura de los datos, realiza una inferencia de los tipos de dato de cada columna a partir de los valores que contiene. En la mayoría de los casos, hace una asignación adecuada, sin embargo, en oportunidades será necesario realizar ajustes en la estructura. Esto, considerando que durante los procesos de limpieza y </a:t>
            </a:r>
            <a:r>
              <a:rPr lang="es-ES" sz="1800" dirty="0" err="1">
                <a:solidFill>
                  <a:schemeClr val="lt1"/>
                </a:solidFill>
                <a:latin typeface="Calibri"/>
                <a:ea typeface="Calibri"/>
                <a:cs typeface="Calibri"/>
                <a:sym typeface="Calibri"/>
              </a:rPr>
              <a:t>wrangling</a:t>
            </a:r>
            <a:r>
              <a:rPr lang="es-ES" sz="1800" dirty="0">
                <a:solidFill>
                  <a:schemeClr val="lt1"/>
                </a:solidFill>
                <a:latin typeface="Calibri"/>
                <a:ea typeface="Calibri"/>
                <a:cs typeface="Calibri"/>
                <a:sym typeface="Calibri"/>
              </a:rPr>
              <a:t> podrían verse afectados los tipos de dato.</a:t>
            </a:r>
            <a:endParaRPr sz="1800" dirty="0">
              <a:solidFill>
                <a:schemeClr val="lt1"/>
              </a:solidFill>
              <a:latin typeface="Calibri"/>
              <a:ea typeface="Calibri"/>
              <a:cs typeface="Calibri"/>
              <a:sym typeface="Calibri"/>
            </a:endParaRPr>
          </a:p>
        </p:txBody>
      </p:sp>
      <p:pic>
        <p:nvPicPr>
          <p:cNvPr id="446" name="Google Shape;446;p35"/>
          <p:cNvPicPr preferRelativeResize="0"/>
          <p:nvPr/>
        </p:nvPicPr>
        <p:blipFill rotWithShape="1">
          <a:blip r:embed="rId5">
            <a:alphaModFix/>
          </a:blip>
          <a:srcRect/>
          <a:stretch/>
        </p:blipFill>
        <p:spPr>
          <a:xfrm>
            <a:off x="2448132" y="2998901"/>
            <a:ext cx="3429479" cy="2753109"/>
          </a:xfrm>
          <a:prstGeom prst="rect">
            <a:avLst/>
          </a:prstGeom>
          <a:noFill/>
          <a:ln>
            <a:noFill/>
          </a:ln>
        </p:spPr>
      </p:pic>
      <p:sp>
        <p:nvSpPr>
          <p:cNvPr id="447" name="Google Shape;447;p35"/>
          <p:cNvSpPr/>
          <p:nvPr/>
        </p:nvSpPr>
        <p:spPr>
          <a:xfrm>
            <a:off x="2448132" y="4886342"/>
            <a:ext cx="3429479" cy="180109"/>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35"/>
          <p:cNvSpPr/>
          <p:nvPr/>
        </p:nvSpPr>
        <p:spPr>
          <a:xfrm>
            <a:off x="2448132" y="4547456"/>
            <a:ext cx="3429479" cy="180109"/>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49" name="Google Shape;449;p35"/>
          <p:cNvSpPr/>
          <p:nvPr/>
        </p:nvSpPr>
        <p:spPr>
          <a:xfrm>
            <a:off x="2448132" y="4043623"/>
            <a:ext cx="3429479" cy="338885"/>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450" name="Google Shape;450;p35"/>
          <p:cNvCxnSpPr/>
          <p:nvPr/>
        </p:nvCxnSpPr>
        <p:spPr>
          <a:xfrm rot="10800000">
            <a:off x="5877611" y="4976397"/>
            <a:ext cx="1173353" cy="450273"/>
          </a:xfrm>
          <a:prstGeom prst="straightConnector1">
            <a:avLst/>
          </a:prstGeom>
          <a:noFill/>
          <a:ln w="9525" cap="flat" cmpd="sng">
            <a:solidFill>
              <a:schemeClr val="accent1"/>
            </a:solidFill>
            <a:prstDash val="solid"/>
            <a:miter lim="800000"/>
            <a:headEnd type="none" w="sm" len="sm"/>
            <a:tailEnd type="triangle" w="med" len="med"/>
          </a:ln>
        </p:spPr>
      </p:cxnSp>
      <p:cxnSp>
        <p:nvCxnSpPr>
          <p:cNvPr id="451" name="Google Shape;451;p35"/>
          <p:cNvCxnSpPr/>
          <p:nvPr/>
        </p:nvCxnSpPr>
        <p:spPr>
          <a:xfrm flipH="1">
            <a:off x="5877611" y="3782013"/>
            <a:ext cx="1173350" cy="403059"/>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0"/>
                                        </p:tgtEl>
                                        <p:attrNameLst>
                                          <p:attrName>style.visibility</p:attrName>
                                        </p:attrNameLst>
                                      </p:cBhvr>
                                      <p:to>
                                        <p:strVal val="visible"/>
                                      </p:to>
                                    </p:set>
                                    <p:animEffect transition="in" filter="fade">
                                      <p:cBhvr>
                                        <p:cTn id="7" dur="5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pic>
        <p:nvPicPr>
          <p:cNvPr id="456" name="Google Shape;456;p36"/>
          <p:cNvPicPr preferRelativeResize="0"/>
          <p:nvPr/>
        </p:nvPicPr>
        <p:blipFill rotWithShape="1">
          <a:blip r:embed="rId3">
            <a:alphaModFix/>
          </a:blip>
          <a:srcRect/>
          <a:stretch/>
        </p:blipFill>
        <p:spPr>
          <a:xfrm>
            <a:off x="-315685" y="1354917"/>
            <a:ext cx="13068647" cy="1023193"/>
          </a:xfrm>
          <a:prstGeom prst="rect">
            <a:avLst/>
          </a:prstGeom>
          <a:noFill/>
          <a:ln>
            <a:noFill/>
          </a:ln>
        </p:spPr>
      </p:pic>
      <p:sp>
        <p:nvSpPr>
          <p:cNvPr id="457" name="Google Shape;457;p36"/>
          <p:cNvSpPr txBox="1"/>
          <p:nvPr/>
        </p:nvSpPr>
        <p:spPr>
          <a:xfrm>
            <a:off x="1292342" y="392354"/>
            <a:ext cx="10418103" cy="69701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Conversiones de datos</a:t>
            </a:r>
            <a:endParaRPr sz="3200">
              <a:solidFill>
                <a:srgbClr val="7F7F7F"/>
              </a:solidFill>
              <a:latin typeface="Arial"/>
              <a:ea typeface="Arial"/>
              <a:cs typeface="Arial"/>
              <a:sym typeface="Arial"/>
            </a:endParaRPr>
          </a:p>
        </p:txBody>
      </p:sp>
      <p:sp>
        <p:nvSpPr>
          <p:cNvPr id="458" name="Google Shape;458;p36"/>
          <p:cNvSpPr/>
          <p:nvPr/>
        </p:nvSpPr>
        <p:spPr>
          <a:xfrm>
            <a:off x="1401536" y="2816428"/>
            <a:ext cx="9394371" cy="286294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59" name="Google Shape;459;p36"/>
          <p:cNvPicPr preferRelativeResize="0"/>
          <p:nvPr/>
        </p:nvPicPr>
        <p:blipFill rotWithShape="1">
          <a:blip r:embed="rId4">
            <a:alphaModFix/>
          </a:blip>
          <a:srcRect/>
          <a:stretch/>
        </p:blipFill>
        <p:spPr>
          <a:xfrm>
            <a:off x="1835407" y="3214287"/>
            <a:ext cx="3658111" cy="2143424"/>
          </a:xfrm>
          <a:prstGeom prst="rect">
            <a:avLst/>
          </a:prstGeom>
          <a:noFill/>
          <a:ln>
            <a:noFill/>
          </a:ln>
        </p:spPr>
      </p:pic>
      <p:sp>
        <p:nvSpPr>
          <p:cNvPr id="460" name="Google Shape;460;p36"/>
          <p:cNvSpPr/>
          <p:nvPr/>
        </p:nvSpPr>
        <p:spPr>
          <a:xfrm>
            <a:off x="1835408" y="4771933"/>
            <a:ext cx="1942759" cy="180109"/>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461" name="Google Shape;461;p36"/>
          <p:cNvPicPr preferRelativeResize="0"/>
          <p:nvPr/>
        </p:nvPicPr>
        <p:blipFill rotWithShape="1">
          <a:blip r:embed="rId5">
            <a:alphaModFix/>
          </a:blip>
          <a:srcRect/>
          <a:stretch/>
        </p:blipFill>
        <p:spPr>
          <a:xfrm>
            <a:off x="6199588" y="3214287"/>
            <a:ext cx="3972479" cy="2143424"/>
          </a:xfrm>
          <a:prstGeom prst="rect">
            <a:avLst/>
          </a:prstGeom>
          <a:noFill/>
          <a:ln>
            <a:noFill/>
          </a:ln>
        </p:spPr>
      </p:pic>
      <p:sp>
        <p:nvSpPr>
          <p:cNvPr id="462" name="Google Shape;462;p36"/>
          <p:cNvSpPr/>
          <p:nvPr/>
        </p:nvSpPr>
        <p:spPr>
          <a:xfrm>
            <a:off x="6195471" y="4493825"/>
            <a:ext cx="1942759" cy="180109"/>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3" name="Google Shape;463;p36"/>
          <p:cNvSpPr txBox="1"/>
          <p:nvPr/>
        </p:nvSpPr>
        <p:spPr>
          <a:xfrm>
            <a:off x="1291318" y="1520537"/>
            <a:ext cx="950541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lt1"/>
                </a:solidFill>
                <a:latin typeface="Calibri"/>
                <a:ea typeface="Calibri"/>
                <a:cs typeface="Calibri"/>
                <a:sym typeface="Calibri"/>
              </a:rPr>
              <a:t>El método </a:t>
            </a:r>
            <a:r>
              <a:rPr lang="es-ES" sz="1800" b="1" dirty="0" err="1">
                <a:solidFill>
                  <a:schemeClr val="lt1"/>
                </a:solidFill>
                <a:latin typeface="Calibri"/>
                <a:ea typeface="Calibri"/>
                <a:cs typeface="Calibri"/>
                <a:sym typeface="Calibri"/>
              </a:rPr>
              <a:t>astype</a:t>
            </a:r>
            <a:r>
              <a:rPr lang="es-ES" sz="1800" b="1" dirty="0">
                <a:solidFill>
                  <a:schemeClr val="lt1"/>
                </a:solidFill>
                <a:latin typeface="Calibri"/>
                <a:ea typeface="Calibri"/>
                <a:cs typeface="Calibri"/>
                <a:sym typeface="Calibri"/>
              </a:rPr>
              <a:t>()</a:t>
            </a:r>
            <a:r>
              <a:rPr lang="es-ES" sz="1800" dirty="0">
                <a:solidFill>
                  <a:schemeClr val="lt1"/>
                </a:solidFill>
                <a:latin typeface="Calibri"/>
                <a:ea typeface="Calibri"/>
                <a:cs typeface="Calibri"/>
                <a:sym typeface="Calibri"/>
              </a:rPr>
              <a:t> recibe como parámetro el tipo de dato para la conversión. El parámetro puede ser un tipo de dato </a:t>
            </a:r>
            <a:r>
              <a:rPr lang="es-ES" sz="1800" b="1" dirty="0">
                <a:solidFill>
                  <a:schemeClr val="lt1"/>
                </a:solidFill>
                <a:latin typeface="Calibri"/>
                <a:ea typeface="Calibri"/>
                <a:cs typeface="Calibri"/>
                <a:sym typeface="Calibri"/>
              </a:rPr>
              <a:t>Pandas</a:t>
            </a:r>
            <a:r>
              <a:rPr lang="es-ES" sz="1800" dirty="0">
                <a:solidFill>
                  <a:schemeClr val="lt1"/>
                </a:solidFill>
                <a:latin typeface="Calibri"/>
                <a:ea typeface="Calibri"/>
                <a:cs typeface="Calibri"/>
                <a:sym typeface="Calibri"/>
              </a:rPr>
              <a:t>, </a:t>
            </a:r>
            <a:r>
              <a:rPr lang="es-ES" sz="1800" b="1" dirty="0" err="1">
                <a:solidFill>
                  <a:schemeClr val="lt1"/>
                </a:solidFill>
                <a:latin typeface="Calibri"/>
                <a:ea typeface="Calibri"/>
                <a:cs typeface="Calibri"/>
                <a:sym typeface="Calibri"/>
              </a:rPr>
              <a:t>Numpy</a:t>
            </a:r>
            <a:r>
              <a:rPr lang="es-ES" sz="1800" dirty="0">
                <a:solidFill>
                  <a:schemeClr val="lt1"/>
                </a:solidFill>
                <a:latin typeface="Calibri"/>
                <a:ea typeface="Calibri"/>
                <a:cs typeface="Calibri"/>
                <a:sym typeface="Calibri"/>
              </a:rPr>
              <a:t> o </a:t>
            </a:r>
            <a:r>
              <a:rPr lang="es-ES" sz="1800" b="1" dirty="0">
                <a:solidFill>
                  <a:schemeClr val="lt1"/>
                </a:solidFill>
                <a:latin typeface="Calibri"/>
                <a:ea typeface="Calibri"/>
                <a:cs typeface="Calibri"/>
                <a:sym typeface="Calibri"/>
              </a:rPr>
              <a:t>Python</a:t>
            </a:r>
            <a:r>
              <a:rPr lang="es-ES" sz="1800" dirty="0">
                <a:solidFill>
                  <a:schemeClr val="lt1"/>
                </a:solidFill>
                <a:latin typeface="Calibri"/>
                <a:ea typeface="Calibri"/>
                <a:cs typeface="Calibri"/>
                <a:sym typeface="Calibri"/>
              </a:rPr>
              <a:t>.</a:t>
            </a:r>
            <a:endParaRPr sz="1800"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7"/>
                                        </p:tgtEl>
                                        <p:attrNameLst>
                                          <p:attrName>style.visibility</p:attrName>
                                        </p:attrNameLst>
                                      </p:cBhvr>
                                      <p:to>
                                        <p:strVal val="visible"/>
                                      </p:to>
                                    </p:set>
                                    <p:animEffect transition="in" filter="fade">
                                      <p:cBhvr>
                                        <p:cTn id="7" dur="500"/>
                                        <p:tgtEl>
                                          <p:spTgt spid="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7"/>
        <p:cNvGrpSpPr/>
        <p:nvPr/>
      </p:nvGrpSpPr>
      <p:grpSpPr>
        <a:xfrm>
          <a:off x="0" y="0"/>
          <a:ext cx="0" cy="0"/>
          <a:chOff x="0" y="0"/>
          <a:chExt cx="0" cy="0"/>
        </a:xfrm>
      </p:grpSpPr>
      <p:pic>
        <p:nvPicPr>
          <p:cNvPr id="468" name="Google Shape;468;p37"/>
          <p:cNvPicPr preferRelativeResize="0"/>
          <p:nvPr/>
        </p:nvPicPr>
        <p:blipFill rotWithShape="1">
          <a:blip r:embed="rId4">
            <a:alphaModFix/>
          </a:blip>
          <a:srcRect/>
          <a:stretch/>
        </p:blipFill>
        <p:spPr>
          <a:xfrm>
            <a:off x="-278946" y="1202517"/>
            <a:ext cx="12785619" cy="1099393"/>
          </a:xfrm>
          <a:prstGeom prst="rect">
            <a:avLst/>
          </a:prstGeom>
          <a:noFill/>
          <a:ln>
            <a:noFill/>
          </a:ln>
        </p:spPr>
      </p:pic>
      <p:sp>
        <p:nvSpPr>
          <p:cNvPr id="469" name="Google Shape;469;p37"/>
          <p:cNvSpPr/>
          <p:nvPr/>
        </p:nvSpPr>
        <p:spPr>
          <a:xfrm>
            <a:off x="1575882" y="2652767"/>
            <a:ext cx="8958262" cy="3390901"/>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0" name="Google Shape;470;p37"/>
          <p:cNvSpPr txBox="1"/>
          <p:nvPr/>
        </p:nvSpPr>
        <p:spPr>
          <a:xfrm>
            <a:off x="1575881" y="188044"/>
            <a:ext cx="1002941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Conversiones de datos</a:t>
            </a:r>
            <a:endParaRPr sz="3200">
              <a:solidFill>
                <a:srgbClr val="7F7F7F"/>
              </a:solidFill>
              <a:latin typeface="Arial"/>
              <a:ea typeface="Arial"/>
              <a:cs typeface="Arial"/>
              <a:sym typeface="Arial"/>
            </a:endParaRPr>
          </a:p>
        </p:txBody>
      </p:sp>
      <p:pic>
        <p:nvPicPr>
          <p:cNvPr id="471" name="Google Shape;471;p37"/>
          <p:cNvPicPr preferRelativeResize="0"/>
          <p:nvPr/>
        </p:nvPicPr>
        <p:blipFill rotWithShape="1">
          <a:blip r:embed="rId5">
            <a:alphaModFix/>
          </a:blip>
          <a:srcRect/>
          <a:stretch/>
        </p:blipFill>
        <p:spPr>
          <a:xfrm>
            <a:off x="2092060" y="2790662"/>
            <a:ext cx="7925906" cy="3115110"/>
          </a:xfrm>
          <a:prstGeom prst="rect">
            <a:avLst/>
          </a:prstGeom>
          <a:noFill/>
          <a:ln>
            <a:noFill/>
          </a:ln>
        </p:spPr>
      </p:pic>
      <p:sp>
        <p:nvSpPr>
          <p:cNvPr id="472" name="Google Shape;472;p37"/>
          <p:cNvSpPr txBox="1"/>
          <p:nvPr/>
        </p:nvSpPr>
        <p:spPr>
          <a:xfrm>
            <a:off x="1547307" y="1274220"/>
            <a:ext cx="8958262" cy="9233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Los siguientes, son los tipos de datos que podríamos utilizar para realizar conversión. Nótese la comparativa de los distintos tipos de datos utilizados tanto por: la librería estándar de Python, la librería Pandas y la librería Numpy.</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0"/>
                                        </p:tgtEl>
                                        <p:attrNameLst>
                                          <p:attrName>style.visibility</p:attrName>
                                        </p:attrNameLst>
                                      </p:cBhvr>
                                      <p:to>
                                        <p:strVal val="visible"/>
                                      </p:to>
                                    </p:set>
                                    <p:animEffect transition="in" filter="fade">
                                      <p:cBhvr>
                                        <p:cTn id="7" dur="500"/>
                                        <p:tgtEl>
                                          <p:spTgt spid="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6"/>
        <p:cNvGrpSpPr/>
        <p:nvPr/>
      </p:nvGrpSpPr>
      <p:grpSpPr>
        <a:xfrm>
          <a:off x="0" y="0"/>
          <a:ext cx="0" cy="0"/>
          <a:chOff x="0" y="0"/>
          <a:chExt cx="0" cy="0"/>
        </a:xfrm>
      </p:grpSpPr>
      <p:pic>
        <p:nvPicPr>
          <p:cNvPr id="477" name="Google Shape;477;p38"/>
          <p:cNvPicPr preferRelativeResize="0"/>
          <p:nvPr/>
        </p:nvPicPr>
        <p:blipFill rotWithShape="1">
          <a:blip r:embed="rId4">
            <a:alphaModFix/>
          </a:blip>
          <a:srcRect/>
          <a:stretch/>
        </p:blipFill>
        <p:spPr>
          <a:xfrm>
            <a:off x="7570755" y="2126911"/>
            <a:ext cx="3970600" cy="3495675"/>
          </a:xfrm>
          <a:prstGeom prst="rect">
            <a:avLst/>
          </a:prstGeom>
          <a:noFill/>
          <a:ln>
            <a:noFill/>
          </a:ln>
        </p:spPr>
      </p:pic>
      <p:sp>
        <p:nvSpPr>
          <p:cNvPr id="478" name="Google Shape;478;p38"/>
          <p:cNvSpPr/>
          <p:nvPr/>
        </p:nvSpPr>
        <p:spPr>
          <a:xfrm>
            <a:off x="1017554" y="2126911"/>
            <a:ext cx="6324601" cy="349567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38"/>
          <p:cNvSpPr txBox="1"/>
          <p:nvPr/>
        </p:nvSpPr>
        <p:spPr>
          <a:xfrm>
            <a:off x="1171392" y="776026"/>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Conversiones de datos</a:t>
            </a:r>
            <a:endParaRPr sz="3200">
              <a:solidFill>
                <a:srgbClr val="7F7F7F"/>
              </a:solidFill>
              <a:latin typeface="Arial"/>
              <a:ea typeface="Arial"/>
              <a:cs typeface="Arial"/>
              <a:sym typeface="Arial"/>
            </a:endParaRPr>
          </a:p>
        </p:txBody>
      </p:sp>
      <p:pic>
        <p:nvPicPr>
          <p:cNvPr id="480" name="Google Shape;480;p38"/>
          <p:cNvPicPr preferRelativeResize="0"/>
          <p:nvPr/>
        </p:nvPicPr>
        <p:blipFill rotWithShape="1">
          <a:blip r:embed="rId5">
            <a:alphaModFix/>
          </a:blip>
          <a:srcRect/>
          <a:stretch/>
        </p:blipFill>
        <p:spPr>
          <a:xfrm>
            <a:off x="1171392" y="2232078"/>
            <a:ext cx="6030167" cy="3267531"/>
          </a:xfrm>
          <a:prstGeom prst="rect">
            <a:avLst/>
          </a:prstGeom>
          <a:noFill/>
          <a:ln>
            <a:noFill/>
          </a:ln>
        </p:spPr>
      </p:pic>
      <p:sp>
        <p:nvSpPr>
          <p:cNvPr id="481" name="Google Shape;481;p38"/>
          <p:cNvSpPr/>
          <p:nvPr/>
        </p:nvSpPr>
        <p:spPr>
          <a:xfrm>
            <a:off x="5903052" y="2917724"/>
            <a:ext cx="734253" cy="2581885"/>
          </a:xfrm>
          <a:prstGeom prst="rect">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82" name="Google Shape;482;p38"/>
          <p:cNvSpPr txBox="1"/>
          <p:nvPr/>
        </p:nvSpPr>
        <p:spPr>
          <a:xfrm>
            <a:off x="7897175" y="2324651"/>
            <a:ext cx="3124433" cy="203128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Con lo aprendido, vamos a tomar entonces el set de datos real-estate para realizar la conversión de la columna NUM_BATROOMS. (En este caso, se ha tomado el set de datos sin limpiar aún).</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9"/>
                                        </p:tgtEl>
                                        <p:attrNameLst>
                                          <p:attrName>style.visibility</p:attrName>
                                        </p:attrNameLst>
                                      </p:cBhvr>
                                      <p:to>
                                        <p:strVal val="visible"/>
                                      </p:to>
                                    </p:set>
                                    <p:animEffect transition="in" filter="fade">
                                      <p:cBhvr>
                                        <p:cTn id="7" dur="500"/>
                                        <p:tgtEl>
                                          <p:spTgt spid="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6"/>
        <p:cNvGrpSpPr/>
        <p:nvPr/>
      </p:nvGrpSpPr>
      <p:grpSpPr>
        <a:xfrm>
          <a:off x="0" y="0"/>
          <a:ext cx="0" cy="0"/>
          <a:chOff x="0" y="0"/>
          <a:chExt cx="0" cy="0"/>
        </a:xfrm>
      </p:grpSpPr>
      <p:pic>
        <p:nvPicPr>
          <p:cNvPr id="487" name="Google Shape;487;p39"/>
          <p:cNvPicPr preferRelativeResize="0"/>
          <p:nvPr/>
        </p:nvPicPr>
        <p:blipFill rotWithShape="1">
          <a:blip r:embed="rId4">
            <a:alphaModFix/>
          </a:blip>
          <a:srcRect/>
          <a:stretch/>
        </p:blipFill>
        <p:spPr>
          <a:xfrm>
            <a:off x="975771" y="1638102"/>
            <a:ext cx="3565420" cy="3494250"/>
          </a:xfrm>
          <a:prstGeom prst="rect">
            <a:avLst/>
          </a:prstGeom>
          <a:noFill/>
          <a:ln>
            <a:noFill/>
          </a:ln>
        </p:spPr>
      </p:pic>
      <p:sp>
        <p:nvSpPr>
          <p:cNvPr id="488" name="Google Shape;488;p39"/>
          <p:cNvSpPr/>
          <p:nvPr/>
        </p:nvSpPr>
        <p:spPr>
          <a:xfrm>
            <a:off x="4767910" y="1634074"/>
            <a:ext cx="6599901" cy="349567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9" name="Google Shape;489;p39"/>
          <p:cNvSpPr txBox="1"/>
          <p:nvPr/>
        </p:nvSpPr>
        <p:spPr>
          <a:xfrm>
            <a:off x="1567510" y="357741"/>
            <a:ext cx="10028064"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Conversiones de datos</a:t>
            </a:r>
            <a:endParaRPr sz="3200">
              <a:solidFill>
                <a:srgbClr val="7F7F7F"/>
              </a:solidFill>
              <a:latin typeface="Arial"/>
              <a:ea typeface="Arial"/>
              <a:cs typeface="Arial"/>
              <a:sym typeface="Arial"/>
            </a:endParaRPr>
          </a:p>
        </p:txBody>
      </p:sp>
      <p:pic>
        <p:nvPicPr>
          <p:cNvPr id="490" name="Google Shape;490;p39"/>
          <p:cNvPicPr preferRelativeResize="0"/>
          <p:nvPr/>
        </p:nvPicPr>
        <p:blipFill rotWithShape="1">
          <a:blip r:embed="rId5">
            <a:alphaModFix/>
          </a:blip>
          <a:srcRect/>
          <a:stretch/>
        </p:blipFill>
        <p:spPr>
          <a:xfrm>
            <a:off x="5037422" y="1956106"/>
            <a:ext cx="6106377" cy="2286319"/>
          </a:xfrm>
          <a:prstGeom prst="rect">
            <a:avLst/>
          </a:prstGeom>
          <a:noFill/>
          <a:ln>
            <a:noFill/>
          </a:ln>
        </p:spPr>
      </p:pic>
      <p:pic>
        <p:nvPicPr>
          <p:cNvPr id="491" name="Google Shape;491;p39"/>
          <p:cNvPicPr preferRelativeResize="0"/>
          <p:nvPr/>
        </p:nvPicPr>
        <p:blipFill rotWithShape="1">
          <a:blip r:embed="rId6">
            <a:alphaModFix/>
          </a:blip>
          <a:srcRect/>
          <a:stretch/>
        </p:blipFill>
        <p:spPr>
          <a:xfrm>
            <a:off x="4867302" y="4208506"/>
            <a:ext cx="5096586" cy="752580"/>
          </a:xfrm>
          <a:prstGeom prst="rect">
            <a:avLst/>
          </a:prstGeom>
          <a:noFill/>
          <a:ln>
            <a:noFill/>
          </a:ln>
        </p:spPr>
      </p:pic>
      <p:sp>
        <p:nvSpPr>
          <p:cNvPr id="492" name="Google Shape;492;p39"/>
          <p:cNvSpPr txBox="1"/>
          <p:nvPr/>
        </p:nvSpPr>
        <p:spPr>
          <a:xfrm>
            <a:off x="1317138" y="1815611"/>
            <a:ext cx="3047572" cy="286228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Al intentar hacer la conversión, se lanza una excepción donde se indica que hubo un valor que no se pudo convertir, por lo tanto, la conversión no fue exitosa. Esto quiere decir, que la columna tiene valores erróneos, por lo tanto, debemos utilizar otra técnica.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9"/>
                                        </p:tgtEl>
                                        <p:attrNameLst>
                                          <p:attrName>style.visibility</p:attrName>
                                        </p:attrNameLst>
                                      </p:cBhvr>
                                      <p:to>
                                        <p:strVal val="visible"/>
                                      </p:to>
                                    </p:set>
                                    <p:animEffect transition="in" filter="fade">
                                      <p:cBhvr>
                                        <p:cTn id="7" dur="500"/>
                                        <p:tgtEl>
                                          <p:spTgt spid="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6"/>
        <p:cNvGrpSpPr/>
        <p:nvPr/>
      </p:nvGrpSpPr>
      <p:grpSpPr>
        <a:xfrm>
          <a:off x="0" y="0"/>
          <a:ext cx="0" cy="0"/>
          <a:chOff x="0" y="0"/>
          <a:chExt cx="0" cy="0"/>
        </a:xfrm>
      </p:grpSpPr>
      <p:pic>
        <p:nvPicPr>
          <p:cNvPr id="497" name="Google Shape;497;p40"/>
          <p:cNvPicPr preferRelativeResize="0"/>
          <p:nvPr/>
        </p:nvPicPr>
        <p:blipFill rotWithShape="1">
          <a:blip r:embed="rId4">
            <a:alphaModFix/>
          </a:blip>
          <a:srcRect/>
          <a:stretch/>
        </p:blipFill>
        <p:spPr>
          <a:xfrm>
            <a:off x="500974" y="1569168"/>
            <a:ext cx="11070309" cy="3828741"/>
          </a:xfrm>
          <a:prstGeom prst="rect">
            <a:avLst/>
          </a:prstGeom>
          <a:noFill/>
          <a:ln>
            <a:noFill/>
          </a:ln>
        </p:spPr>
      </p:pic>
      <p:sp>
        <p:nvSpPr>
          <p:cNvPr id="498" name="Google Shape;498;p40"/>
          <p:cNvSpPr/>
          <p:nvPr/>
        </p:nvSpPr>
        <p:spPr>
          <a:xfrm>
            <a:off x="4354517" y="1681798"/>
            <a:ext cx="7010400" cy="3531054"/>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9" name="Google Shape;499;p40"/>
          <p:cNvSpPr txBox="1"/>
          <p:nvPr/>
        </p:nvSpPr>
        <p:spPr>
          <a:xfrm>
            <a:off x="624318" y="571991"/>
            <a:ext cx="644410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Conversiones de datos</a:t>
            </a:r>
            <a:endParaRPr sz="3200">
              <a:solidFill>
                <a:srgbClr val="7F7F7F"/>
              </a:solidFill>
              <a:latin typeface="Arial"/>
              <a:ea typeface="Arial"/>
              <a:cs typeface="Arial"/>
              <a:sym typeface="Arial"/>
            </a:endParaRPr>
          </a:p>
        </p:txBody>
      </p:sp>
      <p:pic>
        <p:nvPicPr>
          <p:cNvPr id="500" name="Google Shape;500;p40"/>
          <p:cNvPicPr preferRelativeResize="0"/>
          <p:nvPr/>
        </p:nvPicPr>
        <p:blipFill rotWithShape="1">
          <a:blip r:embed="rId5">
            <a:alphaModFix/>
          </a:blip>
          <a:srcRect/>
          <a:stretch/>
        </p:blipFill>
        <p:spPr>
          <a:xfrm>
            <a:off x="4695576" y="1857702"/>
            <a:ext cx="4915586" cy="3296110"/>
          </a:xfrm>
          <a:prstGeom prst="rect">
            <a:avLst/>
          </a:prstGeom>
          <a:noFill/>
          <a:ln>
            <a:noFill/>
          </a:ln>
        </p:spPr>
      </p:pic>
      <p:cxnSp>
        <p:nvCxnSpPr>
          <p:cNvPr id="501" name="Google Shape;501;p40"/>
          <p:cNvCxnSpPr/>
          <p:nvPr/>
        </p:nvCxnSpPr>
        <p:spPr>
          <a:xfrm flipH="1">
            <a:off x="7071230" y="4363066"/>
            <a:ext cx="1354777" cy="575729"/>
          </a:xfrm>
          <a:prstGeom prst="straightConnector1">
            <a:avLst/>
          </a:prstGeom>
          <a:noFill/>
          <a:ln w="19050" cap="flat" cmpd="sng">
            <a:solidFill>
              <a:srgbClr val="757070"/>
            </a:solidFill>
            <a:prstDash val="solid"/>
            <a:miter lim="800000"/>
            <a:headEnd type="none" w="sm" len="sm"/>
            <a:tailEnd type="triangle" w="med" len="med"/>
          </a:ln>
        </p:spPr>
      </p:cxnSp>
      <p:sp>
        <p:nvSpPr>
          <p:cNvPr id="502" name="Google Shape;502;p40"/>
          <p:cNvSpPr txBox="1"/>
          <p:nvPr/>
        </p:nvSpPr>
        <p:spPr>
          <a:xfrm>
            <a:off x="8492277" y="4101456"/>
            <a:ext cx="2647408" cy="523220"/>
          </a:xfrm>
          <a:prstGeom prst="rect">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Arial"/>
                <a:ea typeface="Arial"/>
                <a:cs typeface="Arial"/>
                <a:sym typeface="Arial"/>
              </a:rPr>
              <a:t>Nótese que ahora la serie de datos es de tipo float64</a:t>
            </a:r>
            <a:endParaRPr/>
          </a:p>
        </p:txBody>
      </p:sp>
      <p:sp>
        <p:nvSpPr>
          <p:cNvPr id="503" name="Google Shape;503;p40"/>
          <p:cNvSpPr txBox="1"/>
          <p:nvPr/>
        </p:nvSpPr>
        <p:spPr>
          <a:xfrm>
            <a:off x="765084" y="1755951"/>
            <a:ext cx="3346632" cy="286228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2000">
                <a:solidFill>
                  <a:schemeClr val="lt1"/>
                </a:solidFill>
                <a:latin typeface="Calibri"/>
                <a:ea typeface="Calibri"/>
                <a:cs typeface="Calibri"/>
                <a:sym typeface="Calibri"/>
              </a:rPr>
              <a:t>La nueva estrategia consiste, entonces, en crear una función personalizada para la conversión de dicha columna. En esta función, se capturan las excepciones que son lanzadas cuando no es posible realizar la conversión, en cuyo caso se asigna un valor nan.</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9"/>
                                        </p:tgtEl>
                                        <p:attrNameLst>
                                          <p:attrName>style.visibility</p:attrName>
                                        </p:attrNameLst>
                                      </p:cBhvr>
                                      <p:to>
                                        <p:strVal val="visible"/>
                                      </p:to>
                                    </p:set>
                                    <p:animEffect transition="in" filter="fade">
                                      <p:cBhvr>
                                        <p:cTn id="7" dur="500"/>
                                        <p:tgtEl>
                                          <p:spTgt spid="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1"/>
          <p:cNvSpPr txBox="1"/>
          <p:nvPr/>
        </p:nvSpPr>
        <p:spPr>
          <a:xfrm>
            <a:off x="912576" y="3639856"/>
            <a:ext cx="836506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600">
                <a:solidFill>
                  <a:srgbClr val="7F7F7F"/>
                </a:solidFill>
                <a:latin typeface="Arial"/>
                <a:ea typeface="Arial"/>
                <a:cs typeface="Arial"/>
                <a:sym typeface="Arial"/>
              </a:rPr>
              <a:t>Ordenamiento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8"/>
                                        </p:tgtEl>
                                        <p:attrNameLst>
                                          <p:attrName>style.visibility</p:attrName>
                                        </p:attrNameLst>
                                      </p:cBhvr>
                                      <p:to>
                                        <p:strVal val="visible"/>
                                      </p:to>
                                    </p:set>
                                    <p:animEffect transition="in" filter="fade">
                                      <p:cBhvr>
                                        <p:cTn id="7" dur="5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2"/>
        <p:cNvGrpSpPr/>
        <p:nvPr/>
      </p:nvGrpSpPr>
      <p:grpSpPr>
        <a:xfrm>
          <a:off x="0" y="0"/>
          <a:ext cx="0" cy="0"/>
          <a:chOff x="0" y="0"/>
          <a:chExt cx="0" cy="0"/>
        </a:xfrm>
      </p:grpSpPr>
      <p:sp>
        <p:nvSpPr>
          <p:cNvPr id="513" name="Google Shape;513;p42"/>
          <p:cNvSpPr/>
          <p:nvPr/>
        </p:nvSpPr>
        <p:spPr>
          <a:xfrm>
            <a:off x="638175" y="2002972"/>
            <a:ext cx="11118396" cy="298268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Tomemos el dataset de sueldos, vamos a ordenar los registros de acuerdo a su sueldo, de forma descendente.</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a:solidFill>
                  <a:schemeClr val="lt1"/>
                </a:solidFill>
                <a:latin typeface="Calibri"/>
                <a:ea typeface="Calibri"/>
                <a:cs typeface="Calibri"/>
                <a:sym typeface="Calibri"/>
              </a:rPr>
              <a:t>Pero antes de proceder, revisemos su estructura para verificar que la columna es numérica.</a:t>
            </a:r>
            <a:endParaRPr/>
          </a:p>
        </p:txBody>
      </p:sp>
      <p:sp>
        <p:nvSpPr>
          <p:cNvPr id="514" name="Google Shape;514;p42"/>
          <p:cNvSpPr txBox="1"/>
          <p:nvPr/>
        </p:nvSpPr>
        <p:spPr>
          <a:xfrm>
            <a:off x="1357959" y="538239"/>
            <a:ext cx="1006251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600" dirty="0">
                <a:solidFill>
                  <a:srgbClr val="7F7F7F"/>
                </a:solidFill>
                <a:latin typeface="Arial"/>
                <a:ea typeface="Arial"/>
                <a:cs typeface="Arial"/>
                <a:sym typeface="Arial"/>
              </a:rPr>
              <a:t>Ordenar un </a:t>
            </a:r>
            <a:r>
              <a:rPr lang="es-ES" sz="3600" dirty="0" err="1">
                <a:solidFill>
                  <a:srgbClr val="7F7F7F"/>
                </a:solidFill>
                <a:latin typeface="Arial"/>
                <a:ea typeface="Arial"/>
                <a:cs typeface="Arial"/>
                <a:sym typeface="Arial"/>
              </a:rPr>
              <a:t>dataframe</a:t>
            </a:r>
            <a:endParaRPr dirty="0" err="1"/>
          </a:p>
        </p:txBody>
      </p:sp>
      <p:pic>
        <p:nvPicPr>
          <p:cNvPr id="515" name="Google Shape;515;p42"/>
          <p:cNvPicPr preferRelativeResize="0"/>
          <p:nvPr/>
        </p:nvPicPr>
        <p:blipFill rotWithShape="1">
          <a:blip r:embed="rId4">
            <a:alphaModFix/>
          </a:blip>
          <a:srcRect/>
          <a:stretch/>
        </p:blipFill>
        <p:spPr>
          <a:xfrm>
            <a:off x="5617287" y="2398786"/>
            <a:ext cx="6030167" cy="2191056"/>
          </a:xfrm>
          <a:prstGeom prst="rect">
            <a:avLst/>
          </a:prstGeom>
          <a:noFill/>
          <a:ln>
            <a:noFill/>
          </a:ln>
        </p:spPr>
      </p:pic>
      <p:sp>
        <p:nvSpPr>
          <p:cNvPr id="516" name="Google Shape;516;p42"/>
          <p:cNvSpPr txBox="1"/>
          <p:nvPr/>
        </p:nvSpPr>
        <p:spPr>
          <a:xfrm>
            <a:off x="1357960" y="2495919"/>
            <a:ext cx="3965154" cy="1815882"/>
          </a:xfrm>
          <a:prstGeom prst="rect">
            <a:avLst/>
          </a:prstGeom>
          <a:noFill/>
          <a:ln>
            <a:noFill/>
          </a:ln>
        </p:spPr>
        <p:txBody>
          <a:bodyPr spcFirstLastPara="1" wrap="square" lIns="91425" tIns="45700" rIns="91425" bIns="45700" anchor="t" anchorCtr="0">
            <a:spAutoFit/>
          </a:bodyPr>
          <a:lstStyle/>
          <a:p>
            <a:pPr algn="just"/>
            <a:r>
              <a:rPr lang="es-ES" sz="1600" dirty="0">
                <a:solidFill>
                  <a:srgbClr val="7F7F7F"/>
                </a:solidFill>
                <a:latin typeface="Calibri"/>
                <a:ea typeface="Calibri"/>
                <a:cs typeface="Calibri"/>
                <a:sym typeface="Calibri"/>
              </a:rPr>
              <a:t>Tomemos el dataset de sueldos, vamos a ordenar los registros de acuerdo con su sueldo, de forma descendente.</a:t>
            </a:r>
            <a:endParaRPr dirty="0"/>
          </a:p>
          <a:p>
            <a:pPr marL="0" marR="0" lvl="0" indent="0" algn="just" rtl="0">
              <a:spcBef>
                <a:spcPts val="0"/>
              </a:spcBef>
              <a:spcAft>
                <a:spcPts val="0"/>
              </a:spcAft>
              <a:buNone/>
            </a:pPr>
            <a:endParaRPr sz="1600">
              <a:solidFill>
                <a:srgbClr val="7F7F7F"/>
              </a:solidFill>
              <a:latin typeface="Calibri"/>
              <a:ea typeface="Calibri"/>
              <a:cs typeface="Calibri"/>
              <a:sym typeface="Calibri"/>
            </a:endParaRPr>
          </a:p>
          <a:p>
            <a:pPr marL="0" marR="0" lvl="0" indent="0" algn="just" rtl="0">
              <a:spcBef>
                <a:spcPts val="0"/>
              </a:spcBef>
              <a:spcAft>
                <a:spcPts val="0"/>
              </a:spcAft>
              <a:buNone/>
            </a:pPr>
            <a:r>
              <a:rPr lang="es-ES" sz="1600" dirty="0">
                <a:solidFill>
                  <a:srgbClr val="7F7F7F"/>
                </a:solidFill>
                <a:latin typeface="Calibri"/>
                <a:ea typeface="Calibri"/>
                <a:cs typeface="Calibri"/>
                <a:sym typeface="Calibri"/>
              </a:rPr>
              <a:t>Pero antes de proceder, revisemos su estructura para verificar que la columna es numérica.</a:t>
            </a:r>
            <a:endParaRPr dirty="0"/>
          </a:p>
        </p:txBody>
      </p:sp>
      <p:pic>
        <p:nvPicPr>
          <p:cNvPr id="517" name="Google Shape;517;p42"/>
          <p:cNvPicPr preferRelativeResize="0"/>
          <p:nvPr/>
        </p:nvPicPr>
        <p:blipFill rotWithShape="1">
          <a:blip r:embed="rId5">
            <a:alphaModFix/>
          </a:blip>
          <a:srcRect/>
          <a:stretch/>
        </p:blipFill>
        <p:spPr>
          <a:xfrm>
            <a:off x="823771" y="2495919"/>
            <a:ext cx="425072" cy="425072"/>
          </a:xfrm>
          <a:prstGeom prst="rect">
            <a:avLst/>
          </a:prstGeom>
          <a:noFill/>
          <a:ln>
            <a:noFill/>
          </a:ln>
        </p:spPr>
      </p:pic>
      <p:pic>
        <p:nvPicPr>
          <p:cNvPr id="518" name="Google Shape;518;p42"/>
          <p:cNvPicPr preferRelativeResize="0"/>
          <p:nvPr/>
        </p:nvPicPr>
        <p:blipFill rotWithShape="1">
          <a:blip r:embed="rId5">
            <a:alphaModFix/>
          </a:blip>
          <a:srcRect/>
          <a:stretch/>
        </p:blipFill>
        <p:spPr>
          <a:xfrm>
            <a:off x="823771" y="3413938"/>
            <a:ext cx="425072" cy="42507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4"/>
                                        </p:tgtEl>
                                        <p:attrNameLst>
                                          <p:attrName>style.visibility</p:attrName>
                                        </p:attrNameLst>
                                      </p:cBhvr>
                                      <p:to>
                                        <p:strVal val="visible"/>
                                      </p:to>
                                    </p:set>
                                    <p:animEffect transition="in" filter="fade">
                                      <p:cBhvr>
                                        <p:cTn id="7" dur="500"/>
                                        <p:tgtEl>
                                          <p:spTgt spid="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pic>
        <p:nvPicPr>
          <p:cNvPr id="523" name="Google Shape;523;p43"/>
          <p:cNvPicPr preferRelativeResize="0"/>
          <p:nvPr/>
        </p:nvPicPr>
        <p:blipFill rotWithShape="1">
          <a:blip r:embed="rId3">
            <a:alphaModFix/>
          </a:blip>
          <a:srcRect/>
          <a:stretch/>
        </p:blipFill>
        <p:spPr>
          <a:xfrm>
            <a:off x="741662" y="1530949"/>
            <a:ext cx="5496547" cy="4463765"/>
          </a:xfrm>
          <a:prstGeom prst="rect">
            <a:avLst/>
          </a:prstGeom>
          <a:noFill/>
          <a:ln>
            <a:noFill/>
          </a:ln>
        </p:spPr>
      </p:pic>
      <p:sp>
        <p:nvSpPr>
          <p:cNvPr id="524" name="Google Shape;524;p43"/>
          <p:cNvSpPr txBox="1">
            <a:spLocks noGrp="1"/>
          </p:cNvSpPr>
          <p:nvPr>
            <p:ph type="title"/>
          </p:nvPr>
        </p:nvSpPr>
        <p:spPr>
          <a:xfrm>
            <a:off x="787544" y="400591"/>
            <a:ext cx="4941652" cy="89947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s-ES" sz="3600">
                <a:solidFill>
                  <a:srgbClr val="7F7F7F"/>
                </a:solidFill>
                <a:latin typeface="Arial"/>
                <a:ea typeface="Arial"/>
                <a:cs typeface="Arial"/>
                <a:sym typeface="Arial"/>
              </a:rPr>
              <a:t>Ordenar un dataframe</a:t>
            </a:r>
            <a:endParaRPr sz="3600"/>
          </a:p>
        </p:txBody>
      </p:sp>
      <p:sp>
        <p:nvSpPr>
          <p:cNvPr id="525" name="Google Shape;525;p43"/>
          <p:cNvSpPr/>
          <p:nvPr/>
        </p:nvSpPr>
        <p:spPr>
          <a:xfrm>
            <a:off x="6414001" y="1526548"/>
            <a:ext cx="5105739" cy="445950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6" name="Google Shape;526;p43"/>
          <p:cNvSpPr/>
          <p:nvPr/>
        </p:nvSpPr>
        <p:spPr>
          <a:xfrm>
            <a:off x="1045885" y="1717818"/>
            <a:ext cx="4924409"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Tomemos el </a:t>
            </a:r>
            <a:r>
              <a:rPr lang="es-ES" sz="1800" dirty="0" err="1">
                <a:solidFill>
                  <a:schemeClr val="lt1"/>
                </a:solidFill>
                <a:latin typeface="Calibri"/>
                <a:ea typeface="Calibri"/>
                <a:cs typeface="Calibri"/>
                <a:sym typeface="Calibri"/>
              </a:rPr>
              <a:t>dataset</a:t>
            </a:r>
            <a:r>
              <a:rPr lang="es-ES" sz="1800" dirty="0">
                <a:solidFill>
                  <a:schemeClr val="lt1"/>
                </a:solidFill>
                <a:latin typeface="Calibri"/>
                <a:ea typeface="Calibri"/>
                <a:cs typeface="Calibri"/>
                <a:sym typeface="Calibri"/>
              </a:rPr>
              <a:t> de sueldos, vamos a ordenar los registros de acuerdo a su sueldo, de forma descendente.</a:t>
            </a:r>
            <a:endParaRPr sz="1600" dirty="0">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Pero antes de proceder, revisemos su estructura para verificar que la columna es numérica.</a:t>
            </a:r>
            <a:endParaRPr sz="1600" dirty="0">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algn="just"/>
            <a:r>
              <a:rPr lang="es-ES" sz="1800" dirty="0">
                <a:solidFill>
                  <a:schemeClr val="lt1"/>
                </a:solidFill>
                <a:latin typeface="Calibri"/>
                <a:ea typeface="Calibri"/>
                <a:cs typeface="Calibri"/>
                <a:sym typeface="Calibri"/>
              </a:rPr>
              <a:t>Como se puede apreciar, la columna está definida como </a:t>
            </a:r>
            <a:r>
              <a:rPr lang="es-ES" sz="1800" dirty="0" err="1">
                <a:solidFill>
                  <a:schemeClr val="lt1"/>
                </a:solidFill>
                <a:latin typeface="Calibri"/>
                <a:ea typeface="Calibri"/>
                <a:cs typeface="Calibri"/>
                <a:sym typeface="Calibri"/>
              </a:rPr>
              <a:t>object</a:t>
            </a:r>
            <a:r>
              <a:rPr lang="es-ES" sz="1800" dirty="0">
                <a:solidFill>
                  <a:schemeClr val="lt1"/>
                </a:solidFill>
                <a:latin typeface="Calibri"/>
                <a:ea typeface="Calibri"/>
                <a:cs typeface="Calibri"/>
                <a:sym typeface="Calibri"/>
              </a:rPr>
              <a:t>, esto puede deberse a que la librería Pandas interpreta los puntos como separadores decimales. Realizaremos un pequeño </a:t>
            </a:r>
            <a:r>
              <a:rPr lang="es-ES" sz="1800" dirty="0" err="1">
                <a:solidFill>
                  <a:schemeClr val="lt1"/>
                </a:solidFill>
                <a:latin typeface="Calibri"/>
                <a:ea typeface="Calibri"/>
                <a:cs typeface="Calibri"/>
                <a:sym typeface="Calibri"/>
              </a:rPr>
              <a:t>wrangling</a:t>
            </a:r>
            <a:r>
              <a:rPr lang="es-ES" sz="1800" dirty="0">
                <a:solidFill>
                  <a:schemeClr val="lt1"/>
                </a:solidFill>
                <a:latin typeface="Calibri"/>
                <a:ea typeface="Calibri"/>
                <a:cs typeface="Calibri"/>
                <a:sym typeface="Calibri"/>
              </a:rPr>
              <a:t> antes de proceder.</a:t>
            </a:r>
            <a:endParaRPr sz="1600" dirty="0">
              <a:solidFill>
                <a:schemeClr val="lt1"/>
              </a:solidFill>
              <a:latin typeface="Calibri"/>
              <a:ea typeface="Calibri"/>
              <a:cs typeface="Calibri"/>
              <a:sym typeface="Calibri"/>
            </a:endParaRPr>
          </a:p>
        </p:txBody>
      </p:sp>
      <p:pic>
        <p:nvPicPr>
          <p:cNvPr id="529" name="Google Shape;529;p43"/>
          <p:cNvPicPr preferRelativeResize="0"/>
          <p:nvPr/>
        </p:nvPicPr>
        <p:blipFill rotWithShape="1">
          <a:blip r:embed="rId4">
            <a:alphaModFix/>
          </a:blip>
          <a:srcRect/>
          <a:stretch/>
        </p:blipFill>
        <p:spPr>
          <a:xfrm>
            <a:off x="6598185" y="1830811"/>
            <a:ext cx="4788272" cy="1739815"/>
          </a:xfrm>
          <a:prstGeom prst="rect">
            <a:avLst/>
          </a:prstGeom>
          <a:noFill/>
          <a:ln>
            <a:noFill/>
          </a:ln>
        </p:spPr>
      </p:pic>
      <p:pic>
        <p:nvPicPr>
          <p:cNvPr id="530" name="Google Shape;530;p43"/>
          <p:cNvPicPr preferRelativeResize="0"/>
          <p:nvPr/>
        </p:nvPicPr>
        <p:blipFill rotWithShape="1">
          <a:blip r:embed="rId5">
            <a:alphaModFix/>
          </a:blip>
          <a:srcRect/>
          <a:stretch/>
        </p:blipFill>
        <p:spPr>
          <a:xfrm>
            <a:off x="6598185" y="3570626"/>
            <a:ext cx="4788272" cy="204995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5"/>
        <p:cNvGrpSpPr/>
        <p:nvPr/>
      </p:nvGrpSpPr>
      <p:grpSpPr>
        <a:xfrm>
          <a:off x="0" y="0"/>
          <a:ext cx="0" cy="0"/>
          <a:chOff x="0" y="0"/>
          <a:chExt cx="0" cy="0"/>
        </a:xfrm>
      </p:grpSpPr>
      <p:sp>
        <p:nvSpPr>
          <p:cNvPr id="536" name="Google Shape;536;p44"/>
          <p:cNvSpPr/>
          <p:nvPr/>
        </p:nvSpPr>
        <p:spPr>
          <a:xfrm>
            <a:off x="638175" y="1817920"/>
            <a:ext cx="11118396" cy="340722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Tomemos el de sueldos, vamos a ordenar los registros de acuerdo a su sueldo, de forma descendente.</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a:solidFill>
                  <a:schemeClr val="lt1"/>
                </a:solidFill>
                <a:latin typeface="Calibri"/>
                <a:ea typeface="Calibri"/>
                <a:cs typeface="Calibri"/>
                <a:sym typeface="Calibri"/>
              </a:rPr>
              <a:t>Pero antes de proceder, revisemos su estructura para verificar que la columna es numérica.</a:t>
            </a:r>
            <a:endParaRPr/>
          </a:p>
        </p:txBody>
      </p:sp>
      <p:sp>
        <p:nvSpPr>
          <p:cNvPr id="537" name="Google Shape;537;p44"/>
          <p:cNvSpPr txBox="1"/>
          <p:nvPr/>
        </p:nvSpPr>
        <p:spPr>
          <a:xfrm>
            <a:off x="1357960" y="1929867"/>
            <a:ext cx="3965154"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rgbClr val="7F7F7F"/>
                </a:solidFill>
                <a:latin typeface="Calibri"/>
                <a:ea typeface="Calibri"/>
                <a:cs typeface="Calibri"/>
                <a:sym typeface="Calibri"/>
              </a:rPr>
              <a:t>Ahora el dataframe cuenta con una estructura en donde la columna </a:t>
            </a:r>
            <a:r>
              <a:rPr lang="es-ES" sz="1600" b="1">
                <a:solidFill>
                  <a:srgbClr val="7F7F7F"/>
                </a:solidFill>
                <a:latin typeface="Calibri"/>
                <a:ea typeface="Calibri"/>
                <a:cs typeface="Calibri"/>
                <a:sym typeface="Calibri"/>
              </a:rPr>
              <a:t>sueldo líquido </a:t>
            </a:r>
            <a:r>
              <a:rPr lang="es-ES" sz="1600">
                <a:solidFill>
                  <a:srgbClr val="7F7F7F"/>
                </a:solidFill>
                <a:latin typeface="Calibri"/>
                <a:ea typeface="Calibri"/>
                <a:cs typeface="Calibri"/>
                <a:sym typeface="Calibri"/>
              </a:rPr>
              <a:t>es de tipo entero</a:t>
            </a:r>
            <a:r>
              <a:rPr lang="es-ES" sz="1600">
                <a:solidFill>
                  <a:srgbClr val="7F7F7F"/>
                </a:solidFill>
                <a:latin typeface="Arial"/>
                <a:ea typeface="Arial"/>
                <a:cs typeface="Arial"/>
                <a:sym typeface="Arial"/>
              </a:rPr>
              <a:t>.</a:t>
            </a:r>
            <a:endParaRPr/>
          </a:p>
        </p:txBody>
      </p:sp>
      <p:pic>
        <p:nvPicPr>
          <p:cNvPr id="538" name="Google Shape;538;p44"/>
          <p:cNvPicPr preferRelativeResize="0"/>
          <p:nvPr/>
        </p:nvPicPr>
        <p:blipFill rotWithShape="1">
          <a:blip r:embed="rId4">
            <a:alphaModFix/>
          </a:blip>
          <a:srcRect/>
          <a:stretch/>
        </p:blipFill>
        <p:spPr>
          <a:xfrm>
            <a:off x="823771" y="2082267"/>
            <a:ext cx="425072" cy="425072"/>
          </a:xfrm>
          <a:prstGeom prst="rect">
            <a:avLst/>
          </a:prstGeom>
          <a:noFill/>
          <a:ln>
            <a:noFill/>
          </a:ln>
        </p:spPr>
      </p:pic>
      <p:pic>
        <p:nvPicPr>
          <p:cNvPr id="539" name="Google Shape;539;p44"/>
          <p:cNvPicPr preferRelativeResize="0"/>
          <p:nvPr/>
        </p:nvPicPr>
        <p:blipFill rotWithShape="1">
          <a:blip r:embed="rId5">
            <a:alphaModFix/>
          </a:blip>
          <a:srcRect/>
          <a:stretch/>
        </p:blipFill>
        <p:spPr>
          <a:xfrm>
            <a:off x="5472364" y="1924484"/>
            <a:ext cx="6134956" cy="3153215"/>
          </a:xfrm>
          <a:prstGeom prst="rect">
            <a:avLst/>
          </a:prstGeom>
          <a:noFill/>
          <a:ln>
            <a:noFill/>
          </a:ln>
        </p:spPr>
      </p:pic>
      <p:pic>
        <p:nvPicPr>
          <p:cNvPr id="540" name="Google Shape;540;p44"/>
          <p:cNvPicPr preferRelativeResize="0"/>
          <p:nvPr/>
        </p:nvPicPr>
        <p:blipFill rotWithShape="1">
          <a:blip r:embed="rId6">
            <a:alphaModFix/>
          </a:blip>
          <a:srcRect/>
          <a:stretch/>
        </p:blipFill>
        <p:spPr>
          <a:xfrm>
            <a:off x="2293100" y="3307033"/>
            <a:ext cx="1524340" cy="1524340"/>
          </a:xfrm>
          <a:prstGeom prst="rect">
            <a:avLst/>
          </a:prstGeom>
          <a:noFill/>
          <a:ln>
            <a:noFill/>
          </a:ln>
        </p:spPr>
      </p:pic>
      <p:sp>
        <p:nvSpPr>
          <p:cNvPr id="541" name="Google Shape;541;p44"/>
          <p:cNvSpPr/>
          <p:nvPr/>
        </p:nvSpPr>
        <p:spPr>
          <a:xfrm>
            <a:off x="1357960" y="651539"/>
            <a:ext cx="790472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3600">
                <a:solidFill>
                  <a:srgbClr val="7F7F7F"/>
                </a:solidFill>
                <a:latin typeface="Arial"/>
                <a:ea typeface="Arial"/>
                <a:cs typeface="Arial"/>
                <a:sym typeface="Arial"/>
              </a:rPr>
              <a:t>Ordenamiento: Ordenar un dataframe</a:t>
            </a:r>
            <a:endParaRPr sz="3600">
              <a:solidFill>
                <a:srgbClr val="7F7F7F"/>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5"/>
        <p:cNvGrpSpPr/>
        <p:nvPr/>
      </p:nvGrpSpPr>
      <p:grpSpPr>
        <a:xfrm>
          <a:off x="0" y="0"/>
          <a:ext cx="0" cy="0"/>
          <a:chOff x="0" y="0"/>
          <a:chExt cx="0" cy="0"/>
        </a:xfrm>
      </p:grpSpPr>
      <p:sp>
        <p:nvSpPr>
          <p:cNvPr id="546" name="Google Shape;546;p45"/>
          <p:cNvSpPr/>
          <p:nvPr/>
        </p:nvSpPr>
        <p:spPr>
          <a:xfrm>
            <a:off x="638175" y="1817918"/>
            <a:ext cx="10986378" cy="3407223"/>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Tomemos el de sueldos, vamos a ordenar los registros de acuerdo a su sueldo, de forma descendente.</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s-ES" sz="1800">
                <a:solidFill>
                  <a:schemeClr val="lt1"/>
                </a:solidFill>
                <a:latin typeface="Calibri"/>
                <a:ea typeface="Calibri"/>
                <a:cs typeface="Calibri"/>
                <a:sym typeface="Calibri"/>
              </a:rPr>
              <a:t>Pero antes de proceder, revisemos su estructura para verificar que la columna es numérica.</a:t>
            </a:r>
            <a:endParaRPr/>
          </a:p>
        </p:txBody>
      </p:sp>
      <p:sp>
        <p:nvSpPr>
          <p:cNvPr id="547" name="Google Shape;547;p45"/>
          <p:cNvSpPr txBox="1"/>
          <p:nvPr/>
        </p:nvSpPr>
        <p:spPr>
          <a:xfrm>
            <a:off x="638175" y="538239"/>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600">
                <a:solidFill>
                  <a:srgbClr val="7F7F7F"/>
                </a:solidFill>
                <a:latin typeface="Arial"/>
                <a:ea typeface="Arial"/>
                <a:cs typeface="Arial"/>
                <a:sym typeface="Arial"/>
              </a:rPr>
              <a:t>Ordenar un dataframe</a:t>
            </a:r>
            <a:endParaRPr sz="2400">
              <a:solidFill>
                <a:srgbClr val="7F7F7F"/>
              </a:solidFill>
              <a:latin typeface="Arial"/>
              <a:ea typeface="Arial"/>
              <a:cs typeface="Arial"/>
              <a:sym typeface="Arial"/>
            </a:endParaRPr>
          </a:p>
        </p:txBody>
      </p:sp>
      <p:sp>
        <p:nvSpPr>
          <p:cNvPr id="548" name="Google Shape;548;p45"/>
          <p:cNvSpPr txBox="1"/>
          <p:nvPr/>
        </p:nvSpPr>
        <p:spPr>
          <a:xfrm>
            <a:off x="1357960" y="1977492"/>
            <a:ext cx="3965154" cy="1077218"/>
          </a:xfrm>
          <a:prstGeom prst="rect">
            <a:avLst/>
          </a:prstGeom>
          <a:noFill/>
          <a:ln>
            <a:noFill/>
          </a:ln>
        </p:spPr>
        <p:txBody>
          <a:bodyPr spcFirstLastPara="1" wrap="square" lIns="91425" tIns="45700" rIns="91425" bIns="45700" anchor="t" anchorCtr="0">
            <a:spAutoFit/>
          </a:bodyPr>
          <a:lstStyle/>
          <a:p>
            <a:pPr algn="just"/>
            <a:r>
              <a:rPr lang="es-ES" sz="1600" dirty="0">
                <a:solidFill>
                  <a:srgbClr val="7F7F7F"/>
                </a:solidFill>
                <a:latin typeface="Calibri"/>
                <a:ea typeface="Calibri"/>
                <a:cs typeface="Calibri"/>
                <a:sym typeface="Calibri"/>
              </a:rPr>
              <a:t>Y, por último, realizamos el ordenamiento del </a:t>
            </a:r>
            <a:r>
              <a:rPr lang="es-ES" sz="1600" dirty="0" err="1">
                <a:solidFill>
                  <a:srgbClr val="7F7F7F"/>
                </a:solidFill>
                <a:latin typeface="Calibri"/>
                <a:ea typeface="Calibri"/>
                <a:cs typeface="Calibri"/>
                <a:sym typeface="Calibri"/>
              </a:rPr>
              <a:t>dataframe</a:t>
            </a:r>
            <a:r>
              <a:rPr lang="es-ES" sz="1600" dirty="0">
                <a:solidFill>
                  <a:srgbClr val="7F7F7F"/>
                </a:solidFill>
                <a:latin typeface="Calibri"/>
                <a:ea typeface="Calibri"/>
                <a:cs typeface="Calibri"/>
                <a:sym typeface="Calibri"/>
              </a:rPr>
              <a:t> de forma descendente de acuerdo con la columna sueldo líquido utilizando el método </a:t>
            </a:r>
            <a:r>
              <a:rPr lang="es-ES" sz="1600" dirty="0" err="1">
                <a:solidFill>
                  <a:srgbClr val="7F7F7F"/>
                </a:solidFill>
                <a:latin typeface="Calibri"/>
                <a:ea typeface="Calibri"/>
                <a:cs typeface="Calibri"/>
                <a:sym typeface="Calibri"/>
              </a:rPr>
              <a:t>sort_values</a:t>
            </a:r>
            <a:r>
              <a:rPr lang="es-ES" sz="1600" dirty="0">
                <a:solidFill>
                  <a:srgbClr val="7F7F7F"/>
                </a:solidFill>
                <a:latin typeface="Calibri"/>
                <a:ea typeface="Calibri"/>
                <a:cs typeface="Calibri"/>
                <a:sym typeface="Calibri"/>
              </a:rPr>
              <a:t>().</a:t>
            </a:r>
            <a:endParaRPr dirty="0"/>
          </a:p>
        </p:txBody>
      </p:sp>
      <p:pic>
        <p:nvPicPr>
          <p:cNvPr id="549" name="Google Shape;549;p45"/>
          <p:cNvPicPr preferRelativeResize="0"/>
          <p:nvPr/>
        </p:nvPicPr>
        <p:blipFill rotWithShape="1">
          <a:blip r:embed="rId4">
            <a:alphaModFix/>
          </a:blip>
          <a:srcRect/>
          <a:stretch/>
        </p:blipFill>
        <p:spPr>
          <a:xfrm>
            <a:off x="823771" y="2082267"/>
            <a:ext cx="425072" cy="425072"/>
          </a:xfrm>
          <a:prstGeom prst="rect">
            <a:avLst/>
          </a:prstGeom>
          <a:noFill/>
          <a:ln>
            <a:noFill/>
          </a:ln>
        </p:spPr>
      </p:pic>
      <p:pic>
        <p:nvPicPr>
          <p:cNvPr id="550" name="Google Shape;550;p45"/>
          <p:cNvPicPr preferRelativeResize="0"/>
          <p:nvPr/>
        </p:nvPicPr>
        <p:blipFill rotWithShape="1">
          <a:blip r:embed="rId5">
            <a:alphaModFix/>
          </a:blip>
          <a:srcRect/>
          <a:stretch/>
        </p:blipFill>
        <p:spPr>
          <a:xfrm>
            <a:off x="5432231" y="1973502"/>
            <a:ext cx="6001588" cy="3096057"/>
          </a:xfrm>
          <a:prstGeom prst="rect">
            <a:avLst/>
          </a:prstGeom>
          <a:noFill/>
          <a:ln>
            <a:noFill/>
          </a:ln>
        </p:spPr>
      </p:pic>
      <p:pic>
        <p:nvPicPr>
          <p:cNvPr id="551" name="Google Shape;551;p45"/>
          <p:cNvPicPr preferRelativeResize="0"/>
          <p:nvPr/>
        </p:nvPicPr>
        <p:blipFill rotWithShape="1">
          <a:blip r:embed="rId6">
            <a:alphaModFix/>
          </a:blip>
          <a:srcRect/>
          <a:stretch/>
        </p:blipFill>
        <p:spPr>
          <a:xfrm>
            <a:off x="2046514" y="3431104"/>
            <a:ext cx="1567867" cy="15678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7"/>
                                        </p:tgtEl>
                                        <p:attrNameLst>
                                          <p:attrName>style.visibility</p:attrName>
                                        </p:attrNameLst>
                                      </p:cBhvr>
                                      <p:to>
                                        <p:strVal val="visible"/>
                                      </p:to>
                                    </p:set>
                                    <p:animEffect transition="in" filter="fade">
                                      <p:cBhvr>
                                        <p:cTn id="7" dur="500"/>
                                        <p:tgtEl>
                                          <p:spTgt spid="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6"/>
          <p:cNvSpPr txBox="1"/>
          <p:nvPr/>
        </p:nvSpPr>
        <p:spPr>
          <a:xfrm>
            <a:off x="1039034" y="3309116"/>
            <a:ext cx="836506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600">
                <a:solidFill>
                  <a:srgbClr val="7F7F7F"/>
                </a:solidFill>
                <a:latin typeface="Calibri"/>
                <a:ea typeface="Calibri"/>
                <a:cs typeface="Calibri"/>
                <a:sym typeface="Calibri"/>
              </a:rPr>
              <a:t>Columnas e Índices</a:t>
            </a:r>
            <a:endParaRPr sz="36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6"/>
                                        </p:tgtEl>
                                        <p:attrNameLst>
                                          <p:attrName>style.visibility</p:attrName>
                                        </p:attrNameLst>
                                      </p:cBhvr>
                                      <p:to>
                                        <p:strVal val="visible"/>
                                      </p:to>
                                    </p:set>
                                    <p:animEffect transition="in" filter="fade">
                                      <p:cBhvr>
                                        <p:cTn id="7" dur="500"/>
                                        <p:tgtEl>
                                          <p:spTgt spid="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pic>
        <p:nvPicPr>
          <p:cNvPr id="3" name="Google Shape;523;p43" descr="Forma, Cuadrado&#10;&#10;Descripción generada automáticamente">
            <a:extLst>
              <a:ext uri="{FF2B5EF4-FFF2-40B4-BE49-F238E27FC236}">
                <a16:creationId xmlns:a16="http://schemas.microsoft.com/office/drawing/2014/main" id="{F7AF0876-2EDA-F1F8-01B2-AD14CBF7B30F}"/>
              </a:ext>
            </a:extLst>
          </p:cNvPr>
          <p:cNvPicPr preferRelativeResize="0"/>
          <p:nvPr/>
        </p:nvPicPr>
        <p:blipFill rotWithShape="1">
          <a:blip r:embed="rId3">
            <a:alphaModFix/>
          </a:blip>
          <a:srcRect/>
          <a:stretch/>
        </p:blipFill>
        <p:spPr>
          <a:xfrm>
            <a:off x="839634" y="1443863"/>
            <a:ext cx="10427775" cy="4550851"/>
          </a:xfrm>
          <a:prstGeom prst="rect">
            <a:avLst/>
          </a:prstGeom>
          <a:noFill/>
          <a:ln>
            <a:noFill/>
          </a:ln>
        </p:spPr>
      </p:pic>
      <p:sp>
        <p:nvSpPr>
          <p:cNvPr id="561" name="Google Shape;561;p47"/>
          <p:cNvSpPr txBox="1">
            <a:spLocks noGrp="1"/>
          </p:cNvSpPr>
          <p:nvPr>
            <p:ph type="title"/>
          </p:nvPr>
        </p:nvSpPr>
        <p:spPr>
          <a:xfrm>
            <a:off x="838200" y="481752"/>
            <a:ext cx="10515600" cy="83137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600" b="0" i="0" u="none" strike="noStrike" cap="none">
                <a:solidFill>
                  <a:srgbClr val="7F7F7F"/>
                </a:solidFill>
                <a:latin typeface="Arial"/>
                <a:ea typeface="Arial"/>
                <a:cs typeface="Arial"/>
                <a:sym typeface="Arial"/>
              </a:rPr>
              <a:t>Columnas e Índices: Renombrar Columnas</a:t>
            </a:r>
            <a:endParaRPr/>
          </a:p>
        </p:txBody>
      </p:sp>
      <p:sp>
        <p:nvSpPr>
          <p:cNvPr id="562" name="Google Shape;562;p47"/>
          <p:cNvSpPr/>
          <p:nvPr/>
        </p:nvSpPr>
        <p:spPr>
          <a:xfrm>
            <a:off x="4395396" y="1546593"/>
            <a:ext cx="6732300" cy="4324200"/>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64" name="Google Shape;564;p47"/>
          <p:cNvPicPr preferRelativeResize="0"/>
          <p:nvPr/>
        </p:nvPicPr>
        <p:blipFill rotWithShape="1">
          <a:blip r:embed="rId4">
            <a:alphaModFix/>
          </a:blip>
          <a:srcRect/>
          <a:stretch/>
        </p:blipFill>
        <p:spPr>
          <a:xfrm>
            <a:off x="4638750" y="1831462"/>
            <a:ext cx="6299974" cy="3040829"/>
          </a:xfrm>
          <a:prstGeom prst="rect">
            <a:avLst/>
          </a:prstGeom>
          <a:noFill/>
          <a:ln>
            <a:noFill/>
          </a:ln>
        </p:spPr>
      </p:pic>
      <p:sp>
        <p:nvSpPr>
          <p:cNvPr id="563" name="Google Shape;563;p47"/>
          <p:cNvSpPr/>
          <p:nvPr/>
        </p:nvSpPr>
        <p:spPr>
          <a:xfrm>
            <a:off x="1071116" y="1646687"/>
            <a:ext cx="3170100"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bg1"/>
                </a:solidFill>
                <a:latin typeface="Calibri"/>
                <a:ea typeface="Calibri"/>
                <a:cs typeface="Calibri"/>
                <a:sym typeface="Calibri"/>
              </a:rPr>
              <a:t>El método </a:t>
            </a:r>
            <a:r>
              <a:rPr lang="es-ES" sz="1800" b="1" err="1">
                <a:solidFill>
                  <a:schemeClr val="bg1"/>
                </a:solidFill>
                <a:latin typeface="Calibri"/>
                <a:ea typeface="Calibri"/>
                <a:cs typeface="Calibri"/>
                <a:sym typeface="Calibri"/>
              </a:rPr>
              <a:t>rename</a:t>
            </a:r>
            <a:r>
              <a:rPr lang="es-ES" sz="1800" b="1" dirty="0">
                <a:solidFill>
                  <a:schemeClr val="bg1"/>
                </a:solidFill>
                <a:latin typeface="Calibri"/>
                <a:ea typeface="Calibri"/>
                <a:cs typeface="Calibri"/>
                <a:sym typeface="Calibri"/>
              </a:rPr>
              <a:t>()</a:t>
            </a:r>
            <a:r>
              <a:rPr lang="es-ES" sz="1800" dirty="0">
                <a:solidFill>
                  <a:schemeClr val="bg1"/>
                </a:solidFill>
                <a:latin typeface="Calibri"/>
                <a:ea typeface="Calibri"/>
                <a:cs typeface="Calibri"/>
                <a:sym typeface="Calibri"/>
              </a:rPr>
              <a:t> permite, dentro de otras cosas, renombrar las columnas. Para esto, debe proporcionarse un diccionario con los nombres actuales y nuevos nombres de las columnas que se desea modificar. Recuerde que este método utiliza el parámetro </a:t>
            </a:r>
            <a:r>
              <a:rPr lang="es-ES" sz="1800" err="1">
                <a:solidFill>
                  <a:schemeClr val="bg1"/>
                </a:solidFill>
                <a:latin typeface="Calibri"/>
                <a:ea typeface="Calibri"/>
                <a:cs typeface="Calibri"/>
                <a:sym typeface="Calibri"/>
              </a:rPr>
              <a:t>inplace</a:t>
            </a:r>
            <a:r>
              <a:rPr lang="es-ES" sz="1800" dirty="0">
                <a:solidFill>
                  <a:schemeClr val="bg1"/>
                </a:solidFill>
                <a:latin typeface="Calibri"/>
                <a:ea typeface="Calibri"/>
                <a:cs typeface="Calibri"/>
                <a:sym typeface="Calibri"/>
              </a:rPr>
              <a:t>. Si </a:t>
            </a:r>
            <a:r>
              <a:rPr lang="es-ES" sz="1800" b="1" err="1">
                <a:solidFill>
                  <a:schemeClr val="bg1"/>
                </a:solidFill>
                <a:latin typeface="Calibri"/>
                <a:ea typeface="Calibri"/>
                <a:cs typeface="Calibri"/>
                <a:sym typeface="Calibri"/>
              </a:rPr>
              <a:t>inplace</a:t>
            </a:r>
            <a:r>
              <a:rPr lang="es-ES" sz="1800" b="1" dirty="0">
                <a:solidFill>
                  <a:schemeClr val="bg1"/>
                </a:solidFill>
                <a:latin typeface="Calibri"/>
                <a:ea typeface="Calibri"/>
                <a:cs typeface="Calibri"/>
                <a:sym typeface="Calibri"/>
              </a:rPr>
              <a:t>=False</a:t>
            </a:r>
            <a:r>
              <a:rPr lang="es-ES" sz="1800" dirty="0">
                <a:solidFill>
                  <a:schemeClr val="bg1"/>
                </a:solidFill>
                <a:latin typeface="Calibri"/>
                <a:ea typeface="Calibri"/>
                <a:cs typeface="Calibri"/>
                <a:sym typeface="Calibri"/>
              </a:rPr>
              <a:t>, el método retorna una copia del </a:t>
            </a:r>
            <a:r>
              <a:rPr lang="es-ES" sz="1800" err="1">
                <a:solidFill>
                  <a:schemeClr val="bg1"/>
                </a:solidFill>
                <a:latin typeface="Calibri"/>
                <a:ea typeface="Calibri"/>
                <a:cs typeface="Calibri"/>
                <a:sym typeface="Calibri"/>
              </a:rPr>
              <a:t>datafram</a:t>
            </a:r>
            <a:r>
              <a:rPr lang="es-ES" sz="1800" dirty="0">
                <a:solidFill>
                  <a:schemeClr val="bg1"/>
                </a:solidFill>
                <a:latin typeface="Calibri"/>
                <a:ea typeface="Calibri"/>
                <a:cs typeface="Calibri"/>
                <a:sym typeface="Calibri"/>
              </a:rPr>
              <a:t>.</a:t>
            </a:r>
            <a:endParaRPr sz="1800" dirty="0">
              <a:solidFill>
                <a:schemeClr val="bg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1"/>
                                        </p:tgtEl>
                                        <p:attrNameLst>
                                          <p:attrName>style.visibility</p:attrName>
                                        </p:attrNameLst>
                                      </p:cBhvr>
                                      <p:to>
                                        <p:strVal val="visible"/>
                                      </p:to>
                                    </p:set>
                                    <p:animEffect transition="in" filter="fade">
                                      <p:cBhvr>
                                        <p:cTn id="7" dur="500"/>
                                        <p:tgtEl>
                                          <p:spTgt spid="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8"/>
        <p:cNvGrpSpPr/>
        <p:nvPr/>
      </p:nvGrpSpPr>
      <p:grpSpPr>
        <a:xfrm>
          <a:off x="0" y="0"/>
          <a:ext cx="0" cy="0"/>
          <a:chOff x="0" y="0"/>
          <a:chExt cx="0" cy="0"/>
        </a:xfrm>
      </p:grpSpPr>
      <p:pic>
        <p:nvPicPr>
          <p:cNvPr id="569" name="Google Shape;569;p48"/>
          <p:cNvPicPr preferRelativeResize="0"/>
          <p:nvPr/>
        </p:nvPicPr>
        <p:blipFill rotWithShape="1">
          <a:blip r:embed="rId4">
            <a:alphaModFix/>
          </a:blip>
          <a:srcRect/>
          <a:stretch/>
        </p:blipFill>
        <p:spPr>
          <a:xfrm>
            <a:off x="-308043" y="1155508"/>
            <a:ext cx="12752962" cy="1112933"/>
          </a:xfrm>
          <a:prstGeom prst="rect">
            <a:avLst/>
          </a:prstGeom>
          <a:noFill/>
          <a:ln>
            <a:noFill/>
          </a:ln>
        </p:spPr>
      </p:pic>
      <p:sp>
        <p:nvSpPr>
          <p:cNvPr id="570" name="Google Shape;570;p48"/>
          <p:cNvSpPr/>
          <p:nvPr/>
        </p:nvSpPr>
        <p:spPr>
          <a:xfrm>
            <a:off x="1164425" y="2562477"/>
            <a:ext cx="10069285" cy="3668485"/>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1" name="Google Shape;571;p48"/>
          <p:cNvSpPr txBox="1"/>
          <p:nvPr/>
        </p:nvSpPr>
        <p:spPr>
          <a:xfrm>
            <a:off x="1164424" y="382150"/>
            <a:ext cx="10782300" cy="68695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Setear un índice</a:t>
            </a:r>
            <a:endParaRPr sz="3200">
              <a:solidFill>
                <a:srgbClr val="7F7F7F"/>
              </a:solidFill>
              <a:latin typeface="Arial"/>
              <a:ea typeface="Arial"/>
              <a:cs typeface="Arial"/>
              <a:sym typeface="Arial"/>
            </a:endParaRPr>
          </a:p>
        </p:txBody>
      </p:sp>
      <p:sp>
        <p:nvSpPr>
          <p:cNvPr id="572" name="Google Shape;572;p48"/>
          <p:cNvSpPr/>
          <p:nvPr/>
        </p:nvSpPr>
        <p:spPr>
          <a:xfrm>
            <a:off x="1362133" y="4472239"/>
            <a:ext cx="1424665" cy="338554"/>
          </a:xfrm>
          <a:prstGeom prst="rect">
            <a:avLst/>
          </a:prstGeom>
          <a:solidFill>
            <a:srgbClr val="F2F2F2"/>
          </a:solidFill>
          <a:ln w="9525" cap="flat" cmpd="sng">
            <a:solidFill>
              <a:srgbClr val="A5A5A5"/>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600" b="1">
                <a:solidFill>
                  <a:srgbClr val="7F7F7F"/>
                </a:solidFill>
                <a:latin typeface="Calibri"/>
                <a:ea typeface="Calibri"/>
                <a:cs typeface="Calibri"/>
                <a:sym typeface="Calibri"/>
              </a:rPr>
              <a:t>Nuevo índice</a:t>
            </a:r>
            <a:endParaRPr sz="1400">
              <a:solidFill>
                <a:schemeClr val="dk1"/>
              </a:solidFill>
              <a:latin typeface="Calibri"/>
              <a:ea typeface="Calibri"/>
              <a:cs typeface="Calibri"/>
              <a:sym typeface="Calibri"/>
            </a:endParaRPr>
          </a:p>
        </p:txBody>
      </p:sp>
      <p:pic>
        <p:nvPicPr>
          <p:cNvPr id="573" name="Google Shape;573;p48"/>
          <p:cNvPicPr preferRelativeResize="0"/>
          <p:nvPr/>
        </p:nvPicPr>
        <p:blipFill rotWithShape="1">
          <a:blip r:embed="rId5">
            <a:alphaModFix/>
          </a:blip>
          <a:srcRect/>
          <a:stretch/>
        </p:blipFill>
        <p:spPr>
          <a:xfrm>
            <a:off x="3062259" y="2829462"/>
            <a:ext cx="7640116" cy="3296110"/>
          </a:xfrm>
          <a:prstGeom prst="rect">
            <a:avLst/>
          </a:prstGeom>
          <a:noFill/>
          <a:ln>
            <a:noFill/>
          </a:ln>
        </p:spPr>
      </p:pic>
      <p:cxnSp>
        <p:nvCxnSpPr>
          <p:cNvPr id="574" name="Google Shape;574;p48"/>
          <p:cNvCxnSpPr/>
          <p:nvPr/>
        </p:nvCxnSpPr>
        <p:spPr>
          <a:xfrm rot="10800000" flipH="1">
            <a:off x="2160699" y="4022619"/>
            <a:ext cx="901560" cy="374101"/>
          </a:xfrm>
          <a:prstGeom prst="straightConnector1">
            <a:avLst/>
          </a:prstGeom>
          <a:noFill/>
          <a:ln w="19050" cap="flat" cmpd="sng">
            <a:solidFill>
              <a:srgbClr val="7F7F7F"/>
            </a:solidFill>
            <a:prstDash val="solid"/>
            <a:miter lim="800000"/>
            <a:headEnd type="none" w="sm" len="sm"/>
            <a:tailEnd type="triangle" w="med" len="med"/>
          </a:ln>
        </p:spPr>
      </p:cxnSp>
      <p:sp>
        <p:nvSpPr>
          <p:cNvPr id="575" name="Google Shape;575;p48"/>
          <p:cNvSpPr txBox="1"/>
          <p:nvPr/>
        </p:nvSpPr>
        <p:spPr>
          <a:xfrm>
            <a:off x="1153538" y="1231708"/>
            <a:ext cx="9829800" cy="92328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dirty="0">
                <a:solidFill>
                  <a:schemeClr val="lt1"/>
                </a:solidFill>
                <a:latin typeface="Calibri"/>
                <a:ea typeface="Calibri"/>
                <a:cs typeface="Calibri"/>
                <a:sym typeface="Calibri"/>
              </a:rPr>
              <a:t>A continuación, definiremos que la columna PID (anteriormente llamada _id) ahora será el índice de la serie, sobrescribiendo el índice por defecto que partía en cero. Este método también posee el parámetro </a:t>
            </a:r>
            <a:r>
              <a:rPr lang="es-ES" sz="1800" b="1" dirty="0" err="1">
                <a:solidFill>
                  <a:schemeClr val="lt1"/>
                </a:solidFill>
                <a:latin typeface="Calibri"/>
                <a:ea typeface="Calibri"/>
                <a:cs typeface="Calibri"/>
                <a:sym typeface="Calibri"/>
              </a:rPr>
              <a:t>inplace</a:t>
            </a:r>
            <a:r>
              <a:rPr lang="es-ES" sz="1800" dirty="0">
                <a:solidFill>
                  <a:schemeClr val="lt1"/>
                </a:solidFill>
                <a:latin typeface="Calibri"/>
                <a:ea typeface="Calibri"/>
                <a:cs typeface="Calibri"/>
                <a:sym typeface="Calibri"/>
              </a:rPr>
              <a:t>.</a:t>
            </a:r>
            <a:endParaRPr lang="es-ES" sz="1800" dirty="0">
              <a:solidFill>
                <a:schemeClr val="lt1"/>
              </a:solidFill>
              <a:latin typeface="Calibri"/>
              <a:ea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1"/>
                                        </p:tgtEl>
                                        <p:attrNameLst>
                                          <p:attrName>style.visibility</p:attrName>
                                        </p:attrNameLst>
                                      </p:cBhvr>
                                      <p:to>
                                        <p:strVal val="visible"/>
                                      </p:to>
                                    </p:set>
                                    <p:animEffect transition="in" filter="fade">
                                      <p:cBhvr>
                                        <p:cTn id="7" dur="500"/>
                                        <p:tgtEl>
                                          <p:spTgt spid="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79"/>
        <p:cNvGrpSpPr/>
        <p:nvPr/>
      </p:nvGrpSpPr>
      <p:grpSpPr>
        <a:xfrm>
          <a:off x="0" y="0"/>
          <a:ext cx="0" cy="0"/>
          <a:chOff x="0" y="0"/>
          <a:chExt cx="0" cy="0"/>
        </a:xfrm>
      </p:grpSpPr>
      <p:sp>
        <p:nvSpPr>
          <p:cNvPr id="580" name="Google Shape;580;p49"/>
          <p:cNvSpPr/>
          <p:nvPr/>
        </p:nvSpPr>
        <p:spPr>
          <a:xfrm>
            <a:off x="1876049" y="2665236"/>
            <a:ext cx="8948057" cy="3624942"/>
          </a:xfrm>
          <a:prstGeom prst="roundRect">
            <a:avLst>
              <a:gd name="adj" fmla="val 2971"/>
            </a:avLst>
          </a:prstGeom>
          <a:solidFill>
            <a:schemeClr val="lt1"/>
          </a:solidFill>
          <a:ln w="38100" cap="flat" cmpd="sng">
            <a:solidFill>
              <a:srgbClr val="98C34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1" name="Google Shape;581;p49"/>
          <p:cNvSpPr txBox="1"/>
          <p:nvPr/>
        </p:nvSpPr>
        <p:spPr>
          <a:xfrm>
            <a:off x="1873385" y="223903"/>
            <a:ext cx="894944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3200">
              <a:solidFill>
                <a:srgbClr val="7F7F7F"/>
              </a:solidFill>
              <a:latin typeface="Arial"/>
              <a:ea typeface="Arial"/>
              <a:cs typeface="Arial"/>
              <a:sym typeface="Arial"/>
            </a:endParaRPr>
          </a:p>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Resetear un índice</a:t>
            </a:r>
            <a:endParaRPr/>
          </a:p>
          <a:p>
            <a:pPr marL="0" marR="0" lvl="0" indent="0" algn="l" rtl="0">
              <a:lnSpc>
                <a:spcPct val="100000"/>
              </a:lnSpc>
              <a:spcBef>
                <a:spcPts val="0"/>
              </a:spcBef>
              <a:spcAft>
                <a:spcPts val="0"/>
              </a:spcAft>
              <a:buNone/>
            </a:pPr>
            <a:endParaRPr sz="3200">
              <a:solidFill>
                <a:srgbClr val="7F7F7F"/>
              </a:solidFill>
              <a:latin typeface="Arial"/>
              <a:ea typeface="Arial"/>
              <a:cs typeface="Arial"/>
              <a:sym typeface="Arial"/>
            </a:endParaRPr>
          </a:p>
        </p:txBody>
      </p:sp>
      <p:pic>
        <p:nvPicPr>
          <p:cNvPr id="582" name="Google Shape;582;p49"/>
          <p:cNvPicPr preferRelativeResize="0"/>
          <p:nvPr/>
        </p:nvPicPr>
        <p:blipFill rotWithShape="1">
          <a:blip r:embed="rId4">
            <a:alphaModFix/>
          </a:blip>
          <a:srcRect/>
          <a:stretch/>
        </p:blipFill>
        <p:spPr>
          <a:xfrm>
            <a:off x="2280327" y="2930353"/>
            <a:ext cx="7649643" cy="3181794"/>
          </a:xfrm>
          <a:prstGeom prst="rect">
            <a:avLst/>
          </a:prstGeom>
          <a:noFill/>
          <a:ln>
            <a:noFill/>
          </a:ln>
        </p:spPr>
      </p:pic>
      <p:pic>
        <p:nvPicPr>
          <p:cNvPr id="583" name="Google Shape;583;p49"/>
          <p:cNvPicPr preferRelativeResize="0"/>
          <p:nvPr/>
        </p:nvPicPr>
        <p:blipFill rotWithShape="1">
          <a:blip r:embed="rId5">
            <a:alphaModFix/>
          </a:blip>
          <a:srcRect/>
          <a:stretch/>
        </p:blipFill>
        <p:spPr>
          <a:xfrm>
            <a:off x="-236672" y="1222203"/>
            <a:ext cx="12758032" cy="1151842"/>
          </a:xfrm>
          <a:prstGeom prst="rect">
            <a:avLst/>
          </a:prstGeom>
          <a:noFill/>
          <a:ln>
            <a:noFill/>
          </a:ln>
        </p:spPr>
      </p:pic>
      <p:sp>
        <p:nvSpPr>
          <p:cNvPr id="584" name="Google Shape;584;p49"/>
          <p:cNvSpPr txBox="1"/>
          <p:nvPr/>
        </p:nvSpPr>
        <p:spPr>
          <a:xfrm>
            <a:off x="1884271" y="1320128"/>
            <a:ext cx="8949447" cy="9233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De forma análoga, al resetear un índice, éste es promovido a columna y por lo tanto, la información no se pierde. Por otra parte, se asigna el índice por defecto sin nombre. Al igual que los otros casos, este método también utiliza el parámetro inplace.</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81"/>
                                        </p:tgtEl>
                                        <p:attrNameLst>
                                          <p:attrName>style.visibility</p:attrName>
                                        </p:attrNameLst>
                                      </p:cBhvr>
                                      <p:to>
                                        <p:strVal val="visible"/>
                                      </p:to>
                                    </p:set>
                                    <p:animEffect transition="in" filter="fade">
                                      <p:cBhvr>
                                        <p:cTn id="7" dur="500"/>
                                        <p:tgtEl>
                                          <p:spTgt spid="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50"/>
          <p:cNvSpPr txBox="1">
            <a:spLocks noGrp="1"/>
          </p:cNvSpPr>
          <p:nvPr>
            <p:ph type="title"/>
          </p:nvPr>
        </p:nvSpPr>
        <p:spPr>
          <a:xfrm>
            <a:off x="672830" y="574420"/>
            <a:ext cx="10515600" cy="72437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br>
              <a:rPr lang="es-ES" sz="3600">
                <a:solidFill>
                  <a:srgbClr val="7F7F7F"/>
                </a:solidFill>
                <a:latin typeface="Arial"/>
                <a:ea typeface="Arial"/>
                <a:cs typeface="Arial"/>
                <a:sym typeface="Arial"/>
              </a:rPr>
            </a:br>
            <a:r>
              <a:rPr lang="es-ES" sz="3200">
                <a:solidFill>
                  <a:srgbClr val="7F7F7F"/>
                </a:solidFill>
                <a:latin typeface="Arial"/>
                <a:ea typeface="Arial"/>
                <a:cs typeface="Arial"/>
                <a:sym typeface="Arial"/>
              </a:rPr>
              <a:t>Remover columnas</a:t>
            </a:r>
            <a:br>
              <a:rPr lang="es-ES">
                <a:solidFill>
                  <a:srgbClr val="7F7F7F"/>
                </a:solidFill>
                <a:latin typeface="Arial"/>
                <a:ea typeface="Arial"/>
                <a:cs typeface="Arial"/>
                <a:sym typeface="Arial"/>
              </a:rPr>
            </a:br>
            <a:endParaRPr/>
          </a:p>
        </p:txBody>
      </p:sp>
      <p:pic>
        <p:nvPicPr>
          <p:cNvPr id="590" name="Google Shape;590;p50"/>
          <p:cNvPicPr preferRelativeResize="0"/>
          <p:nvPr/>
        </p:nvPicPr>
        <p:blipFill rotWithShape="1">
          <a:blip r:embed="rId3">
            <a:alphaModFix/>
          </a:blip>
          <a:srcRect/>
          <a:stretch/>
        </p:blipFill>
        <p:spPr>
          <a:xfrm>
            <a:off x="557447" y="1462315"/>
            <a:ext cx="11308863" cy="4224117"/>
          </a:xfrm>
          <a:prstGeom prst="rect">
            <a:avLst/>
          </a:prstGeom>
          <a:noFill/>
          <a:ln>
            <a:noFill/>
          </a:ln>
        </p:spPr>
      </p:pic>
      <p:sp>
        <p:nvSpPr>
          <p:cNvPr id="591" name="Google Shape;591;p50"/>
          <p:cNvSpPr/>
          <p:nvPr/>
        </p:nvSpPr>
        <p:spPr>
          <a:xfrm>
            <a:off x="816658" y="1738435"/>
            <a:ext cx="3807215" cy="3139281"/>
          </a:xfrm>
          <a:prstGeom prst="rect">
            <a:avLst/>
          </a:prstGeom>
          <a:noFill/>
          <a:ln>
            <a:noFill/>
          </a:ln>
        </p:spPr>
        <p:txBody>
          <a:bodyPr spcFirstLastPara="1" wrap="square" lIns="91425" tIns="45700" rIns="91425" bIns="45700" anchor="t" anchorCtr="0">
            <a:spAutoFit/>
          </a:bodyPr>
          <a:lstStyle/>
          <a:p>
            <a:pPr algn="just"/>
            <a:r>
              <a:rPr lang="es-ES" sz="1800" dirty="0">
                <a:solidFill>
                  <a:schemeClr val="lt1"/>
                </a:solidFill>
                <a:latin typeface="Calibri"/>
                <a:ea typeface="Calibri"/>
                <a:cs typeface="Calibri"/>
                <a:sym typeface="Calibri"/>
              </a:rPr>
              <a:t>Para remover una o varias columnas de un </a:t>
            </a:r>
            <a:r>
              <a:rPr lang="es-ES" sz="1800" dirty="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aplicamos la función </a:t>
            </a:r>
            <a:r>
              <a:rPr lang="es-ES" sz="1800" dirty="0" err="1">
                <a:solidFill>
                  <a:schemeClr val="lt1"/>
                </a:solidFill>
                <a:latin typeface="Calibri"/>
                <a:ea typeface="Calibri"/>
                <a:cs typeface="Calibri"/>
                <a:sym typeface="Calibri"/>
              </a:rPr>
              <a:t>drop</a:t>
            </a:r>
            <a:r>
              <a:rPr lang="es-ES" sz="1800" dirty="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a:p>
            <a:pPr marL="0" marR="0" lvl="0" indent="0" algn="just" rtl="0">
              <a:lnSpc>
                <a:spcPct val="100000"/>
              </a:lnSpc>
              <a:spcBef>
                <a:spcPts val="0"/>
              </a:spcBef>
              <a:spcAft>
                <a:spcPts val="0"/>
              </a:spcAft>
              <a:buNone/>
            </a:pPr>
            <a:endParaRPr sz="1800">
              <a:solidFill>
                <a:schemeClr val="lt1"/>
              </a:solidFill>
              <a:latin typeface="Calibri"/>
              <a:ea typeface="Calibri"/>
              <a:cs typeface="Calibri"/>
              <a:sym typeface="Calibri"/>
            </a:endParaRPr>
          </a:p>
          <a:p>
            <a:pPr algn="just"/>
            <a:r>
              <a:rPr lang="es-ES" sz="1800" dirty="0">
                <a:solidFill>
                  <a:schemeClr val="lt1"/>
                </a:solidFill>
                <a:latin typeface="Calibri"/>
                <a:ea typeface="Calibri"/>
                <a:cs typeface="Calibri"/>
                <a:sym typeface="Calibri"/>
              </a:rPr>
              <a:t>El parámetro </a:t>
            </a:r>
            <a:r>
              <a:rPr lang="es-ES" sz="1800" b="1" dirty="0">
                <a:solidFill>
                  <a:schemeClr val="lt1"/>
                </a:solidFill>
                <a:latin typeface="Calibri"/>
                <a:ea typeface="Calibri"/>
                <a:cs typeface="Calibri"/>
                <a:sym typeface="Calibri"/>
              </a:rPr>
              <a:t>axis=1</a:t>
            </a:r>
            <a:r>
              <a:rPr lang="es-ES" sz="1800" dirty="0">
                <a:solidFill>
                  <a:schemeClr val="lt1"/>
                </a:solidFill>
                <a:latin typeface="Calibri"/>
                <a:ea typeface="Calibri"/>
                <a:cs typeface="Calibri"/>
                <a:sym typeface="Calibri"/>
              </a:rPr>
              <a:t> indica que se realizará la operación en una columna, </a:t>
            </a:r>
            <a:r>
              <a:rPr lang="es-ES" sz="1800" err="1">
                <a:solidFill>
                  <a:schemeClr val="lt1"/>
                </a:solidFill>
                <a:latin typeface="Calibri"/>
                <a:ea typeface="Calibri"/>
                <a:cs typeface="Calibri"/>
                <a:sym typeface="Calibri"/>
              </a:rPr>
              <a:t>inplace</a:t>
            </a:r>
            <a:r>
              <a:rPr lang="es-ES" sz="1800" dirty="0">
                <a:solidFill>
                  <a:schemeClr val="lt1"/>
                </a:solidFill>
                <a:latin typeface="Calibri"/>
                <a:ea typeface="Calibri"/>
                <a:cs typeface="Calibri"/>
                <a:sym typeface="Calibri"/>
              </a:rPr>
              <a:t>=False devuelve una copia del </a:t>
            </a:r>
            <a:r>
              <a:rPr lang="es-ES" sz="180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con la operación aplicada. </a:t>
            </a:r>
            <a:endParaRPr sz="1800">
              <a:solidFill>
                <a:schemeClr val="lt1"/>
              </a:solidFill>
              <a:latin typeface="Calibri"/>
              <a:ea typeface="Calibri"/>
              <a:cs typeface="Calibri"/>
              <a:sym typeface="Calibri"/>
            </a:endParaRPr>
          </a:p>
          <a:p>
            <a:pPr marL="0" marR="0" lvl="0" indent="0" algn="just" rtl="0">
              <a:lnSpc>
                <a:spcPct val="100000"/>
              </a:lnSpc>
              <a:spcBef>
                <a:spcPts val="0"/>
              </a:spcBef>
              <a:spcAft>
                <a:spcPts val="0"/>
              </a:spcAft>
              <a:buNone/>
            </a:pPr>
            <a:endParaRPr sz="1800">
              <a:solidFill>
                <a:schemeClr val="lt1"/>
              </a:solidFill>
              <a:latin typeface="Calibri"/>
              <a:ea typeface="Calibri"/>
              <a:cs typeface="Calibri"/>
              <a:sym typeface="Calibri"/>
            </a:endParaRPr>
          </a:p>
          <a:p>
            <a:pPr marL="0" marR="0" lvl="0" indent="0" algn="just" rtl="0">
              <a:lnSpc>
                <a:spcPct val="100000"/>
              </a:lnSpc>
              <a:spcBef>
                <a:spcPts val="0"/>
              </a:spcBef>
              <a:spcAft>
                <a:spcPts val="0"/>
              </a:spcAft>
              <a:buNone/>
            </a:pPr>
            <a:r>
              <a:rPr lang="es-ES" sz="1800" dirty="0">
                <a:solidFill>
                  <a:schemeClr val="lt1"/>
                </a:solidFill>
                <a:latin typeface="Calibri"/>
                <a:ea typeface="Calibri"/>
                <a:cs typeface="Calibri"/>
                <a:sym typeface="Calibri"/>
              </a:rPr>
              <a:t>Si se opta por </a:t>
            </a:r>
            <a:r>
              <a:rPr lang="es-ES" sz="1800" b="1" dirty="0" err="1">
                <a:solidFill>
                  <a:schemeClr val="lt1"/>
                </a:solidFill>
                <a:latin typeface="Calibri"/>
                <a:ea typeface="Calibri"/>
                <a:cs typeface="Calibri"/>
                <a:sym typeface="Calibri"/>
              </a:rPr>
              <a:t>inplace</a:t>
            </a:r>
            <a:r>
              <a:rPr lang="es-ES" sz="1800" b="1" dirty="0">
                <a:solidFill>
                  <a:schemeClr val="lt1"/>
                </a:solidFill>
                <a:latin typeface="Calibri"/>
                <a:ea typeface="Calibri"/>
                <a:cs typeface="Calibri"/>
                <a:sym typeface="Calibri"/>
              </a:rPr>
              <a:t>=True</a:t>
            </a:r>
            <a:r>
              <a:rPr lang="es-ES" sz="1800" dirty="0">
                <a:solidFill>
                  <a:schemeClr val="lt1"/>
                </a:solidFill>
                <a:latin typeface="Calibri"/>
                <a:ea typeface="Calibri"/>
                <a:cs typeface="Calibri"/>
                <a:sym typeface="Calibri"/>
              </a:rPr>
              <a:t>, se modifica el </a:t>
            </a:r>
            <a:r>
              <a:rPr lang="es-ES" sz="1800" dirty="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original.</a:t>
            </a:r>
            <a:endParaRPr sz="1800" dirty="0">
              <a:solidFill>
                <a:schemeClr val="lt1"/>
              </a:solidFill>
              <a:latin typeface="Calibri"/>
              <a:ea typeface="Calibri"/>
              <a:cs typeface="Calibri"/>
              <a:sym typeface="Calibri"/>
            </a:endParaRPr>
          </a:p>
        </p:txBody>
      </p:sp>
      <p:sp>
        <p:nvSpPr>
          <p:cNvPr id="592" name="Google Shape;592;p50"/>
          <p:cNvSpPr/>
          <p:nvPr/>
        </p:nvSpPr>
        <p:spPr>
          <a:xfrm>
            <a:off x="4880227" y="1561748"/>
            <a:ext cx="6888573" cy="4014380"/>
          </a:xfrm>
          <a:prstGeom prst="roundRect">
            <a:avLst>
              <a:gd name="adj" fmla="val 2971"/>
            </a:avLst>
          </a:prstGeom>
          <a:solidFill>
            <a:schemeClr val="bg1"/>
          </a:solidFill>
          <a:ln w="381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93" name="Google Shape;593;p50"/>
          <p:cNvPicPr preferRelativeResize="0"/>
          <p:nvPr/>
        </p:nvPicPr>
        <p:blipFill rotWithShape="1">
          <a:blip r:embed="rId4">
            <a:alphaModFix/>
          </a:blip>
          <a:srcRect/>
          <a:stretch/>
        </p:blipFill>
        <p:spPr>
          <a:xfrm>
            <a:off x="5353688" y="1766000"/>
            <a:ext cx="6192485" cy="3649417"/>
          </a:xfrm>
          <a:prstGeom prst="rect">
            <a:avLst/>
          </a:prstGeom>
          <a:noFill/>
          <a:ln w="9525" cap="flat" cmpd="sng">
            <a:no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89"/>
                                        </p:tgtEl>
                                        <p:attrNameLst>
                                          <p:attrName>style.visibility</p:attrName>
                                        </p:attrNameLst>
                                      </p:cBhvr>
                                      <p:to>
                                        <p:strVal val="visible"/>
                                      </p:to>
                                    </p:set>
                                    <p:animEffect transition="in" filter="fade">
                                      <p:cBhvr>
                                        <p:cTn id="7" dur="1000"/>
                                        <p:tgtEl>
                                          <p:spTgt spid="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pic>
        <p:nvPicPr>
          <p:cNvPr id="598" name="Google Shape;598;p51" descr="Patrón de fondo"/>
          <p:cNvPicPr preferRelativeResize="0"/>
          <p:nvPr/>
        </p:nvPicPr>
        <p:blipFill rotWithShape="1">
          <a:blip r:embed="rId3">
            <a:alphaModFix/>
          </a:blip>
          <a:srcRect/>
          <a:stretch/>
        </p:blipFill>
        <p:spPr>
          <a:xfrm>
            <a:off x="0" y="0"/>
            <a:ext cx="12192000" cy="6858001"/>
          </a:xfrm>
          <a:prstGeom prst="rect">
            <a:avLst/>
          </a:prstGeom>
          <a:noFill/>
          <a:ln>
            <a:noFill/>
          </a:ln>
        </p:spPr>
      </p:pic>
      <p:sp>
        <p:nvSpPr>
          <p:cNvPr id="599" name="Google Shape;599;p51"/>
          <p:cNvSpPr/>
          <p:nvPr/>
        </p:nvSpPr>
        <p:spPr>
          <a:xfrm>
            <a:off x="-585177" y="3057041"/>
            <a:ext cx="7800454" cy="1045333"/>
          </a:xfrm>
          <a:prstGeom prst="roundRect">
            <a:avLst>
              <a:gd name="adj" fmla="val 9640"/>
            </a:avLst>
          </a:prstGeom>
          <a:gradFill>
            <a:gsLst>
              <a:gs pos="0">
                <a:srgbClr val="58751F"/>
              </a:gs>
              <a:gs pos="50000">
                <a:srgbClr val="81AB2C"/>
              </a:gs>
              <a:gs pos="100000">
                <a:srgbClr val="9BCC3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600" name="Google Shape;600;p51"/>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600">
                <a:solidFill>
                  <a:schemeClr val="lt1"/>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00"/>
                                        </p:tgtEl>
                                        <p:attrNameLst>
                                          <p:attrName>style.visibility</p:attrName>
                                        </p:attrNameLst>
                                      </p:cBhvr>
                                      <p:to>
                                        <p:strVal val="visible"/>
                                      </p:to>
                                    </p:set>
                                    <p:animEffect transition="in" filter="fade">
                                      <p:cBhvr>
                                        <p:cTn id="7" dur="500"/>
                                        <p:tgtEl>
                                          <p:spTgt spid="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52"/>
          <p:cNvSpPr/>
          <p:nvPr/>
        </p:nvSpPr>
        <p:spPr>
          <a:xfrm>
            <a:off x="3965448" y="3161235"/>
            <a:ext cx="4261103" cy="53553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Fin de la Presentación</a:t>
            </a:r>
            <a:endParaRPr sz="14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2415</Words>
  <Application>Microsoft Office PowerPoint</Application>
  <PresentationFormat>Panorámica</PresentationFormat>
  <Paragraphs>173</Paragraphs>
  <Slides>52</Slides>
  <Notes>52</Notes>
  <HiddenSlides>0</HiddenSlides>
  <MMClips>0</MMClips>
  <ScaleCrop>false</ScaleCrop>
  <HeadingPairs>
    <vt:vector size="4" baseType="variant">
      <vt:variant>
        <vt:lpstr>Tema</vt:lpstr>
      </vt:variant>
      <vt:variant>
        <vt:i4>1</vt:i4>
      </vt:variant>
      <vt:variant>
        <vt:lpstr>Títulos de diapositiva</vt:lpstr>
      </vt:variant>
      <vt:variant>
        <vt:i4>52</vt:i4>
      </vt:variant>
    </vt:vector>
  </HeadingPairs>
  <TitlesOfParts>
    <vt:vector size="53" baseType="lpstr">
      <vt:lpstr>Tema de Office</vt:lpstr>
      <vt:lpstr> Data Wrangling</vt:lpstr>
      <vt:lpstr>Presentación de PowerPoint</vt:lpstr>
      <vt:lpstr>Presentación de PowerPoint</vt:lpstr>
      <vt:lpstr>Presentación de PowerPoint</vt:lpstr>
      <vt:lpstr>Presentación de PowerPoint</vt:lpstr>
      <vt:lpstr> “Explorando a fondo” </vt:lpstr>
      <vt:lpstr>Presentación de PowerPoint</vt:lpstr>
      <vt:lpstr>Presentación de PowerPoint</vt:lpstr>
      <vt:lpstr>Muestreos Aleatorios </vt:lpstr>
      <vt:lpstr>Presentación de PowerPoint</vt:lpstr>
      <vt:lpstr>Presentación de PowerPoint</vt:lpstr>
      <vt:lpstr>Presentación de PowerPoint</vt:lpstr>
      <vt:lpstr>Presentación de PowerPoint</vt:lpstr>
      <vt:lpstr>Eliminar duplicados de un dataset</vt:lpstr>
      <vt:lpstr>Presentación de PowerPoint</vt:lpstr>
      <vt:lpstr>Presentación de PowerPoint</vt:lpstr>
      <vt:lpstr>Presentación de PowerPoint</vt:lpstr>
      <vt:lpstr> Chequeo de columnas categóricas </vt:lpstr>
      <vt:lpstr>Presentación de PowerPoint</vt:lpstr>
      <vt:lpstr>Transformando una serie</vt:lpstr>
      <vt:lpstr> Transformando una serie </vt:lpstr>
      <vt:lpstr>Presentación de PowerPoint</vt:lpstr>
      <vt:lpstr>Presentación de PowerPoint</vt:lpstr>
      <vt:lpstr>Transformando un dataframe </vt:lpstr>
      <vt:lpstr>Presentación de PowerPoint</vt:lpstr>
      <vt:lpstr>Presentación de PowerPoint</vt:lpstr>
      <vt:lpstr>Presentación de PowerPoint</vt:lpstr>
      <vt:lpstr>Presentación de PowerPoint</vt:lpstr>
      <vt:lpstr>Presentación de PowerPoint</vt:lpstr>
      <vt:lpstr> Expresiones Regulares </vt:lpstr>
      <vt:lpstr>Presentación de PowerPoint</vt:lpstr>
      <vt:lpstr>Presentación de PowerPoint</vt:lpstr>
      <vt:lpstr>Expresiones Regulares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Ordenar un dataframe</vt:lpstr>
      <vt:lpstr>Presentación de PowerPoint</vt:lpstr>
      <vt:lpstr>Presentación de PowerPoint</vt:lpstr>
      <vt:lpstr>Presentación de PowerPoint</vt:lpstr>
      <vt:lpstr>Columnas e Índices: Renombrar Columnas</vt:lpstr>
      <vt:lpstr>Presentación de PowerPoint</vt:lpstr>
      <vt:lpstr>Presentación de PowerPoint</vt:lpstr>
      <vt:lpstr> Remover columnas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Data Wrangling</dc:title>
  <dc:creator>Kibernum</dc:creator>
  <cp:lastModifiedBy>Diseño ITA</cp:lastModifiedBy>
  <cp:revision>238</cp:revision>
  <dcterms:created xsi:type="dcterms:W3CDTF">2023-01-03T12:28:26Z</dcterms:created>
  <dcterms:modified xsi:type="dcterms:W3CDTF">2025-10-06T15:51:03Z</dcterms:modified>
</cp:coreProperties>
</file>