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562" r:id="rId5"/>
    <p:sldId id="595" r:id="rId6"/>
    <p:sldId id="634" r:id="rId7"/>
    <p:sldId id="635" r:id="rId8"/>
    <p:sldId id="637" r:id="rId9"/>
  </p:sldIdLst>
  <p:sldSz cx="12192000" cy="6858000"/>
  <p:notesSz cx="6858000" cy="914400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8CAE"/>
    <a:srgbClr val="FD0075"/>
    <a:srgbClr val="98C340"/>
    <a:srgbClr val="F6A120"/>
    <a:srgbClr val="7FAEF2"/>
    <a:srgbClr val="000000"/>
    <a:srgbClr val="4E7FDE"/>
    <a:srgbClr val="006BCE"/>
    <a:srgbClr val="F8D6D9"/>
    <a:srgbClr val="8AD3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B56C6A-D189-FEE6-34D3-4B9E793E2BDE}" v="6" dt="2025-10-06T15:56:37.1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54" autoAdjust="0"/>
    <p:restoredTop sz="96395" autoAdjust="0"/>
  </p:normalViewPr>
  <p:slideViewPr>
    <p:cSldViewPr snapToGrid="0">
      <p:cViewPr varScale="1">
        <p:scale>
          <a:sx n="111" d="100"/>
          <a:sy n="111" d="100"/>
        </p:scale>
        <p:origin x="64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39B56C6A-D189-FEE6-34D3-4B9E793E2BDE}"/>
    <pc:docChg chg="modSld">
      <pc:chgData name="Soraya Salazar" userId="S::soraya.salazar@kibernumacademy.com::fdf00a5c-f577-43dc-8064-9968cad83607" providerId="AD" clId="Web-{39B56C6A-D189-FEE6-34D3-4B9E793E2BDE}" dt="2025-10-06T15:56:37.107" v="4" actId="20577"/>
      <pc:docMkLst>
        <pc:docMk/>
      </pc:docMkLst>
      <pc:sldChg chg="modSp">
        <pc:chgData name="Soraya Salazar" userId="S::soraya.salazar@kibernumacademy.com::fdf00a5c-f577-43dc-8064-9968cad83607" providerId="AD" clId="Web-{39B56C6A-D189-FEE6-34D3-4B9E793E2BDE}" dt="2025-10-06T15:56:37.107" v="4" actId="20577"/>
        <pc:sldMkLst>
          <pc:docMk/>
          <pc:sldMk cId="1998777028" sldId="562"/>
        </pc:sldMkLst>
        <pc:spChg chg="mod">
          <ac:chgData name="Soraya Salazar" userId="S::soraya.salazar@kibernumacademy.com::fdf00a5c-f577-43dc-8064-9968cad83607" providerId="AD" clId="Web-{39B56C6A-D189-FEE6-34D3-4B9E793E2BDE}" dt="2025-10-06T15:56:37.107" v="4" actId="20577"/>
          <ac:spMkLst>
            <pc:docMk/>
            <pc:sldMk cId="1998777028" sldId="562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214ECDC-27AA-4BAE-B04E-533364742B70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61DC0F2-0470-49B2-BD20-1BE6BAB0CFEB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3CE86C-1FAA-476E-8610-6CF612D82F6D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FDA0F7-3317-4A90-85A9-784F1E0F6A0E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69372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5A1AB2-ABDE-4AA7-B0BA-B4771DBF257E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CBBCA2-D1A3-4B4D-AC73-9D069169A434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5467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A1A31-6B2F-42D4-9D8B-250D0522AC84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48B1C2-5544-4117-B964-FFA2790965CB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4244721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90434-FF42-4568-BAFD-14D07093E120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203834-0EF4-4D06-A8D3-876274F5BE0F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93972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415DC-2033-47BD-86E8-F874CF6E7C58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9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3AF083-3250-4136-BEB9-7AF9A938BA7A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319215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908FD-EE54-425E-B52D-A5E77FE0F4E1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4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C4D746-ECE6-4F12-9BD7-02F1A03DE9BC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15544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B1D3B-28B6-43FE-A4A1-ACF50A9182C7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3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EC160-BB17-4C5C-A913-243CEE97784F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92166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2D298C-5E21-4FDC-838E-33C54A0835BE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1B316F-FC05-4AA9-8B17-611F2B66785A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524700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_tradnl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5492E0-A143-485F-B68F-8CC91249D59B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C192D6-CB19-4D76-BAD3-1D4E4EA927D1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63101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38D573-BBF9-4466-8100-20705A6765C2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F13FBE-C0B8-4F7C-B7BE-9681116FC5EC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856682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05822-3120-4BF7-B215-1DFE2C6DC6A3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9D8483-F2FB-4D92-932B-BB90B8B7CC0E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3455749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título del patrón</a:t>
            </a:r>
            <a:endParaRPr lang="es-ES_tradnl" altLang="en-US"/>
          </a:p>
        </p:txBody>
      </p:sp>
      <p:sp>
        <p:nvSpPr>
          <p:cNvPr id="1027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Editar el estilo de texto del patrón</a:t>
            </a:r>
          </a:p>
          <a:p>
            <a:pPr lvl="1"/>
            <a:r>
              <a:rPr lang="es-ES" altLang="en-US"/>
              <a:t>Segundo nivel</a:t>
            </a:r>
          </a:p>
          <a:p>
            <a:pPr lvl="2"/>
            <a:r>
              <a:rPr lang="es-ES" altLang="en-US"/>
              <a:t>Tercer nivel</a:t>
            </a:r>
          </a:p>
          <a:p>
            <a:pPr lvl="3"/>
            <a:r>
              <a:rPr lang="es-ES" altLang="en-US"/>
              <a:t>Cuarto nivel</a:t>
            </a:r>
          </a:p>
          <a:p>
            <a:pPr lvl="4"/>
            <a:r>
              <a:rPr lang="es-ES" altLang="en-US"/>
              <a:t>Quinto nivel</a:t>
            </a:r>
            <a:endParaRPr lang="es-ES_tradnl" alt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0F057B8-E3CD-456E-9A46-2B8B20AF9933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F59D94CD-8797-4F90-8E76-E70F46B730A3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A8A3BFFD-35E7-1135-4D1C-50C91FA77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37762"/>
          </a:xfrm>
          <a:prstGeom prst="rect">
            <a:avLst/>
          </a:prstGeom>
        </p:spPr>
      </p:pic>
      <p:sp>
        <p:nvSpPr>
          <p:cNvPr id="5" name="Rectangle: Rounded Corners 22"/>
          <p:cNvSpPr/>
          <p:nvPr/>
        </p:nvSpPr>
        <p:spPr>
          <a:xfrm>
            <a:off x="4223873" y="3468323"/>
            <a:ext cx="7308567" cy="2036107"/>
          </a:xfrm>
          <a:prstGeom prst="roundRect">
            <a:avLst>
              <a:gd name="adj" fmla="val 7874"/>
            </a:avLst>
          </a:prstGeom>
          <a:solidFill>
            <a:schemeClr val="tx1">
              <a:alpha val="76000"/>
            </a:schemeClr>
          </a:solidFill>
          <a:ln>
            <a:noFill/>
            <a:prstDash val="lg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540000" anchor="ctr"/>
          <a:lstStyle/>
          <a:p>
            <a:pPr algn="ctr">
              <a:defRPr/>
            </a:pPr>
            <a:endParaRPr lang="en-US" sz="2800" b="1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485986" y="3599402"/>
            <a:ext cx="7150100" cy="1982787"/>
          </a:xfrm>
        </p:spPr>
        <p:txBody>
          <a:bodyPr rtlCol="0"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s-CL" sz="5000" b="1" dirty="0">
                <a:solidFill>
                  <a:schemeClr val="bg1"/>
                </a:solidFill>
                <a:latin typeface="Source Sans Pro" panose="020B0503030403020204" pitchFamily="34" charset="0"/>
              </a:rPr>
            </a:br>
            <a:br>
              <a:rPr lang="es-CL" sz="1600" b="1" dirty="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s-ES" sz="5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Actividad: Data </a:t>
            </a:r>
            <a:r>
              <a:rPr lang="es-ES" sz="5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Wrangling</a:t>
            </a:r>
            <a:r>
              <a:rPr lang="es-ES" sz="5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Comtrade</a:t>
            </a:r>
            <a:br>
              <a:rPr lang="es-ES" sz="5000" b="1" dirty="0">
                <a:solidFill>
                  <a:schemeClr val="bg1"/>
                </a:solidFill>
                <a:latin typeface="Source Sans Pro" panose="020B0503030403020204" pitchFamily="34" charset="0"/>
              </a:rPr>
            </a:br>
            <a:endParaRPr lang="es-ES_tradnl" sz="3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Google Shape;92;p1"/>
          <p:cNvSpPr txBox="1"/>
          <p:nvPr/>
        </p:nvSpPr>
        <p:spPr>
          <a:xfrm>
            <a:off x="4558193" y="2979865"/>
            <a:ext cx="616554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Obtención y Preparación de Datos</a:t>
            </a:r>
            <a:endParaRPr lang="es-ES"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877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 bwMode="auto">
          <a:xfrm>
            <a:off x="1240798" y="3441370"/>
            <a:ext cx="8112208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Actividad: Caso </a:t>
            </a:r>
            <a:r>
              <a:rPr lang="es-MX" sz="3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DataWrangling</a:t>
            </a: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3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Comtrade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93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7528" y="458050"/>
            <a:ext cx="10515600" cy="836658"/>
          </a:xfrm>
        </p:spPr>
        <p:txBody>
          <a:bodyPr/>
          <a:lstStyle/>
          <a:p>
            <a:pPr lvl="0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br>
              <a:rPr lang="es-ES" sz="32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es-ES" sz="32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Caso </a:t>
            </a:r>
            <a:r>
              <a:rPr lang="es-ES" sz="3200" dirty="0" err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Wrangling</a:t>
            </a:r>
            <a:r>
              <a:rPr lang="es-ES" sz="32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Comtrade</a:t>
            </a:r>
            <a:br>
              <a:rPr lang="es-ES" sz="32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ángulo redondeado 3"/>
          <p:cNvSpPr/>
          <p:nvPr/>
        </p:nvSpPr>
        <p:spPr>
          <a:xfrm>
            <a:off x="917528" y="1360714"/>
            <a:ext cx="4723449" cy="4798275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28575">
            <a:solidFill>
              <a:srgbClr val="078C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58" y="1495253"/>
            <a:ext cx="4457085" cy="4463191"/>
          </a:xfrm>
          <a:prstGeom prst="rect">
            <a:avLst/>
          </a:prstGeom>
        </p:spPr>
      </p:pic>
      <p:sp>
        <p:nvSpPr>
          <p:cNvPr id="6" name="Rectángulo redondeado 5"/>
          <p:cNvSpPr/>
          <p:nvPr/>
        </p:nvSpPr>
        <p:spPr>
          <a:xfrm>
            <a:off x="5756006" y="1880615"/>
            <a:ext cx="5597793" cy="3603493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746CFDD-6FC3-5AA7-5C1D-362E2C5244F1}"/>
              </a:ext>
            </a:extLst>
          </p:cNvPr>
          <p:cNvSpPr txBox="1"/>
          <p:nvPr/>
        </p:nvSpPr>
        <p:spPr>
          <a:xfrm>
            <a:off x="6191019" y="2112700"/>
            <a:ext cx="4868867" cy="313932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Usted es parte del equipo de analista del ministerio de economía. Se encuentra haciendo un estudio del intercambio comercial entre Chile y Perú, para lo cual han recurrido a la base de datos de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Comtrade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.</a:t>
            </a:r>
          </a:p>
          <a:p>
            <a:pPr algn="just"/>
            <a:endParaRPr lang="es-ES" dirty="0">
              <a:solidFill>
                <a:schemeClr val="bg1"/>
              </a:solidFill>
              <a:latin typeface="+mn-lt"/>
              <a:ea typeface="Source Sans Pro"/>
            </a:endParaRPr>
          </a:p>
          <a:p>
            <a:pPr algn="just"/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Como usted ya tiene experiencia, ha hecho la recomendación al grupo de analista de evaluar la calidad de los datos y de realizar Data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Wrangling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 para entender los datos y asegurarse que sean consistentes.</a:t>
            </a:r>
          </a:p>
        </p:txBody>
      </p:sp>
    </p:spTree>
    <p:extLst>
      <p:ext uri="{BB962C8B-B14F-4D97-AF65-F5344CB8AC3E}">
        <p14:creationId xmlns:p14="http://schemas.microsoft.com/office/powerpoint/2010/main" val="54075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69732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Caso </a:t>
            </a:r>
            <a:r>
              <a:rPr lang="es-ES" sz="3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Wrangling</a:t>
            </a: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Comtrade</a:t>
            </a:r>
            <a:endParaRPr lang="es-ES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688485" y="1293772"/>
            <a:ext cx="5525080" cy="5140172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28575">
            <a:solidFill>
              <a:srgbClr val="078C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5BBED38-E337-35FD-DDCB-9A775124F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281" y="1546745"/>
            <a:ext cx="5015483" cy="4580111"/>
          </a:xfrm>
          <a:prstGeom prst="rect">
            <a:avLst/>
          </a:prstGeom>
          <a:ln>
            <a:solidFill>
              <a:srgbClr val="078CAE"/>
            </a:solidFill>
          </a:ln>
        </p:spPr>
      </p:pic>
      <p:sp>
        <p:nvSpPr>
          <p:cNvPr id="7" name="Rectángulo redondeado 6"/>
          <p:cNvSpPr/>
          <p:nvPr/>
        </p:nvSpPr>
        <p:spPr>
          <a:xfrm>
            <a:off x="6305560" y="1546745"/>
            <a:ext cx="6034486" cy="1341015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746CFDD-6FC3-5AA7-5C1D-362E2C5244F1}"/>
              </a:ext>
            </a:extLst>
          </p:cNvPr>
          <p:cNvSpPr txBox="1"/>
          <p:nvPr/>
        </p:nvSpPr>
        <p:spPr>
          <a:xfrm>
            <a:off x="7008223" y="1755587"/>
            <a:ext cx="4345577" cy="92333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Utilice el siguiente notebook guiado para realizar el análisis y el set de datos proporcionados en el archivo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csv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 adjunto.</a:t>
            </a:r>
          </a:p>
        </p:txBody>
      </p:sp>
    </p:spTree>
    <p:extLst>
      <p:ext uri="{BB962C8B-B14F-4D97-AF65-F5344CB8AC3E}">
        <p14:creationId xmlns:p14="http://schemas.microsoft.com/office/powerpoint/2010/main" val="336996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redondeado 6"/>
          <p:cNvSpPr/>
          <p:nvPr/>
        </p:nvSpPr>
        <p:spPr>
          <a:xfrm>
            <a:off x="1357459" y="754144"/>
            <a:ext cx="5599522" cy="5263123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28575">
            <a:solidFill>
              <a:srgbClr val="078C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Rectángulo redondeado 5"/>
          <p:cNvSpPr/>
          <p:nvPr/>
        </p:nvSpPr>
        <p:spPr>
          <a:xfrm>
            <a:off x="7303304" y="2590254"/>
            <a:ext cx="4920343" cy="1590900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980" y="1051873"/>
            <a:ext cx="5106479" cy="466766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145409" y="3062538"/>
            <a:ext cx="19833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L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¡Éxito!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1827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9CD3420DD7C44287EDEB9C6D6708D7" ma:contentTypeVersion="15" ma:contentTypeDescription="Crear nuevo documento." ma:contentTypeScope="" ma:versionID="f7a9dcde27c9264a09c73004259269f1">
  <xsd:schema xmlns:xsd="http://www.w3.org/2001/XMLSchema" xmlns:xs="http://www.w3.org/2001/XMLSchema" xmlns:p="http://schemas.microsoft.com/office/2006/metadata/properties" xmlns:ns2="470d2f17-52cb-407b-8136-5e632d1cee08" xmlns:ns3="6171001b-fa9d-409b-8713-8b6a17935d68" targetNamespace="http://schemas.microsoft.com/office/2006/metadata/properties" ma:root="true" ma:fieldsID="674b5fe278d71baa753a58252eaf8fe3" ns2:_="" ns3:_="">
    <xsd:import namespace="470d2f17-52cb-407b-8136-5e632d1cee08"/>
    <xsd:import namespace="6171001b-fa9d-409b-8713-8b6a17935d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d2f17-52cb-407b-8136-5e632d1cee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5ecad781-11e1-4240-b729-e370ca3e03e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71001b-fa9d-409b-8713-8b6a17935d68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26c5a85-e9ed-4a7d-a8f2-1ac62c4b72da}" ma:internalName="TaxCatchAll" ma:showField="CatchAllData" ma:web="6171001b-fa9d-409b-8713-8b6a17935d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71001b-fa9d-409b-8713-8b6a17935d68"/>
    <lcf76f155ced4ddcb4097134ff3c332f xmlns="470d2f17-52cb-407b-8136-5e632d1cee0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405DB1-990F-4DDD-81A1-478BCA203F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0d2f17-52cb-407b-8136-5e632d1cee08"/>
    <ds:schemaRef ds:uri="6171001b-fa9d-409b-8713-8b6a17935d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E26BDBF-E58D-4DAC-8738-D11056BF4C72}">
  <ds:schemaRefs>
    <ds:schemaRef ds:uri="http://purl.org/dc/dcmitype/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6171001b-fa9d-409b-8713-8b6a17935d68"/>
    <ds:schemaRef ds:uri="470d2f17-52cb-407b-8136-5e632d1cee08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89B05674-0616-4E66-A9FD-3C514085E54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8238</TotalTime>
  <Words>127</Words>
  <Application>Microsoft Office PowerPoint</Application>
  <PresentationFormat>Panorámica</PresentationFormat>
  <Paragraphs>10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Tema de Office</vt:lpstr>
      <vt:lpstr>  Actividad: Data Wrangling Comtrade </vt:lpstr>
      <vt:lpstr>Presentación de PowerPoint</vt:lpstr>
      <vt:lpstr> Caso Wrangling Comtrade </vt:lpstr>
      <vt:lpstr>Caso Wrangling Comtrade</vt:lpstr>
      <vt:lpstr>¡Éxito!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Kibernum</dc:creator>
  <cp:lastModifiedBy>Diseño ITA</cp:lastModifiedBy>
  <cp:revision>256</cp:revision>
  <dcterms:created xsi:type="dcterms:W3CDTF">2023-01-03T12:28:26Z</dcterms:created>
  <dcterms:modified xsi:type="dcterms:W3CDTF">2025-10-06T15:56:38Z</dcterms:modified>
</cp:coreProperties>
</file>