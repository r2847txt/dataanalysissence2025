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5SutbpqkV9rtVjYpOF6Pm18As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0D8FC5-780E-4BB5-AA42-A4EA8EC12946}" v="2" dt="2025-10-06T15:52:26.2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660D8FC5-780E-4BB5-AA42-A4EA8EC12946}"/>
    <pc:docChg chg="modSld">
      <pc:chgData name="Soraya Salazar" userId="S::soraya.salazar@kibernumacademy.com::fdf00a5c-f577-43dc-8064-9968cad83607" providerId="AD" clId="Web-{660D8FC5-780E-4BB5-AA42-A4EA8EC12946}" dt="2025-10-06T15:52:26.202" v="0" actId="20577"/>
      <pc:docMkLst>
        <pc:docMk/>
      </pc:docMkLst>
      <pc:sldChg chg="modSp">
        <pc:chgData name="Soraya Salazar" userId="S::soraya.salazar@kibernumacademy.com::fdf00a5c-f577-43dc-8064-9968cad83607" providerId="AD" clId="Web-{660D8FC5-780E-4BB5-AA42-A4EA8EC12946}" dt="2025-10-06T15:52:26.202" v="0" actId="20577"/>
        <pc:sldMkLst>
          <pc:docMk/>
          <pc:sldMk cId="0" sldId="256"/>
        </pc:sldMkLst>
        <pc:spChg chg="mod">
          <ac:chgData name="Soraya Salazar" userId="S::soraya.salazar@kibernumacademy.com::fdf00a5c-f577-43dc-8064-9968cad83607" providerId="AD" clId="Web-{660D8FC5-780E-4BB5-AA42-A4EA8EC12946}" dt="2025-10-06T15:52:26.202" v="0"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1" name="Google Shape;1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6" name="Google Shape;1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5" name="Google Shape;1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0" name="Google Shape;19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7" name="Google Shape;1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6" name="Google Shape;2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1" name="Google Shape;21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9" name="Google Shape;22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6" name="Google Shape;23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5" name="Google Shape;24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8" name="Google Shape;25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8" name="Google Shape;26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0" name="Google Shape;28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5" name="Google Shape;28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5" name="Google Shape;29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3" name="Google Shape;31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6" name="Google Shape;32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1" name="Google Shape;33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0" name="Google Shape;34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9" name="Google Shape;34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4" name="Google Shape;35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6" name="Google Shape;36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4" name="Google Shape;37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2" name="Google Shape;38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0" name="Google Shape;3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9" name="Google Shape;39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1" name="Google Shape;41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0" name="Google Shape;42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9" name="Google Shape;42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8" name="Google Shape;44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2" name="Google Shape;46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8" name="Google Shape;46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53"/>
          <p:cNvSpPr>
            <a:spLocks noGrp="1"/>
          </p:cNvSpPr>
          <p:nvPr>
            <p:ph type="pic" idx="2"/>
          </p:nvPr>
        </p:nvSpPr>
        <p:spPr>
          <a:xfrm>
            <a:off x="5183188" y="987425"/>
            <a:ext cx="6172200" cy="4873625"/>
          </a:xfrm>
          <a:prstGeom prst="rect">
            <a:avLst/>
          </a:prstGeom>
          <a:noFill/>
          <a:ln>
            <a:noFill/>
          </a:ln>
        </p:spPr>
      </p:sp>
      <p:sp>
        <p:nvSpPr>
          <p:cNvPr id="68" name="Google Shape;68;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4276123" y="3972891"/>
            <a:ext cx="7308567"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940586" y="4135684"/>
            <a:ext cx="5258050" cy="103113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br>
              <a:rPr lang="es-ES" sz="5000" b="1">
                <a:solidFill>
                  <a:schemeClr val="lt1"/>
                </a:solidFill>
                <a:latin typeface="Arial"/>
                <a:ea typeface="Arial"/>
                <a:cs typeface="Arial"/>
                <a:sym typeface="Arial"/>
              </a:rPr>
            </a:br>
            <a:br>
              <a:rPr lang="es-ES" sz="1600">
                <a:solidFill>
                  <a:schemeClr val="lt1"/>
                </a:solidFill>
                <a:latin typeface="Arial"/>
                <a:ea typeface="Arial"/>
                <a:cs typeface="Arial"/>
                <a:sym typeface="Arial"/>
              </a:rPr>
            </a:br>
            <a:br>
              <a:rPr lang="es-ES" sz="16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Librería Pandas</a:t>
            </a:r>
            <a:endParaRPr sz="3000" b="1">
              <a:solidFill>
                <a:schemeClr val="lt1"/>
              </a:solidFill>
              <a:latin typeface="Arial"/>
              <a:ea typeface="Arial"/>
              <a:cs typeface="Arial"/>
              <a:sym typeface="Arial"/>
            </a:endParaRPr>
          </a:p>
        </p:txBody>
      </p:sp>
      <p:sp>
        <p:nvSpPr>
          <p:cNvPr id="91" name="Google Shape;91;p1"/>
          <p:cNvSpPr txBox="1"/>
          <p:nvPr/>
        </p:nvSpPr>
        <p:spPr>
          <a:xfrm>
            <a:off x="4940586" y="3496348"/>
            <a:ext cx="61655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i="0" u="none" strike="noStrike" cap="none">
                <a:solidFill>
                  <a:schemeClr val="lt1"/>
                </a:solidFill>
                <a:latin typeface="Arial"/>
                <a:ea typeface="Arial"/>
                <a:cs typeface="Arial"/>
                <a:sym typeface="Arial"/>
              </a:rPr>
              <a:t>Obtención y Preparación de Datos</a:t>
            </a: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129763" y="-326984"/>
            <a:ext cx="4966276" cy="5438915"/>
          </a:xfrm>
          <a:prstGeom prst="roundRect">
            <a:avLst>
              <a:gd name="adj" fmla="val 2778"/>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8" name="Google Shape;98;p2"/>
          <p:cNvSpPr txBox="1"/>
          <p:nvPr/>
        </p:nvSpPr>
        <p:spPr>
          <a:xfrm>
            <a:off x="462482" y="460973"/>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dirty="0">
                <a:solidFill>
                  <a:srgbClr val="7F7F7F"/>
                </a:solidFill>
              </a:rPr>
              <a:t>Contenidos</a:t>
            </a:r>
            <a:endParaRPr dirty="0"/>
          </a:p>
        </p:txBody>
      </p:sp>
      <p:sp>
        <p:nvSpPr>
          <p:cNvPr id="99" name="Google Shape;99;p2"/>
          <p:cNvSpPr txBox="1"/>
          <p:nvPr/>
        </p:nvSpPr>
        <p:spPr>
          <a:xfrm>
            <a:off x="6272066" y="1476705"/>
            <a:ext cx="4665900" cy="3477835"/>
          </a:xfrm>
          <a:prstGeom prst="rect">
            <a:avLst/>
          </a:prstGeom>
          <a:noFill/>
          <a:ln>
            <a:noFill/>
          </a:ln>
        </p:spPr>
        <p:txBody>
          <a:bodyPr spcFirstLastPara="1" wrap="square" lIns="91425" tIns="45700" rIns="91425" bIns="45700" anchor="t" anchorCtr="0">
            <a:spAutoFit/>
          </a:bodyPr>
          <a:lstStyle/>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Introducción</a:t>
            </a:r>
            <a:endParaRPr lang="es-ES" sz="2000" b="0" i="0" u="none" strike="noStrike" cap="none" dirty="0">
              <a:solidFill>
                <a:schemeClr val="dk1"/>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Estructuras Básicas: Series y </a:t>
            </a:r>
            <a:r>
              <a:rPr lang="es-ES" sz="2000" b="0" i="0" u="none" strike="noStrike" cap="none" dirty="0" err="1">
                <a:solidFill>
                  <a:srgbClr val="FFFFFF"/>
                </a:solidFill>
                <a:latin typeface="Calibri"/>
                <a:ea typeface="Calibri"/>
                <a:cs typeface="Calibri"/>
                <a:sym typeface="Calibri"/>
              </a:rPr>
              <a:t>DataFrames</a:t>
            </a:r>
            <a:endParaRPr lang="es-ES" sz="2000" b="0" i="0" u="none" strike="noStrike" cap="none" dirty="0" err="1">
              <a:solidFill>
                <a:srgbClr val="FFFFFF"/>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Selección de un </a:t>
            </a:r>
            <a:r>
              <a:rPr lang="es-ES" sz="2000" b="0" i="0" u="none" strike="noStrike" cap="none" dirty="0" err="1">
                <a:solidFill>
                  <a:srgbClr val="FFFFFF"/>
                </a:solidFill>
                <a:latin typeface="Calibri"/>
                <a:ea typeface="Calibri"/>
                <a:cs typeface="Calibri"/>
                <a:sym typeface="Calibri"/>
              </a:rPr>
              <a:t>subset</a:t>
            </a:r>
            <a:r>
              <a:rPr lang="es-ES" sz="2000" b="0" i="0" u="none" strike="noStrike" cap="none" dirty="0">
                <a:solidFill>
                  <a:srgbClr val="FFFFFF"/>
                </a:solidFill>
                <a:latin typeface="Calibri"/>
                <a:ea typeface="Calibri"/>
                <a:cs typeface="Calibri"/>
                <a:sym typeface="Calibri"/>
              </a:rPr>
              <a:t> en un </a:t>
            </a:r>
            <a:r>
              <a:rPr lang="es-ES" sz="2000" b="0" i="0" u="none" strike="noStrike" cap="none" dirty="0" err="1">
                <a:solidFill>
                  <a:srgbClr val="FFFFFF"/>
                </a:solidFill>
                <a:latin typeface="Calibri"/>
                <a:ea typeface="Calibri"/>
                <a:cs typeface="Calibri"/>
                <a:sym typeface="Calibri"/>
              </a:rPr>
              <a:t>DataFrame</a:t>
            </a:r>
            <a:endParaRPr lang="es-ES" sz="2000" b="0" i="0" u="none" strike="noStrike" cap="none" dirty="0" err="1">
              <a:solidFill>
                <a:srgbClr val="FFFFFF"/>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Haciendo cálculos estadísticos</a:t>
            </a:r>
            <a:endParaRPr sz="2000" b="0" i="0" u="none" strike="noStrike" cap="none" dirty="0">
              <a:solidFill>
                <a:schemeClr val="dk1"/>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Creando columnas en un </a:t>
            </a:r>
            <a:r>
              <a:rPr lang="es-ES" sz="2000" b="0" i="0" u="none" strike="noStrike" cap="none" dirty="0" err="1">
                <a:solidFill>
                  <a:srgbClr val="FFFFFF"/>
                </a:solidFill>
                <a:latin typeface="Calibri"/>
                <a:ea typeface="Calibri"/>
                <a:cs typeface="Calibri"/>
                <a:sym typeface="Calibri"/>
              </a:rPr>
              <a:t>DataFrame</a:t>
            </a:r>
            <a:endParaRPr lang="es-ES" sz="2000" b="0" i="0" u="none" strike="noStrike" cap="none" dirty="0" err="1">
              <a:solidFill>
                <a:srgbClr val="FFFFFF"/>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Creando una Serie o </a:t>
            </a:r>
            <a:r>
              <a:rPr lang="es-ES" sz="2000" b="0" i="0" u="none" strike="noStrike" cap="none" dirty="0" err="1">
                <a:solidFill>
                  <a:srgbClr val="FFFFFF"/>
                </a:solidFill>
                <a:latin typeface="Calibri"/>
                <a:ea typeface="Calibri"/>
                <a:cs typeface="Calibri"/>
                <a:sym typeface="Calibri"/>
              </a:rPr>
              <a:t>DataFrame</a:t>
            </a:r>
            <a:r>
              <a:rPr lang="es-ES" sz="2000" b="0" i="0" u="none" strike="noStrike" cap="none" dirty="0">
                <a:solidFill>
                  <a:srgbClr val="FFFFFF"/>
                </a:solidFill>
                <a:latin typeface="Calibri"/>
                <a:ea typeface="Calibri"/>
                <a:cs typeface="Calibri"/>
                <a:sym typeface="Calibri"/>
              </a:rPr>
              <a:t> desde cero</a:t>
            </a:r>
            <a:endParaRPr sz="2000" b="0" i="0" u="none" strike="noStrike" cap="none" dirty="0">
              <a:solidFill>
                <a:schemeClr val="dk1"/>
              </a:solidFill>
              <a:latin typeface="Calibri"/>
              <a:ea typeface="Calibri"/>
              <a:cs typeface="Calibri"/>
            </a:endParaRPr>
          </a:p>
          <a:p>
            <a:pPr marL="342900" marR="0" lvl="0" indent="-342900" rtl="0">
              <a:spcBef>
                <a:spcPts val="0"/>
              </a:spcBef>
              <a:spcAft>
                <a:spcPts val="0"/>
              </a:spcAft>
              <a:buClr>
                <a:srgbClr val="FFFFFF"/>
              </a:buClr>
              <a:buSzPts val="1800"/>
              <a:buFont typeface="Arial"/>
              <a:buChar char="•"/>
            </a:pPr>
            <a:r>
              <a:rPr lang="es-ES" sz="2000" b="0" i="0" u="none" strike="noStrike" cap="none" dirty="0">
                <a:solidFill>
                  <a:srgbClr val="FFFFFF"/>
                </a:solidFill>
                <a:latin typeface="Calibri"/>
                <a:ea typeface="Calibri"/>
                <a:cs typeface="Calibri"/>
                <a:sym typeface="Calibri"/>
              </a:rPr>
              <a:t>Eliminar filas o columnas del </a:t>
            </a:r>
            <a:r>
              <a:rPr lang="es-ES" sz="2000" b="0" i="0" u="none" strike="noStrike" cap="none" dirty="0" err="1">
                <a:solidFill>
                  <a:srgbClr val="FFFFFF"/>
                </a:solidFill>
                <a:latin typeface="Calibri"/>
                <a:ea typeface="Calibri"/>
                <a:cs typeface="Calibri"/>
                <a:sym typeface="Calibri"/>
              </a:rPr>
              <a:t>DataFrame</a:t>
            </a:r>
            <a:endParaRPr lang="es-ES" sz="2000" b="0" i="0" u="none" strike="noStrike" cap="none" dirty="0" err="1">
              <a:solidFill>
                <a:srgbClr val="FFFFFF"/>
              </a:solidFill>
              <a:latin typeface="Calibri"/>
              <a:ea typeface="Calibri"/>
              <a:cs typeface="Calibri"/>
            </a:endParaRPr>
          </a:p>
        </p:txBody>
      </p:sp>
      <p:grpSp>
        <p:nvGrpSpPr>
          <p:cNvPr id="100" name="Google Shape;100;p2"/>
          <p:cNvGrpSpPr/>
          <p:nvPr/>
        </p:nvGrpSpPr>
        <p:grpSpPr>
          <a:xfrm>
            <a:off x="1381804" y="1659284"/>
            <a:ext cx="3524500" cy="3720972"/>
            <a:chOff x="1145745" y="0"/>
            <a:chExt cx="3524500" cy="3720972"/>
          </a:xfrm>
        </p:grpSpPr>
        <p:sp>
          <p:nvSpPr>
            <p:cNvPr id="101" name="Google Shape;101;p2"/>
            <p:cNvSpPr/>
            <p:nvPr/>
          </p:nvSpPr>
          <p:spPr>
            <a:xfrm>
              <a:off x="1145745"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b="0" i="0" u="none" strike="noStrike" cap="none">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p:nvPr/>
        </p:nvSpPr>
        <p:spPr>
          <a:xfrm>
            <a:off x="989814" y="387754"/>
            <a:ext cx="10782300" cy="1008062"/>
          </a:xfrm>
          <a:prstGeom prst="rect">
            <a:avLst/>
          </a:prstGeom>
          <a:noFill/>
          <a:ln>
            <a:noFill/>
          </a:ln>
        </p:spPr>
        <p:txBody>
          <a:bodyPr spcFirstLastPara="1" wrap="square" lIns="91425" tIns="45700" rIns="91425" bIns="45700" anchor="ctr" anchorCtr="0">
            <a:noAutofit/>
          </a:bodyPr>
          <a:lstStyle/>
          <a:p>
            <a:pPr>
              <a:lnSpc>
                <a:spcPct val="90000"/>
              </a:lnSpc>
            </a:pPr>
            <a:r>
              <a:rPr lang="es-ES" sz="3200" dirty="0">
                <a:solidFill>
                  <a:srgbClr val="7F7F7F"/>
                </a:solidFill>
              </a:rPr>
              <a:t>Librería Pandas</a:t>
            </a:r>
            <a:endParaRPr dirty="0"/>
          </a:p>
        </p:txBody>
      </p:sp>
      <p:sp>
        <p:nvSpPr>
          <p:cNvPr id="109" name="Google Shape;109;p3"/>
          <p:cNvSpPr/>
          <p:nvPr/>
        </p:nvSpPr>
        <p:spPr>
          <a:xfrm>
            <a:off x="-214452" y="1524000"/>
            <a:ext cx="7995560" cy="4598125"/>
          </a:xfrm>
          <a:prstGeom prst="roundRect">
            <a:avLst>
              <a:gd name="adj" fmla="val 4466"/>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0" name="Google Shape;110;p3"/>
          <p:cNvSpPr txBox="1"/>
          <p:nvPr/>
        </p:nvSpPr>
        <p:spPr>
          <a:xfrm>
            <a:off x="718402" y="1712469"/>
            <a:ext cx="6428673" cy="424727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Librería de software libre, construida sobre la base de </a:t>
            </a:r>
            <a:r>
              <a:rPr lang="es-ES" sz="2000" b="0" i="0" u="none" strike="noStrike" cap="none" dirty="0" err="1">
                <a:solidFill>
                  <a:srgbClr val="FFFFFF"/>
                </a:solidFill>
                <a:latin typeface="Calibri"/>
                <a:ea typeface="Calibri"/>
                <a:cs typeface="Calibri"/>
                <a:sym typeface="Calibri"/>
              </a:rPr>
              <a:t>NumPy</a:t>
            </a:r>
            <a:r>
              <a:rPr lang="es-ES" sz="2000" b="0" i="0" u="none" strike="noStrike" cap="none" dirty="0">
                <a:solidFill>
                  <a:srgbClr val="FFFFFF"/>
                </a:solidFill>
                <a:latin typeface="Calibri"/>
                <a:ea typeface="Calibri"/>
                <a:cs typeface="Calibri"/>
                <a:sym typeface="Calibri"/>
              </a:rPr>
              <a:t>.</a:t>
            </a:r>
            <a:endParaRPr lang="es-ES" sz="2000" dirty="0">
              <a:latin typeface="Calibri"/>
              <a:ea typeface="Calibri"/>
              <a:cs typeface="Calibri"/>
            </a:endParaRPr>
          </a:p>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Se utiliza para análisis, limpieza, preparación y visualización de datos.</a:t>
            </a:r>
            <a:endParaRPr sz="2000" dirty="0">
              <a:latin typeface="Calibri"/>
              <a:ea typeface="Calibri"/>
              <a:cs typeface="Calibri"/>
            </a:endParaRPr>
          </a:p>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Muy popular en proyectos de ciencia de datos.</a:t>
            </a:r>
            <a:endParaRPr sz="2000" dirty="0">
              <a:latin typeface="Calibri"/>
              <a:ea typeface="Calibri"/>
              <a:cs typeface="Calibri"/>
            </a:endParaRPr>
          </a:p>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Posee buen performance en su ejecución.</a:t>
            </a:r>
            <a:endParaRPr sz="2000" dirty="0">
              <a:latin typeface="Calibri"/>
              <a:ea typeface="Calibri"/>
              <a:cs typeface="Calibri"/>
            </a:endParaRPr>
          </a:p>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Permite alta productividad al desarrollar los algoritmos.</a:t>
            </a:r>
            <a:endParaRPr sz="2000" dirty="0">
              <a:latin typeface="Calibri"/>
              <a:ea typeface="Calibri"/>
              <a:cs typeface="Calibri"/>
            </a:endParaRPr>
          </a:p>
          <a:p>
            <a:pPr marL="342900" marR="0" lvl="0" indent="-342900" algn="just" rtl="0">
              <a:lnSpc>
                <a:spcPct val="150000"/>
              </a:lnSpc>
              <a:spcBef>
                <a:spcPts val="0"/>
              </a:spcBef>
              <a:spcAft>
                <a:spcPts val="0"/>
              </a:spcAft>
              <a:buClr>
                <a:srgbClr val="FFFFFF"/>
              </a:buClr>
              <a:buSzPts val="1800"/>
              <a:buAutoNum type="arabicPeriod"/>
            </a:pPr>
            <a:r>
              <a:rPr lang="es-ES" sz="2000" b="0" i="0" u="none" strike="noStrike" cap="none" dirty="0">
                <a:solidFill>
                  <a:srgbClr val="FFFFFF"/>
                </a:solidFill>
                <a:latin typeface="Calibri"/>
                <a:ea typeface="Calibri"/>
                <a:cs typeface="Calibri"/>
                <a:sym typeface="Calibri"/>
              </a:rPr>
              <a:t>Permite trabajar con una amplia variedad de fuentes de datos.</a:t>
            </a:r>
            <a:endParaRPr sz="2000" dirty="0">
              <a:latin typeface="Calibri"/>
              <a:ea typeface="Calibri"/>
              <a:cs typeface="Calibri"/>
            </a:endParaRPr>
          </a:p>
        </p:txBody>
      </p:sp>
      <p:sp>
        <p:nvSpPr>
          <p:cNvPr id="3" name="Google Shape;119;p4">
            <a:extLst>
              <a:ext uri="{FF2B5EF4-FFF2-40B4-BE49-F238E27FC236}">
                <a16:creationId xmlns:a16="http://schemas.microsoft.com/office/drawing/2014/main" id="{CC2AA2A4-695E-88E7-6B5C-01B96DF6CE71}"/>
              </a:ext>
            </a:extLst>
          </p:cNvPr>
          <p:cNvSpPr/>
          <p:nvPr/>
        </p:nvSpPr>
        <p:spPr>
          <a:xfrm>
            <a:off x="8203099" y="2890046"/>
            <a:ext cx="3310007" cy="158931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5" name="Google Shape;120;p4" descr="Logotipo&#10;&#10;Descripción generada automáticamente">
            <a:extLst>
              <a:ext uri="{FF2B5EF4-FFF2-40B4-BE49-F238E27FC236}">
                <a16:creationId xmlns:a16="http://schemas.microsoft.com/office/drawing/2014/main" id="{5DACAF5D-EAE2-1E53-5270-5D100EAD35E7}"/>
              </a:ext>
            </a:extLst>
          </p:cNvPr>
          <p:cNvPicPr preferRelativeResize="0"/>
          <p:nvPr/>
        </p:nvPicPr>
        <p:blipFill rotWithShape="1">
          <a:blip r:embed="rId3">
            <a:alphaModFix/>
          </a:blip>
          <a:srcRect/>
          <a:stretch/>
        </p:blipFill>
        <p:spPr>
          <a:xfrm>
            <a:off x="8404603" y="3098458"/>
            <a:ext cx="2906997" cy="117248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p:nvPr/>
        </p:nvSpPr>
        <p:spPr>
          <a:xfrm>
            <a:off x="-340659" y="1364214"/>
            <a:ext cx="7864865" cy="475141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7" name="Google Shape;117;p4"/>
          <p:cNvSpPr txBox="1"/>
          <p:nvPr/>
        </p:nvSpPr>
        <p:spPr>
          <a:xfrm>
            <a:off x="892582" y="25209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b="0" i="0" u="none" strike="noStrike" cap="none">
                <a:solidFill>
                  <a:srgbClr val="7F7F7F"/>
                </a:solidFill>
                <a:latin typeface="Arial"/>
                <a:ea typeface="Arial"/>
                <a:cs typeface="Arial"/>
                <a:sym typeface="Arial"/>
              </a:rPr>
              <a:t>Características</a:t>
            </a:r>
            <a:endParaRPr/>
          </a:p>
        </p:txBody>
      </p:sp>
      <p:sp>
        <p:nvSpPr>
          <p:cNvPr id="118" name="Google Shape;118;p4"/>
          <p:cNvSpPr txBox="1"/>
          <p:nvPr/>
        </p:nvSpPr>
        <p:spPr>
          <a:xfrm>
            <a:off x="637585" y="1565467"/>
            <a:ext cx="6193058" cy="4247317"/>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Define nuevas estructuras de datos basadas en los </a:t>
            </a:r>
            <a:r>
              <a:rPr lang="es-ES" sz="1800" b="1" i="0" u="none" strike="noStrike" cap="none">
                <a:solidFill>
                  <a:schemeClr val="lt1"/>
                </a:solidFill>
                <a:latin typeface="Calibri"/>
                <a:ea typeface="Calibri"/>
                <a:cs typeface="Calibri"/>
                <a:sym typeface="Calibri"/>
              </a:rPr>
              <a:t>arrays de la librería NumPy</a:t>
            </a:r>
            <a:r>
              <a:rPr lang="es-ES" sz="1800" b="0" i="0" u="none" strike="noStrike" cap="none">
                <a:solidFill>
                  <a:schemeClr val="lt1"/>
                </a:solidFill>
                <a:latin typeface="Calibri"/>
                <a:ea typeface="Calibri"/>
                <a:cs typeface="Calibri"/>
                <a:sym typeface="Calibri"/>
              </a:rPr>
              <a:t>, pero con nuevas funcionalidades.</a:t>
            </a:r>
            <a:endParaRPr/>
          </a:p>
          <a:p>
            <a:pPr marL="285750" marR="0" lvl="0" indent="-17145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Permite leer y escribir fácilmente ficheros en </a:t>
            </a:r>
            <a:r>
              <a:rPr lang="es-ES" sz="1800" b="1" i="0" u="none" strike="noStrike" cap="none">
                <a:solidFill>
                  <a:schemeClr val="lt1"/>
                </a:solidFill>
                <a:latin typeface="Calibri"/>
                <a:ea typeface="Calibri"/>
                <a:cs typeface="Calibri"/>
                <a:sym typeface="Calibri"/>
              </a:rPr>
              <a:t>formato CSV, Excel y bases de datos SQL</a:t>
            </a:r>
            <a:r>
              <a:rPr lang="es-ES" sz="1800" b="0" i="0" u="none" strike="noStrike" cap="none">
                <a:solidFill>
                  <a:schemeClr val="lt1"/>
                </a:solidFill>
                <a:latin typeface="Calibri"/>
                <a:ea typeface="Calibri"/>
                <a:cs typeface="Calibri"/>
                <a:sym typeface="Calibri"/>
              </a:rPr>
              <a:t>.</a:t>
            </a:r>
            <a:endParaRPr/>
          </a:p>
          <a:p>
            <a:pPr marL="285750" marR="0" lvl="0" indent="-17145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Permite acceder a los datos mediante índices o nombres para filas y columnas.</a:t>
            </a:r>
            <a:endParaRPr/>
          </a:p>
          <a:p>
            <a:pPr marL="285750" marR="0" lvl="0" indent="-17145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Ofrece métodos para </a:t>
            </a:r>
            <a:r>
              <a:rPr lang="es-ES" sz="1800" b="1" i="0" u="none" strike="noStrike" cap="none">
                <a:solidFill>
                  <a:schemeClr val="lt1"/>
                </a:solidFill>
                <a:latin typeface="Calibri"/>
                <a:ea typeface="Calibri"/>
                <a:cs typeface="Calibri"/>
                <a:sym typeface="Calibri"/>
              </a:rPr>
              <a:t>reordenar, dividir y combinar conjuntos</a:t>
            </a:r>
            <a:r>
              <a:rPr lang="es-ES" sz="1800" b="0" i="0" u="none" strike="noStrike" cap="none">
                <a:solidFill>
                  <a:schemeClr val="lt1"/>
                </a:solidFill>
                <a:latin typeface="Calibri"/>
                <a:ea typeface="Calibri"/>
                <a:cs typeface="Calibri"/>
                <a:sym typeface="Calibri"/>
              </a:rPr>
              <a:t> de datos.</a:t>
            </a:r>
            <a:endParaRPr/>
          </a:p>
          <a:p>
            <a:pPr marL="285750" marR="0" lvl="0" indent="-17145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Permite trabajar con </a:t>
            </a:r>
            <a:r>
              <a:rPr lang="es-ES" sz="1800" b="1" i="0" u="none" strike="noStrike" cap="none">
                <a:solidFill>
                  <a:schemeClr val="lt1"/>
                </a:solidFill>
                <a:latin typeface="Calibri"/>
                <a:ea typeface="Calibri"/>
                <a:cs typeface="Calibri"/>
                <a:sym typeface="Calibri"/>
              </a:rPr>
              <a:t>series temporales</a:t>
            </a:r>
            <a:r>
              <a:rPr lang="es-ES" sz="1800" b="0" i="0" u="none" strike="noStrike" cap="none">
                <a:solidFill>
                  <a:schemeClr val="lt1"/>
                </a:solidFill>
                <a:latin typeface="Calibri"/>
                <a:ea typeface="Calibri"/>
                <a:cs typeface="Calibri"/>
                <a:sym typeface="Calibri"/>
              </a:rPr>
              <a:t>.</a:t>
            </a:r>
            <a:endParaRPr/>
          </a:p>
          <a:p>
            <a:pPr marL="285750" marR="0" lvl="0" indent="-17145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0" i="0" u="none" strike="noStrike" cap="none">
                <a:solidFill>
                  <a:schemeClr val="lt1"/>
                </a:solidFill>
                <a:latin typeface="Calibri"/>
                <a:ea typeface="Calibri"/>
                <a:cs typeface="Calibri"/>
                <a:sym typeface="Calibri"/>
              </a:rPr>
              <a:t>Realiza todas estas operaciones de manera muy eficiente.</a:t>
            </a:r>
            <a:endParaRPr/>
          </a:p>
        </p:txBody>
      </p:sp>
      <p:sp>
        <p:nvSpPr>
          <p:cNvPr id="119" name="Google Shape;119;p4"/>
          <p:cNvSpPr/>
          <p:nvPr/>
        </p:nvSpPr>
        <p:spPr>
          <a:xfrm>
            <a:off x="8203099" y="2890046"/>
            <a:ext cx="3310007" cy="158931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20" name="Google Shape;120;p4"/>
          <p:cNvPicPr preferRelativeResize="0"/>
          <p:nvPr/>
        </p:nvPicPr>
        <p:blipFill rotWithShape="1">
          <a:blip r:embed="rId3">
            <a:alphaModFix/>
          </a:blip>
          <a:srcRect/>
          <a:stretch/>
        </p:blipFill>
        <p:spPr>
          <a:xfrm>
            <a:off x="8404603" y="3098458"/>
            <a:ext cx="2906997" cy="117248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3" name="Google Shape;119;p4">
            <a:extLst>
              <a:ext uri="{FF2B5EF4-FFF2-40B4-BE49-F238E27FC236}">
                <a16:creationId xmlns:a16="http://schemas.microsoft.com/office/drawing/2014/main" id="{882221AC-3BE5-5651-7337-41F7D9A369E0}"/>
              </a:ext>
            </a:extLst>
          </p:cNvPr>
          <p:cNvSpPr/>
          <p:nvPr/>
        </p:nvSpPr>
        <p:spPr>
          <a:xfrm>
            <a:off x="746385" y="473418"/>
            <a:ext cx="10788492" cy="574765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26" name="Google Shape;126;p5"/>
          <p:cNvPicPr preferRelativeResize="0"/>
          <p:nvPr/>
        </p:nvPicPr>
        <p:blipFill rotWithShape="1">
          <a:blip r:embed="rId3">
            <a:alphaModFix/>
          </a:blip>
          <a:srcRect/>
          <a:stretch/>
        </p:blipFill>
        <p:spPr>
          <a:xfrm>
            <a:off x="1729152" y="775195"/>
            <a:ext cx="8819106" cy="4782825"/>
          </a:xfrm>
          <a:prstGeom prst="rect">
            <a:avLst/>
          </a:prstGeom>
          <a:noFill/>
          <a:ln>
            <a:noFill/>
          </a:ln>
          <a:effectLst>
            <a:outerShdw blurRad="190500" algn="tl" rotWithShape="0">
              <a:srgbClr val="000000">
                <a:alpha val="69803"/>
              </a:srgbClr>
            </a:outerShdw>
          </a:effectLst>
        </p:spPr>
      </p:pic>
      <p:sp>
        <p:nvSpPr>
          <p:cNvPr id="127" name="Google Shape;127;p5"/>
          <p:cNvSpPr txBox="1"/>
          <p:nvPr/>
        </p:nvSpPr>
        <p:spPr>
          <a:xfrm>
            <a:off x="1728652" y="5708508"/>
            <a:ext cx="31525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u="none" strike="noStrike" cap="none">
                <a:solidFill>
                  <a:srgbClr val="757070"/>
                </a:solidFill>
                <a:latin typeface="Calibri"/>
                <a:ea typeface="Calibri"/>
                <a:cs typeface="Calibri"/>
                <a:sym typeface="Calibri"/>
              </a:rPr>
              <a:t>https://pandas.pydata.org/</a:t>
            </a:r>
            <a:endParaRPr sz="1800">
              <a:solidFill>
                <a:srgbClr val="75707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p:nvPr/>
        </p:nvSpPr>
        <p:spPr>
          <a:xfrm>
            <a:off x="-566602" y="3821952"/>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Estructuras Básicas: Series y DataFrames</a:t>
            </a:r>
            <a:endParaRPr sz="3200" b="1">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p:nvPr/>
        </p:nvSpPr>
        <p:spPr>
          <a:xfrm>
            <a:off x="-158939" y="2298432"/>
            <a:ext cx="6751328" cy="2168434"/>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7"/>
          <p:cNvSpPr txBox="1"/>
          <p:nvPr/>
        </p:nvSpPr>
        <p:spPr>
          <a:xfrm>
            <a:off x="758735" y="1197330"/>
            <a:ext cx="298279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Calibri"/>
                <a:ea typeface="Calibri"/>
                <a:cs typeface="Calibri"/>
                <a:sym typeface="Calibri"/>
              </a:rPr>
              <a:t>DataFrame</a:t>
            </a:r>
            <a:endParaRPr/>
          </a:p>
        </p:txBody>
      </p:sp>
      <p:sp>
        <p:nvSpPr>
          <p:cNvPr id="140" name="Google Shape;140;p7"/>
          <p:cNvSpPr txBox="1"/>
          <p:nvPr/>
        </p:nvSpPr>
        <p:spPr>
          <a:xfrm>
            <a:off x="756893" y="2774721"/>
            <a:ext cx="5123850" cy="12002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t>
            </a:r>
            <a:r>
              <a:rPr lang="es-ES" sz="1800" b="1">
                <a:solidFill>
                  <a:schemeClr val="lt1"/>
                </a:solidFill>
                <a:latin typeface="Calibri"/>
                <a:ea typeface="Calibri"/>
                <a:cs typeface="Calibri"/>
                <a:sym typeface="Calibri"/>
              </a:rPr>
              <a:t>DataFrame</a:t>
            </a:r>
            <a:r>
              <a:rPr lang="es-ES" sz="1800">
                <a:solidFill>
                  <a:schemeClr val="lt1"/>
                </a:solidFill>
                <a:latin typeface="Calibri"/>
                <a:ea typeface="Calibri"/>
                <a:cs typeface="Calibri"/>
                <a:sym typeface="Calibri"/>
              </a:rPr>
              <a:t> es un </a:t>
            </a:r>
            <a:r>
              <a:rPr lang="es-ES" sz="1800" b="1">
                <a:solidFill>
                  <a:schemeClr val="lt1"/>
                </a:solidFill>
                <a:latin typeface="Calibri"/>
                <a:ea typeface="Calibri"/>
                <a:cs typeface="Calibri"/>
                <a:sym typeface="Calibri"/>
              </a:rPr>
              <a:t>objeto pandas </a:t>
            </a:r>
            <a:r>
              <a:rPr lang="es-ES" sz="1800">
                <a:solidFill>
                  <a:schemeClr val="lt1"/>
                </a:solidFill>
                <a:latin typeface="Calibri"/>
                <a:ea typeface="Calibri"/>
                <a:cs typeface="Calibri"/>
                <a:sym typeface="Calibri"/>
              </a:rPr>
              <a:t>más común y una estructura de datos tabulares potencialmente heterogénea de tamaño mutable bidimensional con ejes etiquetados (filas y columnas).</a:t>
            </a:r>
            <a:endParaRPr lang="es-ES"/>
          </a:p>
        </p:txBody>
      </p:sp>
      <p:pic>
        <p:nvPicPr>
          <p:cNvPr id="141" name="Google Shape;141;p7"/>
          <p:cNvPicPr preferRelativeResize="0"/>
          <p:nvPr/>
        </p:nvPicPr>
        <p:blipFill rotWithShape="1">
          <a:blip r:embed="rId3">
            <a:alphaModFix/>
          </a:blip>
          <a:srcRect/>
          <a:stretch/>
        </p:blipFill>
        <p:spPr>
          <a:xfrm>
            <a:off x="347329" y="2827739"/>
            <a:ext cx="289524" cy="289524"/>
          </a:xfrm>
          <a:prstGeom prst="rect">
            <a:avLst/>
          </a:prstGeom>
          <a:noFill/>
          <a:ln>
            <a:noFill/>
          </a:ln>
        </p:spPr>
      </p:pic>
      <p:sp>
        <p:nvSpPr>
          <p:cNvPr id="142" name="Google Shape;142;p7"/>
          <p:cNvSpPr/>
          <p:nvPr/>
        </p:nvSpPr>
        <p:spPr>
          <a:xfrm>
            <a:off x="6592389" y="1010194"/>
            <a:ext cx="5094514" cy="502484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43" name="Google Shape;143;p7"/>
          <p:cNvPicPr preferRelativeResize="0"/>
          <p:nvPr/>
        </p:nvPicPr>
        <p:blipFill rotWithShape="1">
          <a:blip r:embed="rId4">
            <a:alphaModFix/>
          </a:blip>
          <a:srcRect/>
          <a:stretch/>
        </p:blipFill>
        <p:spPr>
          <a:xfrm>
            <a:off x="6872921" y="1719479"/>
            <a:ext cx="4620898" cy="3259763"/>
          </a:xfrm>
          <a:prstGeom prst="rect">
            <a:avLst/>
          </a:prstGeom>
          <a:noFill/>
          <a:ln>
            <a:noFill/>
          </a:ln>
        </p:spPr>
      </p:pic>
      <p:cxnSp>
        <p:nvCxnSpPr>
          <p:cNvPr id="144" name="Google Shape;144;p7"/>
          <p:cNvCxnSpPr/>
          <p:nvPr/>
        </p:nvCxnSpPr>
        <p:spPr>
          <a:xfrm flipH="1">
            <a:off x="10676709" y="1719479"/>
            <a:ext cx="209006" cy="605710"/>
          </a:xfrm>
          <a:prstGeom prst="straightConnector1">
            <a:avLst/>
          </a:prstGeom>
          <a:noFill/>
          <a:ln w="9525" cap="flat" cmpd="sng">
            <a:solidFill>
              <a:srgbClr val="98C340"/>
            </a:solidFill>
            <a:prstDash val="solid"/>
            <a:miter lim="800000"/>
            <a:headEnd type="none" w="sm" len="sm"/>
            <a:tailEnd type="triangle" w="med" len="med"/>
          </a:ln>
        </p:spPr>
      </p:cxnSp>
      <p:cxnSp>
        <p:nvCxnSpPr>
          <p:cNvPr id="145" name="Google Shape;145;p7"/>
          <p:cNvCxnSpPr/>
          <p:nvPr/>
        </p:nvCxnSpPr>
        <p:spPr>
          <a:xfrm rot="10800000">
            <a:off x="7492868" y="4749772"/>
            <a:ext cx="1" cy="713386"/>
          </a:xfrm>
          <a:prstGeom prst="straightConnector1">
            <a:avLst/>
          </a:prstGeom>
          <a:noFill/>
          <a:ln w="9525" cap="flat" cmpd="sng">
            <a:solidFill>
              <a:srgbClr val="98C340"/>
            </a:solidFill>
            <a:prstDash val="solid"/>
            <a:miter lim="800000"/>
            <a:headEnd type="none" w="sm" len="sm"/>
            <a:tailEnd type="triangle" w="med" len="med"/>
          </a:ln>
        </p:spPr>
      </p:cxnSp>
      <p:sp>
        <p:nvSpPr>
          <p:cNvPr id="146" name="Google Shape;146;p7"/>
          <p:cNvSpPr txBox="1"/>
          <p:nvPr/>
        </p:nvSpPr>
        <p:spPr>
          <a:xfrm>
            <a:off x="6751843" y="5463158"/>
            <a:ext cx="235315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757070"/>
              </a:buClr>
              <a:buSzPts val="1200"/>
              <a:buFont typeface="Calibri"/>
              <a:buNone/>
            </a:pPr>
            <a:r>
              <a:rPr lang="es-ES" sz="1200">
                <a:solidFill>
                  <a:srgbClr val="757070"/>
                </a:solidFill>
                <a:latin typeface="Calibri"/>
                <a:ea typeface="Calibri"/>
                <a:cs typeface="Calibri"/>
                <a:sym typeface="Calibri"/>
              </a:rPr>
              <a:t>Índices del DataFrame</a:t>
            </a:r>
            <a:endParaRPr sz="1200">
              <a:solidFill>
                <a:srgbClr val="757070"/>
              </a:solidFill>
              <a:latin typeface="Calibri"/>
              <a:ea typeface="Calibri"/>
              <a:cs typeface="Calibri"/>
              <a:sym typeface="Calibri"/>
            </a:endParaRPr>
          </a:p>
        </p:txBody>
      </p:sp>
      <p:sp>
        <p:nvSpPr>
          <p:cNvPr id="147" name="Google Shape;147;p7"/>
          <p:cNvSpPr txBox="1"/>
          <p:nvPr/>
        </p:nvSpPr>
        <p:spPr>
          <a:xfrm>
            <a:off x="10411741" y="1257855"/>
            <a:ext cx="145688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757070"/>
              </a:buClr>
              <a:buSzPts val="1200"/>
              <a:buFont typeface="Calibri"/>
              <a:buNone/>
            </a:pPr>
            <a:r>
              <a:rPr lang="es-ES" sz="1200">
                <a:solidFill>
                  <a:srgbClr val="757070"/>
                </a:solidFill>
                <a:latin typeface="Calibri"/>
                <a:ea typeface="Calibri"/>
                <a:cs typeface="Calibri"/>
                <a:sym typeface="Calibri"/>
              </a:rPr>
              <a:t>Columnas del DataFrame</a:t>
            </a:r>
            <a:endParaRPr sz="1200">
              <a:solidFill>
                <a:srgbClr val="75707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p:cTn id="7"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p:nvPr/>
        </p:nvSpPr>
        <p:spPr>
          <a:xfrm>
            <a:off x="649327" y="1249602"/>
            <a:ext cx="7449341" cy="462578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8"/>
          <p:cNvSpPr txBox="1"/>
          <p:nvPr/>
        </p:nvSpPr>
        <p:spPr>
          <a:xfrm>
            <a:off x="-2224303" y="352806"/>
            <a:ext cx="1078230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Métodos de Exploración</a:t>
            </a:r>
            <a:endParaRPr/>
          </a:p>
        </p:txBody>
      </p:sp>
      <p:pic>
        <p:nvPicPr>
          <p:cNvPr id="154" name="Google Shape;154;p8"/>
          <p:cNvPicPr preferRelativeResize="0"/>
          <p:nvPr/>
        </p:nvPicPr>
        <p:blipFill rotWithShape="1">
          <a:blip r:embed="rId3">
            <a:alphaModFix/>
          </a:blip>
          <a:srcRect/>
          <a:stretch/>
        </p:blipFill>
        <p:spPr>
          <a:xfrm>
            <a:off x="900339" y="1399617"/>
            <a:ext cx="7104364" cy="43974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p:nvPr/>
        </p:nvSpPr>
        <p:spPr>
          <a:xfrm>
            <a:off x="1417568" y="2492188"/>
            <a:ext cx="7026697" cy="324137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9"/>
          <p:cNvSpPr txBox="1"/>
          <p:nvPr/>
        </p:nvSpPr>
        <p:spPr>
          <a:xfrm>
            <a:off x="394447" y="407833"/>
            <a:ext cx="6042212"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Métodos de Exploración</a:t>
            </a:r>
            <a:endParaRPr/>
          </a:p>
        </p:txBody>
      </p:sp>
      <p:sp>
        <p:nvSpPr>
          <p:cNvPr id="161" name="Google Shape;161;p9"/>
          <p:cNvSpPr/>
          <p:nvPr/>
        </p:nvSpPr>
        <p:spPr>
          <a:xfrm>
            <a:off x="-322730" y="1360875"/>
            <a:ext cx="12837459" cy="82501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9"/>
          <p:cNvSpPr txBox="1"/>
          <p:nvPr/>
        </p:nvSpPr>
        <p:spPr>
          <a:xfrm>
            <a:off x="1039906" y="1539559"/>
            <a:ext cx="10434917"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1">
                <a:solidFill>
                  <a:schemeClr val="lt1"/>
                </a:solidFill>
                <a:latin typeface="Calibri"/>
                <a:ea typeface="Calibri"/>
                <a:cs typeface="Calibri"/>
                <a:sym typeface="Calibri"/>
              </a:rPr>
              <a:t>El método describe() permite obtener un sumario de estadísticas de las variables numéricas.</a:t>
            </a:r>
            <a:endParaRPr/>
          </a:p>
          <a:p>
            <a:pPr marL="0" marR="0" lvl="0" indent="0" algn="l" rtl="0">
              <a:spcBef>
                <a:spcPts val="0"/>
              </a:spcBef>
              <a:spcAft>
                <a:spcPts val="0"/>
              </a:spcAft>
              <a:buNone/>
            </a:pPr>
            <a:endParaRPr sz="1600">
              <a:solidFill>
                <a:schemeClr val="lt1"/>
              </a:solidFill>
              <a:latin typeface="Arial"/>
              <a:ea typeface="Arial"/>
              <a:cs typeface="Arial"/>
              <a:sym typeface="Arial"/>
            </a:endParaRPr>
          </a:p>
        </p:txBody>
      </p:sp>
      <p:pic>
        <p:nvPicPr>
          <p:cNvPr id="163" name="Google Shape;163;p9"/>
          <p:cNvPicPr preferRelativeResize="0"/>
          <p:nvPr/>
        </p:nvPicPr>
        <p:blipFill rotWithShape="1">
          <a:blip r:embed="rId3">
            <a:alphaModFix/>
          </a:blip>
          <a:srcRect/>
          <a:stretch/>
        </p:blipFill>
        <p:spPr>
          <a:xfrm>
            <a:off x="1963757" y="2671381"/>
            <a:ext cx="6112955" cy="29714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p:nvPr/>
        </p:nvSpPr>
        <p:spPr>
          <a:xfrm>
            <a:off x="2469045" y="2653031"/>
            <a:ext cx="10243061" cy="1640284"/>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10"/>
          <p:cNvSpPr txBox="1"/>
          <p:nvPr/>
        </p:nvSpPr>
        <p:spPr>
          <a:xfrm>
            <a:off x="5755278" y="949510"/>
            <a:ext cx="465114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Métodos de Exploración</a:t>
            </a:r>
            <a:endParaRPr/>
          </a:p>
        </p:txBody>
      </p:sp>
      <p:sp>
        <p:nvSpPr>
          <p:cNvPr id="170" name="Google Shape;170;p10"/>
          <p:cNvSpPr txBox="1"/>
          <p:nvPr/>
        </p:nvSpPr>
        <p:spPr>
          <a:xfrm>
            <a:off x="5755278" y="2844224"/>
            <a:ext cx="6014971"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El método </a:t>
            </a:r>
            <a:r>
              <a:rPr lang="es-ES" sz="2000" dirty="0" err="1">
                <a:solidFill>
                  <a:schemeClr val="lt1"/>
                </a:solidFill>
                <a:latin typeface="Calibri"/>
                <a:ea typeface="Calibri"/>
                <a:cs typeface="Calibri"/>
                <a:sym typeface="Calibri"/>
              </a:rPr>
              <a:t>info</a:t>
            </a:r>
            <a:r>
              <a:rPr lang="es-ES" sz="2000" dirty="0">
                <a:solidFill>
                  <a:schemeClr val="lt1"/>
                </a:solidFill>
                <a:latin typeface="Calibri"/>
                <a:ea typeface="Calibri"/>
                <a:cs typeface="Calibri"/>
                <a:sym typeface="Calibri"/>
              </a:rPr>
              <a:t>() despliega un sumario técnico del </a:t>
            </a:r>
            <a:r>
              <a:rPr lang="es-ES" sz="2000" dirty="0" err="1">
                <a:solidFill>
                  <a:schemeClr val="lt1"/>
                </a:solidFill>
                <a:latin typeface="Calibri"/>
                <a:ea typeface="Calibri"/>
                <a:cs typeface="Calibri"/>
                <a:sym typeface="Calibri"/>
              </a:rPr>
              <a:t>DataFrame</a:t>
            </a:r>
            <a:r>
              <a:rPr lang="es-ES" sz="2000" dirty="0">
                <a:solidFill>
                  <a:schemeClr val="lt1"/>
                </a:solidFill>
                <a:latin typeface="Calibri"/>
                <a:ea typeface="Calibri"/>
                <a:cs typeface="Calibri"/>
                <a:sym typeface="Calibri"/>
              </a:rPr>
              <a:t>, en donde se listan las columnas, cantidad de registros no nulos y el tipo de datos de cada uno de ellos.</a:t>
            </a:r>
            <a:endParaRPr dirty="0">
              <a:solidFill>
                <a:schemeClr val="lt1"/>
              </a:solidFill>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Arial"/>
              <a:ea typeface="Arial"/>
              <a:cs typeface="Arial"/>
              <a:sym typeface="Arial"/>
            </a:endParaRPr>
          </a:p>
        </p:txBody>
      </p:sp>
      <p:sp>
        <p:nvSpPr>
          <p:cNvPr id="171" name="Google Shape;171;p10"/>
          <p:cNvSpPr/>
          <p:nvPr/>
        </p:nvSpPr>
        <p:spPr>
          <a:xfrm>
            <a:off x="500128" y="1306286"/>
            <a:ext cx="4833872" cy="408288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72" name="Google Shape;172;p10"/>
          <p:cNvPicPr preferRelativeResize="0"/>
          <p:nvPr/>
        </p:nvPicPr>
        <p:blipFill rotWithShape="1">
          <a:blip r:embed="rId3">
            <a:alphaModFix/>
          </a:blip>
          <a:srcRect/>
          <a:stretch/>
        </p:blipFill>
        <p:spPr>
          <a:xfrm>
            <a:off x="1192798" y="1599698"/>
            <a:ext cx="3448531" cy="36485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p:nvPr/>
        </p:nvSpPr>
        <p:spPr>
          <a:xfrm>
            <a:off x="-388126" y="2374485"/>
            <a:ext cx="7169822" cy="326946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algn="ctr"/>
            <a:endParaRPr sz="1800">
              <a:solidFill>
                <a:schemeClr val="lt1"/>
              </a:solidFill>
              <a:latin typeface="Calibri"/>
              <a:ea typeface="Calibri"/>
              <a:cs typeface="Calibri"/>
              <a:sym typeface="Calibri"/>
            </a:endParaRPr>
          </a:p>
        </p:txBody>
      </p:sp>
      <p:sp>
        <p:nvSpPr>
          <p:cNvPr id="178" name="Google Shape;178;p11"/>
          <p:cNvSpPr txBox="1"/>
          <p:nvPr/>
        </p:nvSpPr>
        <p:spPr>
          <a:xfrm>
            <a:off x="1036225" y="597192"/>
            <a:ext cx="512385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Series Pandas</a:t>
            </a:r>
            <a:endParaRPr/>
          </a:p>
        </p:txBody>
      </p:sp>
      <p:sp>
        <p:nvSpPr>
          <p:cNvPr id="179" name="Google Shape;179;p11"/>
          <p:cNvSpPr txBox="1"/>
          <p:nvPr/>
        </p:nvSpPr>
        <p:spPr>
          <a:xfrm>
            <a:off x="1017710" y="2578058"/>
            <a:ext cx="5123850"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Son estructuras similares a los </a:t>
            </a:r>
            <a:r>
              <a:rPr lang="es-ES" sz="2000" b="1" dirty="0" err="1">
                <a:solidFill>
                  <a:schemeClr val="lt1"/>
                </a:solidFill>
                <a:latin typeface="Calibri"/>
                <a:ea typeface="Calibri"/>
                <a:cs typeface="Calibri"/>
                <a:sym typeface="Calibri"/>
              </a:rPr>
              <a:t>arrays</a:t>
            </a:r>
            <a:r>
              <a:rPr lang="es-ES" sz="2000" dirty="0">
                <a:solidFill>
                  <a:schemeClr val="lt1"/>
                </a:solidFill>
                <a:latin typeface="Calibri"/>
                <a:ea typeface="Calibri"/>
                <a:cs typeface="Calibri"/>
                <a:sym typeface="Calibri"/>
              </a:rPr>
              <a:t> de una dimensión. Son homogéneas, es decir, sus elementos tienen que ser del mismo tipo, y su tamaño es inmutable, es decir, no se puede cambiar, aunque sí su contenido.</a:t>
            </a:r>
            <a:endParaRPr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Dispone de un índice que asocia un nombre a cada elemento de la serie, a través de la cual se accede al elemento.</a:t>
            </a:r>
            <a:endParaRPr dirty="0">
              <a:solidFill>
                <a:schemeClr val="lt1"/>
              </a:solidFill>
            </a:endParaRPr>
          </a:p>
        </p:txBody>
      </p:sp>
      <p:pic>
        <p:nvPicPr>
          <p:cNvPr id="180" name="Google Shape;180;p11"/>
          <p:cNvPicPr preferRelativeResize="0"/>
          <p:nvPr/>
        </p:nvPicPr>
        <p:blipFill rotWithShape="1">
          <a:blip r:embed="rId3">
            <a:alphaModFix/>
          </a:blip>
          <a:srcRect/>
          <a:stretch/>
        </p:blipFill>
        <p:spPr>
          <a:xfrm>
            <a:off x="585666" y="2631120"/>
            <a:ext cx="289524" cy="289524"/>
          </a:xfrm>
          <a:prstGeom prst="rect">
            <a:avLst/>
          </a:prstGeom>
          <a:noFill/>
          <a:ln>
            <a:noFill/>
          </a:ln>
        </p:spPr>
      </p:pic>
      <p:sp>
        <p:nvSpPr>
          <p:cNvPr id="181" name="Google Shape;181;p11"/>
          <p:cNvSpPr/>
          <p:nvPr/>
        </p:nvSpPr>
        <p:spPr>
          <a:xfrm>
            <a:off x="6585112" y="836023"/>
            <a:ext cx="4283185" cy="480793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2" name="Google Shape;182;p11"/>
          <p:cNvPicPr preferRelativeResize="0"/>
          <p:nvPr/>
        </p:nvPicPr>
        <p:blipFill rotWithShape="1">
          <a:blip r:embed="rId4">
            <a:alphaModFix/>
          </a:blip>
          <a:srcRect/>
          <a:stretch/>
        </p:blipFill>
        <p:spPr>
          <a:xfrm>
            <a:off x="7435187" y="1133567"/>
            <a:ext cx="2477585" cy="3175200"/>
          </a:xfrm>
          <a:prstGeom prst="rect">
            <a:avLst/>
          </a:prstGeom>
          <a:noFill/>
          <a:ln>
            <a:noFill/>
          </a:ln>
        </p:spPr>
      </p:pic>
      <p:pic>
        <p:nvPicPr>
          <p:cNvPr id="183" name="Google Shape;183;p11"/>
          <p:cNvPicPr preferRelativeResize="0"/>
          <p:nvPr/>
        </p:nvPicPr>
        <p:blipFill rotWithShape="1">
          <a:blip r:embed="rId5">
            <a:alphaModFix/>
          </a:blip>
          <a:srcRect/>
          <a:stretch/>
        </p:blipFill>
        <p:spPr>
          <a:xfrm>
            <a:off x="6801992" y="4890381"/>
            <a:ext cx="2428875" cy="504825"/>
          </a:xfrm>
          <a:prstGeom prst="rect">
            <a:avLst/>
          </a:prstGeom>
          <a:noFill/>
          <a:ln>
            <a:noFill/>
          </a:ln>
        </p:spPr>
      </p:pic>
      <p:pic>
        <p:nvPicPr>
          <p:cNvPr id="184" name="Google Shape;184;p11"/>
          <p:cNvPicPr preferRelativeResize="0"/>
          <p:nvPr/>
        </p:nvPicPr>
        <p:blipFill rotWithShape="1">
          <a:blip r:embed="rId6">
            <a:alphaModFix/>
          </a:blip>
          <a:srcRect/>
          <a:stretch/>
        </p:blipFill>
        <p:spPr>
          <a:xfrm>
            <a:off x="8726704" y="4890381"/>
            <a:ext cx="2428875" cy="504825"/>
          </a:xfrm>
          <a:prstGeom prst="rect">
            <a:avLst/>
          </a:prstGeom>
          <a:noFill/>
          <a:ln>
            <a:noFill/>
          </a:ln>
        </p:spPr>
      </p:pic>
      <p:cxnSp>
        <p:nvCxnSpPr>
          <p:cNvPr id="185" name="Google Shape;185;p11"/>
          <p:cNvCxnSpPr/>
          <p:nvPr/>
        </p:nvCxnSpPr>
        <p:spPr>
          <a:xfrm rot="10800000">
            <a:off x="8283151" y="4308767"/>
            <a:ext cx="0" cy="585279"/>
          </a:xfrm>
          <a:prstGeom prst="straightConnector1">
            <a:avLst/>
          </a:prstGeom>
          <a:noFill/>
          <a:ln w="9525" cap="flat" cmpd="sng">
            <a:solidFill>
              <a:schemeClr val="dk2"/>
            </a:solidFill>
            <a:prstDash val="solid"/>
            <a:round/>
            <a:headEnd type="none" w="sm" len="sm"/>
            <a:tailEnd type="triangle" w="med" len="med"/>
          </a:ln>
        </p:spPr>
      </p:cxnSp>
      <p:pic>
        <p:nvPicPr>
          <p:cNvPr id="186" name="Google Shape;186;p11"/>
          <p:cNvPicPr preferRelativeResize="0"/>
          <p:nvPr/>
        </p:nvPicPr>
        <p:blipFill rotWithShape="1">
          <a:blip r:embed="rId3">
            <a:alphaModFix/>
          </a:blip>
          <a:srcRect/>
          <a:stretch/>
        </p:blipFill>
        <p:spPr>
          <a:xfrm>
            <a:off x="586730" y="4432464"/>
            <a:ext cx="289524" cy="289524"/>
          </a:xfrm>
          <a:prstGeom prst="rect">
            <a:avLst/>
          </a:prstGeom>
          <a:noFill/>
          <a:ln>
            <a:noFill/>
          </a:ln>
        </p:spPr>
      </p:pic>
      <p:cxnSp>
        <p:nvCxnSpPr>
          <p:cNvPr id="187" name="Google Shape;187;p11"/>
          <p:cNvCxnSpPr/>
          <p:nvPr/>
        </p:nvCxnSpPr>
        <p:spPr>
          <a:xfrm rot="10800000">
            <a:off x="9271459" y="4308767"/>
            <a:ext cx="0" cy="585279"/>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2"/>
          <p:cNvSpPr/>
          <p:nvPr/>
        </p:nvSpPr>
        <p:spPr>
          <a:xfrm>
            <a:off x="1262744" y="1799534"/>
            <a:ext cx="9596846" cy="328838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2"/>
          <p:cNvSpPr txBox="1"/>
          <p:nvPr/>
        </p:nvSpPr>
        <p:spPr>
          <a:xfrm>
            <a:off x="311955" y="985120"/>
            <a:ext cx="4877344"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Series Pandas</a:t>
            </a:r>
            <a:endParaRPr/>
          </a:p>
        </p:txBody>
      </p:sp>
      <p:pic>
        <p:nvPicPr>
          <p:cNvPr id="194" name="Google Shape;194;p12"/>
          <p:cNvPicPr preferRelativeResize="0"/>
          <p:nvPr/>
        </p:nvPicPr>
        <p:blipFill rotWithShape="1">
          <a:blip r:embed="rId3">
            <a:alphaModFix/>
          </a:blip>
          <a:srcRect r="1121"/>
          <a:stretch/>
        </p:blipFill>
        <p:spPr>
          <a:xfrm>
            <a:off x="1519549" y="2014768"/>
            <a:ext cx="9218120" cy="285791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fade">
                                      <p:cBhvr>
                                        <p:cTn id="7"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p:nvPr/>
        </p:nvSpPr>
        <p:spPr>
          <a:xfrm>
            <a:off x="1401310" y="3506396"/>
            <a:ext cx="6414860" cy="191976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3"/>
          <p:cNvSpPr/>
          <p:nvPr/>
        </p:nvSpPr>
        <p:spPr>
          <a:xfrm>
            <a:off x="7498704" y="1110124"/>
            <a:ext cx="3291495" cy="429383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13"/>
          <p:cNvSpPr txBox="1"/>
          <p:nvPr/>
        </p:nvSpPr>
        <p:spPr>
          <a:xfrm>
            <a:off x="1566298" y="2412908"/>
            <a:ext cx="580437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Series Pandas</a:t>
            </a:r>
            <a:endParaRPr/>
          </a:p>
        </p:txBody>
      </p:sp>
      <p:sp>
        <p:nvSpPr>
          <p:cNvPr id="202" name="Google Shape;202;p13"/>
          <p:cNvSpPr txBox="1"/>
          <p:nvPr/>
        </p:nvSpPr>
        <p:spPr>
          <a:xfrm>
            <a:off x="1563177" y="3641034"/>
            <a:ext cx="5882100" cy="13236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2000">
                <a:solidFill>
                  <a:schemeClr val="lt1"/>
                </a:solidFill>
                <a:latin typeface="Calibri"/>
                <a:ea typeface="Calibri"/>
                <a:cs typeface="Calibri"/>
                <a:sym typeface="Calibri"/>
              </a:rPr>
              <a:t>Ejemplo:</a:t>
            </a:r>
            <a:endParaRPr sz="20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s-ES" sz="2000">
                <a:solidFill>
                  <a:schemeClr val="lt1"/>
                </a:solidFill>
                <a:latin typeface="Calibri"/>
                <a:ea typeface="Calibri"/>
                <a:cs typeface="Calibri"/>
                <a:sym typeface="Calibri"/>
              </a:rPr>
              <a:t>Los valores vienen en la columna Frecuencia y la columna Año corresponde al índice.</a:t>
            </a:r>
            <a:endParaRPr sz="2000">
              <a:solidFill>
                <a:schemeClr val="lt1"/>
              </a:solidFill>
              <a:latin typeface="Calibri"/>
              <a:ea typeface="Calibri"/>
              <a:cs typeface="Calibri"/>
              <a:sym typeface="Calibri"/>
            </a:endParaRPr>
          </a:p>
        </p:txBody>
      </p:sp>
      <p:pic>
        <p:nvPicPr>
          <p:cNvPr id="203" name="Google Shape;203;p13"/>
          <p:cNvPicPr preferRelativeResize="0"/>
          <p:nvPr/>
        </p:nvPicPr>
        <p:blipFill rotWithShape="1">
          <a:blip r:embed="rId3">
            <a:alphaModFix/>
          </a:blip>
          <a:srcRect/>
          <a:stretch/>
        </p:blipFill>
        <p:spPr>
          <a:xfrm>
            <a:off x="7842540" y="1594757"/>
            <a:ext cx="2560000" cy="3324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p:nvPr/>
        </p:nvSpPr>
        <p:spPr>
          <a:xfrm>
            <a:off x="-470807" y="35345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Seleccionando un Subset de un Dataframe</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5"/>
          <p:cNvSpPr/>
          <p:nvPr/>
        </p:nvSpPr>
        <p:spPr>
          <a:xfrm>
            <a:off x="7462154" y="2924967"/>
            <a:ext cx="5452655" cy="100806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15"/>
          <p:cNvSpPr txBox="1"/>
          <p:nvPr/>
        </p:nvSpPr>
        <p:spPr>
          <a:xfrm>
            <a:off x="853592" y="597166"/>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Seleccionando Columnas</a:t>
            </a:r>
            <a:endParaRPr sz="3200">
              <a:solidFill>
                <a:srgbClr val="7F7F7F"/>
              </a:solidFill>
              <a:latin typeface="Arial"/>
              <a:ea typeface="Arial"/>
              <a:cs typeface="Arial"/>
              <a:sym typeface="Arial"/>
            </a:endParaRPr>
          </a:p>
        </p:txBody>
      </p:sp>
      <p:sp>
        <p:nvSpPr>
          <p:cNvPr id="215" name="Google Shape;215;p15"/>
          <p:cNvSpPr txBox="1"/>
          <p:nvPr/>
        </p:nvSpPr>
        <p:spPr>
          <a:xfrm>
            <a:off x="7815621" y="3228944"/>
            <a:ext cx="4991437"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Primero realizamos las importaciones.</a:t>
            </a:r>
            <a:endParaRPr sz="2000">
              <a:solidFill>
                <a:schemeClr val="lt1"/>
              </a:solidFill>
              <a:latin typeface="Calibri"/>
              <a:ea typeface="Calibri"/>
              <a:cs typeface="Calibri"/>
              <a:sym typeface="Calibri"/>
            </a:endParaRPr>
          </a:p>
        </p:txBody>
      </p:sp>
      <p:sp>
        <p:nvSpPr>
          <p:cNvPr id="216" name="Google Shape;216;p15"/>
          <p:cNvSpPr/>
          <p:nvPr/>
        </p:nvSpPr>
        <p:spPr>
          <a:xfrm>
            <a:off x="500127" y="1962150"/>
            <a:ext cx="6962029" cy="314325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7" name="Google Shape;217;p15"/>
          <p:cNvPicPr preferRelativeResize="0"/>
          <p:nvPr/>
        </p:nvPicPr>
        <p:blipFill rotWithShape="1">
          <a:blip r:embed="rId3">
            <a:alphaModFix/>
          </a:blip>
          <a:srcRect/>
          <a:stretch/>
        </p:blipFill>
        <p:spPr>
          <a:xfrm>
            <a:off x="853592" y="2590668"/>
            <a:ext cx="6449325" cy="18862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6"/>
          <p:cNvSpPr txBox="1"/>
          <p:nvPr/>
        </p:nvSpPr>
        <p:spPr>
          <a:xfrm>
            <a:off x="401762" y="200581"/>
            <a:ext cx="5528775"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Seleccionando Columnas</a:t>
            </a:r>
            <a:endParaRPr sz="3200">
              <a:solidFill>
                <a:srgbClr val="7F7F7F"/>
              </a:solidFill>
              <a:latin typeface="Arial"/>
              <a:ea typeface="Arial"/>
              <a:cs typeface="Arial"/>
              <a:sym typeface="Arial"/>
            </a:endParaRPr>
          </a:p>
        </p:txBody>
      </p:sp>
      <p:sp>
        <p:nvSpPr>
          <p:cNvPr id="223" name="Google Shape;223;p16"/>
          <p:cNvSpPr/>
          <p:nvPr/>
        </p:nvSpPr>
        <p:spPr>
          <a:xfrm>
            <a:off x="401762" y="1349829"/>
            <a:ext cx="7793004" cy="482786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a:stretch/>
        </p:blipFill>
        <p:spPr>
          <a:xfrm>
            <a:off x="636353" y="1632201"/>
            <a:ext cx="7323821" cy="4263120"/>
          </a:xfrm>
          <a:prstGeom prst="rect">
            <a:avLst/>
          </a:prstGeom>
          <a:noFill/>
          <a:ln>
            <a:noFill/>
          </a:ln>
        </p:spPr>
      </p:pic>
      <p:cxnSp>
        <p:nvCxnSpPr>
          <p:cNvPr id="225" name="Google Shape;225;p16"/>
          <p:cNvCxnSpPr/>
          <p:nvPr/>
        </p:nvCxnSpPr>
        <p:spPr>
          <a:xfrm>
            <a:off x="3849188" y="2159726"/>
            <a:ext cx="644434" cy="0"/>
          </a:xfrm>
          <a:prstGeom prst="straightConnector1">
            <a:avLst/>
          </a:prstGeom>
          <a:noFill/>
          <a:ln w="38100" cap="flat" cmpd="sng">
            <a:solidFill>
              <a:schemeClr val="lt1"/>
            </a:solidFill>
            <a:prstDash val="solid"/>
            <a:miter lim="800000"/>
            <a:headEnd type="none" w="sm" len="sm"/>
            <a:tailEnd type="none" w="sm" len="sm"/>
          </a:ln>
        </p:spPr>
      </p:cxnSp>
      <p:cxnSp>
        <p:nvCxnSpPr>
          <p:cNvPr id="226" name="Google Shape;226;p16"/>
          <p:cNvCxnSpPr/>
          <p:nvPr/>
        </p:nvCxnSpPr>
        <p:spPr>
          <a:xfrm>
            <a:off x="6779623" y="2390503"/>
            <a:ext cx="644434" cy="0"/>
          </a:xfrm>
          <a:prstGeom prst="straightConnector1">
            <a:avLst/>
          </a:prstGeom>
          <a:noFill/>
          <a:ln w="57150" cap="flat" cmpd="sng">
            <a:solidFill>
              <a:schemeClr val="lt1"/>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fade">
                                      <p:cBhvr>
                                        <p:cTn id="7" dur="5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7"/>
          <p:cNvSpPr txBox="1"/>
          <p:nvPr/>
        </p:nvSpPr>
        <p:spPr>
          <a:xfrm>
            <a:off x="-277101" y="381001"/>
            <a:ext cx="6390518"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Seleccionando Filas</a:t>
            </a:r>
            <a:endParaRPr sz="3200">
              <a:solidFill>
                <a:srgbClr val="7F7F7F"/>
              </a:solidFill>
              <a:latin typeface="Arial"/>
              <a:ea typeface="Arial"/>
              <a:cs typeface="Arial"/>
              <a:sym typeface="Arial"/>
            </a:endParaRPr>
          </a:p>
        </p:txBody>
      </p:sp>
      <p:sp>
        <p:nvSpPr>
          <p:cNvPr id="232" name="Google Shape;232;p17"/>
          <p:cNvSpPr/>
          <p:nvPr/>
        </p:nvSpPr>
        <p:spPr>
          <a:xfrm>
            <a:off x="715270" y="1692783"/>
            <a:ext cx="8714046" cy="464923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3" name="Google Shape;233;p17"/>
          <p:cNvPicPr preferRelativeResize="0"/>
          <p:nvPr/>
        </p:nvPicPr>
        <p:blipFill rotWithShape="1">
          <a:blip r:embed="rId3">
            <a:alphaModFix/>
          </a:blip>
          <a:srcRect/>
          <a:stretch/>
        </p:blipFill>
        <p:spPr>
          <a:xfrm>
            <a:off x="969351" y="1719922"/>
            <a:ext cx="8423842" cy="46193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8"/>
          <p:cNvSpPr/>
          <p:nvPr/>
        </p:nvSpPr>
        <p:spPr>
          <a:xfrm>
            <a:off x="2469045" y="2832240"/>
            <a:ext cx="10243061" cy="1403070"/>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18"/>
          <p:cNvSpPr txBox="1"/>
          <p:nvPr/>
        </p:nvSpPr>
        <p:spPr>
          <a:xfrm>
            <a:off x="957400" y="588029"/>
            <a:ext cx="521697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Seleccionando Columnas</a:t>
            </a:r>
            <a:endParaRPr sz="3200">
              <a:solidFill>
                <a:srgbClr val="7F7F7F"/>
              </a:solidFill>
              <a:latin typeface="Arial"/>
              <a:ea typeface="Arial"/>
              <a:cs typeface="Arial"/>
              <a:sym typeface="Arial"/>
            </a:endParaRPr>
          </a:p>
        </p:txBody>
      </p:sp>
      <p:sp>
        <p:nvSpPr>
          <p:cNvPr id="240" name="Google Shape;240;p18"/>
          <p:cNvSpPr txBox="1"/>
          <p:nvPr/>
        </p:nvSpPr>
        <p:spPr>
          <a:xfrm>
            <a:off x="7590575" y="2973426"/>
            <a:ext cx="4383710" cy="12618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Podemos seleccionar celdas específicas de un dataframe indicando los índices y las columnas requeridas.</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Arial"/>
              <a:ea typeface="Arial"/>
              <a:cs typeface="Arial"/>
              <a:sym typeface="Arial"/>
            </a:endParaRPr>
          </a:p>
        </p:txBody>
      </p:sp>
      <p:sp>
        <p:nvSpPr>
          <p:cNvPr id="241" name="Google Shape;241;p18"/>
          <p:cNvSpPr/>
          <p:nvPr/>
        </p:nvSpPr>
        <p:spPr>
          <a:xfrm>
            <a:off x="500127" y="1962150"/>
            <a:ext cx="6962029" cy="314325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2" name="Google Shape;242;p18"/>
          <p:cNvPicPr preferRelativeResize="0"/>
          <p:nvPr/>
        </p:nvPicPr>
        <p:blipFill rotWithShape="1">
          <a:blip r:embed="rId3">
            <a:alphaModFix/>
          </a:blip>
          <a:srcRect/>
          <a:stretch/>
        </p:blipFill>
        <p:spPr>
          <a:xfrm>
            <a:off x="704850" y="2529961"/>
            <a:ext cx="6621687" cy="17926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5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txBox="1"/>
          <p:nvPr/>
        </p:nvSpPr>
        <p:spPr>
          <a:xfrm>
            <a:off x="743814" y="309192"/>
            <a:ext cx="5016026"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Seleccionando Celdas</a:t>
            </a:r>
            <a:endParaRPr sz="3200">
              <a:solidFill>
                <a:srgbClr val="7F7F7F"/>
              </a:solidFill>
              <a:latin typeface="Arial"/>
              <a:ea typeface="Arial"/>
              <a:cs typeface="Arial"/>
              <a:sym typeface="Arial"/>
            </a:endParaRPr>
          </a:p>
        </p:txBody>
      </p:sp>
      <p:sp>
        <p:nvSpPr>
          <p:cNvPr id="248" name="Google Shape;248;p19"/>
          <p:cNvSpPr/>
          <p:nvPr/>
        </p:nvSpPr>
        <p:spPr>
          <a:xfrm>
            <a:off x="885670" y="1484030"/>
            <a:ext cx="8202307" cy="429768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19"/>
          <p:cNvSpPr txBox="1"/>
          <p:nvPr/>
        </p:nvSpPr>
        <p:spPr>
          <a:xfrm>
            <a:off x="1103220" y="1858365"/>
            <a:ext cx="776720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400"/>
              <a:buFont typeface="Calibri"/>
              <a:buNone/>
            </a:pPr>
            <a:r>
              <a:rPr lang="es-ES" sz="1400" dirty="0">
                <a:solidFill>
                  <a:srgbClr val="3A3838"/>
                </a:solidFill>
                <a:latin typeface="Calibri"/>
                <a:ea typeface="Calibri"/>
                <a:cs typeface="Calibri"/>
                <a:sym typeface="Calibri"/>
              </a:rPr>
              <a:t>Podemos seleccionar celdas específicas de un dataframe indicando los índices y las columnas requeridas</a:t>
            </a:r>
            <a:r>
              <a:rPr lang="es-ES" sz="14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sp>
        <p:nvSpPr>
          <p:cNvPr id="250" name="Google Shape;250;p19"/>
          <p:cNvSpPr txBox="1"/>
          <p:nvPr/>
        </p:nvSpPr>
        <p:spPr>
          <a:xfrm>
            <a:off x="5365225" y="2562214"/>
            <a:ext cx="35052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dirty="0">
                <a:solidFill>
                  <a:srgbClr val="3A3838"/>
                </a:solidFill>
                <a:latin typeface="Calibri"/>
                <a:ea typeface="Calibri"/>
                <a:cs typeface="Calibri"/>
                <a:sym typeface="Calibri"/>
              </a:rPr>
              <a:t>En este caso se han seleccionado el rango de índices 2, 3 y 4 en la columna EmployeeName. El resultado en este caso es una Serie.</a:t>
            </a:r>
            <a:endParaRPr sz="1800" dirty="0">
              <a:solidFill>
                <a:srgbClr val="3A3838"/>
              </a:solidFill>
              <a:latin typeface="Calibri"/>
              <a:ea typeface="Calibri"/>
              <a:cs typeface="Calibri"/>
              <a:sym typeface="Calibri"/>
            </a:endParaRPr>
          </a:p>
        </p:txBody>
      </p:sp>
      <p:cxnSp>
        <p:nvCxnSpPr>
          <p:cNvPr id="251" name="Google Shape;251;p19"/>
          <p:cNvCxnSpPr/>
          <p:nvPr/>
        </p:nvCxnSpPr>
        <p:spPr>
          <a:xfrm rot="10800000">
            <a:off x="5059136" y="2885380"/>
            <a:ext cx="310445" cy="0"/>
          </a:xfrm>
          <a:prstGeom prst="straightConnector1">
            <a:avLst/>
          </a:prstGeom>
          <a:noFill/>
          <a:ln w="9525" cap="flat" cmpd="sng">
            <a:solidFill>
              <a:schemeClr val="accent1"/>
            </a:solidFill>
            <a:prstDash val="solid"/>
            <a:miter lim="800000"/>
            <a:headEnd type="none" w="sm" len="sm"/>
            <a:tailEnd type="triangle" w="med" len="med"/>
          </a:ln>
        </p:spPr>
      </p:cxnSp>
      <p:sp>
        <p:nvSpPr>
          <p:cNvPr id="252" name="Google Shape;252;p19"/>
          <p:cNvSpPr txBox="1"/>
          <p:nvPr/>
        </p:nvSpPr>
        <p:spPr>
          <a:xfrm>
            <a:off x="4868307" y="3795142"/>
            <a:ext cx="350520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dirty="0">
                <a:solidFill>
                  <a:srgbClr val="3A3838"/>
                </a:solidFill>
                <a:latin typeface="Calibri"/>
                <a:ea typeface="Calibri"/>
                <a:cs typeface="Calibri"/>
                <a:sym typeface="Calibri"/>
              </a:rPr>
              <a:t>En este caso, se han seleccionado dos columnas por lo tanto el resultado es un DataFrame.</a:t>
            </a:r>
            <a:endParaRPr sz="1800" dirty="0">
              <a:solidFill>
                <a:srgbClr val="3A3838"/>
              </a:solidFill>
              <a:latin typeface="Calibri"/>
              <a:ea typeface="Calibri"/>
              <a:cs typeface="Calibri"/>
              <a:sym typeface="Calibri"/>
            </a:endParaRPr>
          </a:p>
        </p:txBody>
      </p:sp>
      <p:cxnSp>
        <p:nvCxnSpPr>
          <p:cNvPr id="253" name="Google Shape;253;p19"/>
          <p:cNvCxnSpPr/>
          <p:nvPr/>
        </p:nvCxnSpPr>
        <p:spPr>
          <a:xfrm flipH="1">
            <a:off x="4417026" y="4023360"/>
            <a:ext cx="346889" cy="2614"/>
          </a:xfrm>
          <a:prstGeom prst="straightConnector1">
            <a:avLst/>
          </a:prstGeom>
          <a:noFill/>
          <a:ln w="9525" cap="flat" cmpd="sng">
            <a:solidFill>
              <a:schemeClr val="accent1"/>
            </a:solidFill>
            <a:prstDash val="solid"/>
            <a:miter lim="800000"/>
            <a:headEnd type="none" w="sm" len="sm"/>
            <a:tailEnd type="triangle" w="med" len="med"/>
          </a:ln>
        </p:spPr>
      </p:cxnSp>
      <p:pic>
        <p:nvPicPr>
          <p:cNvPr id="254" name="Google Shape;254;p19"/>
          <p:cNvPicPr preferRelativeResize="0"/>
          <p:nvPr/>
        </p:nvPicPr>
        <p:blipFill rotWithShape="1">
          <a:blip r:embed="rId3">
            <a:alphaModFix/>
          </a:blip>
          <a:srcRect/>
          <a:stretch/>
        </p:blipFill>
        <p:spPr>
          <a:xfrm>
            <a:off x="1119134" y="2338127"/>
            <a:ext cx="3867690" cy="1267002"/>
          </a:xfrm>
          <a:prstGeom prst="rect">
            <a:avLst/>
          </a:prstGeom>
          <a:noFill/>
          <a:ln>
            <a:noFill/>
          </a:ln>
        </p:spPr>
      </p:pic>
      <p:pic>
        <p:nvPicPr>
          <p:cNvPr id="255" name="Google Shape;255;p19"/>
          <p:cNvPicPr preferRelativeResize="0"/>
          <p:nvPr/>
        </p:nvPicPr>
        <p:blipFill rotWithShape="1">
          <a:blip r:embed="rId4">
            <a:alphaModFix/>
          </a:blip>
          <a:srcRect/>
          <a:stretch/>
        </p:blipFill>
        <p:spPr>
          <a:xfrm>
            <a:off x="1119134" y="3795144"/>
            <a:ext cx="3115110" cy="17623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0"/>
          <p:cNvSpPr txBox="1"/>
          <p:nvPr/>
        </p:nvSpPr>
        <p:spPr>
          <a:xfrm>
            <a:off x="795115" y="928604"/>
            <a:ext cx="691713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Filtrando Filas del DataFrame</a:t>
            </a:r>
            <a:endParaRPr/>
          </a:p>
        </p:txBody>
      </p:sp>
      <p:sp>
        <p:nvSpPr>
          <p:cNvPr id="261" name="Google Shape;261;p20"/>
          <p:cNvSpPr/>
          <p:nvPr/>
        </p:nvSpPr>
        <p:spPr>
          <a:xfrm>
            <a:off x="1412318" y="1933335"/>
            <a:ext cx="9323613" cy="337343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20"/>
          <p:cNvSpPr txBox="1"/>
          <p:nvPr/>
        </p:nvSpPr>
        <p:spPr>
          <a:xfrm>
            <a:off x="1682486" y="2257111"/>
            <a:ext cx="8783276"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Se puede realizar una selección de datos condicional de datos, especificando la condición que deben cumplir las filas de la siguiente forma:</a:t>
            </a:r>
            <a:endParaRPr sz="1800">
              <a:solidFill>
                <a:srgbClr val="3A3838"/>
              </a:solidFill>
              <a:latin typeface="Calibri"/>
              <a:ea typeface="Calibri"/>
              <a:cs typeface="Calibri"/>
              <a:sym typeface="Calibri"/>
            </a:endParaRPr>
          </a:p>
        </p:txBody>
      </p:sp>
      <p:sp>
        <p:nvSpPr>
          <p:cNvPr id="263" name="Google Shape;263;p20"/>
          <p:cNvSpPr/>
          <p:nvPr/>
        </p:nvSpPr>
        <p:spPr>
          <a:xfrm rot="5400000">
            <a:off x="2612038" y="2623168"/>
            <a:ext cx="184264" cy="1392046"/>
          </a:xfrm>
          <a:prstGeom prst="leftBrace">
            <a:avLst>
              <a:gd name="adj1" fmla="val 8333"/>
              <a:gd name="adj2" fmla="val 50000"/>
            </a:avLst>
          </a:pr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64" name="Google Shape;264;p20"/>
          <p:cNvSpPr txBox="1"/>
          <p:nvPr/>
        </p:nvSpPr>
        <p:spPr>
          <a:xfrm>
            <a:off x="2008148" y="2950061"/>
            <a:ext cx="143654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Condición de filtro</a:t>
            </a:r>
            <a:endParaRPr sz="1800">
              <a:solidFill>
                <a:srgbClr val="3A3838"/>
              </a:solidFill>
              <a:latin typeface="Calibri"/>
              <a:ea typeface="Calibri"/>
              <a:cs typeface="Calibri"/>
              <a:sym typeface="Calibri"/>
            </a:endParaRPr>
          </a:p>
        </p:txBody>
      </p:sp>
      <p:pic>
        <p:nvPicPr>
          <p:cNvPr id="265" name="Google Shape;265;p20"/>
          <p:cNvPicPr preferRelativeResize="0"/>
          <p:nvPr/>
        </p:nvPicPr>
        <p:blipFill rotWithShape="1">
          <a:blip r:embed="rId3">
            <a:alphaModFix/>
          </a:blip>
          <a:srcRect/>
          <a:stretch/>
        </p:blipFill>
        <p:spPr>
          <a:xfrm>
            <a:off x="1682486" y="3407074"/>
            <a:ext cx="8783276" cy="15813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1"/>
          <p:cNvSpPr txBox="1"/>
          <p:nvPr/>
        </p:nvSpPr>
        <p:spPr>
          <a:xfrm>
            <a:off x="1382707" y="837576"/>
            <a:ext cx="6209211"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dirty="0">
                <a:solidFill>
                  <a:srgbClr val="7F7F7F"/>
                </a:solidFill>
                <a:latin typeface="Arial"/>
                <a:ea typeface="Arial"/>
                <a:cs typeface="Arial"/>
                <a:sym typeface="Arial"/>
              </a:rPr>
              <a:t>Filtrando Filas del DataFrame</a:t>
            </a:r>
            <a:endParaRPr dirty="0"/>
          </a:p>
        </p:txBody>
      </p:sp>
      <p:sp>
        <p:nvSpPr>
          <p:cNvPr id="271" name="Google Shape;271;p21"/>
          <p:cNvSpPr/>
          <p:nvPr/>
        </p:nvSpPr>
        <p:spPr>
          <a:xfrm>
            <a:off x="1567544" y="1845928"/>
            <a:ext cx="8821782" cy="326095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21"/>
          <p:cNvSpPr txBox="1"/>
          <p:nvPr/>
        </p:nvSpPr>
        <p:spPr>
          <a:xfrm>
            <a:off x="2238778" y="2171147"/>
            <a:ext cx="7411485" cy="3077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Se puede hacer una selección de filas mediante expresiones con varias condiciones.</a:t>
            </a:r>
            <a:endParaRPr sz="1800">
              <a:solidFill>
                <a:srgbClr val="3A3838"/>
              </a:solidFill>
              <a:latin typeface="Calibri"/>
              <a:ea typeface="Calibri"/>
              <a:cs typeface="Calibri"/>
              <a:sym typeface="Calibri"/>
            </a:endParaRPr>
          </a:p>
        </p:txBody>
      </p:sp>
      <p:sp>
        <p:nvSpPr>
          <p:cNvPr id="273" name="Google Shape;273;p21"/>
          <p:cNvSpPr txBox="1"/>
          <p:nvPr/>
        </p:nvSpPr>
        <p:spPr>
          <a:xfrm>
            <a:off x="2689756" y="2536942"/>
            <a:ext cx="151901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Los operadores son:</a:t>
            </a:r>
            <a:endParaRPr sz="1800">
              <a:solidFill>
                <a:srgbClr val="3A3838"/>
              </a:solidFill>
              <a:latin typeface="Calibri"/>
              <a:ea typeface="Calibri"/>
              <a:cs typeface="Calibri"/>
              <a:sym typeface="Calibri"/>
            </a:endParaRPr>
          </a:p>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&amp; : operador “and”</a:t>
            </a:r>
            <a:endParaRPr sz="1800">
              <a:solidFill>
                <a:srgbClr val="3A3838"/>
              </a:solidFill>
              <a:latin typeface="Calibri"/>
              <a:ea typeface="Calibri"/>
              <a:cs typeface="Calibri"/>
              <a:sym typeface="Calibri"/>
            </a:endParaRPr>
          </a:p>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 : operador “or”</a:t>
            </a:r>
            <a:endParaRPr sz="1800">
              <a:solidFill>
                <a:srgbClr val="3A3838"/>
              </a:solidFill>
              <a:latin typeface="Calibri"/>
              <a:ea typeface="Calibri"/>
              <a:cs typeface="Calibri"/>
              <a:sym typeface="Calibri"/>
            </a:endParaRPr>
          </a:p>
        </p:txBody>
      </p:sp>
      <p:cxnSp>
        <p:nvCxnSpPr>
          <p:cNvPr id="274" name="Google Shape;274;p21"/>
          <p:cNvCxnSpPr>
            <a:cxnSpLocks/>
          </p:cNvCxnSpPr>
          <p:nvPr/>
        </p:nvCxnSpPr>
        <p:spPr>
          <a:xfrm>
            <a:off x="3449266" y="3183273"/>
            <a:ext cx="248100" cy="294300"/>
          </a:xfrm>
          <a:prstGeom prst="straightConnector1">
            <a:avLst/>
          </a:prstGeom>
          <a:noFill/>
          <a:ln w="9525" cap="flat" cmpd="sng">
            <a:solidFill>
              <a:schemeClr val="accent1"/>
            </a:solidFill>
            <a:prstDash val="solid"/>
            <a:miter lim="800000"/>
            <a:headEnd type="none" w="sm" len="sm"/>
            <a:tailEnd type="triangle" w="med" len="med"/>
          </a:ln>
        </p:spPr>
      </p:cxnSp>
      <p:cxnSp>
        <p:nvCxnSpPr>
          <p:cNvPr id="275" name="Google Shape;275;p21"/>
          <p:cNvCxnSpPr/>
          <p:nvPr/>
        </p:nvCxnSpPr>
        <p:spPr>
          <a:xfrm flipH="1">
            <a:off x="5330987" y="3181398"/>
            <a:ext cx="382713" cy="294156"/>
          </a:xfrm>
          <a:prstGeom prst="straightConnector1">
            <a:avLst/>
          </a:prstGeom>
          <a:noFill/>
          <a:ln w="9525" cap="flat" cmpd="sng">
            <a:solidFill>
              <a:schemeClr val="accent1"/>
            </a:solidFill>
            <a:prstDash val="solid"/>
            <a:miter lim="800000"/>
            <a:headEnd type="none" w="sm" len="sm"/>
            <a:tailEnd type="triangle" w="med" len="med"/>
          </a:ln>
        </p:spPr>
      </p:cxnSp>
      <p:sp>
        <p:nvSpPr>
          <p:cNvPr id="276" name="Google Shape;276;p21"/>
          <p:cNvSpPr txBox="1"/>
          <p:nvPr/>
        </p:nvSpPr>
        <p:spPr>
          <a:xfrm>
            <a:off x="5078438" y="2652110"/>
            <a:ext cx="202785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Las condiciones deben ser encerradas entre paréntesis.</a:t>
            </a:r>
            <a:endParaRPr sz="1800">
              <a:solidFill>
                <a:srgbClr val="3A3838"/>
              </a:solidFill>
              <a:latin typeface="Calibri"/>
              <a:ea typeface="Calibri"/>
              <a:cs typeface="Calibri"/>
              <a:sym typeface="Calibri"/>
            </a:endParaRPr>
          </a:p>
        </p:txBody>
      </p:sp>
      <p:pic>
        <p:nvPicPr>
          <p:cNvPr id="277" name="Google Shape;277;p21"/>
          <p:cNvPicPr preferRelativeResize="0"/>
          <p:nvPr/>
        </p:nvPicPr>
        <p:blipFill rotWithShape="1">
          <a:blip r:embed="rId3">
            <a:alphaModFix/>
          </a:blip>
          <a:srcRect/>
          <a:stretch/>
        </p:blipFill>
        <p:spPr>
          <a:xfrm>
            <a:off x="2238778" y="3535447"/>
            <a:ext cx="7411484" cy="10669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5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p:nvPr/>
        </p:nvSpPr>
        <p:spPr>
          <a:xfrm>
            <a:off x="134471" y="3779947"/>
            <a:ext cx="811181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Realizando Cálculos Estadísticos</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3"/>
          <p:cNvSpPr txBox="1"/>
          <p:nvPr/>
        </p:nvSpPr>
        <p:spPr>
          <a:xfrm>
            <a:off x="537882" y="334571"/>
            <a:ext cx="6633883"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Valores Máximos y Mínimos</a:t>
            </a:r>
            <a:endParaRPr/>
          </a:p>
        </p:txBody>
      </p:sp>
      <p:sp>
        <p:nvSpPr>
          <p:cNvPr id="288" name="Google Shape;288;p23"/>
          <p:cNvSpPr/>
          <p:nvPr/>
        </p:nvSpPr>
        <p:spPr>
          <a:xfrm>
            <a:off x="1100739" y="1513754"/>
            <a:ext cx="9960428" cy="441639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23"/>
          <p:cNvSpPr txBox="1"/>
          <p:nvPr/>
        </p:nvSpPr>
        <p:spPr>
          <a:xfrm>
            <a:off x="1648622" y="1718621"/>
            <a:ext cx="3949593" cy="66810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El método </a:t>
            </a:r>
            <a:r>
              <a:rPr lang="es-ES" sz="1200" b="1">
                <a:solidFill>
                  <a:schemeClr val="dk1"/>
                </a:solidFill>
                <a:latin typeface="Calibri"/>
                <a:ea typeface="Calibri"/>
                <a:cs typeface="Calibri"/>
                <a:sym typeface="Calibri"/>
              </a:rPr>
              <a:t>max()</a:t>
            </a:r>
            <a:r>
              <a:rPr lang="es-ES" sz="1200">
                <a:solidFill>
                  <a:schemeClr val="dk1"/>
                </a:solidFill>
                <a:latin typeface="Calibri"/>
                <a:ea typeface="Calibri"/>
                <a:cs typeface="Calibri"/>
                <a:sym typeface="Calibri"/>
              </a:rPr>
              <a:t> retorna el valor máximo de un dataframe (retorna una serie) o bien seleccionar el valor específico de una columna.</a:t>
            </a:r>
            <a:endParaRPr sz="1800">
              <a:solidFill>
                <a:schemeClr val="dk1"/>
              </a:solidFill>
              <a:latin typeface="Calibri"/>
              <a:ea typeface="Calibri"/>
              <a:cs typeface="Calibri"/>
              <a:sym typeface="Calibri"/>
            </a:endParaRPr>
          </a:p>
        </p:txBody>
      </p:sp>
      <p:sp>
        <p:nvSpPr>
          <p:cNvPr id="290" name="Google Shape;290;p23"/>
          <p:cNvSpPr txBox="1"/>
          <p:nvPr/>
        </p:nvSpPr>
        <p:spPr>
          <a:xfrm>
            <a:off x="6338803" y="1718621"/>
            <a:ext cx="4088546" cy="66810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El método </a:t>
            </a:r>
            <a:r>
              <a:rPr lang="es-ES" sz="1200" b="1">
                <a:solidFill>
                  <a:schemeClr val="dk1"/>
                </a:solidFill>
                <a:latin typeface="Calibri"/>
                <a:ea typeface="Calibri"/>
                <a:cs typeface="Calibri"/>
                <a:sym typeface="Calibri"/>
              </a:rPr>
              <a:t>min()</a:t>
            </a:r>
            <a:r>
              <a:rPr lang="es-ES" sz="1200">
                <a:solidFill>
                  <a:schemeClr val="dk1"/>
                </a:solidFill>
                <a:latin typeface="Calibri"/>
                <a:ea typeface="Calibri"/>
                <a:cs typeface="Calibri"/>
                <a:sym typeface="Calibri"/>
              </a:rPr>
              <a:t> retorna el valor mínimo de un dataframe (en forma de serie) o bien selecciona el valor específico de una columna.</a:t>
            </a:r>
            <a:endParaRPr sz="1800">
              <a:solidFill>
                <a:schemeClr val="dk1"/>
              </a:solidFill>
              <a:latin typeface="Calibri"/>
              <a:ea typeface="Calibri"/>
              <a:cs typeface="Calibri"/>
              <a:sym typeface="Calibri"/>
            </a:endParaRPr>
          </a:p>
        </p:txBody>
      </p:sp>
      <p:pic>
        <p:nvPicPr>
          <p:cNvPr id="291" name="Google Shape;291;p23"/>
          <p:cNvPicPr preferRelativeResize="0"/>
          <p:nvPr/>
        </p:nvPicPr>
        <p:blipFill rotWithShape="1">
          <a:blip r:embed="rId3">
            <a:alphaModFix/>
          </a:blip>
          <a:srcRect/>
          <a:stretch/>
        </p:blipFill>
        <p:spPr>
          <a:xfrm>
            <a:off x="7035780" y="2603948"/>
            <a:ext cx="2705478" cy="2896004"/>
          </a:xfrm>
          <a:prstGeom prst="rect">
            <a:avLst/>
          </a:prstGeom>
          <a:noFill/>
          <a:ln>
            <a:noFill/>
          </a:ln>
        </p:spPr>
      </p:pic>
      <p:pic>
        <p:nvPicPr>
          <p:cNvPr id="292" name="Google Shape;292;p23"/>
          <p:cNvPicPr preferRelativeResize="0"/>
          <p:nvPr/>
        </p:nvPicPr>
        <p:blipFill rotWithShape="1">
          <a:blip r:embed="rId4">
            <a:alphaModFix/>
          </a:blip>
          <a:srcRect/>
          <a:stretch/>
        </p:blipFill>
        <p:spPr>
          <a:xfrm>
            <a:off x="2395187" y="2593062"/>
            <a:ext cx="2695951" cy="289600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4"/>
          <p:cNvSpPr txBox="1"/>
          <p:nvPr/>
        </p:nvSpPr>
        <p:spPr>
          <a:xfrm>
            <a:off x="-213869" y="464924"/>
            <a:ext cx="6033466"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Contar los Valores</a:t>
            </a:r>
            <a:endParaRPr sz="3200">
              <a:solidFill>
                <a:srgbClr val="7F7F7F"/>
              </a:solidFill>
              <a:latin typeface="Arial"/>
              <a:ea typeface="Arial"/>
              <a:cs typeface="Arial"/>
              <a:sym typeface="Arial"/>
            </a:endParaRPr>
          </a:p>
        </p:txBody>
      </p:sp>
      <p:sp>
        <p:nvSpPr>
          <p:cNvPr id="298" name="Google Shape;298;p24"/>
          <p:cNvSpPr/>
          <p:nvPr/>
        </p:nvSpPr>
        <p:spPr>
          <a:xfrm>
            <a:off x="1098465" y="1713207"/>
            <a:ext cx="9933213" cy="392865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24"/>
          <p:cNvSpPr txBox="1"/>
          <p:nvPr/>
        </p:nvSpPr>
        <p:spPr>
          <a:xfrm>
            <a:off x="5605150" y="3441281"/>
            <a:ext cx="4067991" cy="4616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El método </a:t>
            </a:r>
            <a:r>
              <a:rPr lang="es-ES" sz="1200" b="1">
                <a:solidFill>
                  <a:srgbClr val="3A3838"/>
                </a:solidFill>
                <a:latin typeface="Calibri"/>
                <a:ea typeface="Calibri"/>
                <a:cs typeface="Calibri"/>
                <a:sym typeface="Calibri"/>
              </a:rPr>
              <a:t>count()</a:t>
            </a:r>
            <a:r>
              <a:rPr lang="es-ES" sz="1200">
                <a:solidFill>
                  <a:srgbClr val="3A3838"/>
                </a:solidFill>
                <a:latin typeface="Calibri"/>
                <a:ea typeface="Calibri"/>
                <a:cs typeface="Calibri"/>
                <a:sym typeface="Calibri"/>
              </a:rPr>
              <a:t> retorna la cantidad de valores no nulos (NA) de un DataFrame.</a:t>
            </a:r>
            <a:endParaRPr sz="1800">
              <a:solidFill>
                <a:srgbClr val="3A3838"/>
              </a:solidFill>
              <a:latin typeface="Calibri"/>
              <a:ea typeface="Calibri"/>
              <a:cs typeface="Calibri"/>
              <a:sym typeface="Calibri"/>
            </a:endParaRPr>
          </a:p>
        </p:txBody>
      </p:sp>
      <p:pic>
        <p:nvPicPr>
          <p:cNvPr id="300" name="Google Shape;300;p24"/>
          <p:cNvPicPr preferRelativeResize="0"/>
          <p:nvPr/>
        </p:nvPicPr>
        <p:blipFill rotWithShape="1">
          <a:blip r:embed="rId3">
            <a:alphaModFix/>
          </a:blip>
          <a:srcRect/>
          <a:stretch/>
        </p:blipFill>
        <p:spPr>
          <a:xfrm>
            <a:off x="3025479" y="2047853"/>
            <a:ext cx="2086266" cy="32484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7"/>
                                        </p:tgtEl>
                                        <p:attrNameLst>
                                          <p:attrName>style.visibility</p:attrName>
                                        </p:attrNameLst>
                                      </p:cBhvr>
                                      <p:to>
                                        <p:strVal val="visible"/>
                                      </p:to>
                                    </p:set>
                                    <p:animEffect transition="in" filter="fade">
                                      <p:cBhvr>
                                        <p:cTn id="7" dur="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5"/>
          <p:cNvSpPr txBox="1"/>
          <p:nvPr/>
        </p:nvSpPr>
        <p:spPr>
          <a:xfrm>
            <a:off x="438276" y="451235"/>
            <a:ext cx="463296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Media y Mediana</a:t>
            </a:r>
            <a:endParaRPr/>
          </a:p>
        </p:txBody>
      </p:sp>
      <p:sp>
        <p:nvSpPr>
          <p:cNvPr id="306" name="Google Shape;306;p25"/>
          <p:cNvSpPr/>
          <p:nvPr/>
        </p:nvSpPr>
        <p:spPr>
          <a:xfrm>
            <a:off x="1122681" y="1643480"/>
            <a:ext cx="10161813" cy="391801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25"/>
          <p:cNvSpPr txBox="1"/>
          <p:nvPr/>
        </p:nvSpPr>
        <p:spPr>
          <a:xfrm>
            <a:off x="1896450" y="1943100"/>
            <a:ext cx="3678487"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El método </a:t>
            </a:r>
            <a:r>
              <a:rPr lang="es-ES" sz="1200" b="1">
                <a:solidFill>
                  <a:schemeClr val="dk1"/>
                </a:solidFill>
                <a:latin typeface="Calibri"/>
                <a:ea typeface="Calibri"/>
                <a:cs typeface="Calibri"/>
                <a:sym typeface="Calibri"/>
              </a:rPr>
              <a:t>median()</a:t>
            </a:r>
            <a:r>
              <a:rPr lang="es-ES" sz="1200">
                <a:solidFill>
                  <a:schemeClr val="dk1"/>
                </a:solidFill>
                <a:latin typeface="Calibri"/>
                <a:ea typeface="Calibri"/>
                <a:cs typeface="Calibri"/>
                <a:sym typeface="Calibri"/>
              </a:rPr>
              <a:t> retorna el valor que corresponde</a:t>
            </a:r>
            <a:endParaRPr/>
          </a:p>
          <a:p>
            <a:pPr marL="0" marR="0" lvl="0" indent="0" algn="just"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 al 50% de la muestra.</a:t>
            </a:r>
            <a:endParaRPr sz="1800">
              <a:solidFill>
                <a:schemeClr val="dk1"/>
              </a:solidFill>
              <a:latin typeface="Calibri"/>
              <a:ea typeface="Calibri"/>
              <a:cs typeface="Calibri"/>
              <a:sym typeface="Calibri"/>
            </a:endParaRPr>
          </a:p>
        </p:txBody>
      </p:sp>
      <p:pic>
        <p:nvPicPr>
          <p:cNvPr id="308" name="Google Shape;308;p25"/>
          <p:cNvPicPr preferRelativeResize="0"/>
          <p:nvPr/>
        </p:nvPicPr>
        <p:blipFill rotWithShape="1">
          <a:blip r:embed="rId3">
            <a:alphaModFix/>
          </a:blip>
          <a:srcRect/>
          <a:stretch/>
        </p:blipFill>
        <p:spPr>
          <a:xfrm>
            <a:off x="2542147" y="2710900"/>
            <a:ext cx="2114845" cy="2476846"/>
          </a:xfrm>
          <a:prstGeom prst="rect">
            <a:avLst/>
          </a:prstGeom>
          <a:noFill/>
          <a:ln>
            <a:noFill/>
          </a:ln>
        </p:spPr>
      </p:pic>
      <p:pic>
        <p:nvPicPr>
          <p:cNvPr id="309" name="Google Shape;309;p25"/>
          <p:cNvPicPr preferRelativeResize="0"/>
          <p:nvPr/>
        </p:nvPicPr>
        <p:blipFill rotWithShape="1">
          <a:blip r:embed="rId4">
            <a:alphaModFix/>
          </a:blip>
          <a:srcRect/>
          <a:stretch/>
        </p:blipFill>
        <p:spPr>
          <a:xfrm>
            <a:off x="6948371" y="2698833"/>
            <a:ext cx="2200582" cy="2419688"/>
          </a:xfrm>
          <a:prstGeom prst="rect">
            <a:avLst/>
          </a:prstGeom>
          <a:noFill/>
          <a:ln>
            <a:noFill/>
          </a:ln>
        </p:spPr>
      </p:pic>
      <p:sp>
        <p:nvSpPr>
          <p:cNvPr id="310" name="Google Shape;310;p25"/>
          <p:cNvSpPr txBox="1"/>
          <p:nvPr/>
        </p:nvSpPr>
        <p:spPr>
          <a:xfrm>
            <a:off x="6554548" y="1947303"/>
            <a:ext cx="3113418" cy="27695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El método </a:t>
            </a:r>
            <a:r>
              <a:rPr lang="es-ES" sz="1200" b="1">
                <a:solidFill>
                  <a:schemeClr val="dk1"/>
                </a:solidFill>
                <a:latin typeface="Calibri"/>
                <a:ea typeface="Calibri"/>
                <a:cs typeface="Calibri"/>
                <a:sym typeface="Calibri"/>
              </a:rPr>
              <a:t>mean()</a:t>
            </a:r>
            <a:r>
              <a:rPr lang="es-ES" sz="1200">
                <a:solidFill>
                  <a:schemeClr val="dk1"/>
                </a:solidFill>
                <a:latin typeface="Calibri"/>
                <a:ea typeface="Calibri"/>
                <a:cs typeface="Calibri"/>
                <a:sym typeface="Calibri"/>
              </a:rPr>
              <a:t> corresponde al promedio.</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6"/>
          <p:cNvSpPr txBox="1"/>
          <p:nvPr/>
        </p:nvSpPr>
        <p:spPr>
          <a:xfrm>
            <a:off x="1340576" y="400349"/>
            <a:ext cx="2856956"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Cuantil</a:t>
            </a:r>
            <a:endParaRPr/>
          </a:p>
        </p:txBody>
      </p:sp>
      <p:sp>
        <p:nvSpPr>
          <p:cNvPr id="316" name="Google Shape;316;p26"/>
          <p:cNvSpPr/>
          <p:nvPr/>
        </p:nvSpPr>
        <p:spPr>
          <a:xfrm>
            <a:off x="1434193" y="1469572"/>
            <a:ext cx="9323613" cy="404948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26"/>
          <p:cNvSpPr txBox="1"/>
          <p:nvPr/>
        </p:nvSpPr>
        <p:spPr>
          <a:xfrm>
            <a:off x="2693442" y="2292528"/>
            <a:ext cx="1314633" cy="2769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b="1">
                <a:solidFill>
                  <a:srgbClr val="3A3838"/>
                </a:solidFill>
                <a:latin typeface="Calibri"/>
                <a:ea typeface="Calibri"/>
                <a:cs typeface="Calibri"/>
                <a:sym typeface="Calibri"/>
              </a:rPr>
              <a:t>Cuantil (10%)</a:t>
            </a:r>
            <a:endParaRPr sz="1200">
              <a:solidFill>
                <a:srgbClr val="3A3838"/>
              </a:solidFill>
              <a:latin typeface="Calibri"/>
              <a:ea typeface="Calibri"/>
              <a:cs typeface="Calibri"/>
              <a:sym typeface="Calibri"/>
            </a:endParaRPr>
          </a:p>
        </p:txBody>
      </p:sp>
      <p:pic>
        <p:nvPicPr>
          <p:cNvPr id="318" name="Google Shape;318;p26"/>
          <p:cNvPicPr preferRelativeResize="0"/>
          <p:nvPr/>
        </p:nvPicPr>
        <p:blipFill rotWithShape="1">
          <a:blip r:embed="rId3">
            <a:alphaModFix/>
          </a:blip>
          <a:srcRect/>
          <a:stretch/>
        </p:blipFill>
        <p:spPr>
          <a:xfrm>
            <a:off x="2028845" y="2691850"/>
            <a:ext cx="2362530" cy="2448267"/>
          </a:xfrm>
          <a:prstGeom prst="rect">
            <a:avLst/>
          </a:prstGeom>
          <a:noFill/>
          <a:ln>
            <a:noFill/>
          </a:ln>
        </p:spPr>
      </p:pic>
      <p:pic>
        <p:nvPicPr>
          <p:cNvPr id="319" name="Google Shape;319;p26"/>
          <p:cNvPicPr preferRelativeResize="0"/>
          <p:nvPr/>
        </p:nvPicPr>
        <p:blipFill rotWithShape="1">
          <a:blip r:embed="rId4">
            <a:alphaModFix/>
          </a:blip>
          <a:srcRect/>
          <a:stretch/>
        </p:blipFill>
        <p:spPr>
          <a:xfrm>
            <a:off x="5014775" y="2691849"/>
            <a:ext cx="2257740" cy="2419688"/>
          </a:xfrm>
          <a:prstGeom prst="rect">
            <a:avLst/>
          </a:prstGeom>
          <a:noFill/>
          <a:ln>
            <a:noFill/>
          </a:ln>
        </p:spPr>
      </p:pic>
      <p:sp>
        <p:nvSpPr>
          <p:cNvPr id="320" name="Google Shape;320;p26"/>
          <p:cNvSpPr txBox="1"/>
          <p:nvPr/>
        </p:nvSpPr>
        <p:spPr>
          <a:xfrm>
            <a:off x="5537265" y="2292527"/>
            <a:ext cx="1314633" cy="2769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b="1">
                <a:solidFill>
                  <a:srgbClr val="3A3838"/>
                </a:solidFill>
                <a:latin typeface="Calibri"/>
                <a:ea typeface="Calibri"/>
                <a:cs typeface="Calibri"/>
                <a:sym typeface="Calibri"/>
              </a:rPr>
              <a:t>Cuantil (50%)</a:t>
            </a:r>
            <a:endParaRPr sz="1200">
              <a:solidFill>
                <a:srgbClr val="3A3838"/>
              </a:solidFill>
              <a:latin typeface="Calibri"/>
              <a:ea typeface="Calibri"/>
              <a:cs typeface="Calibri"/>
              <a:sym typeface="Calibri"/>
            </a:endParaRPr>
          </a:p>
        </p:txBody>
      </p:sp>
      <p:pic>
        <p:nvPicPr>
          <p:cNvPr id="321" name="Google Shape;321;p26"/>
          <p:cNvPicPr preferRelativeResize="0"/>
          <p:nvPr/>
        </p:nvPicPr>
        <p:blipFill rotWithShape="1">
          <a:blip r:embed="rId5">
            <a:alphaModFix/>
          </a:blip>
          <a:srcRect/>
          <a:stretch/>
        </p:blipFill>
        <p:spPr>
          <a:xfrm>
            <a:off x="7895915" y="2686004"/>
            <a:ext cx="2172003" cy="2419688"/>
          </a:xfrm>
          <a:prstGeom prst="rect">
            <a:avLst/>
          </a:prstGeom>
          <a:noFill/>
          <a:ln>
            <a:noFill/>
          </a:ln>
        </p:spPr>
      </p:pic>
      <p:sp>
        <p:nvSpPr>
          <p:cNvPr id="322" name="Google Shape;322;p26"/>
          <p:cNvSpPr txBox="1"/>
          <p:nvPr/>
        </p:nvSpPr>
        <p:spPr>
          <a:xfrm>
            <a:off x="8324600" y="2292527"/>
            <a:ext cx="1314633" cy="2769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b="1">
                <a:solidFill>
                  <a:srgbClr val="3A3838"/>
                </a:solidFill>
                <a:latin typeface="Calibri"/>
                <a:ea typeface="Calibri"/>
                <a:cs typeface="Calibri"/>
                <a:sym typeface="Calibri"/>
              </a:rPr>
              <a:t>Cuantil (90%)</a:t>
            </a:r>
            <a:endParaRPr sz="1200">
              <a:solidFill>
                <a:srgbClr val="3A3838"/>
              </a:solidFill>
              <a:latin typeface="Calibri"/>
              <a:ea typeface="Calibri"/>
              <a:cs typeface="Calibri"/>
              <a:sym typeface="Calibri"/>
            </a:endParaRPr>
          </a:p>
        </p:txBody>
      </p:sp>
      <p:sp>
        <p:nvSpPr>
          <p:cNvPr id="323" name="Google Shape;323;p26"/>
          <p:cNvSpPr txBox="1"/>
          <p:nvPr/>
        </p:nvSpPr>
        <p:spPr>
          <a:xfrm>
            <a:off x="2028845" y="1636587"/>
            <a:ext cx="8039072" cy="2769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El método </a:t>
            </a:r>
            <a:r>
              <a:rPr lang="es-ES" sz="1200" b="1">
                <a:solidFill>
                  <a:srgbClr val="3A3838"/>
                </a:solidFill>
                <a:latin typeface="Calibri"/>
                <a:ea typeface="Calibri"/>
                <a:cs typeface="Calibri"/>
                <a:sym typeface="Calibri"/>
              </a:rPr>
              <a:t>quantile()</a:t>
            </a:r>
            <a:r>
              <a:rPr lang="es-ES" sz="1200">
                <a:solidFill>
                  <a:srgbClr val="3A3838"/>
                </a:solidFill>
                <a:latin typeface="Calibri"/>
                <a:ea typeface="Calibri"/>
                <a:cs typeface="Calibri"/>
                <a:sym typeface="Calibri"/>
              </a:rPr>
              <a:t> retorna el valor que corresponde al </a:t>
            </a:r>
            <a:r>
              <a:rPr lang="es-ES" sz="1200" b="1">
                <a:solidFill>
                  <a:srgbClr val="3A3838"/>
                </a:solidFill>
                <a:latin typeface="Calibri"/>
                <a:ea typeface="Calibri"/>
                <a:cs typeface="Calibri"/>
                <a:sym typeface="Calibri"/>
              </a:rPr>
              <a:t>q%</a:t>
            </a:r>
            <a:r>
              <a:rPr lang="es-ES" sz="1200">
                <a:solidFill>
                  <a:srgbClr val="3A3838"/>
                </a:solidFill>
                <a:latin typeface="Calibri"/>
                <a:ea typeface="Calibri"/>
                <a:cs typeface="Calibri"/>
                <a:sym typeface="Calibri"/>
              </a:rPr>
              <a:t> de la muestra.</a:t>
            </a:r>
            <a:endParaRPr sz="18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5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7"/>
          <p:cNvSpPr txBox="1"/>
          <p:nvPr/>
        </p:nvSpPr>
        <p:spPr>
          <a:xfrm>
            <a:off x="548096" y="3464900"/>
            <a:ext cx="819531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dirty="0">
                <a:solidFill>
                  <a:srgbClr val="7F7F7F"/>
                </a:solidFill>
                <a:latin typeface="Arial"/>
                <a:ea typeface="Arial"/>
                <a:cs typeface="Arial"/>
                <a:sym typeface="Arial"/>
              </a:rPr>
              <a:t>Creación de Columnas en un DataFrame</a:t>
            </a:r>
            <a:endParaRPr sz="3200" dirty="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8"/>
          <p:cNvSpPr/>
          <p:nvPr/>
        </p:nvSpPr>
        <p:spPr>
          <a:xfrm>
            <a:off x="7353461" y="3702330"/>
            <a:ext cx="5204299" cy="140307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28"/>
          <p:cNvSpPr txBox="1"/>
          <p:nvPr/>
        </p:nvSpPr>
        <p:spPr>
          <a:xfrm>
            <a:off x="706995" y="714158"/>
            <a:ext cx="675730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Agregando Nuevas Columnas</a:t>
            </a:r>
            <a:endParaRPr sz="3200">
              <a:solidFill>
                <a:srgbClr val="7F7F7F"/>
              </a:solidFill>
              <a:latin typeface="Arial"/>
              <a:ea typeface="Arial"/>
              <a:cs typeface="Arial"/>
              <a:sym typeface="Arial"/>
            </a:endParaRPr>
          </a:p>
        </p:txBody>
      </p:sp>
      <p:sp>
        <p:nvSpPr>
          <p:cNvPr id="335" name="Google Shape;335;p28"/>
          <p:cNvSpPr txBox="1"/>
          <p:nvPr/>
        </p:nvSpPr>
        <p:spPr>
          <a:xfrm>
            <a:off x="7751067" y="3967983"/>
            <a:ext cx="4101298" cy="7078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A un dataframe podemos agregarle columnas a conveniencia.</a:t>
            </a:r>
            <a:endParaRPr/>
          </a:p>
        </p:txBody>
      </p:sp>
      <p:sp>
        <p:nvSpPr>
          <p:cNvPr id="336" name="Google Shape;336;p28"/>
          <p:cNvSpPr/>
          <p:nvPr/>
        </p:nvSpPr>
        <p:spPr>
          <a:xfrm>
            <a:off x="500127" y="1962150"/>
            <a:ext cx="6962029" cy="314325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37" name="Google Shape;337;p28"/>
          <p:cNvPicPr preferRelativeResize="0"/>
          <p:nvPr/>
        </p:nvPicPr>
        <p:blipFill rotWithShape="1">
          <a:blip r:embed="rId3">
            <a:alphaModFix/>
          </a:blip>
          <a:srcRect/>
          <a:stretch/>
        </p:blipFill>
        <p:spPr>
          <a:xfrm>
            <a:off x="608820" y="2670295"/>
            <a:ext cx="6744641" cy="181000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9"/>
          <p:cNvSpPr txBox="1"/>
          <p:nvPr/>
        </p:nvSpPr>
        <p:spPr>
          <a:xfrm>
            <a:off x="376420" y="226499"/>
            <a:ext cx="5850586"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Columna con Valor Calculado</a:t>
            </a:r>
            <a:endParaRPr sz="3200">
              <a:solidFill>
                <a:srgbClr val="7F7F7F"/>
              </a:solidFill>
              <a:latin typeface="Arial"/>
              <a:ea typeface="Arial"/>
              <a:cs typeface="Arial"/>
              <a:sym typeface="Arial"/>
            </a:endParaRPr>
          </a:p>
        </p:txBody>
      </p:sp>
      <p:sp>
        <p:nvSpPr>
          <p:cNvPr id="343" name="Google Shape;343;p29"/>
          <p:cNvSpPr/>
          <p:nvPr/>
        </p:nvSpPr>
        <p:spPr>
          <a:xfrm>
            <a:off x="630156" y="1314711"/>
            <a:ext cx="10734322" cy="472875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29"/>
          <p:cNvSpPr txBox="1"/>
          <p:nvPr/>
        </p:nvSpPr>
        <p:spPr>
          <a:xfrm>
            <a:off x="1745460" y="1482453"/>
            <a:ext cx="5999786" cy="3077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También, se puede definir una columna calculada en función de otras columnas</a:t>
            </a:r>
            <a:r>
              <a:rPr lang="es-ES" sz="1400">
                <a:solidFill>
                  <a:srgbClr val="3A3838"/>
                </a:solidFill>
                <a:latin typeface="Calibri"/>
                <a:ea typeface="Calibri"/>
                <a:cs typeface="Calibri"/>
                <a:sym typeface="Calibri"/>
              </a:rPr>
              <a:t>.</a:t>
            </a:r>
            <a:endParaRPr sz="1800">
              <a:solidFill>
                <a:srgbClr val="3A3838"/>
              </a:solidFill>
              <a:latin typeface="Calibri"/>
              <a:ea typeface="Calibri"/>
              <a:cs typeface="Calibri"/>
              <a:sym typeface="Calibri"/>
            </a:endParaRPr>
          </a:p>
        </p:txBody>
      </p:sp>
      <p:pic>
        <p:nvPicPr>
          <p:cNvPr id="345" name="Google Shape;345;p29"/>
          <p:cNvPicPr preferRelativeResize="0"/>
          <p:nvPr/>
        </p:nvPicPr>
        <p:blipFill rotWithShape="1">
          <a:blip r:embed="rId3">
            <a:alphaModFix/>
          </a:blip>
          <a:srcRect/>
          <a:stretch/>
        </p:blipFill>
        <p:spPr>
          <a:xfrm>
            <a:off x="1745460" y="1922639"/>
            <a:ext cx="8354291" cy="1507604"/>
          </a:xfrm>
          <a:prstGeom prst="rect">
            <a:avLst/>
          </a:prstGeom>
          <a:noFill/>
          <a:ln>
            <a:noFill/>
          </a:ln>
        </p:spPr>
      </p:pic>
      <p:pic>
        <p:nvPicPr>
          <p:cNvPr id="346" name="Google Shape;346;p29"/>
          <p:cNvPicPr preferRelativeResize="0"/>
          <p:nvPr/>
        </p:nvPicPr>
        <p:blipFill rotWithShape="1">
          <a:blip r:embed="rId4">
            <a:alphaModFix/>
          </a:blip>
          <a:srcRect/>
          <a:stretch/>
        </p:blipFill>
        <p:spPr>
          <a:xfrm>
            <a:off x="1800876" y="4112395"/>
            <a:ext cx="8298875" cy="16680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2"/>
                                        </p:tgtEl>
                                        <p:attrNameLst>
                                          <p:attrName>style.visibility</p:attrName>
                                        </p:attrNameLst>
                                      </p:cBhvr>
                                      <p:to>
                                        <p:strVal val="visible"/>
                                      </p:to>
                                    </p:set>
                                    <p:animEffect transition="in" filter="fade">
                                      <p:cBhvr>
                                        <p:cTn id="7"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0"/>
          <p:cNvSpPr txBox="1"/>
          <p:nvPr/>
        </p:nvSpPr>
        <p:spPr>
          <a:xfrm>
            <a:off x="391341" y="3700032"/>
            <a:ext cx="7759881"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Creación de Estructuras desde Cero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1"/>
                                        </p:tgtEl>
                                        <p:attrNameLst>
                                          <p:attrName>style.visibility</p:attrName>
                                        </p:attrNameLst>
                                      </p:cBhvr>
                                      <p:to>
                                        <p:strVal val="visible"/>
                                      </p:to>
                                    </p:set>
                                    <p:animEffect transition="in" filter="fade">
                                      <p:cBhvr>
                                        <p:cTn id="7"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1"/>
          <p:cNvSpPr txBox="1"/>
          <p:nvPr/>
        </p:nvSpPr>
        <p:spPr>
          <a:xfrm>
            <a:off x="985642" y="454601"/>
            <a:ext cx="6582106" cy="1008062"/>
          </a:xfrm>
          <a:prstGeom prst="rect">
            <a:avLst/>
          </a:prstGeom>
          <a:noFill/>
          <a:ln>
            <a:noFill/>
          </a:ln>
        </p:spPr>
        <p:txBody>
          <a:bodyPr spcFirstLastPara="1" wrap="square" lIns="91425" tIns="45700" rIns="91425" bIns="45700" anchor="ctr" anchorCtr="0">
            <a:noAutofit/>
          </a:bodyPr>
          <a:lstStyle/>
          <a:p>
            <a:pPr marL="0" marR="0" lvl="0" indent="0" rtl="0">
              <a:lnSpc>
                <a:spcPct val="150000"/>
              </a:lnSpc>
              <a:spcBef>
                <a:spcPts val="0"/>
              </a:spcBef>
              <a:spcAft>
                <a:spcPts val="0"/>
              </a:spcAft>
              <a:buNone/>
            </a:pPr>
            <a:r>
              <a:rPr lang="es-ES" sz="3200">
                <a:solidFill>
                  <a:srgbClr val="7F7F7F"/>
                </a:solidFill>
                <a:latin typeface="Arial"/>
                <a:ea typeface="Arial"/>
                <a:cs typeface="Arial"/>
                <a:sym typeface="Arial"/>
              </a:rPr>
              <a:t>Creando una Serie</a:t>
            </a:r>
            <a:endParaRPr lang="es-ES"/>
          </a:p>
        </p:txBody>
      </p:sp>
      <p:sp>
        <p:nvSpPr>
          <p:cNvPr id="357" name="Google Shape;357;p31"/>
          <p:cNvSpPr/>
          <p:nvPr/>
        </p:nvSpPr>
        <p:spPr>
          <a:xfrm>
            <a:off x="988423" y="1459526"/>
            <a:ext cx="10243456" cy="417491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58" name="Google Shape;358;p31"/>
          <p:cNvPicPr preferRelativeResize="0"/>
          <p:nvPr/>
        </p:nvPicPr>
        <p:blipFill rotWithShape="1">
          <a:blip r:embed="rId3">
            <a:alphaModFix/>
          </a:blip>
          <a:srcRect/>
          <a:stretch/>
        </p:blipFill>
        <p:spPr>
          <a:xfrm>
            <a:off x="3024289" y="2908420"/>
            <a:ext cx="6335009" cy="2372056"/>
          </a:xfrm>
          <a:prstGeom prst="rect">
            <a:avLst/>
          </a:prstGeom>
          <a:noFill/>
          <a:ln>
            <a:noFill/>
          </a:ln>
        </p:spPr>
      </p:pic>
      <p:sp>
        <p:nvSpPr>
          <p:cNvPr id="359" name="Google Shape;359;p31"/>
          <p:cNvSpPr txBox="1"/>
          <p:nvPr/>
        </p:nvSpPr>
        <p:spPr>
          <a:xfrm>
            <a:off x="5427223" y="2264835"/>
            <a:ext cx="91901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Arreglo de datos</a:t>
            </a:r>
            <a:endParaRPr sz="1800">
              <a:solidFill>
                <a:srgbClr val="3A3838"/>
              </a:solidFill>
              <a:latin typeface="Calibri"/>
              <a:ea typeface="Calibri"/>
              <a:cs typeface="Calibri"/>
              <a:sym typeface="Calibri"/>
            </a:endParaRPr>
          </a:p>
        </p:txBody>
      </p:sp>
      <p:cxnSp>
        <p:nvCxnSpPr>
          <p:cNvPr id="360" name="Google Shape;360;p31"/>
          <p:cNvCxnSpPr/>
          <p:nvPr/>
        </p:nvCxnSpPr>
        <p:spPr>
          <a:xfrm>
            <a:off x="5886730" y="2701633"/>
            <a:ext cx="0" cy="224712"/>
          </a:xfrm>
          <a:prstGeom prst="straightConnector1">
            <a:avLst/>
          </a:prstGeom>
          <a:noFill/>
          <a:ln w="9525" cap="flat" cmpd="sng">
            <a:solidFill>
              <a:schemeClr val="accent1"/>
            </a:solidFill>
            <a:prstDash val="solid"/>
            <a:miter lim="800000"/>
            <a:headEnd type="none" w="sm" len="sm"/>
            <a:tailEnd type="triangle" w="med" len="med"/>
          </a:ln>
        </p:spPr>
      </p:cxnSp>
      <p:sp>
        <p:nvSpPr>
          <p:cNvPr id="361" name="Google Shape;361;p31"/>
          <p:cNvSpPr txBox="1"/>
          <p:nvPr/>
        </p:nvSpPr>
        <p:spPr>
          <a:xfrm>
            <a:off x="7252090" y="2239968"/>
            <a:ext cx="91901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Arreglo de etiquetas</a:t>
            </a:r>
            <a:endParaRPr sz="1800">
              <a:solidFill>
                <a:srgbClr val="3A3838"/>
              </a:solidFill>
              <a:latin typeface="Calibri"/>
              <a:ea typeface="Calibri"/>
              <a:cs typeface="Calibri"/>
              <a:sym typeface="Calibri"/>
            </a:endParaRPr>
          </a:p>
        </p:txBody>
      </p:sp>
      <p:cxnSp>
        <p:nvCxnSpPr>
          <p:cNvPr id="362" name="Google Shape;362;p31"/>
          <p:cNvCxnSpPr/>
          <p:nvPr/>
        </p:nvCxnSpPr>
        <p:spPr>
          <a:xfrm>
            <a:off x="7711597" y="2686400"/>
            <a:ext cx="0" cy="222020"/>
          </a:xfrm>
          <a:prstGeom prst="straightConnector1">
            <a:avLst/>
          </a:prstGeom>
          <a:noFill/>
          <a:ln w="9525" cap="flat" cmpd="sng">
            <a:solidFill>
              <a:schemeClr val="accent1"/>
            </a:solidFill>
            <a:prstDash val="solid"/>
            <a:miter lim="800000"/>
            <a:headEnd type="none" w="sm" len="sm"/>
            <a:tailEnd type="triangle" w="med" len="med"/>
          </a:ln>
        </p:spPr>
      </p:cxnSp>
      <p:sp>
        <p:nvSpPr>
          <p:cNvPr id="363" name="Google Shape;363;p31"/>
          <p:cNvSpPr txBox="1"/>
          <p:nvPr/>
        </p:nvSpPr>
        <p:spPr>
          <a:xfrm>
            <a:off x="2274694" y="1788387"/>
            <a:ext cx="7990329" cy="3077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Para crear una serie desde cero, debemos proporcionar un listado con los datos y un listado con los índices.</a:t>
            </a:r>
            <a:endParaRPr sz="18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2"/>
          <p:cNvSpPr txBox="1"/>
          <p:nvPr/>
        </p:nvSpPr>
        <p:spPr>
          <a:xfrm>
            <a:off x="1095433" y="445546"/>
            <a:ext cx="5084232" cy="877434"/>
          </a:xfrm>
          <a:prstGeom prst="rect">
            <a:avLst/>
          </a:prstGeom>
          <a:noFill/>
          <a:ln>
            <a:noFill/>
          </a:ln>
        </p:spPr>
        <p:txBody>
          <a:bodyPr spcFirstLastPara="1" wrap="square" lIns="91425" tIns="45700" rIns="91425" bIns="45700" anchor="ctr" anchorCtr="0">
            <a:noAutofit/>
          </a:bodyPr>
          <a:lstStyle/>
          <a:p>
            <a:pPr marL="0" marR="0" lvl="0" indent="0" rtl="0">
              <a:lnSpc>
                <a:spcPct val="150000"/>
              </a:lnSpc>
              <a:spcBef>
                <a:spcPts val="0"/>
              </a:spcBef>
              <a:spcAft>
                <a:spcPts val="0"/>
              </a:spcAft>
              <a:buNone/>
            </a:pPr>
            <a:r>
              <a:rPr lang="es-ES" sz="3200">
                <a:solidFill>
                  <a:srgbClr val="7F7F7F"/>
                </a:solidFill>
                <a:latin typeface="Arial"/>
                <a:ea typeface="Arial"/>
                <a:cs typeface="Arial"/>
                <a:sym typeface="Arial"/>
              </a:rPr>
              <a:t>Creación de Series</a:t>
            </a:r>
            <a:endParaRPr lang="es-ES"/>
          </a:p>
        </p:txBody>
      </p:sp>
      <p:sp>
        <p:nvSpPr>
          <p:cNvPr id="369" name="Google Shape;369;p32"/>
          <p:cNvSpPr/>
          <p:nvPr/>
        </p:nvSpPr>
        <p:spPr>
          <a:xfrm>
            <a:off x="1095433" y="1628029"/>
            <a:ext cx="9710056" cy="408105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32"/>
          <p:cNvSpPr txBox="1"/>
          <p:nvPr/>
        </p:nvSpPr>
        <p:spPr>
          <a:xfrm>
            <a:off x="1942503" y="1850667"/>
            <a:ext cx="8026801" cy="10156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 partir de una lista:</a:t>
            </a:r>
            <a:endParaRPr sz="1200">
              <a:solidFill>
                <a:srgbClr val="3A3838"/>
              </a:solidFill>
              <a:latin typeface="Calibri"/>
              <a:ea typeface="Calibri"/>
              <a:cs typeface="Calibri"/>
              <a:sym typeface="Calibri"/>
            </a:endParaRPr>
          </a:p>
          <a:p>
            <a:pPr marL="171450" marR="0" lvl="0" indent="-171450" algn="just" rtl="0">
              <a:spcBef>
                <a:spcPts val="0"/>
              </a:spcBef>
              <a:spcAft>
                <a:spcPts val="0"/>
              </a:spcAft>
              <a:buClr>
                <a:srgbClr val="3A3838"/>
              </a:buClr>
              <a:buSzPts val="1200"/>
              <a:buFont typeface="Arial"/>
              <a:buChar char="•"/>
            </a:pPr>
            <a:r>
              <a:rPr lang="es-ES" sz="1200">
                <a:solidFill>
                  <a:srgbClr val="3A3838"/>
                </a:solidFill>
                <a:latin typeface="Calibri"/>
                <a:ea typeface="Calibri"/>
                <a:cs typeface="Calibri"/>
                <a:sym typeface="Calibri"/>
              </a:rPr>
              <a:t>Sintaxis: Series(data=lista, index=índices, dtype=tipo) </a:t>
            </a:r>
            <a:endParaRPr/>
          </a:p>
          <a:p>
            <a:pPr marL="0" marR="0" lvl="0" indent="0" algn="just" rtl="0">
              <a:spcBef>
                <a:spcPts val="0"/>
              </a:spcBef>
              <a:spcAft>
                <a:spcPts val="0"/>
              </a:spcAft>
              <a:buClr>
                <a:schemeClr val="dk1"/>
              </a:buClr>
              <a:buSzPts val="1200"/>
              <a:buFont typeface="Calibri"/>
              <a:buNone/>
            </a:pPr>
            <a:endParaRPr sz="1200">
              <a:solidFill>
                <a:srgbClr val="3A3838"/>
              </a:solidFill>
              <a:latin typeface="Calibri"/>
              <a:ea typeface="Calibri"/>
              <a:cs typeface="Calibri"/>
              <a:sym typeface="Calibri"/>
            </a:endParaRPr>
          </a:p>
          <a:p>
            <a:pPr marL="0" marR="0" lvl="0" indent="0" algn="just"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Devuelve un objeto de tipo Series. Si no se pasa la lista de índices se utilizan como índices los enteros del 0 al n−1, donde n es el tamaño de la serie. Si no se pasa el tipo de dato, éste se infiere.</a:t>
            </a:r>
            <a:endParaRPr/>
          </a:p>
        </p:txBody>
      </p:sp>
      <p:pic>
        <p:nvPicPr>
          <p:cNvPr id="371" name="Google Shape;371;p32"/>
          <p:cNvPicPr preferRelativeResize="0"/>
          <p:nvPr/>
        </p:nvPicPr>
        <p:blipFill rotWithShape="1">
          <a:blip r:embed="rId3">
            <a:alphaModFix/>
          </a:blip>
          <a:srcRect/>
          <a:stretch/>
        </p:blipFill>
        <p:spPr>
          <a:xfrm>
            <a:off x="3052847" y="3247148"/>
            <a:ext cx="5457773" cy="19883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5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3"/>
          <p:cNvSpPr txBox="1"/>
          <p:nvPr/>
        </p:nvSpPr>
        <p:spPr>
          <a:xfrm>
            <a:off x="699335" y="458282"/>
            <a:ext cx="4328100" cy="1008000"/>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Creación de Series</a:t>
            </a:r>
            <a:endParaRPr sz="3200">
              <a:solidFill>
                <a:srgbClr val="7F7F7F"/>
              </a:solidFill>
              <a:latin typeface="Arial"/>
              <a:ea typeface="Arial"/>
              <a:cs typeface="Arial"/>
              <a:sym typeface="Arial"/>
            </a:endParaRPr>
          </a:p>
        </p:txBody>
      </p:sp>
      <p:sp>
        <p:nvSpPr>
          <p:cNvPr id="377" name="Google Shape;377;p33"/>
          <p:cNvSpPr/>
          <p:nvPr/>
        </p:nvSpPr>
        <p:spPr>
          <a:xfrm>
            <a:off x="867354" y="1873444"/>
            <a:ext cx="10315775" cy="321850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78" name="Google Shape;378;p33"/>
          <p:cNvPicPr preferRelativeResize="0"/>
          <p:nvPr/>
        </p:nvPicPr>
        <p:blipFill rotWithShape="1">
          <a:blip r:embed="rId3">
            <a:alphaModFix/>
          </a:blip>
          <a:srcRect/>
          <a:stretch/>
        </p:blipFill>
        <p:spPr>
          <a:xfrm>
            <a:off x="1650200" y="2610545"/>
            <a:ext cx="4977949" cy="1840900"/>
          </a:xfrm>
          <a:prstGeom prst="rect">
            <a:avLst/>
          </a:prstGeom>
          <a:noFill/>
          <a:ln>
            <a:noFill/>
          </a:ln>
        </p:spPr>
      </p:pic>
      <p:sp>
        <p:nvSpPr>
          <p:cNvPr id="379" name="Google Shape;379;p33"/>
          <p:cNvSpPr txBox="1"/>
          <p:nvPr/>
        </p:nvSpPr>
        <p:spPr>
          <a:xfrm>
            <a:off x="1650189" y="2091158"/>
            <a:ext cx="5305500" cy="399643"/>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rgbClr val="000000"/>
              </a:buClr>
              <a:buSzPts val="1600"/>
              <a:buFont typeface="Calibri"/>
              <a:buNone/>
            </a:pPr>
            <a:r>
              <a:rPr lang="es-ES" dirty="0">
                <a:solidFill>
                  <a:srgbClr val="3A3838"/>
                </a:solidFill>
                <a:latin typeface="Calibri"/>
                <a:ea typeface="Calibri"/>
                <a:cs typeface="Calibri"/>
                <a:sym typeface="Calibri"/>
              </a:rPr>
              <a:t>Creación de una serie y asignación de índices:</a:t>
            </a:r>
            <a:endParaRPr b="0" i="0" u="none" strike="noStrike" cap="none" dirty="0">
              <a:solidFill>
                <a:srgbClr val="3A3838"/>
              </a:solidFill>
              <a:latin typeface="Calibri"/>
              <a:ea typeface="Calibri"/>
              <a:cs typeface="Calibri"/>
              <a:sym typeface="Calibri"/>
            </a:endParaRPr>
          </a:p>
          <a:p>
            <a:pPr marL="0" marR="0" lvl="0" indent="0" algn="l" rtl="0">
              <a:lnSpc>
                <a:spcPct val="150000"/>
              </a:lnSpc>
              <a:spcBef>
                <a:spcPts val="1000"/>
              </a:spcBef>
              <a:spcAft>
                <a:spcPts val="0"/>
              </a:spcAft>
              <a:buClr>
                <a:srgbClr val="000000"/>
              </a:buClr>
              <a:buSzPts val="1600"/>
              <a:buFont typeface="Calibri"/>
              <a:buNone/>
            </a:pPr>
            <a:endParaRPr sz="1800" b="0" i="0" u="none" strike="noStrike" cap="none">
              <a:solidFill>
                <a:srgbClr val="3A3838"/>
              </a:solidFill>
              <a:latin typeface="Calibri"/>
              <a:ea typeface="Calibri"/>
              <a:cs typeface="Calibri"/>
              <a:sym typeface="Calibri"/>
            </a:endParaRPr>
          </a:p>
          <a:p>
            <a:pPr marL="0" marR="0" lvl="0" indent="0" algn="ctr" rtl="0">
              <a:lnSpc>
                <a:spcPct val="150000"/>
              </a:lnSpc>
              <a:spcBef>
                <a:spcPts val="1000"/>
              </a:spcBef>
              <a:spcAft>
                <a:spcPts val="0"/>
              </a:spcAft>
              <a:buClr>
                <a:srgbClr val="000000"/>
              </a:buClr>
              <a:buSzPts val="1600"/>
              <a:buFont typeface="Calibri"/>
              <a:buNone/>
            </a:pPr>
            <a:endParaRPr sz="1800" b="0" i="0" u="none" strike="noStrike" cap="none">
              <a:solidFill>
                <a:srgbClr val="000000"/>
              </a:solidFill>
              <a:latin typeface="Calibri"/>
              <a:ea typeface="Calibri"/>
              <a:cs typeface="Calibri"/>
              <a:sym typeface="Calibri"/>
            </a:endParaRPr>
          </a:p>
          <a:p>
            <a:pPr algn="ctr">
              <a:lnSpc>
                <a:spcPct val="150000"/>
              </a:lnSpc>
              <a:spcBef>
                <a:spcPts val="1000"/>
              </a:spcBef>
              <a:buSzPts val="1600"/>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50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4"/>
          <p:cNvSpPr txBox="1"/>
          <p:nvPr/>
        </p:nvSpPr>
        <p:spPr>
          <a:xfrm>
            <a:off x="910611" y="732060"/>
            <a:ext cx="4452258" cy="975405"/>
          </a:xfrm>
          <a:prstGeom prst="rect">
            <a:avLst/>
          </a:prstGeom>
          <a:noFill/>
          <a:ln>
            <a:noFill/>
          </a:ln>
        </p:spPr>
        <p:txBody>
          <a:bodyPr spcFirstLastPara="1" wrap="square" lIns="91425" tIns="45700" rIns="91425" bIns="45700" anchor="ctr" anchorCtr="0">
            <a:noAutofit/>
          </a:bodyPr>
          <a:lstStyle/>
          <a:p>
            <a:pPr marL="0" marR="0" lvl="0" indent="0" rtl="0">
              <a:lnSpc>
                <a:spcPct val="150000"/>
              </a:lnSpc>
              <a:spcBef>
                <a:spcPts val="0"/>
              </a:spcBef>
              <a:spcAft>
                <a:spcPts val="0"/>
              </a:spcAft>
              <a:buNone/>
            </a:pPr>
            <a:r>
              <a:rPr lang="es-ES" sz="3200">
                <a:solidFill>
                  <a:srgbClr val="7F7F7F"/>
                </a:solidFill>
                <a:latin typeface="Arial"/>
                <a:ea typeface="Arial"/>
                <a:cs typeface="Arial"/>
                <a:sym typeface="Arial"/>
              </a:rPr>
              <a:t>Creación de Series</a:t>
            </a:r>
            <a:endParaRPr lang="es-ES"/>
          </a:p>
        </p:txBody>
      </p:sp>
      <p:sp>
        <p:nvSpPr>
          <p:cNvPr id="385" name="Google Shape;385;p34"/>
          <p:cNvSpPr/>
          <p:nvPr/>
        </p:nvSpPr>
        <p:spPr>
          <a:xfrm>
            <a:off x="908948" y="1824493"/>
            <a:ext cx="10146642" cy="358572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34"/>
          <p:cNvSpPr txBox="1"/>
          <p:nvPr/>
        </p:nvSpPr>
        <p:spPr>
          <a:xfrm>
            <a:off x="1237186" y="2040149"/>
            <a:ext cx="7998683" cy="1384954"/>
          </a:xfrm>
          <a:prstGeom prst="rect">
            <a:avLst/>
          </a:prstGeom>
          <a:noFill/>
          <a:ln>
            <a:noFill/>
          </a:ln>
        </p:spPr>
        <p:txBody>
          <a:bodyPr spcFirstLastPara="1" wrap="square" lIns="91425" tIns="45700" rIns="91425" bIns="45700" anchor="t" anchorCtr="0">
            <a:spAutoFit/>
          </a:bodyPr>
          <a:lstStyle/>
          <a:p>
            <a:pPr algn="just">
              <a:buClr>
                <a:schemeClr val="dk1"/>
              </a:buClr>
              <a:buSzPts val="1400"/>
            </a:pPr>
            <a:r>
              <a:rPr lang="es-ES" sz="1400" dirty="0">
                <a:solidFill>
                  <a:schemeClr val="dk1"/>
                </a:solidFill>
                <a:latin typeface="Calibri"/>
                <a:ea typeface="Calibri"/>
                <a:cs typeface="Calibri"/>
                <a:sym typeface="Calibri"/>
              </a:rPr>
              <a:t>A partir de un diccionario. Sintaxis: </a:t>
            </a:r>
            <a:endParaRPr lang="es-ES" dirty="0">
              <a:solidFill>
                <a:schemeClr val="dk1"/>
              </a:solidFill>
              <a:ea typeface="Calibri"/>
              <a:sym typeface="Calibri"/>
            </a:endParaRPr>
          </a:p>
          <a:p>
            <a:pPr algn="just">
              <a:buSzPts val="1400"/>
            </a:pPr>
            <a:endParaRPr lang="es-ES" dirty="0">
              <a:solidFill>
                <a:schemeClr val="dk1"/>
              </a:solidFill>
              <a:latin typeface="Calibri"/>
              <a:ea typeface="Calibri"/>
              <a:cs typeface="Calibri"/>
              <a:sym typeface="Calibri"/>
            </a:endParaRPr>
          </a:p>
          <a:p>
            <a:pPr marL="0" marR="0" lvl="0" indent="0" algn="just">
              <a:spcBef>
                <a:spcPts val="0"/>
              </a:spcBef>
              <a:spcAft>
                <a:spcPts val="0"/>
              </a:spcAft>
              <a:buSzPts val="1400"/>
              <a:buFont typeface="Calibri"/>
              <a:buNone/>
            </a:pPr>
            <a:r>
              <a:rPr lang="es-ES" sz="1400" dirty="0">
                <a:solidFill>
                  <a:schemeClr val="dk1"/>
                </a:solidFill>
                <a:latin typeface="Calibri"/>
                <a:ea typeface="Calibri"/>
                <a:cs typeface="Calibri"/>
                <a:sym typeface="Calibri"/>
              </a:rPr>
              <a:t>Series(data=diccionario, </a:t>
            </a:r>
            <a:r>
              <a:rPr lang="es-ES" sz="1400" dirty="0" err="1">
                <a:solidFill>
                  <a:schemeClr val="dk1"/>
                </a:solidFill>
                <a:latin typeface="Calibri"/>
                <a:ea typeface="Calibri"/>
                <a:cs typeface="Calibri"/>
                <a:sym typeface="Calibri"/>
              </a:rPr>
              <a:t>index</a:t>
            </a:r>
            <a:r>
              <a:rPr lang="es-ES" sz="1400" dirty="0">
                <a:solidFill>
                  <a:schemeClr val="dk1"/>
                </a:solidFill>
                <a:latin typeface="Calibri"/>
                <a:ea typeface="Calibri"/>
                <a:cs typeface="Calibri"/>
                <a:sym typeface="Calibri"/>
              </a:rPr>
              <a:t>=</a:t>
            </a:r>
            <a:r>
              <a:rPr lang="es-ES" sz="1400" dirty="0" err="1">
                <a:solidFill>
                  <a:schemeClr val="dk1"/>
                </a:solidFill>
                <a:latin typeface="Calibri"/>
                <a:ea typeface="Calibri"/>
                <a:cs typeface="Calibri"/>
                <a:sym typeface="Calibri"/>
              </a:rPr>
              <a:t>indices</a:t>
            </a:r>
            <a:r>
              <a:rPr lang="es-ES" sz="1400" dirty="0">
                <a:solidFill>
                  <a:schemeClr val="dk1"/>
                </a:solidFill>
                <a:latin typeface="Calibri"/>
                <a:ea typeface="Calibri"/>
                <a:cs typeface="Calibri"/>
                <a:sym typeface="Calibri"/>
              </a:rPr>
              <a:t>)</a:t>
            </a:r>
            <a:endParaRPr>
              <a:solidFill>
                <a:schemeClr val="dk1"/>
              </a:solidFill>
            </a:endParaRPr>
          </a:p>
          <a:p>
            <a:pPr marL="0" marR="0" lvl="0" indent="0" algn="just" rtl="0">
              <a:spcBef>
                <a:spcPts val="0"/>
              </a:spcBef>
              <a:spcAft>
                <a:spcPts val="0"/>
              </a:spcAft>
              <a:buClr>
                <a:schemeClr val="dk1"/>
              </a:buClr>
              <a:buSzPts val="1400"/>
              <a:buFont typeface="Calibri"/>
              <a:buNone/>
            </a:pPr>
            <a:endParaRPr/>
          </a:p>
          <a:p>
            <a:pPr marL="0" marR="0" lvl="0" indent="0" algn="just" rtl="0">
              <a:spcBef>
                <a:spcPts val="0"/>
              </a:spcBef>
              <a:spcAft>
                <a:spcPts val="0"/>
              </a:spcAft>
              <a:buClr>
                <a:schemeClr val="dk1"/>
              </a:buClr>
              <a:buSzPts val="1400"/>
              <a:buFont typeface="Calibri"/>
              <a:buNone/>
            </a:pPr>
            <a:r>
              <a:rPr lang="es-ES" sz="1400" dirty="0">
                <a:solidFill>
                  <a:schemeClr val="dk1"/>
                </a:solidFill>
                <a:latin typeface="Calibri"/>
                <a:ea typeface="Calibri"/>
                <a:cs typeface="Calibri"/>
                <a:sym typeface="Calibri"/>
              </a:rPr>
              <a:t>Devuelve un objeto de tipo Series. Si no se pasa la lista de índices, se utilizan como índices las claves del diccionario.</a:t>
            </a:r>
            <a:endParaRPr dirty="0">
              <a:solidFill>
                <a:schemeClr val="dk1"/>
              </a:solidFill>
            </a:endParaRPr>
          </a:p>
        </p:txBody>
      </p:sp>
      <p:pic>
        <p:nvPicPr>
          <p:cNvPr id="387" name="Google Shape;387;p34"/>
          <p:cNvPicPr preferRelativeResize="0"/>
          <p:nvPr/>
        </p:nvPicPr>
        <p:blipFill rotWithShape="1">
          <a:blip r:embed="rId3">
            <a:alphaModFix/>
          </a:blip>
          <a:srcRect/>
          <a:stretch/>
        </p:blipFill>
        <p:spPr>
          <a:xfrm>
            <a:off x="2610428" y="3618925"/>
            <a:ext cx="6757475" cy="1388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fade">
                                      <p:cBhvr>
                                        <p:cTn id="7"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5"/>
          <p:cNvSpPr/>
          <p:nvPr/>
        </p:nvSpPr>
        <p:spPr>
          <a:xfrm>
            <a:off x="6714309" y="1772904"/>
            <a:ext cx="5117028" cy="360045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3" name="Google Shape;393;p35"/>
          <p:cNvSpPr/>
          <p:nvPr/>
        </p:nvSpPr>
        <p:spPr>
          <a:xfrm>
            <a:off x="-301620" y="1728731"/>
            <a:ext cx="6721346" cy="2849492"/>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4" name="Google Shape;394;p35"/>
          <p:cNvSpPr txBox="1"/>
          <p:nvPr/>
        </p:nvSpPr>
        <p:spPr>
          <a:xfrm>
            <a:off x="782057" y="302041"/>
            <a:ext cx="1100848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Creando un DataFrame</a:t>
            </a:r>
            <a:endParaRPr sz="3200">
              <a:solidFill>
                <a:srgbClr val="7F7F7F"/>
              </a:solidFill>
              <a:latin typeface="Arial"/>
              <a:ea typeface="Arial"/>
              <a:cs typeface="Arial"/>
              <a:sym typeface="Arial"/>
            </a:endParaRPr>
          </a:p>
        </p:txBody>
      </p:sp>
      <p:sp>
        <p:nvSpPr>
          <p:cNvPr id="395" name="Google Shape;395;p35"/>
          <p:cNvSpPr txBox="1"/>
          <p:nvPr/>
        </p:nvSpPr>
        <p:spPr>
          <a:xfrm>
            <a:off x="793110" y="2204608"/>
            <a:ext cx="5123850" cy="2123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Creación de </a:t>
            </a:r>
            <a:r>
              <a:rPr lang="es-ES" sz="1800" err="1">
                <a:solidFill>
                  <a:schemeClr val="lt1"/>
                </a:solidFill>
                <a:latin typeface="Calibri"/>
                <a:ea typeface="Calibri"/>
                <a:cs typeface="Calibri"/>
                <a:sym typeface="Calibri"/>
              </a:rPr>
              <a:t>DataFrames</a:t>
            </a:r>
            <a:r>
              <a:rPr lang="es-ES" sz="1800">
                <a:solidFill>
                  <a:schemeClr val="lt1"/>
                </a:solidFill>
                <a:latin typeface="Calibri"/>
                <a:ea typeface="Calibri"/>
                <a:cs typeface="Calibri"/>
                <a:sym typeface="Calibri"/>
              </a:rPr>
              <a:t>:</a:t>
            </a:r>
            <a:endParaRPr lang="es-ES">
              <a:solidFill>
                <a:schemeClr val="lt1"/>
              </a:solidFill>
            </a:endParaRPr>
          </a:p>
          <a:p>
            <a:pPr marL="285750" marR="0" lvl="0" indent="-285750" algn="l"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Desde  listas.</a:t>
            </a:r>
            <a:endParaRPr sz="1800">
              <a:solidFill>
                <a:schemeClr val="lt1"/>
              </a:solidFill>
              <a:latin typeface="Calibri"/>
              <a:ea typeface="Calibri"/>
              <a:cs typeface="Calibri"/>
            </a:endParaRPr>
          </a:p>
          <a:p>
            <a:pPr marL="285750" marR="0" lvl="0" indent="-285750" algn="l"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Desde diccionarios.</a:t>
            </a:r>
            <a:endParaRPr sz="1800">
              <a:solidFill>
                <a:schemeClr val="lt1"/>
              </a:solidFill>
              <a:latin typeface="Calibri"/>
              <a:ea typeface="Calibri"/>
              <a:cs typeface="Calibri"/>
            </a:endParaRPr>
          </a:p>
          <a:p>
            <a:pPr marL="285750" marR="0" lvl="0" indent="-285750" algn="l"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Desde arreglos (</a:t>
            </a:r>
            <a:r>
              <a:rPr lang="es-ES" sz="1800" err="1">
                <a:solidFill>
                  <a:schemeClr val="lt1"/>
                </a:solidFill>
                <a:latin typeface="Calibri"/>
                <a:ea typeface="Calibri"/>
                <a:cs typeface="Calibri"/>
                <a:sym typeface="Calibri"/>
              </a:rPr>
              <a:t>arrays</a:t>
            </a:r>
            <a:r>
              <a:rPr lang="es-ES" sz="1800">
                <a:solidFill>
                  <a:schemeClr val="lt1"/>
                </a:solidFill>
                <a:latin typeface="Calibri"/>
                <a:ea typeface="Calibri"/>
                <a:cs typeface="Calibri"/>
                <a:sym typeface="Calibri"/>
              </a:rPr>
              <a:t>).</a:t>
            </a:r>
            <a:endParaRPr sz="1800">
              <a:solidFill>
                <a:schemeClr val="lt1"/>
              </a:solidFill>
              <a:latin typeface="Calibri"/>
              <a:ea typeface="Calibri"/>
              <a:cs typeface="Calibri"/>
            </a:endParaRPr>
          </a:p>
          <a:p>
            <a:pPr marL="285750" marR="0" lvl="0" indent="-285750" algn="l"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Cargando conjuntos de datos desde repositorios (SQL </a:t>
            </a:r>
            <a:r>
              <a:rPr lang="es-ES" sz="1800" err="1">
                <a:solidFill>
                  <a:schemeClr val="lt1"/>
                </a:solidFill>
                <a:latin typeface="Calibri"/>
                <a:ea typeface="Calibri"/>
                <a:cs typeface="Calibri"/>
                <a:sym typeface="Calibri"/>
              </a:rPr>
              <a:t>Database</a:t>
            </a:r>
            <a:r>
              <a:rPr lang="es-ES" sz="1800">
                <a:solidFill>
                  <a:schemeClr val="lt1"/>
                </a:solidFill>
                <a:latin typeface="Calibri"/>
                <a:ea typeface="Calibri"/>
                <a:cs typeface="Calibri"/>
                <a:sym typeface="Calibri"/>
              </a:rPr>
              <a:t>, Excel, CSV and texto).</a:t>
            </a:r>
            <a:endParaRPr sz="1800">
              <a:solidFill>
                <a:schemeClr val="lt1"/>
              </a:solidFill>
              <a:latin typeface="Calibri"/>
              <a:ea typeface="Calibri"/>
              <a:cs typeface="Calibri"/>
            </a:endParaRPr>
          </a:p>
          <a:p>
            <a:pPr marL="0" marR="0" lvl="0" indent="0" algn="l" rtl="0">
              <a:lnSpc>
                <a:spcPct val="150000"/>
              </a:lnSpc>
              <a:spcBef>
                <a:spcPts val="0"/>
              </a:spcBef>
              <a:spcAft>
                <a:spcPts val="0"/>
              </a:spcAft>
              <a:buNone/>
            </a:pPr>
            <a:endParaRPr sz="1600">
              <a:solidFill>
                <a:schemeClr val="lt1"/>
              </a:solidFill>
              <a:latin typeface="Arial"/>
              <a:ea typeface="Arial"/>
              <a:cs typeface="Arial"/>
              <a:sym typeface="Arial"/>
            </a:endParaRPr>
          </a:p>
        </p:txBody>
      </p:sp>
      <p:pic>
        <p:nvPicPr>
          <p:cNvPr id="396" name="Google Shape;396;p35"/>
          <p:cNvPicPr preferRelativeResize="0"/>
          <p:nvPr/>
        </p:nvPicPr>
        <p:blipFill rotWithShape="1">
          <a:blip r:embed="rId3">
            <a:alphaModFix/>
          </a:blip>
          <a:srcRect/>
          <a:stretch/>
        </p:blipFill>
        <p:spPr>
          <a:xfrm>
            <a:off x="7021274" y="1986995"/>
            <a:ext cx="4515480" cy="31722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4"/>
                                        </p:tgtEl>
                                        <p:attrNameLst>
                                          <p:attrName>style.visibility</p:attrName>
                                        </p:attrNameLst>
                                      </p:cBhvr>
                                      <p:to>
                                        <p:strVal val="visible"/>
                                      </p:to>
                                    </p:set>
                                    <p:animEffect transition="in" filter="fade">
                                      <p:cBhvr>
                                        <p:cTn id="7"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6"/>
          <p:cNvSpPr/>
          <p:nvPr/>
        </p:nvSpPr>
        <p:spPr>
          <a:xfrm>
            <a:off x="-185851" y="1229594"/>
            <a:ext cx="9902808" cy="508748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36"/>
          <p:cNvSpPr txBox="1"/>
          <p:nvPr/>
        </p:nvSpPr>
        <p:spPr>
          <a:xfrm>
            <a:off x="1157987" y="226123"/>
            <a:ext cx="702286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Creación de DataFrame</a:t>
            </a:r>
            <a:endParaRPr sz="3200">
              <a:solidFill>
                <a:srgbClr val="7F7F7F"/>
              </a:solidFill>
              <a:latin typeface="Arial"/>
              <a:ea typeface="Arial"/>
              <a:cs typeface="Arial"/>
              <a:sym typeface="Arial"/>
            </a:endParaRPr>
          </a:p>
        </p:txBody>
      </p:sp>
      <p:sp>
        <p:nvSpPr>
          <p:cNvPr id="403" name="Google Shape;403;p36"/>
          <p:cNvSpPr txBox="1"/>
          <p:nvPr/>
        </p:nvSpPr>
        <p:spPr>
          <a:xfrm>
            <a:off x="1156370" y="1369407"/>
            <a:ext cx="8366843" cy="28622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Creando un dataFrame desde un array: </a:t>
            </a:r>
            <a:endParaRPr sz="2000">
              <a:latin typeface="Calibri"/>
              <a:ea typeface="Calibri"/>
              <a:cs typeface="Calibri"/>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a:solidFill>
                  <a:schemeClr val="lt1"/>
                </a:solidFill>
                <a:latin typeface="Calibri"/>
                <a:ea typeface="Calibri"/>
                <a:cs typeface="Calibri"/>
                <a:sym typeface="Calibri"/>
              </a:rPr>
              <a:t>DataFrame(data=array, index=filas, columns=columnas, dtype=tipo)  </a:t>
            </a:r>
            <a:endParaRPr sz="2000">
              <a:latin typeface="Calibri"/>
              <a:ea typeface="Calibri"/>
              <a:cs typeface="Calibri"/>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a:solidFill>
                  <a:schemeClr val="lt1"/>
                </a:solidFill>
                <a:latin typeface="Calibri"/>
                <a:ea typeface="Calibri"/>
                <a:cs typeface="Calibri"/>
                <a:sym typeface="Calibri"/>
              </a:rPr>
              <a:t>Devuelve un objeto del tipo DataFrame - La lista </a:t>
            </a:r>
            <a:r>
              <a:rPr lang="es-ES" sz="2000" b="1">
                <a:solidFill>
                  <a:schemeClr val="lt1"/>
                </a:solidFill>
                <a:latin typeface="Calibri"/>
                <a:ea typeface="Calibri"/>
                <a:cs typeface="Calibri"/>
                <a:sym typeface="Calibri"/>
              </a:rPr>
              <a:t>filas</a:t>
            </a:r>
            <a:r>
              <a:rPr lang="es-ES" sz="2000">
                <a:solidFill>
                  <a:schemeClr val="lt1"/>
                </a:solidFill>
                <a:latin typeface="Calibri"/>
                <a:ea typeface="Calibri"/>
                <a:cs typeface="Calibri"/>
                <a:sym typeface="Calibri"/>
              </a:rPr>
              <a:t> tiene que tener el mismo tamaño que el número de filas del array y la lista columnas, el mismo tamaño que el número de columnas del array. Si no se pasa la lista de filas se utilizan enteros empezando en 0. Si no se pasa la lista de columnas se utilizan las claves de los diccionarios. Si no se pasa la lista de tipos, se infiere.</a:t>
            </a:r>
            <a:endParaRPr sz="2000">
              <a:latin typeface="Calibri"/>
              <a:ea typeface="Calibri"/>
              <a:cs typeface="Calibri"/>
            </a:endParaRPr>
          </a:p>
        </p:txBody>
      </p:sp>
      <p:sp>
        <p:nvSpPr>
          <p:cNvPr id="404" name="Google Shape;404;p36"/>
          <p:cNvSpPr/>
          <p:nvPr/>
        </p:nvSpPr>
        <p:spPr>
          <a:xfrm>
            <a:off x="1243625" y="4230465"/>
            <a:ext cx="8279147" cy="191207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5" name="Google Shape;405;p36"/>
          <p:cNvPicPr preferRelativeResize="0"/>
          <p:nvPr/>
        </p:nvPicPr>
        <p:blipFill rotWithShape="1">
          <a:blip r:embed="rId3">
            <a:alphaModFix/>
          </a:blip>
          <a:srcRect/>
          <a:stretch/>
        </p:blipFill>
        <p:spPr>
          <a:xfrm>
            <a:off x="555212" y="1435049"/>
            <a:ext cx="289524" cy="289524"/>
          </a:xfrm>
          <a:prstGeom prst="rect">
            <a:avLst/>
          </a:prstGeom>
          <a:noFill/>
          <a:ln>
            <a:noFill/>
          </a:ln>
        </p:spPr>
      </p:pic>
      <p:pic>
        <p:nvPicPr>
          <p:cNvPr id="408" name="Google Shape;408;p36"/>
          <p:cNvPicPr preferRelativeResize="0"/>
          <p:nvPr/>
        </p:nvPicPr>
        <p:blipFill rotWithShape="1">
          <a:blip r:embed="rId4">
            <a:alphaModFix/>
          </a:blip>
          <a:srcRect/>
          <a:stretch/>
        </p:blipFill>
        <p:spPr>
          <a:xfrm>
            <a:off x="2655119" y="4509059"/>
            <a:ext cx="5379138" cy="15296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2"/>
                                        </p:tgtEl>
                                        <p:attrNameLst>
                                          <p:attrName>style.visibility</p:attrName>
                                        </p:attrNameLst>
                                      </p:cBhvr>
                                      <p:to>
                                        <p:strVal val="visible"/>
                                      </p:to>
                                    </p:set>
                                    <p:animEffect transition="in" filter="fade">
                                      <p:cBhvr>
                                        <p:cTn id="7" dur="500"/>
                                        <p:tgtEl>
                                          <p:spTgt spid="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7"/>
          <p:cNvSpPr/>
          <p:nvPr/>
        </p:nvSpPr>
        <p:spPr>
          <a:xfrm>
            <a:off x="840450" y="1182050"/>
            <a:ext cx="8962500" cy="1324800"/>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37"/>
          <p:cNvSpPr txBox="1"/>
          <p:nvPr/>
        </p:nvSpPr>
        <p:spPr>
          <a:xfrm>
            <a:off x="798017" y="254323"/>
            <a:ext cx="48456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Creación de DataFrame</a:t>
            </a:r>
            <a:endParaRPr sz="3200">
              <a:solidFill>
                <a:srgbClr val="7F7F7F"/>
              </a:solidFill>
              <a:latin typeface="Arial"/>
              <a:ea typeface="Arial"/>
              <a:cs typeface="Arial"/>
              <a:sym typeface="Arial"/>
            </a:endParaRPr>
          </a:p>
        </p:txBody>
      </p:sp>
      <p:sp>
        <p:nvSpPr>
          <p:cNvPr id="415" name="Google Shape;415;p37"/>
          <p:cNvSpPr txBox="1"/>
          <p:nvPr/>
        </p:nvSpPr>
        <p:spPr>
          <a:xfrm>
            <a:off x="1222650" y="1318550"/>
            <a:ext cx="77448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Creando un DataFrame desde un diccionario: </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b="1">
                <a:solidFill>
                  <a:schemeClr val="lt1"/>
                </a:solidFill>
                <a:latin typeface="Calibri"/>
                <a:ea typeface="Calibri"/>
                <a:cs typeface="Calibri"/>
                <a:sym typeface="Calibri"/>
              </a:rPr>
              <a:t>DataFrame(data=diccionario, index=filas, columns=columnas, dtype=tipos)  </a:t>
            </a:r>
            <a:endParaRPr/>
          </a:p>
        </p:txBody>
      </p:sp>
      <p:sp>
        <p:nvSpPr>
          <p:cNvPr id="416" name="Google Shape;416;p37"/>
          <p:cNvSpPr/>
          <p:nvPr/>
        </p:nvSpPr>
        <p:spPr>
          <a:xfrm>
            <a:off x="840450" y="2795575"/>
            <a:ext cx="8962500" cy="34062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7" name="Google Shape;417;p37"/>
          <p:cNvPicPr preferRelativeResize="0"/>
          <p:nvPr/>
        </p:nvPicPr>
        <p:blipFill rotWithShape="1">
          <a:blip r:embed="rId3">
            <a:alphaModFix/>
          </a:blip>
          <a:srcRect/>
          <a:stretch/>
        </p:blipFill>
        <p:spPr>
          <a:xfrm>
            <a:off x="2221300" y="3080463"/>
            <a:ext cx="5747488" cy="28364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8"/>
          <p:cNvSpPr/>
          <p:nvPr/>
        </p:nvSpPr>
        <p:spPr>
          <a:xfrm>
            <a:off x="237078" y="1632238"/>
            <a:ext cx="12475028" cy="371257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38"/>
          <p:cNvSpPr txBox="1"/>
          <p:nvPr/>
        </p:nvSpPr>
        <p:spPr>
          <a:xfrm>
            <a:off x="602538" y="564070"/>
            <a:ext cx="470222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Creación de DataFrame</a:t>
            </a:r>
            <a:endParaRPr/>
          </a:p>
        </p:txBody>
      </p:sp>
      <p:sp>
        <p:nvSpPr>
          <p:cNvPr id="424" name="Google Shape;424;p38"/>
          <p:cNvSpPr txBox="1"/>
          <p:nvPr/>
        </p:nvSpPr>
        <p:spPr>
          <a:xfrm>
            <a:off x="6776976" y="1848150"/>
            <a:ext cx="5013000" cy="3047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Devuelve un objeto del tipo </a:t>
            </a:r>
            <a:r>
              <a:rPr lang="es-ES" sz="1600" dirty="0" err="1">
                <a:solidFill>
                  <a:schemeClr val="lt1"/>
                </a:solidFill>
                <a:latin typeface="Calibri"/>
                <a:ea typeface="Calibri"/>
                <a:cs typeface="Calibri"/>
                <a:sym typeface="Calibri"/>
              </a:rPr>
              <a:t>DataFrame</a:t>
            </a:r>
            <a:r>
              <a:rPr lang="es-ES" sz="1600" dirty="0">
                <a:solidFill>
                  <a:schemeClr val="lt1"/>
                </a:solidFill>
                <a:latin typeface="Calibri"/>
                <a:ea typeface="Calibri"/>
                <a:cs typeface="Calibri"/>
                <a:sym typeface="Calibri"/>
              </a:rPr>
              <a:t>. La lista </a:t>
            </a:r>
            <a:r>
              <a:rPr lang="es-ES" sz="1600" b="1" dirty="0">
                <a:solidFill>
                  <a:schemeClr val="lt1"/>
                </a:solidFill>
                <a:latin typeface="Calibri"/>
                <a:ea typeface="Calibri"/>
                <a:cs typeface="Calibri"/>
                <a:sym typeface="Calibri"/>
              </a:rPr>
              <a:t>filas</a:t>
            </a:r>
            <a:r>
              <a:rPr lang="es-ES" sz="1600" dirty="0">
                <a:solidFill>
                  <a:schemeClr val="lt1"/>
                </a:solidFill>
                <a:latin typeface="Calibri"/>
                <a:ea typeface="Calibri"/>
                <a:cs typeface="Calibri"/>
                <a:sym typeface="Calibri"/>
              </a:rPr>
              <a:t> tiene que tener el mismo tamaño que las listas del diccionario, mientras que las listas columnas y tipos, tienen que tener el mismo tamaño que el diccionario.</a:t>
            </a:r>
            <a:endParaRPr dirty="0">
              <a:solidFill>
                <a:schemeClr val="lt1"/>
              </a:solidFill>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algn="just"/>
            <a:r>
              <a:rPr lang="es-ES" sz="1600" dirty="0">
                <a:solidFill>
                  <a:schemeClr val="lt1"/>
                </a:solidFill>
                <a:latin typeface="Calibri"/>
                <a:ea typeface="Calibri"/>
                <a:cs typeface="Calibri"/>
                <a:sym typeface="Calibri"/>
              </a:rPr>
              <a:t> Si no se pasa la lista de filas se utilizan como nombres los enteros empezando en 0.</a:t>
            </a:r>
            <a:endParaRPr dirty="0">
              <a:solidFill>
                <a:schemeClr val="lt1"/>
              </a:solidFill>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algn="just"/>
            <a:r>
              <a:rPr lang="es-ES" sz="1600" dirty="0">
                <a:solidFill>
                  <a:schemeClr val="lt1"/>
                </a:solidFill>
                <a:latin typeface="Calibri"/>
                <a:ea typeface="Calibri"/>
                <a:cs typeface="Calibri"/>
                <a:sym typeface="Calibri"/>
              </a:rPr>
              <a:t>Si no se pasa la lista de columnas se utilizan como nombres las claves del diccionario. </a:t>
            </a:r>
            <a:endParaRPr sz="16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Si no se pasa la lista de tipos, se infiere.</a:t>
            </a:r>
            <a:endParaRPr dirty="0">
              <a:solidFill>
                <a:schemeClr val="lt1"/>
              </a:solidFill>
            </a:endParaRPr>
          </a:p>
        </p:txBody>
      </p:sp>
      <p:sp>
        <p:nvSpPr>
          <p:cNvPr id="425" name="Google Shape;425;p38"/>
          <p:cNvSpPr/>
          <p:nvPr/>
        </p:nvSpPr>
        <p:spPr>
          <a:xfrm>
            <a:off x="352082" y="1734563"/>
            <a:ext cx="6248400" cy="3486150"/>
          </a:xfrm>
          <a:prstGeom prst="roundRect">
            <a:avLst>
              <a:gd name="adj" fmla="val 2971"/>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6" name="Google Shape;426;p38"/>
          <p:cNvPicPr preferRelativeResize="0"/>
          <p:nvPr/>
        </p:nvPicPr>
        <p:blipFill rotWithShape="1">
          <a:blip r:embed="rId3">
            <a:alphaModFix/>
          </a:blip>
          <a:srcRect/>
          <a:stretch/>
        </p:blipFill>
        <p:spPr>
          <a:xfrm>
            <a:off x="602538" y="2059425"/>
            <a:ext cx="5747488" cy="28364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3"/>
                                        </p:tgtEl>
                                        <p:attrNameLst>
                                          <p:attrName>style.visibility</p:attrName>
                                        </p:attrNameLst>
                                      </p:cBhvr>
                                      <p:to>
                                        <p:strVal val="visible"/>
                                      </p:to>
                                    </p:set>
                                    <p:animEffect transition="in" filter="fade">
                                      <p:cBhvr>
                                        <p:cTn id="7" dur="5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9"/>
          <p:cNvSpPr txBox="1"/>
          <p:nvPr/>
        </p:nvSpPr>
        <p:spPr>
          <a:xfrm>
            <a:off x="304256" y="3778409"/>
            <a:ext cx="6357801"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Eliminación de Filas y Columnas</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5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0"/>
          <p:cNvSpPr txBox="1"/>
          <p:nvPr/>
        </p:nvSpPr>
        <p:spPr>
          <a:xfrm>
            <a:off x="573354" y="334063"/>
            <a:ext cx="5891668"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Agregar o Eliminar Columnas</a:t>
            </a:r>
            <a:endParaRPr sz="3200">
              <a:solidFill>
                <a:srgbClr val="7F7F7F"/>
              </a:solidFill>
              <a:latin typeface="Arial"/>
              <a:ea typeface="Arial"/>
              <a:cs typeface="Arial"/>
              <a:sym typeface="Arial"/>
            </a:endParaRPr>
          </a:p>
        </p:txBody>
      </p:sp>
      <p:sp>
        <p:nvSpPr>
          <p:cNvPr id="437" name="Google Shape;437;p40"/>
          <p:cNvSpPr/>
          <p:nvPr/>
        </p:nvSpPr>
        <p:spPr>
          <a:xfrm>
            <a:off x="808762" y="1411025"/>
            <a:ext cx="10569581" cy="425877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38" name="Google Shape;438;p40"/>
          <p:cNvPicPr preferRelativeResize="0"/>
          <p:nvPr/>
        </p:nvPicPr>
        <p:blipFill rotWithShape="1">
          <a:blip r:embed="rId3">
            <a:alphaModFix/>
          </a:blip>
          <a:srcRect/>
          <a:stretch/>
        </p:blipFill>
        <p:spPr>
          <a:xfrm>
            <a:off x="1826012" y="2752939"/>
            <a:ext cx="8411183" cy="2539225"/>
          </a:xfrm>
          <a:prstGeom prst="rect">
            <a:avLst/>
          </a:prstGeom>
          <a:noFill/>
          <a:ln>
            <a:noFill/>
          </a:ln>
        </p:spPr>
      </p:pic>
      <p:cxnSp>
        <p:nvCxnSpPr>
          <p:cNvPr id="439" name="Google Shape;439;p40"/>
          <p:cNvCxnSpPr/>
          <p:nvPr/>
        </p:nvCxnSpPr>
        <p:spPr>
          <a:xfrm flipH="1">
            <a:off x="4355202" y="2206144"/>
            <a:ext cx="732210" cy="562667"/>
          </a:xfrm>
          <a:prstGeom prst="straightConnector1">
            <a:avLst/>
          </a:prstGeom>
          <a:noFill/>
          <a:ln w="9525" cap="flat" cmpd="sng">
            <a:solidFill>
              <a:schemeClr val="accent1"/>
            </a:solidFill>
            <a:prstDash val="solid"/>
            <a:miter lim="800000"/>
            <a:headEnd type="none" w="sm" len="sm"/>
            <a:tailEnd type="triangle" w="med" len="med"/>
          </a:ln>
        </p:spPr>
      </p:cxnSp>
      <p:sp>
        <p:nvSpPr>
          <p:cNvPr id="440" name="Google Shape;440;p40"/>
          <p:cNvSpPr txBox="1"/>
          <p:nvPr/>
        </p:nvSpPr>
        <p:spPr>
          <a:xfrm>
            <a:off x="3164126" y="1936809"/>
            <a:ext cx="142410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Axis=1   🡪 columna</a:t>
            </a: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Axis=0   🡪 fila</a:t>
            </a:r>
            <a:endParaRPr sz="1200">
              <a:solidFill>
                <a:schemeClr val="dk1"/>
              </a:solidFill>
              <a:latin typeface="Calibri"/>
              <a:ea typeface="Calibri"/>
              <a:cs typeface="Calibri"/>
              <a:sym typeface="Calibri"/>
            </a:endParaRPr>
          </a:p>
        </p:txBody>
      </p:sp>
      <p:cxnSp>
        <p:nvCxnSpPr>
          <p:cNvPr id="441" name="Google Shape;441;p40"/>
          <p:cNvCxnSpPr/>
          <p:nvPr/>
        </p:nvCxnSpPr>
        <p:spPr>
          <a:xfrm flipH="1">
            <a:off x="3259098" y="2461994"/>
            <a:ext cx="126835" cy="253494"/>
          </a:xfrm>
          <a:prstGeom prst="straightConnector1">
            <a:avLst/>
          </a:prstGeom>
          <a:noFill/>
          <a:ln w="9525" cap="flat" cmpd="sng">
            <a:solidFill>
              <a:schemeClr val="accent1"/>
            </a:solidFill>
            <a:prstDash val="solid"/>
            <a:miter lim="800000"/>
            <a:headEnd type="none" w="sm" len="sm"/>
            <a:tailEnd type="triangle" w="med" len="med"/>
          </a:ln>
        </p:spPr>
      </p:cxnSp>
      <p:sp>
        <p:nvSpPr>
          <p:cNvPr id="442" name="Google Shape;442;p40"/>
          <p:cNvSpPr txBox="1"/>
          <p:nvPr/>
        </p:nvSpPr>
        <p:spPr>
          <a:xfrm>
            <a:off x="5087412" y="1934192"/>
            <a:ext cx="317048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Inplace = true  🡪 modifica el dataframe original</a:t>
            </a: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Inplace=false   🡪 solo devuelve una copia</a:t>
            </a:r>
            <a:endParaRPr sz="1200">
              <a:solidFill>
                <a:schemeClr val="dk1"/>
              </a:solidFill>
              <a:latin typeface="Calibri"/>
              <a:ea typeface="Calibri"/>
              <a:cs typeface="Calibri"/>
              <a:sym typeface="Calibri"/>
            </a:endParaRPr>
          </a:p>
        </p:txBody>
      </p:sp>
      <p:cxnSp>
        <p:nvCxnSpPr>
          <p:cNvPr id="443" name="Google Shape;443;p40"/>
          <p:cNvCxnSpPr/>
          <p:nvPr/>
        </p:nvCxnSpPr>
        <p:spPr>
          <a:xfrm>
            <a:off x="3395045" y="2944636"/>
            <a:ext cx="142367" cy="267809"/>
          </a:xfrm>
          <a:prstGeom prst="straightConnector1">
            <a:avLst/>
          </a:prstGeom>
          <a:noFill/>
          <a:ln w="9525" cap="flat" cmpd="sng">
            <a:solidFill>
              <a:schemeClr val="accent1"/>
            </a:solidFill>
            <a:prstDash val="solid"/>
            <a:miter lim="800000"/>
            <a:headEnd type="none" w="sm" len="sm"/>
            <a:tailEnd type="triangle" w="med" len="med"/>
          </a:ln>
        </p:spPr>
      </p:cxnSp>
      <p:sp>
        <p:nvSpPr>
          <p:cNvPr id="444" name="Google Shape;444;p40"/>
          <p:cNvSpPr txBox="1"/>
          <p:nvPr/>
        </p:nvSpPr>
        <p:spPr>
          <a:xfrm>
            <a:off x="1620258" y="2155166"/>
            <a:ext cx="146373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Nombre de columna</a:t>
            </a:r>
            <a:endParaRPr sz="1800">
              <a:solidFill>
                <a:schemeClr val="dk1"/>
              </a:solidFill>
              <a:latin typeface="Calibri"/>
              <a:ea typeface="Calibri"/>
              <a:cs typeface="Calibri"/>
              <a:sym typeface="Calibri"/>
            </a:endParaRPr>
          </a:p>
        </p:txBody>
      </p:sp>
      <p:sp>
        <p:nvSpPr>
          <p:cNvPr id="445" name="Google Shape;445;p40"/>
          <p:cNvSpPr txBox="1"/>
          <p:nvPr/>
        </p:nvSpPr>
        <p:spPr>
          <a:xfrm>
            <a:off x="1591160" y="1564062"/>
            <a:ext cx="3145932"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Eliminar una columna del DataFrame:</a:t>
            </a:r>
            <a:endParaRPr sz="14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p:cTn id="7"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1"/>
          <p:cNvSpPr txBox="1"/>
          <p:nvPr/>
        </p:nvSpPr>
        <p:spPr>
          <a:xfrm>
            <a:off x="869026" y="287775"/>
            <a:ext cx="6339841" cy="1008062"/>
          </a:xfrm>
          <a:prstGeom prst="rect">
            <a:avLst/>
          </a:prstGeom>
          <a:noFill/>
          <a:ln>
            <a:noFill/>
          </a:ln>
        </p:spPr>
        <p:txBody>
          <a:bodyPr spcFirstLastPara="1" wrap="square" lIns="91425" tIns="45700" rIns="91425" bIns="45700" anchor="ctr" anchorCtr="0">
            <a:noAutofit/>
          </a:bodyPr>
          <a:lstStyle/>
          <a:p>
            <a:pPr marL="0" marR="0" lvl="0" indent="0" rtl="0">
              <a:lnSpc>
                <a:spcPct val="150000"/>
              </a:lnSpc>
              <a:spcBef>
                <a:spcPts val="0"/>
              </a:spcBef>
              <a:spcAft>
                <a:spcPts val="0"/>
              </a:spcAft>
              <a:buNone/>
            </a:pPr>
            <a:r>
              <a:rPr lang="es-ES" sz="3200">
                <a:solidFill>
                  <a:srgbClr val="7F7F7F"/>
                </a:solidFill>
                <a:latin typeface="Arial"/>
                <a:ea typeface="Arial"/>
                <a:cs typeface="Arial"/>
                <a:sym typeface="Arial"/>
              </a:rPr>
              <a:t>Agregar o Eliminar Columnas</a:t>
            </a:r>
            <a:endParaRPr lang="es-ES" sz="3200">
              <a:solidFill>
                <a:srgbClr val="7F7F7F"/>
              </a:solidFill>
              <a:latin typeface="Arial"/>
              <a:ea typeface="Arial"/>
              <a:cs typeface="Arial"/>
            </a:endParaRPr>
          </a:p>
        </p:txBody>
      </p:sp>
      <p:sp>
        <p:nvSpPr>
          <p:cNvPr id="451" name="Google Shape;451;p41"/>
          <p:cNvSpPr/>
          <p:nvPr/>
        </p:nvSpPr>
        <p:spPr>
          <a:xfrm>
            <a:off x="874145" y="1465297"/>
            <a:ext cx="10477945" cy="425877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52" name="Google Shape;452;p41"/>
          <p:cNvCxnSpPr/>
          <p:nvPr/>
        </p:nvCxnSpPr>
        <p:spPr>
          <a:xfrm flipH="1">
            <a:off x="3278477" y="2622731"/>
            <a:ext cx="365760" cy="258521"/>
          </a:xfrm>
          <a:prstGeom prst="straightConnector1">
            <a:avLst/>
          </a:prstGeom>
          <a:noFill/>
          <a:ln w="9525" cap="flat" cmpd="sng">
            <a:solidFill>
              <a:schemeClr val="accent1"/>
            </a:solidFill>
            <a:prstDash val="solid"/>
            <a:miter lim="800000"/>
            <a:headEnd type="none" w="sm" len="sm"/>
            <a:tailEnd type="triangle" w="med" len="med"/>
          </a:ln>
        </p:spPr>
      </p:cxnSp>
      <p:sp>
        <p:nvSpPr>
          <p:cNvPr id="453" name="Google Shape;453;p41"/>
          <p:cNvSpPr txBox="1"/>
          <p:nvPr/>
        </p:nvSpPr>
        <p:spPr>
          <a:xfrm>
            <a:off x="2220129" y="2196371"/>
            <a:ext cx="142410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Axis=1   🡪 columna</a:t>
            </a:r>
            <a:endParaRPr sz="1800">
              <a:solidFill>
                <a:srgbClr val="3A3838"/>
              </a:solidFill>
              <a:latin typeface="Calibri"/>
              <a:ea typeface="Calibri"/>
              <a:cs typeface="Calibri"/>
              <a:sym typeface="Calibri"/>
            </a:endParaRPr>
          </a:p>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Axis=0   🡪 fila</a:t>
            </a:r>
            <a:endParaRPr sz="1200">
              <a:solidFill>
                <a:srgbClr val="3A3838"/>
              </a:solidFill>
              <a:latin typeface="Calibri"/>
              <a:ea typeface="Calibri"/>
              <a:cs typeface="Calibri"/>
              <a:sym typeface="Calibri"/>
            </a:endParaRPr>
          </a:p>
        </p:txBody>
      </p:sp>
      <p:cxnSp>
        <p:nvCxnSpPr>
          <p:cNvPr id="454" name="Google Shape;454;p41"/>
          <p:cNvCxnSpPr/>
          <p:nvPr/>
        </p:nvCxnSpPr>
        <p:spPr>
          <a:xfrm flipH="1">
            <a:off x="2409797" y="2622731"/>
            <a:ext cx="114300" cy="258521"/>
          </a:xfrm>
          <a:prstGeom prst="straightConnector1">
            <a:avLst/>
          </a:prstGeom>
          <a:noFill/>
          <a:ln w="9525" cap="flat" cmpd="sng">
            <a:solidFill>
              <a:schemeClr val="accent1"/>
            </a:solidFill>
            <a:prstDash val="solid"/>
            <a:miter lim="800000"/>
            <a:headEnd type="none" w="sm" len="sm"/>
            <a:tailEnd type="triangle" w="med" len="med"/>
          </a:ln>
        </p:spPr>
      </p:cxnSp>
      <p:sp>
        <p:nvSpPr>
          <p:cNvPr id="455" name="Google Shape;455;p41"/>
          <p:cNvSpPr txBox="1"/>
          <p:nvPr/>
        </p:nvSpPr>
        <p:spPr>
          <a:xfrm>
            <a:off x="3644237" y="2196369"/>
            <a:ext cx="317048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Inplace = true  🡪 modifica el dataframe original</a:t>
            </a:r>
            <a:endParaRPr sz="1800">
              <a:solidFill>
                <a:srgbClr val="3A3838"/>
              </a:solidFill>
              <a:latin typeface="Calibri"/>
              <a:ea typeface="Calibri"/>
              <a:cs typeface="Calibri"/>
              <a:sym typeface="Calibri"/>
            </a:endParaRPr>
          </a:p>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Inplace=false   🡪 solo devuelve una copia</a:t>
            </a:r>
            <a:endParaRPr sz="1200">
              <a:solidFill>
                <a:srgbClr val="3A3838"/>
              </a:solidFill>
              <a:latin typeface="Calibri"/>
              <a:ea typeface="Calibri"/>
              <a:cs typeface="Calibri"/>
              <a:sym typeface="Calibri"/>
            </a:endParaRPr>
          </a:p>
        </p:txBody>
      </p:sp>
      <p:pic>
        <p:nvPicPr>
          <p:cNvPr id="456" name="Google Shape;456;p41"/>
          <p:cNvPicPr preferRelativeResize="0"/>
          <p:nvPr/>
        </p:nvPicPr>
        <p:blipFill rotWithShape="1">
          <a:blip r:embed="rId3">
            <a:alphaModFix/>
          </a:blip>
          <a:srcRect/>
          <a:stretch/>
        </p:blipFill>
        <p:spPr>
          <a:xfrm>
            <a:off x="1274418" y="2881252"/>
            <a:ext cx="8302691" cy="2518980"/>
          </a:xfrm>
          <a:prstGeom prst="rect">
            <a:avLst/>
          </a:prstGeom>
          <a:noFill/>
          <a:ln>
            <a:noFill/>
          </a:ln>
        </p:spPr>
      </p:pic>
      <p:cxnSp>
        <p:nvCxnSpPr>
          <p:cNvPr id="457" name="Google Shape;457;p41"/>
          <p:cNvCxnSpPr/>
          <p:nvPr/>
        </p:nvCxnSpPr>
        <p:spPr>
          <a:xfrm>
            <a:off x="1800197" y="2622731"/>
            <a:ext cx="99187" cy="258521"/>
          </a:xfrm>
          <a:prstGeom prst="straightConnector1">
            <a:avLst/>
          </a:prstGeom>
          <a:noFill/>
          <a:ln w="9525" cap="flat" cmpd="sng">
            <a:solidFill>
              <a:schemeClr val="accent1"/>
            </a:solidFill>
            <a:prstDash val="solid"/>
            <a:miter lim="800000"/>
            <a:headEnd type="none" w="sm" len="sm"/>
            <a:tailEnd type="triangle" w="med" len="med"/>
          </a:ln>
        </p:spPr>
      </p:cxnSp>
      <p:sp>
        <p:nvSpPr>
          <p:cNvPr id="458" name="Google Shape;458;p41"/>
          <p:cNvSpPr txBox="1"/>
          <p:nvPr/>
        </p:nvSpPr>
        <p:spPr>
          <a:xfrm>
            <a:off x="1181897" y="2288703"/>
            <a:ext cx="100380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200"/>
              <a:buFont typeface="Calibri"/>
              <a:buNone/>
            </a:pPr>
            <a:r>
              <a:rPr lang="es-ES" sz="1200">
                <a:solidFill>
                  <a:srgbClr val="3A3838"/>
                </a:solidFill>
                <a:latin typeface="Calibri"/>
                <a:ea typeface="Calibri"/>
                <a:cs typeface="Calibri"/>
                <a:sym typeface="Calibri"/>
              </a:rPr>
              <a:t>Índice de Fila</a:t>
            </a:r>
            <a:endParaRPr sz="1800">
              <a:solidFill>
                <a:srgbClr val="3A3838"/>
              </a:solidFill>
              <a:latin typeface="Calibri"/>
              <a:ea typeface="Calibri"/>
              <a:cs typeface="Calibri"/>
              <a:sym typeface="Calibri"/>
            </a:endParaRPr>
          </a:p>
        </p:txBody>
      </p:sp>
      <p:sp>
        <p:nvSpPr>
          <p:cNvPr id="459" name="Google Shape;459;p41"/>
          <p:cNvSpPr txBox="1"/>
          <p:nvPr/>
        </p:nvSpPr>
        <p:spPr>
          <a:xfrm>
            <a:off x="1181896" y="1719939"/>
            <a:ext cx="2543983"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Eliminar una fila del DataFrame:</a:t>
            </a:r>
            <a:endParaRPr sz="14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0"/>
                                        </p:tgtEl>
                                        <p:attrNameLst>
                                          <p:attrName>style.visibility</p:attrName>
                                        </p:attrNameLst>
                                      </p:cBhvr>
                                      <p:to>
                                        <p:strVal val="visible"/>
                                      </p:to>
                                    </p:set>
                                    <p:animEffect transition="in" filter="fade">
                                      <p:cBhvr>
                                        <p:cTn id="7" dur="500"/>
                                        <p:tgtEl>
                                          <p:spTgt spid="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2"/>
          <p:cNvSpPr/>
          <p:nvPr/>
        </p:nvSpPr>
        <p:spPr>
          <a:xfrm>
            <a:off x="-585177" y="3057041"/>
            <a:ext cx="7800454" cy="1045333"/>
          </a:xfrm>
          <a:prstGeom prst="roundRect">
            <a:avLst>
              <a:gd name="adj" fmla="val 9640"/>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465" name="Google Shape;465;p42"/>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sz="36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500"/>
                                        <p:tgtEl>
                                          <p:spTgt spid="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3"/>
          <p:cNvSpPr txBox="1"/>
          <p:nvPr/>
        </p:nvSpPr>
        <p:spPr>
          <a:xfrm>
            <a:off x="704850" y="2786424"/>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200"/>
              <a:buFont typeface="Arial"/>
              <a:buNone/>
            </a:pPr>
            <a:r>
              <a:rPr lang="es-ES" sz="3200">
                <a:solidFill>
                  <a:srgbClr val="7F7F7F"/>
                </a:solidFill>
                <a:latin typeface="Arial"/>
                <a:ea typeface="Arial"/>
                <a:cs typeface="Arial"/>
                <a:sym typeface="Arial"/>
              </a:rPr>
              <a:t>Fin Presentación</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500"/>
                                        <p:tgtEl>
                                          <p:spTgt spid="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1251</Words>
  <Application>Microsoft Office PowerPoint</Application>
  <PresentationFormat>Panorámica</PresentationFormat>
  <Paragraphs>148</Paragraphs>
  <Slides>43</Slides>
  <Notes>43</Notes>
  <HiddenSlides>0</HiddenSlides>
  <MMClips>0</MMClips>
  <ScaleCrop>false</ScaleCrop>
  <HeadingPairs>
    <vt:vector size="4" baseType="variant">
      <vt:variant>
        <vt:lpstr>Tema</vt:lpstr>
      </vt:variant>
      <vt:variant>
        <vt:i4>1</vt:i4>
      </vt:variant>
      <vt:variant>
        <vt:lpstr>Títulos de diapositiva</vt:lpstr>
      </vt:variant>
      <vt:variant>
        <vt:i4>43</vt:i4>
      </vt:variant>
    </vt:vector>
  </HeadingPairs>
  <TitlesOfParts>
    <vt:vector size="44" baseType="lpstr">
      <vt:lpstr>Tema de Office</vt:lpstr>
      <vt:lpstr>   Librería Pandas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Librería Pandas</dc:title>
  <dc:creator>Kibernum</dc:creator>
  <cp:lastModifiedBy>Diseño ITA</cp:lastModifiedBy>
  <cp:revision>131</cp:revision>
  <dcterms:created xsi:type="dcterms:W3CDTF">2023-01-03T12:28:26Z</dcterms:created>
  <dcterms:modified xsi:type="dcterms:W3CDTF">2025-10-06T15:52:26Z</dcterms:modified>
</cp:coreProperties>
</file>