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2y63GK5BVtUmUfSCvshjE1HEj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C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5CC6D6-F462-75A7-113A-323007B48985}" v="2" dt="2025-10-06T15:51:30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E25CC6D6-F462-75A7-113A-323007B48985}"/>
    <pc:docChg chg="modSld">
      <pc:chgData name="" userId="" providerId="" clId="Web-{E25CC6D6-F462-75A7-113A-323007B48985}" dt="2025-10-06T15:51:30.968" v="0" actId="20577"/>
      <pc:docMkLst>
        <pc:docMk/>
      </pc:docMkLst>
      <pc:sldChg chg="modSp">
        <pc:chgData name="" userId="" providerId="" clId="Web-{E25CC6D6-F462-75A7-113A-323007B48985}" dt="2025-10-06T15:51:30.968" v="0" actId="20577"/>
        <pc:sldMkLst>
          <pc:docMk/>
          <pc:sldMk cId="0" sldId="256"/>
        </pc:sldMkLst>
        <pc:spChg chg="mod">
          <ac:chgData name="" userId="" providerId="" clId="Web-{E25CC6D6-F462-75A7-113A-323007B48985}" dt="2025-10-06T15:51:30.968" v="0" actId="20577"/>
          <ac:spMkLst>
            <pc:docMk/>
            <pc:sldMk cId="0" sldId="256"/>
            <ac:spMk id="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4180114" y="3928225"/>
            <a:ext cx="7036525" cy="1655893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469424" y="4241074"/>
            <a:ext cx="7150100" cy="89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 Librería Pandas</a:t>
            </a:r>
            <a:endParaRPr sz="3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469424" y="3426402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Obtención y Preparación de Datos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6072840" y="-396652"/>
            <a:ext cx="4669807" cy="5834650"/>
          </a:xfrm>
          <a:prstGeom prst="roundRect">
            <a:avLst>
              <a:gd name="adj" fmla="val 2778"/>
            </a:avLst>
          </a:prstGeom>
          <a:solidFill>
            <a:srgbClr val="98C3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244767" y="513224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173305" y="847456"/>
            <a:ext cx="4271418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Identificar sentencias para la importación de la librería Pandas.</a:t>
            </a:r>
            <a:endParaRPr/>
          </a:p>
          <a:p>
            <a:pPr marL="342900" marR="0" lvl="0" indent="-215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Distinguir las estructuras Serie y Dataframe.</a:t>
            </a:r>
            <a:endParaRPr/>
          </a:p>
          <a:p>
            <a:pPr marL="342900" marR="0" lvl="0" indent="-215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Reconocer las funcionalidades principales de agrupación de datos que provee la librería Pandas.</a:t>
            </a:r>
            <a:endParaRPr/>
          </a:p>
          <a:p>
            <a:pPr marL="342900" marR="0" lvl="0" indent="-215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Reconocer las funcionalidades principales de visualización de datos que provee la librería Pandas.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259882" y="1659284"/>
            <a:ext cx="3524500" cy="3720972"/>
            <a:chOff x="884486" y="0"/>
            <a:chExt cx="3524500" cy="3720972"/>
          </a:xfrm>
        </p:grpSpPr>
        <p:sp>
          <p:nvSpPr>
            <p:cNvPr id="101" name="Google Shape;101;p2"/>
            <p:cNvSpPr/>
            <p:nvPr/>
          </p:nvSpPr>
          <p:spPr>
            <a:xfrm>
              <a:off x="884486" y="0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539162" y="3743574"/>
            <a:ext cx="4651146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Set de Datos</a:t>
            </a:r>
            <a:endParaRPr sz="32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53441" y="1515292"/>
            <a:ext cx="10508624" cy="4423954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850086" y="542959"/>
            <a:ext cx="5164727" cy="73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Caso Covid-19 en Chile</a:t>
            </a:r>
            <a:endParaRPr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8372" y="1894721"/>
            <a:ext cx="6377025" cy="366509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1085527" y="1224554"/>
            <a:ext cx="10084525" cy="4855929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080221" y="344502"/>
            <a:ext cx="6872965" cy="73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Caso Covid-19 en Chile</a:t>
            </a:r>
            <a:endParaRPr/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l="756" r="708"/>
          <a:stretch/>
        </p:blipFill>
        <p:spPr>
          <a:xfrm>
            <a:off x="2800166" y="1547620"/>
            <a:ext cx="6872965" cy="4209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4448585" y="2340324"/>
            <a:ext cx="6463255" cy="2897334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99207" y="557092"/>
            <a:ext cx="4195545" cy="6066049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5059263" y="1717111"/>
            <a:ext cx="4485458" cy="45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Caso Covid-19 en Chile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634" y="990108"/>
            <a:ext cx="3324689" cy="52109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8" name="Google Shape;138;p7"/>
          <p:cNvSpPr txBox="1"/>
          <p:nvPr/>
        </p:nvSpPr>
        <p:spPr>
          <a:xfrm>
            <a:off x="5054409" y="2588377"/>
            <a:ext cx="553033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cuenta con una planilla CSV con las cifras de contagiados Covid-19 en Chile por rango etario, sexo y fecha entregado por el ministerio de salud.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objetivo es realizar un Análisis Exploratorio de Datos preliminar para tener una visión general y lograr los primeros Insights.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/>
        </p:nvSpPr>
        <p:spPr>
          <a:xfrm>
            <a:off x="904186" y="1040806"/>
            <a:ext cx="8749422" cy="514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899090" y="1803888"/>
            <a:ext cx="10508314" cy="3225719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1336673" y="2153651"/>
            <a:ext cx="7442272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Algunas preguntas que desearíamos contestar con nuestro análisis:</a:t>
            </a:r>
            <a:endParaRPr dirty="0">
              <a:solidFill>
                <a:schemeClr val="lt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ha sido la evolución total en el tiempo?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rango etario concentra la mayor parte de los contagios?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se contagian más, los hombres o las mujeres?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-287923" y="1236320"/>
            <a:ext cx="11601298" cy="4658559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93120" y="526175"/>
            <a:ext cx="7719492" cy="44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Librería Pandas</a:t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790882" y="1456823"/>
            <a:ext cx="10103995" cy="406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Ampliamente utilizada en el análisis de datos ya que: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Brinda la mayor parte de las operaciones requeridas para la lectura, manipulación, escritura, visualización de los datos.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Muy amigable, pues encapsula toda la complejidad de la programación para destinar la mayor parte del tiempo al análisis.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Buen performance de ejecución con volúmenes de datos altos.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Permite alta productividad al desarrollar los algoritmos.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Permite trabajar con una amplia variedad de fuentes de datos.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585" y="2201852"/>
            <a:ext cx="289524" cy="2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69" y="3027802"/>
            <a:ext cx="289524" cy="2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287" y="3944876"/>
            <a:ext cx="289524" cy="2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064" y="4543928"/>
            <a:ext cx="289524" cy="2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699" y="5130507"/>
            <a:ext cx="289524" cy="28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989717" y="3526583"/>
            <a:ext cx="10383615" cy="1295046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886745" y="678609"/>
            <a:ext cx="9319700" cy="73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Importación de la librería Pandas</a:t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-175609" y="1684381"/>
            <a:ext cx="12837459" cy="137897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989717" y="1880223"/>
            <a:ext cx="102899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comenzar a utilizar las bondades de la librería Pandas, debemos realizar una importación de la librería en nuestro código fuente: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1550" y="3974438"/>
            <a:ext cx="4744112" cy="409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579407" y="1901846"/>
            <a:ext cx="10984910" cy="3131125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497741" y="1035550"/>
            <a:ext cx="5308065" cy="596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Lectura de </a:t>
            </a:r>
            <a:r>
              <a:rPr lang="es-ES" sz="3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580955" y="2078809"/>
            <a:ext cx="1080529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leer los datos de un archivo CSV (valores separados por 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comma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), aplicamos la siguiente instrucción: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727442" y="2880863"/>
            <a:ext cx="10675467" cy="1024180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0685" y="3202427"/>
            <a:ext cx="4887007" cy="38105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"/>
          <p:cNvSpPr txBox="1"/>
          <p:nvPr/>
        </p:nvSpPr>
        <p:spPr>
          <a:xfrm>
            <a:off x="580120" y="4092742"/>
            <a:ext cx="1080604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 esa instrucción, los datos de la tabla quedaron almacenados en la variable df. La información leída quedó en una estructura llamada DataFrame.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/>
          <p:nvPr/>
        </p:nvSpPr>
        <p:spPr>
          <a:xfrm>
            <a:off x="-210009" y="2156002"/>
            <a:ext cx="6563326" cy="2965267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5547673" y="1346980"/>
            <a:ext cx="6012676" cy="4307027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649150" y="1249572"/>
            <a:ext cx="4398142" cy="73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Estructura DataFrame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2"/>
          <p:cNvPicPr preferRelativeResize="0"/>
          <p:nvPr/>
        </p:nvPicPr>
        <p:blipFill rotWithShape="1">
          <a:blip r:embed="rId3">
            <a:alphaModFix/>
          </a:blip>
          <a:srcRect r="3248" b="3443"/>
          <a:stretch/>
        </p:blipFill>
        <p:spPr>
          <a:xfrm>
            <a:off x="6095190" y="1707868"/>
            <a:ext cx="4921829" cy="3578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 txBox="1"/>
          <p:nvPr/>
        </p:nvSpPr>
        <p:spPr>
          <a:xfrm>
            <a:off x="775014" y="2349233"/>
            <a:ext cx="45323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es el nombre de la estructura con que la librería Pandas representa una tabla de datos.</a:t>
            </a:r>
            <a:endParaRPr dirty="0">
              <a:solidFill>
                <a:schemeClr val="lt1"/>
              </a:solidFill>
            </a:endParaRPr>
          </a:p>
          <a:p>
            <a:pPr algn="just"/>
            <a:endParaRPr lang="es-ES"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es como una tabla de datos Excel con esteroides, potenciada, puesto que brinda múltiples funcionalidades que facilitan el análisis.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594682" y="1380161"/>
            <a:ext cx="5985121" cy="175593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505640" y="445956"/>
            <a:ext cx="4138677" cy="64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Despliegue de datos</a:t>
            </a:r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826308" y="1631872"/>
            <a:ext cx="5505273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desplegar los datos leído que fueron almacenados en la variable df, se pueden utilizar los siguientes métodos:</a:t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6922549" y="1384164"/>
            <a:ext cx="4566646" cy="4276176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0200" y="1530505"/>
            <a:ext cx="3261638" cy="39856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94;p13">
            <a:extLst>
              <a:ext uri="{FF2B5EF4-FFF2-40B4-BE49-F238E27FC236}">
                <a16:creationId xmlns:a16="http://schemas.microsoft.com/office/drawing/2014/main" id="{C96DFC12-AF3A-9A66-1088-78F3AB646ADD}"/>
              </a:ext>
            </a:extLst>
          </p:cNvPr>
          <p:cNvSpPr/>
          <p:nvPr/>
        </p:nvSpPr>
        <p:spPr>
          <a:xfrm>
            <a:off x="589710" y="3464216"/>
            <a:ext cx="5977374" cy="2196121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829998" y="3876196"/>
            <a:ext cx="551739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df.head()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muestra los 5 primeros registros de los datos, mientras que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df.tail()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muestra los últimos 5 registros de los datos.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/>
          <p:nvPr/>
        </p:nvSpPr>
        <p:spPr>
          <a:xfrm>
            <a:off x="551859" y="2498462"/>
            <a:ext cx="11079244" cy="3622825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-188765" y="1224941"/>
            <a:ext cx="12579827" cy="1017811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460873" y="307249"/>
            <a:ext cx="10782300" cy="731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Seleccionando filas en un DataFrame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4"/>
          <p:cNvSpPr txBox="1"/>
          <p:nvPr/>
        </p:nvSpPr>
        <p:spPr>
          <a:xfrm>
            <a:off x="547531" y="1365322"/>
            <a:ext cx="110786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un </a:t>
            </a:r>
            <a:r>
              <a:rPr lang="es-ES" sz="200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puedo seleccionar un conjunto de filas  especificando el rango de índices que deseamos consultar. Por ejemplo: </a:t>
            </a:r>
            <a:r>
              <a:rPr lang="es-ES" sz="2000" b="1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[desde : hasta]</a:t>
            </a: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205" name="Google Shape;205;p14"/>
          <p:cNvPicPr preferRelativeResize="0"/>
          <p:nvPr/>
        </p:nvPicPr>
        <p:blipFill rotWithShape="1">
          <a:blip r:embed="rId3">
            <a:alphaModFix/>
          </a:blip>
          <a:srcRect r="16940"/>
          <a:stretch/>
        </p:blipFill>
        <p:spPr>
          <a:xfrm>
            <a:off x="6471539" y="2615481"/>
            <a:ext cx="3331178" cy="32961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14"/>
          <p:cNvCxnSpPr/>
          <p:nvPr/>
        </p:nvCxnSpPr>
        <p:spPr>
          <a:xfrm flipV="1">
            <a:off x="4972923" y="3735318"/>
            <a:ext cx="1183931" cy="383854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7" name="Google Shape;207;p14"/>
          <p:cNvSpPr txBox="1"/>
          <p:nvPr/>
        </p:nvSpPr>
        <p:spPr>
          <a:xfrm>
            <a:off x="2133129" y="3690839"/>
            <a:ext cx="250449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 de fila. Asignados de forma automática al momento de cargar los datos en el dataframe.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/>
        </p:nvSpPr>
        <p:spPr>
          <a:xfrm>
            <a:off x="853548" y="453557"/>
            <a:ext cx="7091264" cy="45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Agrupando la información</a:t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5067374" y="1290941"/>
            <a:ext cx="5636671" cy="109240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5313196" y="1520091"/>
            <a:ext cx="50214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técnica importante para descubrir insights en los datos, es ver la información de forma agrupada.</a:t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946228" y="1286679"/>
            <a:ext cx="3747178" cy="525213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0084" y="1515718"/>
            <a:ext cx="1838582" cy="476316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5"/>
          <p:cNvSpPr/>
          <p:nvPr/>
        </p:nvSpPr>
        <p:spPr>
          <a:xfrm>
            <a:off x="5067375" y="2711282"/>
            <a:ext cx="5636671" cy="2731686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5974045" y="4391602"/>
            <a:ext cx="128529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Campo para agrupar</a:t>
            </a:r>
            <a:endParaRPr/>
          </a:p>
        </p:txBody>
      </p:sp>
      <p:pic>
        <p:nvPicPr>
          <p:cNvPr id="219" name="Google Shape;21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0945" y="3172603"/>
            <a:ext cx="2695951" cy="4286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15"/>
          <p:cNvCxnSpPr/>
          <p:nvPr/>
        </p:nvCxnSpPr>
        <p:spPr>
          <a:xfrm rot="10800000" flipH="1">
            <a:off x="6966012" y="3638245"/>
            <a:ext cx="471054" cy="630034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1" name="Google Shape;221;p15"/>
          <p:cNvSpPr txBox="1"/>
          <p:nvPr/>
        </p:nvSpPr>
        <p:spPr>
          <a:xfrm>
            <a:off x="8521460" y="4452910"/>
            <a:ext cx="128529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Operación de agrupamiento</a:t>
            </a:r>
            <a:endParaRPr/>
          </a:p>
        </p:txBody>
      </p:sp>
      <p:cxnSp>
        <p:nvCxnSpPr>
          <p:cNvPr id="222" name="Google Shape;222;p15"/>
          <p:cNvCxnSpPr/>
          <p:nvPr/>
        </p:nvCxnSpPr>
        <p:spPr>
          <a:xfrm rot="10800000">
            <a:off x="8793382" y="3676273"/>
            <a:ext cx="276233" cy="630034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/>
          <p:nvPr/>
        </p:nvSpPr>
        <p:spPr>
          <a:xfrm>
            <a:off x="972130" y="1643173"/>
            <a:ext cx="8248313" cy="1189579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70877" y="658540"/>
            <a:ext cx="6222075" cy="7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Agrupando la información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1220974" y="1858676"/>
            <a:ext cx="616429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 este caso, se ha agrupado la información por fecha, en cuyo caso ya no se puede distinguir sexo ni grupo etario.</a:t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7489066" y="839984"/>
            <a:ext cx="3479285" cy="50261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18531" y="1048566"/>
            <a:ext cx="2010056" cy="4553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/>
          <p:nvPr/>
        </p:nvSpPr>
        <p:spPr>
          <a:xfrm>
            <a:off x="1497875" y="2072639"/>
            <a:ext cx="9239794" cy="3896086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-348343" y="1189765"/>
            <a:ext cx="13498286" cy="606055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432855" y="181703"/>
            <a:ext cx="5226879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Graficando la información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1432855" y="1166696"/>
            <a:ext cx="845445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análisis visual nos permite detectar patrones e insights de forma fácil.</a:t>
            </a:r>
            <a:endParaRPr/>
          </a:p>
        </p:txBody>
      </p:sp>
      <p:pic>
        <p:nvPicPr>
          <p:cNvPr id="240" name="Google Shape;24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4503" y="2208251"/>
            <a:ext cx="4075578" cy="3595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4424" y="2555251"/>
            <a:ext cx="4084636" cy="307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/>
        </p:nvSpPr>
        <p:spPr>
          <a:xfrm>
            <a:off x="450725" y="290368"/>
            <a:ext cx="4894350" cy="535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Filtrando la información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-240306" y="987648"/>
            <a:ext cx="12617565" cy="1009414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420766" y="1100123"/>
            <a:ext cx="1135959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cs typeface="Calibri"/>
                <a:sym typeface="Arial"/>
              </a:rPr>
              <a:t>Ahora nos interesa hacer un análisis </a:t>
            </a:r>
            <a:r>
              <a:rPr lang="es-ES" sz="2000" dirty="0">
                <a:solidFill>
                  <a:schemeClr val="lt1"/>
                </a:solidFill>
                <a:latin typeface="Calibri"/>
                <a:cs typeface="Calibri"/>
              </a:rPr>
              <a:t>etario</a:t>
            </a:r>
            <a:r>
              <a:rPr lang="es-ES" sz="2000" dirty="0">
                <a:solidFill>
                  <a:schemeClr val="lt1"/>
                </a:solidFill>
                <a:latin typeface="Calibri"/>
                <a:cs typeface="Calibri"/>
                <a:sym typeface="Arial"/>
              </a:rPr>
              <a:t> específicamente en el grupo de mujeres, por lo tanto</a:t>
            </a:r>
            <a:r>
              <a:rPr lang="es-ES" sz="2000" dirty="0">
                <a:solidFill>
                  <a:schemeClr val="lt1"/>
                </a:solidFill>
                <a:latin typeface="Calibri"/>
                <a:cs typeface="Calibri"/>
              </a:rPr>
              <a:t>,</a:t>
            </a:r>
            <a:r>
              <a:rPr lang="es-ES" sz="2000" dirty="0">
                <a:solidFill>
                  <a:schemeClr val="lt1"/>
                </a:solidFill>
                <a:latin typeface="Calibri"/>
                <a:cs typeface="Calibri"/>
                <a:sym typeface="Arial"/>
              </a:rPr>
              <a:t> necesitamos aplicar un filtro al </a:t>
            </a:r>
            <a:r>
              <a:rPr lang="es-ES" sz="2000" dirty="0" err="1">
                <a:solidFill>
                  <a:schemeClr val="lt1"/>
                </a:solidFill>
                <a:latin typeface="Calibri"/>
                <a:cs typeface="Calibri"/>
                <a:sym typeface="Arial"/>
              </a:rPr>
              <a:t>DataFrame</a:t>
            </a:r>
            <a:r>
              <a:rPr lang="es-ES" sz="2000" dirty="0">
                <a:solidFill>
                  <a:schemeClr val="lt1"/>
                </a:solidFill>
                <a:latin typeface="Calibri"/>
                <a:cs typeface="Calibri"/>
                <a:sym typeface="Arial"/>
              </a:rPr>
              <a:t> para posteriormente repetir el análisis 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realizado</a:t>
            </a:r>
            <a:r>
              <a:rPr lang="es-ES" sz="2000" dirty="0">
                <a:solidFill>
                  <a:schemeClr val="lt1"/>
                </a:solidFill>
                <a:latin typeface="Calibri"/>
                <a:cs typeface="Calibri"/>
                <a:sym typeface="Arial"/>
              </a:rPr>
              <a:t> previamente.</a:t>
            </a:r>
            <a:endParaRPr sz="2000" dirty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418423" y="2270060"/>
            <a:ext cx="11359801" cy="4039054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546" y="2492340"/>
            <a:ext cx="3255802" cy="3629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649" y="2488846"/>
            <a:ext cx="3238011" cy="36027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18"/>
          <p:cNvCxnSpPr/>
          <p:nvPr/>
        </p:nvCxnSpPr>
        <p:spPr>
          <a:xfrm flipV="1">
            <a:off x="1865068" y="2696359"/>
            <a:ext cx="580018" cy="3556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3" name="Google Shape;253;p18"/>
          <p:cNvSpPr txBox="1"/>
          <p:nvPr/>
        </p:nvSpPr>
        <p:spPr>
          <a:xfrm>
            <a:off x="825272" y="2503858"/>
            <a:ext cx="11165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 sin filtrar</a:t>
            </a:r>
            <a:endParaRPr/>
          </a:p>
        </p:txBody>
      </p:sp>
      <p:cxnSp>
        <p:nvCxnSpPr>
          <p:cNvPr id="254" name="Google Shape;254;p18"/>
          <p:cNvCxnSpPr/>
          <p:nvPr/>
        </p:nvCxnSpPr>
        <p:spPr>
          <a:xfrm flipV="1">
            <a:off x="7261635" y="2685904"/>
            <a:ext cx="538829" cy="66449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5" name="Google Shape;255;p18"/>
          <p:cNvSpPr txBox="1"/>
          <p:nvPr/>
        </p:nvSpPr>
        <p:spPr>
          <a:xfrm>
            <a:off x="6286119" y="2504580"/>
            <a:ext cx="10628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 Filtrado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/>
          <p:nvPr/>
        </p:nvSpPr>
        <p:spPr>
          <a:xfrm>
            <a:off x="-201438" y="988521"/>
            <a:ext cx="12544574" cy="874473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1035860" y="262665"/>
            <a:ext cx="2431070" cy="45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1056455" y="1065962"/>
            <a:ext cx="9427842" cy="656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Cada columna en un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es una Serie. Si deseamos seleccionar una serie de un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se puede hacer de la siguiente forma: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1039739" y="2158496"/>
            <a:ext cx="10080602" cy="4107735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6157" y="2237903"/>
            <a:ext cx="2410161" cy="3086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9236" y="3064119"/>
            <a:ext cx="3486637" cy="24101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19"/>
          <p:cNvCxnSpPr/>
          <p:nvPr/>
        </p:nvCxnSpPr>
        <p:spPr>
          <a:xfrm flipH="1">
            <a:off x="7557922" y="2672520"/>
            <a:ext cx="556283" cy="337662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7" name="Google Shape;267;p19"/>
          <p:cNvSpPr txBox="1"/>
          <p:nvPr/>
        </p:nvSpPr>
        <p:spPr>
          <a:xfrm>
            <a:off x="7415938" y="2364743"/>
            <a:ext cx="18654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la Columna</a:t>
            </a:r>
            <a:endParaRPr/>
          </a:p>
        </p:txBody>
      </p:sp>
      <p:cxnSp>
        <p:nvCxnSpPr>
          <p:cNvPr id="268" name="Google Shape;268;p19"/>
          <p:cNvCxnSpPr/>
          <p:nvPr/>
        </p:nvCxnSpPr>
        <p:spPr>
          <a:xfrm rot="10800000" flipH="1">
            <a:off x="3172578" y="5188389"/>
            <a:ext cx="207818" cy="506553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9" name="Google Shape;269;p19"/>
          <p:cNvCxnSpPr/>
          <p:nvPr/>
        </p:nvCxnSpPr>
        <p:spPr>
          <a:xfrm rot="10800000">
            <a:off x="4080444" y="5190586"/>
            <a:ext cx="290946" cy="506553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0" name="Google Shape;270;p19"/>
          <p:cNvSpPr txBox="1"/>
          <p:nvPr/>
        </p:nvSpPr>
        <p:spPr>
          <a:xfrm>
            <a:off x="2710409" y="5792765"/>
            <a:ext cx="79114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4146357" y="5797159"/>
            <a:ext cx="73928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/>
          <p:nvPr/>
        </p:nvSpPr>
        <p:spPr>
          <a:xfrm>
            <a:off x="1131100" y="2246500"/>
            <a:ext cx="10012264" cy="4014900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201728" y="1069460"/>
            <a:ext cx="12599572" cy="911031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1049880" y="265009"/>
            <a:ext cx="7510628" cy="549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Información del DataFrame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1128320" y="1151750"/>
            <a:ext cx="1012303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utilizar los métodos de las Series y DataFrames para realizar diversas operaciones, dentro de las cuales están las siguientes, que permiten ver información del DataFrame o Serie.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9316" y="2423483"/>
            <a:ext cx="1714739" cy="2819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7407" y="2507169"/>
            <a:ext cx="3534268" cy="22482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20"/>
          <p:cNvCxnSpPr/>
          <p:nvPr/>
        </p:nvCxnSpPr>
        <p:spPr>
          <a:xfrm rot="10800000">
            <a:off x="4260259" y="4828427"/>
            <a:ext cx="0" cy="568036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3" name="Google Shape;283;p20"/>
          <p:cNvSpPr txBox="1"/>
          <p:nvPr/>
        </p:nvSpPr>
        <p:spPr>
          <a:xfrm>
            <a:off x="2745033" y="5574395"/>
            <a:ext cx="295901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Despliega la estructura del DataFrame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20"/>
          <p:cNvCxnSpPr>
            <a:cxnSpLocks/>
          </p:cNvCxnSpPr>
          <p:nvPr/>
        </p:nvCxnSpPr>
        <p:spPr>
          <a:xfrm rot="10800000">
            <a:off x="8496686" y="5243277"/>
            <a:ext cx="0" cy="2850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5" name="Google Shape;285;p20"/>
          <p:cNvSpPr txBox="1"/>
          <p:nvPr/>
        </p:nvSpPr>
        <p:spPr>
          <a:xfrm>
            <a:off x="6915178" y="5532246"/>
            <a:ext cx="31630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Despliega un sumario de estadísticas de las columnas numéricas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/>
        </p:nvSpPr>
        <p:spPr>
          <a:xfrm>
            <a:off x="1248279" y="669208"/>
            <a:ext cx="8634290" cy="73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Métodos Estadísticos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1249613" y="1685132"/>
            <a:ext cx="4312523" cy="3423682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1505704" y="1962389"/>
            <a:ext cx="3743561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aplicar diversas operaciones a una serie, como por ejemplo, contar los elementos, calcular el promedio, el valor mínimo, el valor máximo, entre otros.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5894937" y="1685132"/>
            <a:ext cx="4998721" cy="3423683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9016570" y="2333668"/>
            <a:ext cx="1322029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métodos: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count()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mean()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median()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std()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quantile()</a:t>
            </a:r>
            <a:endParaRPr/>
          </a:p>
        </p:txBody>
      </p:sp>
      <p:pic>
        <p:nvPicPr>
          <p:cNvPr id="295" name="Google Shape;29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348" y="2068050"/>
            <a:ext cx="1971950" cy="2657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"/>
          <p:cNvSpPr/>
          <p:nvPr/>
        </p:nvSpPr>
        <p:spPr>
          <a:xfrm>
            <a:off x="-221598" y="1714394"/>
            <a:ext cx="12668323" cy="1328861"/>
          </a:xfrm>
          <a:prstGeom prst="roundRect">
            <a:avLst>
              <a:gd name="adj" fmla="val 2971"/>
            </a:avLst>
          </a:prstGeom>
          <a:solidFill>
            <a:srgbClr val="98C3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1618931" y="580752"/>
            <a:ext cx="59615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Guardando un DataFrame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1851806" y="1881295"/>
            <a:ext cx="8433024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Cuando se realiza el análisis de la información, a veces es necesario llevar la información a un archivo de texto. Para guardar un DataFrame, se puede utilizar el siguiente método: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1759125" y="3560131"/>
            <a:ext cx="8525700" cy="1209600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1541" y="3902954"/>
            <a:ext cx="3238952" cy="523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/>
          <p:nvPr/>
        </p:nvSpPr>
        <p:spPr>
          <a:xfrm>
            <a:off x="-593774" y="1536551"/>
            <a:ext cx="10958028" cy="3869168"/>
          </a:xfrm>
          <a:prstGeom prst="roundRect">
            <a:avLst>
              <a:gd name="adj" fmla="val 2971"/>
            </a:avLst>
          </a:prstGeom>
          <a:solidFill>
            <a:srgbClr val="98C3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877758" y="336009"/>
            <a:ext cx="9516016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Recuerde</a:t>
            </a:r>
            <a:r>
              <a:rPr lang="es-ES" sz="3200" dirty="0">
                <a:solidFill>
                  <a:srgbClr val="7F7F7F"/>
                </a:solidFill>
              </a:rPr>
              <a:t>:</a:t>
            </a:r>
            <a:endParaRPr dirty="0"/>
          </a:p>
        </p:txBody>
      </p:sp>
      <p:sp>
        <p:nvSpPr>
          <p:cNvPr id="311" name="Google Shape;311;p23"/>
          <p:cNvSpPr txBox="1"/>
          <p:nvPr/>
        </p:nvSpPr>
        <p:spPr>
          <a:xfrm>
            <a:off x="877758" y="1759643"/>
            <a:ext cx="9636438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Importar la librería pandas (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pandas as 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tabla de datos es almacenada en un 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Pandas.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Cada columna de un 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es una Serie.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pueden hacer cosas aplicando los métodos disponibles de los 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Series.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118" y="1922866"/>
            <a:ext cx="289524" cy="2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118" y="2852319"/>
            <a:ext cx="289524" cy="2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115" y="3749897"/>
            <a:ext cx="289524" cy="2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689" y="4638096"/>
            <a:ext cx="289524" cy="28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/>
          <p:nvPr/>
        </p:nvSpPr>
        <p:spPr>
          <a:xfrm>
            <a:off x="-585178" y="3057041"/>
            <a:ext cx="7800455" cy="1045333"/>
          </a:xfrm>
          <a:prstGeom prst="roundRect">
            <a:avLst>
              <a:gd name="adj" fmla="val 9640"/>
            </a:avLst>
          </a:prstGeom>
          <a:solidFill>
            <a:srgbClr val="98C3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Presentación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Office PowerPoint</Application>
  <PresentationFormat>Panorámica</PresentationFormat>
  <Paragraphs>97</Paragraphs>
  <Slides>24</Slides>
  <Notes>24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Tema de Office</vt:lpstr>
      <vt:lpstr>Intro Librería Pandas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Librería Pandas</dc:title>
  <dc:creator>Kibernum</dc:creator>
  <cp:lastModifiedBy>Diseño ITA</cp:lastModifiedBy>
  <cp:revision>320</cp:revision>
  <dcterms:created xsi:type="dcterms:W3CDTF">2023-01-03T12:28:26Z</dcterms:created>
  <dcterms:modified xsi:type="dcterms:W3CDTF">2025-10-06T15:51:31Z</dcterms:modified>
</cp:coreProperties>
</file>