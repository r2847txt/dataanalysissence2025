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QozPxM2Lk1/vxpqMnQeVv4rDD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336256-9F93-3DC5-3CDA-09478D6B57F4}" v="4" dt="2025-10-06T15:51:38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46336256-9F93-3DC5-3CDA-09478D6B57F4}"/>
    <pc:docChg chg="modSld">
      <pc:chgData name="Soraya Salazar" userId="S::soraya.salazar@kibernumacademy.com::fdf00a5c-f577-43dc-8064-9968cad83607" providerId="AD" clId="Web-{46336256-9F93-3DC5-3CDA-09478D6B57F4}" dt="2025-10-06T15:51:38.202" v="1" actId="20577"/>
      <pc:docMkLst>
        <pc:docMk/>
      </pc:docMkLst>
      <pc:sldChg chg="modSp">
        <pc:chgData name="Soraya Salazar" userId="S::soraya.salazar@kibernumacademy.com::fdf00a5c-f577-43dc-8064-9968cad83607" providerId="AD" clId="Web-{46336256-9F93-3DC5-3CDA-09478D6B57F4}" dt="2025-10-06T15:51:38.202" v="1" actId="20577"/>
        <pc:sldMkLst>
          <pc:docMk/>
          <pc:sldMk cId="0" sldId="256"/>
        </pc:sldMkLst>
        <pc:spChg chg="mod">
          <ac:chgData name="Soraya Salazar" userId="S::soraya.salazar@kibernumacademy.com::fdf00a5c-f577-43dc-8064-9968cad83607" providerId="AD" clId="Web-{46336256-9F93-3DC5-3CDA-09478D6B57F4}" dt="2025-10-06T15:51:38.202" v="1" actId="20577"/>
          <ac:spMkLst>
            <pc:docMk/>
            <pc:sldMk cId="0" sldId="256"/>
            <ac:spMk id="9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visionarios.com/e-learning/articulos-ia/10-librerias-python-para-data-science-y-machine-learnin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eaborn.pydata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7404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4682304" y="3760921"/>
            <a:ext cx="6316622" cy="1606340"/>
          </a:xfrm>
          <a:prstGeom prst="roundRect">
            <a:avLst>
              <a:gd name="adj" fmla="val 7874"/>
            </a:avLst>
          </a:prstGeom>
          <a:solidFill>
            <a:schemeClr val="dk1">
              <a:alpha val="75686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5137362" y="3702508"/>
            <a:ext cx="5663478" cy="2034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E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E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E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Librerías para Ciencia de Datos</a:t>
            </a:r>
            <a:br>
              <a:rPr lang="es-E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137362" y="3337544"/>
            <a:ext cx="6165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lt1"/>
              </a:buClr>
              <a:buSzPts val="1800"/>
            </a:pPr>
            <a:r>
              <a:rPr lang="es-ES" sz="1800" b="1">
                <a:solidFill>
                  <a:schemeClr val="lt1"/>
                </a:solidFill>
              </a:rPr>
              <a:t> </a:t>
            </a:r>
            <a:r>
              <a:rPr lang="es-E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Obtención y Preparación de Datos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6184980" y="-226019"/>
            <a:ext cx="4557668" cy="5407618"/>
          </a:xfrm>
          <a:prstGeom prst="roundRect">
            <a:avLst>
              <a:gd name="adj" fmla="val 2778"/>
            </a:avLst>
          </a:prstGeom>
          <a:solidFill>
            <a:srgbClr val="98C3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575693" y="556767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6477131" y="2129047"/>
            <a:ext cx="398194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Reconocer librerías en Python para la ciencia de datos.</a:t>
            </a:r>
            <a:endParaRPr/>
          </a:p>
        </p:txBody>
      </p:sp>
      <p:grpSp>
        <p:nvGrpSpPr>
          <p:cNvPr id="100" name="Google Shape;100;p2"/>
          <p:cNvGrpSpPr/>
          <p:nvPr/>
        </p:nvGrpSpPr>
        <p:grpSpPr>
          <a:xfrm>
            <a:off x="1521129" y="1659284"/>
            <a:ext cx="3524500" cy="3720972"/>
            <a:chOff x="1285070" y="0"/>
            <a:chExt cx="3524500" cy="3720972"/>
          </a:xfrm>
        </p:grpSpPr>
        <p:sp>
          <p:nvSpPr>
            <p:cNvPr id="101" name="Google Shape;101;p2"/>
            <p:cNvSpPr/>
            <p:nvPr/>
          </p:nvSpPr>
          <p:spPr>
            <a:xfrm>
              <a:off x="1285070" y="0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8" r="-24998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642092" y="566688"/>
            <a:ext cx="11000014" cy="452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Librerías para la ciencia de datos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45456" y="1320772"/>
            <a:ext cx="10899932" cy="4732325"/>
          </a:xfrm>
          <a:prstGeom prst="roundRect">
            <a:avLst>
              <a:gd name="adj" fmla="val 2971"/>
            </a:avLst>
          </a:prstGeom>
          <a:solidFill>
            <a:srgbClr val="98C3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59807" y="1442753"/>
            <a:ext cx="1047030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librería o biblioteca es un conjunto de funciones implementadas por otro programador que nos facilitan realizar tareas, principalmente porque no debemos volver a programar este código. En esta clase será vital el uso de librerías para poder analizar archivos con información. Algunas librerías utilizadas en el análisis y ciencia de datos: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" name="Google Shape;157;p9">
            <a:extLst>
              <a:ext uri="{FF2B5EF4-FFF2-40B4-BE49-F238E27FC236}">
                <a16:creationId xmlns:a16="http://schemas.microsoft.com/office/drawing/2014/main" id="{4DF63E61-4AE5-193A-EE35-0938CDE08BA5}"/>
              </a:ext>
            </a:extLst>
          </p:cNvPr>
          <p:cNvSpPr/>
          <p:nvPr/>
        </p:nvSpPr>
        <p:spPr>
          <a:xfrm>
            <a:off x="856465" y="2759220"/>
            <a:ext cx="10470710" cy="3099793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,Sans-Serif"/>
              <a:buChar char="•"/>
            </a:pPr>
            <a:endParaRPr lang="es-ES" sz="18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s-ES" sz="18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C2B5C04-D105-C9F5-82C3-DE70AB6139CA}"/>
              </a:ext>
            </a:extLst>
          </p:cNvPr>
          <p:cNvSpPr txBox="1"/>
          <p:nvPr/>
        </p:nvSpPr>
        <p:spPr>
          <a:xfrm>
            <a:off x="968828" y="3026228"/>
            <a:ext cx="10069285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,Sans-Serif"/>
              <a:buChar char="•"/>
            </a:pPr>
            <a:r>
              <a:rPr lang="es-ES" sz="1800">
                <a:latin typeface="Calibri"/>
              </a:rPr>
              <a:t>Numpy</a:t>
            </a:r>
            <a:r>
              <a:rPr lang="en-US" sz="1800">
                <a:latin typeface="Calibri"/>
              </a:rPr>
              <a:t>​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s-ES" sz="1800">
                <a:latin typeface="Calibri"/>
              </a:rPr>
              <a:t>Pandas</a:t>
            </a:r>
            <a:r>
              <a:rPr lang="en-US" sz="1800">
                <a:latin typeface="Calibri"/>
              </a:rPr>
              <a:t>​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s-ES" sz="1800">
                <a:latin typeface="Calibri"/>
              </a:rPr>
              <a:t>Matplotlib</a:t>
            </a:r>
            <a:r>
              <a:rPr lang="en-US" sz="1800">
                <a:latin typeface="Calibri"/>
              </a:rPr>
              <a:t>​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s-ES" sz="1800">
                <a:latin typeface="Calibri"/>
              </a:rPr>
              <a:t>Seaborn</a:t>
            </a:r>
            <a:r>
              <a:rPr lang="en-US" sz="1800">
                <a:latin typeface="Calibri"/>
              </a:rPr>
              <a:t>​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s-ES" sz="1800">
                <a:latin typeface="Calibri"/>
              </a:rPr>
              <a:t>Scikit-learn</a:t>
            </a:r>
            <a:r>
              <a:rPr lang="en-US" sz="1800">
                <a:latin typeface="Calibri"/>
              </a:rPr>
              <a:t>​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s-ES" sz="1800">
                <a:latin typeface="Calibri"/>
              </a:rPr>
              <a:t>Scipy</a:t>
            </a:r>
            <a:r>
              <a:rPr lang="en-US" sz="1800">
                <a:latin typeface="Calibri"/>
              </a:rPr>
              <a:t>​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s-ES" sz="1800">
                <a:latin typeface="Calibri"/>
              </a:rPr>
              <a:t>Statsmodels</a:t>
            </a:r>
            <a:r>
              <a:rPr lang="en-US" sz="1800">
                <a:latin typeface="Calibri"/>
              </a:rPr>
              <a:t>​</a:t>
            </a:r>
          </a:p>
          <a:p>
            <a:pPr algn="just"/>
            <a:r>
              <a:rPr lang="en-US" sz="1800">
                <a:latin typeface="Calibri"/>
              </a:rPr>
              <a:t>​</a:t>
            </a:r>
          </a:p>
          <a:p>
            <a:pPr algn="just"/>
            <a:r>
              <a:rPr lang="es-ES" sz="1600" u="sng">
                <a:solidFill>
                  <a:srgbClr val="404040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https://blogvisionarios.com/e-learning/articulos-ia/10-librerias-python-para-data-science-y-machine-learning/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919676" y="396797"/>
            <a:ext cx="3104117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7;p9">
            <a:extLst>
              <a:ext uri="{FF2B5EF4-FFF2-40B4-BE49-F238E27FC236}">
                <a16:creationId xmlns:a16="http://schemas.microsoft.com/office/drawing/2014/main" id="{CD844EE8-0A07-7D3D-5183-9E57923AD1A0}"/>
              </a:ext>
            </a:extLst>
          </p:cNvPr>
          <p:cNvSpPr/>
          <p:nvPr/>
        </p:nvSpPr>
        <p:spPr>
          <a:xfrm>
            <a:off x="921779" y="1148135"/>
            <a:ext cx="10350968" cy="4983021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,Sans-Serif"/>
              <a:buChar char="•"/>
            </a:pPr>
            <a:endParaRPr lang="es-ES" sz="18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s-ES" sz="18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6" name="Google Shape;116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9390" y="1320382"/>
            <a:ext cx="8537756" cy="42424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3937421-CE23-A2D1-CCE6-2545CE08281D}"/>
              </a:ext>
            </a:extLst>
          </p:cNvPr>
          <p:cNvSpPr txBox="1"/>
          <p:nvPr/>
        </p:nvSpPr>
        <p:spPr>
          <a:xfrm>
            <a:off x="2100943" y="5682343"/>
            <a:ext cx="833845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https://pandas.pydata.org/</a:t>
            </a:r>
            <a:endParaRPr lang="es-ES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7;p9">
            <a:extLst>
              <a:ext uri="{FF2B5EF4-FFF2-40B4-BE49-F238E27FC236}">
                <a16:creationId xmlns:a16="http://schemas.microsoft.com/office/drawing/2014/main" id="{BF61C54D-D521-183D-DAA1-93DDD0B1D6E7}"/>
              </a:ext>
            </a:extLst>
          </p:cNvPr>
          <p:cNvSpPr/>
          <p:nvPr/>
        </p:nvSpPr>
        <p:spPr>
          <a:xfrm>
            <a:off x="921779" y="1180793"/>
            <a:ext cx="10350968" cy="4950363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,Sans-Serif"/>
              <a:buChar char="•"/>
            </a:pPr>
            <a:endParaRPr lang="es-ES" sz="18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s-ES" sz="18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24" name="Google Shape;124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3813" y="1591826"/>
            <a:ext cx="9230260" cy="398427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sp>
        <p:nvSpPr>
          <p:cNvPr id="125" name="Google Shape;125;p5"/>
          <p:cNvSpPr/>
          <p:nvPr/>
        </p:nvSpPr>
        <p:spPr>
          <a:xfrm>
            <a:off x="843585" y="365471"/>
            <a:ext cx="3104117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5600D0-576F-4E80-1059-2D128E1A0336}"/>
              </a:ext>
            </a:extLst>
          </p:cNvPr>
          <p:cNvSpPr txBox="1"/>
          <p:nvPr/>
        </p:nvSpPr>
        <p:spPr>
          <a:xfrm>
            <a:off x="1578429" y="5671457"/>
            <a:ext cx="833845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https://matplotlib.org/</a:t>
            </a:r>
            <a:endParaRPr lang="es-ES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7;p9">
            <a:extLst>
              <a:ext uri="{FF2B5EF4-FFF2-40B4-BE49-F238E27FC236}">
                <a16:creationId xmlns:a16="http://schemas.microsoft.com/office/drawing/2014/main" id="{F4554FD5-69DA-415A-A468-427C28A1F057}"/>
              </a:ext>
            </a:extLst>
          </p:cNvPr>
          <p:cNvSpPr/>
          <p:nvPr/>
        </p:nvSpPr>
        <p:spPr>
          <a:xfrm>
            <a:off x="921779" y="1028392"/>
            <a:ext cx="10350968" cy="5102764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,Sans-Serif"/>
              <a:buChar char="•"/>
            </a:pPr>
            <a:endParaRPr lang="es-ES" sz="18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s-ES" sz="18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1" name="Google Shape;131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17687" y="1321278"/>
            <a:ext cx="9273167" cy="4215680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sp>
        <p:nvSpPr>
          <p:cNvPr id="132" name="Google Shape;132;p6"/>
          <p:cNvSpPr/>
          <p:nvPr/>
        </p:nvSpPr>
        <p:spPr>
          <a:xfrm>
            <a:off x="831887" y="262373"/>
            <a:ext cx="3104117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F75226-6A13-E068-4A4D-7DB802A85CD1}"/>
              </a:ext>
            </a:extLst>
          </p:cNvPr>
          <p:cNvSpPr txBox="1"/>
          <p:nvPr/>
        </p:nvSpPr>
        <p:spPr>
          <a:xfrm>
            <a:off x="1491344" y="5671457"/>
            <a:ext cx="833845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https://seaborn.pydata.org</a:t>
            </a:r>
            <a:endParaRPr lang="es-ES" sz="1600">
              <a:solidFill>
                <a:schemeClr val="tx1">
                  <a:lumMod val="50000"/>
                  <a:lumOff val="50000"/>
                </a:schemeClr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925504" y="340223"/>
            <a:ext cx="3104117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Scikit-learn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7;p9">
            <a:extLst>
              <a:ext uri="{FF2B5EF4-FFF2-40B4-BE49-F238E27FC236}">
                <a16:creationId xmlns:a16="http://schemas.microsoft.com/office/drawing/2014/main" id="{F5FEBBA3-B092-A5ED-566F-6862A8B762EE}"/>
              </a:ext>
            </a:extLst>
          </p:cNvPr>
          <p:cNvSpPr/>
          <p:nvPr/>
        </p:nvSpPr>
        <p:spPr>
          <a:xfrm>
            <a:off x="921779" y="1126363"/>
            <a:ext cx="10350968" cy="5004793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,Sans-Serif"/>
              <a:buChar char="•"/>
            </a:pPr>
            <a:endParaRPr lang="es-ES" sz="18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s-ES" sz="18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F1E082A-4F85-E6A7-BA6A-68DF7B8D9338}"/>
              </a:ext>
            </a:extLst>
          </p:cNvPr>
          <p:cNvSpPr txBox="1"/>
          <p:nvPr/>
        </p:nvSpPr>
        <p:spPr>
          <a:xfrm>
            <a:off x="1491344" y="5671457"/>
            <a:ext cx="833845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https://scikit-learn.org/</a:t>
            </a:r>
          </a:p>
        </p:txBody>
      </p:sp>
      <p:pic>
        <p:nvPicPr>
          <p:cNvPr id="138" name="Google Shape;13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5916" y="1385207"/>
            <a:ext cx="9165228" cy="4090851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2477754" y="2225411"/>
            <a:ext cx="9905604" cy="2696550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288705" y="2589545"/>
            <a:ext cx="2743915" cy="1815882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26378" y="3078265"/>
            <a:ext cx="3614672" cy="3284937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7524409" y="881369"/>
            <a:ext cx="424094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Paquetes en Python</a:t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7214961" y="2419524"/>
            <a:ext cx="4197632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E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Módulos</a:t>
            </a:r>
            <a:r>
              <a:rPr lang="es-ES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Para facilitar la gestión de programas grandes, el software se divide en trozos más pequeños. Contiene funciones.</a:t>
            </a:r>
            <a:endParaRPr/>
          </a:p>
          <a:p>
            <a:pPr marL="285750" marR="0" lvl="0" indent="-184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E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Subpaquetes</a:t>
            </a:r>
            <a:r>
              <a:rPr lang="es-ES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Contiene módulos agrupados por tipo.</a:t>
            </a:r>
            <a:endParaRPr/>
          </a:p>
          <a:p>
            <a:pPr marL="285750" marR="0" lvl="0" indent="-184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E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Paquetes/Librerías</a:t>
            </a:r>
            <a:r>
              <a:rPr lang="es-ES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Contiene cientos de módulos organizados en jerarquías.</a:t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426378" y="515053"/>
            <a:ext cx="3614672" cy="233770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8" descr="Form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9469" y="3123826"/>
            <a:ext cx="252730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 descr="Imagen que contiene Logotip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18" y="3000000"/>
            <a:ext cx="1930453" cy="705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0457" y="692175"/>
            <a:ext cx="2763383" cy="2046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1074179" y="3836906"/>
            <a:ext cx="9806681" cy="2000337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-252550" y="1317876"/>
            <a:ext cx="11142695" cy="2147561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967712" y="423499"/>
            <a:ext cx="6217073" cy="56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Librerías de Python</a:t>
            </a:r>
            <a:endParaRPr/>
          </a:p>
        </p:txBody>
      </p:sp>
      <p:sp>
        <p:nvSpPr>
          <p:cNvPr id="160" name="Google Shape;160;p9"/>
          <p:cNvSpPr txBox="1"/>
          <p:nvPr/>
        </p:nvSpPr>
        <p:spPr>
          <a:xfrm>
            <a:off x="1074178" y="1318147"/>
            <a:ext cx="9532938" cy="1891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Sintaxis: 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r>
              <a:rPr lang="es-E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nombre_librería </a:t>
            </a:r>
            <a:r>
              <a:rPr lang="es-E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lang="es-E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abreviación estándar.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s-E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nombre_librería.sublibrería</a:t>
            </a:r>
            <a:r>
              <a:rPr lang="es-E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import </a:t>
            </a:r>
            <a:r>
              <a:rPr lang="es-E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sublibrería.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s-E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nombre_librería.sublibrería.módulo </a:t>
            </a:r>
            <a:r>
              <a:rPr lang="es-E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r>
              <a:rPr lang="es-E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módulo </a:t>
            </a:r>
            <a:r>
              <a:rPr lang="es-E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lang="es-E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abreviación estándar.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9" descr="Interfaz de usuario gráfica, Texto, Aplicación, Correo electrónic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r="18515"/>
          <a:stretch/>
        </p:blipFill>
        <p:spPr>
          <a:xfrm>
            <a:off x="3447478" y="3989349"/>
            <a:ext cx="5064651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/>
          <p:nvPr/>
        </p:nvSpPr>
        <p:spPr>
          <a:xfrm>
            <a:off x="-236224" y="1393165"/>
            <a:ext cx="7797772" cy="4153714"/>
          </a:xfrm>
          <a:prstGeom prst="roundRect">
            <a:avLst>
              <a:gd name="adj" fmla="val 2971"/>
            </a:avLst>
          </a:prstGeom>
          <a:solidFill>
            <a:srgbClr val="98C3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0;p10">
            <a:extLst>
              <a:ext uri="{FF2B5EF4-FFF2-40B4-BE49-F238E27FC236}">
                <a16:creationId xmlns:a16="http://schemas.microsoft.com/office/drawing/2014/main" id="{D696518D-9787-208D-45A9-DE9432B1BB4B}"/>
              </a:ext>
            </a:extLst>
          </p:cNvPr>
          <p:cNvSpPr/>
          <p:nvPr/>
        </p:nvSpPr>
        <p:spPr>
          <a:xfrm>
            <a:off x="285050" y="1948335"/>
            <a:ext cx="7095899" cy="3444429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754454" y="231235"/>
            <a:ext cx="918432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Librerías de Python</a:t>
            </a:r>
            <a:endParaRPr/>
          </a:p>
        </p:txBody>
      </p:sp>
      <p:sp>
        <p:nvSpPr>
          <p:cNvPr id="168" name="Google Shape;168;p10"/>
          <p:cNvSpPr txBox="1"/>
          <p:nvPr/>
        </p:nvSpPr>
        <p:spPr>
          <a:xfrm>
            <a:off x="689421" y="1391433"/>
            <a:ext cx="638145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s-E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nombre_librería.sublibrería.módulo </a:t>
            </a:r>
            <a:r>
              <a:rPr lang="es-E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r>
              <a:rPr lang="es-E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función</a:t>
            </a:r>
            <a:endParaRPr/>
          </a:p>
        </p:txBody>
      </p:sp>
      <p:pic>
        <p:nvPicPr>
          <p:cNvPr id="169" name="Google Shape;16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9773" y="1571350"/>
            <a:ext cx="289524" cy="28952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/>
          <p:nvPr/>
        </p:nvSpPr>
        <p:spPr>
          <a:xfrm>
            <a:off x="7894164" y="1393164"/>
            <a:ext cx="3057300" cy="4162885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607" y="2279644"/>
            <a:ext cx="4515347" cy="376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04908" y="3003250"/>
            <a:ext cx="2671316" cy="201658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0"/>
          <p:cNvSpPr txBox="1"/>
          <p:nvPr/>
        </p:nvSpPr>
        <p:spPr>
          <a:xfrm>
            <a:off x="692103" y="3005074"/>
            <a:ext cx="121033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s-ES" sz="18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Jerarquía</a:t>
            </a:r>
            <a:r>
              <a:rPr lang="es-ES" sz="16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600" b="1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0" descr="Forma&#10;&#10;Descripción generada automáticament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40764" y="1884927"/>
            <a:ext cx="25273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/>
          <p:nvPr/>
        </p:nvSpPr>
        <p:spPr>
          <a:xfrm>
            <a:off x="-480675" y="3057040"/>
            <a:ext cx="7695951" cy="1045333"/>
          </a:xfrm>
          <a:prstGeom prst="roundRect">
            <a:avLst>
              <a:gd name="adj" fmla="val 9640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2768633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Presentación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Panorámica</PresentationFormat>
  <Paragraphs>44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  Librerías para Ciencia de Datos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Librerías para Ciencia de Datos </dc:title>
  <dc:creator>Kibernum</dc:creator>
  <cp:lastModifiedBy>Diseño ITA</cp:lastModifiedBy>
  <cp:revision>111</cp:revision>
  <dcterms:created xsi:type="dcterms:W3CDTF">2023-01-03T12:28:26Z</dcterms:created>
  <dcterms:modified xsi:type="dcterms:W3CDTF">2025-10-06T15:51:40Z</dcterms:modified>
</cp:coreProperties>
</file>