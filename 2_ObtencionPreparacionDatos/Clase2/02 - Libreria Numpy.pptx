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5"/>
  </p:notesMasterIdLst>
  <p:sldIdLst>
    <p:sldId id="562" r:id="rId5"/>
    <p:sldId id="269" r:id="rId6"/>
    <p:sldId id="620" r:id="rId7"/>
    <p:sldId id="595" r:id="rId8"/>
    <p:sldId id="643" r:id="rId9"/>
    <p:sldId id="641" r:id="rId10"/>
    <p:sldId id="644" r:id="rId11"/>
    <p:sldId id="645" r:id="rId12"/>
    <p:sldId id="646" r:id="rId13"/>
    <p:sldId id="647" r:id="rId14"/>
    <p:sldId id="648" r:id="rId15"/>
    <p:sldId id="649" r:id="rId16"/>
    <p:sldId id="650" r:id="rId17"/>
    <p:sldId id="654" r:id="rId18"/>
    <p:sldId id="653" r:id="rId19"/>
    <p:sldId id="651" r:id="rId20"/>
    <p:sldId id="679" r:id="rId21"/>
    <p:sldId id="655" r:id="rId22"/>
    <p:sldId id="656" r:id="rId23"/>
    <p:sldId id="657" r:id="rId24"/>
    <p:sldId id="658" r:id="rId25"/>
    <p:sldId id="659" r:id="rId26"/>
    <p:sldId id="660" r:id="rId27"/>
    <p:sldId id="661" r:id="rId28"/>
    <p:sldId id="662" r:id="rId29"/>
    <p:sldId id="663" r:id="rId30"/>
    <p:sldId id="664" r:id="rId31"/>
    <p:sldId id="665" r:id="rId32"/>
    <p:sldId id="666" r:id="rId33"/>
    <p:sldId id="667" r:id="rId34"/>
    <p:sldId id="668" r:id="rId35"/>
    <p:sldId id="669" r:id="rId36"/>
    <p:sldId id="670" r:id="rId37"/>
    <p:sldId id="671" r:id="rId38"/>
    <p:sldId id="672" r:id="rId39"/>
    <p:sldId id="673" r:id="rId40"/>
    <p:sldId id="674" r:id="rId41"/>
    <p:sldId id="675" r:id="rId42"/>
    <p:sldId id="677" r:id="rId43"/>
    <p:sldId id="676" r:id="rId44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C340"/>
    <a:srgbClr val="078CAE"/>
    <a:srgbClr val="FD0075"/>
    <a:srgbClr val="F6A120"/>
    <a:srgbClr val="000000"/>
    <a:srgbClr val="4E7FDE"/>
    <a:srgbClr val="006BCE"/>
    <a:srgbClr val="F8D6D9"/>
    <a:srgbClr val="8AD3DD"/>
    <a:srgbClr val="89D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23DFF3-E4C0-7F1A-61BE-38850B41703E}" v="2" dt="2025-10-06T15:52:01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4A23DFF3-E4C0-7F1A-61BE-38850B41703E}"/>
    <pc:docChg chg="modSld">
      <pc:chgData name="Soraya Salazar" userId="S::soraya.salazar@kibernumacademy.com::fdf00a5c-f577-43dc-8064-9968cad83607" providerId="AD" clId="Web-{4A23DFF3-E4C0-7F1A-61BE-38850B41703E}" dt="2025-10-06T15:52:01.196" v="0" actId="20577"/>
      <pc:docMkLst>
        <pc:docMk/>
      </pc:docMkLst>
      <pc:sldChg chg="modSp">
        <pc:chgData name="Soraya Salazar" userId="S::soraya.salazar@kibernumacademy.com::fdf00a5c-f577-43dc-8064-9968cad83607" providerId="AD" clId="Web-{4A23DFF3-E4C0-7F1A-61BE-38850B41703E}" dt="2025-10-06T15:52:01.196" v="0" actId="20577"/>
        <pc:sldMkLst>
          <pc:docMk/>
          <pc:sldMk cId="1998777028" sldId="562"/>
        </pc:sldMkLst>
        <pc:spChg chg="mod">
          <ac:chgData name="Soraya Salazar" userId="S::soraya.salazar@kibernumacademy.com::fdf00a5c-f577-43dc-8064-9968cad83607" providerId="AD" clId="Web-{4A23DFF3-E4C0-7F1A-61BE-38850B41703E}" dt="2025-10-06T15:52:01.196" v="0" actId="20577"/>
          <ac:spMkLst>
            <pc:docMk/>
            <pc:sldMk cId="1998777028" sldId="562"/>
            <ac:spMk id="6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86C9B3-8CA1-4316-B2A8-C2AB3E5202A1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ACF776B3-81F4-49B8-996C-E0E8971CB28A}">
      <dgm:prSet phldrT="[Texto]" phldr="1"/>
      <dgm:spPr/>
      <dgm:t>
        <a:bodyPr/>
        <a:lstStyle/>
        <a:p>
          <a:endParaRPr lang="es-CL" dirty="0"/>
        </a:p>
      </dgm:t>
    </dgm:pt>
    <dgm:pt modelId="{41C4E4EE-2324-4FF1-BA78-4882005C9586}" type="sibTrans" cxnId="{5A64C6AC-4807-4DC4-9F2C-89D66A8AD3CD}">
      <dgm:prSet/>
      <dgm:spPr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es-CL"/>
        </a:p>
      </dgm:t>
    </dgm:pt>
    <dgm:pt modelId="{5FCC59EC-C1F9-4CEA-A4DE-8BD900E35E09}" type="parTrans" cxnId="{5A64C6AC-4807-4DC4-9F2C-89D66A8AD3CD}">
      <dgm:prSet/>
      <dgm:spPr/>
      <dgm:t>
        <a:bodyPr/>
        <a:lstStyle/>
        <a:p>
          <a:endParaRPr lang="es-CL"/>
        </a:p>
      </dgm:t>
    </dgm:pt>
    <dgm:pt modelId="{79CAE2F2-FABA-47D8-982E-5CB4A395EF22}" type="pres">
      <dgm:prSet presAssocID="{BD86C9B3-8CA1-4316-B2A8-C2AB3E5202A1}" presName="Name0" presStyleCnt="0">
        <dgm:presLayoutVars>
          <dgm:chMax val="7"/>
          <dgm:chPref val="7"/>
          <dgm:dir/>
        </dgm:presLayoutVars>
      </dgm:prSet>
      <dgm:spPr/>
    </dgm:pt>
    <dgm:pt modelId="{013A5190-13DA-4A06-B419-25DE0FAB7E44}" type="pres">
      <dgm:prSet presAssocID="{BD86C9B3-8CA1-4316-B2A8-C2AB3E5202A1}" presName="Name1" presStyleCnt="0"/>
      <dgm:spPr/>
    </dgm:pt>
    <dgm:pt modelId="{8D925382-CBF4-430D-82BE-B8BB91879A49}" type="pres">
      <dgm:prSet presAssocID="{41C4E4EE-2324-4FF1-BA78-4882005C9586}" presName="picture_1" presStyleCnt="0"/>
      <dgm:spPr/>
    </dgm:pt>
    <dgm:pt modelId="{CE843430-6A5D-49F2-8E4D-AF5FF0C06A1E}" type="pres">
      <dgm:prSet presAssocID="{41C4E4EE-2324-4FF1-BA78-4882005C9586}" presName="pictureRepeatNode" presStyleLbl="alignImgPlace1" presStyleIdx="0" presStyleCnt="1" custScaleX="133164" custScaleY="133164" custLinFactNeighborX="6581" custLinFactNeighborY="-8401"/>
      <dgm:spPr/>
    </dgm:pt>
    <dgm:pt modelId="{4D1A0FA8-12E9-4E0B-B90F-BFECD1796557}" type="pres">
      <dgm:prSet presAssocID="{ACF776B3-81F4-49B8-996C-E0E8971CB28A}" presName="text_1" presStyleLbl="node1" presStyleIdx="0" presStyleCnt="0" custFlipHor="1" custScaleX="5764" custScaleY="23463" custLinFactY="76911" custLinFactNeighborX="48144" custLinFactNeighborY="100000">
        <dgm:presLayoutVars>
          <dgm:bulletEnabled val="1"/>
        </dgm:presLayoutVars>
      </dgm:prSet>
      <dgm:spPr/>
    </dgm:pt>
  </dgm:ptLst>
  <dgm:cxnLst>
    <dgm:cxn modelId="{5B738359-CF87-4D17-AA4D-AA83AFE3F907}" type="presOf" srcId="{41C4E4EE-2324-4FF1-BA78-4882005C9586}" destId="{CE843430-6A5D-49F2-8E4D-AF5FF0C06A1E}" srcOrd="0" destOrd="0" presId="urn:microsoft.com/office/officeart/2008/layout/CircularPictureCallout"/>
    <dgm:cxn modelId="{657E2791-CA4B-40FB-90BF-78812BF2A593}" type="presOf" srcId="{BD86C9B3-8CA1-4316-B2A8-C2AB3E5202A1}" destId="{79CAE2F2-FABA-47D8-982E-5CB4A395EF22}" srcOrd="0" destOrd="0" presId="urn:microsoft.com/office/officeart/2008/layout/CircularPictureCallout"/>
    <dgm:cxn modelId="{5A64C6AC-4807-4DC4-9F2C-89D66A8AD3CD}" srcId="{BD86C9B3-8CA1-4316-B2A8-C2AB3E5202A1}" destId="{ACF776B3-81F4-49B8-996C-E0E8971CB28A}" srcOrd="0" destOrd="0" parTransId="{5FCC59EC-C1F9-4CEA-A4DE-8BD900E35E09}" sibTransId="{41C4E4EE-2324-4FF1-BA78-4882005C9586}"/>
    <dgm:cxn modelId="{13E97CFA-3B17-4F06-A16C-1BAE7169EB0A}" type="presOf" srcId="{ACF776B3-81F4-49B8-996C-E0E8971CB28A}" destId="{4D1A0FA8-12E9-4E0B-B90F-BFECD1796557}" srcOrd="0" destOrd="0" presId="urn:microsoft.com/office/officeart/2008/layout/CircularPictureCallout"/>
    <dgm:cxn modelId="{D705EB29-DDF4-4415-9FE9-BC5F828FF238}" type="presParOf" srcId="{79CAE2F2-FABA-47D8-982E-5CB4A395EF22}" destId="{013A5190-13DA-4A06-B419-25DE0FAB7E44}" srcOrd="0" destOrd="0" presId="urn:microsoft.com/office/officeart/2008/layout/CircularPictureCallout"/>
    <dgm:cxn modelId="{1F943456-73C0-4688-ADD0-958A0DE02B92}" type="presParOf" srcId="{013A5190-13DA-4A06-B419-25DE0FAB7E44}" destId="{8D925382-CBF4-430D-82BE-B8BB91879A49}" srcOrd="0" destOrd="0" presId="urn:microsoft.com/office/officeart/2008/layout/CircularPictureCallout"/>
    <dgm:cxn modelId="{29D11D95-0058-49A1-964D-AFA35907B414}" type="presParOf" srcId="{8D925382-CBF4-430D-82BE-B8BB91879A49}" destId="{CE843430-6A5D-49F2-8E4D-AF5FF0C06A1E}" srcOrd="0" destOrd="0" presId="urn:microsoft.com/office/officeart/2008/layout/CircularPictureCallout"/>
    <dgm:cxn modelId="{6BC5FF22-5F5A-4683-BE56-58E9A0F6C169}" type="presParOf" srcId="{013A5190-13DA-4A06-B419-25DE0FAB7E44}" destId="{4D1A0FA8-12E9-4E0B-B90F-BFECD1796557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43430-6A5D-49F2-8E4D-AF5FF0C06A1E}">
      <dsp:nvSpPr>
        <dsp:cNvPr id="0" name=""/>
        <dsp:cNvSpPr/>
      </dsp:nvSpPr>
      <dsp:spPr>
        <a:xfrm>
          <a:off x="1058668" y="0"/>
          <a:ext cx="3524500" cy="3524500"/>
        </a:xfrm>
        <a:prstGeom prst="ellipse">
          <a:avLst/>
        </a:prstGeom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A0FA8-12E9-4E0B-B90F-BFECD1796557}">
      <dsp:nvSpPr>
        <dsp:cNvPr id="0" name=""/>
        <dsp:cNvSpPr/>
      </dsp:nvSpPr>
      <dsp:spPr>
        <a:xfrm flipH="1">
          <a:off x="3413435" y="3516041"/>
          <a:ext cx="97637" cy="20493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dirty="0"/>
        </a:p>
      </dsp:txBody>
      <dsp:txXfrm>
        <a:off x="3413435" y="3516041"/>
        <a:ext cx="97637" cy="2049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scipy.org/doc/numpy-1.13.0/reference/routines.math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conjunto de letras negras en un fondo blanco&#10;&#10;Descripción generada automáticamente con confianza media">
            <a:extLst>
              <a:ext uri="{FF2B5EF4-FFF2-40B4-BE49-F238E27FC236}">
                <a16:creationId xmlns:a16="http://schemas.microsoft.com/office/drawing/2014/main" id="{9FA377E9-2A3C-2DD3-1009-FBBB0854E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7762"/>
          </a:xfrm>
          <a:prstGeom prst="rect">
            <a:avLst/>
          </a:prstGeom>
        </p:spPr>
      </p:pic>
      <p:sp>
        <p:nvSpPr>
          <p:cNvPr id="5" name="Rectangle: Rounded Corners 22"/>
          <p:cNvSpPr/>
          <p:nvPr/>
        </p:nvSpPr>
        <p:spPr>
          <a:xfrm>
            <a:off x="3709852" y="3819734"/>
            <a:ext cx="7376160" cy="1872875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/>
          <a:p>
            <a:pPr algn="ctr">
              <a:defRPr/>
            </a:pPr>
            <a:endParaRPr lang="en-US" sz="2800" b="1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488906" y="4315747"/>
            <a:ext cx="7150100" cy="1236618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s-CL" sz="5000" b="1" dirty="0">
                <a:solidFill>
                  <a:schemeClr val="bg1"/>
                </a:solidFill>
                <a:latin typeface="Source Sans Pro" panose="020B0503030403020204" pitchFamily="34" charset="0"/>
              </a:rPr>
            </a:br>
            <a:br>
              <a:rPr lang="es-CL" sz="1600" dirty="0">
                <a:solidFill>
                  <a:schemeClr val="bg1"/>
                </a:solidFill>
                <a:latin typeface="Source Sans Pro Light" panose="020B0403030403020204" pitchFamily="34" charset="0"/>
              </a:rPr>
            </a:br>
            <a:br>
              <a:rPr lang="es-CL" sz="1600" b="1" dirty="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s-CL" sz="5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Librería </a:t>
            </a:r>
            <a:r>
              <a:rPr lang="es-CL" sz="5000" b="1" dirty="0" err="1">
                <a:solidFill>
                  <a:schemeClr val="bg1"/>
                </a:solidFill>
                <a:latin typeface="Source Sans Pro" panose="020B0503030403020204" pitchFamily="34" charset="0"/>
              </a:rPr>
              <a:t>NumPy</a:t>
            </a:r>
            <a:br>
              <a:rPr lang="es-ES" sz="5000" b="1" dirty="0">
                <a:solidFill>
                  <a:schemeClr val="bg1"/>
                </a:solidFill>
                <a:latin typeface="Source Sans Pro" panose="020B0503030403020204" pitchFamily="34" charset="0"/>
              </a:rPr>
            </a:br>
            <a:endParaRPr lang="es-ES_tradnl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Google Shape;92;p1"/>
          <p:cNvSpPr txBox="1"/>
          <p:nvPr/>
        </p:nvSpPr>
        <p:spPr>
          <a:xfrm>
            <a:off x="4469424" y="3426402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Obtención y Preparación de Datos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redondeado 15"/>
          <p:cNvSpPr/>
          <p:nvPr/>
        </p:nvSpPr>
        <p:spPr>
          <a:xfrm>
            <a:off x="5826034" y="-224658"/>
            <a:ext cx="5059680" cy="5419858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Título 1"/>
          <p:cNvSpPr txBox="1">
            <a:spLocks/>
          </p:cNvSpPr>
          <p:nvPr/>
        </p:nvSpPr>
        <p:spPr bwMode="auto">
          <a:xfrm>
            <a:off x="384310" y="469681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041289" y="1659283"/>
            <a:ext cx="4633243" cy="3269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s-ES" sz="2000" dirty="0">
                <a:latin typeface="+mn-lt"/>
                <a:ea typeface="Open Sans" pitchFamily="2" charset="0"/>
                <a:cs typeface="Open Sans" pitchFamily="2" charset="0"/>
              </a:rPr>
              <a:t>Creación de arreglos </a:t>
            </a:r>
            <a:r>
              <a:rPr lang="es-ES" sz="2000" dirty="0" err="1">
                <a:latin typeface="+mn-lt"/>
                <a:ea typeface="Open Sans" pitchFamily="2" charset="0"/>
                <a:cs typeface="Open Sans" pitchFamily="2" charset="0"/>
              </a:rPr>
              <a:t>NumPy</a:t>
            </a:r>
            <a:r>
              <a:rPr lang="es-ES" sz="2000" dirty="0">
                <a:latin typeface="+mn-lt"/>
                <a:ea typeface="Open Sans" pitchFamily="2" charset="0"/>
                <a:cs typeface="Open Sans" pitchFamily="2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s-ES" sz="2000" dirty="0">
                <a:latin typeface="+mn-lt"/>
                <a:ea typeface="Open Sans" pitchFamily="2" charset="0"/>
                <a:cs typeface="Open Sans" pitchFamily="2" charset="0"/>
              </a:rPr>
              <a:t>Funciones preconstruidas de creación.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s-ES" sz="2000" dirty="0">
                <a:latin typeface="+mn-lt"/>
                <a:ea typeface="Open Sans" pitchFamily="2" charset="0"/>
                <a:cs typeface="Open Sans" pitchFamily="2" charset="0"/>
              </a:rPr>
              <a:t>Métodos útiles de arreglos.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s-ES" sz="2000" dirty="0">
                <a:latin typeface="+mn-lt"/>
                <a:ea typeface="Open Sans" pitchFamily="2" charset="0"/>
                <a:cs typeface="Open Sans" pitchFamily="2" charset="0"/>
              </a:rPr>
              <a:t>Indexación y selección.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s-ES" sz="2000" dirty="0">
                <a:latin typeface="+mn-lt"/>
                <a:ea typeface="Open Sans" pitchFamily="2" charset="0"/>
                <a:cs typeface="Open Sans" pitchFamily="2" charset="0"/>
              </a:rPr>
              <a:t>Referencia y copia de un arreglo.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s-ES" sz="2000" dirty="0">
                <a:latin typeface="+mn-lt"/>
                <a:ea typeface="Open Sans" pitchFamily="2" charset="0"/>
                <a:cs typeface="Open Sans" pitchFamily="2" charset="0"/>
              </a:rPr>
              <a:t>Operaciones entre arreglos.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s-ES" sz="2000" dirty="0">
                <a:latin typeface="+mn-lt"/>
                <a:ea typeface="Open Sans" pitchFamily="2" charset="0"/>
                <a:cs typeface="Open Sans" pitchFamily="2" charset="0"/>
              </a:rPr>
              <a:t>Constantes y funciones matemáticas.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6DA5601-9A99-7640-C9D2-BA554A55B6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062905"/>
              </p:ext>
            </p:extLst>
          </p:nvPr>
        </p:nvGraphicFramePr>
        <p:xfrm>
          <a:off x="236059" y="1659284"/>
          <a:ext cx="5293474" cy="3720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002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677A94B-74A0-AD3E-138B-AA88C021F95C}"/>
              </a:ext>
            </a:extLst>
          </p:cNvPr>
          <p:cNvSpPr txBox="1">
            <a:spLocks/>
          </p:cNvSpPr>
          <p:nvPr/>
        </p:nvSpPr>
        <p:spPr bwMode="auto">
          <a:xfrm>
            <a:off x="669471" y="420230"/>
            <a:ext cx="11402785" cy="67060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</a:rPr>
              <a:t>Librería </a:t>
            </a:r>
            <a:r>
              <a:rPr lang="es-ES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</a:rPr>
              <a:t>NumPy</a:t>
            </a:r>
            <a:endParaRPr lang="es-ES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Source Sans Pro"/>
              <a:cs typeface="Arial" panose="020B0604020202020204" pitchFamily="34" charset="0"/>
            </a:endParaRPr>
          </a:p>
        </p:txBody>
      </p:sp>
      <p:sp>
        <p:nvSpPr>
          <p:cNvPr id="8" name="Rectángulo redondeado 1">
            <a:extLst>
              <a:ext uri="{FF2B5EF4-FFF2-40B4-BE49-F238E27FC236}">
                <a16:creationId xmlns:a16="http://schemas.microsoft.com/office/drawing/2014/main" id="{A6315181-2D0E-003B-95C0-AA145F98197D}"/>
              </a:ext>
            </a:extLst>
          </p:cNvPr>
          <p:cNvSpPr/>
          <p:nvPr/>
        </p:nvSpPr>
        <p:spPr>
          <a:xfrm>
            <a:off x="-349624" y="1319435"/>
            <a:ext cx="11814395" cy="496824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021038-3A3F-A6E8-7D65-AB87D3F25CA0}"/>
              </a:ext>
            </a:extLst>
          </p:cNvPr>
          <p:cNvSpPr txBox="1"/>
          <p:nvPr/>
        </p:nvSpPr>
        <p:spPr>
          <a:xfrm>
            <a:off x="674750" y="1448843"/>
            <a:ext cx="10326353" cy="470898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+mn-lt"/>
              </a:rPr>
              <a:t>Es una Librería de Álgebra Lineal para 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+mn-lt"/>
              </a:rPr>
              <a:t>La mayoría de las librerías de Ciencia de Datos utiliza esta librería como base, de ahí su importancia.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+mn-lt"/>
              </a:rPr>
              <a:t>Es una librería increíblemente rápida, utiliza 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+mn-lt"/>
              </a:rPr>
              <a:t>La distribución Anaconda la trae incluida.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 err="1">
                <a:solidFill>
                  <a:schemeClr val="bg1"/>
                </a:solidFill>
                <a:latin typeface="+mn-lt"/>
              </a:rPr>
              <a:t>Numpy</a:t>
            </a:r>
            <a:r>
              <a:rPr lang="es-ES" sz="2000" dirty="0">
                <a:solidFill>
                  <a:schemeClr val="bg1"/>
                </a:solidFill>
                <a:latin typeface="+mn-lt"/>
              </a:rPr>
              <a:t> es una de las más usadas librerías de ciencia de datos en 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+mn-lt"/>
              </a:rPr>
              <a:t>La interfaz de vectores y matrices es la mejor y más importante característica de </a:t>
            </a:r>
            <a:r>
              <a:rPr lang="es-ES" sz="2000" dirty="0" err="1">
                <a:solidFill>
                  <a:schemeClr val="bg1"/>
                </a:solidFill>
                <a:latin typeface="+mn-lt"/>
              </a:rPr>
              <a:t>Numpy</a:t>
            </a:r>
            <a:r>
              <a:rPr lang="es-ES" sz="2000" dirty="0">
                <a:solidFill>
                  <a:schemeClr val="bg1"/>
                </a:solidFill>
                <a:latin typeface="+mn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+mn-lt"/>
              </a:rPr>
              <a:t>Pandas, </a:t>
            </a:r>
            <a:r>
              <a:rPr lang="es-ES" sz="2000" dirty="0" err="1">
                <a:solidFill>
                  <a:schemeClr val="bg1"/>
                </a:solidFill>
                <a:latin typeface="+mn-lt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+mn-lt"/>
              </a:rPr>
              <a:t> y otras librerías usan </a:t>
            </a:r>
            <a:r>
              <a:rPr lang="es-ES" sz="2000" dirty="0" err="1">
                <a:solidFill>
                  <a:schemeClr val="bg1"/>
                </a:solidFill>
                <a:latin typeface="+mn-lt"/>
              </a:rPr>
              <a:t>NumPy</a:t>
            </a:r>
            <a:r>
              <a:rPr lang="es-ES" sz="2000" dirty="0">
                <a:solidFill>
                  <a:schemeClr val="bg1"/>
                </a:solidFill>
                <a:latin typeface="+mn-lt"/>
              </a:rPr>
              <a:t> internamente para ejecutar distintas operaciones.</a:t>
            </a:r>
            <a:endParaRPr lang="es-ES" sz="20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426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5776124" y="2475742"/>
            <a:ext cx="6639890" cy="1800875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500128" y="1732103"/>
            <a:ext cx="5491891" cy="3393794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6335486" y="1712868"/>
            <a:ext cx="5859099" cy="56174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Arreglos </a:t>
            </a:r>
            <a:r>
              <a:rPr lang="es-MX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6259286" y="2714644"/>
            <a:ext cx="5599611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  <a:latin typeface="Calibri"/>
                <a:cs typeface="Calibri"/>
              </a:rPr>
              <a:t>Los arreglos pueden almacenar datos de forma muy compacta y son más eficientes para almacenar una gran cantidad de datos. Son excelentes para operaciones numéricas.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312C055F-191E-AD6E-586F-48EA9238592D}"/>
              </a:ext>
            </a:extLst>
          </p:cNvPr>
          <p:cNvGrpSpPr/>
          <p:nvPr/>
        </p:nvGrpSpPr>
        <p:grpSpPr>
          <a:xfrm>
            <a:off x="500128" y="2124871"/>
            <a:ext cx="5164869" cy="2724077"/>
            <a:chOff x="3410190" y="2570347"/>
            <a:chExt cx="5164869" cy="2724077"/>
          </a:xfrm>
        </p:grpSpPr>
        <p:sp>
          <p:nvSpPr>
            <p:cNvPr id="25" name="Google Shape;118;g221ec631c08_0_0">
              <a:extLst>
                <a:ext uri="{FF2B5EF4-FFF2-40B4-BE49-F238E27FC236}">
                  <a16:creationId xmlns:a16="http://schemas.microsoft.com/office/drawing/2014/main" id="{74E96C2A-52E2-3ED5-C79B-E21FE8EB36BB}"/>
                </a:ext>
              </a:extLst>
            </p:cNvPr>
            <p:cNvSpPr txBox="1"/>
            <p:nvPr/>
          </p:nvSpPr>
          <p:spPr>
            <a:xfrm>
              <a:off x="3410190" y="3258171"/>
              <a:ext cx="18723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33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  <a:ea typeface="Twentieth Century"/>
                  <a:cs typeface="Twentieth Century"/>
                  <a:sym typeface="Twentieth Century"/>
                </a:rPr>
                <a:t>Arreglo </a:t>
              </a:r>
              <a:r>
                <a:rPr lang="es-CL" sz="3300" b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  <a:ea typeface="Twentieth Century"/>
                  <a:cs typeface="Twentieth Century"/>
                  <a:sym typeface="Twentieth Century"/>
                </a:rPr>
                <a:t>NumPy</a:t>
              </a:r>
              <a:endPara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Twentieth Century"/>
                <a:cs typeface="Twentieth Century"/>
                <a:sym typeface="Twentieth Century"/>
              </a:endParaRPr>
            </a:p>
          </p:txBody>
        </p:sp>
        <p:cxnSp>
          <p:nvCxnSpPr>
            <p:cNvPr id="26" name="Google Shape;119;g221ec631c08_0_0">
              <a:extLst>
                <a:ext uri="{FF2B5EF4-FFF2-40B4-BE49-F238E27FC236}">
                  <a16:creationId xmlns:a16="http://schemas.microsoft.com/office/drawing/2014/main" id="{9E943814-9EE3-6A6C-E9AE-F294366BB3E0}"/>
                </a:ext>
              </a:extLst>
            </p:cNvPr>
            <p:cNvCxnSpPr/>
            <p:nvPr/>
          </p:nvCxnSpPr>
          <p:spPr>
            <a:xfrm rot="10800000" flipH="1">
              <a:off x="5282398" y="2832025"/>
              <a:ext cx="1107600" cy="821700"/>
            </a:xfrm>
            <a:prstGeom prst="straightConnector1">
              <a:avLst/>
            </a:prstGeom>
            <a:noFill/>
            <a:ln w="9525" cap="flat" cmpd="sng">
              <a:solidFill>
                <a:schemeClr val="accent6">
                  <a:lumMod val="75000"/>
                </a:schemeClr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" name="Google Shape;120;g221ec631c08_0_0">
              <a:extLst>
                <a:ext uri="{FF2B5EF4-FFF2-40B4-BE49-F238E27FC236}">
                  <a16:creationId xmlns:a16="http://schemas.microsoft.com/office/drawing/2014/main" id="{C75B1E34-3FC7-8D37-FC54-2B937EEB612A}"/>
                </a:ext>
              </a:extLst>
            </p:cNvPr>
            <p:cNvCxnSpPr/>
            <p:nvPr/>
          </p:nvCxnSpPr>
          <p:spPr>
            <a:xfrm>
              <a:off x="5282398" y="4083970"/>
              <a:ext cx="1107600" cy="764100"/>
            </a:xfrm>
            <a:prstGeom prst="straightConnector1">
              <a:avLst/>
            </a:prstGeom>
            <a:noFill/>
            <a:ln w="9525" cap="flat" cmpd="sng">
              <a:solidFill>
                <a:schemeClr val="accent6">
                  <a:lumMod val="75000"/>
                </a:schemeClr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8" name="Google Shape;121;g221ec631c08_0_0">
              <a:extLst>
                <a:ext uri="{FF2B5EF4-FFF2-40B4-BE49-F238E27FC236}">
                  <a16:creationId xmlns:a16="http://schemas.microsoft.com/office/drawing/2014/main" id="{39A2DEB4-E372-B873-D795-DA53D1E69546}"/>
                </a:ext>
              </a:extLst>
            </p:cNvPr>
            <p:cNvSpPr txBox="1"/>
            <p:nvPr/>
          </p:nvSpPr>
          <p:spPr>
            <a:xfrm>
              <a:off x="6533995" y="2570347"/>
              <a:ext cx="1445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Vectores</a:t>
              </a:r>
              <a:endParaRPr dirty="0"/>
            </a:p>
          </p:txBody>
        </p:sp>
        <p:sp>
          <p:nvSpPr>
            <p:cNvPr id="29" name="Google Shape;122;g221ec631c08_0_0">
              <a:extLst>
                <a:ext uri="{FF2B5EF4-FFF2-40B4-BE49-F238E27FC236}">
                  <a16:creationId xmlns:a16="http://schemas.microsoft.com/office/drawing/2014/main" id="{237AD009-AD68-B2F1-BD29-32DEA453FEEB}"/>
                </a:ext>
              </a:extLst>
            </p:cNvPr>
            <p:cNvSpPr txBox="1"/>
            <p:nvPr/>
          </p:nvSpPr>
          <p:spPr>
            <a:xfrm>
              <a:off x="6514313" y="4586570"/>
              <a:ext cx="1458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Matrices</a:t>
              </a:r>
              <a:endParaRPr/>
            </a:p>
          </p:txBody>
        </p:sp>
        <p:sp>
          <p:nvSpPr>
            <p:cNvPr id="30" name="Google Shape;123;g221ec631c08_0_0">
              <a:extLst>
                <a:ext uri="{FF2B5EF4-FFF2-40B4-BE49-F238E27FC236}">
                  <a16:creationId xmlns:a16="http://schemas.microsoft.com/office/drawing/2014/main" id="{277D83D3-F3B8-7A05-800E-CA7585D77057}"/>
                </a:ext>
              </a:extLst>
            </p:cNvPr>
            <p:cNvSpPr txBox="1"/>
            <p:nvPr/>
          </p:nvSpPr>
          <p:spPr>
            <a:xfrm>
              <a:off x="6557859" y="2966681"/>
              <a:ext cx="2017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800" dirty="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Son arreglos en 1-D</a:t>
              </a:r>
              <a:endParaRPr dirty="0"/>
            </a:p>
          </p:txBody>
        </p:sp>
        <p:sp>
          <p:nvSpPr>
            <p:cNvPr id="31" name="Google Shape;124;g221ec631c08_0_0">
              <a:extLst>
                <a:ext uri="{FF2B5EF4-FFF2-40B4-BE49-F238E27FC236}">
                  <a16:creationId xmlns:a16="http://schemas.microsoft.com/office/drawing/2014/main" id="{0E0F80F8-9E17-DCFD-591E-75D1D7E6598B}"/>
                </a:ext>
              </a:extLst>
            </p:cNvPr>
            <p:cNvSpPr txBox="1"/>
            <p:nvPr/>
          </p:nvSpPr>
          <p:spPr>
            <a:xfrm>
              <a:off x="6533995" y="4925124"/>
              <a:ext cx="2017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Son arreglos en 2-D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19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315140" y="1241149"/>
            <a:ext cx="12380677" cy="4558919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redondeado 1">
            <a:extLst>
              <a:ext uri="{FF2B5EF4-FFF2-40B4-BE49-F238E27FC236}">
                <a16:creationId xmlns:a16="http://schemas.microsoft.com/office/drawing/2014/main" id="{46EC8064-8A01-F9F7-5150-4E6999CB91F7}"/>
              </a:ext>
            </a:extLst>
          </p:cNvPr>
          <p:cNvSpPr/>
          <p:nvPr/>
        </p:nvSpPr>
        <p:spPr>
          <a:xfrm>
            <a:off x="5445035" y="1350006"/>
            <a:ext cx="6469542" cy="4352091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758536" y="233087"/>
            <a:ext cx="11166926" cy="65624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Arreglos </a:t>
            </a:r>
            <a:r>
              <a:rPr lang="es-MX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602714" y="1353529"/>
            <a:ext cx="4602472" cy="32136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  <a:latin typeface="Calibri"/>
                <a:ea typeface="Source Sans Pro"/>
                <a:cs typeface="Calibri"/>
              </a:rPr>
              <a:t>El módulo </a:t>
            </a:r>
            <a:r>
              <a:rPr lang="es-ES" sz="2000" dirty="0" err="1">
                <a:solidFill>
                  <a:schemeClr val="bg1"/>
                </a:solidFill>
                <a:latin typeface="Calibri"/>
                <a:ea typeface="Source Sans Pro"/>
                <a:cs typeface="Calibri"/>
              </a:rPr>
              <a:t>NumPy</a:t>
            </a:r>
            <a:r>
              <a:rPr lang="es-ES" sz="2000" dirty="0">
                <a:solidFill>
                  <a:schemeClr val="bg1"/>
                </a:solidFill>
                <a:latin typeface="Calibri"/>
                <a:ea typeface="Source Sans Pro"/>
                <a:cs typeface="Calibri"/>
              </a:rPr>
              <a:t> introduce en escena un nuevo tipo de objeto, </a:t>
            </a:r>
            <a:r>
              <a:rPr lang="es-ES" sz="2000" dirty="0" err="1">
                <a:solidFill>
                  <a:schemeClr val="bg1"/>
                </a:solidFill>
                <a:latin typeface="Calibri"/>
                <a:ea typeface="Source Sans Pro"/>
                <a:cs typeface="Calibri"/>
              </a:rPr>
              <a:t>ndarray</a:t>
            </a:r>
            <a:r>
              <a:rPr lang="es-ES" sz="2000" dirty="0">
                <a:solidFill>
                  <a:schemeClr val="bg1"/>
                </a:solidFill>
                <a:latin typeface="Calibri"/>
                <a:ea typeface="Source Sans Pro"/>
                <a:cs typeface="Calibri"/>
              </a:rPr>
              <a:t> (n dimensional array), caracterizado por:</a:t>
            </a:r>
            <a:endParaRPr lang="es-ES" sz="2000">
              <a:latin typeface="Calibri"/>
              <a:cs typeface="Calibri"/>
            </a:endParaRPr>
          </a:p>
          <a:p>
            <a:pPr algn="just"/>
            <a:endParaRPr lang="es-ES" sz="2000" dirty="0">
              <a:solidFill>
                <a:schemeClr val="bg1"/>
              </a:solidFill>
              <a:latin typeface="Calibri"/>
              <a:ea typeface="Source Sans Pro"/>
              <a:cs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Calibri"/>
                <a:ea typeface="Source Sans Pro"/>
                <a:cs typeface="Calibri"/>
              </a:rPr>
              <a:t>Almacenamiento eficiente de colecciones de datos del mismo tipo.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Calibri"/>
              <a:ea typeface="Source Sans Pro"/>
              <a:cs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Calibri"/>
                <a:ea typeface="Source Sans Pro"/>
                <a:cs typeface="Calibri"/>
              </a:rPr>
              <a:t>Conjunto de métodos que permiten operar de forma vectorizada sobre sus datos.</a:t>
            </a:r>
          </a:p>
        </p:txBody>
      </p:sp>
      <p:pic>
        <p:nvPicPr>
          <p:cNvPr id="4" name="Google Shape;131;g221ec631c08_0_11">
            <a:extLst>
              <a:ext uri="{FF2B5EF4-FFF2-40B4-BE49-F238E27FC236}">
                <a16:creationId xmlns:a16="http://schemas.microsoft.com/office/drawing/2014/main" id="{BCFDABEF-10DE-F4F0-EDA2-6AB7744831FE}"/>
              </a:ext>
            </a:extLst>
          </p:cNvPr>
          <p:cNvPicPr preferRelativeResize="0"/>
          <p:nvPr/>
        </p:nvPicPr>
        <p:blipFill rotWithShape="1">
          <a:blip r:embed="rId2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075"/>
                    </a14:imgEffect>
                    <a14:imgEffect>
                      <a14:saturation sat="34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23641" y="1530402"/>
            <a:ext cx="61341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2;g221ec631c08_0_11" descr="blog_numpy Python Machine Learning">
            <a:extLst>
              <a:ext uri="{FF2B5EF4-FFF2-40B4-BE49-F238E27FC236}">
                <a16:creationId xmlns:a16="http://schemas.microsoft.com/office/drawing/2014/main" id="{5BB89559-C171-DE8B-FA5B-7222167350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00652" y="3797610"/>
            <a:ext cx="5980078" cy="15465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09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4">
            <a:extLst>
              <a:ext uri="{FF2B5EF4-FFF2-40B4-BE49-F238E27FC236}">
                <a16:creationId xmlns:a16="http://schemas.microsoft.com/office/drawing/2014/main" id="{3CB2BDA0-C0A7-7ED8-F839-BFF31FDCAEF0}"/>
              </a:ext>
            </a:extLst>
          </p:cNvPr>
          <p:cNvSpPr/>
          <p:nvPr/>
        </p:nvSpPr>
        <p:spPr>
          <a:xfrm>
            <a:off x="706957" y="991874"/>
            <a:ext cx="10684376" cy="5233480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3" name="Google Shape;138;p6">
            <a:hlinkClick r:id="rId2"/>
            <a:extLst>
              <a:ext uri="{FF2B5EF4-FFF2-40B4-BE49-F238E27FC236}">
                <a16:creationId xmlns:a16="http://schemas.microsoft.com/office/drawing/2014/main" id="{30402C86-1D66-01A7-76A1-538F68615B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2063" y="1275993"/>
            <a:ext cx="7071200" cy="43067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ADFF12F-A542-D004-B288-D2F8FCAABC09}"/>
              </a:ext>
            </a:extLst>
          </p:cNvPr>
          <p:cNvSpPr txBox="1">
            <a:spLocks/>
          </p:cNvSpPr>
          <p:nvPr/>
        </p:nvSpPr>
        <p:spPr bwMode="auto">
          <a:xfrm>
            <a:off x="451263" y="54164"/>
            <a:ext cx="3385705" cy="7425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</a:rPr>
              <a:t>Arreglos </a:t>
            </a:r>
            <a:r>
              <a:rPr lang="es-MX" sz="3200" dirty="0" err="1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</a:rPr>
              <a:t>Numpy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Source Sans Pro" panose="020B0503030403020204" pitchFamily="34" charset="0"/>
            </a:endParaRPr>
          </a:p>
        </p:txBody>
      </p:sp>
      <p:sp>
        <p:nvSpPr>
          <p:cNvPr id="5" name="Google Shape;139;p6">
            <a:extLst>
              <a:ext uri="{FF2B5EF4-FFF2-40B4-BE49-F238E27FC236}">
                <a16:creationId xmlns:a16="http://schemas.microsoft.com/office/drawing/2014/main" id="{CA498C8E-1480-B6EA-7070-186385234D6A}"/>
              </a:ext>
            </a:extLst>
          </p:cNvPr>
          <p:cNvSpPr/>
          <p:nvPr/>
        </p:nvSpPr>
        <p:spPr>
          <a:xfrm>
            <a:off x="2405417" y="5747346"/>
            <a:ext cx="69665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https://docs.scipy.org/doc/numpy-1.13.0/reference/routines.math.html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45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ADFF12F-A542-D004-B288-D2F8FCAABC09}"/>
              </a:ext>
            </a:extLst>
          </p:cNvPr>
          <p:cNvSpPr txBox="1">
            <a:spLocks/>
          </p:cNvSpPr>
          <p:nvPr/>
        </p:nvSpPr>
        <p:spPr bwMode="auto">
          <a:xfrm>
            <a:off x="569768" y="3839369"/>
            <a:ext cx="6288232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Creación de Arreglos </a:t>
            </a:r>
            <a:r>
              <a:rPr lang="es-MX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4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376308" y="1468875"/>
            <a:ext cx="9652277" cy="4501016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262495" y="463550"/>
            <a:ext cx="6769678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Creación de Arreglos </a:t>
            </a:r>
            <a:r>
              <a:rPr lang="es-MX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45F5478-2B35-F8DA-12F4-390887E9D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591" y="3221492"/>
            <a:ext cx="3767818" cy="2167618"/>
          </a:xfrm>
          <a:prstGeom prst="rect">
            <a:avLst/>
          </a:prstGeom>
        </p:spPr>
      </p:pic>
      <p:pic>
        <p:nvPicPr>
          <p:cNvPr id="6" name="Imagen 5" descr="Imagen que contiene Tabla&#10;&#10;Descripción generada automáticamente">
            <a:extLst>
              <a:ext uri="{FF2B5EF4-FFF2-40B4-BE49-F238E27FC236}">
                <a16:creationId xmlns:a16="http://schemas.microsoft.com/office/drawing/2014/main" id="{86EA5A8A-454C-E021-873E-D691EB26C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505" y="2108427"/>
            <a:ext cx="3854904" cy="50754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9EDECC9-901B-1B16-D0BF-82A0C425E789}"/>
              </a:ext>
            </a:extLst>
          </p:cNvPr>
          <p:cNvSpPr txBox="1"/>
          <p:nvPr/>
        </p:nvSpPr>
        <p:spPr>
          <a:xfrm>
            <a:off x="1567543" y="1719942"/>
            <a:ext cx="676002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alibri"/>
                <a:cs typeface="Calibri"/>
              </a:rPr>
              <a:t>Para </a:t>
            </a:r>
            <a:r>
              <a:rPr lang="en-US" sz="1600" dirty="0" err="1">
                <a:latin typeface="Calibri"/>
                <a:cs typeface="Calibri"/>
              </a:rPr>
              <a:t>utilizar</a:t>
            </a:r>
            <a:r>
              <a:rPr lang="en-US" sz="1600" dirty="0">
                <a:latin typeface="Calibri"/>
                <a:cs typeface="Calibri"/>
              </a:rPr>
              <a:t> la </a:t>
            </a:r>
            <a:r>
              <a:rPr lang="en-US" sz="1600" dirty="0" err="1">
                <a:latin typeface="Calibri"/>
                <a:cs typeface="Calibri"/>
              </a:rPr>
              <a:t>librería</a:t>
            </a:r>
            <a:r>
              <a:rPr lang="en-US" sz="1600" dirty="0">
                <a:latin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cs typeface="Calibri"/>
              </a:rPr>
              <a:t>numpy</a:t>
            </a:r>
            <a:r>
              <a:rPr lang="en-US" sz="1600" dirty="0">
                <a:latin typeface="Calibri"/>
                <a:cs typeface="Calibri"/>
              </a:rPr>
              <a:t>, </a:t>
            </a:r>
            <a:r>
              <a:rPr lang="en-US" sz="1600" dirty="0" err="1">
                <a:latin typeface="Calibri"/>
                <a:cs typeface="Calibri"/>
              </a:rPr>
              <a:t>debemos</a:t>
            </a:r>
            <a:r>
              <a:rPr lang="en-US" sz="1600" dirty="0">
                <a:latin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cs typeface="Calibri"/>
              </a:rPr>
              <a:t>realizar</a:t>
            </a:r>
            <a:r>
              <a:rPr lang="en-US" sz="1600" dirty="0">
                <a:latin typeface="Calibri"/>
                <a:cs typeface="Calibri"/>
              </a:rPr>
              <a:t> la </a:t>
            </a:r>
            <a:r>
              <a:rPr lang="en-US" sz="1600" dirty="0" err="1">
                <a:latin typeface="Calibri"/>
                <a:cs typeface="Calibri"/>
              </a:rPr>
              <a:t>siguiente</a:t>
            </a:r>
            <a:r>
              <a:rPr lang="en-US" sz="1600" dirty="0">
                <a:latin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cs typeface="Calibri"/>
              </a:rPr>
              <a:t>importación</a:t>
            </a:r>
            <a:r>
              <a:rPr lang="en-US" sz="1600" dirty="0">
                <a:latin typeface="Calibri"/>
                <a:cs typeface="Calibri"/>
              </a:rPr>
              <a:t>: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80227F-77E1-FD5D-7E4D-44F3FB5FDBA7}"/>
              </a:ext>
            </a:extLst>
          </p:cNvPr>
          <p:cNvSpPr txBox="1"/>
          <p:nvPr/>
        </p:nvSpPr>
        <p:spPr>
          <a:xfrm>
            <a:off x="1654629" y="2841171"/>
            <a:ext cx="652054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1600" dirty="0">
                <a:solidFill>
                  <a:schemeClr val="dk1"/>
                </a:solidFill>
                <a:latin typeface="Calibri"/>
                <a:cs typeface="Calibri"/>
              </a:rPr>
              <a:t>Podemos crear un arreglo </a:t>
            </a:r>
            <a:r>
              <a:rPr lang="es-CL" sz="1600" dirty="0" err="1">
                <a:solidFill>
                  <a:schemeClr val="dk1"/>
                </a:solidFill>
                <a:latin typeface="Calibri"/>
                <a:cs typeface="Calibri"/>
              </a:rPr>
              <a:t>numpy</a:t>
            </a:r>
            <a:r>
              <a:rPr lang="es-CL" sz="1600" dirty="0">
                <a:solidFill>
                  <a:schemeClr val="dk1"/>
                </a:solidFill>
                <a:latin typeface="Calibri"/>
                <a:cs typeface="Calibri"/>
              </a:rPr>
              <a:t> a partir de una lista:</a:t>
            </a:r>
            <a:endParaRPr lang="es-CL" sz="1600" dirty="0">
              <a:solidFill>
                <a:schemeClr val="dk1"/>
              </a:solidFill>
              <a:cs typeface="Calibr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2388855-E2E3-FE55-E02E-623CC88A5A36}"/>
              </a:ext>
            </a:extLst>
          </p:cNvPr>
          <p:cNvSpPr txBox="1"/>
          <p:nvPr/>
        </p:nvSpPr>
        <p:spPr>
          <a:xfrm>
            <a:off x="8741228" y="4212771"/>
            <a:ext cx="17417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1400">
                <a:solidFill>
                  <a:schemeClr val="dk1"/>
                </a:solidFill>
                <a:cs typeface="Calibri"/>
              </a:rPr>
              <a:t>Nótese el tipo de datos del arreglo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06325ED-7981-CF56-6212-FC341CAAAB23}"/>
              </a:ext>
            </a:extLst>
          </p:cNvPr>
          <p:cNvCxnSpPr/>
          <p:nvPr/>
        </p:nvCxnSpPr>
        <p:spPr>
          <a:xfrm flipH="1">
            <a:off x="6008914" y="4539342"/>
            <a:ext cx="2514600" cy="620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72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388635" y="1490965"/>
            <a:ext cx="9543025" cy="4146395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278082" y="275287"/>
            <a:ext cx="963877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Creación de Arreglos </a:t>
            </a:r>
            <a:r>
              <a:rPr lang="es-MX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18D35A-8B77-2D4F-CCE6-227EDCF85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373" y="1993997"/>
            <a:ext cx="4724154" cy="286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6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ADFF12F-A542-D004-B288-D2F8FCAABC09}"/>
              </a:ext>
            </a:extLst>
          </p:cNvPr>
          <p:cNvSpPr txBox="1">
            <a:spLocks/>
          </p:cNvSpPr>
          <p:nvPr/>
        </p:nvSpPr>
        <p:spPr bwMode="auto">
          <a:xfrm>
            <a:off x="-729095" y="3714678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Funciones </a:t>
            </a:r>
            <a:r>
              <a:rPr lang="es-MX" sz="3200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Pre-construidas</a:t>
            </a: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Creación</a:t>
            </a:r>
          </a:p>
        </p:txBody>
      </p:sp>
    </p:spTree>
    <p:extLst>
      <p:ext uri="{BB962C8B-B14F-4D97-AF65-F5344CB8AC3E}">
        <p14:creationId xmlns:p14="http://schemas.microsoft.com/office/powerpoint/2010/main" val="249317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91;p12">
            <a:extLst>
              <a:ext uri="{FF2B5EF4-FFF2-40B4-BE49-F238E27FC236}">
                <a16:creationId xmlns:a16="http://schemas.microsoft.com/office/drawing/2014/main" id="{FD0F59C6-316B-908E-C804-70E98EC70D24}"/>
              </a:ext>
            </a:extLst>
          </p:cNvPr>
          <p:cNvSpPr/>
          <p:nvPr/>
        </p:nvSpPr>
        <p:spPr>
          <a:xfrm>
            <a:off x="6458986" y="4957825"/>
            <a:ext cx="4378732" cy="657445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299151" y="1841244"/>
            <a:ext cx="5274422" cy="3788229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239766" y="651319"/>
            <a:ext cx="5937034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Arreglo con Rango de Valores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192;p12">
            <a:extLst>
              <a:ext uri="{FF2B5EF4-FFF2-40B4-BE49-F238E27FC236}">
                <a16:creationId xmlns:a16="http://schemas.microsoft.com/office/drawing/2014/main" id="{AC24BF2E-1B33-BC9B-FFD5-DC90D179055B}"/>
              </a:ext>
            </a:extLst>
          </p:cNvPr>
          <p:cNvSpPr txBox="1"/>
          <p:nvPr/>
        </p:nvSpPr>
        <p:spPr>
          <a:xfrm>
            <a:off x="6993274" y="4983183"/>
            <a:ext cx="37717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Note que no incluye el límite superior del intervalo.</a:t>
            </a:r>
          </a:p>
        </p:txBody>
      </p:sp>
      <p:pic>
        <p:nvPicPr>
          <p:cNvPr id="13" name="Google Shape;193;p12">
            <a:extLst>
              <a:ext uri="{FF2B5EF4-FFF2-40B4-BE49-F238E27FC236}">
                <a16:creationId xmlns:a16="http://schemas.microsoft.com/office/drawing/2014/main" id="{A2CB14AA-8040-61D8-3B5C-46F87F4C4B9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6309" y="5081155"/>
            <a:ext cx="346965" cy="4107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75;p11">
            <a:extLst>
              <a:ext uri="{FF2B5EF4-FFF2-40B4-BE49-F238E27FC236}">
                <a16:creationId xmlns:a16="http://schemas.microsoft.com/office/drawing/2014/main" id="{5D7582C4-4BED-F464-C5BE-D0CC80D2ECD4}"/>
              </a:ext>
            </a:extLst>
          </p:cNvPr>
          <p:cNvSpPr txBox="1"/>
          <p:nvPr/>
        </p:nvSpPr>
        <p:spPr>
          <a:xfrm>
            <a:off x="1664332" y="2047669"/>
            <a:ext cx="45440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continuación, crearemos un arreglo </a:t>
            </a:r>
            <a:r>
              <a:rPr lang="es-CL" sz="16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s-CL" sz="16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con un rango de valores enteros, similar a la función </a:t>
            </a:r>
            <a:r>
              <a:rPr lang="es-CL" sz="16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r>
              <a:rPr lang="es-CL" sz="16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sz="1600" dirty="0">
              <a:solidFill>
                <a:schemeClr val="bg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79;p11">
            <a:extLst>
              <a:ext uri="{FF2B5EF4-FFF2-40B4-BE49-F238E27FC236}">
                <a16:creationId xmlns:a16="http://schemas.microsoft.com/office/drawing/2014/main" id="{F0502971-3BB5-76C8-D420-4298891AD4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5076" y="2838829"/>
            <a:ext cx="4544059" cy="25340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305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615510" y="1769911"/>
            <a:ext cx="9207335" cy="3276105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615717" y="505051"/>
            <a:ext cx="6189339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Arreglo con Rango de Valores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oogle Shape;185;g221ec631c08_0_28">
            <a:extLst>
              <a:ext uri="{FF2B5EF4-FFF2-40B4-BE49-F238E27FC236}">
                <a16:creationId xmlns:a16="http://schemas.microsoft.com/office/drawing/2014/main" id="{8DBF6AAA-2F03-8690-7359-82B1BB44370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1561" y="2229348"/>
            <a:ext cx="5571057" cy="239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362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91;p12">
            <a:extLst>
              <a:ext uri="{FF2B5EF4-FFF2-40B4-BE49-F238E27FC236}">
                <a16:creationId xmlns:a16="http://schemas.microsoft.com/office/drawing/2014/main" id="{5837409A-649A-F2F8-922A-4BE3B8B7217D}"/>
              </a:ext>
            </a:extLst>
          </p:cNvPr>
          <p:cNvSpPr/>
          <p:nvPr/>
        </p:nvSpPr>
        <p:spPr>
          <a:xfrm>
            <a:off x="6203373" y="4155559"/>
            <a:ext cx="4937408" cy="7386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473371" y="798632"/>
            <a:ext cx="5917001" cy="5438898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6455390" y="2741649"/>
            <a:ext cx="468534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Matriz de Ceros y Unos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194;p12">
            <a:extLst>
              <a:ext uri="{FF2B5EF4-FFF2-40B4-BE49-F238E27FC236}">
                <a16:creationId xmlns:a16="http://schemas.microsoft.com/office/drawing/2014/main" id="{05836A03-3196-DF4B-F7F2-ECF39F03AF53}"/>
              </a:ext>
            </a:extLst>
          </p:cNvPr>
          <p:cNvSpPr txBox="1"/>
          <p:nvPr/>
        </p:nvSpPr>
        <p:spPr>
          <a:xfrm>
            <a:off x="826563" y="3753485"/>
            <a:ext cx="518603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 mismo se puede hacer para crear un vector o matriz con valores 1</a:t>
            </a: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Google Shape;195;p12">
            <a:extLst>
              <a:ext uri="{FF2B5EF4-FFF2-40B4-BE49-F238E27FC236}">
                <a16:creationId xmlns:a16="http://schemas.microsoft.com/office/drawing/2014/main" id="{3B3C1E12-4307-48BB-6459-87458FC25ECD}"/>
              </a:ext>
            </a:extLst>
          </p:cNvPr>
          <p:cNvSpPr txBox="1"/>
          <p:nvPr/>
        </p:nvSpPr>
        <p:spPr>
          <a:xfrm>
            <a:off x="538439" y="1114289"/>
            <a:ext cx="576228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Podemos rápidamente crear un vector o matriz </a:t>
            </a:r>
            <a:r>
              <a:rPr lang="es-CL" sz="14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relleno con valores 0.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Google Shape;196;p12">
            <a:extLst>
              <a:ext uri="{FF2B5EF4-FFF2-40B4-BE49-F238E27FC236}">
                <a16:creationId xmlns:a16="http://schemas.microsoft.com/office/drawing/2014/main" id="{4CEB9FE4-2E1D-7E21-41FE-697DD7DF450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6025" y="1513529"/>
            <a:ext cx="4591691" cy="209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7;p12">
            <a:extLst>
              <a:ext uri="{FF2B5EF4-FFF2-40B4-BE49-F238E27FC236}">
                <a16:creationId xmlns:a16="http://schemas.microsoft.com/office/drawing/2014/main" id="{410D15A3-B812-70D9-3F87-AFA8D62467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3735" y="4152834"/>
            <a:ext cx="4591691" cy="194075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92;p12">
            <a:extLst>
              <a:ext uri="{FF2B5EF4-FFF2-40B4-BE49-F238E27FC236}">
                <a16:creationId xmlns:a16="http://schemas.microsoft.com/office/drawing/2014/main" id="{348F9570-CAE8-0135-2734-03A8773D05C7}"/>
              </a:ext>
            </a:extLst>
          </p:cNvPr>
          <p:cNvSpPr txBox="1"/>
          <p:nvPr/>
        </p:nvSpPr>
        <p:spPr>
          <a:xfrm>
            <a:off x="7364580" y="4155558"/>
            <a:ext cx="3776201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Recuerda que las </a:t>
            </a:r>
            <a:r>
              <a:rPr lang="es-CL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tuplas</a:t>
            </a:r>
            <a:r>
              <a:rPr lang="es-CL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s-CL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m,n</a:t>
            </a:r>
            <a:r>
              <a:rPr lang="es-CL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) son inmutables.</a:t>
            </a:r>
            <a:endParaRPr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1" name="Google Shape;193;p12">
            <a:extLst>
              <a:ext uri="{FF2B5EF4-FFF2-40B4-BE49-F238E27FC236}">
                <a16:creationId xmlns:a16="http://schemas.microsoft.com/office/drawing/2014/main" id="{1D18668D-5B0F-41F7-DDFE-64A6EB3DDDC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31185" y="4272456"/>
            <a:ext cx="419100" cy="504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340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438860" y="1714553"/>
            <a:ext cx="9346001" cy="4004668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439141" y="480700"/>
            <a:ext cx="7050232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con Distribución de Puntos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oogle Shape;202;p13">
            <a:extLst>
              <a:ext uri="{FF2B5EF4-FFF2-40B4-BE49-F238E27FC236}">
                <a16:creationId xmlns:a16="http://schemas.microsoft.com/office/drawing/2014/main" id="{1B058400-DCA7-E24E-DFED-4FA51296F70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1984" y="2715063"/>
            <a:ext cx="4525006" cy="25530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04;p13">
            <a:extLst>
              <a:ext uri="{FF2B5EF4-FFF2-40B4-BE49-F238E27FC236}">
                <a16:creationId xmlns:a16="http://schemas.microsoft.com/office/drawing/2014/main" id="{2DE01FB0-93E5-917A-5930-3C6C02FDFB68}"/>
              </a:ext>
            </a:extLst>
          </p:cNvPr>
          <p:cNvSpPr txBox="1"/>
          <p:nvPr/>
        </p:nvSpPr>
        <p:spPr>
          <a:xfrm>
            <a:off x="1998984" y="2080296"/>
            <a:ext cx="681100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Podemos crear un arreglo con elementos distribuidos dentro de un intervalo.</a:t>
            </a:r>
            <a:endParaRPr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49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614055" y="1713676"/>
            <a:ext cx="8737052" cy="3793010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615376" y="436416"/>
            <a:ext cx="5309755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Matriz Identidad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175;p11">
            <a:extLst>
              <a:ext uri="{FF2B5EF4-FFF2-40B4-BE49-F238E27FC236}">
                <a16:creationId xmlns:a16="http://schemas.microsoft.com/office/drawing/2014/main" id="{5D7582C4-4BED-F464-C5BE-D0CC80D2ECD4}"/>
              </a:ext>
            </a:extLst>
          </p:cNvPr>
          <p:cNvSpPr txBox="1"/>
          <p:nvPr/>
        </p:nvSpPr>
        <p:spPr>
          <a:xfrm>
            <a:off x="2010167" y="2131916"/>
            <a:ext cx="678070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Podemos crear una matriz identidad, es decir, con valores 1 en la diagonal.</a:t>
            </a:r>
            <a:endParaRPr lang="es-E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" name="Google Shape;217;p14">
            <a:extLst>
              <a:ext uri="{FF2B5EF4-FFF2-40B4-BE49-F238E27FC236}">
                <a16:creationId xmlns:a16="http://schemas.microsoft.com/office/drawing/2014/main" id="{65E6952C-E1D7-591D-FABA-56A642E1FA4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05433" y="2757249"/>
            <a:ext cx="4544059" cy="15908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096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154144" y="1430606"/>
            <a:ext cx="10099221" cy="4662426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930877" y="416865"/>
            <a:ext cx="6338318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Arreglo con Valores Aleatorios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109B0C6-AE91-7792-D321-8AFF061B2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488" y="2292123"/>
            <a:ext cx="4434568" cy="158795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3BEA08B-C730-28A0-D341-E792C9247EA5}"/>
              </a:ext>
            </a:extLst>
          </p:cNvPr>
          <p:cNvSpPr txBox="1"/>
          <p:nvPr/>
        </p:nvSpPr>
        <p:spPr>
          <a:xfrm>
            <a:off x="1513114" y="1709058"/>
            <a:ext cx="458288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dk1"/>
                </a:solidFill>
                <a:latin typeface="Calibri"/>
                <a:cs typeface="Calibri"/>
              </a:rPr>
              <a:t>Podemos crear un vector o matriz con valores aleatorios:</a:t>
            </a:r>
            <a:endParaRPr lang="es-CL" sz="1400" dirty="0">
              <a:solidFill>
                <a:schemeClr val="dk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719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154144" y="1430606"/>
            <a:ext cx="10099221" cy="4462401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930877" y="416865"/>
            <a:ext cx="6338318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Arreglo con Valores Aleatorios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D65CA8-448F-B79F-5654-46DF9920C111}"/>
              </a:ext>
            </a:extLst>
          </p:cNvPr>
          <p:cNvSpPr txBox="1"/>
          <p:nvPr/>
        </p:nvSpPr>
        <p:spPr>
          <a:xfrm>
            <a:off x="1552575" y="1666875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1400">
                <a:solidFill>
                  <a:schemeClr val="dk1"/>
                </a:solidFill>
                <a:cs typeface="Calibri"/>
              </a:rPr>
              <a:t>Valor aleatorio entero</a:t>
            </a:r>
          </a:p>
        </p:txBody>
      </p:sp>
      <p:pic>
        <p:nvPicPr>
          <p:cNvPr id="7" name="Imagen 6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57C7CF67-94DF-3E66-8762-8A6611427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966913"/>
            <a:ext cx="5467350" cy="685800"/>
          </a:xfrm>
          <a:prstGeom prst="rect">
            <a:avLst/>
          </a:prstGeom>
        </p:spPr>
      </p:pic>
      <p:pic>
        <p:nvPicPr>
          <p:cNvPr id="8" name="Imagen 7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AE48C2B-9273-2968-DBCE-576308F7B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3" y="3371850"/>
            <a:ext cx="5381625" cy="71437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5667A00-2EBE-A5E2-8E22-56124068B65B}"/>
              </a:ext>
            </a:extLst>
          </p:cNvPr>
          <p:cNvSpPr txBox="1"/>
          <p:nvPr/>
        </p:nvSpPr>
        <p:spPr>
          <a:xfrm>
            <a:off x="1562100" y="3067050"/>
            <a:ext cx="32385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dk1"/>
                </a:solidFill>
                <a:latin typeface="Calibri"/>
                <a:cs typeface="Calibri"/>
              </a:rPr>
              <a:t>Vector de valores aleatorios enteros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44547F0-D19F-65E4-A3EE-7235569F807F}"/>
              </a:ext>
            </a:extLst>
          </p:cNvPr>
          <p:cNvSpPr txBox="1"/>
          <p:nvPr/>
        </p:nvSpPr>
        <p:spPr>
          <a:xfrm>
            <a:off x="1552575" y="4362450"/>
            <a:ext cx="48387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1400">
                <a:solidFill>
                  <a:schemeClr val="dk1"/>
                </a:solidFill>
                <a:cs typeface="Calibri"/>
              </a:rPr>
              <a:t>Vector con valores aleatorios distribuidos de forma normal</a:t>
            </a:r>
          </a:p>
        </p:txBody>
      </p:sp>
      <p:pic>
        <p:nvPicPr>
          <p:cNvPr id="13" name="Imagen 1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97EC8045-2359-1A79-ADE2-7B440E9B9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338" y="4662488"/>
            <a:ext cx="52578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4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ADFF12F-A542-D004-B288-D2F8FCAABC09}"/>
              </a:ext>
            </a:extLst>
          </p:cNvPr>
          <p:cNvSpPr txBox="1">
            <a:spLocks/>
          </p:cNvSpPr>
          <p:nvPr/>
        </p:nvSpPr>
        <p:spPr bwMode="auto">
          <a:xfrm>
            <a:off x="361950" y="3735460"/>
            <a:ext cx="6163541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Métodos Útiles de Arreglos</a:t>
            </a:r>
          </a:p>
        </p:txBody>
      </p:sp>
    </p:spTree>
    <p:extLst>
      <p:ext uri="{BB962C8B-B14F-4D97-AF65-F5344CB8AC3E}">
        <p14:creationId xmlns:p14="http://schemas.microsoft.com/office/powerpoint/2010/main" val="70895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773749" y="1390692"/>
            <a:ext cx="8921960" cy="4808822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774007" y="501068"/>
            <a:ext cx="7968251" cy="64607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Redimensionamiento de un Arreglo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241;p17">
            <a:extLst>
              <a:ext uri="{FF2B5EF4-FFF2-40B4-BE49-F238E27FC236}">
                <a16:creationId xmlns:a16="http://schemas.microsoft.com/office/drawing/2014/main" id="{1D49271D-3623-FEE6-9FF9-A66F6D948457}"/>
              </a:ext>
            </a:extLst>
          </p:cNvPr>
          <p:cNvSpPr txBox="1"/>
          <p:nvPr/>
        </p:nvSpPr>
        <p:spPr>
          <a:xfrm>
            <a:off x="2517832" y="1745279"/>
            <a:ext cx="492111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Podemos cambiar la </a:t>
            </a:r>
            <a:r>
              <a:rPr lang="es-CL" sz="14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dimensionalidad</a:t>
            </a: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de un vector o matriz.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Google Shape;242;p17">
            <a:extLst>
              <a:ext uri="{FF2B5EF4-FFF2-40B4-BE49-F238E27FC236}">
                <a16:creationId xmlns:a16="http://schemas.microsoft.com/office/drawing/2014/main" id="{B712CA5C-A854-0EBA-A4B9-887AD19A71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662"/>
          <a:stretch/>
        </p:blipFill>
        <p:spPr>
          <a:xfrm>
            <a:off x="2517833" y="2173981"/>
            <a:ext cx="4967318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4;p17">
            <a:extLst>
              <a:ext uri="{FF2B5EF4-FFF2-40B4-BE49-F238E27FC236}">
                <a16:creationId xmlns:a16="http://schemas.microsoft.com/office/drawing/2014/main" id="{6C72AE0D-CE4B-1A73-31EB-BBFB4B5D98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7833" y="3728775"/>
            <a:ext cx="494347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46;p17">
            <a:extLst>
              <a:ext uri="{FF2B5EF4-FFF2-40B4-BE49-F238E27FC236}">
                <a16:creationId xmlns:a16="http://schemas.microsoft.com/office/drawing/2014/main" id="{43E70569-D268-A9CA-6E80-71ED68DADE91}"/>
              </a:ext>
            </a:extLst>
          </p:cNvPr>
          <p:cNvSpPr txBox="1"/>
          <p:nvPr/>
        </p:nvSpPr>
        <p:spPr>
          <a:xfrm>
            <a:off x="2517832" y="5616944"/>
            <a:ext cx="494347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Consultamos la </a:t>
            </a:r>
            <a:r>
              <a:rPr lang="es-CL" sz="14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dimensionalidad</a:t>
            </a: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de una matriz.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58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91;p12">
            <a:extLst>
              <a:ext uri="{FF2B5EF4-FFF2-40B4-BE49-F238E27FC236}">
                <a16:creationId xmlns:a16="http://schemas.microsoft.com/office/drawing/2014/main" id="{5837409A-649A-F2F8-922A-4BE3B8B7217D}"/>
              </a:ext>
            </a:extLst>
          </p:cNvPr>
          <p:cNvSpPr/>
          <p:nvPr/>
        </p:nvSpPr>
        <p:spPr>
          <a:xfrm>
            <a:off x="997597" y="5294255"/>
            <a:ext cx="4823927" cy="60023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002373" y="2072577"/>
            <a:ext cx="10017885" cy="2939592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213186" y="873797"/>
            <a:ext cx="6112967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Redimensionando un Arreglo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92;p12">
            <a:extLst>
              <a:ext uri="{FF2B5EF4-FFF2-40B4-BE49-F238E27FC236}">
                <a16:creationId xmlns:a16="http://schemas.microsoft.com/office/drawing/2014/main" id="{348F9570-CAE8-0135-2734-03A8773D05C7}"/>
              </a:ext>
            </a:extLst>
          </p:cNvPr>
          <p:cNvSpPr txBox="1"/>
          <p:nvPr/>
        </p:nvSpPr>
        <p:spPr>
          <a:xfrm>
            <a:off x="1520315" y="5435436"/>
            <a:ext cx="409691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Las dimensionalidades deben ser consistentes</a:t>
            </a:r>
          </a:p>
        </p:txBody>
      </p:sp>
      <p:pic>
        <p:nvPicPr>
          <p:cNvPr id="5" name="Google Shape;252;p18">
            <a:extLst>
              <a:ext uri="{FF2B5EF4-FFF2-40B4-BE49-F238E27FC236}">
                <a16:creationId xmlns:a16="http://schemas.microsoft.com/office/drawing/2014/main" id="{292DE679-FAE7-C80D-43FB-644B908708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43814" y="2860134"/>
            <a:ext cx="49434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56;p18">
            <a:extLst>
              <a:ext uri="{FF2B5EF4-FFF2-40B4-BE49-F238E27FC236}">
                <a16:creationId xmlns:a16="http://schemas.microsoft.com/office/drawing/2014/main" id="{CD6BEF94-5C4A-7979-EFFC-BEA463BC9C38}"/>
              </a:ext>
            </a:extLst>
          </p:cNvPr>
          <p:cNvSpPr txBox="1"/>
          <p:nvPr/>
        </p:nvSpPr>
        <p:spPr>
          <a:xfrm>
            <a:off x="1343815" y="2309554"/>
            <a:ext cx="49434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¿Y si no cuadran los elementos con la </a:t>
            </a:r>
            <a:r>
              <a:rPr lang="es-CL" sz="16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dimensionalidad</a:t>
            </a:r>
            <a:r>
              <a:rPr lang="es-CL" sz="16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3" name="Google Shape;255;p18">
            <a:extLst>
              <a:ext uri="{FF2B5EF4-FFF2-40B4-BE49-F238E27FC236}">
                <a16:creationId xmlns:a16="http://schemas.microsoft.com/office/drawing/2014/main" id="{27E2EE2A-519E-2DA5-D5AA-F7463F2246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0761" y="5392385"/>
            <a:ext cx="338890" cy="424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06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849086" y="1635968"/>
            <a:ext cx="10357510" cy="4386421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982095" y="715180"/>
            <a:ext cx="4578649" cy="70307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Máximo y Mínimo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oogle Shape;262;p19">
            <a:extLst>
              <a:ext uri="{FF2B5EF4-FFF2-40B4-BE49-F238E27FC236}">
                <a16:creationId xmlns:a16="http://schemas.microsoft.com/office/drawing/2014/main" id="{3A8D3CF0-29DE-141C-881D-950A2988A6C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3970" y="1986090"/>
            <a:ext cx="49530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63;p19">
            <a:extLst>
              <a:ext uri="{FF2B5EF4-FFF2-40B4-BE49-F238E27FC236}">
                <a16:creationId xmlns:a16="http://schemas.microsoft.com/office/drawing/2014/main" id="{A43DF2D6-A514-281F-A2E1-5DD6B3234672}"/>
              </a:ext>
            </a:extLst>
          </p:cNvPr>
          <p:cNvSpPr txBox="1"/>
          <p:nvPr/>
        </p:nvSpPr>
        <p:spPr>
          <a:xfrm>
            <a:off x="6702739" y="3097142"/>
            <a:ext cx="10803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Valor máximo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6" name="Google Shape;264;p19">
            <a:extLst>
              <a:ext uri="{FF2B5EF4-FFF2-40B4-BE49-F238E27FC236}">
                <a16:creationId xmlns:a16="http://schemas.microsoft.com/office/drawing/2014/main" id="{E5177043-626C-FB1F-9555-B95314FA7386}"/>
              </a:ext>
            </a:extLst>
          </p:cNvPr>
          <p:cNvCxnSpPr/>
          <p:nvPr/>
        </p:nvCxnSpPr>
        <p:spPr>
          <a:xfrm flipH="1">
            <a:off x="5976723" y="3235642"/>
            <a:ext cx="718500" cy="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" name="Google Shape;265;p19">
            <a:extLst>
              <a:ext uri="{FF2B5EF4-FFF2-40B4-BE49-F238E27FC236}">
                <a16:creationId xmlns:a16="http://schemas.microsoft.com/office/drawing/2014/main" id="{2EF5B944-1B43-AD29-88EF-317DE1EC87BD}"/>
              </a:ext>
            </a:extLst>
          </p:cNvPr>
          <p:cNvSpPr txBox="1"/>
          <p:nvPr/>
        </p:nvSpPr>
        <p:spPr>
          <a:xfrm>
            <a:off x="6708641" y="3767722"/>
            <a:ext cx="16846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Índice del Valor máximo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Google Shape;266;p19">
            <a:extLst>
              <a:ext uri="{FF2B5EF4-FFF2-40B4-BE49-F238E27FC236}">
                <a16:creationId xmlns:a16="http://schemas.microsoft.com/office/drawing/2014/main" id="{F45DB7DF-8AD7-EFF2-08BC-51A49FE4566D}"/>
              </a:ext>
            </a:extLst>
          </p:cNvPr>
          <p:cNvCxnSpPr/>
          <p:nvPr/>
        </p:nvCxnSpPr>
        <p:spPr>
          <a:xfrm flipH="1">
            <a:off x="5990099" y="3896891"/>
            <a:ext cx="718542" cy="551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0647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ADFF12F-A542-D004-B288-D2F8FCAABC09}"/>
              </a:ext>
            </a:extLst>
          </p:cNvPr>
          <p:cNvSpPr txBox="1">
            <a:spLocks/>
          </p:cNvSpPr>
          <p:nvPr/>
        </p:nvSpPr>
        <p:spPr bwMode="auto">
          <a:xfrm>
            <a:off x="195943" y="3802047"/>
            <a:ext cx="645173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Indexación y Selección</a:t>
            </a:r>
          </a:p>
        </p:txBody>
      </p:sp>
    </p:spTree>
    <p:extLst>
      <p:ext uri="{BB962C8B-B14F-4D97-AF65-F5344CB8AC3E}">
        <p14:creationId xmlns:p14="http://schemas.microsoft.com/office/powerpoint/2010/main" val="108856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684665" y="983233"/>
            <a:ext cx="9194797" cy="5097435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688400" y="156554"/>
            <a:ext cx="7265220" cy="7273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</a:rPr>
              <a:t>Índices y Posiciones de un Arreglo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Source Sans Pro" panose="020B0503030403020204" pitchFamily="34" charset="0"/>
            </a:endParaRPr>
          </a:p>
        </p:txBody>
      </p:sp>
      <p:pic>
        <p:nvPicPr>
          <p:cNvPr id="2" name="Google Shape;278;p21">
            <a:extLst>
              <a:ext uri="{FF2B5EF4-FFF2-40B4-BE49-F238E27FC236}">
                <a16:creationId xmlns:a16="http://schemas.microsoft.com/office/drawing/2014/main" id="{947171B6-8324-7FE7-0591-E10D5D7FCE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8237" y="1696156"/>
            <a:ext cx="516255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79;p21">
            <a:extLst>
              <a:ext uri="{FF2B5EF4-FFF2-40B4-BE49-F238E27FC236}">
                <a16:creationId xmlns:a16="http://schemas.microsoft.com/office/drawing/2014/main" id="{AD85BA28-CD8B-ABD5-567E-7757F1035E39}"/>
              </a:ext>
            </a:extLst>
          </p:cNvPr>
          <p:cNvSpPr txBox="1"/>
          <p:nvPr/>
        </p:nvSpPr>
        <p:spPr>
          <a:xfrm>
            <a:off x="2976611" y="1248920"/>
            <a:ext cx="328109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Así referenciamos un elemento del arreglo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Google Shape;280;p21">
            <a:extLst>
              <a:ext uri="{FF2B5EF4-FFF2-40B4-BE49-F238E27FC236}">
                <a16:creationId xmlns:a16="http://schemas.microsoft.com/office/drawing/2014/main" id="{CB22CF47-3D6C-BEAE-3BAB-00A21B4F61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8237" y="4939579"/>
            <a:ext cx="3933825" cy="29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281;p21">
            <a:extLst>
              <a:ext uri="{FF2B5EF4-FFF2-40B4-BE49-F238E27FC236}">
                <a16:creationId xmlns:a16="http://schemas.microsoft.com/office/drawing/2014/main" id="{E3808A20-0E01-2266-0C38-12AD9C1E71DC}"/>
              </a:ext>
            </a:extLst>
          </p:cNvPr>
          <p:cNvCxnSpPr/>
          <p:nvPr/>
        </p:nvCxnSpPr>
        <p:spPr>
          <a:xfrm rot="10800000">
            <a:off x="2896308" y="5234853"/>
            <a:ext cx="0" cy="36004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" name="Google Shape;282;p21">
            <a:extLst>
              <a:ext uri="{FF2B5EF4-FFF2-40B4-BE49-F238E27FC236}">
                <a16:creationId xmlns:a16="http://schemas.microsoft.com/office/drawing/2014/main" id="{6AA1AC2D-17E1-F948-94C1-BAC823008D97}"/>
              </a:ext>
            </a:extLst>
          </p:cNvPr>
          <p:cNvSpPr txBox="1"/>
          <p:nvPr/>
        </p:nvSpPr>
        <p:spPr>
          <a:xfrm>
            <a:off x="2576041" y="5613170"/>
            <a:ext cx="67518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Índice 0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Google Shape;283;p21">
            <a:extLst>
              <a:ext uri="{FF2B5EF4-FFF2-40B4-BE49-F238E27FC236}">
                <a16:creationId xmlns:a16="http://schemas.microsoft.com/office/drawing/2014/main" id="{0B6BC5D9-80DB-6BF2-B917-B87B9A7664A2}"/>
              </a:ext>
            </a:extLst>
          </p:cNvPr>
          <p:cNvCxnSpPr/>
          <p:nvPr/>
        </p:nvCxnSpPr>
        <p:spPr>
          <a:xfrm>
            <a:off x="2913632" y="4507530"/>
            <a:ext cx="0" cy="43204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" name="Google Shape;284;p21">
            <a:extLst>
              <a:ext uri="{FF2B5EF4-FFF2-40B4-BE49-F238E27FC236}">
                <a16:creationId xmlns:a16="http://schemas.microsoft.com/office/drawing/2014/main" id="{A9346D3A-6DD3-F8D0-0DBC-15394FC03E19}"/>
              </a:ext>
            </a:extLst>
          </p:cNvPr>
          <p:cNvSpPr txBox="1"/>
          <p:nvPr/>
        </p:nvSpPr>
        <p:spPr>
          <a:xfrm>
            <a:off x="2511980" y="4191147"/>
            <a:ext cx="81637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Posición 1</a:t>
            </a: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" name="Google Shape;285;p21">
            <a:extLst>
              <a:ext uri="{FF2B5EF4-FFF2-40B4-BE49-F238E27FC236}">
                <a16:creationId xmlns:a16="http://schemas.microsoft.com/office/drawing/2014/main" id="{53AE2362-77CE-5C48-4777-CD608F88AD89}"/>
              </a:ext>
            </a:extLst>
          </p:cNvPr>
          <p:cNvCxnSpPr/>
          <p:nvPr/>
        </p:nvCxnSpPr>
        <p:spPr>
          <a:xfrm rot="10800000">
            <a:off x="3392403" y="3536720"/>
            <a:ext cx="432048" cy="34825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" name="Google Shape;286;p21">
            <a:extLst>
              <a:ext uri="{FF2B5EF4-FFF2-40B4-BE49-F238E27FC236}">
                <a16:creationId xmlns:a16="http://schemas.microsoft.com/office/drawing/2014/main" id="{AD6EDBA0-0EA6-5C4C-008E-F5D698B6854E}"/>
              </a:ext>
            </a:extLst>
          </p:cNvPr>
          <p:cNvSpPr txBox="1"/>
          <p:nvPr/>
        </p:nvSpPr>
        <p:spPr>
          <a:xfrm>
            <a:off x="3581315" y="3912065"/>
            <a:ext cx="67518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Índice 3</a:t>
            </a: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6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889157" y="1566299"/>
            <a:ext cx="10366850" cy="4318227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884825" y="430808"/>
            <a:ext cx="4176794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Selección de Rango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292;p22">
            <a:extLst>
              <a:ext uri="{FF2B5EF4-FFF2-40B4-BE49-F238E27FC236}">
                <a16:creationId xmlns:a16="http://schemas.microsoft.com/office/drawing/2014/main" id="{30B8E949-F124-BACF-5B5D-62306DF9F661}"/>
              </a:ext>
            </a:extLst>
          </p:cNvPr>
          <p:cNvSpPr txBox="1"/>
          <p:nvPr/>
        </p:nvSpPr>
        <p:spPr>
          <a:xfrm>
            <a:off x="1285878" y="1804356"/>
            <a:ext cx="43332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Podemos seleccionar un </a:t>
            </a:r>
            <a:r>
              <a:rPr lang="es-CL" sz="14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subset</a:t>
            </a: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de elementos del arreglo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Google Shape;293;p22">
            <a:extLst>
              <a:ext uri="{FF2B5EF4-FFF2-40B4-BE49-F238E27FC236}">
                <a16:creationId xmlns:a16="http://schemas.microsoft.com/office/drawing/2014/main" id="{4236C763-C693-8DE3-08FF-DB0B5C8C88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5878" y="2112594"/>
            <a:ext cx="51530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94;p22">
            <a:extLst>
              <a:ext uri="{FF2B5EF4-FFF2-40B4-BE49-F238E27FC236}">
                <a16:creationId xmlns:a16="http://schemas.microsoft.com/office/drawing/2014/main" id="{61560076-656C-A6D0-2E5F-75BDB07B3D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5880" y="2748391"/>
            <a:ext cx="5153024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95;p22">
            <a:extLst>
              <a:ext uri="{FF2B5EF4-FFF2-40B4-BE49-F238E27FC236}">
                <a16:creationId xmlns:a16="http://schemas.microsoft.com/office/drawing/2014/main" id="{C4320778-D276-440D-0886-246799A266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6365" y="4083525"/>
            <a:ext cx="5062537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96;p22">
            <a:extLst>
              <a:ext uri="{FF2B5EF4-FFF2-40B4-BE49-F238E27FC236}">
                <a16:creationId xmlns:a16="http://schemas.microsoft.com/office/drawing/2014/main" id="{83D8FF09-0A62-9CD6-4CA6-4CC638C7B11E}"/>
              </a:ext>
            </a:extLst>
          </p:cNvPr>
          <p:cNvSpPr txBox="1"/>
          <p:nvPr/>
        </p:nvSpPr>
        <p:spPr>
          <a:xfrm>
            <a:off x="1285878" y="3763196"/>
            <a:ext cx="42132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Podemos seleccionar desde y hasta un índice particular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88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669063" y="1089840"/>
            <a:ext cx="10891185" cy="5236590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673965" y="226413"/>
            <a:ext cx="5240694" cy="681136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Selección en una Matriz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oogle Shape;302;p23">
            <a:extLst>
              <a:ext uri="{FF2B5EF4-FFF2-40B4-BE49-F238E27FC236}">
                <a16:creationId xmlns:a16="http://schemas.microsoft.com/office/drawing/2014/main" id="{049CF765-FB3C-438C-F235-07AA52B90B8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7952" y="1305317"/>
            <a:ext cx="5038725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08;p23">
            <a:extLst>
              <a:ext uri="{FF2B5EF4-FFF2-40B4-BE49-F238E27FC236}">
                <a16:creationId xmlns:a16="http://schemas.microsoft.com/office/drawing/2014/main" id="{4CCBE376-4AFC-BF03-9C1C-3029ABA3E8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4626" y="5234178"/>
            <a:ext cx="497205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9;p23">
            <a:extLst>
              <a:ext uri="{FF2B5EF4-FFF2-40B4-BE49-F238E27FC236}">
                <a16:creationId xmlns:a16="http://schemas.microsoft.com/office/drawing/2014/main" id="{99B2DDDC-B57E-F125-C6B2-42E4473B2854}"/>
              </a:ext>
            </a:extLst>
          </p:cNvPr>
          <p:cNvSpPr txBox="1"/>
          <p:nvPr/>
        </p:nvSpPr>
        <p:spPr>
          <a:xfrm>
            <a:off x="1637952" y="4946149"/>
            <a:ext cx="37948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Seleccionando una sección con la notación “slice”</a:t>
            </a:r>
            <a:endParaRPr/>
          </a:p>
        </p:txBody>
      </p:sp>
      <p:pic>
        <p:nvPicPr>
          <p:cNvPr id="7" name="Google Shape;303;p23">
            <a:extLst>
              <a:ext uri="{FF2B5EF4-FFF2-40B4-BE49-F238E27FC236}">
                <a16:creationId xmlns:a16="http://schemas.microsoft.com/office/drawing/2014/main" id="{54A6C5CF-618A-919D-E862-14EE936E3B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98144" y="1955117"/>
            <a:ext cx="1485900" cy="60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304;p23">
            <a:extLst>
              <a:ext uri="{FF2B5EF4-FFF2-40B4-BE49-F238E27FC236}">
                <a16:creationId xmlns:a16="http://schemas.microsoft.com/office/drawing/2014/main" id="{8899CB00-B759-A120-F841-61E16F66243B}"/>
              </a:ext>
            </a:extLst>
          </p:cNvPr>
          <p:cNvCxnSpPr/>
          <p:nvPr/>
        </p:nvCxnSpPr>
        <p:spPr>
          <a:xfrm>
            <a:off x="8671616" y="1510369"/>
            <a:ext cx="0" cy="43204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" name="Google Shape;305;p23">
            <a:extLst>
              <a:ext uri="{FF2B5EF4-FFF2-40B4-BE49-F238E27FC236}">
                <a16:creationId xmlns:a16="http://schemas.microsoft.com/office/drawing/2014/main" id="{015DCD71-2AD8-7046-04D7-DBDF06EF395F}"/>
              </a:ext>
            </a:extLst>
          </p:cNvPr>
          <p:cNvSpPr txBox="1"/>
          <p:nvPr/>
        </p:nvSpPr>
        <p:spPr>
          <a:xfrm>
            <a:off x="8244256" y="1246498"/>
            <a:ext cx="8547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Columna 0</a:t>
            </a:r>
            <a:endParaRPr/>
          </a:p>
        </p:txBody>
      </p:sp>
      <p:cxnSp>
        <p:nvCxnSpPr>
          <p:cNvPr id="14" name="Google Shape;306;p23">
            <a:extLst>
              <a:ext uri="{FF2B5EF4-FFF2-40B4-BE49-F238E27FC236}">
                <a16:creationId xmlns:a16="http://schemas.microsoft.com/office/drawing/2014/main" id="{D13F9392-A6B9-3C77-8D7E-4CCB0CB92366}"/>
              </a:ext>
            </a:extLst>
          </p:cNvPr>
          <p:cNvCxnSpPr/>
          <p:nvPr/>
        </p:nvCxnSpPr>
        <p:spPr>
          <a:xfrm>
            <a:off x="7998144" y="2374217"/>
            <a:ext cx="5040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" name="Google Shape;307;p23">
            <a:extLst>
              <a:ext uri="{FF2B5EF4-FFF2-40B4-BE49-F238E27FC236}">
                <a16:creationId xmlns:a16="http://schemas.microsoft.com/office/drawing/2014/main" id="{E515569C-F823-8C01-5734-A80D400F8E96}"/>
              </a:ext>
            </a:extLst>
          </p:cNvPr>
          <p:cNvSpPr txBox="1"/>
          <p:nvPr/>
        </p:nvSpPr>
        <p:spPr>
          <a:xfrm>
            <a:off x="7506070" y="2242734"/>
            <a:ext cx="5132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Fila 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334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058732" y="1552909"/>
            <a:ext cx="9972593" cy="4148858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167033" y="333458"/>
            <a:ext cx="3100753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Asignar Valores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315;p24">
            <a:extLst>
              <a:ext uri="{FF2B5EF4-FFF2-40B4-BE49-F238E27FC236}">
                <a16:creationId xmlns:a16="http://schemas.microsoft.com/office/drawing/2014/main" id="{12DEFBD7-2418-FD90-2893-AD0A2F93B480}"/>
              </a:ext>
            </a:extLst>
          </p:cNvPr>
          <p:cNvSpPr txBox="1"/>
          <p:nvPr/>
        </p:nvSpPr>
        <p:spPr>
          <a:xfrm>
            <a:off x="1349048" y="1951384"/>
            <a:ext cx="70052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Podemos asignar valores a un elemento particular o bien a un rango de elementos del arreglo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9" name="Google Shape;316;p24">
            <a:extLst>
              <a:ext uri="{FF2B5EF4-FFF2-40B4-BE49-F238E27FC236}">
                <a16:creationId xmlns:a16="http://schemas.microsoft.com/office/drawing/2014/main" id="{985053B1-B87E-D291-9A54-26795E212E0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81376" y="2417750"/>
            <a:ext cx="4991100" cy="2419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866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795066" y="1281586"/>
            <a:ext cx="10788520" cy="4954210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790278" y="425340"/>
            <a:ext cx="3955645" cy="6872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</a:rPr>
              <a:t>Selección Condicional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Source Sans Pro" panose="020B0503030403020204" pitchFamily="34" charset="0"/>
            </a:endParaRPr>
          </a:p>
        </p:txBody>
      </p:sp>
      <p:pic>
        <p:nvPicPr>
          <p:cNvPr id="13" name="Google Shape;322;p25">
            <a:extLst>
              <a:ext uri="{FF2B5EF4-FFF2-40B4-BE49-F238E27FC236}">
                <a16:creationId xmlns:a16="http://schemas.microsoft.com/office/drawing/2014/main" id="{75EA804A-6DCB-8504-8C6B-D8CAA614D3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9688" y="1412892"/>
            <a:ext cx="4962525" cy="3114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323;p25">
            <a:extLst>
              <a:ext uri="{FF2B5EF4-FFF2-40B4-BE49-F238E27FC236}">
                <a16:creationId xmlns:a16="http://schemas.microsoft.com/office/drawing/2014/main" id="{86B3E0CE-204E-F0BC-E4A4-62127F08DB9E}"/>
              </a:ext>
            </a:extLst>
          </p:cNvPr>
          <p:cNvCxnSpPr>
            <a:cxnSpLocks/>
          </p:cNvCxnSpPr>
          <p:nvPr/>
        </p:nvCxnSpPr>
        <p:spPr>
          <a:xfrm flipV="1">
            <a:off x="5269021" y="4293211"/>
            <a:ext cx="0" cy="44121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" name="Google Shape;324;p25">
            <a:extLst>
              <a:ext uri="{FF2B5EF4-FFF2-40B4-BE49-F238E27FC236}">
                <a16:creationId xmlns:a16="http://schemas.microsoft.com/office/drawing/2014/main" id="{8ABF1A9D-D893-E7DA-B11D-B98364F7C877}"/>
              </a:ext>
            </a:extLst>
          </p:cNvPr>
          <p:cNvSpPr txBox="1"/>
          <p:nvPr/>
        </p:nvSpPr>
        <p:spPr>
          <a:xfrm>
            <a:off x="3228316" y="4802785"/>
            <a:ext cx="32289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Sólo retorna los elementos que tienen valor True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6" name="Google Shape;325;p25">
            <a:extLst>
              <a:ext uri="{FF2B5EF4-FFF2-40B4-BE49-F238E27FC236}">
                <a16:creationId xmlns:a16="http://schemas.microsoft.com/office/drawing/2014/main" id="{416A3819-0DAA-FFCE-DD6D-FBC25B6FC3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4277" y="5373331"/>
            <a:ext cx="49530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26;p25">
            <a:extLst>
              <a:ext uri="{FF2B5EF4-FFF2-40B4-BE49-F238E27FC236}">
                <a16:creationId xmlns:a16="http://schemas.microsoft.com/office/drawing/2014/main" id="{139E4799-3485-1161-5BD0-392CBBB09D87}"/>
              </a:ext>
            </a:extLst>
          </p:cNvPr>
          <p:cNvSpPr txBox="1"/>
          <p:nvPr/>
        </p:nvSpPr>
        <p:spPr>
          <a:xfrm>
            <a:off x="1469688" y="5098113"/>
            <a:ext cx="156038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Modo resumido</a:t>
            </a:r>
            <a:endParaRPr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77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398469" y="1491090"/>
            <a:ext cx="9404002" cy="3861220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278153" y="567593"/>
            <a:ext cx="5573950" cy="627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333;p26">
            <a:extLst>
              <a:ext uri="{FF2B5EF4-FFF2-40B4-BE49-F238E27FC236}">
                <a16:creationId xmlns:a16="http://schemas.microsoft.com/office/drawing/2014/main" id="{266928EB-C752-2ACB-998B-EDD6D1BAACA0}"/>
              </a:ext>
            </a:extLst>
          </p:cNvPr>
          <p:cNvSpPr txBox="1"/>
          <p:nvPr/>
        </p:nvSpPr>
        <p:spPr>
          <a:xfrm>
            <a:off x="1617116" y="1792443"/>
            <a:ext cx="49321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Dado el siguiente arreglo 2D, selección la </a:t>
            </a:r>
            <a:r>
              <a:rPr lang="es-CL" sz="14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submatriz</a:t>
            </a: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que se indica.</a:t>
            </a:r>
            <a:endParaRPr sz="1400" dirty="0">
              <a:solidFill>
                <a:schemeClr val="bg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0937EC7E-86AF-13CF-1A6C-D60CCACF5617}"/>
              </a:ext>
            </a:extLst>
          </p:cNvPr>
          <p:cNvGrpSpPr/>
          <p:nvPr/>
        </p:nvGrpSpPr>
        <p:grpSpPr>
          <a:xfrm>
            <a:off x="3933467" y="2395202"/>
            <a:ext cx="4534533" cy="2476846"/>
            <a:chOff x="4063809" y="2345071"/>
            <a:chExt cx="4534533" cy="2476846"/>
          </a:xfrm>
        </p:grpSpPr>
        <p:pic>
          <p:nvPicPr>
            <p:cNvPr id="4" name="Google Shape;331;p26">
              <a:extLst>
                <a:ext uri="{FF2B5EF4-FFF2-40B4-BE49-F238E27FC236}">
                  <a16:creationId xmlns:a16="http://schemas.microsoft.com/office/drawing/2014/main" id="{AA63AAD4-78B5-BE9A-DC72-F604A69BFA4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4063809" y="2345071"/>
              <a:ext cx="4534533" cy="2476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82CDB7AC-3E52-9022-5558-CC6D29C072FB}"/>
                </a:ext>
              </a:extLst>
            </p:cNvPr>
            <p:cNvSpPr/>
            <p:nvPr/>
          </p:nvSpPr>
          <p:spPr>
            <a:xfrm>
              <a:off x="5444289" y="4060658"/>
              <a:ext cx="1764631" cy="4612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85192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ADFF12F-A542-D004-B288-D2F8FCAABC09}"/>
              </a:ext>
            </a:extLst>
          </p:cNvPr>
          <p:cNvSpPr txBox="1">
            <a:spLocks/>
          </p:cNvSpPr>
          <p:nvPr/>
        </p:nvSpPr>
        <p:spPr bwMode="auto">
          <a:xfrm>
            <a:off x="163674" y="3578111"/>
            <a:ext cx="7804668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 y Copia de un Arreglo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66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986500" y="1261297"/>
            <a:ext cx="9433848" cy="4254501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4" name="Google Shape;347;p28">
            <a:extLst>
              <a:ext uri="{FF2B5EF4-FFF2-40B4-BE49-F238E27FC236}">
                <a16:creationId xmlns:a16="http://schemas.microsoft.com/office/drawing/2014/main" id="{1AD0A422-54C4-5275-15B1-37C9A82559D1}"/>
              </a:ext>
            </a:extLst>
          </p:cNvPr>
          <p:cNvSpPr/>
          <p:nvPr/>
        </p:nvSpPr>
        <p:spPr>
          <a:xfrm>
            <a:off x="1235261" y="4477179"/>
            <a:ext cx="4043003" cy="69975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916315" y="311028"/>
            <a:ext cx="6899812" cy="58695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 a un Arreglo </a:t>
            </a:r>
            <a:r>
              <a:rPr lang="es-ES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348;p28">
            <a:extLst>
              <a:ext uri="{FF2B5EF4-FFF2-40B4-BE49-F238E27FC236}">
                <a16:creationId xmlns:a16="http://schemas.microsoft.com/office/drawing/2014/main" id="{928F6A3E-619F-49D9-CF9D-37C05191438C}"/>
              </a:ext>
            </a:extLst>
          </p:cNvPr>
          <p:cNvSpPr txBox="1"/>
          <p:nvPr/>
        </p:nvSpPr>
        <p:spPr>
          <a:xfrm>
            <a:off x="1772755" y="4599862"/>
            <a:ext cx="35957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Al hacer un </a:t>
            </a:r>
            <a:r>
              <a:rPr lang="es-CL" sz="12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</a:t>
            </a:r>
            <a:r>
              <a:rPr lang="es-CL" sz="12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, se extrae una referencia al arreglo original y no una copia.</a:t>
            </a:r>
            <a:endParaRPr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Google Shape;349;p28">
            <a:extLst>
              <a:ext uri="{FF2B5EF4-FFF2-40B4-BE49-F238E27FC236}">
                <a16:creationId xmlns:a16="http://schemas.microsoft.com/office/drawing/2014/main" id="{6EABCF81-F8A8-BDE7-850A-5D1053C93E2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4010" y="4579658"/>
            <a:ext cx="419100" cy="5048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Google Shape;346;p28">
            <a:extLst>
              <a:ext uri="{FF2B5EF4-FFF2-40B4-BE49-F238E27FC236}">
                <a16:creationId xmlns:a16="http://schemas.microsoft.com/office/drawing/2014/main" id="{45B3F727-A86B-0201-F919-A01121D39901}"/>
              </a:ext>
            </a:extLst>
          </p:cNvPr>
          <p:cNvSpPr txBox="1"/>
          <p:nvPr/>
        </p:nvSpPr>
        <p:spPr>
          <a:xfrm>
            <a:off x="1172089" y="1409489"/>
            <a:ext cx="45345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Extraigamos</a:t>
            </a:r>
            <a:r>
              <a:rPr lang="es-CL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s-CL" sz="14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slice</a:t>
            </a: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y modifiquemos sus valores: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Google Shape;350;p28">
            <a:extLst>
              <a:ext uri="{FF2B5EF4-FFF2-40B4-BE49-F238E27FC236}">
                <a16:creationId xmlns:a16="http://schemas.microsoft.com/office/drawing/2014/main" id="{9661D82C-9BBD-47B9-52E9-8B0744B1E2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3379" y="1344089"/>
            <a:ext cx="4534533" cy="38200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360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257936" y="1345163"/>
            <a:ext cx="9431488" cy="4313638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257936" y="348062"/>
            <a:ext cx="5571356" cy="627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Copiando un Arreglo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oogle Shape;355;p29">
            <a:extLst>
              <a:ext uri="{FF2B5EF4-FFF2-40B4-BE49-F238E27FC236}">
                <a16:creationId xmlns:a16="http://schemas.microsoft.com/office/drawing/2014/main" id="{548A8CE1-867C-6254-2064-9DDB1C8C25C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23904" y="1501639"/>
            <a:ext cx="4544059" cy="39057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57;p29">
            <a:extLst>
              <a:ext uri="{FF2B5EF4-FFF2-40B4-BE49-F238E27FC236}">
                <a16:creationId xmlns:a16="http://schemas.microsoft.com/office/drawing/2014/main" id="{7AAC332E-0E60-AC40-65B5-29518660E43E}"/>
              </a:ext>
            </a:extLst>
          </p:cNvPr>
          <p:cNvSpPr txBox="1"/>
          <p:nvPr/>
        </p:nvSpPr>
        <p:spPr>
          <a:xfrm>
            <a:off x="1463509" y="1555743"/>
            <a:ext cx="369188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Hay que expresamente utilizar una función para copiar un arreglo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Google Shape;358;p29">
            <a:extLst>
              <a:ext uri="{FF2B5EF4-FFF2-40B4-BE49-F238E27FC236}">
                <a16:creationId xmlns:a16="http://schemas.microsoft.com/office/drawing/2014/main" id="{0CF3BBAF-18AD-FEA1-8D84-09CAD30A4855}"/>
              </a:ext>
            </a:extLst>
          </p:cNvPr>
          <p:cNvCxnSpPr>
            <a:cxnSpLocks/>
          </p:cNvCxnSpPr>
          <p:nvPr/>
        </p:nvCxnSpPr>
        <p:spPr>
          <a:xfrm flipH="1">
            <a:off x="7349070" y="2895241"/>
            <a:ext cx="5084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" name="Google Shape;359;p29">
            <a:extLst>
              <a:ext uri="{FF2B5EF4-FFF2-40B4-BE49-F238E27FC236}">
                <a16:creationId xmlns:a16="http://schemas.microsoft.com/office/drawing/2014/main" id="{634FAD59-018B-4678-5BE6-E7135DB7C63F}"/>
              </a:ext>
            </a:extLst>
          </p:cNvPr>
          <p:cNvSpPr txBox="1"/>
          <p:nvPr/>
        </p:nvSpPr>
        <p:spPr>
          <a:xfrm>
            <a:off x="7832558" y="2756741"/>
            <a:ext cx="15233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 instrucción mágica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32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ADFF12F-A542-D004-B288-D2F8FCAABC09}"/>
              </a:ext>
            </a:extLst>
          </p:cNvPr>
          <p:cNvSpPr txBox="1">
            <a:spLocks/>
          </p:cNvSpPr>
          <p:nvPr/>
        </p:nvSpPr>
        <p:spPr bwMode="auto">
          <a:xfrm>
            <a:off x="751503" y="3652756"/>
            <a:ext cx="615315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Operaciones entre Arreglos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49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316363" y="815250"/>
            <a:ext cx="9542331" cy="5528288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304685" y="130847"/>
            <a:ext cx="5207579" cy="72803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Operaciones entre Arreglos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oogle Shape;372;p31">
            <a:extLst>
              <a:ext uri="{FF2B5EF4-FFF2-40B4-BE49-F238E27FC236}">
                <a16:creationId xmlns:a16="http://schemas.microsoft.com/office/drawing/2014/main" id="{FC8D889C-FCCF-2EFE-4C33-2100A7DA84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17631" y="951728"/>
            <a:ext cx="5430008" cy="52585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71;p31">
            <a:extLst>
              <a:ext uri="{FF2B5EF4-FFF2-40B4-BE49-F238E27FC236}">
                <a16:creationId xmlns:a16="http://schemas.microsoft.com/office/drawing/2014/main" id="{734C6794-2C2C-F97A-B127-5361690A2926}"/>
              </a:ext>
            </a:extLst>
          </p:cNvPr>
          <p:cNvSpPr txBox="1"/>
          <p:nvPr/>
        </p:nvSpPr>
        <p:spPr>
          <a:xfrm>
            <a:off x="1557561" y="1108156"/>
            <a:ext cx="3514733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Los arreglos </a:t>
            </a:r>
            <a:r>
              <a:rPr lang="es-CL" sz="14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admiten operaciones aritméticas, las cuales son realizadas índice a índice.</a:t>
            </a:r>
            <a:endParaRPr sz="1400" dirty="0">
              <a:solidFill>
                <a:schemeClr val="bg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046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423049" y="1251037"/>
            <a:ext cx="9038563" cy="4542331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418341" y="318590"/>
            <a:ext cx="5312952" cy="71744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Operaciones con Escalares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333;p26">
            <a:extLst>
              <a:ext uri="{FF2B5EF4-FFF2-40B4-BE49-F238E27FC236}">
                <a16:creationId xmlns:a16="http://schemas.microsoft.com/office/drawing/2014/main" id="{266928EB-C752-2ACB-998B-EDD6D1BAACA0}"/>
              </a:ext>
            </a:extLst>
          </p:cNvPr>
          <p:cNvSpPr txBox="1"/>
          <p:nvPr/>
        </p:nvSpPr>
        <p:spPr>
          <a:xfrm>
            <a:off x="1583935" y="1463933"/>
            <a:ext cx="3073105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 la misma manera, los arreglos </a:t>
            </a:r>
            <a:r>
              <a:rPr lang="es-ES" sz="14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s-ES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pueden ser operados con escalares, en donde cada elemento del arreglo será operado independientemente.</a:t>
            </a:r>
          </a:p>
        </p:txBody>
      </p:sp>
      <p:pic>
        <p:nvPicPr>
          <p:cNvPr id="2" name="Google Shape;379;p32">
            <a:extLst>
              <a:ext uri="{FF2B5EF4-FFF2-40B4-BE49-F238E27FC236}">
                <a16:creationId xmlns:a16="http://schemas.microsoft.com/office/drawing/2014/main" id="{F097D0FD-C042-007D-287D-8869E078F6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7305" y="1459207"/>
            <a:ext cx="5496692" cy="35723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193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ADFF12F-A542-D004-B288-D2F8FCAABC09}"/>
              </a:ext>
            </a:extLst>
          </p:cNvPr>
          <p:cNvSpPr txBox="1">
            <a:spLocks/>
          </p:cNvSpPr>
          <p:nvPr/>
        </p:nvSpPr>
        <p:spPr bwMode="auto">
          <a:xfrm>
            <a:off x="751503" y="3802047"/>
            <a:ext cx="7338138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Constantes y Funciones Matemáticas</a:t>
            </a:r>
            <a:endParaRPr lang="es-MX" sz="32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51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464865" y="1607759"/>
            <a:ext cx="9323559" cy="3933659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491875" y="369998"/>
            <a:ext cx="7571743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</a:rPr>
              <a:t>Constantes y Funciones Matemáticas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Google Shape;346;p28">
            <a:extLst>
              <a:ext uri="{FF2B5EF4-FFF2-40B4-BE49-F238E27FC236}">
                <a16:creationId xmlns:a16="http://schemas.microsoft.com/office/drawing/2014/main" id="{45B3F727-A86B-0201-F919-A01121D39901}"/>
              </a:ext>
            </a:extLst>
          </p:cNvPr>
          <p:cNvSpPr txBox="1"/>
          <p:nvPr/>
        </p:nvSpPr>
        <p:spPr>
          <a:xfrm>
            <a:off x="2055894" y="1946842"/>
            <a:ext cx="273182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Además de </a:t>
            </a:r>
            <a:r>
              <a:rPr lang="es-ES" sz="14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s-ES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ES" sz="1400" dirty="0" err="1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s-ES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contiene también constantes y funciones matemáticas de uso cotidiano.</a:t>
            </a:r>
          </a:p>
        </p:txBody>
      </p:sp>
      <p:pic>
        <p:nvPicPr>
          <p:cNvPr id="2" name="Google Shape;397;g221ec631c08_0_70">
            <a:extLst>
              <a:ext uri="{FF2B5EF4-FFF2-40B4-BE49-F238E27FC236}">
                <a16:creationId xmlns:a16="http://schemas.microsoft.com/office/drawing/2014/main" id="{A7DA601B-1886-0C59-A7B6-6633A44A9B4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4841" y="1946840"/>
            <a:ext cx="4522002" cy="2937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783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438081" y="1432536"/>
            <a:ext cx="7511185" cy="4939051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438081" y="409578"/>
            <a:ext cx="7969509" cy="70453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Aplicando Funciones a un Arreglo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oogle Shape;403;p34">
            <a:extLst>
              <a:ext uri="{FF2B5EF4-FFF2-40B4-BE49-F238E27FC236}">
                <a16:creationId xmlns:a16="http://schemas.microsoft.com/office/drawing/2014/main" id="{30B9FD60-5142-2142-33EA-83365E5AF64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78919" y="1646890"/>
            <a:ext cx="5439534" cy="44964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362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D03562D5-4D4C-C7A6-B156-F5D202E91F13}"/>
              </a:ext>
            </a:extLst>
          </p:cNvPr>
          <p:cNvSpPr/>
          <p:nvPr/>
        </p:nvSpPr>
        <p:spPr>
          <a:xfrm>
            <a:off x="1278204" y="1304485"/>
            <a:ext cx="8990884" cy="4469781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98C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278204" y="447135"/>
            <a:ext cx="7847135" cy="7454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</a:rPr>
              <a:t>Aplicando Funciones a un Arreglo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Source Sans Pro" panose="020B0503030403020204" pitchFamily="34" charset="0"/>
            </a:endParaRPr>
          </a:p>
        </p:txBody>
      </p:sp>
      <p:pic>
        <p:nvPicPr>
          <p:cNvPr id="5" name="Google Shape;409;p35">
            <a:extLst>
              <a:ext uri="{FF2B5EF4-FFF2-40B4-BE49-F238E27FC236}">
                <a16:creationId xmlns:a16="http://schemas.microsoft.com/office/drawing/2014/main" id="{F7C95D79-2724-048D-F1EE-B4895203BFC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26972" y="1551042"/>
            <a:ext cx="5430008" cy="38772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11;p35">
            <a:extLst>
              <a:ext uri="{FF2B5EF4-FFF2-40B4-BE49-F238E27FC236}">
                <a16:creationId xmlns:a16="http://schemas.microsoft.com/office/drawing/2014/main" id="{F10305E6-41A7-5758-7772-BAB6460276E8}"/>
              </a:ext>
            </a:extLst>
          </p:cNvPr>
          <p:cNvSpPr txBox="1"/>
          <p:nvPr/>
        </p:nvSpPr>
        <p:spPr>
          <a:xfrm>
            <a:off x="1630795" y="3620297"/>
            <a:ext cx="1568974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Nótese que en este caso entrega un valor infinito negativo y levanta un </a:t>
            </a:r>
            <a:r>
              <a:rPr lang="es-CL" sz="14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r>
              <a:rPr lang="es-CL" sz="1400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al entregar el arreglo</a:t>
            </a:r>
            <a:r>
              <a:rPr lang="es-CL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410;p35">
            <a:extLst>
              <a:ext uri="{FF2B5EF4-FFF2-40B4-BE49-F238E27FC236}">
                <a16:creationId xmlns:a16="http://schemas.microsoft.com/office/drawing/2014/main" id="{5721550D-5255-34B8-85C2-E4542BF13AB5}"/>
              </a:ext>
            </a:extLst>
          </p:cNvPr>
          <p:cNvCxnSpPr>
            <a:cxnSpLocks/>
          </p:cNvCxnSpPr>
          <p:nvPr/>
        </p:nvCxnSpPr>
        <p:spPr>
          <a:xfrm>
            <a:off x="3224331" y="4300619"/>
            <a:ext cx="1072817" cy="71533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" name="Conector recto 7"/>
          <p:cNvCxnSpPr>
            <a:endCxn id="6" idx="1"/>
          </p:cNvCxnSpPr>
          <p:nvPr/>
        </p:nvCxnSpPr>
        <p:spPr>
          <a:xfrm>
            <a:off x="1600069" y="3969751"/>
            <a:ext cx="30726" cy="450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22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redondeado 4">
            <a:extLst>
              <a:ext uri="{FF2B5EF4-FFF2-40B4-BE49-F238E27FC236}">
                <a16:creationId xmlns:a16="http://schemas.microsoft.com/office/drawing/2014/main" id="{2B4A2D62-3355-5651-9EC7-495DE41CC5CE}"/>
              </a:ext>
            </a:extLst>
          </p:cNvPr>
          <p:cNvSpPr/>
          <p:nvPr/>
        </p:nvSpPr>
        <p:spPr>
          <a:xfrm>
            <a:off x="-585178" y="3057041"/>
            <a:ext cx="7592467" cy="1045333"/>
          </a:xfrm>
          <a:prstGeom prst="roundRect">
            <a:avLst>
              <a:gd name="adj" fmla="val 9640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 b="1" dirty="0">
              <a:solidFill>
                <a:srgbClr val="008CA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 bwMode="auto"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E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Dudas y consultas</a:t>
            </a:r>
          </a:p>
        </p:txBody>
      </p:sp>
    </p:spTree>
    <p:extLst>
      <p:ext uri="{BB962C8B-B14F-4D97-AF65-F5344CB8AC3E}">
        <p14:creationId xmlns:p14="http://schemas.microsoft.com/office/powerpoint/2010/main" val="135725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ADFF12F-A542-D004-B288-D2F8FCAABC09}"/>
              </a:ext>
            </a:extLst>
          </p:cNvPr>
          <p:cNvSpPr txBox="1">
            <a:spLocks/>
          </p:cNvSpPr>
          <p:nvPr/>
        </p:nvSpPr>
        <p:spPr bwMode="auto">
          <a:xfrm>
            <a:off x="704850" y="2924969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Presentación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98402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26BDBF-E58D-4DAC-8738-D11056BF4C72}">
  <ds:schemaRefs>
    <ds:schemaRef ds:uri="http://purl.org/dc/terms/"/>
    <ds:schemaRef ds:uri="470d2f17-52cb-407b-8136-5e632d1cee08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6171001b-fa9d-409b-8713-8b6a17935d68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7956</TotalTime>
  <Words>760</Words>
  <Application>Microsoft Office PowerPoint</Application>
  <PresentationFormat>Panorámica</PresentationFormat>
  <Paragraphs>114</Paragraphs>
  <Slides>40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1" baseType="lpstr">
      <vt:lpstr>Tema de Office</vt:lpstr>
      <vt:lpstr>   Librería NumPy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Diseño ITA</cp:lastModifiedBy>
  <cp:revision>471</cp:revision>
  <dcterms:created xsi:type="dcterms:W3CDTF">2023-01-03T12:28:26Z</dcterms:created>
  <dcterms:modified xsi:type="dcterms:W3CDTF">2025-10-06T15:52:01Z</dcterms:modified>
</cp:coreProperties>
</file>