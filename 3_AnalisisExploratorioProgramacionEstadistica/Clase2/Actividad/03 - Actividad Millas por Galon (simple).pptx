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562" r:id="rId5"/>
    <p:sldId id="595" r:id="rId6"/>
    <p:sldId id="633" r:id="rId7"/>
    <p:sldId id="634" r:id="rId8"/>
    <p:sldId id="389" r:id="rId9"/>
    <p:sldId id="632" r:id="rId10"/>
    <p:sldId id="635" r:id="rId11"/>
  </p:sldIdLst>
  <p:sldSz cx="12192000" cy="6858000"/>
  <p:notesSz cx="6858000" cy="9144000"/>
  <p:defaultTextStyle>
    <a:defPPr>
      <a:defRPr lang="es-ES_tradnl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8CAE"/>
    <a:srgbClr val="FD0075"/>
    <a:srgbClr val="98C340"/>
    <a:srgbClr val="F6A120"/>
    <a:srgbClr val="7FAEF2"/>
    <a:srgbClr val="000000"/>
    <a:srgbClr val="4E7FDE"/>
    <a:srgbClr val="006BCE"/>
    <a:srgbClr val="F8D6D9"/>
    <a:srgbClr val="8AD3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2C7F5E-195B-2CED-8807-3EB7F3A52C92}" v="2" dt="2025-10-06T17:25:56.4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803" autoAdjust="0"/>
    <p:restoredTop sz="96395" autoAdjust="0"/>
  </p:normalViewPr>
  <p:slideViewPr>
    <p:cSldViewPr snapToGrid="0">
      <p:cViewPr varScale="1">
        <p:scale>
          <a:sx n="111" d="100"/>
          <a:sy n="111" d="100"/>
        </p:scale>
        <p:origin x="372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802C7F5E-195B-2CED-8807-3EB7F3A52C92}"/>
    <pc:docChg chg="modSld">
      <pc:chgData name="" userId="" providerId="" clId="Web-{802C7F5E-195B-2CED-8807-3EB7F3A52C92}" dt="2025-10-06T17:25:56.441" v="0" actId="20577"/>
      <pc:docMkLst>
        <pc:docMk/>
      </pc:docMkLst>
      <pc:sldChg chg="modSp">
        <pc:chgData name="" userId="" providerId="" clId="Web-{802C7F5E-195B-2CED-8807-3EB7F3A52C92}" dt="2025-10-06T17:25:56.441" v="0" actId="20577"/>
        <pc:sldMkLst>
          <pc:docMk/>
          <pc:sldMk cId="1998777028" sldId="562"/>
        </pc:sldMkLst>
        <pc:spChg chg="mod">
          <ac:chgData name="" userId="" providerId="" clId="Web-{802C7F5E-195B-2CED-8807-3EB7F3A52C92}" dt="2025-10-06T17:25:56.441" v="0" actId="20577"/>
          <ac:spMkLst>
            <pc:docMk/>
            <pc:sldMk cId="1998777028" sldId="562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214ECDC-27AA-4BAE-B04E-533364742B70}" type="datetimeFigureOut">
              <a:rPr lang="es-ES_tradnl"/>
              <a:pPr>
                <a:defRPr/>
              </a:pPr>
              <a:t>06/10/2025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ES_tradnl" noProof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noProof="0"/>
              <a:t>Editar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ES_tradnl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661DC0F2-0470-49B2-BD20-1BE6BAB0CFEB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3CE86C-1FAA-476E-8610-6CF612D82F6D}" type="datetimeFigureOut">
              <a:rPr lang="es-ES_tradnl"/>
              <a:pPr>
                <a:defRPr/>
              </a:pPr>
              <a:t>06/10/2025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FDA0F7-3317-4A90-85A9-784F1E0F6A0E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269372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5A1AB2-ABDE-4AA7-B0BA-B4771DBF257E}" type="datetimeFigureOut">
              <a:rPr lang="es-ES_tradnl"/>
              <a:pPr>
                <a:defRPr/>
              </a:pPr>
              <a:t>06/10/2025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CBBCA2-D1A3-4B4D-AC73-9D069169A434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254672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6A1A31-6B2F-42D4-9D8B-250D0522AC84}" type="datetimeFigureOut">
              <a:rPr lang="es-ES_tradnl"/>
              <a:pPr>
                <a:defRPr/>
              </a:pPr>
              <a:t>06/10/2025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48B1C2-5544-4117-B964-FFA2790965CB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4244721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C90434-FF42-4568-BAFD-14D07093E120}" type="datetimeFigureOut">
              <a:rPr lang="es-ES_tradnl"/>
              <a:pPr>
                <a:defRPr/>
              </a:pPr>
              <a:t>06/10/2025</a:t>
            </a:fld>
            <a:endParaRPr lang="es-ES_tradnl"/>
          </a:p>
        </p:txBody>
      </p:sp>
      <p:sp>
        <p:nvSpPr>
          <p:cNvPr id="6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203834-0EF4-4D06-A8D3-876274F5BE0F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939723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7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E415DC-2033-47BD-86E8-F874CF6E7C58}" type="datetimeFigureOut">
              <a:rPr lang="es-ES_tradnl"/>
              <a:pPr>
                <a:defRPr/>
              </a:pPr>
              <a:t>06/10/2025</a:t>
            </a:fld>
            <a:endParaRPr lang="es-ES_tradnl"/>
          </a:p>
        </p:txBody>
      </p:sp>
      <p:sp>
        <p:nvSpPr>
          <p:cNvPr id="8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9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3AF083-3250-4136-BEB9-7AF9A938BA7A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3192155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8908FD-EE54-425E-B52D-A5E77FE0F4E1}" type="datetimeFigureOut">
              <a:rPr lang="es-ES_tradnl"/>
              <a:pPr>
                <a:defRPr/>
              </a:pPr>
              <a:t>06/10/2025</a:t>
            </a:fld>
            <a:endParaRPr lang="es-ES_tradnl"/>
          </a:p>
        </p:txBody>
      </p:sp>
      <p:sp>
        <p:nvSpPr>
          <p:cNvPr id="4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5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C4D746-ECE6-4F12-9BD7-02F1A03DE9BC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1155446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4B1D3B-28B6-43FE-A4A1-ACF50A9182C7}" type="datetimeFigureOut">
              <a:rPr lang="es-ES_tradnl"/>
              <a:pPr>
                <a:defRPr/>
              </a:pPr>
              <a:t>06/10/2025</a:t>
            </a:fld>
            <a:endParaRPr lang="es-ES_tradnl"/>
          </a:p>
        </p:txBody>
      </p:sp>
      <p:sp>
        <p:nvSpPr>
          <p:cNvPr id="3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4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EC160-BB17-4C5C-A913-243CEE97784F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2921665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2D298C-5E21-4FDC-838E-33C54A0835BE}" type="datetimeFigureOut">
              <a:rPr lang="es-ES_tradnl"/>
              <a:pPr>
                <a:defRPr/>
              </a:pPr>
              <a:t>06/10/2025</a:t>
            </a:fld>
            <a:endParaRPr lang="es-ES_tradnl"/>
          </a:p>
        </p:txBody>
      </p:sp>
      <p:sp>
        <p:nvSpPr>
          <p:cNvPr id="6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1B316F-FC05-4AA9-8B17-611F2B66785A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1524700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_tradnl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5492E0-A143-485F-B68F-8CC91249D59B}" type="datetimeFigureOut">
              <a:rPr lang="es-ES_tradnl"/>
              <a:pPr>
                <a:defRPr/>
              </a:pPr>
              <a:t>06/10/2025</a:t>
            </a:fld>
            <a:endParaRPr lang="es-ES_tradnl"/>
          </a:p>
        </p:txBody>
      </p:sp>
      <p:sp>
        <p:nvSpPr>
          <p:cNvPr id="6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C192D6-CB19-4D76-BAD3-1D4E4EA927D1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1631019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38D573-BBF9-4466-8100-20705A6765C2}" type="datetimeFigureOut">
              <a:rPr lang="es-ES_tradnl"/>
              <a:pPr>
                <a:defRPr/>
              </a:pPr>
              <a:t>06/10/2025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F13FBE-C0B8-4F7C-B7BE-9681116FC5EC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1856682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C05822-3120-4BF7-B215-1DFE2C6DC6A3}" type="datetimeFigureOut">
              <a:rPr lang="es-ES_tradnl"/>
              <a:pPr>
                <a:defRPr/>
              </a:pPr>
              <a:t>06/10/2025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9D8483-F2FB-4D92-932B-BB90B8B7CC0E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3455749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Marcador de título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n-US"/>
              <a:t>Haga clic para modificar el estilo de título del patrón</a:t>
            </a:r>
            <a:endParaRPr lang="es-ES_tradnl" altLang="en-US"/>
          </a:p>
        </p:txBody>
      </p:sp>
      <p:sp>
        <p:nvSpPr>
          <p:cNvPr id="1027" name="Marcador de texto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n-US"/>
              <a:t>Editar el estilo de texto del patrón</a:t>
            </a:r>
          </a:p>
          <a:p>
            <a:pPr lvl="1"/>
            <a:r>
              <a:rPr lang="es-ES" altLang="en-US"/>
              <a:t>Segundo nivel</a:t>
            </a:r>
          </a:p>
          <a:p>
            <a:pPr lvl="2"/>
            <a:r>
              <a:rPr lang="es-ES" altLang="en-US"/>
              <a:t>Tercer nivel</a:t>
            </a:r>
          </a:p>
          <a:p>
            <a:pPr lvl="3"/>
            <a:r>
              <a:rPr lang="es-ES" altLang="en-US"/>
              <a:t>Cuarto nivel</a:t>
            </a:r>
          </a:p>
          <a:p>
            <a:pPr lvl="4"/>
            <a:r>
              <a:rPr lang="es-ES" altLang="en-US"/>
              <a:t>Quinto nivel</a:t>
            </a:r>
            <a:endParaRPr lang="es-ES_tradnl" alt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40F057B8-E3CD-456E-9A46-2B8B20AF9933}" type="datetimeFigureOut">
              <a:rPr lang="es-ES_tradnl"/>
              <a:pPr>
                <a:defRPr/>
              </a:pPr>
              <a:t>06/10/2025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F59D94CD-8797-4F90-8E76-E70F46B730A3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 con confianza media">
            <a:extLst>
              <a:ext uri="{FF2B5EF4-FFF2-40B4-BE49-F238E27FC236}">
                <a16:creationId xmlns:a16="http://schemas.microsoft.com/office/drawing/2014/main" id="{A8A3BFFD-35E7-1135-4D1C-50C91FA77E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037762"/>
          </a:xfrm>
          <a:prstGeom prst="rect">
            <a:avLst/>
          </a:prstGeom>
        </p:spPr>
      </p:pic>
      <p:sp>
        <p:nvSpPr>
          <p:cNvPr id="5" name="Rectangle: Rounded Corners 22"/>
          <p:cNvSpPr/>
          <p:nvPr/>
        </p:nvSpPr>
        <p:spPr>
          <a:xfrm>
            <a:off x="3890332" y="3715090"/>
            <a:ext cx="7022778" cy="1655893"/>
          </a:xfrm>
          <a:prstGeom prst="roundRect">
            <a:avLst>
              <a:gd name="adj" fmla="val 7874"/>
            </a:avLst>
          </a:prstGeom>
          <a:solidFill>
            <a:schemeClr val="tx1">
              <a:alpha val="76000"/>
            </a:schemeClr>
          </a:solidFill>
          <a:ln>
            <a:noFill/>
            <a:prstDash val="lg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540000" anchor="ctr"/>
          <a:lstStyle/>
          <a:p>
            <a:pPr algn="ctr">
              <a:defRPr/>
            </a:pPr>
            <a:endParaRPr lang="en-US" sz="2800" b="1" dirty="0"/>
          </a:p>
        </p:txBody>
      </p:sp>
      <p:sp>
        <p:nvSpPr>
          <p:cNvPr id="6" name="Título 1"/>
          <p:cNvSpPr>
            <a:spLocks noGrp="1"/>
          </p:cNvSpPr>
          <p:nvPr>
            <p:ph type="ctrTitle"/>
          </p:nvPr>
        </p:nvSpPr>
        <p:spPr>
          <a:xfrm>
            <a:off x="4249782" y="3841518"/>
            <a:ext cx="6261463" cy="1403036"/>
          </a:xfrm>
        </p:spPr>
        <p:txBody>
          <a:bodyPr rtlCol="0">
            <a:no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br>
              <a:rPr lang="es-CL" sz="4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4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Actividad: Millas por Galón</a:t>
            </a:r>
            <a:endParaRPr lang="es-ES_tradnl" sz="2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Google Shape;92;p1"/>
          <p:cNvSpPr txBox="1"/>
          <p:nvPr/>
        </p:nvSpPr>
        <p:spPr>
          <a:xfrm>
            <a:off x="4084320" y="3179678"/>
            <a:ext cx="702277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s-ES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  Análisis Exploratorio y Programación Estadística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98777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 bwMode="auto">
          <a:xfrm>
            <a:off x="6096000" y="1183341"/>
            <a:ext cx="5656729" cy="1525537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s-MX" sz="3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Actividad: Millas por galón</a:t>
            </a:r>
            <a:endParaRPr lang="es-MX" sz="3200" dirty="0">
              <a:solidFill>
                <a:schemeClr val="bg1">
                  <a:lumMod val="50000"/>
                </a:schemeClr>
              </a:solidFill>
              <a:latin typeface="Source Sans Pro" panose="020B0503030403020204" pitchFamily="34" charset="0"/>
            </a:endParaRPr>
          </a:p>
        </p:txBody>
      </p:sp>
      <p:sp>
        <p:nvSpPr>
          <p:cNvPr id="8" name="Rectángulo redondeado 4">
            <a:extLst>
              <a:ext uri="{FF2B5EF4-FFF2-40B4-BE49-F238E27FC236}">
                <a16:creationId xmlns:a16="http://schemas.microsoft.com/office/drawing/2014/main" id="{F54B704E-F625-E3FA-92EA-8240924D3BF1}"/>
              </a:ext>
            </a:extLst>
          </p:cNvPr>
          <p:cNvSpPr/>
          <p:nvPr/>
        </p:nvSpPr>
        <p:spPr>
          <a:xfrm>
            <a:off x="644757" y="1349553"/>
            <a:ext cx="5311415" cy="4412524"/>
          </a:xfrm>
          <a:prstGeom prst="roundRect">
            <a:avLst>
              <a:gd name="adj" fmla="val 2971"/>
            </a:avLst>
          </a:prstGeom>
          <a:solidFill>
            <a:srgbClr val="7FAEF2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pic>
        <p:nvPicPr>
          <p:cNvPr id="9" name="Picture 2" descr="5 técnicas de análisis de datos para la precisión de tus informes">
            <a:extLst>
              <a:ext uri="{FF2B5EF4-FFF2-40B4-BE49-F238E27FC236}">
                <a16:creationId xmlns:a16="http://schemas.microsoft.com/office/drawing/2014/main" id="{2EF599DD-F081-0474-AC33-107E6F0BE3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255" y="1802674"/>
            <a:ext cx="4956418" cy="3297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1931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redondeado 6"/>
          <p:cNvSpPr/>
          <p:nvPr/>
        </p:nvSpPr>
        <p:spPr>
          <a:xfrm>
            <a:off x="-194390" y="1148541"/>
            <a:ext cx="12733867" cy="1164353"/>
          </a:xfrm>
          <a:prstGeom prst="roundRect">
            <a:avLst>
              <a:gd name="adj" fmla="val 2971"/>
            </a:avLst>
          </a:prstGeom>
          <a:gradFill flip="none" rotWithShape="1">
            <a:gsLst>
              <a:gs pos="0">
                <a:srgbClr val="078CAE">
                  <a:shade val="30000"/>
                  <a:satMod val="115000"/>
                </a:srgbClr>
              </a:gs>
              <a:gs pos="50000">
                <a:srgbClr val="078CAE">
                  <a:shade val="67500"/>
                  <a:satMod val="115000"/>
                </a:srgbClr>
              </a:gs>
              <a:gs pos="100000">
                <a:srgbClr val="078CAE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" name="Título 1"/>
          <p:cNvSpPr txBox="1">
            <a:spLocks/>
          </p:cNvSpPr>
          <p:nvPr/>
        </p:nvSpPr>
        <p:spPr bwMode="auto">
          <a:xfrm>
            <a:off x="1130298" y="321704"/>
            <a:ext cx="10084493" cy="700307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s-ES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746CFDD-6FC3-5AA7-5C1D-362E2C5244F1}"/>
              </a:ext>
            </a:extLst>
          </p:cNvPr>
          <p:cNvSpPr txBox="1"/>
          <p:nvPr/>
        </p:nvSpPr>
        <p:spPr>
          <a:xfrm>
            <a:off x="1130299" y="1261166"/>
            <a:ext cx="9146116" cy="92230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ts val="2160"/>
              </a:lnSpc>
            </a:pPr>
            <a:r>
              <a:rPr lang="es-ES" sz="1600" dirty="0">
                <a:solidFill>
                  <a:schemeClr val="bg1"/>
                </a:solidFill>
                <a:latin typeface="+mn-lt"/>
                <a:ea typeface="Source Sans Pro"/>
              </a:rPr>
              <a:t>Se está haciendo una investigación en la industria automotriz para mejorar el rendimiento de los motores a combustible. Para esto, se recolectó un set de datos que contiene el rendimiento (millas por galón) de distintos modelos de automóviles, así como también de los factores que se piensa influyen.</a:t>
            </a:r>
          </a:p>
        </p:txBody>
      </p:sp>
      <p:sp>
        <p:nvSpPr>
          <p:cNvPr id="4" name="Rectángulo redondeado 1">
            <a:extLst>
              <a:ext uri="{FF2B5EF4-FFF2-40B4-BE49-F238E27FC236}">
                <a16:creationId xmlns:a16="http://schemas.microsoft.com/office/drawing/2014/main" id="{0B99778C-B5B5-1BAE-12CB-02C9A981455B}"/>
              </a:ext>
            </a:extLst>
          </p:cNvPr>
          <p:cNvSpPr/>
          <p:nvPr/>
        </p:nvSpPr>
        <p:spPr>
          <a:xfrm>
            <a:off x="1130298" y="2597393"/>
            <a:ext cx="9146117" cy="3707742"/>
          </a:xfrm>
          <a:prstGeom prst="roundRect">
            <a:avLst>
              <a:gd name="adj" fmla="val 2971"/>
            </a:avLst>
          </a:prstGeom>
          <a:solidFill>
            <a:schemeClr val="bg1"/>
          </a:solidFill>
          <a:ln w="38100">
            <a:solidFill>
              <a:srgbClr val="078C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5" name="Picture 2" descr="Kia Niro Miles per Gallon | Andy Mohr Kia Avon IN">
            <a:extLst>
              <a:ext uri="{FF2B5EF4-FFF2-40B4-BE49-F238E27FC236}">
                <a16:creationId xmlns:a16="http://schemas.microsoft.com/office/drawing/2014/main" id="{24C94E93-FAF5-3AF9-D1CA-D36C671DA1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866"/>
          <a:stretch/>
        </p:blipFill>
        <p:spPr bwMode="auto">
          <a:xfrm>
            <a:off x="1299631" y="2723923"/>
            <a:ext cx="8807450" cy="3454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3598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-237068" y="924426"/>
            <a:ext cx="12733867" cy="785842"/>
          </a:xfrm>
          <a:prstGeom prst="roundRect">
            <a:avLst>
              <a:gd name="adj" fmla="val 2971"/>
            </a:avLst>
          </a:prstGeom>
          <a:gradFill flip="none" rotWithShape="1">
            <a:gsLst>
              <a:gs pos="0">
                <a:srgbClr val="078CAE">
                  <a:shade val="30000"/>
                  <a:satMod val="115000"/>
                </a:srgbClr>
              </a:gs>
              <a:gs pos="50000">
                <a:srgbClr val="078CAE">
                  <a:shade val="67500"/>
                  <a:satMod val="115000"/>
                </a:srgbClr>
              </a:gs>
              <a:gs pos="100000">
                <a:srgbClr val="078CAE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" name="Título 1"/>
          <p:cNvSpPr txBox="1">
            <a:spLocks/>
          </p:cNvSpPr>
          <p:nvPr/>
        </p:nvSpPr>
        <p:spPr bwMode="auto">
          <a:xfrm>
            <a:off x="1556805" y="-54005"/>
            <a:ext cx="8778804" cy="10080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just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s-ES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746CFDD-6FC3-5AA7-5C1D-362E2C5244F1}"/>
              </a:ext>
            </a:extLst>
          </p:cNvPr>
          <p:cNvSpPr txBox="1"/>
          <p:nvPr/>
        </p:nvSpPr>
        <p:spPr>
          <a:xfrm>
            <a:off x="1556805" y="1030469"/>
            <a:ext cx="9146118" cy="50783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El set de datos levantado contiene la siguiente información.</a:t>
            </a:r>
          </a:p>
        </p:txBody>
      </p:sp>
      <p:sp>
        <p:nvSpPr>
          <p:cNvPr id="4" name="Rectángulo redondeado 1">
            <a:extLst>
              <a:ext uri="{FF2B5EF4-FFF2-40B4-BE49-F238E27FC236}">
                <a16:creationId xmlns:a16="http://schemas.microsoft.com/office/drawing/2014/main" id="{0B99778C-B5B5-1BAE-12CB-02C9A981455B}"/>
              </a:ext>
            </a:extLst>
          </p:cNvPr>
          <p:cNvSpPr/>
          <p:nvPr/>
        </p:nvSpPr>
        <p:spPr>
          <a:xfrm>
            <a:off x="1556806" y="1924172"/>
            <a:ext cx="9146117" cy="4362003"/>
          </a:xfrm>
          <a:prstGeom prst="roundRect">
            <a:avLst>
              <a:gd name="adj" fmla="val 2971"/>
            </a:avLst>
          </a:prstGeom>
          <a:solidFill>
            <a:schemeClr val="bg1"/>
          </a:solidFill>
          <a:ln w="38100">
            <a:solidFill>
              <a:srgbClr val="078C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4CC9973-4187-F8E3-538D-E43EEEA9E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342" y="2230885"/>
            <a:ext cx="7799044" cy="3309557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0B57250B-3D5B-F24F-1C12-248BBD9AF57B}"/>
              </a:ext>
            </a:extLst>
          </p:cNvPr>
          <p:cNvSpPr txBox="1"/>
          <p:nvPr/>
        </p:nvSpPr>
        <p:spPr>
          <a:xfrm>
            <a:off x="2230342" y="5693266"/>
            <a:ext cx="30296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Mpg</a:t>
            </a:r>
            <a:r>
              <a:rPr lang="es-CL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Rendimiento (millas por galón)</a:t>
            </a:r>
          </a:p>
        </p:txBody>
      </p:sp>
    </p:spTree>
    <p:extLst>
      <p:ext uri="{BB962C8B-B14F-4D97-AF65-F5344CB8AC3E}">
        <p14:creationId xmlns:p14="http://schemas.microsoft.com/office/powerpoint/2010/main" val="485560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936625" y="1929493"/>
            <a:ext cx="10318751" cy="2634343"/>
          </a:xfrm>
          <a:prstGeom prst="roundRect">
            <a:avLst>
              <a:gd name="adj" fmla="val 2971"/>
            </a:avLst>
          </a:prstGeom>
          <a:gradFill flip="none" rotWithShape="1">
            <a:gsLst>
              <a:gs pos="0">
                <a:srgbClr val="078CAE">
                  <a:shade val="30000"/>
                  <a:satMod val="115000"/>
                </a:srgbClr>
              </a:gs>
              <a:gs pos="50000">
                <a:srgbClr val="078CAE">
                  <a:shade val="67500"/>
                  <a:satMod val="115000"/>
                </a:srgbClr>
              </a:gs>
              <a:gs pos="100000">
                <a:srgbClr val="078CAE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" name="Título 1"/>
          <p:cNvSpPr txBox="1">
            <a:spLocks/>
          </p:cNvSpPr>
          <p:nvPr/>
        </p:nvSpPr>
        <p:spPr bwMode="auto">
          <a:xfrm>
            <a:off x="1295359" y="843096"/>
            <a:ext cx="10423566" cy="715827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s-ES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746CFDD-6FC3-5AA7-5C1D-362E2C5244F1}"/>
              </a:ext>
            </a:extLst>
          </p:cNvPr>
          <p:cNvSpPr txBox="1"/>
          <p:nvPr/>
        </p:nvSpPr>
        <p:spPr>
          <a:xfrm>
            <a:off x="1295359" y="2183616"/>
            <a:ext cx="9642607" cy="216982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El objetivo de este trabajo es descubrir cuál es la variable que tiene mayor incidencia en el rendimiento de un motor a combustible. Las variables a estudiar son las siguientes: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Horse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 </a:t>
            </a:r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power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Weight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Acceleration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55835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-457200" y="1763111"/>
            <a:ext cx="9405891" cy="3483592"/>
          </a:xfrm>
          <a:prstGeom prst="roundRect">
            <a:avLst>
              <a:gd name="adj" fmla="val 2971"/>
            </a:avLst>
          </a:prstGeom>
          <a:gradFill flip="none" rotWithShape="1">
            <a:gsLst>
              <a:gs pos="0">
                <a:srgbClr val="078CAE">
                  <a:shade val="30000"/>
                  <a:satMod val="115000"/>
                </a:srgbClr>
              </a:gs>
              <a:gs pos="50000">
                <a:srgbClr val="078CAE">
                  <a:shade val="67500"/>
                  <a:satMod val="115000"/>
                </a:srgbClr>
              </a:gs>
              <a:gs pos="100000">
                <a:srgbClr val="078CAE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" name="Título 1"/>
          <p:cNvSpPr txBox="1">
            <a:spLocks/>
          </p:cNvSpPr>
          <p:nvPr/>
        </p:nvSpPr>
        <p:spPr bwMode="auto">
          <a:xfrm>
            <a:off x="933451" y="661378"/>
            <a:ext cx="10782300" cy="10080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s-ES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Instrucciones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746CFDD-6FC3-5AA7-5C1D-362E2C5244F1}"/>
              </a:ext>
            </a:extLst>
          </p:cNvPr>
          <p:cNvSpPr txBox="1"/>
          <p:nvPr/>
        </p:nvSpPr>
        <p:spPr>
          <a:xfrm>
            <a:off x="933451" y="2004496"/>
            <a:ext cx="7705452" cy="300082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Cree un Notebook </a:t>
            </a:r>
            <a:r>
              <a:rPr lang="es-ES" b="1" dirty="0">
                <a:solidFill>
                  <a:schemeClr val="bg1"/>
                </a:solidFill>
                <a:latin typeface="+mn-lt"/>
                <a:ea typeface="Source Sans Pro"/>
              </a:rPr>
              <a:t>ordenado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, </a:t>
            </a:r>
            <a:r>
              <a:rPr lang="es-ES" b="1" dirty="0">
                <a:solidFill>
                  <a:schemeClr val="bg1"/>
                </a:solidFill>
                <a:latin typeface="+mn-lt"/>
                <a:ea typeface="Source Sans Pro"/>
              </a:rPr>
              <a:t>documentado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 y </a:t>
            </a:r>
            <a:r>
              <a:rPr lang="es-ES" b="1" dirty="0">
                <a:solidFill>
                  <a:schemeClr val="bg1"/>
                </a:solidFill>
                <a:latin typeface="+mn-lt"/>
                <a:ea typeface="Source Sans Pro"/>
              </a:rPr>
              <a:t>reproducible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 con su análisis.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Haga un breve </a:t>
            </a:r>
            <a:r>
              <a:rPr lang="es-ES" b="1" dirty="0">
                <a:solidFill>
                  <a:schemeClr val="bg1"/>
                </a:solidFill>
                <a:latin typeface="+mn-lt"/>
                <a:ea typeface="Source Sans Pro"/>
              </a:rPr>
              <a:t>análisis exploratorio 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de los datos, ¿es un problema lineal?.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Elabore </a:t>
            </a:r>
            <a:r>
              <a:rPr lang="es-ES" b="1" dirty="0">
                <a:solidFill>
                  <a:schemeClr val="bg1"/>
                </a:solidFill>
                <a:latin typeface="+mn-lt"/>
                <a:ea typeface="Source Sans Pro"/>
              </a:rPr>
              <a:t>tres modelos regresivos simples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, uno para cada variable a estudiar.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Calcular las </a:t>
            </a:r>
            <a:r>
              <a:rPr lang="es-ES" b="1" dirty="0">
                <a:solidFill>
                  <a:schemeClr val="bg1"/>
                </a:solidFill>
                <a:latin typeface="+mn-lt"/>
                <a:ea typeface="Source Sans Pro"/>
              </a:rPr>
              <a:t>métricas de error 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para cada modelo.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Calcular el </a:t>
            </a:r>
            <a:r>
              <a:rPr lang="es-ES" b="1" dirty="0">
                <a:solidFill>
                  <a:schemeClr val="bg1"/>
                </a:solidFill>
                <a:latin typeface="+mn-lt"/>
                <a:ea typeface="Source Sans Pro"/>
              </a:rPr>
              <a:t>coeficiente de determinación.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Hacer </a:t>
            </a:r>
            <a:r>
              <a:rPr lang="es-ES" b="1" dirty="0">
                <a:solidFill>
                  <a:schemeClr val="bg1"/>
                </a:solidFill>
                <a:latin typeface="+mn-lt"/>
                <a:ea typeface="Source Sans Pro"/>
              </a:rPr>
              <a:t>análisis de residuales.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¿Cuál es el factor que mayor incidencia tiene en el rendimiento?, ¿Por qué?.</a:t>
            </a:r>
          </a:p>
        </p:txBody>
      </p:sp>
    </p:spTree>
    <p:extLst>
      <p:ext uri="{BB962C8B-B14F-4D97-AF65-F5344CB8AC3E}">
        <p14:creationId xmlns:p14="http://schemas.microsoft.com/office/powerpoint/2010/main" val="4291451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redondeado 6"/>
          <p:cNvSpPr/>
          <p:nvPr/>
        </p:nvSpPr>
        <p:spPr>
          <a:xfrm>
            <a:off x="1357459" y="754144"/>
            <a:ext cx="5599522" cy="5263123"/>
          </a:xfrm>
          <a:prstGeom prst="roundRect">
            <a:avLst>
              <a:gd name="adj" fmla="val 2971"/>
            </a:avLst>
          </a:prstGeom>
          <a:solidFill>
            <a:schemeClr val="bg1"/>
          </a:solidFill>
          <a:ln w="28575">
            <a:solidFill>
              <a:srgbClr val="078C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6" name="Rectángulo redondeado 5"/>
          <p:cNvSpPr/>
          <p:nvPr/>
        </p:nvSpPr>
        <p:spPr>
          <a:xfrm>
            <a:off x="7303304" y="2590254"/>
            <a:ext cx="4920343" cy="1590900"/>
          </a:xfrm>
          <a:prstGeom prst="roundRect">
            <a:avLst>
              <a:gd name="adj" fmla="val 2971"/>
            </a:avLst>
          </a:prstGeom>
          <a:gradFill flip="none" rotWithShape="1">
            <a:gsLst>
              <a:gs pos="0">
                <a:srgbClr val="078CAE">
                  <a:shade val="30000"/>
                  <a:satMod val="115000"/>
                </a:srgbClr>
              </a:gs>
              <a:gs pos="50000">
                <a:srgbClr val="078CAE">
                  <a:shade val="67500"/>
                  <a:satMod val="115000"/>
                </a:srgbClr>
              </a:gs>
              <a:gs pos="100000">
                <a:srgbClr val="078CAE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3980" y="1051873"/>
            <a:ext cx="5106479" cy="4667663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8145409" y="3062538"/>
            <a:ext cx="198337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CL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¡Éxito!</a:t>
            </a:r>
            <a:endParaRPr lang="en-US" sz="4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18220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171001b-fa9d-409b-8713-8b6a17935d68"/>
    <lcf76f155ced4ddcb4097134ff3c332f xmlns="470d2f17-52cb-407b-8136-5e632d1cee08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C9CD3420DD7C44287EDEB9C6D6708D7" ma:contentTypeVersion="15" ma:contentTypeDescription="Crear nuevo documento." ma:contentTypeScope="" ma:versionID="f7a9dcde27c9264a09c73004259269f1">
  <xsd:schema xmlns:xsd="http://www.w3.org/2001/XMLSchema" xmlns:xs="http://www.w3.org/2001/XMLSchema" xmlns:p="http://schemas.microsoft.com/office/2006/metadata/properties" xmlns:ns2="470d2f17-52cb-407b-8136-5e632d1cee08" xmlns:ns3="6171001b-fa9d-409b-8713-8b6a17935d68" targetNamespace="http://schemas.microsoft.com/office/2006/metadata/properties" ma:root="true" ma:fieldsID="674b5fe278d71baa753a58252eaf8fe3" ns2:_="" ns3:_="">
    <xsd:import namespace="470d2f17-52cb-407b-8136-5e632d1cee08"/>
    <xsd:import namespace="6171001b-fa9d-409b-8713-8b6a17935d6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0d2f17-52cb-407b-8136-5e632d1cee0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Etiquetas de imagen" ma:readOnly="false" ma:fieldId="{5cf76f15-5ced-4ddc-b409-7134ff3c332f}" ma:taxonomyMulti="true" ma:sspId="5ecad781-11e1-4240-b729-e370ca3e03e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71001b-fa9d-409b-8713-8b6a17935d68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626c5a85-e9ed-4a7d-a8f2-1ac62c4b72da}" ma:internalName="TaxCatchAll" ma:showField="CatchAllData" ma:web="6171001b-fa9d-409b-8713-8b6a17935d6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E26BDBF-E58D-4DAC-8738-D11056BF4C72}">
  <ds:schemaRefs>
    <ds:schemaRef ds:uri="http://purl.org/dc/terms/"/>
    <ds:schemaRef ds:uri="470d2f17-52cb-407b-8136-5e632d1cee08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6171001b-fa9d-409b-8713-8b6a17935d68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D405DB1-990F-4DDD-81A1-478BCA203F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70d2f17-52cb-407b-8136-5e632d1cee08"/>
    <ds:schemaRef ds:uri="6171001b-fa9d-409b-8713-8b6a17935d6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9B05674-0616-4E66-A9FD-3C514085E54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7612</TotalTime>
  <Words>214</Words>
  <Application>Microsoft Office PowerPoint</Application>
  <PresentationFormat>Panorámica</PresentationFormat>
  <Paragraphs>22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8" baseType="lpstr">
      <vt:lpstr>Tema de Office</vt:lpstr>
      <vt:lpstr> Actividad: Millas por Galón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¡Éxito!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Kibernum</dc:creator>
  <cp:lastModifiedBy>Diseño ITA</cp:lastModifiedBy>
  <cp:revision>243</cp:revision>
  <dcterms:created xsi:type="dcterms:W3CDTF">2023-01-03T12:28:26Z</dcterms:created>
  <dcterms:modified xsi:type="dcterms:W3CDTF">2025-10-06T17:25:56Z</dcterms:modified>
</cp:coreProperties>
</file>