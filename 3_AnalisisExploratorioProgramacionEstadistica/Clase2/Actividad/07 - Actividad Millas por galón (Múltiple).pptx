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562" r:id="rId5"/>
    <p:sldId id="595" r:id="rId6"/>
    <p:sldId id="633" r:id="rId7"/>
    <p:sldId id="388" r:id="rId8"/>
    <p:sldId id="631" r:id="rId9"/>
    <p:sldId id="634" r:id="rId10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98C340"/>
    <a:srgbClr val="F6A120"/>
    <a:srgbClr val="FD0075"/>
    <a:srgbClr val="7FAEF2"/>
    <a:srgbClr val="000000"/>
    <a:srgbClr val="4E7FDE"/>
    <a:srgbClr val="006BCE"/>
    <a:srgbClr val="F8D6D9"/>
    <a:srgbClr val="8AD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36E82-8446-5943-88FF-FF0948237FF4}" v="2" dt="2025-09-26T13:01:4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3" autoAdjust="0"/>
    <p:restoredTop sz="96395" autoAdjust="0"/>
  </p:normalViewPr>
  <p:slideViewPr>
    <p:cSldViewPr snapToGrid="0">
      <p:cViewPr varScale="1">
        <p:scale>
          <a:sx n="111" d="100"/>
          <a:sy n="111" d="100"/>
        </p:scale>
        <p:origin x="37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A736E82-8446-5943-88FF-FF0948237FF4}"/>
    <pc:docChg chg="modSld">
      <pc:chgData name="" userId="" providerId="" clId="Web-{7A736E82-8446-5943-88FF-FF0948237FF4}" dt="2025-09-26T13:01:45.932" v="0" actId="20577"/>
      <pc:docMkLst>
        <pc:docMk/>
      </pc:docMkLst>
      <pc:sldChg chg="modSp">
        <pc:chgData name="" userId="" providerId="" clId="Web-{7A736E82-8446-5943-88FF-FF0948237FF4}" dt="2025-09-26T13:01:45.932" v="0" actId="20577"/>
        <pc:sldMkLst>
          <pc:docMk/>
          <pc:sldMk cId="1998777028" sldId="562"/>
        </pc:sldMkLst>
        <pc:spChg chg="mod">
          <ac:chgData name="" userId="" providerId="" clId="Web-{7A736E82-8446-5943-88FF-FF0948237FF4}" dt="2025-09-26T13:01:45.932" v="0" actId="20577"/>
          <ac:spMkLst>
            <pc:docMk/>
            <pc:sldMk cId="1998777028" sldId="56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8A3BFFD-35E7-1135-4D1C-50C91FA7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6" name="Rectangle: Rounded Corners 22"/>
          <p:cNvSpPr/>
          <p:nvPr/>
        </p:nvSpPr>
        <p:spPr>
          <a:xfrm>
            <a:off x="3890332" y="3715090"/>
            <a:ext cx="7022778" cy="1655893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/>
          <a:p>
            <a:pPr algn="ctr">
              <a:defRPr/>
            </a:pPr>
            <a:endParaRPr lang="en-US" sz="2800" b="1" dirty="0"/>
          </a:p>
        </p:txBody>
      </p:sp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4249782" y="3841518"/>
            <a:ext cx="6444343" cy="140303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Millas por Galón  (Múltiple)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2;p1"/>
          <p:cNvSpPr txBox="1"/>
          <p:nvPr/>
        </p:nvSpPr>
        <p:spPr>
          <a:xfrm>
            <a:off x="4084320" y="317967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Exploratorio y Programación Estadística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5782491" y="1094856"/>
            <a:ext cx="6296298" cy="118679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Millas por Galón (Modelo Regresivo Multivariado)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640838" y="1094856"/>
            <a:ext cx="4788632" cy="4712676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35" y="1555590"/>
            <a:ext cx="3660226" cy="366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-422864" y="1174244"/>
            <a:ext cx="13080436" cy="1162113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Título 1"/>
          <p:cNvSpPr txBox="1">
            <a:spLocks/>
          </p:cNvSpPr>
          <p:nvPr/>
        </p:nvSpPr>
        <p:spPr bwMode="auto">
          <a:xfrm>
            <a:off x="1501587" y="288055"/>
            <a:ext cx="9725212" cy="65276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501587" y="1339897"/>
            <a:ext cx="8839201" cy="83099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600" dirty="0">
                <a:solidFill>
                  <a:schemeClr val="bg1"/>
                </a:solidFill>
                <a:latin typeface="+mn-lt"/>
                <a:ea typeface="Source Sans Pro"/>
              </a:rPr>
              <a:t>Se está haciendo una investigación en la industria automotriz para mejorar el rendimiento de los motores a combustible. Para esto, se recolectó un set de datos que contiene el rendimiento (millas por galón) de distintos modelos de automóviles, así como también de los factores que se piensa influyen.</a:t>
            </a:r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1602F50-B094-E697-5F25-310CE051E1BD}"/>
              </a:ext>
            </a:extLst>
          </p:cNvPr>
          <p:cNvSpPr/>
          <p:nvPr/>
        </p:nvSpPr>
        <p:spPr>
          <a:xfrm>
            <a:off x="1501587" y="2608002"/>
            <a:ext cx="8839200" cy="3644107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38100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8" name="Picture 2" descr="Kia Niro Miles per Gallon | Andy Mohr Kia Avon I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66"/>
          <a:stretch/>
        </p:blipFill>
        <p:spPr bwMode="auto">
          <a:xfrm>
            <a:off x="2090740" y="2877764"/>
            <a:ext cx="7914894" cy="310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4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1004107" y="1512052"/>
            <a:ext cx="9890316" cy="371991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1219200" y="848075"/>
            <a:ext cx="10782300" cy="69154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ES" sz="2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50" y="1717231"/>
            <a:ext cx="7799044" cy="330955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04107" y="2243242"/>
            <a:ext cx="150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Rendimiento </a:t>
            </a:r>
          </a:p>
          <a:p>
            <a:pPr algn="ctr"/>
            <a:r>
              <a:rPr lang="es-CL" sz="1400" b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</a:rPr>
              <a:t>(millas por galón)</a:t>
            </a:r>
          </a:p>
        </p:txBody>
      </p:sp>
      <p:cxnSp>
        <p:nvCxnSpPr>
          <p:cNvPr id="7" name="Conector recto de flecha 6"/>
          <p:cNvCxnSpPr/>
          <p:nvPr/>
        </p:nvCxnSpPr>
        <p:spPr>
          <a:xfrm flipV="1">
            <a:off x="1741715" y="1905217"/>
            <a:ext cx="1018902" cy="338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7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788298" y="1101236"/>
            <a:ext cx="9849277" cy="408945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Título 1"/>
          <p:cNvSpPr txBox="1">
            <a:spLocks/>
          </p:cNvSpPr>
          <p:nvPr/>
        </p:nvSpPr>
        <p:spPr bwMode="auto">
          <a:xfrm>
            <a:off x="988595" y="23673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394448" y="1399305"/>
            <a:ext cx="7709646" cy="34778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Elabore un modelo multivariado utilizando todas las variables disponibles para explicar el consumo en millas por galón. </a:t>
            </a:r>
          </a:p>
          <a:p>
            <a:pPr algn="just">
              <a:lnSpc>
                <a:spcPts val="2160"/>
              </a:lnSpc>
            </a:pP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Cree un Notebook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ordenado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,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documentado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y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reproducible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con su análisis.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Haga un breve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análisis exploratorio 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de los datos, ¿es un problema lineal?.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Elabore un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modelo regresivo multivariado.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Realice el procedimiento de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selección de variables del modelo.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Calcular las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métricas de error 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para cada modelo.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Calcular el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coeficiente de determinación.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Hacer </a:t>
            </a:r>
            <a:r>
              <a:rPr lang="es-ES" b="1" dirty="0">
                <a:solidFill>
                  <a:schemeClr val="bg1"/>
                </a:solidFill>
                <a:latin typeface="+mn-lt"/>
                <a:ea typeface="Source Sans Pro"/>
              </a:rPr>
              <a:t>análisis de residuales.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¿Cuál es el factor que mayor incidencia tiene en el rendimiento?, ¿Por qué?.</a:t>
            </a:r>
          </a:p>
          <a:p>
            <a:pPr marL="342900" indent="-342900" algn="just">
              <a:lnSpc>
                <a:spcPts val="2160"/>
              </a:lnSpc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¿Es un mejor modelo que el simple? ¿Cómo se evidencia aquello?.</a:t>
            </a:r>
          </a:p>
        </p:txBody>
      </p:sp>
    </p:spTree>
    <p:extLst>
      <p:ext uri="{BB962C8B-B14F-4D97-AF65-F5344CB8AC3E}">
        <p14:creationId xmlns:p14="http://schemas.microsoft.com/office/powerpoint/2010/main" val="411371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501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26BDBF-E58D-4DAC-8738-D11056BF4C72}">
  <ds:schemaRefs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470d2f17-52cb-407b-8136-5e632d1cee08"/>
    <ds:schemaRef ds:uri="6171001b-fa9d-409b-8713-8b6a17935d68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7613</TotalTime>
  <Words>206</Words>
  <Application>Microsoft Office PowerPoint</Application>
  <PresentationFormat>Panorámica</PresentationFormat>
  <Paragraphs>22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 Actividad: Millas por Galón  (Múltiple)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249</cp:revision>
  <dcterms:created xsi:type="dcterms:W3CDTF">2023-01-03T12:28:26Z</dcterms:created>
  <dcterms:modified xsi:type="dcterms:W3CDTF">2025-09-26T13:01:46Z</dcterms:modified>
</cp:coreProperties>
</file>