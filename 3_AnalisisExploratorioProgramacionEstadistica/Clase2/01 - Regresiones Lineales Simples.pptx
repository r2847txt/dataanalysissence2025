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Lst>
  <p:sldSz cy="6858000" cx="12192000"/>
  <p:notesSz cx="6858000" cy="9144000"/>
  <p:embeddedFontLst>
    <p:embeddedFont>
      <p:font typeface="Quattrocento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i2QK8AFWVVyOk6INU1obVWXpwB4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QuattrocentoSans-italic.fntdata"/><Relationship Id="rId20" Type="http://schemas.openxmlformats.org/officeDocument/2006/relationships/slide" Target="slides/slide16.xml"/><Relationship Id="rId42" Type="http://customschemas.google.com/relationships/presentationmetadata" Target="metadata"/><Relationship Id="rId41" Type="http://schemas.openxmlformats.org/officeDocument/2006/relationships/font" Target="fonts/QuattrocentoSans-bold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font" Target="fonts/QuattrocentoSans-bold.fntdata"/><Relationship Id="rId16" Type="http://schemas.openxmlformats.org/officeDocument/2006/relationships/slide" Target="slides/slide12.xml"/><Relationship Id="rId38" Type="http://schemas.openxmlformats.org/officeDocument/2006/relationships/font" Target="fonts/QuattrocentoSans-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3" name="Google Shape;1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3" name="Google Shape;12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46" name="Google Shape;1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55" name="Google Shape;1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2" name="Google Shape;16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72" name="Google Shape;17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4" name="Google Shape;1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1" name="Google Shape;19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9" name="Google Shape;19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16" name="Google Shape;21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27" name="Google Shape;2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2" name="Google Shape;25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61" name="Google Shape;26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0" name="Google Shape;27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2" name="Google Shape;28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2" name="Google Shape;29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8" name="Google Shape;30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6" name="Google Shape;32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7" name="Google Shape;33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6" name="Google Shape;34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6" name="Google Shape;35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5" name="Google Shape;36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3" name="Google Shape;37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3" name="Google Shape;38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1" name="Google Shape;39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13" name="Google Shape;41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22" name="Google Shape;42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33" name="Google Shape;43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39" name="Google Shape;43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3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3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3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9" name="Google Shape;29;p3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 name="Google Shape;35;p3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3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2" name="Google Shape;42;p3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1" name="Google Shape;51;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4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0" name="Google Shape;60;p4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4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4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7" name="Google Shape;67;p43"/>
          <p:cNvSpPr/>
          <p:nvPr>
            <p:ph idx="2" type="pic"/>
          </p:nvPr>
        </p:nvSpPr>
        <p:spPr>
          <a:xfrm>
            <a:off x="5183188" y="987425"/>
            <a:ext cx="6172200" cy="4873625"/>
          </a:xfrm>
          <a:prstGeom prst="rect">
            <a:avLst/>
          </a:prstGeom>
          <a:noFill/>
          <a:ln>
            <a:noFill/>
          </a:ln>
        </p:spPr>
      </p:sp>
      <p:sp>
        <p:nvSpPr>
          <p:cNvPr id="68" name="Google Shape;68;p4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4" name="Google Shape;74;p4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4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0" name="Google Shape;80;p4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7.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5.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11.png"/><Relationship Id="rId5" Type="http://schemas.openxmlformats.org/officeDocument/2006/relationships/image" Target="../media/image3.png"/><Relationship Id="rId6"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5.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9.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5.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2.png"/><Relationship Id="rId4" Type="http://schemas.openxmlformats.org/officeDocument/2006/relationships/image" Target="../media/image17.png"/><Relationship Id="rId5" Type="http://schemas.openxmlformats.org/officeDocument/2006/relationships/image" Target="../media/image25.png"/><Relationship Id="rId6" Type="http://schemas.openxmlformats.org/officeDocument/2006/relationships/image" Target="../media/image18.png"/><Relationship Id="rId7"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5.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0.png"/><Relationship Id="rId4" Type="http://schemas.openxmlformats.org/officeDocument/2006/relationships/image" Target="../media/image34.png"/><Relationship Id="rId5" Type="http://schemas.openxmlformats.org/officeDocument/2006/relationships/image" Target="../media/image37.png"/><Relationship Id="rId6"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5.png"/><Relationship Id="rId4" Type="http://schemas.openxmlformats.org/officeDocument/2006/relationships/image" Target="../media/image28.png"/><Relationship Id="rId5"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9.png"/><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1.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6.png"/><Relationship Id="rId4" Type="http://schemas.openxmlformats.org/officeDocument/2006/relationships/image" Target="../media/image43.png"/><Relationship Id="rId5" Type="http://schemas.openxmlformats.org/officeDocument/2006/relationships/image" Target="../media/image42.png"/><Relationship Id="rId6"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Patrón de fondo&#10;&#10;Descripción generada automáticamente con confianza baja" id="88" name="Google Shape;88;p1"/>
          <p:cNvPicPr preferRelativeResize="0"/>
          <p:nvPr/>
        </p:nvPicPr>
        <p:blipFill rotWithShape="1">
          <a:blip r:embed="rId3">
            <a:alphaModFix/>
          </a:blip>
          <a:srcRect b="0" l="0" r="0" t="0"/>
          <a:stretch/>
        </p:blipFill>
        <p:spPr>
          <a:xfrm>
            <a:off x="0" y="0"/>
            <a:ext cx="12192000" cy="7037762"/>
          </a:xfrm>
          <a:prstGeom prst="rect">
            <a:avLst/>
          </a:prstGeom>
          <a:noFill/>
          <a:ln>
            <a:noFill/>
          </a:ln>
        </p:spPr>
      </p:pic>
      <p:sp>
        <p:nvSpPr>
          <p:cNvPr id="89" name="Google Shape;89;p1"/>
          <p:cNvSpPr/>
          <p:nvPr/>
        </p:nvSpPr>
        <p:spPr>
          <a:xfrm>
            <a:off x="3890331" y="3658345"/>
            <a:ext cx="7135021" cy="1767095"/>
          </a:xfrm>
          <a:prstGeom prst="roundRect">
            <a:avLst>
              <a:gd fmla="val 7874" name="adj"/>
            </a:avLst>
          </a:prstGeom>
          <a:solidFill>
            <a:schemeClr val="dk1">
              <a:alpha val="75294"/>
            </a:schemeClr>
          </a:solidFill>
          <a:ln>
            <a:noFill/>
          </a:ln>
        </p:spPr>
        <p:txBody>
          <a:bodyPr anchorCtr="0" anchor="ctr" bIns="45700" lIns="91425" spcFirstLastPara="1" rIns="540000"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chemeClr val="lt1"/>
              </a:solidFill>
              <a:latin typeface="Calibri"/>
              <a:ea typeface="Calibri"/>
              <a:cs typeface="Calibri"/>
              <a:sym typeface="Calibri"/>
            </a:endParaRPr>
          </a:p>
        </p:txBody>
      </p:sp>
      <p:sp>
        <p:nvSpPr>
          <p:cNvPr id="90" name="Google Shape;90;p1"/>
          <p:cNvSpPr txBox="1"/>
          <p:nvPr>
            <p:ph type="ctrTitle"/>
          </p:nvPr>
        </p:nvSpPr>
        <p:spPr>
          <a:xfrm>
            <a:off x="4103749" y="3874663"/>
            <a:ext cx="6820426" cy="1431072"/>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SzPts val="1400"/>
              <a:buNone/>
            </a:pPr>
            <a:r>
              <a:rPr b="1" lang="es-ES" sz="4800">
                <a:solidFill>
                  <a:schemeClr val="lt1"/>
                </a:solidFill>
                <a:latin typeface="Arial"/>
                <a:ea typeface="Arial"/>
                <a:cs typeface="Arial"/>
                <a:sym typeface="Arial"/>
              </a:rPr>
              <a:t>Regresiones Lineales Simples</a:t>
            </a:r>
            <a:endParaRPr b="1" sz="3000">
              <a:solidFill>
                <a:schemeClr val="lt1"/>
              </a:solidFill>
              <a:latin typeface="Arial"/>
              <a:ea typeface="Arial"/>
              <a:cs typeface="Arial"/>
              <a:sym typeface="Arial"/>
            </a:endParaRPr>
          </a:p>
        </p:txBody>
      </p:sp>
      <p:sp>
        <p:nvSpPr>
          <p:cNvPr id="91" name="Google Shape;91;p1"/>
          <p:cNvSpPr txBox="1"/>
          <p:nvPr/>
        </p:nvSpPr>
        <p:spPr>
          <a:xfrm>
            <a:off x="4103749" y="3194730"/>
            <a:ext cx="7022779"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Arial"/>
              <a:buNone/>
            </a:pPr>
            <a:r>
              <a:rPr b="1" i="0" lang="es-ES" sz="1800" u="none" cap="none" strike="noStrike">
                <a:solidFill>
                  <a:schemeClr val="lt1"/>
                </a:solidFill>
                <a:latin typeface="Arial"/>
                <a:ea typeface="Arial"/>
                <a:cs typeface="Arial"/>
                <a:sym typeface="Arial"/>
              </a:rPr>
              <a:t>Módulo 3 –  Análisis Exploratorio y Programación Estadística</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500"/>
                                        <p:tgtEl>
                                          <p:spTgt spid="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p:nvPr/>
        </p:nvSpPr>
        <p:spPr>
          <a:xfrm>
            <a:off x="5096382" y="2657530"/>
            <a:ext cx="6052089" cy="2447763"/>
          </a:xfrm>
          <a:prstGeom prst="roundRect">
            <a:avLst>
              <a:gd fmla="val 2778"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 name="Google Shape;97;p2"/>
          <p:cNvSpPr txBox="1"/>
          <p:nvPr/>
        </p:nvSpPr>
        <p:spPr>
          <a:xfrm>
            <a:off x="5938852" y="2894549"/>
            <a:ext cx="4842359" cy="212365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¿Existe una relación entre la altura y el peso?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En caso de existir, ¿será una relación lineal?</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¿Se podrá predecir el peso de una persona a partir de su altura?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98" name="Google Shape;98;p2"/>
          <p:cNvSpPr/>
          <p:nvPr/>
        </p:nvSpPr>
        <p:spPr>
          <a:xfrm>
            <a:off x="1085221" y="261257"/>
            <a:ext cx="4301965" cy="6074229"/>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Danny DeVito Says Arnold Schwarzenegger Is a Big Animal Lover" id="99" name="Google Shape;99;p2"/>
          <p:cNvPicPr preferRelativeResize="0"/>
          <p:nvPr/>
        </p:nvPicPr>
        <p:blipFill rotWithShape="1">
          <a:blip r:embed="rId3">
            <a:alphaModFix/>
          </a:blip>
          <a:srcRect b="0" l="0" r="0" t="0"/>
          <a:stretch/>
        </p:blipFill>
        <p:spPr>
          <a:xfrm>
            <a:off x="1438484" y="522514"/>
            <a:ext cx="3595438" cy="5535386"/>
          </a:xfrm>
          <a:prstGeom prst="rect">
            <a:avLst/>
          </a:prstGeom>
          <a:noFill/>
          <a:ln>
            <a:noFill/>
          </a:ln>
        </p:spPr>
      </p:pic>
      <p:sp>
        <p:nvSpPr>
          <p:cNvPr id="100" name="Google Shape;100;p2"/>
          <p:cNvSpPr txBox="1"/>
          <p:nvPr/>
        </p:nvSpPr>
        <p:spPr>
          <a:xfrm>
            <a:off x="5938852" y="1666409"/>
            <a:ext cx="5127039" cy="73975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Regresiones lineales</a:t>
            </a:r>
            <a:endParaRPr b="0" i="0" sz="3200" u="none" cap="none" strike="noStrike">
              <a:solidFill>
                <a:srgbClr val="7F7F7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p:nvPr/>
        </p:nvSpPr>
        <p:spPr>
          <a:xfrm>
            <a:off x="-937989" y="2464525"/>
            <a:ext cx="8772982" cy="1907177"/>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 name="Google Shape;106;p3"/>
          <p:cNvSpPr txBox="1"/>
          <p:nvPr/>
        </p:nvSpPr>
        <p:spPr>
          <a:xfrm>
            <a:off x="983071" y="629355"/>
            <a:ext cx="6908233" cy="789532"/>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Dataset Estatura Peso</a:t>
            </a:r>
            <a:endParaRPr b="0" i="0" sz="1400" u="none" cap="none" strike="noStrike">
              <a:solidFill>
                <a:srgbClr val="000000"/>
              </a:solidFill>
              <a:latin typeface="Arial"/>
              <a:ea typeface="Arial"/>
              <a:cs typeface="Arial"/>
              <a:sym typeface="Arial"/>
            </a:endParaRPr>
          </a:p>
        </p:txBody>
      </p:sp>
      <p:sp>
        <p:nvSpPr>
          <p:cNvPr id="107" name="Google Shape;107;p3"/>
          <p:cNvSpPr txBox="1"/>
          <p:nvPr/>
        </p:nvSpPr>
        <p:spPr>
          <a:xfrm>
            <a:off x="748938" y="2695606"/>
            <a:ext cx="6818812" cy="133882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Para responder las preguntas anteriores, tomaremos el dataset Height-Weight tomado de SOCR (Statistic Online Computational Resource), que contiene mediciones de 25 mil individuos.</a:t>
            </a:r>
            <a:endParaRPr b="0" i="0" sz="1800" u="none" cap="none" strike="noStrike">
              <a:solidFill>
                <a:schemeClr val="lt1"/>
              </a:solidFill>
              <a:latin typeface="Calibri"/>
              <a:ea typeface="Calibri"/>
              <a:cs typeface="Calibri"/>
              <a:sym typeface="Calibri"/>
            </a:endParaRPr>
          </a:p>
        </p:txBody>
      </p:sp>
      <p:sp>
        <p:nvSpPr>
          <p:cNvPr id="108" name="Google Shape;108;p3"/>
          <p:cNvSpPr/>
          <p:nvPr/>
        </p:nvSpPr>
        <p:spPr>
          <a:xfrm>
            <a:off x="8208872" y="626201"/>
            <a:ext cx="3216730" cy="4267199"/>
          </a:xfrm>
          <a:prstGeom prst="roundRect">
            <a:avLst>
              <a:gd fmla="val 2971" name="adj"/>
            </a:avLst>
          </a:prstGeom>
          <a:solidFill>
            <a:srgbClr val="383838"/>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09" name="Google Shape;109;p3"/>
          <p:cNvPicPr preferRelativeResize="0"/>
          <p:nvPr/>
        </p:nvPicPr>
        <p:blipFill rotWithShape="1">
          <a:blip r:embed="rId3">
            <a:alphaModFix/>
          </a:blip>
          <a:srcRect b="0" l="0" r="0" t="0"/>
          <a:stretch/>
        </p:blipFill>
        <p:spPr>
          <a:xfrm>
            <a:off x="375059" y="2846933"/>
            <a:ext cx="289524" cy="289524"/>
          </a:xfrm>
          <a:prstGeom prst="rect">
            <a:avLst/>
          </a:prstGeom>
          <a:noFill/>
          <a:ln>
            <a:noFill/>
          </a:ln>
        </p:spPr>
      </p:pic>
      <p:pic>
        <p:nvPicPr>
          <p:cNvPr id="110" name="Google Shape;110;p3"/>
          <p:cNvPicPr preferRelativeResize="0"/>
          <p:nvPr/>
        </p:nvPicPr>
        <p:blipFill rotWithShape="1">
          <a:blip r:embed="rId4">
            <a:alphaModFix/>
          </a:blip>
          <a:srcRect b="0" l="0" r="0" t="0"/>
          <a:stretch/>
        </p:blipFill>
        <p:spPr>
          <a:xfrm>
            <a:off x="8369235" y="699840"/>
            <a:ext cx="2896004" cy="3991532"/>
          </a:xfrm>
          <a:prstGeom prst="rect">
            <a:avLst/>
          </a:prstGeom>
          <a:noFill/>
          <a:ln>
            <a:noFill/>
          </a:ln>
        </p:spPr>
      </p:pic>
      <p:sp>
        <p:nvSpPr>
          <p:cNvPr id="111" name="Google Shape;111;p3"/>
          <p:cNvSpPr txBox="1"/>
          <p:nvPr/>
        </p:nvSpPr>
        <p:spPr>
          <a:xfrm>
            <a:off x="296091" y="5201964"/>
            <a:ext cx="7538902" cy="800219"/>
          </a:xfrm>
          <a:prstGeom prst="rect">
            <a:avLst/>
          </a:prstGeom>
          <a:solidFill>
            <a:srgbClr val="F2F2F2"/>
          </a:solidFill>
          <a:ln cap="flat" cmpd="sng" w="9525">
            <a:solidFill>
              <a:srgbClr val="D8D8D8"/>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7F7F7F"/>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7F7F7F"/>
                </a:solidFill>
                <a:latin typeface="Calibri"/>
                <a:ea typeface="Calibri"/>
                <a:cs typeface="Calibri"/>
                <a:sym typeface="Calibri"/>
              </a:rPr>
              <a:t>http://socr.ucla.edu/docs/resources/SOCR_Data/SOCR_Data_Dinov_020108_HeightsWeights.html</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p:nvPr/>
        </p:nvSpPr>
        <p:spPr>
          <a:xfrm>
            <a:off x="5133773" y="1185880"/>
            <a:ext cx="7630584" cy="4320583"/>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 name="Google Shape;117;p4"/>
          <p:cNvSpPr txBox="1"/>
          <p:nvPr/>
        </p:nvSpPr>
        <p:spPr>
          <a:xfrm>
            <a:off x="538046" y="1082537"/>
            <a:ext cx="4266141"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Dataset Estatura Peso</a:t>
            </a:r>
            <a:endParaRPr b="0" i="0" sz="1400" u="none" cap="none" strike="noStrike">
              <a:solidFill>
                <a:srgbClr val="000000"/>
              </a:solidFill>
              <a:latin typeface="Arial"/>
              <a:ea typeface="Arial"/>
              <a:cs typeface="Arial"/>
              <a:sym typeface="Arial"/>
            </a:endParaRPr>
          </a:p>
        </p:txBody>
      </p:sp>
      <p:sp>
        <p:nvSpPr>
          <p:cNvPr id="118" name="Google Shape;118;p4"/>
          <p:cNvSpPr txBox="1"/>
          <p:nvPr/>
        </p:nvSpPr>
        <p:spPr>
          <a:xfrm>
            <a:off x="5490754" y="1339096"/>
            <a:ext cx="6357872" cy="397027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Nuestra primera suposición, será que existe una relación lineal entre la altura de una persona y su peso. A simple vista, se podría deducir que el peso de una persona es directamente proporcional a su estatura, pero dejemos que la estadística nos ayude con esto.</a:t>
            </a:r>
            <a:endParaRPr b="0" i="0" sz="1400" u="none" cap="none" strike="noStrike">
              <a:solidFill>
                <a:schemeClr val="lt1"/>
              </a:solidFill>
              <a:latin typeface="Arial"/>
              <a:ea typeface="Arial"/>
              <a:cs typeface="Arial"/>
              <a:sym typeface="Arial"/>
            </a:endParaRPr>
          </a:p>
          <a:p>
            <a:pPr indent="-228600" lvl="0" marL="342900" marR="0" rtl="0" algn="just">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Nuestra segunda suposición, será que el peso de una persona depende de su altura. Es decir, hay una relación causal entre peso y estatura.</a:t>
            </a:r>
            <a:endParaRPr b="0" i="0" sz="1400" u="none" cap="none" strike="noStrike">
              <a:solidFill>
                <a:schemeClr val="lt1"/>
              </a:solidFill>
              <a:latin typeface="Arial"/>
              <a:ea typeface="Arial"/>
              <a:cs typeface="Arial"/>
              <a:sym typeface="Arial"/>
            </a:endParaRPr>
          </a:p>
          <a:p>
            <a:pPr indent="-228600" lvl="0" marL="342900" marR="0" rtl="0" algn="just">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Una Regresión Lineal es uno de los modelos estadísticos más simple que se pueden elaborar. Es usada para mostrar la relación lineal entre una variable dependiente y una o más variables independientes.</a:t>
            </a:r>
            <a:endParaRPr b="0" i="0" sz="1800" u="none" cap="none" strike="noStrike">
              <a:solidFill>
                <a:schemeClr val="lt1"/>
              </a:solidFill>
              <a:latin typeface="Calibri"/>
              <a:ea typeface="Calibri"/>
              <a:cs typeface="Calibri"/>
              <a:sym typeface="Calibri"/>
            </a:endParaRPr>
          </a:p>
        </p:txBody>
      </p:sp>
      <p:sp>
        <p:nvSpPr>
          <p:cNvPr id="119" name="Google Shape;119;p4"/>
          <p:cNvSpPr/>
          <p:nvPr/>
        </p:nvSpPr>
        <p:spPr>
          <a:xfrm>
            <a:off x="357555" y="2090599"/>
            <a:ext cx="4572000" cy="3373268"/>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Gráfico, Gráfico de dispersión&#10;&#10;Descripción generada automáticamente" id="120" name="Google Shape;120;p4"/>
          <p:cNvPicPr preferRelativeResize="0"/>
          <p:nvPr/>
        </p:nvPicPr>
        <p:blipFill rotWithShape="1">
          <a:blip r:embed="rId3">
            <a:alphaModFix/>
          </a:blip>
          <a:srcRect b="0" l="0" r="0" t="0"/>
          <a:stretch/>
        </p:blipFill>
        <p:spPr>
          <a:xfrm>
            <a:off x="481380" y="2369406"/>
            <a:ext cx="4324350" cy="29995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
          <p:cNvSpPr/>
          <p:nvPr/>
        </p:nvSpPr>
        <p:spPr>
          <a:xfrm>
            <a:off x="5652274" y="2367944"/>
            <a:ext cx="6691527" cy="2246811"/>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p5"/>
          <p:cNvSpPr/>
          <p:nvPr/>
        </p:nvSpPr>
        <p:spPr>
          <a:xfrm>
            <a:off x="737741" y="420142"/>
            <a:ext cx="5097655" cy="4194613"/>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 name="Google Shape;127;p5"/>
          <p:cNvSpPr txBox="1"/>
          <p:nvPr/>
        </p:nvSpPr>
        <p:spPr>
          <a:xfrm>
            <a:off x="6192716" y="373050"/>
            <a:ext cx="5610642" cy="655174"/>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Dataset Estatura Peso</a:t>
            </a:r>
            <a:endParaRPr b="0" i="0" sz="1400" u="none" cap="none" strike="noStrike">
              <a:solidFill>
                <a:srgbClr val="000000"/>
              </a:solidFill>
              <a:latin typeface="Arial"/>
              <a:ea typeface="Arial"/>
              <a:cs typeface="Arial"/>
              <a:sym typeface="Arial"/>
            </a:endParaRPr>
          </a:p>
        </p:txBody>
      </p:sp>
      <p:sp>
        <p:nvSpPr>
          <p:cNvPr id="128" name="Google Shape;128;p5"/>
          <p:cNvSpPr txBox="1"/>
          <p:nvPr/>
        </p:nvSpPr>
        <p:spPr>
          <a:xfrm>
            <a:off x="6305885" y="2517448"/>
            <a:ext cx="5610642" cy="181588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s-ES" sz="1600" u="none" cap="none" strike="noStrike">
                <a:solidFill>
                  <a:schemeClr val="lt1"/>
                </a:solidFill>
                <a:latin typeface="Calibri"/>
                <a:ea typeface="Calibri"/>
                <a:cs typeface="Calibri"/>
                <a:sym typeface="Calibri"/>
              </a:rPr>
              <a:t>En el diagrama de dispersión, se observa una correlación positiva entre estatura y peso. Es decir, a medida que aumenta la altura de un individuo, su peso también aumenta. También se aprecia que la relación entre ambas variables es lineal.</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600"/>
              <a:buFont typeface="Arial"/>
              <a:buNone/>
            </a:pPr>
            <a:r>
              <a:rPr b="0" i="0" lang="es-ES" sz="1600" u="none" cap="none" strike="noStrike">
                <a:solidFill>
                  <a:schemeClr val="lt1"/>
                </a:solidFill>
                <a:latin typeface="Calibri"/>
                <a:ea typeface="Calibri"/>
                <a:cs typeface="Calibri"/>
                <a:sym typeface="Calibri"/>
              </a:rPr>
              <a:t>La cuantía de la correlación es de aproximadamente 0.5, es decir, una correlación moderada.</a:t>
            </a:r>
            <a:endParaRPr b="0" i="0" sz="1400" u="none" cap="none" strike="noStrike">
              <a:solidFill>
                <a:srgbClr val="000000"/>
              </a:solidFill>
              <a:latin typeface="Arial"/>
              <a:ea typeface="Arial"/>
              <a:cs typeface="Arial"/>
              <a:sym typeface="Arial"/>
            </a:endParaRPr>
          </a:p>
        </p:txBody>
      </p:sp>
      <p:sp>
        <p:nvSpPr>
          <p:cNvPr id="129" name="Google Shape;129;p5"/>
          <p:cNvSpPr/>
          <p:nvPr/>
        </p:nvSpPr>
        <p:spPr>
          <a:xfrm>
            <a:off x="694524" y="4770126"/>
            <a:ext cx="5184088" cy="1752593"/>
          </a:xfrm>
          <a:prstGeom prst="roundRect">
            <a:avLst>
              <a:gd fmla="val 2971" name="adj"/>
            </a:avLst>
          </a:prstGeom>
          <a:solidFill>
            <a:srgbClr val="1E1E1E"/>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30" name="Google Shape;130;p5"/>
          <p:cNvPicPr preferRelativeResize="0"/>
          <p:nvPr/>
        </p:nvPicPr>
        <p:blipFill rotWithShape="1">
          <a:blip r:embed="rId3">
            <a:alphaModFix/>
          </a:blip>
          <a:srcRect b="0" l="0" r="0" t="0"/>
          <a:stretch/>
        </p:blipFill>
        <p:spPr>
          <a:xfrm>
            <a:off x="1529304" y="5405346"/>
            <a:ext cx="3534268" cy="943107"/>
          </a:xfrm>
          <a:prstGeom prst="rect">
            <a:avLst/>
          </a:prstGeom>
          <a:noFill/>
          <a:ln>
            <a:noFill/>
          </a:ln>
        </p:spPr>
      </p:pic>
      <p:pic>
        <p:nvPicPr>
          <p:cNvPr id="131" name="Google Shape;131;p5"/>
          <p:cNvPicPr preferRelativeResize="0"/>
          <p:nvPr/>
        </p:nvPicPr>
        <p:blipFill rotWithShape="1">
          <a:blip r:embed="rId4">
            <a:alphaModFix/>
          </a:blip>
          <a:srcRect b="0" l="0" r="0" t="0"/>
          <a:stretch/>
        </p:blipFill>
        <p:spPr>
          <a:xfrm>
            <a:off x="1674618" y="4941232"/>
            <a:ext cx="3534268" cy="285790"/>
          </a:xfrm>
          <a:prstGeom prst="rect">
            <a:avLst/>
          </a:prstGeom>
          <a:noFill/>
          <a:ln>
            <a:noFill/>
          </a:ln>
        </p:spPr>
      </p:pic>
      <p:pic>
        <p:nvPicPr>
          <p:cNvPr id="132" name="Google Shape;132;p5"/>
          <p:cNvPicPr preferRelativeResize="0"/>
          <p:nvPr/>
        </p:nvPicPr>
        <p:blipFill rotWithShape="1">
          <a:blip r:embed="rId5">
            <a:alphaModFix/>
          </a:blip>
          <a:srcRect b="0" l="0" r="0" t="0"/>
          <a:stretch/>
        </p:blipFill>
        <p:spPr>
          <a:xfrm>
            <a:off x="940603" y="976566"/>
            <a:ext cx="4711671" cy="3564697"/>
          </a:xfrm>
          <a:prstGeom prst="rect">
            <a:avLst/>
          </a:prstGeom>
          <a:noFill/>
          <a:ln>
            <a:noFill/>
          </a:ln>
        </p:spPr>
      </p:pic>
      <p:pic>
        <p:nvPicPr>
          <p:cNvPr id="133" name="Google Shape;133;p5"/>
          <p:cNvPicPr preferRelativeResize="0"/>
          <p:nvPr/>
        </p:nvPicPr>
        <p:blipFill rotWithShape="1">
          <a:blip r:embed="rId6">
            <a:alphaModFix/>
          </a:blip>
          <a:srcRect b="0" l="0" r="0" t="0"/>
          <a:stretch/>
        </p:blipFill>
        <p:spPr>
          <a:xfrm>
            <a:off x="1529304" y="547961"/>
            <a:ext cx="4052890" cy="3053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p:nvPr/>
        </p:nvSpPr>
        <p:spPr>
          <a:xfrm>
            <a:off x="5959928" y="1126671"/>
            <a:ext cx="5871409" cy="4474029"/>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 name="Google Shape;139;p6"/>
          <p:cNvSpPr/>
          <p:nvPr/>
        </p:nvSpPr>
        <p:spPr>
          <a:xfrm>
            <a:off x="-135576" y="1093542"/>
            <a:ext cx="5753414" cy="4555672"/>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0" name="Google Shape;140;p6"/>
          <p:cNvSpPr txBox="1"/>
          <p:nvPr/>
        </p:nvSpPr>
        <p:spPr>
          <a:xfrm>
            <a:off x="504236" y="310155"/>
            <a:ext cx="11156541" cy="653233"/>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es un Modelo?</a:t>
            </a:r>
            <a:endParaRPr b="0" i="0" sz="1400" u="none" cap="none" strike="noStrike">
              <a:solidFill>
                <a:srgbClr val="000000"/>
              </a:solidFill>
              <a:latin typeface="Arial"/>
              <a:ea typeface="Arial"/>
              <a:cs typeface="Arial"/>
              <a:sym typeface="Arial"/>
            </a:endParaRPr>
          </a:p>
        </p:txBody>
      </p:sp>
      <p:sp>
        <p:nvSpPr>
          <p:cNvPr id="141" name="Google Shape;141;p6"/>
          <p:cNvSpPr txBox="1"/>
          <p:nvPr/>
        </p:nvSpPr>
        <p:spPr>
          <a:xfrm>
            <a:off x="582613" y="1406793"/>
            <a:ext cx="4693135" cy="378565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s-ES" sz="1600" u="none" cap="none" strike="noStrike">
                <a:solidFill>
                  <a:schemeClr val="lt1"/>
                </a:solidFill>
                <a:latin typeface="Calibri"/>
                <a:ea typeface="Calibri"/>
                <a:cs typeface="Calibri"/>
                <a:sym typeface="Calibri"/>
              </a:rPr>
              <a:t>Un modelo, es una </a:t>
            </a:r>
            <a:r>
              <a:rPr b="1" i="0" lang="es-ES" sz="1600" u="none" cap="none" strike="noStrike">
                <a:solidFill>
                  <a:schemeClr val="lt1"/>
                </a:solidFill>
                <a:latin typeface="Calibri"/>
                <a:ea typeface="Calibri"/>
                <a:cs typeface="Calibri"/>
                <a:sym typeface="Calibri"/>
              </a:rPr>
              <a:t>simplificación de la realidad</a:t>
            </a:r>
            <a:r>
              <a:rPr b="0" i="0" lang="es-ES" sz="1600" u="none" cap="none" strike="noStrike">
                <a:solidFill>
                  <a:schemeClr val="lt1"/>
                </a:solidFill>
                <a:latin typeface="Calibri"/>
                <a:ea typeface="Calibri"/>
                <a:cs typeface="Calibri"/>
                <a:sym typeface="Calibri"/>
              </a:rPr>
              <a:t>, que permite </a:t>
            </a:r>
            <a:r>
              <a:rPr b="1" i="0" lang="es-ES" sz="1600" u="none" cap="none" strike="noStrike">
                <a:solidFill>
                  <a:schemeClr val="lt1"/>
                </a:solidFill>
                <a:latin typeface="Calibri"/>
                <a:ea typeface="Calibri"/>
                <a:cs typeface="Calibri"/>
                <a:sym typeface="Calibri"/>
              </a:rPr>
              <a:t>describir un fenómeno de forma general</a:t>
            </a:r>
            <a:r>
              <a:rPr b="0" i="0" lang="es-ES" sz="16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600"/>
              <a:buFont typeface="Arial"/>
              <a:buNone/>
            </a:pPr>
            <a:r>
              <a:rPr b="0" i="0" lang="es-ES" sz="1600" u="none" cap="none" strike="noStrike">
                <a:solidFill>
                  <a:schemeClr val="lt1"/>
                </a:solidFill>
                <a:latin typeface="Calibri"/>
                <a:ea typeface="Calibri"/>
                <a:cs typeface="Calibri"/>
                <a:sym typeface="Calibri"/>
              </a:rPr>
              <a:t>Un modelo lineal, es un tipo de modelo matemático que se usa para predecir la relación entre una variable dependiente y una o más variables independiente. Un modelo lineal, simplifica la realidad del fenómeno y lo lleva a una ecuación lineal, lo que significa que la relación entre las variables es lineal o proporcional.</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600"/>
              <a:buFont typeface="Arial"/>
              <a:buNone/>
            </a:pPr>
            <a:r>
              <a:rPr b="0" i="0" lang="es-ES" sz="1600" u="none" cap="none" strike="noStrike">
                <a:solidFill>
                  <a:schemeClr val="lt1"/>
                </a:solidFill>
                <a:latin typeface="Calibri"/>
                <a:ea typeface="Calibri"/>
                <a:cs typeface="Calibri"/>
                <a:sym typeface="Calibri"/>
              </a:rPr>
              <a:t>Hacer esta simplificación, no siempre es la alternativa más adecuada para representar la realidad, sin embargo, hay muchos fenómenos que tienen un comportamiento lineal y que este tipo de modelo puede capturar su escencia.</a:t>
            </a:r>
            <a:endParaRPr b="0" i="0" sz="1400" u="none" cap="none" strike="noStrike">
              <a:solidFill>
                <a:srgbClr val="000000"/>
              </a:solidFill>
              <a:latin typeface="Arial"/>
              <a:ea typeface="Arial"/>
              <a:cs typeface="Arial"/>
              <a:sym typeface="Arial"/>
            </a:endParaRPr>
          </a:p>
        </p:txBody>
      </p:sp>
      <p:pic>
        <p:nvPicPr>
          <p:cNvPr id="142" name="Google Shape;142;p6"/>
          <p:cNvPicPr preferRelativeResize="0"/>
          <p:nvPr/>
        </p:nvPicPr>
        <p:blipFill rotWithShape="1">
          <a:blip r:embed="rId3">
            <a:alphaModFix/>
          </a:blip>
          <a:srcRect b="0" l="0" r="0" t="0"/>
          <a:stretch/>
        </p:blipFill>
        <p:spPr>
          <a:xfrm>
            <a:off x="6196136" y="1406793"/>
            <a:ext cx="5271208" cy="3988024"/>
          </a:xfrm>
          <a:prstGeom prst="rect">
            <a:avLst/>
          </a:prstGeom>
          <a:noFill/>
          <a:ln>
            <a:noFill/>
          </a:ln>
        </p:spPr>
      </p:pic>
      <p:cxnSp>
        <p:nvCxnSpPr>
          <p:cNvPr id="143" name="Google Shape;143;p6"/>
          <p:cNvCxnSpPr/>
          <p:nvPr/>
        </p:nvCxnSpPr>
        <p:spPr>
          <a:xfrm flipH="1" rot="10800000">
            <a:off x="7085597" y="1876918"/>
            <a:ext cx="4114800" cy="2454442"/>
          </a:xfrm>
          <a:prstGeom prst="straightConnector1">
            <a:avLst/>
          </a:prstGeom>
          <a:noFill/>
          <a:ln cap="flat" cmpd="sng" w="19050">
            <a:solidFill>
              <a:schemeClr val="dk1"/>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7"/>
          <p:cNvSpPr/>
          <p:nvPr/>
        </p:nvSpPr>
        <p:spPr>
          <a:xfrm>
            <a:off x="6400800" y="1930228"/>
            <a:ext cx="6311306" cy="3285927"/>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9" name="Google Shape;149;p7"/>
          <p:cNvSpPr txBox="1"/>
          <p:nvPr/>
        </p:nvSpPr>
        <p:spPr>
          <a:xfrm>
            <a:off x="500128" y="340880"/>
            <a:ext cx="10782300"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es un Modelo Lineal?</a:t>
            </a:r>
            <a:endParaRPr b="0" i="0" sz="3200" u="none" cap="none" strike="noStrike">
              <a:solidFill>
                <a:srgbClr val="7F7F7F"/>
              </a:solidFill>
              <a:latin typeface="Arial"/>
              <a:ea typeface="Arial"/>
              <a:cs typeface="Arial"/>
              <a:sym typeface="Arial"/>
            </a:endParaRPr>
          </a:p>
        </p:txBody>
      </p:sp>
      <p:sp>
        <p:nvSpPr>
          <p:cNvPr id="150" name="Google Shape;150;p7"/>
          <p:cNvSpPr txBox="1"/>
          <p:nvPr/>
        </p:nvSpPr>
        <p:spPr>
          <a:xfrm>
            <a:off x="6824728" y="2084739"/>
            <a:ext cx="4967222" cy="2976905"/>
          </a:xfrm>
          <a:prstGeom prst="rect">
            <a:avLst/>
          </a:prstGeom>
          <a:blipFill rotWithShape="1">
            <a:blip r:embed="rId3">
              <a:alphaModFix/>
            </a:blip>
            <a:stretch>
              <a:fillRect b="0" l="-856" r="-1104" t="-12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51" name="Google Shape;151;p7"/>
          <p:cNvSpPr/>
          <p:nvPr/>
        </p:nvSpPr>
        <p:spPr>
          <a:xfrm>
            <a:off x="276356" y="1364461"/>
            <a:ext cx="5791200" cy="4417462"/>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52" name="Google Shape;152;p7"/>
          <p:cNvPicPr preferRelativeResize="0"/>
          <p:nvPr/>
        </p:nvPicPr>
        <p:blipFill rotWithShape="1">
          <a:blip r:embed="rId4">
            <a:alphaModFix/>
          </a:blip>
          <a:srcRect b="0" l="0" r="0" t="0"/>
          <a:stretch/>
        </p:blipFill>
        <p:spPr>
          <a:xfrm>
            <a:off x="452568" y="1515791"/>
            <a:ext cx="5438775" cy="4114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8"/>
          <p:cNvSpPr/>
          <p:nvPr/>
        </p:nvSpPr>
        <p:spPr>
          <a:xfrm>
            <a:off x="1059875" y="1600200"/>
            <a:ext cx="10037960" cy="3927856"/>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8" name="Google Shape;158;p8"/>
          <p:cNvSpPr txBox="1"/>
          <p:nvPr/>
        </p:nvSpPr>
        <p:spPr>
          <a:xfrm>
            <a:off x="1265694" y="639585"/>
            <a:ext cx="10537916"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es un Modelo de Regresión?</a:t>
            </a:r>
            <a:endParaRPr b="0" i="0" sz="3200" u="none" cap="none" strike="noStrike">
              <a:solidFill>
                <a:srgbClr val="7F7F7F"/>
              </a:solidFill>
              <a:latin typeface="Arial"/>
              <a:ea typeface="Arial"/>
              <a:cs typeface="Arial"/>
              <a:sym typeface="Arial"/>
            </a:endParaRPr>
          </a:p>
        </p:txBody>
      </p:sp>
      <p:sp>
        <p:nvSpPr>
          <p:cNvPr id="159" name="Google Shape;159;p8"/>
          <p:cNvSpPr txBox="1"/>
          <p:nvPr/>
        </p:nvSpPr>
        <p:spPr>
          <a:xfrm>
            <a:off x="1265694" y="2286855"/>
            <a:ext cx="9445847" cy="255454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Un modelo lineal, es un tipo de modelo regresivo, ya que la regresión lineal es un método de modelado que se utiliza para establecer una relación lineal entre una variable dependiente y una o más variables independientes. Por lo tanto, es posible decir que los modelos lineales son un subconjunto de los modelos regresivos.</a:t>
            </a:r>
            <a:endParaRPr b="0" i="0" sz="1400" u="none" cap="none" strike="noStrike">
              <a:solidFill>
                <a:srgbClr val="000000"/>
              </a:solidFill>
              <a:latin typeface="Arial"/>
              <a:ea typeface="Arial"/>
              <a:cs typeface="Arial"/>
              <a:sym typeface="Arial"/>
            </a:endParaRPr>
          </a:p>
          <a:p>
            <a:pPr indent="-228600" lvl="0" marL="342900" marR="0" rtl="0" algn="just">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Sin embargo, hay otros tipos de modelos regresivos que no son lineales, como los modelos de regresión no lineal, los cuales permiten establecer una relación más compleja entre la variable dependiente y las variables independientes.</a:t>
            </a:r>
            <a:endParaRPr b="0" i="0" sz="1400" u="none" cap="none" strike="noStrike">
              <a:solidFill>
                <a:srgbClr val="000000"/>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9"/>
          <p:cNvSpPr/>
          <p:nvPr/>
        </p:nvSpPr>
        <p:spPr>
          <a:xfrm>
            <a:off x="6320023" y="1651833"/>
            <a:ext cx="5097655" cy="3567239"/>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5" name="Google Shape;165;p9"/>
          <p:cNvSpPr/>
          <p:nvPr/>
        </p:nvSpPr>
        <p:spPr>
          <a:xfrm>
            <a:off x="-911864" y="1673920"/>
            <a:ext cx="6882092" cy="3567239"/>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 name="Google Shape;166;p9"/>
          <p:cNvSpPr txBox="1"/>
          <p:nvPr/>
        </p:nvSpPr>
        <p:spPr>
          <a:xfrm>
            <a:off x="337956" y="509158"/>
            <a:ext cx="10782300"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es un Modelo de Regresión?</a:t>
            </a:r>
            <a:endParaRPr b="0" i="0" sz="3200" u="none" cap="none" strike="noStrike">
              <a:solidFill>
                <a:srgbClr val="7F7F7F"/>
              </a:solidFill>
              <a:latin typeface="Arial"/>
              <a:ea typeface="Arial"/>
              <a:cs typeface="Arial"/>
              <a:sym typeface="Arial"/>
            </a:endParaRPr>
          </a:p>
        </p:txBody>
      </p:sp>
      <p:sp>
        <p:nvSpPr>
          <p:cNvPr id="167" name="Google Shape;167;p9"/>
          <p:cNvSpPr txBox="1"/>
          <p:nvPr/>
        </p:nvSpPr>
        <p:spPr>
          <a:xfrm>
            <a:off x="866279" y="2142790"/>
            <a:ext cx="4489002" cy="258532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En el siguiente ejemplo, se observa que la relación entre los caballos de potencia de un vehículo y el consumo no disminuye de forma lineal. En este caso, utilizar un modelamiento lineal no sería lo más indicado para capturar la esencia de este fenómeno, dado que un modelo lineal estimaría que un vehículo con más de 250 caballos de potencia tendría un consumo negativo, lo cual es imposible.</a:t>
            </a:r>
            <a:endParaRPr b="0" i="0" sz="1400" u="none" cap="none" strike="noStrike">
              <a:solidFill>
                <a:srgbClr val="000000"/>
              </a:solidFill>
              <a:latin typeface="Arial"/>
              <a:ea typeface="Arial"/>
              <a:cs typeface="Arial"/>
              <a:sym typeface="Arial"/>
            </a:endParaRPr>
          </a:p>
        </p:txBody>
      </p:sp>
      <p:pic>
        <p:nvPicPr>
          <p:cNvPr id="168" name="Google Shape;168;p9"/>
          <p:cNvPicPr preferRelativeResize="0"/>
          <p:nvPr/>
        </p:nvPicPr>
        <p:blipFill rotWithShape="1">
          <a:blip r:embed="rId3">
            <a:alphaModFix/>
          </a:blip>
          <a:srcRect b="0" l="0" r="0" t="0"/>
          <a:stretch/>
        </p:blipFill>
        <p:spPr>
          <a:xfrm>
            <a:off x="431733" y="2243712"/>
            <a:ext cx="289524" cy="289524"/>
          </a:xfrm>
          <a:prstGeom prst="rect">
            <a:avLst/>
          </a:prstGeom>
          <a:noFill/>
          <a:ln>
            <a:noFill/>
          </a:ln>
        </p:spPr>
      </p:pic>
      <p:pic>
        <p:nvPicPr>
          <p:cNvPr id="169" name="Google Shape;169;p9"/>
          <p:cNvPicPr preferRelativeResize="0"/>
          <p:nvPr/>
        </p:nvPicPr>
        <p:blipFill rotWithShape="1">
          <a:blip r:embed="rId4">
            <a:alphaModFix/>
          </a:blip>
          <a:srcRect b="0" l="0" r="0" t="0"/>
          <a:stretch/>
        </p:blipFill>
        <p:spPr>
          <a:xfrm>
            <a:off x="6465045" y="1745076"/>
            <a:ext cx="4807610" cy="33807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p:nvPr/>
        </p:nvSpPr>
        <p:spPr>
          <a:xfrm>
            <a:off x="7899078" y="1292587"/>
            <a:ext cx="3932737" cy="4337191"/>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5" name="Google Shape;175;p10"/>
          <p:cNvSpPr/>
          <p:nvPr/>
        </p:nvSpPr>
        <p:spPr>
          <a:xfrm>
            <a:off x="354675" y="1292587"/>
            <a:ext cx="4188281" cy="4337191"/>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6" name="Google Shape;176;p10"/>
          <p:cNvSpPr txBox="1"/>
          <p:nvPr/>
        </p:nvSpPr>
        <p:spPr>
          <a:xfrm>
            <a:off x="530048" y="356801"/>
            <a:ext cx="10782300" cy="731156"/>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otros tipos de regresión existen?</a:t>
            </a:r>
            <a:endParaRPr b="0" i="0" sz="1400" u="none" cap="none" strike="noStrike">
              <a:solidFill>
                <a:srgbClr val="000000"/>
              </a:solidFill>
              <a:latin typeface="Arial"/>
              <a:ea typeface="Arial"/>
              <a:cs typeface="Arial"/>
              <a:sym typeface="Arial"/>
            </a:endParaRPr>
          </a:p>
        </p:txBody>
      </p:sp>
      <p:pic>
        <p:nvPicPr>
          <p:cNvPr id="177" name="Google Shape;177;p10"/>
          <p:cNvPicPr preferRelativeResize="0"/>
          <p:nvPr/>
        </p:nvPicPr>
        <p:blipFill rotWithShape="1">
          <a:blip r:embed="rId3">
            <a:alphaModFix/>
          </a:blip>
          <a:srcRect b="0" l="0" r="0" t="0"/>
          <a:stretch/>
        </p:blipFill>
        <p:spPr>
          <a:xfrm>
            <a:off x="530048" y="1551123"/>
            <a:ext cx="3820116" cy="3820116"/>
          </a:xfrm>
          <a:prstGeom prst="rect">
            <a:avLst/>
          </a:prstGeom>
          <a:noFill/>
          <a:ln>
            <a:noFill/>
          </a:ln>
        </p:spPr>
      </p:pic>
      <p:pic>
        <p:nvPicPr>
          <p:cNvPr id="178" name="Google Shape;178;p10"/>
          <p:cNvPicPr preferRelativeResize="0"/>
          <p:nvPr/>
        </p:nvPicPr>
        <p:blipFill rotWithShape="1">
          <a:blip r:embed="rId4">
            <a:alphaModFix/>
          </a:blip>
          <a:srcRect b="0" l="0" r="0" t="0"/>
          <a:stretch/>
        </p:blipFill>
        <p:spPr>
          <a:xfrm>
            <a:off x="8356666" y="1405025"/>
            <a:ext cx="2843389" cy="1732483"/>
          </a:xfrm>
          <a:prstGeom prst="rect">
            <a:avLst/>
          </a:prstGeom>
          <a:noFill/>
          <a:ln>
            <a:noFill/>
          </a:ln>
        </p:spPr>
      </p:pic>
      <p:pic>
        <p:nvPicPr>
          <p:cNvPr id="179" name="Google Shape;179;p10"/>
          <p:cNvPicPr preferRelativeResize="0"/>
          <p:nvPr/>
        </p:nvPicPr>
        <p:blipFill rotWithShape="1">
          <a:blip r:embed="rId5">
            <a:alphaModFix/>
          </a:blip>
          <a:srcRect b="0" l="0" r="0" t="0"/>
          <a:stretch/>
        </p:blipFill>
        <p:spPr>
          <a:xfrm>
            <a:off x="8540292" y="3274958"/>
            <a:ext cx="2659763" cy="2217369"/>
          </a:xfrm>
          <a:prstGeom prst="rect">
            <a:avLst/>
          </a:prstGeom>
          <a:noFill/>
          <a:ln>
            <a:noFill/>
          </a:ln>
        </p:spPr>
      </p:pic>
      <p:sp>
        <p:nvSpPr>
          <p:cNvPr id="180" name="Google Shape;180;p10"/>
          <p:cNvSpPr/>
          <p:nvPr/>
        </p:nvSpPr>
        <p:spPr>
          <a:xfrm>
            <a:off x="4879622" y="2699656"/>
            <a:ext cx="2664013" cy="1392467"/>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1" name="Google Shape;181;p10"/>
          <p:cNvSpPr txBox="1"/>
          <p:nvPr/>
        </p:nvSpPr>
        <p:spPr>
          <a:xfrm>
            <a:off x="5090476" y="2830239"/>
            <a:ext cx="2242304" cy="126188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Otros ejemplos de modelos regresivos que no son lineales.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txBox="1"/>
          <p:nvPr/>
        </p:nvSpPr>
        <p:spPr>
          <a:xfrm>
            <a:off x="855617" y="193178"/>
            <a:ext cx="8096795" cy="65890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¿Cómo validar el modelo de regresión?</a:t>
            </a:r>
            <a:endParaRPr b="0" i="0" sz="3200" u="none" cap="none" strike="noStrike">
              <a:solidFill>
                <a:srgbClr val="7F7F7F"/>
              </a:solidFill>
              <a:latin typeface="Arial"/>
              <a:ea typeface="Arial"/>
              <a:cs typeface="Arial"/>
              <a:sym typeface="Arial"/>
            </a:endParaRPr>
          </a:p>
        </p:txBody>
      </p:sp>
      <p:sp>
        <p:nvSpPr>
          <p:cNvPr id="187" name="Google Shape;187;p11"/>
          <p:cNvSpPr/>
          <p:nvPr/>
        </p:nvSpPr>
        <p:spPr>
          <a:xfrm>
            <a:off x="1907418" y="1032645"/>
            <a:ext cx="8096700" cy="5398200"/>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Regresión Lineal Simple'" id="188" name="Google Shape;188;p11"/>
          <p:cNvPicPr preferRelativeResize="0"/>
          <p:nvPr/>
        </p:nvPicPr>
        <p:blipFill rotWithShape="1">
          <a:blip r:embed="rId3">
            <a:alphaModFix/>
          </a:blip>
          <a:srcRect b="0" l="0" r="0" t="0"/>
          <a:stretch/>
        </p:blipFill>
        <p:spPr>
          <a:xfrm>
            <a:off x="2437915" y="1248922"/>
            <a:ext cx="7035800" cy="4965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2"/>
          <p:cNvSpPr txBox="1"/>
          <p:nvPr/>
        </p:nvSpPr>
        <p:spPr>
          <a:xfrm>
            <a:off x="2172250" y="86970"/>
            <a:ext cx="7951500" cy="1008000"/>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¿Cómo validar el modelo de regresión?</a:t>
            </a:r>
            <a:endParaRPr b="0" i="0" sz="3200" u="none" cap="none" strike="noStrike">
              <a:solidFill>
                <a:srgbClr val="7F7F7F"/>
              </a:solidFill>
              <a:latin typeface="Arial"/>
              <a:ea typeface="Arial"/>
              <a:cs typeface="Arial"/>
              <a:sym typeface="Arial"/>
            </a:endParaRPr>
          </a:p>
        </p:txBody>
      </p:sp>
      <p:sp>
        <p:nvSpPr>
          <p:cNvPr id="194" name="Google Shape;194;p12"/>
          <p:cNvSpPr/>
          <p:nvPr/>
        </p:nvSpPr>
        <p:spPr>
          <a:xfrm>
            <a:off x="2172250" y="1095032"/>
            <a:ext cx="7157400" cy="4210372"/>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ómo validar tu modelo de regresión? | Máxima Formación" id="195" name="Google Shape;195;p12"/>
          <p:cNvPicPr preferRelativeResize="0"/>
          <p:nvPr/>
        </p:nvPicPr>
        <p:blipFill rotWithShape="1">
          <a:blip r:embed="rId3">
            <a:alphaModFix/>
          </a:blip>
          <a:srcRect b="0" l="0" r="0" t="0"/>
          <a:stretch/>
        </p:blipFill>
        <p:spPr>
          <a:xfrm>
            <a:off x="2843897" y="1235290"/>
            <a:ext cx="5907681" cy="3844600"/>
          </a:xfrm>
          <a:prstGeom prst="rect">
            <a:avLst/>
          </a:prstGeom>
          <a:noFill/>
          <a:ln>
            <a:noFill/>
          </a:ln>
        </p:spPr>
      </p:pic>
      <p:sp>
        <p:nvSpPr>
          <p:cNvPr id="196" name="Google Shape;196;p12"/>
          <p:cNvSpPr txBox="1"/>
          <p:nvPr/>
        </p:nvSpPr>
        <p:spPr>
          <a:xfrm>
            <a:off x="2177143" y="5410200"/>
            <a:ext cx="7249886" cy="52322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7F7F7F"/>
                </a:solidFill>
                <a:latin typeface="Quattrocento Sans"/>
                <a:ea typeface="Quattrocento Sans"/>
                <a:cs typeface="Quattrocento Sans"/>
                <a:sym typeface="Quattrocento Sans"/>
              </a:rPr>
              <a:t>"No confío en las regresiones lineales cuando es más difícil adivinar la dirección de la correlación a partir del gráfico de dispersión que encontrar nuevas constelaciones en él."</a:t>
            </a:r>
            <a:endParaRPr b="0" i="0" sz="1400" u="none" cap="none" strike="noStrike">
              <a:solidFill>
                <a:srgbClr val="7F7F7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3"/>
          <p:cNvSpPr/>
          <p:nvPr/>
        </p:nvSpPr>
        <p:spPr>
          <a:xfrm>
            <a:off x="5324964" y="1030337"/>
            <a:ext cx="6506374" cy="5090545"/>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2" name="Google Shape;202;p13"/>
          <p:cNvSpPr/>
          <p:nvPr/>
        </p:nvSpPr>
        <p:spPr>
          <a:xfrm>
            <a:off x="-451825" y="1732869"/>
            <a:ext cx="5563396" cy="4401757"/>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3" name="Google Shape;203;p13"/>
          <p:cNvSpPr txBox="1"/>
          <p:nvPr/>
        </p:nvSpPr>
        <p:spPr>
          <a:xfrm>
            <a:off x="287380" y="737118"/>
            <a:ext cx="4504427"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línea utilizamos?</a:t>
            </a:r>
            <a:endParaRPr b="0" i="0" sz="1400" u="none" cap="none" strike="noStrike">
              <a:solidFill>
                <a:srgbClr val="000000"/>
              </a:solidFill>
              <a:latin typeface="Arial"/>
              <a:ea typeface="Arial"/>
              <a:cs typeface="Arial"/>
              <a:sym typeface="Arial"/>
            </a:endParaRPr>
          </a:p>
        </p:txBody>
      </p:sp>
      <p:sp>
        <p:nvSpPr>
          <p:cNvPr id="204" name="Google Shape;204;p13"/>
          <p:cNvSpPr txBox="1"/>
          <p:nvPr/>
        </p:nvSpPr>
        <p:spPr>
          <a:xfrm>
            <a:off x="855095" y="2134547"/>
            <a:ext cx="4034683" cy="369331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Como hemos mencionado, un modelo regresivo lineal simplifica el fenómeno y lo representa con una línea recta, pero, ¿qué línea utilizamos?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No todas las líneas que podamos trazar nos van a servir para este propósito. Sin embargo, la línea que trazaremos será la mejor línea posible. Pero, ¿cuál es la mejor línea posible?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La mejor línea posible, es la que tenga el menor error.</a:t>
            </a:r>
            <a:endParaRPr b="0" i="0" sz="1400" u="none" cap="none" strike="noStrike">
              <a:solidFill>
                <a:srgbClr val="000000"/>
              </a:solidFill>
              <a:latin typeface="Arial"/>
              <a:ea typeface="Arial"/>
              <a:cs typeface="Arial"/>
              <a:sym typeface="Arial"/>
            </a:endParaRPr>
          </a:p>
        </p:txBody>
      </p:sp>
      <p:pic>
        <p:nvPicPr>
          <p:cNvPr id="205" name="Google Shape;205;p13"/>
          <p:cNvPicPr preferRelativeResize="0"/>
          <p:nvPr/>
        </p:nvPicPr>
        <p:blipFill rotWithShape="1">
          <a:blip r:embed="rId3">
            <a:alphaModFix/>
          </a:blip>
          <a:srcRect b="0" l="0" r="0" t="0"/>
          <a:stretch/>
        </p:blipFill>
        <p:spPr>
          <a:xfrm>
            <a:off x="385351" y="2194661"/>
            <a:ext cx="289524" cy="289524"/>
          </a:xfrm>
          <a:prstGeom prst="rect">
            <a:avLst/>
          </a:prstGeom>
          <a:noFill/>
          <a:ln>
            <a:noFill/>
          </a:ln>
        </p:spPr>
      </p:pic>
      <p:pic>
        <p:nvPicPr>
          <p:cNvPr id="206" name="Google Shape;206;p13"/>
          <p:cNvPicPr preferRelativeResize="0"/>
          <p:nvPr/>
        </p:nvPicPr>
        <p:blipFill rotWithShape="1">
          <a:blip r:embed="rId3">
            <a:alphaModFix/>
          </a:blip>
          <a:srcRect b="0" l="0" r="0" t="0"/>
          <a:stretch/>
        </p:blipFill>
        <p:spPr>
          <a:xfrm>
            <a:off x="354618" y="3558211"/>
            <a:ext cx="289524" cy="289524"/>
          </a:xfrm>
          <a:prstGeom prst="rect">
            <a:avLst/>
          </a:prstGeom>
          <a:noFill/>
          <a:ln>
            <a:noFill/>
          </a:ln>
        </p:spPr>
      </p:pic>
      <p:pic>
        <p:nvPicPr>
          <p:cNvPr id="207" name="Google Shape;207;p13"/>
          <p:cNvPicPr preferRelativeResize="0"/>
          <p:nvPr/>
        </p:nvPicPr>
        <p:blipFill rotWithShape="1">
          <a:blip r:embed="rId3">
            <a:alphaModFix/>
          </a:blip>
          <a:srcRect b="0" l="0" r="0" t="0"/>
          <a:stretch/>
        </p:blipFill>
        <p:spPr>
          <a:xfrm>
            <a:off x="385351" y="5211285"/>
            <a:ext cx="289524" cy="289524"/>
          </a:xfrm>
          <a:prstGeom prst="rect">
            <a:avLst/>
          </a:prstGeom>
          <a:noFill/>
          <a:ln>
            <a:noFill/>
          </a:ln>
        </p:spPr>
      </p:pic>
      <p:pic>
        <p:nvPicPr>
          <p:cNvPr id="208" name="Google Shape;208;p13"/>
          <p:cNvPicPr preferRelativeResize="0"/>
          <p:nvPr/>
        </p:nvPicPr>
        <p:blipFill rotWithShape="1">
          <a:blip r:embed="rId4">
            <a:alphaModFix/>
          </a:blip>
          <a:srcRect b="0" l="0" r="0" t="0"/>
          <a:stretch/>
        </p:blipFill>
        <p:spPr>
          <a:xfrm>
            <a:off x="5930101" y="1596898"/>
            <a:ext cx="5438775" cy="4114800"/>
          </a:xfrm>
          <a:prstGeom prst="rect">
            <a:avLst/>
          </a:prstGeom>
          <a:noFill/>
          <a:ln>
            <a:noFill/>
          </a:ln>
        </p:spPr>
      </p:pic>
      <p:cxnSp>
        <p:nvCxnSpPr>
          <p:cNvPr id="209" name="Google Shape;209;p13"/>
          <p:cNvCxnSpPr/>
          <p:nvPr/>
        </p:nvCxnSpPr>
        <p:spPr>
          <a:xfrm flipH="1" rot="10800000">
            <a:off x="6879716" y="1857503"/>
            <a:ext cx="3072453" cy="2994561"/>
          </a:xfrm>
          <a:prstGeom prst="straightConnector1">
            <a:avLst/>
          </a:prstGeom>
          <a:noFill/>
          <a:ln cap="flat" cmpd="sng" w="19050">
            <a:solidFill>
              <a:schemeClr val="dk1"/>
            </a:solidFill>
            <a:prstDash val="solid"/>
            <a:miter lim="800000"/>
            <a:headEnd len="sm" w="sm" type="none"/>
            <a:tailEnd len="sm" w="sm" type="none"/>
          </a:ln>
        </p:spPr>
      </p:cxnSp>
      <p:cxnSp>
        <p:nvCxnSpPr>
          <p:cNvPr id="210" name="Google Shape;210;p13"/>
          <p:cNvCxnSpPr/>
          <p:nvPr/>
        </p:nvCxnSpPr>
        <p:spPr>
          <a:xfrm flipH="1" rot="10800000">
            <a:off x="6747334" y="3150898"/>
            <a:ext cx="4439688" cy="1015366"/>
          </a:xfrm>
          <a:prstGeom prst="straightConnector1">
            <a:avLst/>
          </a:prstGeom>
          <a:noFill/>
          <a:ln cap="flat" cmpd="sng" w="19050">
            <a:solidFill>
              <a:schemeClr val="dk1"/>
            </a:solidFill>
            <a:prstDash val="solid"/>
            <a:miter lim="800000"/>
            <a:headEnd len="sm" w="sm" type="none"/>
            <a:tailEnd len="sm" w="sm" type="none"/>
          </a:ln>
        </p:spPr>
      </p:cxnSp>
      <p:cxnSp>
        <p:nvCxnSpPr>
          <p:cNvPr id="211" name="Google Shape;211;p13"/>
          <p:cNvCxnSpPr/>
          <p:nvPr/>
        </p:nvCxnSpPr>
        <p:spPr>
          <a:xfrm flipH="1" rot="10800000">
            <a:off x="7424372" y="1857503"/>
            <a:ext cx="3610853" cy="2994561"/>
          </a:xfrm>
          <a:prstGeom prst="straightConnector1">
            <a:avLst/>
          </a:prstGeom>
          <a:noFill/>
          <a:ln cap="flat" cmpd="sng" w="19050">
            <a:solidFill>
              <a:schemeClr val="dk1"/>
            </a:solidFill>
            <a:prstDash val="solid"/>
            <a:miter lim="800000"/>
            <a:headEnd len="sm" w="sm" type="none"/>
            <a:tailEnd len="sm" w="sm" type="none"/>
          </a:ln>
        </p:spPr>
      </p:cxnSp>
      <p:cxnSp>
        <p:nvCxnSpPr>
          <p:cNvPr id="212" name="Google Shape;212;p13"/>
          <p:cNvCxnSpPr/>
          <p:nvPr/>
        </p:nvCxnSpPr>
        <p:spPr>
          <a:xfrm flipH="1" rot="10800000">
            <a:off x="7758022" y="1857503"/>
            <a:ext cx="2658979" cy="3259256"/>
          </a:xfrm>
          <a:prstGeom prst="straightConnector1">
            <a:avLst/>
          </a:prstGeom>
          <a:noFill/>
          <a:ln cap="flat" cmpd="sng" w="19050">
            <a:solidFill>
              <a:schemeClr val="dk1"/>
            </a:solidFill>
            <a:prstDash val="solid"/>
            <a:miter lim="800000"/>
            <a:headEnd len="sm" w="sm" type="none"/>
            <a:tailEnd len="sm" w="sm" type="none"/>
          </a:ln>
        </p:spPr>
      </p:cxnSp>
      <p:cxnSp>
        <p:nvCxnSpPr>
          <p:cNvPr id="213" name="Google Shape;213;p13"/>
          <p:cNvCxnSpPr/>
          <p:nvPr/>
        </p:nvCxnSpPr>
        <p:spPr>
          <a:xfrm rot="10800000">
            <a:off x="7758022" y="1857503"/>
            <a:ext cx="2839199" cy="2308761"/>
          </a:xfrm>
          <a:prstGeom prst="straightConnector1">
            <a:avLst/>
          </a:prstGeom>
          <a:noFill/>
          <a:ln cap="flat" cmpd="sng" w="19050">
            <a:solidFill>
              <a:schemeClr val="dk1"/>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4"/>
          <p:cNvSpPr/>
          <p:nvPr/>
        </p:nvSpPr>
        <p:spPr>
          <a:xfrm>
            <a:off x="-531092" y="1717183"/>
            <a:ext cx="6882092" cy="2027750"/>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 name="Google Shape;219;p14"/>
          <p:cNvSpPr/>
          <p:nvPr/>
        </p:nvSpPr>
        <p:spPr>
          <a:xfrm>
            <a:off x="6291441" y="1714501"/>
            <a:ext cx="5097655" cy="3907787"/>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0" name="Google Shape;220;p14"/>
          <p:cNvSpPr txBox="1"/>
          <p:nvPr/>
        </p:nvSpPr>
        <p:spPr>
          <a:xfrm>
            <a:off x="748937" y="528307"/>
            <a:ext cx="10640159"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Método de los mínimos cuadrados </a:t>
            </a:r>
            <a:endParaRPr b="0" i="0" sz="3200" u="none" cap="none" strike="noStrike">
              <a:solidFill>
                <a:srgbClr val="7F7F7F"/>
              </a:solidFill>
              <a:latin typeface="Arial"/>
              <a:ea typeface="Arial"/>
              <a:cs typeface="Arial"/>
              <a:sym typeface="Arial"/>
            </a:endParaRPr>
          </a:p>
        </p:txBody>
      </p:sp>
      <p:sp>
        <p:nvSpPr>
          <p:cNvPr id="221" name="Google Shape;221;p14"/>
          <p:cNvSpPr txBox="1"/>
          <p:nvPr/>
        </p:nvSpPr>
        <p:spPr>
          <a:xfrm>
            <a:off x="748938" y="1936155"/>
            <a:ext cx="5175168"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Arial"/>
                <a:ea typeface="Arial"/>
                <a:cs typeface="Arial"/>
                <a:sym typeface="Arial"/>
              </a:rPr>
              <a:t>Mínimos Cuadrados es un método estadístico que se utiliza para determinar la línea de mejor ajuste o la línea de regresión, minimizando la suma de cuadrados creada por una función matemática.</a:t>
            </a:r>
            <a:endParaRPr b="0" i="0" sz="1400" u="none" cap="none" strike="noStrike">
              <a:solidFill>
                <a:srgbClr val="000000"/>
              </a:solidFill>
              <a:latin typeface="Arial"/>
              <a:ea typeface="Arial"/>
              <a:cs typeface="Arial"/>
              <a:sym typeface="Arial"/>
            </a:endParaRPr>
          </a:p>
        </p:txBody>
      </p:sp>
      <p:pic>
        <p:nvPicPr>
          <p:cNvPr id="222" name="Google Shape;222;p14"/>
          <p:cNvPicPr preferRelativeResize="0"/>
          <p:nvPr/>
        </p:nvPicPr>
        <p:blipFill rotWithShape="1">
          <a:blip r:embed="rId3">
            <a:alphaModFix/>
          </a:blip>
          <a:srcRect b="0" l="0" r="0" t="0"/>
          <a:stretch/>
        </p:blipFill>
        <p:spPr>
          <a:xfrm>
            <a:off x="6718335" y="1936539"/>
            <a:ext cx="4321473" cy="3271462"/>
          </a:xfrm>
          <a:prstGeom prst="rect">
            <a:avLst/>
          </a:prstGeom>
          <a:noFill/>
          <a:ln>
            <a:noFill/>
          </a:ln>
        </p:spPr>
      </p:pic>
      <p:sp>
        <p:nvSpPr>
          <p:cNvPr id="223" name="Google Shape;223;p14"/>
          <p:cNvSpPr txBox="1"/>
          <p:nvPr/>
        </p:nvSpPr>
        <p:spPr>
          <a:xfrm>
            <a:off x="8036369" y="5208001"/>
            <a:ext cx="188788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3F3F3F"/>
                </a:solidFill>
                <a:latin typeface="Calibri"/>
                <a:ea typeface="Calibri"/>
                <a:cs typeface="Calibri"/>
                <a:sym typeface="Calibri"/>
              </a:rPr>
              <a:t>Variable independiente</a:t>
            </a:r>
            <a:endParaRPr b="0" i="0" sz="1400" u="none" cap="none" strike="noStrike">
              <a:solidFill>
                <a:srgbClr val="000000"/>
              </a:solidFill>
              <a:latin typeface="Arial"/>
              <a:ea typeface="Arial"/>
              <a:cs typeface="Arial"/>
              <a:sym typeface="Arial"/>
            </a:endParaRPr>
          </a:p>
        </p:txBody>
      </p:sp>
      <p:sp>
        <p:nvSpPr>
          <p:cNvPr id="224" name="Google Shape;224;p14"/>
          <p:cNvSpPr txBox="1"/>
          <p:nvPr/>
        </p:nvSpPr>
        <p:spPr>
          <a:xfrm rot="-5400000">
            <a:off x="5667791" y="3320112"/>
            <a:ext cx="17933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3F3F3F"/>
                </a:solidFill>
                <a:latin typeface="Calibri"/>
                <a:ea typeface="Calibri"/>
                <a:cs typeface="Calibri"/>
                <a:sym typeface="Calibri"/>
              </a:rPr>
              <a:t>Variable dependiente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5"/>
          <p:cNvSpPr/>
          <p:nvPr/>
        </p:nvSpPr>
        <p:spPr>
          <a:xfrm>
            <a:off x="6332805" y="1942758"/>
            <a:ext cx="6311306" cy="3310971"/>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0" name="Google Shape;230;p15"/>
          <p:cNvSpPr txBox="1"/>
          <p:nvPr/>
        </p:nvSpPr>
        <p:spPr>
          <a:xfrm>
            <a:off x="500128" y="340880"/>
            <a:ext cx="10782300"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Método de los mínimos cuadrados </a:t>
            </a:r>
            <a:endParaRPr b="0" i="0" sz="3200" u="none" cap="none" strike="noStrike">
              <a:solidFill>
                <a:srgbClr val="7F7F7F"/>
              </a:solidFill>
              <a:latin typeface="Arial"/>
              <a:ea typeface="Arial"/>
              <a:cs typeface="Arial"/>
              <a:sym typeface="Arial"/>
            </a:endParaRPr>
          </a:p>
        </p:txBody>
      </p:sp>
      <p:sp>
        <p:nvSpPr>
          <p:cNvPr id="231" name="Google Shape;231;p15"/>
          <p:cNvSpPr txBox="1"/>
          <p:nvPr/>
        </p:nvSpPr>
        <p:spPr>
          <a:xfrm>
            <a:off x="6779649" y="2329234"/>
            <a:ext cx="4967222" cy="2506455"/>
          </a:xfrm>
          <a:prstGeom prst="rect">
            <a:avLst/>
          </a:prstGeom>
          <a:blipFill rotWithShape="1">
            <a:blip r:embed="rId3">
              <a:alphaModFix/>
            </a:blip>
            <a:stretch>
              <a:fillRect b="-239" l="-733" r="-1101" t="-121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32" name="Google Shape;232;p15"/>
          <p:cNvSpPr/>
          <p:nvPr/>
        </p:nvSpPr>
        <p:spPr>
          <a:xfrm>
            <a:off x="276356" y="1364461"/>
            <a:ext cx="5791200" cy="4417462"/>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33" name="Google Shape;233;p15"/>
          <p:cNvPicPr preferRelativeResize="0"/>
          <p:nvPr/>
        </p:nvPicPr>
        <p:blipFill rotWithShape="1">
          <a:blip r:embed="rId4">
            <a:alphaModFix/>
          </a:blip>
          <a:srcRect b="0" l="0" r="0" t="0"/>
          <a:stretch/>
        </p:blipFill>
        <p:spPr>
          <a:xfrm>
            <a:off x="1367266" y="1793269"/>
            <a:ext cx="4321473" cy="3271462"/>
          </a:xfrm>
          <a:prstGeom prst="rect">
            <a:avLst/>
          </a:prstGeom>
          <a:noFill/>
          <a:ln>
            <a:noFill/>
          </a:ln>
        </p:spPr>
      </p:pic>
      <p:sp>
        <p:nvSpPr>
          <p:cNvPr id="234" name="Google Shape;234;p15"/>
          <p:cNvSpPr txBox="1"/>
          <p:nvPr/>
        </p:nvSpPr>
        <p:spPr>
          <a:xfrm>
            <a:off x="3816757" y="5006077"/>
            <a:ext cx="188788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Variable independiente</a:t>
            </a:r>
            <a:endParaRPr b="0" i="0" sz="1400" u="none" cap="none" strike="noStrike">
              <a:solidFill>
                <a:srgbClr val="000000"/>
              </a:solidFill>
              <a:latin typeface="Arial"/>
              <a:ea typeface="Arial"/>
              <a:cs typeface="Arial"/>
              <a:sym typeface="Arial"/>
            </a:endParaRPr>
          </a:p>
        </p:txBody>
      </p:sp>
      <p:sp>
        <p:nvSpPr>
          <p:cNvPr id="235" name="Google Shape;235;p15"/>
          <p:cNvSpPr txBox="1"/>
          <p:nvPr/>
        </p:nvSpPr>
        <p:spPr>
          <a:xfrm rot="-5400000">
            <a:off x="412234" y="2468114"/>
            <a:ext cx="17933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3F3F3F"/>
                </a:solidFill>
                <a:latin typeface="Calibri"/>
                <a:ea typeface="Calibri"/>
                <a:cs typeface="Calibri"/>
                <a:sym typeface="Calibri"/>
              </a:rPr>
              <a:t>Variable dependiente</a:t>
            </a:r>
            <a:endParaRPr b="0" i="0" sz="1400" u="none" cap="none" strike="noStrike">
              <a:solidFill>
                <a:srgbClr val="000000"/>
              </a:solidFill>
              <a:latin typeface="Arial"/>
              <a:ea typeface="Arial"/>
              <a:cs typeface="Arial"/>
              <a:sym typeface="Arial"/>
            </a:endParaRPr>
          </a:p>
        </p:txBody>
      </p:sp>
      <p:cxnSp>
        <p:nvCxnSpPr>
          <p:cNvPr id="236" name="Google Shape;236;p15"/>
          <p:cNvCxnSpPr/>
          <p:nvPr/>
        </p:nvCxnSpPr>
        <p:spPr>
          <a:xfrm>
            <a:off x="2769474" y="3633945"/>
            <a:ext cx="0" cy="360040"/>
          </a:xfrm>
          <a:prstGeom prst="straightConnector1">
            <a:avLst/>
          </a:prstGeom>
          <a:noFill/>
          <a:ln cap="flat" cmpd="sng" w="28575">
            <a:solidFill>
              <a:srgbClr val="FF0000"/>
            </a:solidFill>
            <a:prstDash val="solid"/>
            <a:miter lim="800000"/>
            <a:headEnd len="sm" w="sm" type="none"/>
            <a:tailEnd len="sm" w="sm" type="none"/>
          </a:ln>
        </p:spPr>
      </p:cxnSp>
      <p:cxnSp>
        <p:nvCxnSpPr>
          <p:cNvPr id="237" name="Google Shape;237;p15"/>
          <p:cNvCxnSpPr/>
          <p:nvPr/>
        </p:nvCxnSpPr>
        <p:spPr>
          <a:xfrm>
            <a:off x="2327903" y="3953506"/>
            <a:ext cx="0" cy="360040"/>
          </a:xfrm>
          <a:prstGeom prst="straightConnector1">
            <a:avLst/>
          </a:prstGeom>
          <a:noFill/>
          <a:ln cap="flat" cmpd="sng" w="28575">
            <a:solidFill>
              <a:srgbClr val="FF0000"/>
            </a:solidFill>
            <a:prstDash val="solid"/>
            <a:miter lim="800000"/>
            <a:headEnd len="sm" w="sm" type="none"/>
            <a:tailEnd len="sm" w="sm" type="none"/>
          </a:ln>
        </p:spPr>
      </p:cxnSp>
      <p:cxnSp>
        <p:nvCxnSpPr>
          <p:cNvPr id="238" name="Google Shape;238;p15"/>
          <p:cNvCxnSpPr/>
          <p:nvPr/>
        </p:nvCxnSpPr>
        <p:spPr>
          <a:xfrm>
            <a:off x="3744252" y="3288767"/>
            <a:ext cx="0" cy="360040"/>
          </a:xfrm>
          <a:prstGeom prst="straightConnector1">
            <a:avLst/>
          </a:prstGeom>
          <a:noFill/>
          <a:ln cap="flat" cmpd="sng" w="28575">
            <a:solidFill>
              <a:srgbClr val="FF0000"/>
            </a:solidFill>
            <a:prstDash val="solid"/>
            <a:miter lim="800000"/>
            <a:headEnd len="sm" w="sm" type="none"/>
            <a:tailEnd len="sm" w="sm" type="none"/>
          </a:ln>
        </p:spPr>
      </p:cxnSp>
      <p:cxnSp>
        <p:nvCxnSpPr>
          <p:cNvPr id="239" name="Google Shape;239;p15"/>
          <p:cNvCxnSpPr/>
          <p:nvPr/>
        </p:nvCxnSpPr>
        <p:spPr>
          <a:xfrm>
            <a:off x="5227842" y="2225314"/>
            <a:ext cx="0" cy="648072"/>
          </a:xfrm>
          <a:prstGeom prst="straightConnector1">
            <a:avLst/>
          </a:prstGeom>
          <a:noFill/>
          <a:ln cap="flat" cmpd="sng" w="28575">
            <a:solidFill>
              <a:srgbClr val="FF0000"/>
            </a:solidFill>
            <a:prstDash val="solid"/>
            <a:miter lim="800000"/>
            <a:headEnd len="sm" w="sm" type="none"/>
            <a:tailEnd len="sm" w="sm" type="none"/>
          </a:ln>
        </p:spPr>
      </p:cxnSp>
      <p:cxnSp>
        <p:nvCxnSpPr>
          <p:cNvPr id="240" name="Google Shape;240;p15"/>
          <p:cNvCxnSpPr/>
          <p:nvPr/>
        </p:nvCxnSpPr>
        <p:spPr>
          <a:xfrm>
            <a:off x="4382798" y="2465153"/>
            <a:ext cx="0" cy="360040"/>
          </a:xfrm>
          <a:prstGeom prst="straightConnector1">
            <a:avLst/>
          </a:prstGeom>
          <a:noFill/>
          <a:ln cap="flat" cmpd="sng" w="28575">
            <a:solidFill>
              <a:srgbClr val="FF0000"/>
            </a:solidFill>
            <a:prstDash val="solid"/>
            <a:miter lim="800000"/>
            <a:headEnd len="sm" w="sm" type="none"/>
            <a:tailEnd len="sm" w="sm" type="none"/>
          </a:ln>
        </p:spPr>
      </p:cxnSp>
      <p:cxnSp>
        <p:nvCxnSpPr>
          <p:cNvPr id="241" name="Google Shape;241;p15"/>
          <p:cNvCxnSpPr/>
          <p:nvPr/>
        </p:nvCxnSpPr>
        <p:spPr>
          <a:xfrm flipH="1" rot="10800000">
            <a:off x="1728028" y="2009290"/>
            <a:ext cx="3816424" cy="2736304"/>
          </a:xfrm>
          <a:prstGeom prst="straightConnector1">
            <a:avLst/>
          </a:prstGeom>
          <a:noFill/>
          <a:ln cap="flat" cmpd="sng" w="57150">
            <a:solidFill>
              <a:schemeClr val="dk1"/>
            </a:solidFill>
            <a:prstDash val="solid"/>
            <a:miter lim="800000"/>
            <a:headEnd len="sm" w="sm" type="none"/>
            <a:tailEnd len="sm" w="sm" type="none"/>
          </a:ln>
        </p:spPr>
      </p:cxnSp>
      <p:sp>
        <p:nvSpPr>
          <p:cNvPr id="242" name="Google Shape;242;p15"/>
          <p:cNvSpPr/>
          <p:nvPr/>
        </p:nvSpPr>
        <p:spPr>
          <a:xfrm rot="10800000">
            <a:off x="1095828" y="3854774"/>
            <a:ext cx="151723" cy="486519"/>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15"/>
          <p:cNvSpPr txBox="1"/>
          <p:nvPr/>
        </p:nvSpPr>
        <p:spPr>
          <a:xfrm>
            <a:off x="500128" y="3953506"/>
            <a:ext cx="5536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3F3F3F"/>
                </a:solidFill>
                <a:latin typeface="Calibri"/>
                <a:ea typeface="Calibri"/>
                <a:cs typeface="Calibri"/>
                <a:sym typeface="Calibri"/>
              </a:rPr>
              <a:t>error</a:t>
            </a:r>
            <a:endParaRPr b="0" i="0" sz="1400" u="none" cap="none" strike="noStrike">
              <a:solidFill>
                <a:srgbClr val="000000"/>
              </a:solidFill>
              <a:latin typeface="Arial"/>
              <a:ea typeface="Arial"/>
              <a:cs typeface="Arial"/>
              <a:sym typeface="Arial"/>
            </a:endParaRPr>
          </a:p>
        </p:txBody>
      </p:sp>
      <p:sp>
        <p:nvSpPr>
          <p:cNvPr id="244" name="Google Shape;244;p15"/>
          <p:cNvSpPr txBox="1"/>
          <p:nvPr/>
        </p:nvSpPr>
        <p:spPr>
          <a:xfrm>
            <a:off x="1330272" y="4087950"/>
            <a:ext cx="245708" cy="369332"/>
          </a:xfrm>
          <a:prstGeom prst="rect">
            <a:avLst/>
          </a:prstGeom>
          <a:blipFill rotWithShape="1">
            <a:blip r:embed="rId5">
              <a:alphaModFix/>
            </a:blip>
            <a:stretch>
              <a:fillRect b="-26660" l="-29259" r="-75595" t="-1832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5" name="Google Shape;245;p15"/>
          <p:cNvSpPr txBox="1"/>
          <p:nvPr/>
        </p:nvSpPr>
        <p:spPr>
          <a:xfrm>
            <a:off x="1331594" y="3629299"/>
            <a:ext cx="250389" cy="369332"/>
          </a:xfrm>
          <a:prstGeom prst="rect">
            <a:avLst/>
          </a:prstGeom>
          <a:blipFill rotWithShape="1">
            <a:blip r:embed="rId6">
              <a:alphaModFix/>
            </a:blip>
            <a:stretch>
              <a:fillRect b="-24587" l="-42854" r="-238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6" name="Google Shape;246;p15"/>
          <p:cNvSpPr txBox="1"/>
          <p:nvPr/>
        </p:nvSpPr>
        <p:spPr>
          <a:xfrm>
            <a:off x="2276588" y="4780977"/>
            <a:ext cx="250389" cy="369332"/>
          </a:xfrm>
          <a:prstGeom prst="rect">
            <a:avLst/>
          </a:prstGeom>
          <a:blipFill rotWithShape="1">
            <a:blip r:embed="rId7">
              <a:alphaModFix/>
            </a:blip>
            <a:stretch>
              <a:fillRect b="-14751" l="-28565" r="-2618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cxnSp>
        <p:nvCxnSpPr>
          <p:cNvPr id="247" name="Google Shape;247;p15"/>
          <p:cNvCxnSpPr/>
          <p:nvPr/>
        </p:nvCxnSpPr>
        <p:spPr>
          <a:xfrm rot="10800000">
            <a:off x="1581983" y="4284648"/>
            <a:ext cx="745920" cy="0"/>
          </a:xfrm>
          <a:prstGeom prst="straightConnector1">
            <a:avLst/>
          </a:prstGeom>
          <a:noFill/>
          <a:ln cap="flat" cmpd="sng" w="9525">
            <a:solidFill>
              <a:srgbClr val="7F7F7F"/>
            </a:solidFill>
            <a:prstDash val="dash"/>
            <a:miter lim="800000"/>
            <a:headEnd len="sm" w="sm" type="none"/>
            <a:tailEnd len="sm" w="sm" type="none"/>
          </a:ln>
        </p:spPr>
      </p:cxnSp>
      <p:cxnSp>
        <p:nvCxnSpPr>
          <p:cNvPr id="248" name="Google Shape;248;p15"/>
          <p:cNvCxnSpPr/>
          <p:nvPr/>
        </p:nvCxnSpPr>
        <p:spPr>
          <a:xfrm rot="10800000">
            <a:off x="1595702" y="3895626"/>
            <a:ext cx="745920" cy="0"/>
          </a:xfrm>
          <a:prstGeom prst="straightConnector1">
            <a:avLst/>
          </a:prstGeom>
          <a:noFill/>
          <a:ln cap="flat" cmpd="sng" w="9525">
            <a:solidFill>
              <a:srgbClr val="7F7F7F"/>
            </a:solidFill>
            <a:prstDash val="dash"/>
            <a:miter lim="800000"/>
            <a:headEnd len="sm" w="sm" type="none"/>
            <a:tailEnd len="sm" w="sm" type="none"/>
          </a:ln>
        </p:spPr>
      </p:cxnSp>
      <p:cxnSp>
        <p:nvCxnSpPr>
          <p:cNvPr id="249" name="Google Shape;249;p15"/>
          <p:cNvCxnSpPr/>
          <p:nvPr/>
        </p:nvCxnSpPr>
        <p:spPr>
          <a:xfrm>
            <a:off x="2341622" y="4313546"/>
            <a:ext cx="0" cy="522143"/>
          </a:xfrm>
          <a:prstGeom prst="straightConnector1">
            <a:avLst/>
          </a:prstGeom>
          <a:noFill/>
          <a:ln cap="flat" cmpd="sng" w="9525">
            <a:solidFill>
              <a:srgbClr val="7F7F7F"/>
            </a:solidFill>
            <a:prstDash val="dash"/>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6"/>
          <p:cNvSpPr/>
          <p:nvPr/>
        </p:nvSpPr>
        <p:spPr>
          <a:xfrm>
            <a:off x="1368725" y="2017800"/>
            <a:ext cx="9418500" cy="1385700"/>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5" name="Google Shape;255;p16"/>
          <p:cNvSpPr txBox="1"/>
          <p:nvPr/>
        </p:nvSpPr>
        <p:spPr>
          <a:xfrm>
            <a:off x="1368737" y="901312"/>
            <a:ext cx="10782300" cy="1008000"/>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Determinando los coeficientes de la regresión lineal</a:t>
            </a:r>
            <a:endParaRPr b="0" i="0" sz="3200" u="none" cap="none" strike="noStrike">
              <a:solidFill>
                <a:srgbClr val="7F7F7F"/>
              </a:solidFill>
              <a:latin typeface="Arial"/>
              <a:ea typeface="Arial"/>
              <a:cs typeface="Arial"/>
              <a:sym typeface="Arial"/>
            </a:endParaRPr>
          </a:p>
        </p:txBody>
      </p:sp>
      <p:sp>
        <p:nvSpPr>
          <p:cNvPr id="256" name="Google Shape;256;p16"/>
          <p:cNvSpPr txBox="1"/>
          <p:nvPr/>
        </p:nvSpPr>
        <p:spPr>
          <a:xfrm>
            <a:off x="1640873" y="2222950"/>
            <a:ext cx="8898300" cy="1015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El objetivo es encontrar los valores estimados para  α y β  que pueda proveer el mejor ajuste para los datos. En otras palabras, los valores que minimizan el siguiente problema de minimización: </a:t>
            </a:r>
            <a:endParaRPr b="0" i="0" sz="1600" u="none" cap="none" strike="noStrike">
              <a:solidFill>
                <a:schemeClr val="lt1"/>
              </a:solidFill>
              <a:latin typeface="Arial"/>
              <a:ea typeface="Arial"/>
              <a:cs typeface="Arial"/>
              <a:sym typeface="Arial"/>
            </a:endParaRPr>
          </a:p>
        </p:txBody>
      </p:sp>
      <p:sp>
        <p:nvSpPr>
          <p:cNvPr id="257" name="Google Shape;257;p16"/>
          <p:cNvSpPr/>
          <p:nvPr/>
        </p:nvSpPr>
        <p:spPr>
          <a:xfrm>
            <a:off x="1368724" y="3811300"/>
            <a:ext cx="9418500" cy="1159200"/>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58" name="Google Shape;258;p16"/>
          <p:cNvPicPr preferRelativeResize="0"/>
          <p:nvPr/>
        </p:nvPicPr>
        <p:blipFill rotWithShape="1">
          <a:blip r:embed="rId3">
            <a:alphaModFix/>
          </a:blip>
          <a:srcRect b="0" l="0" r="0" t="0"/>
          <a:stretch/>
        </p:blipFill>
        <p:spPr>
          <a:xfrm>
            <a:off x="2906541" y="4028089"/>
            <a:ext cx="5442016" cy="7256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7"/>
          <p:cNvSpPr/>
          <p:nvPr/>
        </p:nvSpPr>
        <p:spPr>
          <a:xfrm>
            <a:off x="562247" y="1208136"/>
            <a:ext cx="11159490" cy="620664"/>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4" name="Google Shape;264;p17"/>
          <p:cNvSpPr txBox="1"/>
          <p:nvPr/>
        </p:nvSpPr>
        <p:spPr>
          <a:xfrm>
            <a:off x="1108569" y="462552"/>
            <a:ext cx="10782300" cy="64803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Determinando los coeficientes de la regresión lineal</a:t>
            </a:r>
            <a:endParaRPr b="0" i="0" sz="3200" u="none" cap="none" strike="noStrike">
              <a:solidFill>
                <a:srgbClr val="7F7F7F"/>
              </a:solidFill>
              <a:latin typeface="Arial"/>
              <a:ea typeface="Arial"/>
              <a:cs typeface="Arial"/>
              <a:sym typeface="Arial"/>
            </a:endParaRPr>
          </a:p>
        </p:txBody>
      </p:sp>
      <p:sp>
        <p:nvSpPr>
          <p:cNvPr id="265" name="Google Shape;265;p17"/>
          <p:cNvSpPr txBox="1"/>
          <p:nvPr/>
        </p:nvSpPr>
        <p:spPr>
          <a:xfrm>
            <a:off x="1169529" y="1326185"/>
            <a:ext cx="9237214" cy="40011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Las siguientes ecuaciones permiten determinar los valores estimados de α y β: </a:t>
            </a:r>
            <a:endParaRPr b="0" i="0" sz="1400" u="none" cap="none" strike="noStrike">
              <a:solidFill>
                <a:srgbClr val="000000"/>
              </a:solidFill>
              <a:latin typeface="Arial"/>
              <a:ea typeface="Arial"/>
              <a:cs typeface="Arial"/>
              <a:sym typeface="Arial"/>
            </a:endParaRPr>
          </a:p>
        </p:txBody>
      </p:sp>
      <p:sp>
        <p:nvSpPr>
          <p:cNvPr id="266" name="Google Shape;266;p17"/>
          <p:cNvSpPr/>
          <p:nvPr/>
        </p:nvSpPr>
        <p:spPr>
          <a:xfrm>
            <a:off x="1108574" y="2018925"/>
            <a:ext cx="10151700" cy="4164900"/>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67" name="Google Shape;267;p17"/>
          <p:cNvPicPr preferRelativeResize="0"/>
          <p:nvPr/>
        </p:nvPicPr>
        <p:blipFill rotWithShape="1">
          <a:blip r:embed="rId3">
            <a:alphaModFix/>
          </a:blip>
          <a:srcRect b="0" l="0" r="0" t="0"/>
          <a:stretch/>
        </p:blipFill>
        <p:spPr>
          <a:xfrm>
            <a:off x="3904534" y="2214027"/>
            <a:ext cx="4077519" cy="377482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8"/>
          <p:cNvSpPr/>
          <p:nvPr/>
        </p:nvSpPr>
        <p:spPr>
          <a:xfrm>
            <a:off x="-484576" y="1189474"/>
            <a:ext cx="11349392" cy="4845566"/>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3" name="Google Shape;273;p18"/>
          <p:cNvSpPr txBox="1"/>
          <p:nvPr/>
        </p:nvSpPr>
        <p:spPr>
          <a:xfrm>
            <a:off x="926760" y="147001"/>
            <a:ext cx="9938056"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Hipótesis de Trabajo</a:t>
            </a:r>
            <a:endParaRPr b="0" i="0" sz="3200" u="none" cap="none" strike="noStrike">
              <a:solidFill>
                <a:srgbClr val="7F7F7F"/>
              </a:solidFill>
              <a:latin typeface="Arial"/>
              <a:ea typeface="Arial"/>
              <a:cs typeface="Arial"/>
              <a:sym typeface="Arial"/>
            </a:endParaRPr>
          </a:p>
        </p:txBody>
      </p:sp>
      <p:sp>
        <p:nvSpPr>
          <p:cNvPr id="274" name="Google Shape;274;p18"/>
          <p:cNvSpPr txBox="1"/>
          <p:nvPr/>
        </p:nvSpPr>
        <p:spPr>
          <a:xfrm>
            <a:off x="926760" y="1534756"/>
            <a:ext cx="9569789" cy="286232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En el contexto de la investigación científica, la hipótesis es una idea o propuesta que se formula como respuesta tentativa a una pregunta de investigación. Esta idea puede ser refutada o corroborada mediante la recolección de datos y la realización de experimentos y análisis estadísticos.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Las hipótesis son importantes en la investigación científica porque permiten a los investigadores diseñar estudios y experimentos específicos para probar su validez. Si la hipótesis se confirma, se considera que se ha avanzado en el conocimiento del fenómeno estudiado. Si la hipótesis se refuta, se deben formular nuevas ideas o preguntas para continuar la investigación.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En nuestro caso, formularemos la siguiente hipótesis de trabajo:</a:t>
            </a:r>
            <a:endParaRPr b="0" i="0" sz="1400" u="none" cap="none" strike="noStrike">
              <a:solidFill>
                <a:srgbClr val="000000"/>
              </a:solidFill>
              <a:latin typeface="Arial"/>
              <a:ea typeface="Arial"/>
              <a:cs typeface="Arial"/>
              <a:sym typeface="Arial"/>
            </a:endParaRPr>
          </a:p>
        </p:txBody>
      </p:sp>
      <p:pic>
        <p:nvPicPr>
          <p:cNvPr id="275" name="Google Shape;275;p18"/>
          <p:cNvPicPr preferRelativeResize="0"/>
          <p:nvPr/>
        </p:nvPicPr>
        <p:blipFill rotWithShape="1">
          <a:blip r:embed="rId3">
            <a:alphaModFix/>
          </a:blip>
          <a:srcRect b="0" l="0" r="0" t="0"/>
          <a:stretch/>
        </p:blipFill>
        <p:spPr>
          <a:xfrm>
            <a:off x="498457" y="1613724"/>
            <a:ext cx="289524" cy="289524"/>
          </a:xfrm>
          <a:prstGeom prst="rect">
            <a:avLst/>
          </a:prstGeom>
          <a:noFill/>
          <a:ln>
            <a:noFill/>
          </a:ln>
        </p:spPr>
      </p:pic>
      <p:sp>
        <p:nvSpPr>
          <p:cNvPr id="276" name="Google Shape;276;p18"/>
          <p:cNvSpPr txBox="1"/>
          <p:nvPr/>
        </p:nvSpPr>
        <p:spPr>
          <a:xfrm>
            <a:off x="2552915" y="5188507"/>
            <a:ext cx="4025879" cy="492443"/>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77" name="Google Shape;277;p18"/>
          <p:cNvSpPr txBox="1"/>
          <p:nvPr/>
        </p:nvSpPr>
        <p:spPr>
          <a:xfrm>
            <a:off x="1022555" y="4777711"/>
            <a:ext cx="7086600" cy="369332"/>
          </a:xfrm>
          <a:prstGeom prst="rect">
            <a:avLst/>
          </a:prstGeom>
          <a:solidFill>
            <a:srgbClr val="F2F2F2"/>
          </a:solidFill>
          <a:ln cap="flat" cmpd="sng" w="9525">
            <a:solidFill>
              <a:srgbClr val="D8D8D8"/>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s-ES" sz="1600" u="none" cap="none" strike="noStrike">
                <a:solidFill>
                  <a:srgbClr val="7F7F7F"/>
                </a:solidFill>
                <a:latin typeface="Calibri"/>
                <a:ea typeface="Calibri"/>
                <a:cs typeface="Calibri"/>
                <a:sym typeface="Calibri"/>
              </a:rPr>
              <a:t>“</a:t>
            </a:r>
            <a:r>
              <a:rPr b="0" i="1" lang="es-ES" sz="1800" u="none" cap="none" strike="noStrike">
                <a:solidFill>
                  <a:srgbClr val="7F7F7F"/>
                </a:solidFill>
                <a:latin typeface="Calibri"/>
                <a:ea typeface="Calibri"/>
                <a:cs typeface="Calibri"/>
                <a:sym typeface="Calibri"/>
              </a:rPr>
              <a:t>El peso de un individuo depende de su altura, y tiene una relación lineal</a:t>
            </a:r>
            <a:r>
              <a:rPr b="0" i="0" lang="es-ES" sz="1600" u="none" cap="none" strike="noStrike">
                <a:solidFill>
                  <a:srgbClr val="7F7F7F"/>
                </a:solidFill>
                <a:latin typeface="Calibri"/>
                <a:ea typeface="Calibri"/>
                <a:cs typeface="Calibri"/>
                <a:sym typeface="Calibri"/>
              </a:rPr>
              <a:t>”</a:t>
            </a:r>
            <a:endParaRPr b="0" i="0" sz="1600" u="none" cap="none" strike="noStrike">
              <a:solidFill>
                <a:srgbClr val="7F7F7F"/>
              </a:solidFill>
              <a:latin typeface="Calibri"/>
              <a:ea typeface="Calibri"/>
              <a:cs typeface="Calibri"/>
              <a:sym typeface="Calibri"/>
            </a:endParaRPr>
          </a:p>
        </p:txBody>
      </p:sp>
      <p:pic>
        <p:nvPicPr>
          <p:cNvPr id="278" name="Google Shape;278;p18"/>
          <p:cNvPicPr preferRelativeResize="0"/>
          <p:nvPr/>
        </p:nvPicPr>
        <p:blipFill rotWithShape="1">
          <a:blip r:embed="rId3">
            <a:alphaModFix/>
          </a:blip>
          <a:srcRect b="0" l="0" r="0" t="0"/>
          <a:stretch/>
        </p:blipFill>
        <p:spPr>
          <a:xfrm>
            <a:off x="490356" y="2682874"/>
            <a:ext cx="289524" cy="289524"/>
          </a:xfrm>
          <a:prstGeom prst="rect">
            <a:avLst/>
          </a:prstGeom>
          <a:noFill/>
          <a:ln>
            <a:noFill/>
          </a:ln>
        </p:spPr>
      </p:pic>
      <p:pic>
        <p:nvPicPr>
          <p:cNvPr id="279" name="Google Shape;279;p18"/>
          <p:cNvPicPr preferRelativeResize="0"/>
          <p:nvPr/>
        </p:nvPicPr>
        <p:blipFill rotWithShape="1">
          <a:blip r:embed="rId3">
            <a:alphaModFix/>
          </a:blip>
          <a:srcRect b="0" l="0" r="0" t="0"/>
          <a:stretch/>
        </p:blipFill>
        <p:spPr>
          <a:xfrm>
            <a:off x="498457" y="4057760"/>
            <a:ext cx="289524" cy="2895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9"/>
          <p:cNvSpPr/>
          <p:nvPr/>
        </p:nvSpPr>
        <p:spPr>
          <a:xfrm>
            <a:off x="547625" y="1302973"/>
            <a:ext cx="11003045" cy="4754880"/>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5" name="Google Shape;285;p19"/>
          <p:cNvSpPr txBox="1"/>
          <p:nvPr/>
        </p:nvSpPr>
        <p:spPr>
          <a:xfrm>
            <a:off x="532785" y="269872"/>
            <a:ext cx="5567428"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Librería StatsModels</a:t>
            </a:r>
            <a:endParaRPr b="0" i="0" sz="3200" u="none" cap="none" strike="noStrike">
              <a:solidFill>
                <a:srgbClr val="7F7F7F"/>
              </a:solidFill>
              <a:latin typeface="Arial"/>
              <a:ea typeface="Arial"/>
              <a:cs typeface="Arial"/>
              <a:sym typeface="Arial"/>
            </a:endParaRPr>
          </a:p>
        </p:txBody>
      </p:sp>
      <p:sp>
        <p:nvSpPr>
          <p:cNvPr id="286" name="Google Shape;286;p19"/>
          <p:cNvSpPr txBox="1"/>
          <p:nvPr/>
        </p:nvSpPr>
        <p:spPr>
          <a:xfrm>
            <a:off x="839250" y="1409955"/>
            <a:ext cx="4553566" cy="45242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s-ES" sz="1800" u="none" cap="none" strike="noStrike">
                <a:solidFill>
                  <a:schemeClr val="lt1"/>
                </a:solidFill>
                <a:latin typeface="Calibri"/>
                <a:ea typeface="Calibri"/>
                <a:cs typeface="Calibri"/>
                <a:sym typeface="Calibri"/>
              </a:rPr>
              <a:t>Statsmodels </a:t>
            </a:r>
            <a:r>
              <a:rPr b="0" i="0" lang="es-ES" sz="1800" u="none" cap="none" strike="noStrike">
                <a:solidFill>
                  <a:schemeClr val="lt1"/>
                </a:solidFill>
                <a:latin typeface="Calibri"/>
                <a:ea typeface="Calibri"/>
                <a:cs typeface="Calibri"/>
                <a:sym typeface="Calibri"/>
              </a:rPr>
              <a:t>es una librería de Python que se utiliza para realizar análisis estadísticos y econométricos. Proporciona una amplia gama de herramientas para el modelado estadístico, la estimación de parámetros y la realización de pruebas de hipótesis.</a:t>
            </a:r>
            <a:endParaRPr b="0" i="0" sz="1800" u="none" cap="none" strike="noStrike">
              <a:solidFill>
                <a:schemeClr val="lt1"/>
              </a:solidFill>
              <a:latin typeface="Arial"/>
              <a:ea typeface="Arial"/>
              <a:cs typeface="Arial"/>
              <a:sym typeface="Arial"/>
            </a:endParaRPr>
          </a:p>
          <a:p>
            <a:pPr indent="-241300" lvl="0" marL="342900" marR="0" rtl="0" algn="just">
              <a:lnSpc>
                <a:spcPct val="100000"/>
              </a:lnSpc>
              <a:spcBef>
                <a:spcPts val="0"/>
              </a:spcBef>
              <a:spcAft>
                <a:spcPts val="0"/>
              </a:spcAft>
              <a:buClr>
                <a:schemeClr val="dk1"/>
              </a:buClr>
              <a:buSzPts val="16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s-ES" sz="1800" u="none" cap="none" strike="noStrike">
                <a:solidFill>
                  <a:schemeClr val="lt1"/>
                </a:solidFill>
                <a:latin typeface="Calibri"/>
                <a:ea typeface="Calibri"/>
                <a:cs typeface="Calibri"/>
                <a:sym typeface="Calibri"/>
              </a:rPr>
              <a:t>Statsmodels es especialmente útil para el análisis de datos de series temporales, análisis de regresión, análisis de datos de panel y análisis multivariado. La librería ofrece una amplia variedad de modelos estadísticos, incluyendo modelos lineales, modelos de series de tiempo, modelos de regresión logística, modelos de probabilidad, modelos de análisis de varianza, entre otros.</a:t>
            </a:r>
            <a:endParaRPr b="0" i="0" sz="1800" u="none" cap="none" strike="noStrike">
              <a:solidFill>
                <a:schemeClr val="lt1"/>
              </a:solidFill>
              <a:latin typeface="Arial"/>
              <a:ea typeface="Arial"/>
              <a:cs typeface="Arial"/>
              <a:sym typeface="Arial"/>
            </a:endParaRPr>
          </a:p>
        </p:txBody>
      </p:sp>
      <p:sp>
        <p:nvSpPr>
          <p:cNvPr id="287" name="Google Shape;287;p19"/>
          <p:cNvSpPr/>
          <p:nvPr/>
        </p:nvSpPr>
        <p:spPr>
          <a:xfrm>
            <a:off x="5621243" y="1408184"/>
            <a:ext cx="5791200" cy="4510040"/>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88" name="Google Shape;288;p19"/>
          <p:cNvPicPr preferRelativeResize="0"/>
          <p:nvPr/>
        </p:nvPicPr>
        <p:blipFill rotWithShape="1">
          <a:blip r:embed="rId3">
            <a:alphaModFix/>
          </a:blip>
          <a:srcRect b="0" l="0" r="0" t="0"/>
          <a:stretch/>
        </p:blipFill>
        <p:spPr>
          <a:xfrm>
            <a:off x="5816310" y="2117396"/>
            <a:ext cx="5442298" cy="2512528"/>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289" name="Google Shape;289;p19"/>
          <p:cNvSpPr txBox="1"/>
          <p:nvPr/>
        </p:nvSpPr>
        <p:spPr>
          <a:xfrm>
            <a:off x="7201486" y="4959471"/>
            <a:ext cx="271548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rgbClr val="7F7F7F"/>
                </a:solidFill>
                <a:latin typeface="Calibri"/>
                <a:ea typeface="Calibri"/>
                <a:cs typeface="Calibri"/>
                <a:sym typeface="Calibri"/>
              </a:rPr>
              <a:t>https://www.statsmodels.org/</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0"/>
          <p:cNvSpPr txBox="1"/>
          <p:nvPr/>
        </p:nvSpPr>
        <p:spPr>
          <a:xfrm>
            <a:off x="735260" y="363174"/>
            <a:ext cx="7285334"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Determinación de coeficientes</a:t>
            </a:r>
            <a:endParaRPr b="0" i="0" sz="3200" u="none" cap="none" strike="noStrike">
              <a:solidFill>
                <a:srgbClr val="7F7F7F"/>
              </a:solidFill>
              <a:latin typeface="Arial"/>
              <a:ea typeface="Arial"/>
              <a:cs typeface="Arial"/>
              <a:sym typeface="Arial"/>
            </a:endParaRPr>
          </a:p>
        </p:txBody>
      </p:sp>
      <p:sp>
        <p:nvSpPr>
          <p:cNvPr id="295" name="Google Shape;295;p20"/>
          <p:cNvSpPr/>
          <p:nvPr/>
        </p:nvSpPr>
        <p:spPr>
          <a:xfrm>
            <a:off x="735260" y="1581940"/>
            <a:ext cx="7623393" cy="4236965"/>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6" name="Google Shape;296;p20"/>
          <p:cNvSpPr txBox="1"/>
          <p:nvPr/>
        </p:nvSpPr>
        <p:spPr>
          <a:xfrm>
            <a:off x="1411048" y="1816837"/>
            <a:ext cx="278601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3F3F3F"/>
                </a:solidFill>
                <a:latin typeface="Calibri"/>
                <a:ea typeface="Calibri"/>
                <a:cs typeface="Calibri"/>
                <a:sym typeface="Calibri"/>
              </a:rPr>
              <a:t>Importamos la librería </a:t>
            </a:r>
            <a:r>
              <a:rPr b="1" i="0" lang="es-ES" sz="1400" u="none" cap="none" strike="noStrike">
                <a:solidFill>
                  <a:srgbClr val="3F3F3F"/>
                </a:solidFill>
                <a:latin typeface="Calibri"/>
                <a:ea typeface="Calibri"/>
                <a:cs typeface="Calibri"/>
                <a:sym typeface="Calibri"/>
              </a:rPr>
              <a:t>statsmodels</a:t>
            </a:r>
            <a:r>
              <a:rPr b="0" i="0" lang="es-ES" sz="1400" u="none" cap="none" strike="noStrike">
                <a:solidFill>
                  <a:srgbClr val="3F3F3F"/>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pic>
        <p:nvPicPr>
          <p:cNvPr id="297" name="Google Shape;297;p20"/>
          <p:cNvPicPr preferRelativeResize="0"/>
          <p:nvPr/>
        </p:nvPicPr>
        <p:blipFill rotWithShape="1">
          <a:blip r:embed="rId3">
            <a:alphaModFix/>
          </a:blip>
          <a:srcRect b="0" l="0" r="0" t="0"/>
          <a:stretch/>
        </p:blipFill>
        <p:spPr>
          <a:xfrm>
            <a:off x="1411048" y="2251645"/>
            <a:ext cx="5520024" cy="480002"/>
          </a:xfrm>
          <a:prstGeom prst="rect">
            <a:avLst/>
          </a:prstGeom>
          <a:noFill/>
          <a:ln>
            <a:noFill/>
          </a:ln>
        </p:spPr>
      </p:pic>
      <p:pic>
        <p:nvPicPr>
          <p:cNvPr id="298" name="Google Shape;298;p20"/>
          <p:cNvPicPr preferRelativeResize="0"/>
          <p:nvPr/>
        </p:nvPicPr>
        <p:blipFill rotWithShape="1">
          <a:blip r:embed="rId4">
            <a:alphaModFix/>
          </a:blip>
          <a:srcRect b="0" l="0" r="0" t="0"/>
          <a:stretch/>
        </p:blipFill>
        <p:spPr>
          <a:xfrm>
            <a:off x="1411047" y="3700423"/>
            <a:ext cx="5450881" cy="480002"/>
          </a:xfrm>
          <a:prstGeom prst="rect">
            <a:avLst/>
          </a:prstGeom>
          <a:noFill/>
          <a:ln>
            <a:noFill/>
          </a:ln>
        </p:spPr>
      </p:pic>
      <p:sp>
        <p:nvSpPr>
          <p:cNvPr id="299" name="Google Shape;299;p20"/>
          <p:cNvSpPr txBox="1"/>
          <p:nvPr/>
        </p:nvSpPr>
        <p:spPr>
          <a:xfrm>
            <a:off x="1410620" y="3271708"/>
            <a:ext cx="4886684" cy="3140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3F3F3F"/>
                </a:solidFill>
                <a:latin typeface="Calibri"/>
                <a:ea typeface="Calibri"/>
                <a:cs typeface="Calibri"/>
                <a:sym typeface="Calibri"/>
              </a:rPr>
              <a:t>Formulamos el modelo y lo ajustamos.</a:t>
            </a:r>
            <a:endParaRPr b="0" i="0" sz="1400" u="none" cap="none" strike="noStrike">
              <a:solidFill>
                <a:srgbClr val="000000"/>
              </a:solidFill>
              <a:latin typeface="Arial"/>
              <a:ea typeface="Arial"/>
              <a:cs typeface="Arial"/>
              <a:sym typeface="Arial"/>
            </a:endParaRPr>
          </a:p>
        </p:txBody>
      </p:sp>
      <p:cxnSp>
        <p:nvCxnSpPr>
          <p:cNvPr id="300" name="Google Shape;300;p20"/>
          <p:cNvCxnSpPr/>
          <p:nvPr/>
        </p:nvCxnSpPr>
        <p:spPr>
          <a:xfrm flipH="1" rot="10800000">
            <a:off x="4227335" y="4223620"/>
            <a:ext cx="342496" cy="525372"/>
          </a:xfrm>
          <a:prstGeom prst="straightConnector1">
            <a:avLst/>
          </a:prstGeom>
          <a:noFill/>
          <a:ln cap="flat" cmpd="sng" w="9525">
            <a:solidFill>
              <a:srgbClr val="3A3838"/>
            </a:solidFill>
            <a:prstDash val="solid"/>
            <a:miter lim="800000"/>
            <a:headEnd len="sm" w="sm" type="none"/>
            <a:tailEnd len="med" w="med" type="triangle"/>
          </a:ln>
        </p:spPr>
      </p:cxnSp>
      <p:cxnSp>
        <p:nvCxnSpPr>
          <p:cNvPr id="301" name="Google Shape;301;p20"/>
          <p:cNvCxnSpPr/>
          <p:nvPr/>
        </p:nvCxnSpPr>
        <p:spPr>
          <a:xfrm rot="10800000">
            <a:off x="5285320" y="4223620"/>
            <a:ext cx="246335" cy="525372"/>
          </a:xfrm>
          <a:prstGeom prst="straightConnector1">
            <a:avLst/>
          </a:prstGeom>
          <a:noFill/>
          <a:ln cap="flat" cmpd="sng" w="9525">
            <a:solidFill>
              <a:srgbClr val="3A3838"/>
            </a:solidFill>
            <a:prstDash val="solid"/>
            <a:miter lim="800000"/>
            <a:headEnd len="sm" w="sm" type="none"/>
            <a:tailEnd len="med" w="med" type="triangle"/>
          </a:ln>
        </p:spPr>
      </p:cxnSp>
      <p:sp>
        <p:nvSpPr>
          <p:cNvPr id="302" name="Google Shape;302;p20"/>
          <p:cNvSpPr txBox="1"/>
          <p:nvPr/>
        </p:nvSpPr>
        <p:spPr>
          <a:xfrm>
            <a:off x="3429971" y="4826524"/>
            <a:ext cx="1323837"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rgbClr val="3F3F3F"/>
                </a:solidFill>
                <a:latin typeface="Calibri"/>
                <a:ea typeface="Calibri"/>
                <a:cs typeface="Calibri"/>
                <a:sym typeface="Calibri"/>
              </a:rPr>
              <a:t>Variable dependiente (outcome)</a:t>
            </a:r>
            <a:endParaRPr b="0" i="0" sz="1400" u="none" cap="none" strike="noStrike">
              <a:solidFill>
                <a:srgbClr val="000000"/>
              </a:solidFill>
              <a:latin typeface="Arial"/>
              <a:ea typeface="Arial"/>
              <a:cs typeface="Arial"/>
              <a:sym typeface="Arial"/>
            </a:endParaRPr>
          </a:p>
        </p:txBody>
      </p:sp>
      <p:sp>
        <p:nvSpPr>
          <p:cNvPr id="303" name="Google Shape;303;p20"/>
          <p:cNvSpPr txBox="1"/>
          <p:nvPr/>
        </p:nvSpPr>
        <p:spPr>
          <a:xfrm>
            <a:off x="5080504" y="4784960"/>
            <a:ext cx="1323837"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rgbClr val="3F3F3F"/>
                </a:solidFill>
                <a:latin typeface="Calibri"/>
                <a:ea typeface="Calibri"/>
                <a:cs typeface="Calibri"/>
                <a:sym typeface="Calibri"/>
              </a:rPr>
              <a:t>Variable independiente (predictor)</a:t>
            </a:r>
            <a:endParaRPr b="0" i="0" sz="1400" u="none" cap="none" strike="noStrike">
              <a:solidFill>
                <a:srgbClr val="000000"/>
              </a:solidFill>
              <a:latin typeface="Arial"/>
              <a:ea typeface="Arial"/>
              <a:cs typeface="Arial"/>
              <a:sym typeface="Arial"/>
            </a:endParaRPr>
          </a:p>
        </p:txBody>
      </p:sp>
      <p:cxnSp>
        <p:nvCxnSpPr>
          <p:cNvPr id="304" name="Google Shape;304;p20"/>
          <p:cNvCxnSpPr/>
          <p:nvPr/>
        </p:nvCxnSpPr>
        <p:spPr>
          <a:xfrm rot="10800000">
            <a:off x="6247144" y="4220007"/>
            <a:ext cx="893526" cy="528985"/>
          </a:xfrm>
          <a:prstGeom prst="straightConnector1">
            <a:avLst/>
          </a:prstGeom>
          <a:noFill/>
          <a:ln cap="flat" cmpd="sng" w="9525">
            <a:solidFill>
              <a:srgbClr val="3A3838"/>
            </a:solidFill>
            <a:prstDash val="solid"/>
            <a:miter lim="800000"/>
            <a:headEnd len="sm" w="sm" type="none"/>
            <a:tailEnd len="med" w="med" type="triangle"/>
          </a:ln>
        </p:spPr>
      </p:cxnSp>
      <p:sp>
        <p:nvSpPr>
          <p:cNvPr id="305" name="Google Shape;305;p20"/>
          <p:cNvSpPr txBox="1"/>
          <p:nvPr/>
        </p:nvSpPr>
        <p:spPr>
          <a:xfrm>
            <a:off x="6861928" y="4784960"/>
            <a:ext cx="1323837"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rgbClr val="3F3F3F"/>
                </a:solidFill>
                <a:latin typeface="Calibri"/>
                <a:ea typeface="Calibri"/>
                <a:cs typeface="Calibri"/>
                <a:sym typeface="Calibri"/>
              </a:rPr>
              <a:t>Método que realiza el ajuste del modelo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1"/>
          <p:cNvSpPr/>
          <p:nvPr/>
        </p:nvSpPr>
        <p:spPr>
          <a:xfrm>
            <a:off x="690282" y="2079306"/>
            <a:ext cx="10784542" cy="4312530"/>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1" name="Google Shape;311;p21"/>
          <p:cNvSpPr/>
          <p:nvPr/>
        </p:nvSpPr>
        <p:spPr>
          <a:xfrm>
            <a:off x="-197761" y="1151879"/>
            <a:ext cx="13112572" cy="733440"/>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2" name="Google Shape;312;p21"/>
          <p:cNvSpPr txBox="1"/>
          <p:nvPr/>
        </p:nvSpPr>
        <p:spPr>
          <a:xfrm>
            <a:off x="1027612" y="421915"/>
            <a:ext cx="5408023" cy="731156"/>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Definición de la Fórmula</a:t>
            </a:r>
            <a:endParaRPr b="0" i="0" sz="1400" u="none" cap="none" strike="noStrike">
              <a:solidFill>
                <a:srgbClr val="000000"/>
              </a:solidFill>
              <a:latin typeface="Arial"/>
              <a:ea typeface="Arial"/>
              <a:cs typeface="Arial"/>
              <a:sym typeface="Arial"/>
            </a:endParaRPr>
          </a:p>
        </p:txBody>
      </p:sp>
      <p:grpSp>
        <p:nvGrpSpPr>
          <p:cNvPr id="313" name="Google Shape;313;p21"/>
          <p:cNvGrpSpPr/>
          <p:nvPr/>
        </p:nvGrpSpPr>
        <p:grpSpPr>
          <a:xfrm>
            <a:off x="801189" y="2173140"/>
            <a:ext cx="10563497" cy="4107781"/>
            <a:chOff x="982984" y="2521205"/>
            <a:chExt cx="10316787" cy="4004948"/>
          </a:xfrm>
        </p:grpSpPr>
        <p:sp>
          <p:nvSpPr>
            <p:cNvPr id="314" name="Google Shape;314;p21"/>
            <p:cNvSpPr/>
            <p:nvPr/>
          </p:nvSpPr>
          <p:spPr>
            <a:xfrm>
              <a:off x="982984" y="2521205"/>
              <a:ext cx="10316787" cy="4004948"/>
            </a:xfrm>
            <a:prstGeom prst="roundRect">
              <a:avLst>
                <a:gd fmla="val 2971"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15" name="Google Shape;315;p21"/>
            <p:cNvPicPr preferRelativeResize="0"/>
            <p:nvPr/>
          </p:nvPicPr>
          <p:blipFill rotWithShape="1">
            <a:blip r:embed="rId3">
              <a:alphaModFix/>
            </a:blip>
            <a:srcRect b="0" l="0" r="0" t="0"/>
            <a:stretch/>
          </p:blipFill>
          <p:spPr>
            <a:xfrm>
              <a:off x="1359020" y="3049448"/>
              <a:ext cx="5630061" cy="409632"/>
            </a:xfrm>
            <a:prstGeom prst="rect">
              <a:avLst/>
            </a:prstGeom>
            <a:noFill/>
            <a:ln>
              <a:noFill/>
            </a:ln>
          </p:spPr>
        </p:pic>
        <p:pic>
          <p:nvPicPr>
            <p:cNvPr id="316" name="Google Shape;316;p21"/>
            <p:cNvPicPr preferRelativeResize="0"/>
            <p:nvPr/>
          </p:nvPicPr>
          <p:blipFill rotWithShape="1">
            <a:blip r:embed="rId4">
              <a:alphaModFix/>
            </a:blip>
            <a:srcRect b="0" l="0" r="0" t="0"/>
            <a:stretch/>
          </p:blipFill>
          <p:spPr>
            <a:xfrm>
              <a:off x="1359019" y="4005453"/>
              <a:ext cx="6430272" cy="342948"/>
            </a:xfrm>
            <a:prstGeom prst="rect">
              <a:avLst/>
            </a:prstGeom>
            <a:noFill/>
            <a:ln>
              <a:noFill/>
            </a:ln>
          </p:spPr>
        </p:pic>
        <p:pic>
          <p:nvPicPr>
            <p:cNvPr id="317" name="Google Shape;317;p21"/>
            <p:cNvPicPr preferRelativeResize="0"/>
            <p:nvPr/>
          </p:nvPicPr>
          <p:blipFill rotWithShape="1">
            <a:blip r:embed="rId5">
              <a:alphaModFix/>
            </a:blip>
            <a:srcRect b="0" l="0" r="0" t="0"/>
            <a:stretch/>
          </p:blipFill>
          <p:spPr>
            <a:xfrm>
              <a:off x="1359019" y="5862287"/>
              <a:ext cx="5372850" cy="381053"/>
            </a:xfrm>
            <a:prstGeom prst="rect">
              <a:avLst/>
            </a:prstGeom>
            <a:noFill/>
            <a:ln>
              <a:noFill/>
            </a:ln>
          </p:spPr>
        </p:pic>
        <p:pic>
          <p:nvPicPr>
            <p:cNvPr id="318" name="Google Shape;318;p21"/>
            <p:cNvPicPr preferRelativeResize="0"/>
            <p:nvPr/>
          </p:nvPicPr>
          <p:blipFill rotWithShape="1">
            <a:blip r:embed="rId6">
              <a:alphaModFix/>
            </a:blip>
            <a:srcRect b="0" l="0" r="0" t="0"/>
            <a:stretch/>
          </p:blipFill>
          <p:spPr>
            <a:xfrm>
              <a:off x="1359019" y="4973268"/>
              <a:ext cx="6592220" cy="333422"/>
            </a:xfrm>
            <a:prstGeom prst="rect">
              <a:avLst/>
            </a:prstGeom>
            <a:noFill/>
            <a:ln>
              <a:noFill/>
            </a:ln>
          </p:spPr>
        </p:pic>
        <p:sp>
          <p:nvSpPr>
            <p:cNvPr id="319" name="Google Shape;319;p21"/>
            <p:cNvSpPr txBox="1"/>
            <p:nvPr/>
          </p:nvSpPr>
          <p:spPr>
            <a:xfrm>
              <a:off x="1275890" y="2725588"/>
              <a:ext cx="4715294" cy="3000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Fórmula que incorpora 3 predictores (Literacy, Wealth y Region)</a:t>
              </a:r>
              <a:endParaRPr b="0" i="0" sz="1400" u="none" cap="none" strike="noStrike">
                <a:solidFill>
                  <a:srgbClr val="000000"/>
                </a:solidFill>
                <a:latin typeface="Arial"/>
                <a:ea typeface="Arial"/>
                <a:cs typeface="Arial"/>
                <a:sym typeface="Arial"/>
              </a:endParaRPr>
            </a:p>
          </p:txBody>
        </p:sp>
        <p:sp>
          <p:nvSpPr>
            <p:cNvPr id="320" name="Google Shape;320;p21"/>
            <p:cNvSpPr txBox="1"/>
            <p:nvPr/>
          </p:nvSpPr>
          <p:spPr>
            <a:xfrm>
              <a:off x="1303597" y="3750823"/>
              <a:ext cx="4919757" cy="3000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Fórmula que incorpora la variable Region como variable categórica</a:t>
              </a:r>
              <a:endParaRPr b="0" i="0" sz="1400" u="none" cap="none" strike="noStrike">
                <a:solidFill>
                  <a:srgbClr val="000000"/>
                </a:solidFill>
                <a:latin typeface="Arial"/>
                <a:ea typeface="Arial"/>
                <a:cs typeface="Arial"/>
                <a:sym typeface="Arial"/>
              </a:endParaRPr>
            </a:p>
          </p:txBody>
        </p:sp>
        <p:sp>
          <p:nvSpPr>
            <p:cNvPr id="321" name="Google Shape;321;p21"/>
            <p:cNvSpPr txBox="1"/>
            <p:nvPr/>
          </p:nvSpPr>
          <p:spPr>
            <a:xfrm>
              <a:off x="1289745" y="4681885"/>
              <a:ext cx="3538364" cy="3000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Fórmula que remueve el intercepto del modelo</a:t>
              </a:r>
              <a:endParaRPr b="0" i="0" sz="1400" u="none" cap="none" strike="noStrike">
                <a:solidFill>
                  <a:srgbClr val="000000"/>
                </a:solidFill>
                <a:latin typeface="Arial"/>
                <a:ea typeface="Arial"/>
                <a:cs typeface="Arial"/>
                <a:sym typeface="Arial"/>
              </a:endParaRPr>
            </a:p>
          </p:txBody>
        </p:sp>
        <p:sp>
          <p:nvSpPr>
            <p:cNvPr id="322" name="Google Shape;322;p21"/>
            <p:cNvSpPr txBox="1"/>
            <p:nvPr/>
          </p:nvSpPr>
          <p:spPr>
            <a:xfrm>
              <a:off x="1289740" y="5596280"/>
              <a:ext cx="5002293" cy="3000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Fórmula que aplica una función a un predictor (función vectorizada)</a:t>
              </a:r>
              <a:endParaRPr b="0" i="0" sz="1400" u="none" cap="none" strike="noStrike">
                <a:solidFill>
                  <a:srgbClr val="000000"/>
                </a:solidFill>
                <a:latin typeface="Arial"/>
                <a:ea typeface="Arial"/>
                <a:cs typeface="Arial"/>
                <a:sym typeface="Arial"/>
              </a:endParaRPr>
            </a:p>
          </p:txBody>
        </p:sp>
      </p:grpSp>
      <p:sp>
        <p:nvSpPr>
          <p:cNvPr id="323" name="Google Shape;323;p21"/>
          <p:cNvSpPr txBox="1"/>
          <p:nvPr/>
        </p:nvSpPr>
        <p:spPr>
          <a:xfrm>
            <a:off x="1027612" y="1197505"/>
            <a:ext cx="10337074" cy="64629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1800" u="none" cap="none" strike="noStrike">
                <a:solidFill>
                  <a:schemeClr val="lt1"/>
                </a:solidFill>
                <a:latin typeface="Calibri"/>
                <a:ea typeface="Calibri"/>
                <a:cs typeface="Calibri"/>
                <a:sym typeface="Calibri"/>
              </a:rPr>
              <a:t>Para definir la fórmula que se modelará en un modelo regresivo, se puede utilizar el estilo de definición del lenguaje R. A continuación, algunos ejemplos:</a:t>
            </a:r>
            <a:endParaRPr b="0" i="0" sz="18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2"/>
          <p:cNvSpPr/>
          <p:nvPr/>
        </p:nvSpPr>
        <p:spPr>
          <a:xfrm>
            <a:off x="5126639" y="1371347"/>
            <a:ext cx="6721846" cy="4574538"/>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9" name="Google Shape;329;p22"/>
          <p:cNvSpPr/>
          <p:nvPr/>
        </p:nvSpPr>
        <p:spPr>
          <a:xfrm>
            <a:off x="-981533" y="2697593"/>
            <a:ext cx="5840915" cy="2027750"/>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0" name="Google Shape;330;p22"/>
          <p:cNvSpPr txBox="1"/>
          <p:nvPr/>
        </p:nvSpPr>
        <p:spPr>
          <a:xfrm>
            <a:off x="365177" y="1504687"/>
            <a:ext cx="4627834" cy="531601"/>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Interpretando el modelo</a:t>
            </a:r>
            <a:endParaRPr b="0" i="0" sz="3200" u="none" cap="none" strike="noStrike">
              <a:solidFill>
                <a:srgbClr val="7F7F7F"/>
              </a:solidFill>
              <a:latin typeface="Arial"/>
              <a:ea typeface="Arial"/>
              <a:cs typeface="Arial"/>
              <a:sym typeface="Arial"/>
            </a:endParaRPr>
          </a:p>
        </p:txBody>
      </p:sp>
      <p:sp>
        <p:nvSpPr>
          <p:cNvPr id="331" name="Google Shape;331;p22"/>
          <p:cNvSpPr txBox="1"/>
          <p:nvPr/>
        </p:nvSpPr>
        <p:spPr>
          <a:xfrm>
            <a:off x="779920" y="3249803"/>
            <a:ext cx="3473789"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Una vez entrenado el algoritmo, se puede obtener del modelo los coeficientes b0 y b1.</a:t>
            </a:r>
            <a:endParaRPr b="0" i="0" sz="1400" u="none" cap="none" strike="noStrike">
              <a:solidFill>
                <a:srgbClr val="000000"/>
              </a:solidFill>
              <a:latin typeface="Arial"/>
              <a:ea typeface="Arial"/>
              <a:cs typeface="Arial"/>
              <a:sym typeface="Arial"/>
            </a:endParaRPr>
          </a:p>
        </p:txBody>
      </p:sp>
      <p:pic>
        <p:nvPicPr>
          <p:cNvPr id="332" name="Google Shape;332;p22"/>
          <p:cNvPicPr preferRelativeResize="0"/>
          <p:nvPr/>
        </p:nvPicPr>
        <p:blipFill rotWithShape="1">
          <a:blip r:embed="rId3">
            <a:alphaModFix/>
          </a:blip>
          <a:srcRect b="0" l="0" r="0" t="0"/>
          <a:stretch/>
        </p:blipFill>
        <p:spPr>
          <a:xfrm>
            <a:off x="278820" y="3347266"/>
            <a:ext cx="289524" cy="289524"/>
          </a:xfrm>
          <a:prstGeom prst="rect">
            <a:avLst/>
          </a:prstGeom>
          <a:noFill/>
          <a:ln>
            <a:noFill/>
          </a:ln>
        </p:spPr>
      </p:pic>
      <p:sp>
        <p:nvSpPr>
          <p:cNvPr id="333" name="Google Shape;333;p22"/>
          <p:cNvSpPr txBox="1"/>
          <p:nvPr/>
        </p:nvSpPr>
        <p:spPr>
          <a:xfrm>
            <a:off x="6903386" y="1555045"/>
            <a:ext cx="3168352" cy="430887"/>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334" name="Google Shape;334;p22"/>
          <p:cNvPicPr preferRelativeResize="0"/>
          <p:nvPr/>
        </p:nvPicPr>
        <p:blipFill rotWithShape="1">
          <a:blip r:embed="rId5">
            <a:alphaModFix/>
          </a:blip>
          <a:srcRect b="0" l="0" r="0" t="0"/>
          <a:stretch/>
        </p:blipFill>
        <p:spPr>
          <a:xfrm>
            <a:off x="5284815" y="2402820"/>
            <a:ext cx="6411220" cy="33151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3"/>
          <p:cNvSpPr/>
          <p:nvPr/>
        </p:nvSpPr>
        <p:spPr>
          <a:xfrm>
            <a:off x="-876300" y="996346"/>
            <a:ext cx="16255407" cy="705192"/>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0" name="Google Shape;340;p23"/>
          <p:cNvSpPr txBox="1"/>
          <p:nvPr/>
        </p:nvSpPr>
        <p:spPr>
          <a:xfrm>
            <a:off x="567419" y="153968"/>
            <a:ext cx="5447898"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Interpretando el modelo</a:t>
            </a:r>
            <a:endParaRPr b="0" i="0" sz="3200" u="none" cap="none" strike="noStrike">
              <a:solidFill>
                <a:srgbClr val="7F7F7F"/>
              </a:solidFill>
              <a:latin typeface="Arial"/>
              <a:ea typeface="Arial"/>
              <a:cs typeface="Arial"/>
              <a:sym typeface="Arial"/>
            </a:endParaRPr>
          </a:p>
        </p:txBody>
      </p:sp>
      <p:sp>
        <p:nvSpPr>
          <p:cNvPr id="341" name="Google Shape;341;p23"/>
          <p:cNvSpPr txBox="1"/>
          <p:nvPr/>
        </p:nvSpPr>
        <p:spPr>
          <a:xfrm>
            <a:off x="567419" y="1153743"/>
            <a:ext cx="7150480"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Arial"/>
                <a:ea typeface="Arial"/>
                <a:cs typeface="Arial"/>
                <a:sym typeface="Arial"/>
              </a:rPr>
              <a:t>También podemos desplegar el sumario del modelo ajustado.</a:t>
            </a:r>
            <a:endParaRPr b="0" i="0" sz="1600" u="none" cap="none" strike="noStrike">
              <a:solidFill>
                <a:schemeClr val="lt1"/>
              </a:solidFill>
              <a:latin typeface="Arial"/>
              <a:ea typeface="Arial"/>
              <a:cs typeface="Arial"/>
              <a:sym typeface="Arial"/>
            </a:endParaRPr>
          </a:p>
        </p:txBody>
      </p:sp>
      <p:sp>
        <p:nvSpPr>
          <p:cNvPr id="342" name="Google Shape;342;p23"/>
          <p:cNvSpPr/>
          <p:nvPr/>
        </p:nvSpPr>
        <p:spPr>
          <a:xfrm>
            <a:off x="567419" y="1824302"/>
            <a:ext cx="7048499" cy="4805501"/>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43" name="Google Shape;343;p23"/>
          <p:cNvPicPr preferRelativeResize="0"/>
          <p:nvPr/>
        </p:nvPicPr>
        <p:blipFill rotWithShape="1">
          <a:blip r:embed="rId3">
            <a:alphaModFix/>
          </a:blip>
          <a:srcRect b="0" l="0" r="0" t="0"/>
          <a:stretch/>
        </p:blipFill>
        <p:spPr>
          <a:xfrm>
            <a:off x="753587" y="2004527"/>
            <a:ext cx="6677753" cy="44450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4"/>
          <p:cNvSpPr txBox="1"/>
          <p:nvPr/>
        </p:nvSpPr>
        <p:spPr>
          <a:xfrm>
            <a:off x="1887326" y="1451541"/>
            <a:ext cx="5857129"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Interpretando el modelo</a:t>
            </a:r>
            <a:endParaRPr b="0" i="0" sz="3200" u="none" cap="none" strike="noStrike">
              <a:solidFill>
                <a:srgbClr val="7F7F7F"/>
              </a:solidFill>
              <a:latin typeface="Arial"/>
              <a:ea typeface="Arial"/>
              <a:cs typeface="Arial"/>
              <a:sym typeface="Arial"/>
            </a:endParaRPr>
          </a:p>
        </p:txBody>
      </p:sp>
      <p:sp>
        <p:nvSpPr>
          <p:cNvPr id="349" name="Google Shape;349;p24"/>
          <p:cNvSpPr/>
          <p:nvPr/>
        </p:nvSpPr>
        <p:spPr>
          <a:xfrm>
            <a:off x="2030424" y="2344954"/>
            <a:ext cx="8079000" cy="2534100"/>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0" name="Google Shape;350;p24"/>
          <p:cNvSpPr txBox="1"/>
          <p:nvPr/>
        </p:nvSpPr>
        <p:spPr>
          <a:xfrm>
            <a:off x="2812869" y="2344938"/>
            <a:ext cx="6514011" cy="6333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1" name="Google Shape;351;p24"/>
          <p:cNvSpPr txBox="1"/>
          <p:nvPr/>
        </p:nvSpPr>
        <p:spPr>
          <a:xfrm>
            <a:off x="2603651" y="3061786"/>
            <a:ext cx="4424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Con lo cual, nuestro modelo final sería el siguiente:</a:t>
            </a:r>
            <a:endParaRPr b="0" i="0" sz="1600" u="none" cap="none" strike="noStrike">
              <a:solidFill>
                <a:schemeClr val="dk1"/>
              </a:solidFill>
              <a:latin typeface="Calibri"/>
              <a:ea typeface="Calibri"/>
              <a:cs typeface="Calibri"/>
              <a:sym typeface="Calibri"/>
            </a:endParaRPr>
          </a:p>
        </p:txBody>
      </p:sp>
      <p:sp>
        <p:nvSpPr>
          <p:cNvPr id="352" name="Google Shape;352;p24"/>
          <p:cNvSpPr txBox="1"/>
          <p:nvPr/>
        </p:nvSpPr>
        <p:spPr>
          <a:xfrm>
            <a:off x="1227909" y="5350726"/>
            <a:ext cx="6331131" cy="928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3" name="Google Shape;353;p24"/>
          <p:cNvSpPr txBox="1"/>
          <p:nvPr/>
        </p:nvSpPr>
        <p:spPr>
          <a:xfrm>
            <a:off x="2451462" y="3612051"/>
            <a:ext cx="7236900" cy="5232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5"/>
          <p:cNvSpPr/>
          <p:nvPr/>
        </p:nvSpPr>
        <p:spPr>
          <a:xfrm>
            <a:off x="528421" y="1713637"/>
            <a:ext cx="5658900" cy="1915800"/>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9" name="Google Shape;359;p25"/>
          <p:cNvSpPr txBox="1"/>
          <p:nvPr/>
        </p:nvSpPr>
        <p:spPr>
          <a:xfrm>
            <a:off x="459844" y="450714"/>
            <a:ext cx="9239635"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Realizando predicciones con el modelo</a:t>
            </a:r>
            <a:endParaRPr b="0" i="0" sz="3200" u="none" cap="none" strike="noStrike">
              <a:solidFill>
                <a:srgbClr val="7F7F7F"/>
              </a:solidFill>
              <a:latin typeface="Arial"/>
              <a:ea typeface="Arial"/>
              <a:cs typeface="Arial"/>
              <a:sym typeface="Arial"/>
            </a:endParaRPr>
          </a:p>
        </p:txBody>
      </p:sp>
      <p:sp>
        <p:nvSpPr>
          <p:cNvPr id="360" name="Google Shape;360;p25"/>
          <p:cNvSpPr txBox="1"/>
          <p:nvPr/>
        </p:nvSpPr>
        <p:spPr>
          <a:xfrm>
            <a:off x="733184" y="1954373"/>
            <a:ext cx="3585300" cy="1446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Ahora, realizaremos predicciones con algunos valores. Para ésto, utilizaremos el método </a:t>
            </a:r>
            <a:r>
              <a:rPr b="1" i="0" lang="es-ES" sz="1800" u="none" cap="none" strike="noStrike">
                <a:solidFill>
                  <a:schemeClr val="lt1"/>
                </a:solidFill>
                <a:latin typeface="Calibri"/>
                <a:ea typeface="Calibri"/>
                <a:cs typeface="Calibri"/>
                <a:sym typeface="Calibri"/>
              </a:rPr>
              <a:t>predict()</a:t>
            </a:r>
            <a:r>
              <a:rPr b="0" i="0" lang="es-ES" sz="1800" u="none" cap="none" strike="noStrike">
                <a:solidFill>
                  <a:schemeClr val="lt1"/>
                </a:solidFill>
                <a:latin typeface="Calibri"/>
                <a:ea typeface="Calibri"/>
                <a:cs typeface="Calibri"/>
                <a:sym typeface="Calibri"/>
              </a:rPr>
              <a:t>.</a:t>
            </a:r>
            <a:endParaRPr b="0" i="0" sz="1400" u="none" cap="none" strike="noStrike">
              <a:solidFill>
                <a:schemeClr val="lt1"/>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361" name="Google Shape;361;p25"/>
          <p:cNvSpPr/>
          <p:nvPr/>
        </p:nvSpPr>
        <p:spPr>
          <a:xfrm>
            <a:off x="4585529" y="1395548"/>
            <a:ext cx="7048500" cy="4805400"/>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62" name="Google Shape;362;p25"/>
          <p:cNvPicPr preferRelativeResize="0"/>
          <p:nvPr/>
        </p:nvPicPr>
        <p:blipFill rotWithShape="1">
          <a:blip r:embed="rId3">
            <a:alphaModFix/>
          </a:blip>
          <a:srcRect b="0" l="0" r="0" t="0"/>
          <a:stretch/>
        </p:blipFill>
        <p:spPr>
          <a:xfrm>
            <a:off x="4912952" y="1702751"/>
            <a:ext cx="6393651" cy="411666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6"/>
          <p:cNvSpPr txBox="1"/>
          <p:nvPr/>
        </p:nvSpPr>
        <p:spPr>
          <a:xfrm>
            <a:off x="520016" y="599413"/>
            <a:ext cx="5067380"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Visualizando el resultado</a:t>
            </a:r>
            <a:endParaRPr b="0" i="0" sz="3200" u="none" cap="none" strike="noStrike">
              <a:solidFill>
                <a:srgbClr val="7F7F7F"/>
              </a:solidFill>
              <a:latin typeface="Arial"/>
              <a:ea typeface="Arial"/>
              <a:cs typeface="Arial"/>
              <a:sym typeface="Arial"/>
            </a:endParaRPr>
          </a:p>
        </p:txBody>
      </p:sp>
      <p:sp>
        <p:nvSpPr>
          <p:cNvPr id="368" name="Google Shape;368;p26"/>
          <p:cNvSpPr/>
          <p:nvPr/>
        </p:nvSpPr>
        <p:spPr>
          <a:xfrm>
            <a:off x="5463247" y="425242"/>
            <a:ext cx="6223655" cy="5940792"/>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69" name="Google Shape;369;p26"/>
          <p:cNvPicPr preferRelativeResize="0"/>
          <p:nvPr/>
        </p:nvPicPr>
        <p:blipFill rotWithShape="1">
          <a:blip r:embed="rId3">
            <a:alphaModFix/>
          </a:blip>
          <a:srcRect b="0" l="0" r="0" t="0"/>
          <a:stretch/>
        </p:blipFill>
        <p:spPr>
          <a:xfrm>
            <a:off x="5846104" y="744258"/>
            <a:ext cx="5438775" cy="1089812"/>
          </a:xfrm>
          <a:prstGeom prst="rect">
            <a:avLst/>
          </a:prstGeom>
          <a:noFill/>
          <a:ln>
            <a:noFill/>
          </a:ln>
        </p:spPr>
      </p:pic>
      <p:pic>
        <p:nvPicPr>
          <p:cNvPr id="370" name="Google Shape;370;p26"/>
          <p:cNvPicPr preferRelativeResize="0"/>
          <p:nvPr/>
        </p:nvPicPr>
        <p:blipFill rotWithShape="1">
          <a:blip r:embed="rId4">
            <a:alphaModFix/>
          </a:blip>
          <a:srcRect b="0" l="0" r="0" t="0"/>
          <a:stretch/>
        </p:blipFill>
        <p:spPr>
          <a:xfrm>
            <a:off x="5846104" y="2042652"/>
            <a:ext cx="5438775" cy="4114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7"/>
          <p:cNvSpPr/>
          <p:nvPr/>
        </p:nvSpPr>
        <p:spPr>
          <a:xfrm>
            <a:off x="220365" y="1493588"/>
            <a:ext cx="6311400" cy="2450400"/>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6" name="Google Shape;376;p27"/>
          <p:cNvSpPr txBox="1"/>
          <p:nvPr/>
        </p:nvSpPr>
        <p:spPr>
          <a:xfrm>
            <a:off x="776097" y="518672"/>
            <a:ext cx="4755001"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Análisis de Residuales</a:t>
            </a:r>
            <a:endParaRPr b="0" i="0" sz="3200" u="none" cap="none" strike="noStrike">
              <a:solidFill>
                <a:srgbClr val="7F7F7F"/>
              </a:solidFill>
              <a:latin typeface="Arial"/>
              <a:ea typeface="Arial"/>
              <a:cs typeface="Arial"/>
              <a:sym typeface="Arial"/>
            </a:endParaRPr>
          </a:p>
        </p:txBody>
      </p:sp>
      <p:sp>
        <p:nvSpPr>
          <p:cNvPr id="377" name="Google Shape;377;p27"/>
          <p:cNvSpPr txBox="1"/>
          <p:nvPr/>
        </p:nvSpPr>
        <p:spPr>
          <a:xfrm>
            <a:off x="786297" y="1661795"/>
            <a:ext cx="4967100" cy="2031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En general, se espera que los residuos se </a:t>
            </a:r>
            <a:r>
              <a:rPr lang="es-ES" sz="1800">
                <a:solidFill>
                  <a:schemeClr val="lt1"/>
                </a:solidFill>
                <a:latin typeface="Calibri"/>
                <a:ea typeface="Calibri"/>
                <a:cs typeface="Calibri"/>
                <a:sym typeface="Calibri"/>
              </a:rPr>
              <a:t>distribuyen</a:t>
            </a:r>
            <a:r>
              <a:rPr b="0" i="0" lang="es-ES" sz="1800" u="none" cap="none" strike="noStrike">
                <a:solidFill>
                  <a:schemeClr val="lt1"/>
                </a:solidFill>
                <a:latin typeface="Calibri"/>
                <a:ea typeface="Calibri"/>
                <a:cs typeface="Calibri"/>
                <a:sym typeface="Calibri"/>
              </a:rPr>
              <a:t> normalmente con una media de cero y una varianza constante en todas las combinaciones de valores de las variables explicativas. Los patrones en los residuos que violan estas suposiciones pueden indicar que el modelo no es adecuado para los datos.</a:t>
            </a:r>
            <a:endParaRPr b="0" i="0" sz="1600" u="none" cap="none" strike="noStrike">
              <a:solidFill>
                <a:schemeClr val="lt1"/>
              </a:solidFill>
              <a:latin typeface="Arial"/>
              <a:ea typeface="Arial"/>
              <a:cs typeface="Arial"/>
              <a:sym typeface="Arial"/>
            </a:endParaRPr>
          </a:p>
        </p:txBody>
      </p:sp>
      <p:sp>
        <p:nvSpPr>
          <p:cNvPr id="378" name="Google Shape;378;p27"/>
          <p:cNvSpPr/>
          <p:nvPr/>
        </p:nvSpPr>
        <p:spPr>
          <a:xfrm>
            <a:off x="5882499" y="1112186"/>
            <a:ext cx="5791200" cy="4910973"/>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79" name="Google Shape;379;p27"/>
          <p:cNvPicPr preferRelativeResize="0"/>
          <p:nvPr/>
        </p:nvPicPr>
        <p:blipFill rotWithShape="1">
          <a:blip r:embed="rId3">
            <a:alphaModFix/>
          </a:blip>
          <a:srcRect b="0" l="0" r="0" t="0"/>
          <a:stretch/>
        </p:blipFill>
        <p:spPr>
          <a:xfrm>
            <a:off x="6195267" y="1332189"/>
            <a:ext cx="5186890" cy="909980"/>
          </a:xfrm>
          <a:prstGeom prst="rect">
            <a:avLst/>
          </a:prstGeom>
          <a:noFill/>
          <a:ln>
            <a:noFill/>
          </a:ln>
        </p:spPr>
      </p:pic>
      <p:pic>
        <p:nvPicPr>
          <p:cNvPr id="380" name="Google Shape;380;p27"/>
          <p:cNvPicPr preferRelativeResize="0"/>
          <p:nvPr/>
        </p:nvPicPr>
        <p:blipFill rotWithShape="1">
          <a:blip r:embed="rId4">
            <a:alphaModFix/>
          </a:blip>
          <a:srcRect b="0" l="0" r="0" t="0"/>
          <a:stretch/>
        </p:blipFill>
        <p:spPr>
          <a:xfrm>
            <a:off x="6388171" y="2436696"/>
            <a:ext cx="4628434" cy="32731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8"/>
          <p:cNvSpPr/>
          <p:nvPr/>
        </p:nvSpPr>
        <p:spPr>
          <a:xfrm>
            <a:off x="-410032" y="1450776"/>
            <a:ext cx="9275358" cy="3207431"/>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6" name="Google Shape;386;p28"/>
          <p:cNvSpPr txBox="1"/>
          <p:nvPr/>
        </p:nvSpPr>
        <p:spPr>
          <a:xfrm>
            <a:off x="1480843" y="425845"/>
            <a:ext cx="7245146"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Métricas de evaluación de regresiones</a:t>
            </a:r>
            <a:endParaRPr b="0" i="0" sz="3200" u="none" cap="none" strike="noStrike">
              <a:solidFill>
                <a:srgbClr val="7F7F7F"/>
              </a:solidFill>
              <a:latin typeface="Arial"/>
              <a:ea typeface="Arial"/>
              <a:cs typeface="Arial"/>
              <a:sym typeface="Arial"/>
            </a:endParaRPr>
          </a:p>
        </p:txBody>
      </p:sp>
      <p:sp>
        <p:nvSpPr>
          <p:cNvPr id="387" name="Google Shape;387;p28"/>
          <p:cNvSpPr txBox="1"/>
          <p:nvPr/>
        </p:nvSpPr>
        <p:spPr>
          <a:xfrm>
            <a:off x="1480843" y="1846884"/>
            <a:ext cx="7062266" cy="230828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En una regresión lineal, las métricas de evaluación están enfocadas a cuantificar el error del modelo respecto a los valores reales en el set de datos donde realizamos la validación. Existen varias métricas de error, pero las más utilizadas son las siguientes: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Mean Absolute Error (MAE).</a:t>
            </a:r>
            <a:endParaRPr b="0" i="0" sz="18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Mean Squared Error (MSE).</a:t>
            </a:r>
            <a:endParaRPr b="0" i="0" sz="18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Root Mean Squared Error (RMSE).</a:t>
            </a:r>
            <a:endParaRPr b="0" i="0" sz="1800" u="none" cap="none" strike="noStrike">
              <a:solidFill>
                <a:schemeClr val="lt1"/>
              </a:solidFill>
              <a:latin typeface="Calibri"/>
              <a:ea typeface="Calibri"/>
              <a:cs typeface="Calibri"/>
              <a:sym typeface="Calibri"/>
            </a:endParaRPr>
          </a:p>
        </p:txBody>
      </p:sp>
      <p:pic>
        <p:nvPicPr>
          <p:cNvPr id="388" name="Google Shape;388;p28"/>
          <p:cNvPicPr preferRelativeResize="0"/>
          <p:nvPr/>
        </p:nvPicPr>
        <p:blipFill rotWithShape="1">
          <a:blip r:embed="rId3">
            <a:alphaModFix/>
          </a:blip>
          <a:srcRect b="0" l="0" r="0" t="0"/>
          <a:stretch/>
        </p:blipFill>
        <p:spPr>
          <a:xfrm>
            <a:off x="1013864" y="1867494"/>
            <a:ext cx="289524" cy="2895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9"/>
          <p:cNvSpPr/>
          <p:nvPr/>
        </p:nvSpPr>
        <p:spPr>
          <a:xfrm>
            <a:off x="-887186" y="997292"/>
            <a:ext cx="13505581" cy="1011952"/>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4" name="Google Shape;394;p29"/>
          <p:cNvSpPr txBox="1"/>
          <p:nvPr/>
        </p:nvSpPr>
        <p:spPr>
          <a:xfrm>
            <a:off x="994270" y="81232"/>
            <a:ext cx="10473244"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(MAE) Mean Absolute Error</a:t>
            </a:r>
            <a:endParaRPr b="0" i="0" sz="3200" u="none" cap="none" strike="noStrike">
              <a:solidFill>
                <a:srgbClr val="7F7F7F"/>
              </a:solidFill>
              <a:latin typeface="Arial"/>
              <a:ea typeface="Arial"/>
              <a:cs typeface="Arial"/>
              <a:sym typeface="Arial"/>
            </a:endParaRPr>
          </a:p>
        </p:txBody>
      </p:sp>
      <p:sp>
        <p:nvSpPr>
          <p:cNvPr id="395" name="Google Shape;395;p29"/>
          <p:cNvSpPr txBox="1"/>
          <p:nvPr/>
        </p:nvSpPr>
        <p:spPr>
          <a:xfrm>
            <a:off x="1013906" y="1187265"/>
            <a:ext cx="10146489" cy="64629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Es la métrica más sencilla de todas para medir el error de un modelo regresivo, corresponde a la suma de las diferencias absolutas entre el valor predicho y el valor real dividido por la cantidad de mediciones.</a:t>
            </a:r>
            <a:endParaRPr b="0" i="0" sz="1800" u="none" cap="none" strike="noStrike">
              <a:solidFill>
                <a:schemeClr val="lt1"/>
              </a:solidFill>
              <a:latin typeface="Calibri"/>
              <a:ea typeface="Calibri"/>
              <a:cs typeface="Calibri"/>
              <a:sym typeface="Calibri"/>
            </a:endParaRPr>
          </a:p>
        </p:txBody>
      </p:sp>
      <p:sp>
        <p:nvSpPr>
          <p:cNvPr id="396" name="Google Shape;396;p29"/>
          <p:cNvSpPr/>
          <p:nvPr/>
        </p:nvSpPr>
        <p:spPr>
          <a:xfrm>
            <a:off x="1013906" y="2143679"/>
            <a:ext cx="10146489" cy="4352372"/>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7" name="Google Shape;397;p29"/>
          <p:cNvSpPr txBox="1"/>
          <p:nvPr/>
        </p:nvSpPr>
        <p:spPr>
          <a:xfrm>
            <a:off x="1435100" y="3633065"/>
            <a:ext cx="2736848" cy="840295"/>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cxnSp>
        <p:nvCxnSpPr>
          <p:cNvPr id="398" name="Google Shape;398;p29"/>
          <p:cNvCxnSpPr/>
          <p:nvPr/>
        </p:nvCxnSpPr>
        <p:spPr>
          <a:xfrm flipH="1" rot="10800000">
            <a:off x="5404138" y="2427720"/>
            <a:ext cx="20512" cy="3528392"/>
          </a:xfrm>
          <a:prstGeom prst="straightConnector1">
            <a:avLst/>
          </a:prstGeom>
          <a:noFill/>
          <a:ln cap="flat" cmpd="sng" w="9525">
            <a:solidFill>
              <a:schemeClr val="accent1"/>
            </a:solidFill>
            <a:prstDash val="solid"/>
            <a:miter lim="800000"/>
            <a:headEnd len="sm" w="sm" type="none"/>
            <a:tailEnd len="med" w="med" type="triangle"/>
          </a:ln>
        </p:spPr>
      </p:cxnSp>
      <p:cxnSp>
        <p:nvCxnSpPr>
          <p:cNvPr id="399" name="Google Shape;399;p29"/>
          <p:cNvCxnSpPr/>
          <p:nvPr/>
        </p:nvCxnSpPr>
        <p:spPr>
          <a:xfrm>
            <a:off x="5412684" y="5956112"/>
            <a:ext cx="5032015" cy="0"/>
          </a:xfrm>
          <a:prstGeom prst="straightConnector1">
            <a:avLst/>
          </a:prstGeom>
          <a:noFill/>
          <a:ln cap="flat" cmpd="sng" w="9525">
            <a:solidFill>
              <a:schemeClr val="accent1"/>
            </a:solidFill>
            <a:prstDash val="solid"/>
            <a:miter lim="800000"/>
            <a:headEnd len="sm" w="sm" type="none"/>
            <a:tailEnd len="med" w="med" type="triangle"/>
          </a:ln>
        </p:spPr>
      </p:cxnSp>
      <p:sp>
        <p:nvSpPr>
          <p:cNvPr id="400" name="Google Shape;400;p29"/>
          <p:cNvSpPr/>
          <p:nvPr/>
        </p:nvSpPr>
        <p:spPr>
          <a:xfrm>
            <a:off x="6091714" y="3791621"/>
            <a:ext cx="403869" cy="403869"/>
          </a:xfrm>
          <a:prstGeom prst="mathPlus">
            <a:avLst>
              <a:gd fmla="val 23520" name="adj1"/>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1" name="Google Shape;401;p29"/>
          <p:cNvSpPr/>
          <p:nvPr/>
        </p:nvSpPr>
        <p:spPr>
          <a:xfrm>
            <a:off x="7294152" y="4858932"/>
            <a:ext cx="403869" cy="403869"/>
          </a:xfrm>
          <a:prstGeom prst="mathPlus">
            <a:avLst>
              <a:gd fmla="val 23520" name="adj1"/>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2" name="Google Shape;402;p29"/>
          <p:cNvSpPr/>
          <p:nvPr/>
        </p:nvSpPr>
        <p:spPr>
          <a:xfrm>
            <a:off x="8169505" y="2754268"/>
            <a:ext cx="403869" cy="403869"/>
          </a:xfrm>
          <a:prstGeom prst="mathPlus">
            <a:avLst>
              <a:gd fmla="val 23520" name="adj1"/>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3" name="Google Shape;403;p29"/>
          <p:cNvSpPr/>
          <p:nvPr/>
        </p:nvSpPr>
        <p:spPr>
          <a:xfrm>
            <a:off x="9330333" y="3906108"/>
            <a:ext cx="403869" cy="403869"/>
          </a:xfrm>
          <a:prstGeom prst="mathPlus">
            <a:avLst>
              <a:gd fmla="val 23520" name="adj1"/>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404" name="Google Shape;404;p29"/>
          <p:cNvCxnSpPr/>
          <p:nvPr/>
        </p:nvCxnSpPr>
        <p:spPr>
          <a:xfrm flipH="1" rot="10800000">
            <a:off x="5424650" y="3072437"/>
            <a:ext cx="4371976" cy="2377439"/>
          </a:xfrm>
          <a:prstGeom prst="straightConnector1">
            <a:avLst/>
          </a:prstGeom>
          <a:noFill/>
          <a:ln cap="flat" cmpd="sng" w="76200">
            <a:solidFill>
              <a:schemeClr val="accent1"/>
            </a:solidFill>
            <a:prstDash val="solid"/>
            <a:miter lim="800000"/>
            <a:headEnd len="sm" w="sm" type="none"/>
            <a:tailEnd len="sm" w="sm" type="none"/>
          </a:ln>
        </p:spPr>
      </p:cxnSp>
      <p:cxnSp>
        <p:nvCxnSpPr>
          <p:cNvPr id="405" name="Google Shape;405;p29"/>
          <p:cNvCxnSpPr/>
          <p:nvPr/>
        </p:nvCxnSpPr>
        <p:spPr>
          <a:xfrm>
            <a:off x="6293647" y="4108043"/>
            <a:ext cx="0" cy="1871488"/>
          </a:xfrm>
          <a:prstGeom prst="straightConnector1">
            <a:avLst/>
          </a:prstGeom>
          <a:noFill/>
          <a:ln cap="flat" cmpd="sng" w="9525">
            <a:solidFill>
              <a:srgbClr val="7F7F7F"/>
            </a:solidFill>
            <a:prstDash val="dash"/>
            <a:miter lim="800000"/>
            <a:headEnd len="sm" w="sm" type="none"/>
            <a:tailEnd len="sm" w="sm" type="none"/>
          </a:ln>
        </p:spPr>
      </p:cxnSp>
      <p:cxnSp>
        <p:nvCxnSpPr>
          <p:cNvPr id="406" name="Google Shape;406;p29"/>
          <p:cNvCxnSpPr>
            <a:stCxn id="400" idx="2"/>
          </p:cNvCxnSpPr>
          <p:nvPr/>
        </p:nvCxnSpPr>
        <p:spPr>
          <a:xfrm rot="10800000">
            <a:off x="5440847" y="3993556"/>
            <a:ext cx="704400" cy="0"/>
          </a:xfrm>
          <a:prstGeom prst="straightConnector1">
            <a:avLst/>
          </a:prstGeom>
          <a:noFill/>
          <a:ln cap="flat" cmpd="sng" w="9525">
            <a:solidFill>
              <a:srgbClr val="7F7F7F"/>
            </a:solidFill>
            <a:prstDash val="dash"/>
            <a:miter lim="800000"/>
            <a:headEnd len="sm" w="sm" type="none"/>
            <a:tailEnd len="sm" w="sm" type="none"/>
          </a:ln>
        </p:spPr>
      </p:cxnSp>
      <p:cxnSp>
        <p:nvCxnSpPr>
          <p:cNvPr id="407" name="Google Shape;407;p29"/>
          <p:cNvCxnSpPr/>
          <p:nvPr/>
        </p:nvCxnSpPr>
        <p:spPr>
          <a:xfrm rot="10800000">
            <a:off x="5412684" y="4936934"/>
            <a:ext cx="892931" cy="0"/>
          </a:xfrm>
          <a:prstGeom prst="straightConnector1">
            <a:avLst/>
          </a:prstGeom>
          <a:noFill/>
          <a:ln cap="flat" cmpd="sng" w="9525">
            <a:solidFill>
              <a:srgbClr val="7F7F7F"/>
            </a:solidFill>
            <a:prstDash val="dash"/>
            <a:miter lim="800000"/>
            <a:headEnd len="sm" w="sm" type="none"/>
            <a:tailEnd len="sm" w="sm" type="none"/>
          </a:ln>
        </p:spPr>
      </p:cxnSp>
      <p:sp>
        <p:nvSpPr>
          <p:cNvPr id="408" name="Google Shape;408;p29"/>
          <p:cNvSpPr txBox="1"/>
          <p:nvPr/>
        </p:nvSpPr>
        <p:spPr>
          <a:xfrm>
            <a:off x="5073803" y="4691535"/>
            <a:ext cx="245708" cy="369332"/>
          </a:xfrm>
          <a:prstGeom prst="rect">
            <a:avLst/>
          </a:prstGeom>
          <a:blipFill rotWithShape="1">
            <a:blip r:embed="rId4">
              <a:alphaModFix/>
            </a:blip>
            <a:stretch>
              <a:fillRect b="-26660" l="-29259" r="-75595" t="-1832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09" name="Google Shape;409;p29"/>
          <p:cNvSpPr txBox="1"/>
          <p:nvPr/>
        </p:nvSpPr>
        <p:spPr>
          <a:xfrm>
            <a:off x="5040945" y="3738711"/>
            <a:ext cx="250389" cy="369332"/>
          </a:xfrm>
          <a:prstGeom prst="rect">
            <a:avLst/>
          </a:prstGeom>
          <a:blipFill rotWithShape="1">
            <a:blip r:embed="rId5">
              <a:alphaModFix/>
            </a:blip>
            <a:stretch>
              <a:fillRect b="-24587" l="-43898" r="-2682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10" name="Google Shape;410;p29"/>
          <p:cNvSpPr txBox="1"/>
          <p:nvPr/>
        </p:nvSpPr>
        <p:spPr>
          <a:xfrm>
            <a:off x="6180420" y="5925571"/>
            <a:ext cx="250389" cy="369332"/>
          </a:xfrm>
          <a:prstGeom prst="rect">
            <a:avLst/>
          </a:prstGeom>
          <a:blipFill rotWithShape="1">
            <a:blip r:embed="rId6">
              <a:alphaModFix/>
            </a:blip>
            <a:stretch>
              <a:fillRect b="-14751" l="-31702" r="-2926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0"/>
          <p:cNvSpPr/>
          <p:nvPr/>
        </p:nvSpPr>
        <p:spPr>
          <a:xfrm>
            <a:off x="-876300" y="996345"/>
            <a:ext cx="13825842" cy="921565"/>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6" name="Google Shape;416;p30"/>
          <p:cNvSpPr txBox="1"/>
          <p:nvPr/>
        </p:nvSpPr>
        <p:spPr>
          <a:xfrm>
            <a:off x="1828800" y="139271"/>
            <a:ext cx="9658350"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Métricas de evaluación de regresiones</a:t>
            </a:r>
            <a:endParaRPr b="0" i="0" sz="3200" u="none" cap="none" strike="noStrike">
              <a:solidFill>
                <a:srgbClr val="7F7F7F"/>
              </a:solidFill>
              <a:latin typeface="Arial"/>
              <a:ea typeface="Arial"/>
              <a:cs typeface="Arial"/>
              <a:sym typeface="Arial"/>
            </a:endParaRPr>
          </a:p>
        </p:txBody>
      </p:sp>
      <p:sp>
        <p:nvSpPr>
          <p:cNvPr id="417" name="Google Shape;417;p30"/>
          <p:cNvSpPr txBox="1"/>
          <p:nvPr/>
        </p:nvSpPr>
        <p:spPr>
          <a:xfrm>
            <a:off x="1828800" y="1138326"/>
            <a:ext cx="8606118" cy="116955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1800" u="none" cap="none" strike="noStrike">
                <a:solidFill>
                  <a:schemeClr val="lt1"/>
                </a:solidFill>
                <a:latin typeface="Calibri"/>
                <a:ea typeface="Calibri"/>
                <a:cs typeface="Calibri"/>
                <a:sym typeface="Calibri"/>
              </a:rPr>
              <a:t>Para utilizar las funciones de métricas de evaluación de la regresión, podemos importar el módulo </a:t>
            </a:r>
            <a:r>
              <a:rPr b="1" i="0" lang="es-ES" sz="1800" u="none" cap="none" strike="noStrike">
                <a:solidFill>
                  <a:schemeClr val="lt1"/>
                </a:solidFill>
                <a:latin typeface="Calibri"/>
                <a:ea typeface="Calibri"/>
                <a:cs typeface="Calibri"/>
                <a:sym typeface="Calibri"/>
              </a:rPr>
              <a:t>eval_measures</a:t>
            </a:r>
            <a:r>
              <a:rPr b="0" i="0" lang="es-ES" sz="1800" u="none" cap="none" strike="noStrike">
                <a:solidFill>
                  <a:schemeClr val="lt1"/>
                </a:solidFill>
                <a:latin typeface="Calibri"/>
                <a:ea typeface="Calibri"/>
                <a:cs typeface="Calibri"/>
                <a:sym typeface="Calibri"/>
              </a:rPr>
              <a:t> de </a:t>
            </a:r>
            <a:r>
              <a:rPr b="1" i="0" lang="es-ES" sz="1800" u="none" cap="none" strike="noStrike">
                <a:solidFill>
                  <a:schemeClr val="lt1"/>
                </a:solidFill>
                <a:latin typeface="Calibri"/>
                <a:ea typeface="Calibri"/>
                <a:cs typeface="Calibri"/>
                <a:sym typeface="Calibri"/>
              </a:rPr>
              <a:t>statsmodels</a:t>
            </a:r>
            <a:r>
              <a:rPr b="0" i="0" lang="es-ES" sz="1800" u="none" cap="none" strike="noStrike">
                <a:solidFill>
                  <a:schemeClr val="lt1"/>
                </a:solidFill>
                <a:latin typeface="Calibri"/>
                <a:ea typeface="Calibri"/>
                <a:cs typeface="Calibri"/>
                <a:sym typeface="Calibri"/>
              </a:rPr>
              <a:t>.</a:t>
            </a:r>
            <a:endParaRPr b="0" i="0" sz="1400" u="none" cap="none" strike="noStrike">
              <a:solidFill>
                <a:schemeClr val="lt1"/>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418" name="Google Shape;418;p30"/>
          <p:cNvSpPr/>
          <p:nvPr/>
        </p:nvSpPr>
        <p:spPr>
          <a:xfrm>
            <a:off x="1828800" y="2141990"/>
            <a:ext cx="7933765" cy="4341142"/>
          </a:xfrm>
          <a:prstGeom prst="roundRect">
            <a:avLst>
              <a:gd fmla="val 2971" name="adj"/>
            </a:avLst>
          </a:prstGeom>
          <a:solidFill>
            <a:srgbClr val="383838"/>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19" name="Google Shape;419;p30"/>
          <p:cNvPicPr preferRelativeResize="0"/>
          <p:nvPr/>
        </p:nvPicPr>
        <p:blipFill rotWithShape="1">
          <a:blip r:embed="rId3">
            <a:alphaModFix/>
          </a:blip>
          <a:srcRect b="0" l="0" r="0" t="0"/>
          <a:stretch/>
        </p:blipFill>
        <p:spPr>
          <a:xfrm>
            <a:off x="2139264" y="2378140"/>
            <a:ext cx="7312836" cy="372540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1"/>
          <p:cNvSpPr/>
          <p:nvPr/>
        </p:nvSpPr>
        <p:spPr>
          <a:xfrm>
            <a:off x="29573" y="2312127"/>
            <a:ext cx="6611017" cy="2448741"/>
          </a:xfrm>
          <a:prstGeom prst="roundRect">
            <a:avLst>
              <a:gd fmla="val 2971" name="adj"/>
            </a:avLst>
          </a:prstGeom>
          <a:gradFill>
            <a:gsLst>
              <a:gs pos="0">
                <a:srgbClr val="5B1744"/>
              </a:gs>
              <a:gs pos="50000">
                <a:srgbClr val="852262"/>
              </a:gs>
              <a:gs pos="100000">
                <a:srgbClr val="9F2A7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5" name="Google Shape;425;p31"/>
          <p:cNvSpPr txBox="1"/>
          <p:nvPr/>
        </p:nvSpPr>
        <p:spPr>
          <a:xfrm>
            <a:off x="501791" y="1159282"/>
            <a:ext cx="5666583"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Coeficiente de determinación </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(R-cuadrado)</a:t>
            </a:r>
            <a:endParaRPr b="0" i="0" sz="3200" u="none" cap="none" strike="noStrike">
              <a:solidFill>
                <a:srgbClr val="7F7F7F"/>
              </a:solidFill>
              <a:latin typeface="Arial"/>
              <a:ea typeface="Arial"/>
              <a:cs typeface="Arial"/>
              <a:sym typeface="Arial"/>
            </a:endParaRPr>
          </a:p>
        </p:txBody>
      </p:sp>
      <p:sp>
        <p:nvSpPr>
          <p:cNvPr id="426" name="Google Shape;426;p31"/>
          <p:cNvSpPr txBox="1"/>
          <p:nvPr/>
        </p:nvSpPr>
        <p:spPr>
          <a:xfrm>
            <a:off x="501791" y="2594472"/>
            <a:ext cx="5411329" cy="175432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Mide cuán bien se ajusta nuestro modelo a los datos, es decir, mide la proporción de varianza de la variable objetivo que el modelo es capaz de explicar. Este coeficiente oscila entre 0 y 1, correspondiendo a 1 el ajuste perfecto del modelo y a 0 cuando la variable de salida no reacciona a nuestra variable predictora.</a:t>
            </a:r>
            <a:endParaRPr b="0" i="0" sz="1600" u="none" cap="none" strike="noStrike">
              <a:solidFill>
                <a:schemeClr val="lt1"/>
              </a:solidFill>
              <a:latin typeface="Arial"/>
              <a:ea typeface="Arial"/>
              <a:cs typeface="Arial"/>
              <a:sym typeface="Arial"/>
            </a:endParaRPr>
          </a:p>
        </p:txBody>
      </p:sp>
      <p:sp>
        <p:nvSpPr>
          <p:cNvPr id="427" name="Google Shape;427;p31"/>
          <p:cNvSpPr/>
          <p:nvPr/>
        </p:nvSpPr>
        <p:spPr>
          <a:xfrm>
            <a:off x="6013127" y="1177501"/>
            <a:ext cx="5791200" cy="4491780"/>
          </a:xfrm>
          <a:prstGeom prst="roundRect">
            <a:avLst>
              <a:gd fmla="val 2971" name="adj"/>
            </a:avLst>
          </a:prstGeom>
          <a:solidFill>
            <a:schemeClr val="lt1"/>
          </a:solidFill>
          <a:ln cap="flat" cmpd="sng" w="38100">
            <a:solidFill>
              <a:srgbClr val="9832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8" name="Google Shape;428;p31"/>
          <p:cNvSpPr txBox="1"/>
          <p:nvPr/>
        </p:nvSpPr>
        <p:spPr>
          <a:xfrm>
            <a:off x="6543067" y="4327692"/>
            <a:ext cx="4419600"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595959"/>
                </a:solidFill>
                <a:latin typeface="Calibri"/>
                <a:ea typeface="Calibri"/>
                <a:cs typeface="Calibri"/>
                <a:sym typeface="Calibri"/>
              </a:rPr>
              <a:t>En este ejemplo, el modelo sólo es capaz de explicar el 25,3% de la varianza de la variable de salida. </a:t>
            </a:r>
            <a:endParaRPr b="0" i="0" sz="1400" u="none" cap="none" strike="noStrike">
              <a:solidFill>
                <a:srgbClr val="000000"/>
              </a:solidFill>
              <a:latin typeface="Arial"/>
              <a:ea typeface="Arial"/>
              <a:cs typeface="Arial"/>
              <a:sym typeface="Arial"/>
            </a:endParaRPr>
          </a:p>
        </p:txBody>
      </p:sp>
      <p:cxnSp>
        <p:nvCxnSpPr>
          <p:cNvPr id="429" name="Google Shape;429;p31"/>
          <p:cNvCxnSpPr/>
          <p:nvPr/>
        </p:nvCxnSpPr>
        <p:spPr>
          <a:xfrm flipH="1" rot="10800000">
            <a:off x="11275423" y="3129102"/>
            <a:ext cx="6925" cy="822412"/>
          </a:xfrm>
          <a:prstGeom prst="straightConnector1">
            <a:avLst/>
          </a:prstGeom>
          <a:noFill/>
          <a:ln cap="flat" cmpd="sng" w="9525">
            <a:solidFill>
              <a:schemeClr val="accent1"/>
            </a:solidFill>
            <a:prstDash val="solid"/>
            <a:miter lim="800000"/>
            <a:headEnd len="sm" w="sm" type="none"/>
            <a:tailEnd len="med" w="med" type="triangle"/>
          </a:ln>
        </p:spPr>
      </p:cxnSp>
      <p:pic>
        <p:nvPicPr>
          <p:cNvPr id="430" name="Google Shape;430;p31"/>
          <p:cNvPicPr preferRelativeResize="0"/>
          <p:nvPr/>
        </p:nvPicPr>
        <p:blipFill rotWithShape="1">
          <a:blip r:embed="rId3">
            <a:alphaModFix/>
          </a:blip>
          <a:srcRect b="0" l="0" r="42948" t="0"/>
          <a:stretch/>
        </p:blipFill>
        <p:spPr>
          <a:xfrm>
            <a:off x="6565577" y="1979244"/>
            <a:ext cx="4581656" cy="10955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500"/>
                                        <p:tgtEl>
                                          <p:spTgt spid="4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2"/>
          <p:cNvSpPr/>
          <p:nvPr/>
        </p:nvSpPr>
        <p:spPr>
          <a:xfrm>
            <a:off x="-749030" y="3132234"/>
            <a:ext cx="7964307" cy="894946"/>
          </a:xfrm>
          <a:prstGeom prst="roundRect">
            <a:avLst>
              <a:gd fmla="val 2778" name="adj"/>
            </a:avLst>
          </a:prstGeom>
          <a:gradFill>
            <a:gsLst>
              <a:gs pos="0">
                <a:srgbClr val="451539"/>
              </a:gs>
              <a:gs pos="50000">
                <a:srgbClr val="641F53"/>
              </a:gs>
              <a:gs pos="100000">
                <a:srgbClr val="782663"/>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6" name="Google Shape;436;p32"/>
          <p:cNvSpPr txBox="1"/>
          <p:nvPr/>
        </p:nvSpPr>
        <p:spPr>
          <a:xfrm>
            <a:off x="2768633" y="2835053"/>
            <a:ext cx="4446644" cy="1489308"/>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0" i="0" lang="es-ES" sz="3600" u="none" cap="none" strike="noStrike">
                <a:solidFill>
                  <a:schemeClr val="lt1"/>
                </a:solidFill>
                <a:latin typeface="Arial"/>
                <a:ea typeface="Arial"/>
                <a:cs typeface="Arial"/>
                <a:sym typeface="Arial"/>
              </a:rPr>
              <a:t>Dudas y consultas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3"/>
          <p:cNvSpPr txBox="1"/>
          <p:nvPr/>
        </p:nvSpPr>
        <p:spPr>
          <a:xfrm>
            <a:off x="462603" y="2924969"/>
            <a:ext cx="10782300" cy="100806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3600"/>
              <a:buFont typeface="Arial"/>
              <a:buNone/>
            </a:pPr>
            <a:r>
              <a:rPr b="0" i="0" lang="es-ES" sz="3600" u="none" cap="none" strike="noStrike">
                <a:solidFill>
                  <a:srgbClr val="7F7F7F"/>
                </a:solidFill>
                <a:latin typeface="Arial"/>
                <a:ea typeface="Arial"/>
                <a:cs typeface="Arial"/>
                <a:sym typeface="Arial"/>
              </a:rPr>
              <a:t>Fin presentación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2023-01-03T12:28:26Z</dcterms:created>
  <dc:creator>Kibernum</dc:creator>
</cp:coreProperties>
</file>