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12" r:id="rId5"/>
  </p:sldMasterIdLst>
  <p:notesMasterIdLst>
    <p:notesMasterId r:id="rId23"/>
  </p:notesMasterIdLst>
  <p:sldIdLst>
    <p:sldId id="562" r:id="rId6"/>
    <p:sldId id="623" r:id="rId7"/>
    <p:sldId id="654" r:id="rId8"/>
    <p:sldId id="595" r:id="rId9"/>
    <p:sldId id="587" r:id="rId10"/>
    <p:sldId id="655" r:id="rId11"/>
    <p:sldId id="389" r:id="rId12"/>
    <p:sldId id="648" r:id="rId13"/>
    <p:sldId id="656" r:id="rId14"/>
    <p:sldId id="657" r:id="rId15"/>
    <p:sldId id="639" r:id="rId16"/>
    <p:sldId id="659" r:id="rId17"/>
    <p:sldId id="650" r:id="rId18"/>
    <p:sldId id="658" r:id="rId19"/>
    <p:sldId id="643" r:id="rId20"/>
    <p:sldId id="660" r:id="rId21"/>
    <p:sldId id="661" r:id="rId22"/>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3275"/>
    <a:srgbClr val="078CAE"/>
    <a:srgbClr val="98C340"/>
    <a:srgbClr val="FD0075"/>
    <a:srgbClr val="F6A120"/>
    <a:srgbClr val="000000"/>
    <a:srgbClr val="4E7FDE"/>
    <a:srgbClr val="006BCE"/>
    <a:srgbClr val="F8D6D9"/>
    <a:srgbClr val="8AD3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5367A7-3438-9289-2BDE-BA1432F45DCB}" v="2" dt="2025-09-26T13:01:35.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71" autoAdjust="0"/>
    <p:restoredTop sz="96395" autoAdjust="0"/>
  </p:normalViewPr>
  <p:slideViewPr>
    <p:cSldViewPr snapToGrid="0">
      <p:cViewPr varScale="1">
        <p:scale>
          <a:sx n="111" d="100"/>
          <a:sy n="111" d="100"/>
        </p:scale>
        <p:origin x="528"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4A5367A7-3438-9289-2BDE-BA1432F45DCB}"/>
    <pc:docChg chg="modSld">
      <pc:chgData name="Soraya Salazar" userId="S::soraya.salazar@kibernumacademy.com::fdf00a5c-f577-43dc-8064-9968cad83607" providerId="AD" clId="Web-{4A5367A7-3438-9289-2BDE-BA1432F45DCB}" dt="2025-09-26T13:01:35.259" v="0" actId="20577"/>
      <pc:docMkLst>
        <pc:docMk/>
      </pc:docMkLst>
      <pc:sldChg chg="modSp">
        <pc:chgData name="Soraya Salazar" userId="S::soraya.salazar@kibernumacademy.com::fdf00a5c-f577-43dc-8064-9968cad83607" providerId="AD" clId="Web-{4A5367A7-3438-9289-2BDE-BA1432F45DCB}" dt="2025-09-26T13:01:35.259" v="0" actId="20577"/>
        <pc:sldMkLst>
          <pc:docMk/>
          <pc:sldMk cId="1998777028" sldId="562"/>
        </pc:sldMkLst>
        <pc:spChg chg="mod">
          <ac:chgData name="Soraya Salazar" userId="S::soraya.salazar@kibernumacademy.com::fdf00a5c-f577-43dc-8064-9968cad83607" providerId="AD" clId="Web-{4A5367A7-3438-9289-2BDE-BA1432F45DCB}" dt="2025-09-26T13:01:35.259" v="0" actId="20577"/>
          <ac:spMkLst>
            <pc:docMk/>
            <pc:sldMk cId="1998777028" sldId="562"/>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23CE86C-1FAA-476E-8610-6CF612D82F6D}"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7FDA0F7-3317-4A90-85A9-784F1E0F6A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045535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95A1AB2-ABDE-4AA7-B0BA-B4771DBF257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5CBBCA2-D1A3-4B4D-AC73-9D069169A434}"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836301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96A1A31-6B2F-42D4-9D8B-250D0522AC84}"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248B1C2-5544-4117-B964-FFA2790965CB}"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378625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CC90434-FF42-4568-BAFD-14D07093E120}"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1203834-0EF4-4D06-A8D3-876274F5BE0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88211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E415DC-2033-47BD-86E8-F874CF6E7C58}"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A3AF083-3250-4136-BEB9-7AF9A938BA7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041225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8908FD-EE54-425E-B52D-A5E77FE0F4E1}"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9C4D746-ECE6-4F12-9BD7-02F1A03DE9B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39336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54B1D3B-28B6-43FE-A4A1-ACF50A9182C7}"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6EC160-BB17-4C5C-A913-243CEE97784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23758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22D298C-5E21-4FDC-838E-33C54A0835B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01B316F-FC05-4AA9-8B17-611F2B66785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89761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5492E0-A143-485F-B68F-8CC91249D59B}"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DC192D6-CB19-4D76-BAD3-1D4E4EA927D1}"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638330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C38D573-BBF9-4466-8100-20705A6765C2}"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4F13FBE-C0B8-4F7C-B7BE-9681116FC5E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1672069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3C05822-3120-4BF7-B215-1DFE2C6DC6A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9D8483-F2FB-4D92-932B-BB90B8B7CC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703508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0F057B8-E3CD-456E-9A46-2B8B20AF993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9D94CD-8797-4F90-8E76-E70F46B730A3}"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3275122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Rectangle: Rounded Corners 22"/>
          <p:cNvSpPr/>
          <p:nvPr/>
        </p:nvSpPr>
        <p:spPr>
          <a:xfrm>
            <a:off x="3866607" y="3751199"/>
            <a:ext cx="7480662" cy="1767095"/>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p>
            <a:pPr algn="ctr">
              <a:defRPr/>
            </a:pPr>
            <a:endParaRPr lang="en-US" sz="2800" b="1" dirty="0"/>
          </a:p>
        </p:txBody>
      </p:sp>
      <p:sp>
        <p:nvSpPr>
          <p:cNvPr id="5" name="Título 1"/>
          <p:cNvSpPr>
            <a:spLocks noGrp="1"/>
          </p:cNvSpPr>
          <p:nvPr>
            <p:ph type="ctrTitle"/>
          </p:nvPr>
        </p:nvSpPr>
        <p:spPr>
          <a:xfrm>
            <a:off x="4047627" y="3986080"/>
            <a:ext cx="7165142" cy="1054388"/>
          </a:xfrm>
        </p:spPr>
        <p:txBody>
          <a:bodyPr rtlCol="0">
            <a:noAutofit/>
          </a:bodyPr>
          <a:lstStyle/>
          <a:p>
            <a:pPr algn="l" eaLnBrk="1" fontAlgn="auto" hangingPunct="1">
              <a:spcAft>
                <a:spcPts val="0"/>
              </a:spcAft>
              <a:defRPr/>
            </a:pPr>
            <a:r>
              <a:rPr lang="es-ES_tradnl" sz="5400" b="1" dirty="0">
                <a:solidFill>
                  <a:schemeClr val="bg1"/>
                </a:solidFill>
                <a:latin typeface="Arial" panose="020B0604020202020204" pitchFamily="34" charset="0"/>
                <a:cs typeface="Arial" panose="020B0604020202020204" pitchFamily="34" charset="0"/>
              </a:rPr>
              <a:t>Selección del Modelo</a:t>
            </a:r>
            <a:endParaRPr lang="es-ES_tradnl" sz="3200" b="1" dirty="0">
              <a:solidFill>
                <a:schemeClr val="bg1"/>
              </a:solidFill>
              <a:latin typeface="Arial" panose="020B0604020202020204" pitchFamily="34" charset="0"/>
              <a:cs typeface="Arial" panose="020B0604020202020204" pitchFamily="34" charset="0"/>
            </a:endParaRPr>
          </a:p>
        </p:txBody>
      </p:sp>
      <p:sp>
        <p:nvSpPr>
          <p:cNvPr id="7" name="Google Shape;92;p1"/>
          <p:cNvSpPr txBox="1"/>
          <p:nvPr/>
        </p:nvSpPr>
        <p:spPr>
          <a:xfrm>
            <a:off x="4103749" y="3194730"/>
            <a:ext cx="702277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b="1">
                <a:solidFill>
                  <a:schemeClr val="lt1"/>
                </a:solidFill>
                <a:latin typeface="Arial"/>
                <a:ea typeface="Arial"/>
                <a:cs typeface="Arial"/>
                <a:sym typeface="Arial"/>
              </a:rPr>
              <a:t>Análisis Exploratorio y Programación Estadística</a:t>
            </a:r>
            <a:endParaRPr sz="1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Título 1"/>
          <p:cNvSpPr txBox="1">
            <a:spLocks/>
          </p:cNvSpPr>
          <p:nvPr/>
        </p:nvSpPr>
        <p:spPr bwMode="auto">
          <a:xfrm>
            <a:off x="1221505" y="3484793"/>
            <a:ext cx="4813535" cy="1008062"/>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spcAft>
                <a:spcPts val="0"/>
              </a:spcAft>
              <a:defRPr/>
            </a:pPr>
            <a:r>
              <a:rPr lang="es-ES" sz="3200" dirty="0">
                <a:solidFill>
                  <a:schemeClr val="bg1">
                    <a:lumMod val="50000"/>
                  </a:schemeClr>
                </a:solidFill>
                <a:latin typeface="Source Sans Pro"/>
                <a:ea typeface="Source Sans Pro"/>
              </a:rPr>
              <a:t>Selección del Modelo</a:t>
            </a:r>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3539" y="1460380"/>
            <a:ext cx="3572407" cy="3572407"/>
          </a:xfrm>
          <a:prstGeom prst="rect">
            <a:avLst/>
          </a:prstGeom>
        </p:spPr>
      </p:pic>
    </p:spTree>
    <p:extLst>
      <p:ext uri="{BB962C8B-B14F-4D97-AF65-F5344CB8AC3E}">
        <p14:creationId xmlns:p14="http://schemas.microsoft.com/office/powerpoint/2010/main" val="69019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9" name="Rectángulo redondeado 14">
            <a:extLst>
              <a:ext uri="{FF2B5EF4-FFF2-40B4-BE49-F238E27FC236}">
                <a16:creationId xmlns:a16="http://schemas.microsoft.com/office/drawing/2014/main" id="{62C19520-3C27-97A1-FA66-919E66ACD2AC}"/>
              </a:ext>
            </a:extLst>
          </p:cNvPr>
          <p:cNvSpPr/>
          <p:nvPr/>
        </p:nvSpPr>
        <p:spPr>
          <a:xfrm>
            <a:off x="998682" y="1101172"/>
            <a:ext cx="10078285" cy="5323043"/>
          </a:xfrm>
          <a:prstGeom prst="roundRect">
            <a:avLst>
              <a:gd name="adj" fmla="val 4466"/>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ES_tradnl" sz="1600" dirty="0"/>
          </a:p>
        </p:txBody>
      </p:sp>
      <p:sp>
        <p:nvSpPr>
          <p:cNvPr id="7" name="Rectángulo redondeado 4">
            <a:extLst>
              <a:ext uri="{FF2B5EF4-FFF2-40B4-BE49-F238E27FC236}">
                <a16:creationId xmlns:a16="http://schemas.microsoft.com/office/drawing/2014/main" id="{F54B704E-F625-E3FA-92EA-8240924D3BF1}"/>
              </a:ext>
            </a:extLst>
          </p:cNvPr>
          <p:cNvSpPr/>
          <p:nvPr/>
        </p:nvSpPr>
        <p:spPr>
          <a:xfrm>
            <a:off x="1224347" y="2316418"/>
            <a:ext cx="9659567" cy="3883809"/>
          </a:xfrm>
          <a:prstGeom prst="roundRect">
            <a:avLst>
              <a:gd name="adj" fmla="val 2971"/>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8" name="Título 1"/>
          <p:cNvSpPr txBox="1">
            <a:spLocks/>
          </p:cNvSpPr>
          <p:nvPr/>
        </p:nvSpPr>
        <p:spPr bwMode="auto">
          <a:xfrm>
            <a:off x="1322958" y="261615"/>
            <a:ext cx="9753310" cy="76184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Criterios en la selección del modelo</a:t>
            </a:r>
          </a:p>
        </p:txBody>
      </p:sp>
      <p:sp>
        <p:nvSpPr>
          <p:cNvPr id="10" name="CuadroTexto 9">
            <a:extLst>
              <a:ext uri="{FF2B5EF4-FFF2-40B4-BE49-F238E27FC236}">
                <a16:creationId xmlns:a16="http://schemas.microsoft.com/office/drawing/2014/main" id="{93DA603D-4F38-4477-ABCF-7D9BF773DD97}"/>
              </a:ext>
            </a:extLst>
          </p:cNvPr>
          <p:cNvSpPr txBox="1"/>
          <p:nvPr/>
        </p:nvSpPr>
        <p:spPr>
          <a:xfrm>
            <a:off x="1227708" y="1250361"/>
            <a:ext cx="9659567" cy="923330"/>
          </a:xfrm>
          <a:prstGeom prst="rect">
            <a:avLst/>
          </a:prstGeom>
          <a:noFill/>
        </p:spPr>
        <p:txBody>
          <a:bodyPr wrap="square" lIns="91440" tIns="45720" rIns="91440" bIns="45720" rtlCol="0" anchor="t">
            <a:spAutoFit/>
          </a:bodyPr>
          <a:lstStyle/>
          <a:p>
            <a:pPr algn="just">
              <a:defRPr>
                <a:solidFill>
                  <a:srgbClr val="FFFFFF"/>
                </a:solidFill>
              </a:defRPr>
            </a:pPr>
            <a:r>
              <a:rPr lang="es-ES" dirty="0">
                <a:latin typeface="Calibri"/>
                <a:cs typeface="Calibri"/>
              </a:rPr>
              <a:t>No todas las variables agregadas al modelo explican de forma significativa la varianza de un modelo. Esto significa, que el agregar variables no necesariamente mejora nuestro modelo. En algunos casos, agregar variables empeora el resultado.</a:t>
            </a:r>
          </a:p>
        </p:txBody>
      </p:sp>
      <p:pic>
        <p:nvPicPr>
          <p:cNvPr id="12" name="Imagen 11"/>
          <p:cNvPicPr>
            <a:picLocks noChangeAspect="1"/>
          </p:cNvPicPr>
          <p:nvPr/>
        </p:nvPicPr>
        <p:blipFill>
          <a:blip r:embed="rId3"/>
          <a:stretch>
            <a:fillRect/>
          </a:stretch>
        </p:blipFill>
        <p:spPr>
          <a:xfrm>
            <a:off x="3179352" y="2696745"/>
            <a:ext cx="1838325" cy="2495550"/>
          </a:xfrm>
          <a:prstGeom prst="rect">
            <a:avLst/>
          </a:prstGeom>
        </p:spPr>
      </p:pic>
      <p:pic>
        <p:nvPicPr>
          <p:cNvPr id="13" name="Imagen 12"/>
          <p:cNvPicPr>
            <a:picLocks noChangeAspect="1"/>
          </p:cNvPicPr>
          <p:nvPr/>
        </p:nvPicPr>
        <p:blipFill>
          <a:blip r:embed="rId3"/>
          <a:stretch>
            <a:fillRect/>
          </a:stretch>
        </p:blipFill>
        <p:spPr>
          <a:xfrm>
            <a:off x="6834943" y="2651857"/>
            <a:ext cx="1838325" cy="2495550"/>
          </a:xfrm>
          <a:prstGeom prst="rect">
            <a:avLst/>
          </a:prstGeom>
        </p:spPr>
      </p:pic>
      <p:sp>
        <p:nvSpPr>
          <p:cNvPr id="14" name="Igual que 13"/>
          <p:cNvSpPr/>
          <p:nvPr/>
        </p:nvSpPr>
        <p:spPr>
          <a:xfrm>
            <a:off x="5246506" y="3724530"/>
            <a:ext cx="1359607" cy="648072"/>
          </a:xfrm>
          <a:prstGeom prst="mathEqual">
            <a:avLst/>
          </a:prstGeom>
          <a:solidFill>
            <a:srgbClr val="98327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solidFill>
                <a:schemeClr val="tx1"/>
              </a:solidFill>
            </a:endParaRPr>
          </a:p>
        </p:txBody>
      </p:sp>
      <p:sp>
        <p:nvSpPr>
          <p:cNvPr id="15" name="Rectángulo 14"/>
          <p:cNvSpPr/>
          <p:nvPr/>
        </p:nvSpPr>
        <p:spPr>
          <a:xfrm>
            <a:off x="3695200" y="5147407"/>
            <a:ext cx="806631"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IN</a:t>
            </a:r>
          </a:p>
        </p:txBody>
      </p:sp>
      <p:sp>
        <p:nvSpPr>
          <p:cNvPr id="16" name="Rectángulo 15"/>
          <p:cNvSpPr/>
          <p:nvPr/>
        </p:nvSpPr>
        <p:spPr>
          <a:xfrm>
            <a:off x="7041411" y="5147407"/>
            <a:ext cx="1425390"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OUT</a:t>
            </a:r>
          </a:p>
        </p:txBody>
      </p:sp>
      <p:sp>
        <p:nvSpPr>
          <p:cNvPr id="2" name="CuadroTexto 1">
            <a:extLst>
              <a:ext uri="{FF2B5EF4-FFF2-40B4-BE49-F238E27FC236}">
                <a16:creationId xmlns:a16="http://schemas.microsoft.com/office/drawing/2014/main" id="{F27A3E4F-5108-BAB7-4862-904F776C08F8}"/>
              </a:ext>
            </a:extLst>
          </p:cNvPr>
          <p:cNvSpPr txBox="1"/>
          <p:nvPr/>
        </p:nvSpPr>
        <p:spPr>
          <a:xfrm>
            <a:off x="3691923" y="5834552"/>
            <a:ext cx="13260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latin typeface="Calibri"/>
                <a:cs typeface="Calibri"/>
              </a:rPr>
              <a:t>En (Dentro)</a:t>
            </a:r>
            <a:endParaRPr lang="es-ES" dirty="0">
              <a:latin typeface="Calibri"/>
            </a:endParaRPr>
          </a:p>
        </p:txBody>
      </p:sp>
      <p:sp>
        <p:nvSpPr>
          <p:cNvPr id="3" name="CuadroTexto 2">
            <a:extLst>
              <a:ext uri="{FF2B5EF4-FFF2-40B4-BE49-F238E27FC236}">
                <a16:creationId xmlns:a16="http://schemas.microsoft.com/office/drawing/2014/main" id="{81FDFACC-6EEF-6F2E-9EE8-EA04E1C68DBB}"/>
              </a:ext>
            </a:extLst>
          </p:cNvPr>
          <p:cNvSpPr txBox="1"/>
          <p:nvPr/>
        </p:nvSpPr>
        <p:spPr>
          <a:xfrm>
            <a:off x="7141517" y="5896336"/>
            <a:ext cx="13260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dirty="0">
                <a:latin typeface="Calibri"/>
                <a:cs typeface="Calibri"/>
              </a:rPr>
              <a:t>Fuera</a:t>
            </a:r>
            <a:endParaRPr lang="es-ES" dirty="0">
              <a:latin typeface="Calibri"/>
            </a:endParaRPr>
          </a:p>
        </p:txBody>
      </p:sp>
    </p:spTree>
    <p:extLst>
      <p:ext uri="{BB962C8B-B14F-4D97-AF65-F5344CB8AC3E}">
        <p14:creationId xmlns:p14="http://schemas.microsoft.com/office/powerpoint/2010/main" val="134834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6" name="Rectángulo redondeado 5"/>
          <p:cNvSpPr/>
          <p:nvPr/>
        </p:nvSpPr>
        <p:spPr>
          <a:xfrm>
            <a:off x="1615486" y="1716182"/>
            <a:ext cx="8974461" cy="4009633"/>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ES_tradnl">
              <a:solidFill>
                <a:schemeClr val="bg1"/>
              </a:solidFill>
            </a:endParaRPr>
          </a:p>
        </p:txBody>
      </p:sp>
      <p:sp>
        <p:nvSpPr>
          <p:cNvPr id="3" name="Título 1"/>
          <p:cNvSpPr txBox="1">
            <a:spLocks/>
          </p:cNvSpPr>
          <p:nvPr/>
        </p:nvSpPr>
        <p:spPr bwMode="auto">
          <a:xfrm>
            <a:off x="1838527" y="488128"/>
            <a:ext cx="9473083"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Criterios en la selección del modelo</a:t>
            </a:r>
          </a:p>
          <a:p>
            <a:pPr eaLnBrk="1" fontAlgn="auto" hangingPunct="1">
              <a:spcAft>
                <a:spcPts val="0"/>
              </a:spcAft>
              <a:defRPr/>
            </a:pPr>
            <a:endParaRPr lang="es-MX" sz="2000" dirty="0">
              <a:solidFill>
                <a:schemeClr val="bg1">
                  <a:lumMod val="50000"/>
                </a:schemeClr>
              </a:solidFill>
              <a:latin typeface="Source Sans Pro" panose="020B0503030403020204" pitchFamily="34" charset="0"/>
            </a:endParaRPr>
          </a:p>
        </p:txBody>
      </p:sp>
      <p:sp>
        <p:nvSpPr>
          <p:cNvPr id="4" name="Rectángulo redondeado 4">
            <a:extLst>
              <a:ext uri="{FF2B5EF4-FFF2-40B4-BE49-F238E27FC236}">
                <a16:creationId xmlns:a16="http://schemas.microsoft.com/office/drawing/2014/main" id="{F54B704E-F625-E3FA-92EA-8240924D3BF1}"/>
              </a:ext>
            </a:extLst>
          </p:cNvPr>
          <p:cNvSpPr/>
          <p:nvPr/>
        </p:nvSpPr>
        <p:spPr>
          <a:xfrm>
            <a:off x="1754115" y="2278212"/>
            <a:ext cx="8732868" cy="3359971"/>
          </a:xfrm>
          <a:prstGeom prst="roundRect">
            <a:avLst>
              <a:gd name="adj" fmla="val 2971"/>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11" name="Picture 2" descr="Resultado de imagen para whiteboard equa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56" y="2510396"/>
            <a:ext cx="6667500" cy="2895601"/>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p:cNvSpPr txBox="1"/>
          <p:nvPr/>
        </p:nvSpPr>
        <p:spPr>
          <a:xfrm>
            <a:off x="1838528" y="1713935"/>
            <a:ext cx="8643258" cy="464871"/>
          </a:xfrm>
          <a:prstGeom prst="rect">
            <a:avLst/>
          </a:prstGeom>
          <a:noFill/>
        </p:spPr>
        <p:txBody>
          <a:bodyPr wrap="square" lIns="91440" tIns="45720" rIns="91440" bIns="45720" rtlCol="0" anchor="t">
            <a:spAutoFit/>
          </a:bodyPr>
          <a:lstStyle/>
          <a:p>
            <a:pPr eaLnBrk="1" fontAlgn="auto" hangingPunct="1">
              <a:lnSpc>
                <a:spcPct val="150000"/>
              </a:lnSpc>
              <a:spcAft>
                <a:spcPts val="0"/>
              </a:spcAft>
              <a:defRPr/>
            </a:pPr>
            <a:r>
              <a:rPr lang="es-ES" dirty="0">
                <a:solidFill>
                  <a:schemeClr val="bg1"/>
                </a:solidFill>
                <a:latin typeface="+mn-lt"/>
              </a:rPr>
              <a:t>Por otra parte, un modelo demasiado complejo dificulta su entendimiento y comunicación.</a:t>
            </a:r>
          </a:p>
        </p:txBody>
      </p:sp>
    </p:spTree>
    <p:extLst>
      <p:ext uri="{BB962C8B-B14F-4D97-AF65-F5344CB8AC3E}">
        <p14:creationId xmlns:p14="http://schemas.microsoft.com/office/powerpoint/2010/main" val="25419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15" name="Rectángulo redondeado 14"/>
          <p:cNvSpPr/>
          <p:nvPr/>
        </p:nvSpPr>
        <p:spPr>
          <a:xfrm>
            <a:off x="1067178" y="2517193"/>
            <a:ext cx="5867716" cy="3706239"/>
          </a:xfrm>
          <a:prstGeom prst="roundRect">
            <a:avLst>
              <a:gd name="adj" fmla="val 2778"/>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ES_tradnl">
              <a:solidFill>
                <a:schemeClr val="bg1"/>
              </a:solidFill>
            </a:endParaRPr>
          </a:p>
        </p:txBody>
      </p:sp>
      <p:sp>
        <p:nvSpPr>
          <p:cNvPr id="14" name="Rectángulo redondeado 13"/>
          <p:cNvSpPr/>
          <p:nvPr/>
        </p:nvSpPr>
        <p:spPr>
          <a:xfrm>
            <a:off x="-169771" y="1275975"/>
            <a:ext cx="12534090" cy="1010146"/>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ES_tradnl">
              <a:solidFill>
                <a:schemeClr val="bg1"/>
              </a:solidFill>
            </a:endParaRPr>
          </a:p>
        </p:txBody>
      </p:sp>
      <p:sp>
        <p:nvSpPr>
          <p:cNvPr id="3" name="Título 1"/>
          <p:cNvSpPr txBox="1">
            <a:spLocks/>
          </p:cNvSpPr>
          <p:nvPr/>
        </p:nvSpPr>
        <p:spPr bwMode="auto">
          <a:xfrm>
            <a:off x="1063559" y="1273160"/>
            <a:ext cx="9918969"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00000"/>
              </a:lnSpc>
              <a:spcAft>
                <a:spcPts val="0"/>
              </a:spcAft>
              <a:defRPr/>
            </a:pPr>
            <a:endParaRPr lang="es-ES" sz="1800" dirty="0">
              <a:solidFill>
                <a:schemeClr val="bg1"/>
              </a:solidFill>
              <a:latin typeface="+mn-lt"/>
            </a:endParaRPr>
          </a:p>
          <a:p>
            <a:pPr algn="just" eaLnBrk="1" fontAlgn="auto" hangingPunct="1">
              <a:lnSpc>
                <a:spcPct val="100000"/>
              </a:lnSpc>
              <a:spcAft>
                <a:spcPts val="0"/>
              </a:spcAft>
              <a:defRPr/>
            </a:pPr>
            <a:endParaRPr lang="es-ES" sz="1800" dirty="0">
              <a:solidFill>
                <a:schemeClr val="bg1"/>
              </a:solidFill>
              <a:latin typeface="+mn-lt"/>
            </a:endParaRPr>
          </a:p>
          <a:p>
            <a:pPr algn="just" eaLnBrk="1" fontAlgn="auto" hangingPunct="1">
              <a:lnSpc>
                <a:spcPct val="100000"/>
              </a:lnSpc>
              <a:spcAft>
                <a:spcPts val="0"/>
              </a:spcAft>
              <a:defRPr/>
            </a:pPr>
            <a:r>
              <a:rPr lang="es-ES" sz="1800" dirty="0">
                <a:solidFill>
                  <a:schemeClr val="bg1"/>
                </a:solidFill>
                <a:latin typeface="+mn-lt"/>
              </a:rPr>
              <a:t>Existen varios  métodos a la hora de formular un modelo a partir de los distintos predictores disponibles. El trabajo consiste principalmente en incorporar o descartar cada predictor como parte del modelo.</a:t>
            </a:r>
          </a:p>
          <a:p>
            <a:pPr eaLnBrk="1" fontAlgn="auto" hangingPunct="1">
              <a:lnSpc>
                <a:spcPct val="150000"/>
              </a:lnSpc>
              <a:spcAft>
                <a:spcPts val="0"/>
              </a:spcAft>
              <a:defRPr/>
            </a:pPr>
            <a:endParaRPr lang="es-ES" sz="1800" dirty="0">
              <a:solidFill>
                <a:schemeClr val="bg1">
                  <a:lumMod val="50000"/>
                </a:schemeClr>
              </a:solidFill>
              <a:latin typeface="Source Sans Pro" panose="020B0503030403020204" pitchFamily="34" charset="0"/>
            </a:endParaRPr>
          </a:p>
          <a:p>
            <a:pPr eaLnBrk="1" fontAlgn="auto" hangingPunct="1">
              <a:spcAft>
                <a:spcPts val="0"/>
              </a:spcAft>
              <a:defRPr/>
            </a:pPr>
            <a:endParaRPr lang="es-MX" sz="1800" dirty="0">
              <a:solidFill>
                <a:schemeClr val="bg1">
                  <a:lumMod val="50000"/>
                </a:schemeClr>
              </a:solidFill>
              <a:latin typeface="Source Sans Pro" panose="020B0503030403020204" pitchFamily="34" charset="0"/>
            </a:endParaRPr>
          </a:p>
        </p:txBody>
      </p:sp>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9298" y="2780039"/>
            <a:ext cx="3198421" cy="3165764"/>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7156" y="2862171"/>
            <a:ext cx="252000" cy="252000"/>
          </a:xfrm>
          <a:prstGeom prst="rect">
            <a:avLst/>
          </a:prstGeom>
          <a:ln>
            <a:noFill/>
          </a:ln>
        </p:spPr>
      </p:pic>
      <p:pic>
        <p:nvPicPr>
          <p:cNvPr id="10" name="Imagen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7156" y="3512057"/>
            <a:ext cx="252000" cy="252000"/>
          </a:xfrm>
          <a:prstGeom prst="rect">
            <a:avLst/>
          </a:prstGeom>
        </p:spPr>
      </p:pic>
      <p:pic>
        <p:nvPicPr>
          <p:cNvPr id="11" name="Imagen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7155" y="4118313"/>
            <a:ext cx="252000" cy="252000"/>
          </a:xfrm>
          <a:prstGeom prst="rect">
            <a:avLst/>
          </a:prstGeom>
        </p:spPr>
      </p:pic>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9582" y="4737771"/>
            <a:ext cx="252000" cy="252000"/>
          </a:xfrm>
          <a:prstGeom prst="rect">
            <a:avLst/>
          </a:prstGeom>
        </p:spPr>
      </p:pic>
      <p:pic>
        <p:nvPicPr>
          <p:cNvPr id="13" name="Imagen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7154" y="5344617"/>
            <a:ext cx="252000" cy="252000"/>
          </a:xfrm>
          <a:prstGeom prst="rect">
            <a:avLst/>
          </a:prstGeom>
        </p:spPr>
      </p:pic>
      <p:sp>
        <p:nvSpPr>
          <p:cNvPr id="2" name="CuadroTexto 1"/>
          <p:cNvSpPr txBox="1"/>
          <p:nvPr/>
        </p:nvSpPr>
        <p:spPr>
          <a:xfrm>
            <a:off x="2031462" y="2592815"/>
            <a:ext cx="3745149" cy="3083921"/>
          </a:xfrm>
          <a:prstGeom prst="rect">
            <a:avLst/>
          </a:prstGeom>
          <a:noFill/>
        </p:spPr>
        <p:txBody>
          <a:bodyPr wrap="square" lIns="91440" tIns="45720" rIns="91440" bIns="45720" rtlCol="0" anchor="t">
            <a:spAutoFit/>
          </a:bodyPr>
          <a:lstStyle/>
          <a:p>
            <a:pPr algn="just" eaLnBrk="1" fontAlgn="auto" hangingPunct="1">
              <a:lnSpc>
                <a:spcPct val="200000"/>
              </a:lnSpc>
              <a:spcAft>
                <a:spcPts val="0"/>
              </a:spcAft>
              <a:defRPr/>
            </a:pPr>
            <a:r>
              <a:rPr lang="en-US" sz="2000" dirty="0">
                <a:solidFill>
                  <a:schemeClr val="bg1">
                    <a:lumMod val="50000"/>
                  </a:schemeClr>
                </a:solidFill>
                <a:latin typeface="+mn-lt"/>
                <a:ea typeface="Source Sans Pro"/>
              </a:rPr>
              <a:t>All - in </a:t>
            </a:r>
          </a:p>
          <a:p>
            <a:pPr algn="just" eaLnBrk="1" fontAlgn="auto" hangingPunct="1">
              <a:lnSpc>
                <a:spcPct val="200000"/>
              </a:lnSpc>
              <a:spcAft>
                <a:spcPts val="0"/>
              </a:spcAft>
              <a:defRPr/>
            </a:pPr>
            <a:r>
              <a:rPr lang="en-US" sz="2000" dirty="0">
                <a:solidFill>
                  <a:schemeClr val="bg1">
                    <a:lumMod val="50000"/>
                  </a:schemeClr>
                </a:solidFill>
                <a:latin typeface="+mn-lt"/>
                <a:ea typeface="Source Sans Pro"/>
              </a:rPr>
              <a:t>Backward Elimination</a:t>
            </a:r>
          </a:p>
          <a:p>
            <a:pPr algn="just" eaLnBrk="1" fontAlgn="auto" hangingPunct="1">
              <a:lnSpc>
                <a:spcPct val="200000"/>
              </a:lnSpc>
              <a:spcAft>
                <a:spcPts val="0"/>
              </a:spcAft>
              <a:defRPr/>
            </a:pPr>
            <a:r>
              <a:rPr lang="en-US" sz="2000" dirty="0">
                <a:solidFill>
                  <a:schemeClr val="bg1">
                    <a:lumMod val="50000"/>
                  </a:schemeClr>
                </a:solidFill>
                <a:latin typeface="+mn-lt"/>
                <a:ea typeface="Source Sans Pro"/>
              </a:rPr>
              <a:t>Forward Selection</a:t>
            </a:r>
          </a:p>
          <a:p>
            <a:pPr algn="just" eaLnBrk="1" fontAlgn="auto" hangingPunct="1">
              <a:lnSpc>
                <a:spcPct val="200000"/>
              </a:lnSpc>
              <a:spcAft>
                <a:spcPts val="0"/>
              </a:spcAft>
              <a:defRPr/>
            </a:pPr>
            <a:r>
              <a:rPr lang="en-US" sz="2000" dirty="0">
                <a:solidFill>
                  <a:schemeClr val="bg1">
                    <a:lumMod val="50000"/>
                  </a:schemeClr>
                </a:solidFill>
                <a:latin typeface="+mn-lt"/>
                <a:ea typeface="Source Sans Pro"/>
              </a:rPr>
              <a:t>Bidirectional Elimination</a:t>
            </a:r>
          </a:p>
          <a:p>
            <a:pPr algn="just" eaLnBrk="1" fontAlgn="auto" hangingPunct="1">
              <a:lnSpc>
                <a:spcPct val="200000"/>
              </a:lnSpc>
              <a:spcAft>
                <a:spcPts val="0"/>
              </a:spcAft>
              <a:defRPr/>
            </a:pPr>
            <a:r>
              <a:rPr lang="en-US" sz="2000" dirty="0">
                <a:solidFill>
                  <a:schemeClr val="bg1">
                    <a:lumMod val="50000"/>
                  </a:schemeClr>
                </a:solidFill>
                <a:latin typeface="+mn-lt"/>
                <a:ea typeface="Source Sans Pro"/>
              </a:rPr>
              <a:t>Score Comparison</a:t>
            </a:r>
          </a:p>
        </p:txBody>
      </p:sp>
      <p:sp>
        <p:nvSpPr>
          <p:cNvPr id="5" name="CuadroTexto 4"/>
          <p:cNvSpPr txBox="1"/>
          <p:nvPr/>
        </p:nvSpPr>
        <p:spPr>
          <a:xfrm>
            <a:off x="1063559" y="412648"/>
            <a:ext cx="8745166" cy="739754"/>
          </a:xfrm>
          <a:prstGeom prst="rect">
            <a:avLst/>
          </a:prstGeom>
          <a:noFill/>
        </p:spPr>
        <p:txBody>
          <a:bodyPr wrap="square" rtlCol="0">
            <a:spAutoFit/>
          </a:body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Métodos para seleccionar un modelo</a:t>
            </a:r>
          </a:p>
        </p:txBody>
      </p:sp>
      <p:sp>
        <p:nvSpPr>
          <p:cNvPr id="6" name="CuadroTexto 5">
            <a:extLst>
              <a:ext uri="{FF2B5EF4-FFF2-40B4-BE49-F238E27FC236}">
                <a16:creationId xmlns:a16="http://schemas.microsoft.com/office/drawing/2014/main" id="{5D32A98D-477E-BBEC-CDAB-FD301420E6A7}"/>
              </a:ext>
            </a:extLst>
          </p:cNvPr>
          <p:cNvSpPr txBox="1"/>
          <p:nvPr/>
        </p:nvSpPr>
        <p:spPr>
          <a:xfrm>
            <a:off x="1939017" y="3114675"/>
            <a:ext cx="25336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Calibri"/>
                <a:cs typeface="Calibri"/>
              </a:rPr>
              <a:t>(Todas dentro)</a:t>
            </a:r>
            <a:endParaRPr lang="es-ES" sz="1400" dirty="0"/>
          </a:p>
        </p:txBody>
      </p:sp>
      <p:sp>
        <p:nvSpPr>
          <p:cNvPr id="16" name="CuadroTexto 15">
            <a:extLst>
              <a:ext uri="{FF2B5EF4-FFF2-40B4-BE49-F238E27FC236}">
                <a16:creationId xmlns:a16="http://schemas.microsoft.com/office/drawing/2014/main" id="{D45CF755-CE11-6E5A-5D3A-EB63ABB9F3F6}"/>
              </a:ext>
            </a:extLst>
          </p:cNvPr>
          <p:cNvSpPr txBox="1"/>
          <p:nvPr/>
        </p:nvSpPr>
        <p:spPr>
          <a:xfrm>
            <a:off x="1939017" y="3762375"/>
            <a:ext cx="25336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Calibri"/>
                <a:cs typeface="Calibri"/>
              </a:rPr>
              <a:t>(Eliminación hacia atrás)</a:t>
            </a:r>
            <a:endParaRPr lang="es-ES" sz="1400" dirty="0"/>
          </a:p>
        </p:txBody>
      </p:sp>
      <p:sp>
        <p:nvSpPr>
          <p:cNvPr id="17" name="CuadroTexto 16">
            <a:extLst>
              <a:ext uri="{FF2B5EF4-FFF2-40B4-BE49-F238E27FC236}">
                <a16:creationId xmlns:a16="http://schemas.microsoft.com/office/drawing/2014/main" id="{919AAE76-EA1E-2AF2-EA1C-4DA3BFAD179D}"/>
              </a:ext>
            </a:extLst>
          </p:cNvPr>
          <p:cNvSpPr txBox="1"/>
          <p:nvPr/>
        </p:nvSpPr>
        <p:spPr>
          <a:xfrm>
            <a:off x="1939017" y="4362450"/>
            <a:ext cx="25336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Calibri"/>
                <a:cs typeface="Calibri"/>
              </a:rPr>
              <a:t>(Eliminación hacia adelante)</a:t>
            </a:r>
            <a:endParaRPr lang="es-ES" sz="1400" dirty="0"/>
          </a:p>
        </p:txBody>
      </p:sp>
      <p:sp>
        <p:nvSpPr>
          <p:cNvPr id="18" name="CuadroTexto 17">
            <a:extLst>
              <a:ext uri="{FF2B5EF4-FFF2-40B4-BE49-F238E27FC236}">
                <a16:creationId xmlns:a16="http://schemas.microsoft.com/office/drawing/2014/main" id="{136D579D-D22A-64EF-9F8C-420D09F7DDD4}"/>
              </a:ext>
            </a:extLst>
          </p:cNvPr>
          <p:cNvSpPr txBox="1"/>
          <p:nvPr/>
        </p:nvSpPr>
        <p:spPr>
          <a:xfrm>
            <a:off x="1939017" y="4991100"/>
            <a:ext cx="25336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Calibri"/>
                <a:cs typeface="Calibri"/>
              </a:rPr>
              <a:t>(Eliminación bidireccional)</a:t>
            </a:r>
            <a:endParaRPr lang="es-ES" sz="1400" dirty="0"/>
          </a:p>
        </p:txBody>
      </p:sp>
      <p:sp>
        <p:nvSpPr>
          <p:cNvPr id="19" name="CuadroTexto 18">
            <a:extLst>
              <a:ext uri="{FF2B5EF4-FFF2-40B4-BE49-F238E27FC236}">
                <a16:creationId xmlns:a16="http://schemas.microsoft.com/office/drawing/2014/main" id="{2CC31E51-39EA-BEBB-0609-4C398ED8BD44}"/>
              </a:ext>
            </a:extLst>
          </p:cNvPr>
          <p:cNvSpPr txBox="1"/>
          <p:nvPr/>
        </p:nvSpPr>
        <p:spPr>
          <a:xfrm>
            <a:off x="1939017" y="5524500"/>
            <a:ext cx="25336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dirty="0">
                <a:latin typeface="Calibri"/>
                <a:cs typeface="Calibri"/>
              </a:rPr>
              <a:t>(Comparación de puntaje)</a:t>
            </a:r>
            <a:endParaRPr lang="es-ES" sz="1400" dirty="0"/>
          </a:p>
        </p:txBody>
      </p:sp>
    </p:spTree>
    <p:extLst>
      <p:ext uri="{BB962C8B-B14F-4D97-AF65-F5344CB8AC3E}">
        <p14:creationId xmlns:p14="http://schemas.microsoft.com/office/powerpoint/2010/main" val="217851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16" name="Rectángulo redondeado 15"/>
          <p:cNvSpPr/>
          <p:nvPr/>
        </p:nvSpPr>
        <p:spPr>
          <a:xfrm>
            <a:off x="-1644668" y="2395118"/>
            <a:ext cx="8247346" cy="2887121"/>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Título 1"/>
          <p:cNvSpPr txBox="1">
            <a:spLocks/>
          </p:cNvSpPr>
          <p:nvPr/>
        </p:nvSpPr>
        <p:spPr bwMode="auto">
          <a:xfrm>
            <a:off x="754453" y="1251490"/>
            <a:ext cx="5393427"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MX" sz="3600" dirty="0" err="1">
                <a:solidFill>
                  <a:schemeClr val="bg1">
                    <a:lumMod val="50000"/>
                  </a:schemeClr>
                </a:solidFill>
                <a:latin typeface="Arial" panose="020B0604020202020204" pitchFamily="34" charset="0"/>
                <a:cs typeface="Arial" panose="020B0604020202020204" pitchFamily="34" charset="0"/>
              </a:rPr>
              <a:t>Backward</a:t>
            </a:r>
            <a:r>
              <a:rPr lang="es-MX" sz="3600" dirty="0">
                <a:solidFill>
                  <a:schemeClr val="bg1">
                    <a:lumMod val="50000"/>
                  </a:schemeClr>
                </a:solidFill>
                <a:latin typeface="Arial" panose="020B0604020202020204" pitchFamily="34" charset="0"/>
                <a:cs typeface="Arial" panose="020B0604020202020204" pitchFamily="34" charset="0"/>
              </a:rPr>
              <a:t> </a:t>
            </a:r>
            <a:r>
              <a:rPr lang="es-MX" sz="3600" dirty="0" err="1">
                <a:solidFill>
                  <a:schemeClr val="bg1">
                    <a:lumMod val="50000"/>
                  </a:schemeClr>
                </a:solidFill>
                <a:latin typeface="Arial" panose="020B0604020202020204" pitchFamily="34" charset="0"/>
                <a:cs typeface="Arial" panose="020B0604020202020204" pitchFamily="34" charset="0"/>
              </a:rPr>
              <a:t>Elimination</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C746CFDD-6FC3-5AA7-5C1D-362E2C5244F1}"/>
              </a:ext>
            </a:extLst>
          </p:cNvPr>
          <p:cNvSpPr txBox="1"/>
          <p:nvPr/>
        </p:nvSpPr>
        <p:spPr>
          <a:xfrm>
            <a:off x="754453" y="2566323"/>
            <a:ext cx="5393427" cy="2800767"/>
          </a:xfrm>
          <a:prstGeom prst="rect">
            <a:avLst/>
          </a:prstGeom>
          <a:noFill/>
          <a:ln>
            <a:noFill/>
          </a:ln>
        </p:spPr>
        <p:txBody>
          <a:bodyPr wrap="square" lIns="91440" tIns="45720" rIns="91440" bIns="45720" rtlCol="0" anchor="t">
            <a:spAutoFit/>
          </a:bodyPr>
          <a:lstStyle/>
          <a:p>
            <a:pPr algn="just"/>
            <a:r>
              <a:rPr lang="es-ES" sz="1600" dirty="0">
                <a:solidFill>
                  <a:schemeClr val="bg1"/>
                </a:solidFill>
                <a:latin typeface="+mn-lt"/>
                <a:ea typeface="Source Sans Pro"/>
              </a:rPr>
              <a:t>Con este método, se parte incorporando todos los predictores al modelo y definiendo un nivel de significancia (SL=0,05). Se ajusta el modelo y se toma aquel predictor que tenga el mayor valor P.</a:t>
            </a:r>
          </a:p>
          <a:p>
            <a:pPr algn="just"/>
            <a:endParaRPr lang="es-ES" sz="1600" dirty="0">
              <a:solidFill>
                <a:schemeClr val="bg1"/>
              </a:solidFill>
              <a:latin typeface="+mn-lt"/>
              <a:ea typeface="Source Sans Pro"/>
            </a:endParaRPr>
          </a:p>
          <a:p>
            <a:pPr algn="just"/>
            <a:r>
              <a:rPr lang="es-ES" sz="1600" dirty="0">
                <a:solidFill>
                  <a:schemeClr val="bg1"/>
                </a:solidFill>
                <a:latin typeface="+mn-lt"/>
                <a:ea typeface="Source Sans Pro"/>
              </a:rPr>
              <a:t>Si dicho valor P es mayor que el nivel de significancia, debemos eliminar la variable y volver a repetir el proceso.</a:t>
            </a:r>
          </a:p>
          <a:p>
            <a:pPr algn="just"/>
            <a:endParaRPr lang="es-ES" sz="1600" dirty="0">
              <a:solidFill>
                <a:schemeClr val="bg1"/>
              </a:solidFill>
              <a:latin typeface="+mn-lt"/>
              <a:ea typeface="Source Sans Pro"/>
            </a:endParaRPr>
          </a:p>
          <a:p>
            <a:pPr algn="just"/>
            <a:r>
              <a:rPr lang="es-ES" sz="1600" dirty="0">
                <a:solidFill>
                  <a:schemeClr val="bg1"/>
                </a:solidFill>
                <a:latin typeface="+mn-lt"/>
                <a:ea typeface="Source Sans Pro"/>
              </a:rPr>
              <a:t>El método finaliza cuando el valor P es menor que el nivel de significancia definido.</a:t>
            </a:r>
          </a:p>
          <a:p>
            <a:pPr algn="just"/>
            <a:endParaRPr lang="es-ES" sz="1600" dirty="0">
              <a:solidFill>
                <a:schemeClr val="bg1"/>
              </a:solidFill>
              <a:latin typeface="Source Sans Pro"/>
              <a:ea typeface="Source Sans Pro"/>
            </a:endParaRPr>
          </a:p>
        </p:txBody>
      </p:sp>
      <p:pic>
        <p:nvPicPr>
          <p:cNvPr id="19" name="Imagen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126" y="2614802"/>
            <a:ext cx="288000" cy="288000"/>
          </a:xfrm>
          <a:prstGeom prst="rect">
            <a:avLst/>
          </a:prstGeom>
        </p:spPr>
      </p:pic>
      <p:sp>
        <p:nvSpPr>
          <p:cNvPr id="20" name="Rectángulo redondeado 4">
            <a:extLst>
              <a:ext uri="{FF2B5EF4-FFF2-40B4-BE49-F238E27FC236}">
                <a16:creationId xmlns:a16="http://schemas.microsoft.com/office/drawing/2014/main" id="{EEF64A50-BFC1-6219-5B5B-FB92BB3A07A2}"/>
              </a:ext>
            </a:extLst>
          </p:cNvPr>
          <p:cNvSpPr/>
          <p:nvPr/>
        </p:nvSpPr>
        <p:spPr>
          <a:xfrm>
            <a:off x="6270841" y="950467"/>
            <a:ext cx="5461915" cy="4648011"/>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b="1" dirty="0"/>
          </a:p>
        </p:txBody>
      </p:sp>
      <p:sp>
        <p:nvSpPr>
          <p:cNvPr id="21" name="Rectángulo redondeado 20"/>
          <p:cNvSpPr/>
          <p:nvPr/>
        </p:nvSpPr>
        <p:spPr>
          <a:xfrm>
            <a:off x="8216549" y="1128272"/>
            <a:ext cx="1728192" cy="50405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t>Definir nivel de significancia (SL)</a:t>
            </a:r>
          </a:p>
        </p:txBody>
      </p:sp>
      <p:sp>
        <p:nvSpPr>
          <p:cNvPr id="22" name="Rectángulo redondeado 21"/>
          <p:cNvSpPr/>
          <p:nvPr/>
        </p:nvSpPr>
        <p:spPr>
          <a:xfrm>
            <a:off x="8216549" y="1989463"/>
            <a:ext cx="1728192" cy="50405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t>Ajustar el modelo con las variables</a:t>
            </a:r>
          </a:p>
        </p:txBody>
      </p:sp>
      <p:sp>
        <p:nvSpPr>
          <p:cNvPr id="23" name="Rectángulo redondeado 22"/>
          <p:cNvSpPr/>
          <p:nvPr/>
        </p:nvSpPr>
        <p:spPr>
          <a:xfrm>
            <a:off x="8216549" y="2850654"/>
            <a:ext cx="1728192" cy="50405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t>Fijarse en el predictor con mayor valor P</a:t>
            </a:r>
          </a:p>
        </p:txBody>
      </p:sp>
      <p:sp>
        <p:nvSpPr>
          <p:cNvPr id="24" name="Decisión 23"/>
          <p:cNvSpPr/>
          <p:nvPr/>
        </p:nvSpPr>
        <p:spPr>
          <a:xfrm>
            <a:off x="8246346" y="3711845"/>
            <a:ext cx="1668598" cy="797898"/>
          </a:xfrm>
          <a:prstGeom prst="flowChartDecisi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t>¿Es  p &gt; SL?</a:t>
            </a:r>
          </a:p>
        </p:txBody>
      </p:sp>
      <p:cxnSp>
        <p:nvCxnSpPr>
          <p:cNvPr id="25" name="Conector recto de flecha 24"/>
          <p:cNvCxnSpPr>
            <a:stCxn id="21" idx="2"/>
            <a:endCxn id="22" idx="0"/>
          </p:cNvCxnSpPr>
          <p:nvPr/>
        </p:nvCxnSpPr>
        <p:spPr>
          <a:xfrm>
            <a:off x="9080645" y="1632329"/>
            <a:ext cx="0" cy="357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p:cNvCxnSpPr>
            <a:stCxn id="22" idx="2"/>
            <a:endCxn id="23" idx="0"/>
          </p:cNvCxnSpPr>
          <p:nvPr/>
        </p:nvCxnSpPr>
        <p:spPr>
          <a:xfrm>
            <a:off x="9080645" y="2493520"/>
            <a:ext cx="0" cy="357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p:cNvCxnSpPr>
            <a:stCxn id="23" idx="2"/>
            <a:endCxn id="24" idx="0"/>
          </p:cNvCxnSpPr>
          <p:nvPr/>
        </p:nvCxnSpPr>
        <p:spPr>
          <a:xfrm>
            <a:off x="9080645" y="3354711"/>
            <a:ext cx="0" cy="357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ángulo redondeado 27"/>
          <p:cNvSpPr/>
          <p:nvPr/>
        </p:nvSpPr>
        <p:spPr>
          <a:xfrm>
            <a:off x="6704381" y="4903755"/>
            <a:ext cx="1728192" cy="50405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t>Remover el predictor</a:t>
            </a:r>
          </a:p>
        </p:txBody>
      </p:sp>
      <p:cxnSp>
        <p:nvCxnSpPr>
          <p:cNvPr id="29" name="Conector angular 28"/>
          <p:cNvCxnSpPr>
            <a:stCxn id="24" idx="1"/>
          </p:cNvCxnSpPr>
          <p:nvPr/>
        </p:nvCxnSpPr>
        <p:spPr>
          <a:xfrm rot="10800000" flipV="1">
            <a:off x="7568479" y="4110794"/>
            <a:ext cx="677869" cy="7560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ángulo redondeado 29"/>
          <p:cNvSpPr/>
          <p:nvPr/>
        </p:nvSpPr>
        <p:spPr>
          <a:xfrm>
            <a:off x="9800725" y="4903755"/>
            <a:ext cx="1728192" cy="50405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a:t>FIN</a:t>
            </a:r>
          </a:p>
        </p:txBody>
      </p:sp>
      <p:cxnSp>
        <p:nvCxnSpPr>
          <p:cNvPr id="31" name="Conector angular 30"/>
          <p:cNvCxnSpPr>
            <a:stCxn id="24" idx="3"/>
            <a:endCxn id="30" idx="0"/>
          </p:cNvCxnSpPr>
          <p:nvPr/>
        </p:nvCxnSpPr>
        <p:spPr>
          <a:xfrm>
            <a:off x="9914945" y="4110795"/>
            <a:ext cx="749877" cy="7929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p:cNvCxnSpPr>
            <a:stCxn id="28" idx="1"/>
            <a:endCxn id="22" idx="1"/>
          </p:cNvCxnSpPr>
          <p:nvPr/>
        </p:nvCxnSpPr>
        <p:spPr>
          <a:xfrm rot="10800000" flipH="1">
            <a:off x="6704381" y="2241491"/>
            <a:ext cx="1512168" cy="2914292"/>
          </a:xfrm>
          <a:prstGeom prst="bentConnector3">
            <a:avLst>
              <a:gd name="adj1" fmla="val -15117"/>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CuadroTexto 32"/>
          <p:cNvSpPr txBox="1"/>
          <p:nvPr/>
        </p:nvSpPr>
        <p:spPr>
          <a:xfrm>
            <a:off x="7784501" y="3772901"/>
            <a:ext cx="432048" cy="307777"/>
          </a:xfrm>
          <a:prstGeom prst="rect">
            <a:avLst/>
          </a:prstGeom>
          <a:noFill/>
        </p:spPr>
        <p:txBody>
          <a:bodyPr wrap="square" rtlCol="0">
            <a:spAutoFit/>
          </a:bodyPr>
          <a:lstStyle/>
          <a:p>
            <a:r>
              <a:rPr lang="es-CL" sz="1400" dirty="0"/>
              <a:t>Sí</a:t>
            </a:r>
          </a:p>
        </p:txBody>
      </p:sp>
      <p:sp>
        <p:nvSpPr>
          <p:cNvPr id="34" name="CuadroTexto 33"/>
          <p:cNvSpPr txBox="1"/>
          <p:nvPr/>
        </p:nvSpPr>
        <p:spPr>
          <a:xfrm>
            <a:off x="10130968" y="3803018"/>
            <a:ext cx="432048" cy="307777"/>
          </a:xfrm>
          <a:prstGeom prst="rect">
            <a:avLst/>
          </a:prstGeom>
          <a:noFill/>
        </p:spPr>
        <p:txBody>
          <a:bodyPr wrap="square" rtlCol="0">
            <a:spAutoFit/>
          </a:bodyPr>
          <a:lstStyle/>
          <a:p>
            <a:r>
              <a:rPr lang="es-CL" sz="1400" dirty="0"/>
              <a:t>No</a:t>
            </a:r>
          </a:p>
        </p:txBody>
      </p:sp>
      <p:pic>
        <p:nvPicPr>
          <p:cNvPr id="35" name="Imagen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126" y="3803018"/>
            <a:ext cx="288000" cy="288000"/>
          </a:xfrm>
          <a:prstGeom prst="rect">
            <a:avLst/>
          </a:prstGeom>
        </p:spPr>
      </p:pic>
      <p:pic>
        <p:nvPicPr>
          <p:cNvPr id="36" name="Imagen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4429" y="4542628"/>
            <a:ext cx="288000" cy="288000"/>
          </a:xfrm>
          <a:prstGeom prst="rect">
            <a:avLst/>
          </a:prstGeom>
        </p:spPr>
      </p:pic>
    </p:spTree>
    <p:extLst>
      <p:ext uri="{BB962C8B-B14F-4D97-AF65-F5344CB8AC3E}">
        <p14:creationId xmlns:p14="http://schemas.microsoft.com/office/powerpoint/2010/main" val="3585803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12" name="Rectángulo redondeado 11"/>
          <p:cNvSpPr/>
          <p:nvPr/>
        </p:nvSpPr>
        <p:spPr>
          <a:xfrm>
            <a:off x="-213314" y="1188890"/>
            <a:ext cx="12664718" cy="1228401"/>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ES_tradnl">
              <a:solidFill>
                <a:schemeClr val="bg1"/>
              </a:solidFill>
            </a:endParaRPr>
          </a:p>
        </p:txBody>
      </p:sp>
      <p:sp>
        <p:nvSpPr>
          <p:cNvPr id="3" name="Título 1"/>
          <p:cNvSpPr txBox="1">
            <a:spLocks/>
          </p:cNvSpPr>
          <p:nvPr/>
        </p:nvSpPr>
        <p:spPr bwMode="auto">
          <a:xfrm>
            <a:off x="1070041" y="457119"/>
            <a:ext cx="10549152" cy="72422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Prueba de Hipótesis y valor P</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1070042" y="2665379"/>
            <a:ext cx="10126495" cy="2928026"/>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mc:AlternateContent xmlns:mc="http://schemas.openxmlformats.org/markup-compatibility/2006" xmlns:a14="http://schemas.microsoft.com/office/drawing/2010/main">
        <mc:Choice Requires="a14">
          <p:sp>
            <p:nvSpPr>
              <p:cNvPr id="22" name="CuadroTexto 21"/>
              <p:cNvSpPr txBox="1"/>
              <p:nvPr/>
            </p:nvSpPr>
            <p:spPr>
              <a:xfrm>
                <a:off x="4630722" y="3303943"/>
                <a:ext cx="2165789"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a:latin typeface="Cambria Math" panose="02040503050406030204" pitchFamily="18" charset="0"/>
                            </a:rPr>
                          </m:ctrlPr>
                        </m:sSubPr>
                        <m:e>
                          <m:r>
                            <a:rPr lang="es-CL" i="1">
                              <a:latin typeface="Cambria Math" panose="02040503050406030204" pitchFamily="18" charset="0"/>
                            </a:rPr>
                            <m:t>𝐻</m:t>
                          </m:r>
                        </m:e>
                        <m:sub>
                          <m:r>
                            <a:rPr lang="es-CL" i="1">
                              <a:latin typeface="Cambria Math" panose="02040503050406030204" pitchFamily="18" charset="0"/>
                            </a:rPr>
                            <m:t>0</m:t>
                          </m:r>
                        </m:sub>
                      </m:sSub>
                      <m:r>
                        <a:rPr lang="es-CL">
                          <a:latin typeface="Cambria Math" panose="02040503050406030204" pitchFamily="18" charset="0"/>
                        </a:rPr>
                        <m:t>: </m:t>
                      </m:r>
                      <m:sSub>
                        <m:sSubPr>
                          <m:ctrlPr>
                            <a:rPr lang="es-CL"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β</m:t>
                          </m:r>
                        </m:e>
                        <m:sub>
                          <m:r>
                            <a:rPr lang="es-CL" i="1">
                              <a:latin typeface="Cambria Math" panose="02040503050406030204" pitchFamily="18" charset="0"/>
                            </a:rPr>
                            <m:t>1</m:t>
                          </m:r>
                        </m:sub>
                      </m:sSub>
                      <m:r>
                        <a:rPr lang="es-CL" i="1">
                          <a:latin typeface="Cambria Math" panose="02040503050406030204" pitchFamily="18" charset="0"/>
                        </a:rPr>
                        <m:t>=0</m:t>
                      </m:r>
                    </m:oMath>
                  </m:oMathPara>
                </a14:m>
                <a:endParaRPr lang="es-CL" dirty="0"/>
              </a:p>
              <a:p>
                <a:pPr/>
                <a14:m>
                  <m:oMathPara xmlns:m="http://schemas.openxmlformats.org/officeDocument/2006/math">
                    <m:oMathParaPr>
                      <m:jc m:val="centerGroup"/>
                    </m:oMathParaPr>
                    <m:oMath xmlns:m="http://schemas.openxmlformats.org/officeDocument/2006/math">
                      <m:sSub>
                        <m:sSubPr>
                          <m:ctrlPr>
                            <a:rPr lang="es-CL" i="1">
                              <a:latin typeface="Cambria Math" panose="02040503050406030204" pitchFamily="18" charset="0"/>
                            </a:rPr>
                          </m:ctrlPr>
                        </m:sSubPr>
                        <m:e>
                          <m:r>
                            <a:rPr lang="es-CL" i="1">
                              <a:latin typeface="Cambria Math" panose="02040503050406030204" pitchFamily="18" charset="0"/>
                            </a:rPr>
                            <m:t>𝐻</m:t>
                          </m:r>
                        </m:e>
                        <m:sub>
                          <m:r>
                            <a:rPr lang="es-CL" i="1">
                              <a:latin typeface="Cambria Math" panose="02040503050406030204" pitchFamily="18" charset="0"/>
                            </a:rPr>
                            <m:t>1</m:t>
                          </m:r>
                        </m:sub>
                      </m:sSub>
                      <m:r>
                        <a:rPr lang="es-CL">
                          <a:latin typeface="Cambria Math" panose="02040503050406030204" pitchFamily="18" charset="0"/>
                        </a:rPr>
                        <m:t>: </m:t>
                      </m:r>
                      <m:sSub>
                        <m:sSubPr>
                          <m:ctrlPr>
                            <a:rPr lang="es-CL"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β</m:t>
                          </m:r>
                        </m:e>
                        <m:sub>
                          <m:r>
                            <a:rPr lang="es-CL" i="1">
                              <a:latin typeface="Cambria Math" panose="02040503050406030204" pitchFamily="18" charset="0"/>
                            </a:rPr>
                            <m:t>1</m:t>
                          </m:r>
                        </m:sub>
                      </m:sSub>
                      <m:r>
                        <a:rPr lang="es-CL" i="1">
                          <a:latin typeface="Cambria Math" panose="02040503050406030204" pitchFamily="18" charset="0"/>
                          <a:ea typeface="Cambria Math" panose="02040503050406030204" pitchFamily="18" charset="0"/>
                        </a:rPr>
                        <m:t>≠</m:t>
                      </m:r>
                      <m:r>
                        <a:rPr lang="es-CL" i="1">
                          <a:latin typeface="Cambria Math" panose="02040503050406030204" pitchFamily="18" charset="0"/>
                        </a:rPr>
                        <m:t>0</m:t>
                      </m:r>
                    </m:oMath>
                  </m:oMathPara>
                </a14:m>
                <a:endParaRPr lang="es-CL" dirty="0"/>
              </a:p>
            </p:txBody>
          </p:sp>
        </mc:Choice>
        <mc:Fallback xmlns="">
          <p:sp>
            <p:nvSpPr>
              <p:cNvPr id="22" name="CuadroTexto 21"/>
              <p:cNvSpPr txBox="1">
                <a:spLocks noRot="1" noChangeAspect="1" noMove="1" noResize="1" noEditPoints="1" noAdjustHandles="1" noChangeArrowheads="1" noChangeShapeType="1" noTextEdit="1"/>
              </p:cNvSpPr>
              <p:nvPr/>
            </p:nvSpPr>
            <p:spPr>
              <a:xfrm>
                <a:off x="4630722" y="3303943"/>
                <a:ext cx="2165789" cy="553998"/>
              </a:xfrm>
              <a:prstGeom prst="rect">
                <a:avLst/>
              </a:prstGeom>
              <a:blipFill>
                <a:blip r:embed="rId3"/>
                <a:stretch>
                  <a:fillRect t="-1099" b="-16484"/>
                </a:stretch>
              </a:blipFill>
            </p:spPr>
            <p:txBody>
              <a:bodyPr/>
              <a:lstStyle/>
              <a:p>
                <a:r>
                  <a:rPr lang="en-US">
                    <a:noFill/>
                  </a:rPr>
                  <a:t> </a:t>
                </a:r>
              </a:p>
            </p:txBody>
          </p:sp>
        </mc:Fallback>
      </mc:AlternateContent>
      <p:sp>
        <p:nvSpPr>
          <p:cNvPr id="23" name="CuadroTexto 22"/>
          <p:cNvSpPr txBox="1"/>
          <p:nvPr/>
        </p:nvSpPr>
        <p:spPr>
          <a:xfrm>
            <a:off x="2937650" y="3407617"/>
            <a:ext cx="2345169" cy="338554"/>
          </a:xfrm>
          <a:prstGeom prst="rect">
            <a:avLst/>
          </a:prstGeom>
          <a:noFill/>
        </p:spPr>
        <p:txBody>
          <a:bodyPr wrap="square" rtlCol="0">
            <a:spAutoFit/>
          </a:bodyPr>
          <a:lstStyle/>
          <a:p>
            <a:r>
              <a:rPr lang="es-CL" sz="1600" dirty="0">
                <a:latin typeface="Source Sans Pro" panose="020B0503030403020204" pitchFamily="34" charset="0"/>
              </a:rPr>
              <a:t>Prueba de  hipótesis:</a:t>
            </a:r>
          </a:p>
        </p:txBody>
      </p:sp>
      <p:cxnSp>
        <p:nvCxnSpPr>
          <p:cNvPr id="24" name="Conector recto de flecha 23"/>
          <p:cNvCxnSpPr/>
          <p:nvPr/>
        </p:nvCxnSpPr>
        <p:spPr>
          <a:xfrm flipH="1">
            <a:off x="6380145" y="3203890"/>
            <a:ext cx="983096" cy="242308"/>
          </a:xfrm>
          <a:prstGeom prst="straightConnector1">
            <a:avLst/>
          </a:prstGeom>
          <a:ln w="12700">
            <a:solidFill>
              <a:srgbClr val="983275"/>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CuadroTexto 24"/>
          <p:cNvSpPr txBox="1"/>
          <p:nvPr/>
        </p:nvSpPr>
        <p:spPr>
          <a:xfrm>
            <a:off x="7390946" y="2868011"/>
            <a:ext cx="2027087" cy="584775"/>
          </a:xfrm>
          <a:prstGeom prst="rect">
            <a:avLst/>
          </a:prstGeom>
          <a:noFill/>
        </p:spPr>
        <p:txBody>
          <a:bodyPr wrap="square" rtlCol="0">
            <a:spAutoFit/>
          </a:bodyPr>
          <a:lstStyle/>
          <a:p>
            <a:pPr algn="ctr"/>
            <a:r>
              <a:rPr lang="es-CL" sz="1600" dirty="0">
                <a:latin typeface="Source Sans Pro" panose="020B0503030403020204" pitchFamily="34" charset="0"/>
              </a:rPr>
              <a:t>No existe relación entre x e y</a:t>
            </a:r>
          </a:p>
        </p:txBody>
      </p:sp>
      <p:cxnSp>
        <p:nvCxnSpPr>
          <p:cNvPr id="26" name="Conector recto de flecha 25"/>
          <p:cNvCxnSpPr/>
          <p:nvPr/>
        </p:nvCxnSpPr>
        <p:spPr>
          <a:xfrm flipH="1" flipV="1">
            <a:off x="6407850" y="3746172"/>
            <a:ext cx="983096" cy="270145"/>
          </a:xfrm>
          <a:prstGeom prst="straightConnector1">
            <a:avLst/>
          </a:prstGeom>
          <a:ln w="12700">
            <a:solidFill>
              <a:srgbClr val="983275"/>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CuadroTexto 26"/>
          <p:cNvSpPr txBox="1"/>
          <p:nvPr/>
        </p:nvSpPr>
        <p:spPr>
          <a:xfrm>
            <a:off x="7390946" y="3815823"/>
            <a:ext cx="2027087" cy="584775"/>
          </a:xfrm>
          <a:prstGeom prst="rect">
            <a:avLst/>
          </a:prstGeom>
          <a:noFill/>
        </p:spPr>
        <p:txBody>
          <a:bodyPr wrap="square" rtlCol="0">
            <a:spAutoFit/>
          </a:bodyPr>
          <a:lstStyle/>
          <a:p>
            <a:pPr algn="ctr"/>
            <a:r>
              <a:rPr lang="es-CL" sz="1600" dirty="0">
                <a:latin typeface="Source Sans Pro" panose="020B0503030403020204" pitchFamily="34" charset="0"/>
              </a:rPr>
              <a:t>Existe alguna relación entre x e y</a:t>
            </a:r>
          </a:p>
        </p:txBody>
      </p:sp>
      <p:sp>
        <p:nvSpPr>
          <p:cNvPr id="28" name="CuadroTexto 27"/>
          <p:cNvSpPr txBox="1"/>
          <p:nvPr/>
        </p:nvSpPr>
        <p:spPr>
          <a:xfrm>
            <a:off x="1188415" y="4868230"/>
            <a:ext cx="9892145" cy="584775"/>
          </a:xfrm>
          <a:prstGeom prst="rect">
            <a:avLst/>
          </a:prstGeom>
          <a:noFill/>
          <a:ln>
            <a:noFill/>
          </a:ln>
        </p:spPr>
        <p:txBody>
          <a:bodyPr wrap="square" rtlCol="0">
            <a:spAutoFit/>
          </a:bodyPr>
          <a:lstStyle/>
          <a:p>
            <a:pPr algn="just"/>
            <a:r>
              <a:rPr lang="es-CL" sz="1600" dirty="0">
                <a:solidFill>
                  <a:schemeClr val="bg1">
                    <a:lumMod val="50000"/>
                  </a:schemeClr>
                </a:solidFill>
                <a:latin typeface="Source Sans Pro" panose="020B0503030403020204" pitchFamily="34" charset="0"/>
              </a:rPr>
              <a:t>En un modelo regresivo, la hipótesis plantea que la pendiente b1 es significativamente diferente de cero, es decir, que existe una relación entre la variable x e y.</a:t>
            </a:r>
          </a:p>
        </p:txBody>
      </p:sp>
      <p:sp>
        <p:nvSpPr>
          <p:cNvPr id="2" name="CuadroTexto 1"/>
          <p:cNvSpPr txBox="1"/>
          <p:nvPr/>
        </p:nvSpPr>
        <p:spPr>
          <a:xfrm>
            <a:off x="1070041" y="1348066"/>
            <a:ext cx="10126495" cy="923330"/>
          </a:xfrm>
          <a:prstGeom prst="rect">
            <a:avLst/>
          </a:prstGeom>
          <a:noFill/>
        </p:spPr>
        <p:txBody>
          <a:bodyPr wrap="square" lIns="91440" tIns="45720" rIns="91440" bIns="45720" rtlCol="0" anchor="t">
            <a:spAutoFit/>
          </a:bodyPr>
          <a:lstStyle/>
          <a:p>
            <a:pPr algn="just" eaLnBrk="1" fontAlgn="auto" hangingPunct="1">
              <a:lnSpc>
                <a:spcPct val="100000"/>
              </a:lnSpc>
              <a:spcAft>
                <a:spcPts val="0"/>
              </a:spcAft>
              <a:defRPr/>
            </a:pPr>
            <a:r>
              <a:rPr lang="es-ES" dirty="0">
                <a:solidFill>
                  <a:schemeClr val="bg1"/>
                </a:solidFill>
                <a:latin typeface="+mn-lt"/>
              </a:rPr>
              <a:t>Una </a:t>
            </a:r>
            <a:r>
              <a:rPr lang="es-ES" b="1" dirty="0">
                <a:solidFill>
                  <a:schemeClr val="bg1"/>
                </a:solidFill>
                <a:latin typeface="+mn-lt"/>
              </a:rPr>
              <a:t>hipótesis estadística</a:t>
            </a:r>
            <a:r>
              <a:rPr lang="es-ES" dirty="0">
                <a:solidFill>
                  <a:schemeClr val="bg1"/>
                </a:solidFill>
                <a:latin typeface="+mn-lt"/>
              </a:rPr>
              <a:t> es una afirmación sobre los valores de los parámetros de una población, que es susceptible de probarse a partir de la información contenida en una muestra representativa que es obtenida de la población</a:t>
            </a:r>
            <a:r>
              <a:rPr lang="es-ES" dirty="0">
                <a:solidFill>
                  <a:schemeClr val="bg1">
                    <a:lumMod val="50000"/>
                  </a:schemeClr>
                </a:solidFill>
                <a:latin typeface="+mn-lt"/>
              </a:rPr>
              <a:t>.</a:t>
            </a:r>
          </a:p>
        </p:txBody>
      </p:sp>
    </p:spTree>
    <p:extLst>
      <p:ext uri="{BB962C8B-B14F-4D97-AF65-F5344CB8AC3E}">
        <p14:creationId xmlns:p14="http://schemas.microsoft.com/office/powerpoint/2010/main" val="295583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6" name="Rectángulo redondeado 5"/>
          <p:cNvSpPr/>
          <p:nvPr/>
        </p:nvSpPr>
        <p:spPr>
          <a:xfrm>
            <a:off x="-169771" y="1075220"/>
            <a:ext cx="12555388" cy="1523841"/>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s-ES_tradnl">
              <a:solidFill>
                <a:schemeClr val="bg1"/>
              </a:solidFill>
            </a:endParaRPr>
          </a:p>
        </p:txBody>
      </p:sp>
      <p:sp>
        <p:nvSpPr>
          <p:cNvPr id="3" name="Título 1"/>
          <p:cNvSpPr txBox="1">
            <a:spLocks/>
          </p:cNvSpPr>
          <p:nvPr/>
        </p:nvSpPr>
        <p:spPr bwMode="auto">
          <a:xfrm>
            <a:off x="1617628" y="357739"/>
            <a:ext cx="10782300" cy="126678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Source Sans Pro" panose="020B0503030403020204" pitchFamily="34" charset="0"/>
              </a:rPr>
              <a:t>Prueba de Hipótesis y valor P</a:t>
            </a:r>
          </a:p>
          <a:p>
            <a:pPr eaLnBrk="1" fontAlgn="auto" hangingPunct="1">
              <a:lnSpc>
                <a:spcPct val="150000"/>
              </a:lnSpc>
              <a:spcAft>
                <a:spcPts val="0"/>
              </a:spcAft>
              <a:defRPr/>
            </a:pPr>
            <a:endParaRPr lang="es-MX" sz="3200" dirty="0">
              <a:solidFill>
                <a:schemeClr val="bg1">
                  <a:lumMod val="50000"/>
                </a:schemeClr>
              </a:solidFill>
              <a:latin typeface="Source Sans Pro" panose="020B0503030403020204" pitchFamily="34" charset="0"/>
            </a:endParaRPr>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1617628" y="2802714"/>
            <a:ext cx="5789873" cy="3632872"/>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2" name="CuadroTexto 1"/>
          <p:cNvSpPr txBox="1"/>
          <p:nvPr/>
        </p:nvSpPr>
        <p:spPr>
          <a:xfrm>
            <a:off x="1617628" y="1293779"/>
            <a:ext cx="9462175" cy="1200329"/>
          </a:xfrm>
          <a:prstGeom prst="rect">
            <a:avLst/>
          </a:prstGeom>
          <a:noFill/>
        </p:spPr>
        <p:txBody>
          <a:bodyPr wrap="square" rtlCol="0">
            <a:spAutoFit/>
          </a:bodyPr>
          <a:lstStyle/>
          <a:p>
            <a:pPr algn="just" eaLnBrk="1" fontAlgn="auto" hangingPunct="1">
              <a:lnSpc>
                <a:spcPct val="100000"/>
              </a:lnSpc>
              <a:spcAft>
                <a:spcPts val="0"/>
              </a:spcAft>
              <a:defRPr/>
            </a:pPr>
            <a:r>
              <a:rPr lang="es-ES" dirty="0">
                <a:solidFill>
                  <a:schemeClr val="bg1"/>
                </a:solidFill>
                <a:latin typeface="+mn-lt"/>
              </a:rPr>
              <a:t>El valor de p (p-</a:t>
            </a:r>
            <a:r>
              <a:rPr lang="es-ES" dirty="0" err="1">
                <a:solidFill>
                  <a:schemeClr val="bg1"/>
                </a:solidFill>
                <a:latin typeface="+mn-lt"/>
              </a:rPr>
              <a:t>value</a:t>
            </a:r>
            <a:r>
              <a:rPr lang="es-ES" dirty="0">
                <a:solidFill>
                  <a:schemeClr val="bg1"/>
                </a:solidFill>
                <a:latin typeface="+mn-lt"/>
              </a:rPr>
              <a:t>) se define como la probabilidad correspondiente al estadístico de ser posible bajo la hipótesis nula. Si cumple con la condición de ser menor al nivel de significancia impuesto arbitrariamente, entonces la hipótesis nula será, eventualmente, rechazada. (valor del estadístico calculado).</a:t>
            </a:r>
          </a:p>
        </p:txBody>
      </p:sp>
      <p:sp>
        <p:nvSpPr>
          <p:cNvPr id="5" name="CuadroTexto 4">
            <a:extLst>
              <a:ext uri="{FF2B5EF4-FFF2-40B4-BE49-F238E27FC236}">
                <a16:creationId xmlns:a16="http://schemas.microsoft.com/office/drawing/2014/main" id="{8DF3FDDC-5E95-4CBB-2DE3-3AF7AD1CD1F0}"/>
              </a:ext>
            </a:extLst>
          </p:cNvPr>
          <p:cNvSpPr txBox="1"/>
          <p:nvPr/>
        </p:nvSpPr>
        <p:spPr>
          <a:xfrm>
            <a:off x="7872243" y="3428595"/>
            <a:ext cx="3401538" cy="1323439"/>
          </a:xfrm>
          <a:prstGeom prst="rect">
            <a:avLst/>
          </a:prstGeom>
          <a:solidFill>
            <a:schemeClr val="bg1">
              <a:lumMod val="95000"/>
            </a:schemeClr>
          </a:solidFill>
          <a:ln>
            <a:solidFill>
              <a:schemeClr val="bg1">
                <a:lumMod val="85000"/>
              </a:schemeClr>
            </a:solidFill>
          </a:ln>
        </p:spPr>
        <p:txBody>
          <a:bodyPr wrap="square" lIns="91440" tIns="45720" rIns="91440" bIns="45720" rtlCol="0" anchor="t">
            <a:spAutoFit/>
          </a:bodyPr>
          <a:lstStyle/>
          <a:p>
            <a:pPr algn="just"/>
            <a:r>
              <a:rPr lang="es-CL" sz="1600" dirty="0">
                <a:solidFill>
                  <a:schemeClr val="bg1">
                    <a:lumMod val="50000"/>
                  </a:schemeClr>
                </a:solidFill>
                <a:latin typeface="Source Sans Pro"/>
                <a:ea typeface="Source Sans Pro"/>
              </a:rPr>
              <a:t>Un valor de p (área sombreada de verde) es la probabilidad de un resultado observado (o más extremo) asumiendo que la hipótesis nula es cierta o verdadera.</a:t>
            </a:r>
          </a:p>
        </p:txBody>
      </p:sp>
      <p:cxnSp>
        <p:nvCxnSpPr>
          <p:cNvPr id="7" name="Conector recto de flecha 6">
            <a:extLst>
              <a:ext uri="{FF2B5EF4-FFF2-40B4-BE49-F238E27FC236}">
                <a16:creationId xmlns:a16="http://schemas.microsoft.com/office/drawing/2014/main" id="{32F49A58-47E3-5218-4ECC-1685942689C3}"/>
              </a:ext>
            </a:extLst>
          </p:cNvPr>
          <p:cNvCxnSpPr/>
          <p:nvPr/>
        </p:nvCxnSpPr>
        <p:spPr>
          <a:xfrm flipV="1">
            <a:off x="7021285" y="4714875"/>
            <a:ext cx="802821" cy="1143000"/>
          </a:xfrm>
          <a:prstGeom prst="straightConnector1">
            <a:avLst/>
          </a:prstGeom>
          <a:ln>
            <a:solidFill>
              <a:srgbClr val="983275"/>
            </a:solidFill>
            <a:tailEnd type="triangle"/>
          </a:ln>
        </p:spPr>
        <p:style>
          <a:lnRef idx="1">
            <a:schemeClr val="accent1"/>
          </a:lnRef>
          <a:fillRef idx="0">
            <a:schemeClr val="accent1"/>
          </a:fillRef>
          <a:effectRef idx="0">
            <a:schemeClr val="accent1"/>
          </a:effectRef>
          <a:fontRef idx="minor">
            <a:schemeClr val="tx1"/>
          </a:fontRef>
        </p:style>
      </p:cxnSp>
      <p:pic>
        <p:nvPicPr>
          <p:cNvPr id="13" name="Imagen 12" descr="Texto&#10;&#10;Descripción generada automáticamente">
            <a:extLst>
              <a:ext uri="{FF2B5EF4-FFF2-40B4-BE49-F238E27FC236}">
                <a16:creationId xmlns:a16="http://schemas.microsoft.com/office/drawing/2014/main" id="{F56ABF36-0D7A-7CB1-3B26-E5D77B123C61}"/>
              </a:ext>
            </a:extLst>
          </p:cNvPr>
          <p:cNvPicPr>
            <a:picLocks noChangeAspect="1"/>
          </p:cNvPicPr>
          <p:nvPr/>
        </p:nvPicPr>
        <p:blipFill>
          <a:blip r:embed="rId3"/>
          <a:stretch>
            <a:fillRect/>
          </a:stretch>
        </p:blipFill>
        <p:spPr>
          <a:xfrm>
            <a:off x="1900238" y="2964996"/>
            <a:ext cx="5234668" cy="3301093"/>
          </a:xfrm>
          <a:prstGeom prst="rect">
            <a:avLst/>
          </a:prstGeom>
        </p:spPr>
      </p:pic>
    </p:spTree>
    <p:extLst>
      <p:ext uri="{BB962C8B-B14F-4D97-AF65-F5344CB8AC3E}">
        <p14:creationId xmlns:p14="http://schemas.microsoft.com/office/powerpoint/2010/main" val="341257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6" name="Rectángulo redondeado 5"/>
          <p:cNvSpPr/>
          <p:nvPr/>
        </p:nvSpPr>
        <p:spPr>
          <a:xfrm>
            <a:off x="-175561" y="1586877"/>
            <a:ext cx="4816118" cy="3921668"/>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ítulo 1"/>
          <p:cNvSpPr txBox="1">
            <a:spLocks/>
          </p:cNvSpPr>
          <p:nvPr/>
        </p:nvSpPr>
        <p:spPr bwMode="auto">
          <a:xfrm>
            <a:off x="822971" y="498096"/>
            <a:ext cx="3663043" cy="498295"/>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00000"/>
              </a:lnSpc>
              <a:spcAft>
                <a:spcPts val="0"/>
              </a:spcAft>
              <a:defRPr/>
            </a:pPr>
            <a:r>
              <a:rPr lang="es-ES" sz="3200" dirty="0">
                <a:solidFill>
                  <a:schemeClr val="bg1">
                    <a:lumMod val="50000"/>
                  </a:schemeClr>
                </a:solidFill>
                <a:latin typeface="Arial"/>
                <a:cs typeface="Arial"/>
              </a:rPr>
              <a:t>Seleccionando el modelo en Python</a:t>
            </a:r>
            <a:endParaRPr lang="es-ES" sz="3200" dirty="0">
              <a:solidFill>
                <a:schemeClr val="bg1">
                  <a:lumMod val="50000"/>
                </a:schemeClr>
              </a:solidFill>
              <a:latin typeface="Arial" panose="020B0604020202020204" pitchFamily="34" charset="0"/>
              <a:cs typeface="Arial" panose="020B0604020202020204" pitchFamily="34" charset="0"/>
            </a:endParaRPr>
          </a:p>
        </p:txBody>
      </p:sp>
      <p:sp>
        <p:nvSpPr>
          <p:cNvPr id="4" name="CuadroTexto 3"/>
          <p:cNvSpPr txBox="1"/>
          <p:nvPr/>
        </p:nvSpPr>
        <p:spPr>
          <a:xfrm>
            <a:off x="822970" y="1748264"/>
            <a:ext cx="3658990" cy="1200329"/>
          </a:xfrm>
          <a:prstGeom prst="rect">
            <a:avLst/>
          </a:prstGeom>
          <a:noFill/>
        </p:spPr>
        <p:txBody>
          <a:bodyPr wrap="square" rtlCol="0">
            <a:spAutoFit/>
          </a:bodyPr>
          <a:lstStyle/>
          <a:p>
            <a:pPr algn="just"/>
            <a:r>
              <a:rPr lang="es-ES" dirty="0">
                <a:solidFill>
                  <a:schemeClr val="bg1"/>
                </a:solidFill>
                <a:latin typeface="+mn-lt"/>
              </a:rPr>
              <a:t>Para realizar la selección del modelo con el método </a:t>
            </a:r>
            <a:r>
              <a:rPr lang="es-ES" dirty="0" err="1">
                <a:solidFill>
                  <a:schemeClr val="bg1"/>
                </a:solidFill>
                <a:latin typeface="+mn-lt"/>
              </a:rPr>
              <a:t>Backward</a:t>
            </a:r>
            <a:r>
              <a:rPr lang="es-ES" dirty="0">
                <a:solidFill>
                  <a:schemeClr val="bg1"/>
                </a:solidFill>
                <a:latin typeface="+mn-lt"/>
              </a:rPr>
              <a:t> </a:t>
            </a:r>
            <a:r>
              <a:rPr lang="es-ES" dirty="0" err="1">
                <a:solidFill>
                  <a:schemeClr val="bg1"/>
                </a:solidFill>
                <a:latin typeface="+mn-lt"/>
              </a:rPr>
              <a:t>Elimination</a:t>
            </a:r>
            <a:r>
              <a:rPr lang="es-ES" dirty="0">
                <a:solidFill>
                  <a:schemeClr val="bg1"/>
                </a:solidFill>
                <a:latin typeface="+mn-lt"/>
              </a:rPr>
              <a:t>, primeramente incluiremos todas las variables en el modelo.</a:t>
            </a:r>
            <a:endParaRPr lang="en-US" dirty="0">
              <a:solidFill>
                <a:schemeClr val="bg1"/>
              </a:solidFill>
              <a:latin typeface="+mn-lt"/>
            </a:endParaRPr>
          </a:p>
        </p:txBody>
      </p:sp>
      <p:sp>
        <p:nvSpPr>
          <p:cNvPr id="8" name="Rectángulo redondeado 4">
            <a:extLst>
              <a:ext uri="{FF2B5EF4-FFF2-40B4-BE49-F238E27FC236}">
                <a16:creationId xmlns:a16="http://schemas.microsoft.com/office/drawing/2014/main" id="{F54B704E-F625-E3FA-92EA-8240924D3BF1}"/>
              </a:ext>
            </a:extLst>
          </p:cNvPr>
          <p:cNvSpPr/>
          <p:nvPr/>
        </p:nvSpPr>
        <p:spPr>
          <a:xfrm>
            <a:off x="4950683" y="604787"/>
            <a:ext cx="6426511" cy="5684840"/>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9" name="Imagen 8"/>
          <p:cNvPicPr>
            <a:picLocks noChangeAspect="1"/>
          </p:cNvPicPr>
          <p:nvPr/>
        </p:nvPicPr>
        <p:blipFill>
          <a:blip r:embed="rId3"/>
          <a:stretch>
            <a:fillRect/>
          </a:stretch>
        </p:blipFill>
        <p:spPr>
          <a:xfrm>
            <a:off x="5919203" y="1916237"/>
            <a:ext cx="4144775" cy="4128022"/>
          </a:xfrm>
          <a:prstGeom prst="rect">
            <a:avLst/>
          </a:prstGeom>
        </p:spPr>
      </p:pic>
      <p:sp>
        <p:nvSpPr>
          <p:cNvPr id="10" name="CuadroTexto 9"/>
          <p:cNvSpPr txBox="1"/>
          <p:nvPr/>
        </p:nvSpPr>
        <p:spPr>
          <a:xfrm>
            <a:off x="855964" y="3172972"/>
            <a:ext cx="3583289" cy="2031325"/>
          </a:xfrm>
          <a:prstGeom prst="rect">
            <a:avLst/>
          </a:prstGeom>
          <a:noFill/>
          <a:ln>
            <a:noFill/>
          </a:ln>
        </p:spPr>
        <p:txBody>
          <a:bodyPr wrap="square" rtlCol="0">
            <a:spAutoFit/>
          </a:bodyPr>
          <a:lstStyle/>
          <a:p>
            <a:pPr algn="just"/>
            <a:r>
              <a:rPr lang="es-CL" sz="1400" dirty="0">
                <a:solidFill>
                  <a:srgbClr val="FFFFFF"/>
                </a:solidFill>
                <a:latin typeface="+mn-lt"/>
              </a:rPr>
              <a:t>Ubicamos el predictor con el mayor valor de p, en este caso, el predictor “Time </a:t>
            </a:r>
            <a:r>
              <a:rPr lang="es-CL" sz="1400" dirty="0" err="1">
                <a:solidFill>
                  <a:srgbClr val="FFFFFF"/>
                </a:solidFill>
                <a:latin typeface="+mn-lt"/>
              </a:rPr>
              <a:t>on</a:t>
            </a:r>
            <a:r>
              <a:rPr lang="es-CL" sz="1400" dirty="0">
                <a:solidFill>
                  <a:srgbClr val="FFFFFF"/>
                </a:solidFill>
                <a:latin typeface="+mn-lt"/>
              </a:rPr>
              <a:t> </a:t>
            </a:r>
            <a:r>
              <a:rPr lang="es-CL" sz="1400" dirty="0" err="1">
                <a:solidFill>
                  <a:srgbClr val="FFFFFF"/>
                </a:solidFill>
                <a:latin typeface="+mn-lt"/>
              </a:rPr>
              <a:t>Website</a:t>
            </a:r>
            <a:r>
              <a:rPr lang="es-CL" sz="1400" dirty="0">
                <a:solidFill>
                  <a:srgbClr val="FFFFFF"/>
                </a:solidFill>
                <a:latin typeface="+mn-lt"/>
              </a:rPr>
              <a:t>” tiene un valor de p=0.326.</a:t>
            </a:r>
          </a:p>
          <a:p>
            <a:pPr algn="just"/>
            <a:endParaRPr lang="es-CL" sz="1400" dirty="0">
              <a:solidFill>
                <a:srgbClr val="FFFFFF"/>
              </a:solidFill>
              <a:latin typeface="+mn-lt"/>
            </a:endParaRPr>
          </a:p>
          <a:p>
            <a:pPr algn="just"/>
            <a:endParaRPr lang="es-CL" sz="1400" dirty="0">
              <a:solidFill>
                <a:srgbClr val="FFFFFF"/>
              </a:solidFill>
              <a:latin typeface="+mn-lt"/>
            </a:endParaRPr>
          </a:p>
          <a:p>
            <a:pPr algn="just"/>
            <a:r>
              <a:rPr lang="es-CL" sz="1400" dirty="0">
                <a:solidFill>
                  <a:srgbClr val="FFFFFF"/>
                </a:solidFill>
                <a:latin typeface="+mn-lt"/>
              </a:rPr>
              <a:t>Como el valor de p es mayor que SL (0.05) entonces el método indica que debemos eliminar dicho predictor del modelo y volver a ejecutar el procedimiento.</a:t>
            </a:r>
          </a:p>
        </p:txBody>
      </p:sp>
      <p:pic>
        <p:nvPicPr>
          <p:cNvPr id="11" name="Imagen 10"/>
          <p:cNvPicPr>
            <a:picLocks noChangeAspect="1"/>
          </p:cNvPicPr>
          <p:nvPr/>
        </p:nvPicPr>
        <p:blipFill>
          <a:blip r:embed="rId4"/>
          <a:stretch>
            <a:fillRect/>
          </a:stretch>
        </p:blipFill>
        <p:spPr>
          <a:xfrm>
            <a:off x="5309603" y="770728"/>
            <a:ext cx="5722719" cy="985002"/>
          </a:xfrm>
          <a:prstGeom prst="rect">
            <a:avLst/>
          </a:prstGeom>
        </p:spPr>
      </p:pic>
      <p:sp>
        <p:nvSpPr>
          <p:cNvPr id="13" name="Elipse 12"/>
          <p:cNvSpPr/>
          <p:nvPr/>
        </p:nvSpPr>
        <p:spPr>
          <a:xfrm>
            <a:off x="7484828" y="4694957"/>
            <a:ext cx="335516" cy="2478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40662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19" name="Rectángulo redondeado 4">
            <a:extLst>
              <a:ext uri="{FF2B5EF4-FFF2-40B4-BE49-F238E27FC236}">
                <a16:creationId xmlns:a16="http://schemas.microsoft.com/office/drawing/2014/main" id="{F54B704E-F625-E3FA-92EA-8240924D3BF1}"/>
              </a:ext>
            </a:extLst>
          </p:cNvPr>
          <p:cNvSpPr/>
          <p:nvPr/>
        </p:nvSpPr>
        <p:spPr>
          <a:xfrm>
            <a:off x="5584195" y="542215"/>
            <a:ext cx="5991081" cy="5826867"/>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6" name="Rectángulo redondeado 5"/>
          <p:cNvSpPr/>
          <p:nvPr/>
        </p:nvSpPr>
        <p:spPr>
          <a:xfrm>
            <a:off x="-208218" y="1532448"/>
            <a:ext cx="5589004" cy="2811324"/>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ítulo 1"/>
          <p:cNvSpPr txBox="1">
            <a:spLocks/>
          </p:cNvSpPr>
          <p:nvPr/>
        </p:nvSpPr>
        <p:spPr bwMode="auto">
          <a:xfrm>
            <a:off x="1055738" y="544298"/>
            <a:ext cx="4327073" cy="498295"/>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s-ES" sz="32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j-ea"/>
                <a:cs typeface="Arial" panose="020B0604020202020204" pitchFamily="34" charset="0"/>
              </a:rPr>
              <a:t>Seleccionando el modelo en Python</a:t>
            </a:r>
            <a:endParaRPr lang="es-ES">
              <a:ea typeface="Calibri Light" panose="020F0302020204030204"/>
              <a:cs typeface="Calibri Light" panose="020F0302020204030204"/>
            </a:endParaRPr>
          </a:p>
        </p:txBody>
      </p:sp>
      <p:sp>
        <p:nvSpPr>
          <p:cNvPr id="4" name="CuadroTexto 3"/>
          <p:cNvSpPr txBox="1"/>
          <p:nvPr/>
        </p:nvSpPr>
        <p:spPr>
          <a:xfrm>
            <a:off x="1262567" y="1794637"/>
            <a:ext cx="3865819" cy="646331"/>
          </a:xfrm>
          <a:prstGeom prst="rect">
            <a:avLst/>
          </a:prstGeom>
          <a:noFill/>
        </p:spPr>
        <p:txBody>
          <a:bodyPr wrap="square" rtlCol="0">
            <a:spAutoFit/>
          </a:bodyPr>
          <a:lstStyle/>
          <a:p>
            <a:pPr lvl="0" algn="just"/>
            <a:r>
              <a:rPr lang="es-ES" dirty="0">
                <a:solidFill>
                  <a:prstClr val="white"/>
                </a:solidFill>
                <a:latin typeface="Calibri" panose="020F0502020204030204"/>
              </a:rPr>
              <a:t>Eliminamos el predictor del modelo y volvemos a ajustar el modelo.</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CuadroTexto 11"/>
          <p:cNvSpPr txBox="1"/>
          <p:nvPr/>
        </p:nvSpPr>
        <p:spPr>
          <a:xfrm>
            <a:off x="1259465" y="2950398"/>
            <a:ext cx="3637718" cy="954107"/>
          </a:xfrm>
          <a:prstGeom prst="rect">
            <a:avLst/>
          </a:prstGeom>
          <a:noFill/>
        </p:spPr>
        <p:txBody>
          <a:bodyPr wrap="square" rtlCol="0">
            <a:spAutoFit/>
          </a:bodyPr>
          <a:lstStyle/>
          <a:p>
            <a:pPr algn="just"/>
            <a:r>
              <a:rPr lang="es-ES" sz="1400" dirty="0">
                <a:solidFill>
                  <a:srgbClr val="FFFFFF"/>
                </a:solidFill>
                <a:latin typeface="+mn-lt"/>
              </a:rPr>
              <a:t>Se observa que no hay valores mayores que SL (0.05), por lo tanto, finalizamos el proceso de eliminación.</a:t>
            </a:r>
          </a:p>
          <a:p>
            <a:pPr algn="just"/>
            <a:endParaRPr lang="es-CL" sz="1400" dirty="0">
              <a:solidFill>
                <a:srgbClr val="FFFFFF"/>
              </a:solidFill>
              <a:latin typeface="Source Sans Pro" panose="020B0503030403020204" pitchFamily="34" charset="0"/>
            </a:endParaRPr>
          </a:p>
        </p:txBody>
      </p:sp>
      <p:pic>
        <p:nvPicPr>
          <p:cNvPr id="15" name="Imagen 14"/>
          <p:cNvPicPr>
            <a:picLocks noChangeAspect="1"/>
          </p:cNvPicPr>
          <p:nvPr/>
        </p:nvPicPr>
        <p:blipFill>
          <a:blip r:embed="rId3"/>
          <a:stretch>
            <a:fillRect/>
          </a:stretch>
        </p:blipFill>
        <p:spPr>
          <a:xfrm>
            <a:off x="5812327" y="797993"/>
            <a:ext cx="5533636" cy="766914"/>
          </a:xfrm>
          <a:prstGeom prst="rect">
            <a:avLst/>
          </a:prstGeom>
        </p:spPr>
      </p:pic>
      <p:pic>
        <p:nvPicPr>
          <p:cNvPr id="16" name="Imagen 15"/>
          <p:cNvPicPr>
            <a:picLocks noChangeAspect="1"/>
          </p:cNvPicPr>
          <p:nvPr/>
        </p:nvPicPr>
        <p:blipFill>
          <a:blip r:embed="rId4"/>
          <a:stretch>
            <a:fillRect/>
          </a:stretch>
        </p:blipFill>
        <p:spPr>
          <a:xfrm>
            <a:off x="6334842" y="1794878"/>
            <a:ext cx="4760376" cy="4404338"/>
          </a:xfrm>
          <a:prstGeom prst="rect">
            <a:avLst/>
          </a:prstGeom>
        </p:spPr>
      </p:pic>
    </p:spTree>
    <p:extLst>
      <p:ext uri="{BB962C8B-B14F-4D97-AF65-F5344CB8AC3E}">
        <p14:creationId xmlns:p14="http://schemas.microsoft.com/office/powerpoint/2010/main" val="300835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3" name="Título 1"/>
          <p:cNvSpPr txBox="1">
            <a:spLocks/>
          </p:cNvSpPr>
          <p:nvPr/>
        </p:nvSpPr>
        <p:spPr bwMode="auto">
          <a:xfrm>
            <a:off x="1447337" y="230659"/>
            <a:ext cx="9367157"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prstClr val="white">
                    <a:lumMod val="50000"/>
                  </a:prstClr>
                </a:solidFill>
                <a:latin typeface="Arial" panose="020B0604020202020204" pitchFamily="34" charset="0"/>
                <a:cs typeface="Arial" panose="020B0604020202020204" pitchFamily="34" charset="0"/>
              </a:rPr>
              <a:t>Seleccionando el modelo en Python</a:t>
            </a:r>
            <a:endParaRPr lang="es-MX" sz="3200" dirty="0">
              <a:solidFill>
                <a:prstClr val="white">
                  <a:lumMod val="50000"/>
                </a:prstClr>
              </a:solidFill>
              <a:latin typeface="Arial" panose="020B0604020202020204" pitchFamily="34" charset="0"/>
              <a:cs typeface="Arial" panose="020B0604020202020204" pitchFamily="34" charset="0"/>
            </a:endParaRPr>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1448958" y="1505411"/>
            <a:ext cx="9357313" cy="4718207"/>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22" name="CuadroTexto 21"/>
          <p:cNvSpPr txBox="1"/>
          <p:nvPr/>
        </p:nvSpPr>
        <p:spPr>
          <a:xfrm>
            <a:off x="2468856" y="1761807"/>
            <a:ext cx="7174477" cy="1477328"/>
          </a:xfrm>
          <a:prstGeom prst="rect">
            <a:avLst/>
          </a:prstGeom>
          <a:noFill/>
        </p:spPr>
        <p:txBody>
          <a:bodyPr wrap="square" lIns="91440" tIns="45720" rIns="91440" bIns="45720" rtlCol="0" anchor="t">
            <a:spAutoFit/>
          </a:bodyPr>
          <a:lstStyle/>
          <a:p>
            <a:pPr algn="just"/>
            <a:r>
              <a:rPr lang="es-CL" dirty="0">
                <a:solidFill>
                  <a:schemeClr val="tx1">
                    <a:lumMod val="65000"/>
                    <a:lumOff val="35000"/>
                  </a:schemeClr>
                </a:solidFill>
                <a:latin typeface="+mn-lt"/>
              </a:rPr>
              <a:t>Nuestro modelo final considera las variables:</a:t>
            </a:r>
            <a:endParaRPr lang="es-CL" dirty="0">
              <a:solidFill>
                <a:schemeClr val="tx1">
                  <a:lumMod val="65000"/>
                  <a:lumOff val="35000"/>
                </a:schemeClr>
              </a:solidFill>
              <a:latin typeface="+mn-lt"/>
              <a:cs typeface="Calibri"/>
            </a:endParaRPr>
          </a:p>
          <a:p>
            <a:pPr algn="just"/>
            <a:endParaRPr lang="es-CL" dirty="0">
              <a:solidFill>
                <a:schemeClr val="tx1">
                  <a:lumMod val="65000"/>
                  <a:lumOff val="35000"/>
                </a:schemeClr>
              </a:solidFill>
              <a:latin typeface="+mn-lt"/>
              <a:cs typeface="Calibri"/>
            </a:endParaRPr>
          </a:p>
          <a:p>
            <a:pPr algn="just"/>
            <a:r>
              <a:rPr lang="es-CL" dirty="0">
                <a:solidFill>
                  <a:schemeClr val="tx1">
                    <a:lumMod val="65000"/>
                    <a:lumOff val="35000"/>
                  </a:schemeClr>
                </a:solidFill>
                <a:latin typeface="+mn-lt"/>
              </a:rPr>
              <a:t>       </a:t>
            </a:r>
            <a:r>
              <a:rPr lang="es-CL" dirty="0" err="1">
                <a:solidFill>
                  <a:schemeClr val="tx1">
                    <a:lumMod val="65000"/>
                    <a:lumOff val="35000"/>
                  </a:schemeClr>
                </a:solidFill>
                <a:latin typeface="+mn-lt"/>
              </a:rPr>
              <a:t>Avg</a:t>
            </a:r>
            <a:r>
              <a:rPr lang="es-CL" dirty="0">
                <a:solidFill>
                  <a:schemeClr val="tx1">
                    <a:lumMod val="65000"/>
                    <a:lumOff val="35000"/>
                  </a:schemeClr>
                </a:solidFill>
                <a:latin typeface="+mn-lt"/>
              </a:rPr>
              <a:t> </a:t>
            </a:r>
            <a:r>
              <a:rPr lang="es-CL" dirty="0" err="1">
                <a:solidFill>
                  <a:schemeClr val="tx1">
                    <a:lumMod val="65000"/>
                    <a:lumOff val="35000"/>
                  </a:schemeClr>
                </a:solidFill>
                <a:latin typeface="+mn-lt"/>
              </a:rPr>
              <a:t>Session</a:t>
            </a:r>
            <a:r>
              <a:rPr lang="es-CL" dirty="0">
                <a:solidFill>
                  <a:schemeClr val="tx1">
                    <a:lumMod val="65000"/>
                    <a:lumOff val="35000"/>
                  </a:schemeClr>
                </a:solidFill>
                <a:latin typeface="+mn-lt"/>
              </a:rPr>
              <a:t> </a:t>
            </a:r>
            <a:r>
              <a:rPr lang="es-CL" dirty="0" err="1">
                <a:solidFill>
                  <a:schemeClr val="tx1">
                    <a:lumMod val="65000"/>
                    <a:lumOff val="35000"/>
                  </a:schemeClr>
                </a:solidFill>
                <a:latin typeface="+mn-lt"/>
              </a:rPr>
              <a:t>Length</a:t>
            </a:r>
            <a:r>
              <a:rPr lang="es-CL" dirty="0">
                <a:solidFill>
                  <a:schemeClr val="tx1">
                    <a:lumMod val="65000"/>
                    <a:lumOff val="35000"/>
                  </a:schemeClr>
                </a:solidFill>
                <a:latin typeface="+mn-lt"/>
              </a:rPr>
              <a:t>.</a:t>
            </a:r>
            <a:endParaRPr lang="es-CL" dirty="0">
              <a:solidFill>
                <a:schemeClr val="tx1">
                  <a:lumMod val="65000"/>
                  <a:lumOff val="35000"/>
                </a:schemeClr>
              </a:solidFill>
              <a:latin typeface="+mn-lt"/>
              <a:cs typeface="Calibri"/>
            </a:endParaRPr>
          </a:p>
          <a:p>
            <a:pPr algn="just"/>
            <a:r>
              <a:rPr lang="es-CL" dirty="0">
                <a:solidFill>
                  <a:schemeClr val="tx1">
                    <a:lumMod val="65000"/>
                    <a:lumOff val="35000"/>
                  </a:schemeClr>
                </a:solidFill>
                <a:latin typeface="+mn-lt"/>
              </a:rPr>
              <a:t>       Time </a:t>
            </a:r>
            <a:r>
              <a:rPr lang="es-CL" dirty="0" err="1">
                <a:solidFill>
                  <a:schemeClr val="tx1">
                    <a:lumMod val="65000"/>
                    <a:lumOff val="35000"/>
                  </a:schemeClr>
                </a:solidFill>
                <a:latin typeface="+mn-lt"/>
              </a:rPr>
              <a:t>on</a:t>
            </a:r>
            <a:r>
              <a:rPr lang="es-CL" dirty="0">
                <a:solidFill>
                  <a:schemeClr val="tx1">
                    <a:lumMod val="65000"/>
                    <a:lumOff val="35000"/>
                  </a:schemeClr>
                </a:solidFill>
                <a:latin typeface="+mn-lt"/>
              </a:rPr>
              <a:t> App.</a:t>
            </a:r>
            <a:endParaRPr lang="es-CL" dirty="0">
              <a:solidFill>
                <a:schemeClr val="tx1">
                  <a:lumMod val="65000"/>
                  <a:lumOff val="35000"/>
                </a:schemeClr>
              </a:solidFill>
              <a:latin typeface="+mn-lt"/>
              <a:cs typeface="Calibri"/>
            </a:endParaRPr>
          </a:p>
          <a:p>
            <a:pPr algn="just"/>
            <a:r>
              <a:rPr lang="es-CL" dirty="0">
                <a:solidFill>
                  <a:schemeClr val="tx1">
                    <a:lumMod val="65000"/>
                    <a:lumOff val="35000"/>
                  </a:schemeClr>
                </a:solidFill>
                <a:latin typeface="+mn-lt"/>
              </a:rPr>
              <a:t>       </a:t>
            </a:r>
            <a:r>
              <a:rPr lang="es-CL" dirty="0" err="1">
                <a:solidFill>
                  <a:schemeClr val="tx1">
                    <a:lumMod val="65000"/>
                    <a:lumOff val="35000"/>
                  </a:schemeClr>
                </a:solidFill>
                <a:latin typeface="+mn-lt"/>
              </a:rPr>
              <a:t>Length</a:t>
            </a:r>
            <a:r>
              <a:rPr lang="es-CL" dirty="0">
                <a:solidFill>
                  <a:schemeClr val="tx1">
                    <a:lumMod val="65000"/>
                    <a:lumOff val="35000"/>
                  </a:schemeClr>
                </a:solidFill>
                <a:latin typeface="+mn-lt"/>
              </a:rPr>
              <a:t> </a:t>
            </a:r>
            <a:r>
              <a:rPr lang="es-CL" dirty="0" err="1">
                <a:solidFill>
                  <a:schemeClr val="tx1">
                    <a:lumMod val="65000"/>
                    <a:lumOff val="35000"/>
                  </a:schemeClr>
                </a:solidFill>
                <a:latin typeface="+mn-lt"/>
              </a:rPr>
              <a:t>of</a:t>
            </a:r>
            <a:r>
              <a:rPr lang="es-CL" dirty="0">
                <a:solidFill>
                  <a:schemeClr val="tx1">
                    <a:lumMod val="65000"/>
                    <a:lumOff val="35000"/>
                  </a:schemeClr>
                </a:solidFill>
                <a:latin typeface="+mn-lt"/>
              </a:rPr>
              <a:t> </a:t>
            </a:r>
            <a:r>
              <a:rPr lang="es-CL" dirty="0" err="1">
                <a:solidFill>
                  <a:schemeClr val="tx1">
                    <a:lumMod val="65000"/>
                    <a:lumOff val="35000"/>
                  </a:schemeClr>
                </a:solidFill>
                <a:latin typeface="+mn-lt"/>
              </a:rPr>
              <a:t>Membership</a:t>
            </a:r>
            <a:r>
              <a:rPr lang="es-CL" dirty="0">
                <a:solidFill>
                  <a:schemeClr val="tx1">
                    <a:lumMod val="65000"/>
                    <a:lumOff val="35000"/>
                  </a:schemeClr>
                </a:solidFill>
                <a:latin typeface="+mn-lt"/>
              </a:rPr>
              <a:t>.</a:t>
            </a:r>
            <a:endParaRPr lang="es-CL" dirty="0">
              <a:solidFill>
                <a:schemeClr val="tx1">
                  <a:lumMod val="65000"/>
                  <a:lumOff val="35000"/>
                </a:schemeClr>
              </a:solidFill>
              <a:latin typeface="+mn-lt"/>
              <a:cs typeface="Calibri"/>
            </a:endParaRPr>
          </a:p>
        </p:txBody>
      </p:sp>
      <p:pic>
        <p:nvPicPr>
          <p:cNvPr id="26" name="Imagen 25"/>
          <p:cNvPicPr>
            <a:picLocks noChangeAspect="1"/>
          </p:cNvPicPr>
          <p:nvPr/>
        </p:nvPicPr>
        <p:blipFill>
          <a:blip r:embed="rId3"/>
          <a:stretch>
            <a:fillRect/>
          </a:stretch>
        </p:blipFill>
        <p:spPr>
          <a:xfrm>
            <a:off x="2470007" y="3304334"/>
            <a:ext cx="7173326" cy="2267266"/>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40643" y="2428347"/>
            <a:ext cx="180000" cy="180000"/>
          </a:xfrm>
          <a:prstGeom prst="rect">
            <a:avLst/>
          </a:prstGeom>
          <a:ln>
            <a:noFill/>
          </a:ln>
        </p:spPr>
      </p:pic>
      <p:pic>
        <p:nvPicPr>
          <p:cNvPr id="10" name="Imagen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37395" y="2697483"/>
            <a:ext cx="180000" cy="180000"/>
          </a:xfrm>
          <a:prstGeom prst="rect">
            <a:avLst/>
          </a:prstGeom>
          <a:ln>
            <a:noFill/>
          </a:ln>
        </p:spPr>
      </p:pic>
      <p:pic>
        <p:nvPicPr>
          <p:cNvPr id="11" name="Imagen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43881" y="2966617"/>
            <a:ext cx="180000" cy="180000"/>
          </a:xfrm>
          <a:prstGeom prst="rect">
            <a:avLst/>
          </a:prstGeom>
          <a:ln>
            <a:noFill/>
          </a:ln>
        </p:spPr>
      </p:pic>
    </p:spTree>
    <p:extLst>
      <p:ext uri="{BB962C8B-B14F-4D97-AF65-F5344CB8AC3E}">
        <p14:creationId xmlns:p14="http://schemas.microsoft.com/office/powerpoint/2010/main" val="80112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Título 1"/>
          <p:cNvSpPr txBox="1">
            <a:spLocks/>
          </p:cNvSpPr>
          <p:nvPr/>
        </p:nvSpPr>
        <p:spPr bwMode="auto">
          <a:xfrm>
            <a:off x="1546133" y="130703"/>
            <a:ext cx="5603696" cy="68168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algn="just" eaLnBrk="1" fontAlgn="auto" hangingPunct="1">
              <a:lnSpc>
                <a:spcPct val="150000"/>
              </a:lnSpc>
              <a:spcAft>
                <a:spcPts val="0"/>
              </a:spcAft>
              <a:defRPr/>
            </a:pPr>
            <a:r>
              <a:rPr lang="es-MX" sz="3200" dirty="0">
                <a:solidFill>
                  <a:prstClr val="white">
                    <a:lumMod val="50000"/>
                  </a:prstClr>
                </a:solidFill>
                <a:latin typeface="Arial" panose="020B0604020202020204" pitchFamily="34" charset="0"/>
                <a:ea typeface="+mn-ea"/>
                <a:cs typeface="Arial" panose="020B0604020202020204" pitchFamily="34" charset="0"/>
              </a:rPr>
              <a:t>R Cuadrado</a:t>
            </a:r>
          </a:p>
        </p:txBody>
      </p:sp>
      <p:sp>
        <p:nvSpPr>
          <p:cNvPr id="5" name="Rectángulo redondeado 4">
            <a:extLst>
              <a:ext uri="{FF2B5EF4-FFF2-40B4-BE49-F238E27FC236}">
                <a16:creationId xmlns:a16="http://schemas.microsoft.com/office/drawing/2014/main" id="{EEF64A50-BFC1-6219-5B5B-FB92BB3A07A2}"/>
              </a:ext>
            </a:extLst>
          </p:cNvPr>
          <p:cNvSpPr/>
          <p:nvPr/>
        </p:nvSpPr>
        <p:spPr>
          <a:xfrm>
            <a:off x="1429401" y="932404"/>
            <a:ext cx="9358007" cy="5448941"/>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ES_tradnl" dirty="0"/>
              <a:t>c</a:t>
            </a:r>
          </a:p>
        </p:txBody>
      </p:sp>
      <p:grpSp>
        <p:nvGrpSpPr>
          <p:cNvPr id="6" name="Grupo 5"/>
          <p:cNvGrpSpPr/>
          <p:nvPr/>
        </p:nvGrpSpPr>
        <p:grpSpPr>
          <a:xfrm>
            <a:off x="7029524" y="1294029"/>
            <a:ext cx="2755937" cy="2086312"/>
            <a:chOff x="395536" y="1196752"/>
            <a:chExt cx="4321473" cy="3271462"/>
          </a:xfrm>
        </p:grpSpPr>
        <p:pic>
          <p:nvPicPr>
            <p:cNvPr id="7" name="Imagen 6"/>
            <p:cNvPicPr>
              <a:picLocks noChangeAspect="1"/>
            </p:cNvPicPr>
            <p:nvPr/>
          </p:nvPicPr>
          <p:blipFill>
            <a:blip r:embed="rId3"/>
            <a:stretch>
              <a:fillRect/>
            </a:stretch>
          </p:blipFill>
          <p:spPr>
            <a:xfrm>
              <a:off x="395536" y="1196752"/>
              <a:ext cx="4321473" cy="3271462"/>
            </a:xfrm>
            <a:prstGeom prst="rect">
              <a:avLst/>
            </a:prstGeom>
          </p:spPr>
        </p:pic>
        <p:cxnSp>
          <p:nvCxnSpPr>
            <p:cNvPr id="8" name="Conector recto 7"/>
            <p:cNvCxnSpPr/>
            <p:nvPr/>
          </p:nvCxnSpPr>
          <p:spPr>
            <a:xfrm>
              <a:off x="1797022" y="3037431"/>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1355451" y="3356992"/>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2771800" y="2692253"/>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a:off x="4255390" y="1628800"/>
              <a:ext cx="0" cy="64807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a:xfrm>
              <a:off x="3410346" y="1868639"/>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flipV="1">
              <a:off x="755576" y="1412776"/>
              <a:ext cx="3816424" cy="273630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CuadroTexto 13"/>
              <p:cNvSpPr txBox="1"/>
              <p:nvPr/>
            </p:nvSpPr>
            <p:spPr>
              <a:xfrm>
                <a:off x="3060241" y="1873424"/>
                <a:ext cx="2901336" cy="840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sz="2000" i="1">
                              <a:latin typeface="Cambria Math" panose="02040503050406030204" pitchFamily="18" charset="0"/>
                            </a:rPr>
                          </m:ctrlPr>
                        </m:sSubPr>
                        <m:e>
                          <m:r>
                            <a:rPr lang="es-CL" sz="2000" i="1">
                              <a:latin typeface="Cambria Math" panose="02040503050406030204" pitchFamily="18" charset="0"/>
                            </a:rPr>
                            <m:t>𝑆𝑆</m:t>
                          </m:r>
                        </m:e>
                        <m:sub>
                          <m:r>
                            <a:rPr lang="es-CL" sz="2000" i="1">
                              <a:latin typeface="Cambria Math" panose="02040503050406030204" pitchFamily="18" charset="0"/>
                            </a:rPr>
                            <m:t>𝑟𝑒𝑠</m:t>
                          </m:r>
                        </m:sub>
                      </m:sSub>
                      <m:r>
                        <a:rPr lang="es-CL" sz="2000" i="1">
                          <a:latin typeface="Cambria Math" panose="02040503050406030204" pitchFamily="18" charset="0"/>
                        </a:rPr>
                        <m:t>=</m:t>
                      </m:r>
                      <m:nary>
                        <m:naryPr>
                          <m:chr m:val="∑"/>
                          <m:ctrlPr>
                            <a:rPr lang="es-CL" sz="2000" i="1">
                              <a:latin typeface="Cambria Math" panose="02040503050406030204" pitchFamily="18" charset="0"/>
                            </a:rPr>
                          </m:ctrlPr>
                        </m:naryPr>
                        <m:sub>
                          <m:r>
                            <m:rPr>
                              <m:brk m:alnAt="23"/>
                            </m:rPr>
                            <a:rPr lang="es-CL" sz="2000" i="1">
                              <a:latin typeface="Cambria Math" panose="02040503050406030204" pitchFamily="18" charset="0"/>
                            </a:rPr>
                            <m:t>𝑖</m:t>
                          </m:r>
                          <m:r>
                            <a:rPr lang="es-CL" sz="2000" i="1">
                              <a:latin typeface="Cambria Math" panose="02040503050406030204" pitchFamily="18" charset="0"/>
                            </a:rPr>
                            <m:t>=0</m:t>
                          </m:r>
                        </m:sub>
                        <m:sup>
                          <m:r>
                            <a:rPr lang="es-CL" sz="2000" i="1">
                              <a:latin typeface="Cambria Math" panose="02040503050406030204" pitchFamily="18" charset="0"/>
                            </a:rPr>
                            <m:t>𝑚</m:t>
                          </m:r>
                        </m:sup>
                        <m:e>
                          <m:sSup>
                            <m:sSupPr>
                              <m:ctrlPr>
                                <a:rPr lang="es-CL" sz="2000" i="1">
                                  <a:latin typeface="Cambria Math" panose="02040503050406030204" pitchFamily="18" charset="0"/>
                                </a:rPr>
                              </m:ctrlPr>
                            </m:sSupPr>
                            <m:e>
                              <m:r>
                                <a:rPr lang="es-CL" sz="2000" i="1">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𝑖</m:t>
                                  </m:r>
                                </m:sub>
                              </m:sSub>
                              <m:r>
                                <a:rPr lang="es-CL" sz="2000" i="1">
                                  <a:latin typeface="Cambria Math" panose="02040503050406030204" pitchFamily="18" charset="0"/>
                                </a:rPr>
                                <m:t>−</m:t>
                              </m:r>
                              <m:acc>
                                <m:accPr>
                                  <m:chr m:val="̂"/>
                                  <m:ctrlPr>
                                    <a:rPr lang="es-CL" sz="2000" i="1">
                                      <a:latin typeface="Cambria Math" panose="02040503050406030204" pitchFamily="18" charset="0"/>
                                    </a:rPr>
                                  </m:ctrlPr>
                                </m:accPr>
                                <m:e>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𝑖</m:t>
                                      </m:r>
                                    </m:sub>
                                  </m:sSub>
                                </m:e>
                              </m:acc>
                              <m:r>
                                <a:rPr lang="es-CL" sz="2000" i="1">
                                  <a:latin typeface="Cambria Math" panose="02040503050406030204" pitchFamily="18" charset="0"/>
                                </a:rPr>
                                <m:t>)</m:t>
                              </m:r>
                            </m:e>
                            <m:sup>
                              <m:r>
                                <a:rPr lang="es-CL" sz="2000" i="1">
                                  <a:latin typeface="Cambria Math" panose="02040503050406030204" pitchFamily="18" charset="0"/>
                                </a:rPr>
                                <m:t>2</m:t>
                              </m:r>
                            </m:sup>
                          </m:sSup>
                        </m:e>
                      </m:nary>
                    </m:oMath>
                  </m:oMathPara>
                </a14:m>
                <a:endParaRPr lang="es-CL" sz="2000" dirty="0"/>
              </a:p>
            </p:txBody>
          </p:sp>
        </mc:Choice>
        <mc:Fallback xmlns="">
          <p:sp>
            <p:nvSpPr>
              <p:cNvPr id="14" name="CuadroTexto 13"/>
              <p:cNvSpPr txBox="1">
                <a:spLocks noRot="1" noChangeAspect="1" noMove="1" noResize="1" noEditPoints="1" noAdjustHandles="1" noChangeArrowheads="1" noChangeShapeType="1" noTextEdit="1"/>
              </p:cNvSpPr>
              <p:nvPr/>
            </p:nvSpPr>
            <p:spPr>
              <a:xfrm>
                <a:off x="3060241" y="1873424"/>
                <a:ext cx="2901336" cy="840551"/>
              </a:xfrm>
              <a:prstGeom prst="rect">
                <a:avLst/>
              </a:prstGeom>
              <a:blipFill>
                <a:blip r:embed="rId4"/>
                <a:stretch>
                  <a:fillRect/>
                </a:stretch>
              </a:blipFill>
            </p:spPr>
            <p:txBody>
              <a:bodyPr/>
              <a:lstStyle/>
              <a:p>
                <a:r>
                  <a:rPr lang="en-US">
                    <a:noFill/>
                  </a:rPr>
                  <a:t> </a:t>
                </a:r>
              </a:p>
            </p:txBody>
          </p:sp>
        </mc:Fallback>
      </mc:AlternateContent>
      <p:sp>
        <p:nvSpPr>
          <p:cNvPr id="15" name="CuadroTexto 14"/>
          <p:cNvSpPr txBox="1"/>
          <p:nvPr/>
        </p:nvSpPr>
        <p:spPr>
          <a:xfrm>
            <a:off x="2057660" y="1166546"/>
            <a:ext cx="2980303" cy="369332"/>
          </a:xfrm>
          <a:prstGeom prst="rect">
            <a:avLst/>
          </a:prstGeom>
          <a:noFill/>
        </p:spPr>
        <p:txBody>
          <a:bodyPr wrap="none" lIns="91440" tIns="45720" rIns="91440" bIns="45720" rtlCol="0" anchor="t">
            <a:spAutoFit/>
          </a:bodyPr>
          <a:lstStyle/>
          <a:p>
            <a:r>
              <a:rPr lang="es-CL" dirty="0">
                <a:solidFill>
                  <a:schemeClr val="tx1">
                    <a:lumMod val="65000"/>
                    <a:lumOff val="35000"/>
                  </a:schemeClr>
                </a:solidFill>
                <a:latin typeface="Source Sans Pro"/>
                <a:ea typeface="Source Sans Pro"/>
              </a:rPr>
              <a:t>Suma de Errores Cuadráticos</a:t>
            </a:r>
          </a:p>
        </p:txBody>
      </p:sp>
      <mc:AlternateContent xmlns:mc="http://schemas.openxmlformats.org/markup-compatibility/2006" xmlns:a14="http://schemas.microsoft.com/office/drawing/2010/main">
        <mc:Choice Requires="a14">
          <p:sp>
            <p:nvSpPr>
              <p:cNvPr id="17" name="CuadroTexto 16"/>
              <p:cNvSpPr txBox="1"/>
              <p:nvPr/>
            </p:nvSpPr>
            <p:spPr>
              <a:xfrm>
                <a:off x="3112992" y="4573147"/>
                <a:ext cx="2901336" cy="840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sz="2000" i="1">
                              <a:latin typeface="Cambria Math" panose="02040503050406030204" pitchFamily="18" charset="0"/>
                            </a:rPr>
                          </m:ctrlPr>
                        </m:sSubPr>
                        <m:e>
                          <m:r>
                            <a:rPr lang="es-CL" sz="2000" i="1">
                              <a:latin typeface="Cambria Math" panose="02040503050406030204" pitchFamily="18" charset="0"/>
                            </a:rPr>
                            <m:t>𝑆𝑆</m:t>
                          </m:r>
                        </m:e>
                        <m:sub>
                          <m:r>
                            <a:rPr lang="es-CL" sz="2000" i="1">
                              <a:latin typeface="Cambria Math" panose="02040503050406030204" pitchFamily="18" charset="0"/>
                            </a:rPr>
                            <m:t>𝑡𝑜𝑡</m:t>
                          </m:r>
                        </m:sub>
                      </m:sSub>
                      <m:r>
                        <a:rPr lang="es-CL" sz="2000" i="1">
                          <a:latin typeface="Cambria Math" panose="02040503050406030204" pitchFamily="18" charset="0"/>
                        </a:rPr>
                        <m:t>=</m:t>
                      </m:r>
                      <m:nary>
                        <m:naryPr>
                          <m:chr m:val="∑"/>
                          <m:ctrlPr>
                            <a:rPr lang="es-CL" sz="2000" i="1">
                              <a:latin typeface="Cambria Math" panose="02040503050406030204" pitchFamily="18" charset="0"/>
                            </a:rPr>
                          </m:ctrlPr>
                        </m:naryPr>
                        <m:sub>
                          <m:r>
                            <m:rPr>
                              <m:brk m:alnAt="23"/>
                            </m:rPr>
                            <a:rPr lang="es-CL" sz="2000" i="1">
                              <a:latin typeface="Cambria Math" panose="02040503050406030204" pitchFamily="18" charset="0"/>
                            </a:rPr>
                            <m:t>𝑖</m:t>
                          </m:r>
                          <m:r>
                            <a:rPr lang="es-CL" sz="2000" i="1">
                              <a:latin typeface="Cambria Math" panose="02040503050406030204" pitchFamily="18" charset="0"/>
                            </a:rPr>
                            <m:t>=0</m:t>
                          </m:r>
                        </m:sub>
                        <m:sup>
                          <m:r>
                            <a:rPr lang="es-CL" sz="2000" i="1">
                              <a:latin typeface="Cambria Math" panose="02040503050406030204" pitchFamily="18" charset="0"/>
                            </a:rPr>
                            <m:t>𝑚</m:t>
                          </m:r>
                        </m:sup>
                        <m:e>
                          <m:sSup>
                            <m:sSupPr>
                              <m:ctrlPr>
                                <a:rPr lang="es-CL" sz="2000" i="1">
                                  <a:latin typeface="Cambria Math" panose="02040503050406030204" pitchFamily="18" charset="0"/>
                                </a:rPr>
                              </m:ctrlPr>
                            </m:sSupPr>
                            <m:e>
                              <m:r>
                                <a:rPr lang="es-CL" sz="2000" i="1">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𝑖</m:t>
                                  </m:r>
                                </m:sub>
                              </m:sSub>
                              <m:r>
                                <a:rPr lang="es-CL" sz="2000" i="1">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𝑎𝑣𝑔</m:t>
                                  </m:r>
                                </m:sub>
                              </m:sSub>
                              <m:r>
                                <a:rPr lang="es-CL" sz="2000" i="1">
                                  <a:latin typeface="Cambria Math" panose="02040503050406030204" pitchFamily="18" charset="0"/>
                                </a:rPr>
                                <m:t>)</m:t>
                              </m:r>
                            </m:e>
                            <m:sup>
                              <m:r>
                                <a:rPr lang="es-CL" sz="2000" i="1">
                                  <a:latin typeface="Cambria Math" panose="02040503050406030204" pitchFamily="18" charset="0"/>
                                </a:rPr>
                                <m:t>2</m:t>
                              </m:r>
                            </m:sup>
                          </m:sSup>
                        </m:e>
                      </m:nary>
                    </m:oMath>
                  </m:oMathPara>
                </a14:m>
                <a:endParaRPr lang="es-CL" sz="2000" dirty="0"/>
              </a:p>
            </p:txBody>
          </p:sp>
        </mc:Choice>
        <mc:Fallback xmlns="">
          <p:sp>
            <p:nvSpPr>
              <p:cNvPr id="17" name="CuadroTexto 16"/>
              <p:cNvSpPr txBox="1">
                <a:spLocks noRot="1" noChangeAspect="1" noMove="1" noResize="1" noEditPoints="1" noAdjustHandles="1" noChangeArrowheads="1" noChangeShapeType="1" noTextEdit="1"/>
              </p:cNvSpPr>
              <p:nvPr/>
            </p:nvSpPr>
            <p:spPr>
              <a:xfrm>
                <a:off x="3112992" y="4573147"/>
                <a:ext cx="2901336" cy="840551"/>
              </a:xfrm>
              <a:prstGeom prst="rect">
                <a:avLst/>
              </a:prstGeom>
              <a:blipFill>
                <a:blip r:embed="rId5"/>
                <a:stretch>
                  <a:fillRect/>
                </a:stretch>
              </a:blipFill>
            </p:spPr>
            <p:txBody>
              <a:bodyPr/>
              <a:lstStyle/>
              <a:p>
                <a:r>
                  <a:rPr lang="en-US">
                    <a:noFill/>
                  </a:rPr>
                  <a:t> </a:t>
                </a:r>
              </a:p>
            </p:txBody>
          </p:sp>
        </mc:Fallback>
      </mc:AlternateContent>
      <p:sp>
        <p:nvSpPr>
          <p:cNvPr id="18" name="CuadroTexto 17"/>
          <p:cNvSpPr txBox="1"/>
          <p:nvPr/>
        </p:nvSpPr>
        <p:spPr>
          <a:xfrm>
            <a:off x="2087004" y="4039362"/>
            <a:ext cx="2629246" cy="369332"/>
          </a:xfrm>
          <a:prstGeom prst="rect">
            <a:avLst/>
          </a:prstGeom>
          <a:noFill/>
        </p:spPr>
        <p:txBody>
          <a:bodyPr wrap="none" lIns="91440" tIns="45720" rIns="91440" bIns="45720" rtlCol="0" anchor="t">
            <a:spAutoFit/>
          </a:bodyPr>
          <a:lstStyle/>
          <a:p>
            <a:r>
              <a:rPr lang="es-CL" dirty="0">
                <a:solidFill>
                  <a:schemeClr val="tx1">
                    <a:lumMod val="65000"/>
                    <a:lumOff val="35000"/>
                  </a:schemeClr>
                </a:solidFill>
                <a:latin typeface="Source Sans Pro"/>
                <a:ea typeface="Source Sans Pro"/>
              </a:rPr>
              <a:t>Suma total de Cuadrados</a:t>
            </a:r>
          </a:p>
        </p:txBody>
      </p:sp>
      <p:pic>
        <p:nvPicPr>
          <p:cNvPr id="3" name="Imagen 2" descr="Gráfico&#10;&#10;Descripción generada automáticamente">
            <a:extLst>
              <a:ext uri="{FF2B5EF4-FFF2-40B4-BE49-F238E27FC236}">
                <a16:creationId xmlns:a16="http://schemas.microsoft.com/office/drawing/2014/main" id="{AAAFEA8A-5DC6-C306-ABA9-0AA65F02AC6B}"/>
              </a:ext>
            </a:extLst>
          </p:cNvPr>
          <p:cNvPicPr>
            <a:picLocks noChangeAspect="1"/>
          </p:cNvPicPr>
          <p:nvPr/>
        </p:nvPicPr>
        <p:blipFill>
          <a:blip r:embed="rId6"/>
          <a:stretch>
            <a:fillRect/>
          </a:stretch>
        </p:blipFill>
        <p:spPr>
          <a:xfrm>
            <a:off x="6953931" y="3657600"/>
            <a:ext cx="2834369" cy="2188030"/>
          </a:xfrm>
          <a:prstGeom prst="rect">
            <a:avLst/>
          </a:prstGeom>
        </p:spPr>
      </p:pic>
    </p:spTree>
    <p:extLst>
      <p:ext uri="{BB962C8B-B14F-4D97-AF65-F5344CB8AC3E}">
        <p14:creationId xmlns:p14="http://schemas.microsoft.com/office/powerpoint/2010/main" val="204154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5" name="Título 1"/>
          <p:cNvSpPr txBox="1">
            <a:spLocks/>
          </p:cNvSpPr>
          <p:nvPr/>
        </p:nvSpPr>
        <p:spPr bwMode="auto">
          <a:xfrm>
            <a:off x="1409700" y="107225"/>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MX" sz="3200" dirty="0">
                <a:solidFill>
                  <a:schemeClr val="bg1">
                    <a:lumMod val="50000"/>
                  </a:schemeClr>
                </a:solidFill>
                <a:latin typeface="Arial" panose="020B0604020202020204" pitchFamily="34" charset="0"/>
                <a:cs typeface="Arial" panose="020B0604020202020204" pitchFamily="34" charset="0"/>
              </a:rPr>
              <a:t>R Cuadrado</a:t>
            </a:r>
          </a:p>
        </p:txBody>
      </p:sp>
      <p:sp>
        <p:nvSpPr>
          <p:cNvPr id="6" name="Rectángulo redondeado 4">
            <a:extLst>
              <a:ext uri="{FF2B5EF4-FFF2-40B4-BE49-F238E27FC236}">
                <a16:creationId xmlns:a16="http://schemas.microsoft.com/office/drawing/2014/main" id="{EEF64A50-BFC1-6219-5B5B-FB92BB3A07A2}"/>
              </a:ext>
            </a:extLst>
          </p:cNvPr>
          <p:cNvSpPr/>
          <p:nvPr/>
        </p:nvSpPr>
        <p:spPr>
          <a:xfrm>
            <a:off x="1409700" y="990770"/>
            <a:ext cx="9358007" cy="5220341"/>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7" name="CuadroTexto 6"/>
          <p:cNvSpPr txBox="1"/>
          <p:nvPr/>
        </p:nvSpPr>
        <p:spPr>
          <a:xfrm>
            <a:off x="1765816" y="1203141"/>
            <a:ext cx="4394152" cy="338554"/>
          </a:xfrm>
          <a:prstGeom prst="rect">
            <a:avLst/>
          </a:prstGeom>
          <a:noFill/>
        </p:spPr>
        <p:txBody>
          <a:bodyPr wrap="none" rtlCol="0">
            <a:spAutoFit/>
          </a:bodyPr>
          <a:lstStyle/>
          <a:p>
            <a:r>
              <a:rPr lang="es-ES" sz="1600" dirty="0">
                <a:solidFill>
                  <a:schemeClr val="tx1">
                    <a:lumMod val="65000"/>
                    <a:lumOff val="35000"/>
                  </a:schemeClr>
                </a:solidFill>
                <a:latin typeface="Source Sans Pro" panose="020B0503030403020204" pitchFamily="34" charset="0"/>
              </a:rPr>
              <a:t>(También llamado Coeficiente de Determinación)</a:t>
            </a:r>
          </a:p>
        </p:txBody>
      </p:sp>
      <mc:AlternateContent xmlns:mc="http://schemas.openxmlformats.org/markup-compatibility/2006" xmlns:a14="http://schemas.microsoft.com/office/drawing/2010/main">
        <mc:Choice Requires="a14">
          <p:sp>
            <p:nvSpPr>
              <p:cNvPr id="8" name="CuadroTexto 7"/>
              <p:cNvSpPr txBox="1"/>
              <p:nvPr/>
            </p:nvSpPr>
            <p:spPr>
              <a:xfrm>
                <a:off x="2037959" y="2207515"/>
                <a:ext cx="2901336" cy="840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sz="2000" i="1">
                              <a:latin typeface="Cambria Math" panose="02040503050406030204" pitchFamily="18" charset="0"/>
                            </a:rPr>
                          </m:ctrlPr>
                        </m:sSubPr>
                        <m:e>
                          <m:r>
                            <a:rPr lang="es-CL" sz="2000" i="1">
                              <a:latin typeface="Cambria Math" panose="02040503050406030204" pitchFamily="18" charset="0"/>
                            </a:rPr>
                            <m:t>𝑆𝑆</m:t>
                          </m:r>
                        </m:e>
                        <m:sub>
                          <m:r>
                            <a:rPr lang="es-CL" sz="2000" i="1">
                              <a:latin typeface="Cambria Math" panose="02040503050406030204" pitchFamily="18" charset="0"/>
                            </a:rPr>
                            <m:t>𝑟𝑒𝑠</m:t>
                          </m:r>
                        </m:sub>
                      </m:sSub>
                      <m:r>
                        <a:rPr lang="es-CL" sz="2000" i="1">
                          <a:latin typeface="Cambria Math" panose="02040503050406030204" pitchFamily="18" charset="0"/>
                        </a:rPr>
                        <m:t>=</m:t>
                      </m:r>
                      <m:nary>
                        <m:naryPr>
                          <m:chr m:val="∑"/>
                          <m:ctrlPr>
                            <a:rPr lang="es-CL" sz="2000" i="1">
                              <a:latin typeface="Cambria Math" panose="02040503050406030204" pitchFamily="18" charset="0"/>
                            </a:rPr>
                          </m:ctrlPr>
                        </m:naryPr>
                        <m:sub>
                          <m:r>
                            <m:rPr>
                              <m:brk m:alnAt="23"/>
                            </m:rPr>
                            <a:rPr lang="es-CL" sz="2000" i="1">
                              <a:latin typeface="Cambria Math" panose="02040503050406030204" pitchFamily="18" charset="0"/>
                            </a:rPr>
                            <m:t>𝑖</m:t>
                          </m:r>
                          <m:r>
                            <a:rPr lang="es-CL" sz="2000" i="1">
                              <a:latin typeface="Cambria Math" panose="02040503050406030204" pitchFamily="18" charset="0"/>
                            </a:rPr>
                            <m:t>=0</m:t>
                          </m:r>
                        </m:sub>
                        <m:sup>
                          <m:r>
                            <a:rPr lang="es-CL" sz="2000" i="1">
                              <a:latin typeface="Cambria Math" panose="02040503050406030204" pitchFamily="18" charset="0"/>
                            </a:rPr>
                            <m:t>𝑚</m:t>
                          </m:r>
                        </m:sup>
                        <m:e>
                          <m:sSup>
                            <m:sSupPr>
                              <m:ctrlPr>
                                <a:rPr lang="es-CL" sz="2000" i="1">
                                  <a:latin typeface="Cambria Math" panose="02040503050406030204" pitchFamily="18" charset="0"/>
                                </a:rPr>
                              </m:ctrlPr>
                            </m:sSupPr>
                            <m:e>
                              <m:r>
                                <a:rPr lang="es-CL" sz="2000" i="1">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𝑖</m:t>
                                  </m:r>
                                </m:sub>
                              </m:sSub>
                              <m:r>
                                <a:rPr lang="es-CL" sz="2000" i="1">
                                  <a:latin typeface="Cambria Math" panose="02040503050406030204" pitchFamily="18" charset="0"/>
                                </a:rPr>
                                <m:t>−</m:t>
                              </m:r>
                              <m:acc>
                                <m:accPr>
                                  <m:chr m:val="̂"/>
                                  <m:ctrlPr>
                                    <a:rPr lang="es-CL" sz="2000" i="1">
                                      <a:latin typeface="Cambria Math" panose="02040503050406030204" pitchFamily="18" charset="0"/>
                                    </a:rPr>
                                  </m:ctrlPr>
                                </m:accPr>
                                <m:e>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𝑖</m:t>
                                      </m:r>
                                    </m:sub>
                                  </m:sSub>
                                </m:e>
                              </m:acc>
                              <m:r>
                                <a:rPr lang="es-CL" sz="2000" i="1">
                                  <a:latin typeface="Cambria Math" panose="02040503050406030204" pitchFamily="18" charset="0"/>
                                </a:rPr>
                                <m:t>)</m:t>
                              </m:r>
                            </m:e>
                            <m:sup>
                              <m:r>
                                <a:rPr lang="es-CL" sz="2000" i="1">
                                  <a:latin typeface="Cambria Math" panose="02040503050406030204" pitchFamily="18" charset="0"/>
                                </a:rPr>
                                <m:t>2</m:t>
                              </m:r>
                            </m:sup>
                          </m:sSup>
                        </m:e>
                      </m:nary>
                    </m:oMath>
                  </m:oMathPara>
                </a14:m>
                <a:endParaRPr lang="es-CL" sz="20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2037959" y="2207515"/>
                <a:ext cx="2901336" cy="840551"/>
              </a:xfrm>
              <a:prstGeom prst="rect">
                <a:avLst/>
              </a:prstGeom>
              <a:blipFill>
                <a:blip r:embed="rId3"/>
                <a:stretch>
                  <a:fillRect/>
                </a:stretch>
              </a:blipFill>
            </p:spPr>
            <p:txBody>
              <a:bodyPr/>
              <a:lstStyle/>
              <a:p>
                <a:r>
                  <a:rPr lang="en-US">
                    <a:noFill/>
                  </a:rPr>
                  <a:t> </a:t>
                </a:r>
              </a:p>
            </p:txBody>
          </p:sp>
        </mc:Fallback>
      </mc:AlternateContent>
      <p:sp>
        <p:nvSpPr>
          <p:cNvPr id="9" name="CuadroTexto 8"/>
          <p:cNvSpPr txBox="1"/>
          <p:nvPr/>
        </p:nvSpPr>
        <p:spPr>
          <a:xfrm>
            <a:off x="2085403" y="1799897"/>
            <a:ext cx="2278701" cy="369332"/>
          </a:xfrm>
          <a:prstGeom prst="rect">
            <a:avLst/>
          </a:prstGeom>
          <a:noFill/>
        </p:spPr>
        <p:txBody>
          <a:bodyPr wrap="none" rtlCol="0">
            <a:spAutoFit/>
          </a:bodyPr>
          <a:lstStyle/>
          <a:p>
            <a:r>
              <a:rPr lang="es-CL" dirty="0"/>
              <a:t>Sum of </a:t>
            </a:r>
            <a:r>
              <a:rPr lang="es-CL" dirty="0" err="1"/>
              <a:t>Squared</a:t>
            </a:r>
            <a:r>
              <a:rPr lang="es-CL" dirty="0"/>
              <a:t> </a:t>
            </a:r>
            <a:r>
              <a:rPr lang="es-CL" dirty="0" err="1"/>
              <a:t>Errors</a:t>
            </a:r>
            <a:endParaRPr lang="es-CL" dirty="0"/>
          </a:p>
        </p:txBody>
      </p:sp>
      <mc:AlternateContent xmlns:mc="http://schemas.openxmlformats.org/markup-compatibility/2006" xmlns:a14="http://schemas.microsoft.com/office/drawing/2010/main">
        <mc:Choice Requires="a14">
          <p:sp>
            <p:nvSpPr>
              <p:cNvPr id="10" name="CuadroTexto 9"/>
              <p:cNvSpPr txBox="1"/>
              <p:nvPr/>
            </p:nvSpPr>
            <p:spPr>
              <a:xfrm>
                <a:off x="6627234" y="2132951"/>
                <a:ext cx="2901336" cy="84055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sz="2000" i="1">
                              <a:latin typeface="Cambria Math" panose="02040503050406030204" pitchFamily="18" charset="0"/>
                            </a:rPr>
                          </m:ctrlPr>
                        </m:sSubPr>
                        <m:e>
                          <m:r>
                            <a:rPr lang="es-CL" sz="2000" i="1">
                              <a:latin typeface="Cambria Math" panose="02040503050406030204" pitchFamily="18" charset="0"/>
                            </a:rPr>
                            <m:t>𝑆𝑆</m:t>
                          </m:r>
                        </m:e>
                        <m:sub>
                          <m:r>
                            <a:rPr lang="es-CL" sz="2000" i="1">
                              <a:latin typeface="Cambria Math" panose="02040503050406030204" pitchFamily="18" charset="0"/>
                            </a:rPr>
                            <m:t>𝑡𝑜𝑡</m:t>
                          </m:r>
                        </m:sub>
                      </m:sSub>
                      <m:r>
                        <a:rPr lang="es-CL" sz="2000" i="1">
                          <a:latin typeface="Cambria Math" panose="02040503050406030204" pitchFamily="18" charset="0"/>
                        </a:rPr>
                        <m:t>=</m:t>
                      </m:r>
                      <m:nary>
                        <m:naryPr>
                          <m:chr m:val="∑"/>
                          <m:ctrlPr>
                            <a:rPr lang="es-CL" sz="2000" i="1">
                              <a:latin typeface="Cambria Math" panose="02040503050406030204" pitchFamily="18" charset="0"/>
                            </a:rPr>
                          </m:ctrlPr>
                        </m:naryPr>
                        <m:sub>
                          <m:r>
                            <m:rPr>
                              <m:brk m:alnAt="23"/>
                            </m:rPr>
                            <a:rPr lang="es-CL" sz="2000" i="1">
                              <a:latin typeface="Cambria Math" panose="02040503050406030204" pitchFamily="18" charset="0"/>
                            </a:rPr>
                            <m:t>𝑖</m:t>
                          </m:r>
                          <m:r>
                            <a:rPr lang="es-CL" sz="2000" i="1">
                              <a:latin typeface="Cambria Math" panose="02040503050406030204" pitchFamily="18" charset="0"/>
                            </a:rPr>
                            <m:t>=0</m:t>
                          </m:r>
                        </m:sub>
                        <m:sup>
                          <m:r>
                            <a:rPr lang="es-CL" sz="2000" i="1">
                              <a:latin typeface="Cambria Math" panose="02040503050406030204" pitchFamily="18" charset="0"/>
                            </a:rPr>
                            <m:t>𝑚</m:t>
                          </m:r>
                        </m:sup>
                        <m:e>
                          <m:sSup>
                            <m:sSupPr>
                              <m:ctrlPr>
                                <a:rPr lang="es-CL" sz="2000" i="1">
                                  <a:latin typeface="Cambria Math" panose="02040503050406030204" pitchFamily="18" charset="0"/>
                                </a:rPr>
                              </m:ctrlPr>
                            </m:sSupPr>
                            <m:e>
                              <m:r>
                                <a:rPr lang="es-CL" sz="2000" i="1">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𝑖</m:t>
                                  </m:r>
                                </m:sub>
                              </m:sSub>
                              <m:r>
                                <a:rPr lang="es-CL" sz="2000" i="1">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𝑦</m:t>
                                  </m:r>
                                </m:e>
                                <m:sub>
                                  <m:r>
                                    <a:rPr lang="es-CL" sz="2000" i="1">
                                      <a:latin typeface="Cambria Math" panose="02040503050406030204" pitchFamily="18" charset="0"/>
                                    </a:rPr>
                                    <m:t>𝑎𝑣𝑔</m:t>
                                  </m:r>
                                </m:sub>
                              </m:sSub>
                              <m:r>
                                <a:rPr lang="es-CL" sz="2000" i="1">
                                  <a:latin typeface="Cambria Math" panose="02040503050406030204" pitchFamily="18" charset="0"/>
                                </a:rPr>
                                <m:t>)</m:t>
                              </m:r>
                            </m:e>
                            <m:sup>
                              <m:r>
                                <a:rPr lang="es-CL" sz="2000" i="1">
                                  <a:latin typeface="Cambria Math" panose="02040503050406030204" pitchFamily="18" charset="0"/>
                                </a:rPr>
                                <m:t>2</m:t>
                              </m:r>
                            </m:sup>
                          </m:sSup>
                        </m:e>
                      </m:nary>
                    </m:oMath>
                  </m:oMathPara>
                </a14:m>
                <a:endParaRPr lang="es-CL" sz="2000" dirty="0"/>
              </a:p>
            </p:txBody>
          </p:sp>
        </mc:Choice>
        <mc:Fallback xmlns="">
          <p:sp>
            <p:nvSpPr>
              <p:cNvPr id="10" name="CuadroTexto 9"/>
              <p:cNvSpPr txBox="1">
                <a:spLocks noRot="1" noChangeAspect="1" noMove="1" noResize="1" noEditPoints="1" noAdjustHandles="1" noChangeArrowheads="1" noChangeShapeType="1" noTextEdit="1"/>
              </p:cNvSpPr>
              <p:nvPr/>
            </p:nvSpPr>
            <p:spPr>
              <a:xfrm>
                <a:off x="6627234" y="2132951"/>
                <a:ext cx="2901336" cy="840551"/>
              </a:xfrm>
              <a:prstGeom prst="rect">
                <a:avLst/>
              </a:prstGeom>
              <a:blipFill>
                <a:blip r:embed="rId4"/>
                <a:stretch>
                  <a:fillRect/>
                </a:stretch>
              </a:blipFill>
            </p:spPr>
            <p:txBody>
              <a:bodyPr/>
              <a:lstStyle/>
              <a:p>
                <a:r>
                  <a:rPr lang="en-US">
                    <a:noFill/>
                  </a:rPr>
                  <a:t> </a:t>
                </a:r>
              </a:p>
            </p:txBody>
          </p:sp>
        </mc:Fallback>
      </mc:AlternateContent>
      <p:sp>
        <p:nvSpPr>
          <p:cNvPr id="11" name="CuadroTexto 10"/>
          <p:cNvSpPr txBox="1"/>
          <p:nvPr/>
        </p:nvSpPr>
        <p:spPr>
          <a:xfrm>
            <a:off x="6843259" y="1733778"/>
            <a:ext cx="2173287" cy="369332"/>
          </a:xfrm>
          <a:prstGeom prst="rect">
            <a:avLst/>
          </a:prstGeom>
          <a:noFill/>
        </p:spPr>
        <p:txBody>
          <a:bodyPr wrap="none" rtlCol="0">
            <a:spAutoFit/>
          </a:bodyPr>
          <a:lstStyle/>
          <a:p>
            <a:r>
              <a:rPr lang="es-CL" dirty="0"/>
              <a:t>Total Sum of </a:t>
            </a:r>
            <a:r>
              <a:rPr lang="es-CL" dirty="0" err="1"/>
              <a:t>Squared</a:t>
            </a:r>
            <a:endParaRPr lang="es-CL" dirty="0"/>
          </a:p>
        </p:txBody>
      </p:sp>
      <mc:AlternateContent xmlns:mc="http://schemas.openxmlformats.org/markup-compatibility/2006" xmlns:a14="http://schemas.microsoft.com/office/drawing/2010/main">
        <mc:Choice Requires="a14">
          <p:sp>
            <p:nvSpPr>
              <p:cNvPr id="12" name="CuadroTexto 11"/>
              <p:cNvSpPr txBox="1"/>
              <p:nvPr/>
            </p:nvSpPr>
            <p:spPr>
              <a:xfrm>
                <a:off x="3851311" y="3223654"/>
                <a:ext cx="4018570" cy="12605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4000" i="1">
                              <a:latin typeface="Cambria Math" panose="02040503050406030204" pitchFamily="18" charset="0"/>
                            </a:rPr>
                          </m:ctrlPr>
                        </m:sSupPr>
                        <m:e>
                          <m:r>
                            <a:rPr lang="es-CL" sz="4000" i="1">
                              <a:latin typeface="Cambria Math" panose="02040503050406030204" pitchFamily="18" charset="0"/>
                            </a:rPr>
                            <m:t>𝑅</m:t>
                          </m:r>
                        </m:e>
                        <m:sup>
                          <m:r>
                            <a:rPr lang="es-CL" sz="4000" i="1">
                              <a:latin typeface="Cambria Math" panose="02040503050406030204" pitchFamily="18" charset="0"/>
                            </a:rPr>
                            <m:t>2</m:t>
                          </m:r>
                        </m:sup>
                      </m:sSup>
                      <m:r>
                        <a:rPr lang="es-CL" sz="4000" i="1">
                          <a:latin typeface="Cambria Math" panose="02040503050406030204" pitchFamily="18" charset="0"/>
                        </a:rPr>
                        <m:t>=1 − </m:t>
                      </m:r>
                      <m:f>
                        <m:fPr>
                          <m:ctrlPr>
                            <a:rPr lang="es-CL" sz="4000" i="1">
                              <a:latin typeface="Cambria Math" panose="02040503050406030204" pitchFamily="18" charset="0"/>
                            </a:rPr>
                          </m:ctrlPr>
                        </m:fPr>
                        <m:num>
                          <m:sSub>
                            <m:sSubPr>
                              <m:ctrlPr>
                                <a:rPr lang="es-CL" sz="4000" i="1">
                                  <a:latin typeface="Cambria Math" panose="02040503050406030204" pitchFamily="18" charset="0"/>
                                </a:rPr>
                              </m:ctrlPr>
                            </m:sSubPr>
                            <m:e>
                              <m:r>
                                <a:rPr lang="es-CL" sz="4000" i="1">
                                  <a:latin typeface="Cambria Math" panose="02040503050406030204" pitchFamily="18" charset="0"/>
                                </a:rPr>
                                <m:t>𝑆𝑆</m:t>
                              </m:r>
                            </m:e>
                            <m:sub>
                              <m:r>
                                <a:rPr lang="es-CL" sz="4000" i="1">
                                  <a:latin typeface="Cambria Math" panose="02040503050406030204" pitchFamily="18" charset="0"/>
                                </a:rPr>
                                <m:t>𝑟𝑒𝑠</m:t>
                              </m:r>
                            </m:sub>
                          </m:sSub>
                        </m:num>
                        <m:den>
                          <m:sSub>
                            <m:sSubPr>
                              <m:ctrlPr>
                                <a:rPr lang="es-CL" sz="4000" i="1">
                                  <a:latin typeface="Cambria Math" panose="02040503050406030204" pitchFamily="18" charset="0"/>
                                </a:rPr>
                              </m:ctrlPr>
                            </m:sSubPr>
                            <m:e>
                              <m:r>
                                <a:rPr lang="es-CL" sz="4000" i="1">
                                  <a:latin typeface="Cambria Math" panose="02040503050406030204" pitchFamily="18" charset="0"/>
                                </a:rPr>
                                <m:t>𝑆𝑆</m:t>
                              </m:r>
                            </m:e>
                            <m:sub>
                              <m:r>
                                <a:rPr lang="es-CL" sz="4000" i="1">
                                  <a:latin typeface="Cambria Math" panose="02040503050406030204" pitchFamily="18" charset="0"/>
                                </a:rPr>
                                <m:t>𝑡𝑜𝑡</m:t>
                              </m:r>
                            </m:sub>
                          </m:sSub>
                        </m:den>
                      </m:f>
                    </m:oMath>
                  </m:oMathPara>
                </a14:m>
                <a:endParaRPr lang="es-CL" sz="4000" dirty="0"/>
              </a:p>
            </p:txBody>
          </p:sp>
        </mc:Choice>
        <mc:Fallback xmlns="">
          <p:sp>
            <p:nvSpPr>
              <p:cNvPr id="12" name="CuadroTexto 11"/>
              <p:cNvSpPr txBox="1">
                <a:spLocks noRot="1" noChangeAspect="1" noMove="1" noResize="1" noEditPoints="1" noAdjustHandles="1" noChangeArrowheads="1" noChangeShapeType="1" noTextEdit="1"/>
              </p:cNvSpPr>
              <p:nvPr/>
            </p:nvSpPr>
            <p:spPr>
              <a:xfrm>
                <a:off x="3851311" y="3223654"/>
                <a:ext cx="4018570" cy="1260538"/>
              </a:xfrm>
              <a:prstGeom prst="rect">
                <a:avLst/>
              </a:prstGeom>
              <a:blipFill>
                <a:blip r:embed="rId5"/>
                <a:stretch>
                  <a:fillRect/>
                </a:stretch>
              </a:blipFill>
            </p:spPr>
            <p:txBody>
              <a:bodyPr/>
              <a:lstStyle/>
              <a:p>
                <a:r>
                  <a:rPr lang="en-US">
                    <a:noFill/>
                  </a:rPr>
                  <a:t> </a:t>
                </a:r>
              </a:p>
            </p:txBody>
          </p:sp>
        </mc:Fallback>
      </mc:AlternateContent>
      <p:sp>
        <p:nvSpPr>
          <p:cNvPr id="13" name="CuadroTexto 12"/>
          <p:cNvSpPr txBox="1"/>
          <p:nvPr/>
        </p:nvSpPr>
        <p:spPr>
          <a:xfrm>
            <a:off x="1765816" y="5150916"/>
            <a:ext cx="8664666" cy="830997"/>
          </a:xfrm>
          <a:prstGeom prst="rect">
            <a:avLst/>
          </a:prstGeom>
          <a:noFill/>
          <a:ln>
            <a:noFill/>
          </a:ln>
        </p:spPr>
        <p:txBody>
          <a:bodyPr wrap="square" rtlCol="0">
            <a:spAutoFit/>
          </a:bodyPr>
          <a:lstStyle/>
          <a:p>
            <a:pPr algn="just"/>
            <a:r>
              <a:rPr lang="es-CL" sz="1600" dirty="0">
                <a:solidFill>
                  <a:schemeClr val="tx1">
                    <a:lumMod val="65000"/>
                    <a:lumOff val="35000"/>
                  </a:schemeClr>
                </a:solidFill>
                <a:latin typeface="Source Sans Pro" panose="020B0503030403020204" pitchFamily="34" charset="0"/>
              </a:rPr>
              <a:t>El coeficiente determina la calidad del modelo para replicar los resultados, y la proporción de variación de los resultados que puede explicarse por el modelo. Un valor cercano a 1 indica que el modelo explica de mejor manera los datos.</a:t>
            </a:r>
          </a:p>
        </p:txBody>
      </p:sp>
    </p:spTree>
    <p:extLst>
      <p:ext uri="{BB962C8B-B14F-4D97-AF65-F5344CB8AC3E}">
        <p14:creationId xmlns:p14="http://schemas.microsoft.com/office/powerpoint/2010/main" val="79759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6" name="Título 1"/>
          <p:cNvSpPr txBox="1">
            <a:spLocks/>
          </p:cNvSpPr>
          <p:nvPr/>
        </p:nvSpPr>
        <p:spPr bwMode="auto">
          <a:xfrm>
            <a:off x="1566153" y="95715"/>
            <a:ext cx="8988357"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MX" sz="3200" dirty="0">
                <a:solidFill>
                  <a:schemeClr val="bg1">
                    <a:lumMod val="50000"/>
                  </a:schemeClr>
                </a:solidFill>
                <a:latin typeface="Arial" panose="020B0604020202020204" pitchFamily="34" charset="0"/>
                <a:cs typeface="Arial" panose="020B0604020202020204" pitchFamily="34" charset="0"/>
              </a:rPr>
              <a:t>R Cuadrado Ajustado</a:t>
            </a:r>
          </a:p>
        </p:txBody>
      </p:sp>
      <p:sp>
        <p:nvSpPr>
          <p:cNvPr id="7" name="Rectángulo redondeado 4">
            <a:extLst>
              <a:ext uri="{FF2B5EF4-FFF2-40B4-BE49-F238E27FC236}">
                <a16:creationId xmlns:a16="http://schemas.microsoft.com/office/drawing/2014/main" id="{EEF64A50-BFC1-6219-5B5B-FB92BB3A07A2}"/>
              </a:ext>
            </a:extLst>
          </p:cNvPr>
          <p:cNvSpPr/>
          <p:nvPr/>
        </p:nvSpPr>
        <p:spPr>
          <a:xfrm>
            <a:off x="1566153" y="1264595"/>
            <a:ext cx="8988357" cy="4747099"/>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8" name="CuadroTexto 7"/>
          <p:cNvSpPr txBox="1"/>
          <p:nvPr/>
        </p:nvSpPr>
        <p:spPr>
          <a:xfrm>
            <a:off x="1745912" y="1390282"/>
            <a:ext cx="8632835" cy="830997"/>
          </a:xfrm>
          <a:prstGeom prst="rect">
            <a:avLst/>
          </a:prstGeom>
          <a:noFill/>
        </p:spPr>
        <p:txBody>
          <a:bodyPr wrap="square" lIns="91440" tIns="45720" rIns="91440" bIns="45720" rtlCol="0" anchor="t">
            <a:spAutoFit/>
          </a:bodyPr>
          <a:lstStyle/>
          <a:p>
            <a:pPr algn="just"/>
            <a:r>
              <a:rPr lang="es-ES" sz="1600" dirty="0">
                <a:solidFill>
                  <a:schemeClr val="tx1">
                    <a:lumMod val="65000"/>
                    <a:lumOff val="35000"/>
                  </a:schemeClr>
                </a:solidFill>
                <a:latin typeface="+mn-lt"/>
              </a:rPr>
              <a:t>El coeficiente R cuadrado tiende a mejorar en la medida que los modelos lineales agregan más predictores. R cuadrado ajustado intenta corregir esta estimación de forma de analizar de mejor manera si mejora la calidad de un modelo al agregar un predictor.</a:t>
            </a:r>
          </a:p>
        </p:txBody>
      </p:sp>
      <p:sp>
        <p:nvSpPr>
          <p:cNvPr id="9" name="CuadroTexto 8"/>
          <p:cNvSpPr txBox="1"/>
          <p:nvPr/>
        </p:nvSpPr>
        <p:spPr>
          <a:xfrm>
            <a:off x="4698459" y="4937369"/>
            <a:ext cx="2850205" cy="830997"/>
          </a:xfrm>
          <a:prstGeom prst="rect">
            <a:avLst/>
          </a:prstGeom>
          <a:solidFill>
            <a:schemeClr val="bg1">
              <a:lumMod val="95000"/>
            </a:schemeClr>
          </a:solidFill>
          <a:ln>
            <a:solidFill>
              <a:schemeClr val="bg1">
                <a:lumMod val="85000"/>
              </a:schemeClr>
            </a:solidFill>
          </a:ln>
        </p:spPr>
        <p:txBody>
          <a:bodyPr wrap="square" rtlCol="0">
            <a:spAutoFit/>
          </a:bodyPr>
          <a:lstStyle/>
          <a:p>
            <a:pPr algn="just"/>
            <a:r>
              <a:rPr lang="es-CL" sz="1600" b="1" dirty="0">
                <a:solidFill>
                  <a:schemeClr val="tx1">
                    <a:lumMod val="65000"/>
                    <a:lumOff val="35000"/>
                  </a:schemeClr>
                </a:solidFill>
                <a:latin typeface="+mn-lt"/>
              </a:rPr>
              <a:t>En donde,</a:t>
            </a:r>
          </a:p>
          <a:p>
            <a:pPr algn="just"/>
            <a:r>
              <a:rPr lang="es-CL" sz="1600" b="1" dirty="0">
                <a:solidFill>
                  <a:schemeClr val="tx1">
                    <a:lumMod val="65000"/>
                    <a:lumOff val="35000"/>
                  </a:schemeClr>
                </a:solidFill>
                <a:latin typeface="+mn-lt"/>
              </a:rPr>
              <a:t>    p: número de </a:t>
            </a:r>
            <a:r>
              <a:rPr lang="es-CL" sz="1600" b="1" dirty="0" err="1">
                <a:solidFill>
                  <a:schemeClr val="tx1">
                    <a:lumMod val="65000"/>
                    <a:lumOff val="35000"/>
                  </a:schemeClr>
                </a:solidFill>
                <a:latin typeface="+mn-lt"/>
              </a:rPr>
              <a:t>regresores</a:t>
            </a:r>
            <a:endParaRPr lang="es-CL" sz="1600" b="1" dirty="0">
              <a:solidFill>
                <a:schemeClr val="tx1">
                  <a:lumMod val="65000"/>
                  <a:lumOff val="35000"/>
                </a:schemeClr>
              </a:solidFill>
              <a:latin typeface="+mn-lt"/>
            </a:endParaRPr>
          </a:p>
          <a:p>
            <a:pPr algn="just"/>
            <a:r>
              <a:rPr lang="es-CL" sz="1600" b="1" dirty="0">
                <a:solidFill>
                  <a:schemeClr val="tx1">
                    <a:lumMod val="65000"/>
                    <a:lumOff val="35000"/>
                  </a:schemeClr>
                </a:solidFill>
                <a:latin typeface="+mn-lt"/>
              </a:rPr>
              <a:t>    n: número de mediciones</a:t>
            </a:r>
          </a:p>
        </p:txBody>
      </p:sp>
      <mc:AlternateContent xmlns:mc="http://schemas.openxmlformats.org/markup-compatibility/2006" xmlns:a14="http://schemas.microsoft.com/office/drawing/2010/main">
        <mc:Choice Requires="a14">
          <p:sp>
            <p:nvSpPr>
              <p:cNvPr id="10" name="CuadroTexto 9"/>
              <p:cNvSpPr txBox="1"/>
              <p:nvPr/>
            </p:nvSpPr>
            <p:spPr>
              <a:xfrm>
                <a:off x="2271134" y="3259942"/>
                <a:ext cx="7704856" cy="10080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sz="3200" i="1">
                              <a:latin typeface="Cambria Math" panose="02040503050406030204" pitchFamily="18" charset="0"/>
                            </a:rPr>
                          </m:ctrlPr>
                        </m:sSubPr>
                        <m:e>
                          <m:sSup>
                            <m:sSupPr>
                              <m:ctrlPr>
                                <a:rPr lang="es-CL" sz="3200" i="1">
                                  <a:latin typeface="Cambria Math" panose="02040503050406030204" pitchFamily="18" charset="0"/>
                                </a:rPr>
                              </m:ctrlPr>
                            </m:sSupPr>
                            <m:e>
                              <m:r>
                                <a:rPr lang="es-CL" sz="3200" i="1">
                                  <a:latin typeface="Cambria Math" panose="02040503050406030204" pitchFamily="18" charset="0"/>
                                </a:rPr>
                                <m:t>𝑅</m:t>
                              </m:r>
                            </m:e>
                            <m:sup>
                              <m:r>
                                <a:rPr lang="es-CL" sz="3200" i="1">
                                  <a:latin typeface="Cambria Math" panose="02040503050406030204" pitchFamily="18" charset="0"/>
                                </a:rPr>
                                <m:t>2</m:t>
                              </m:r>
                            </m:sup>
                          </m:sSup>
                        </m:e>
                        <m:sub>
                          <m:r>
                            <a:rPr lang="es-CL" sz="3200" i="1">
                              <a:latin typeface="Cambria Math" panose="02040503050406030204" pitchFamily="18" charset="0"/>
                            </a:rPr>
                            <m:t>𝑎𝑑𝑗</m:t>
                          </m:r>
                        </m:sub>
                      </m:sSub>
                      <m:r>
                        <a:rPr lang="es-CL" sz="3200" i="1">
                          <a:latin typeface="Cambria Math" panose="02040503050406030204" pitchFamily="18" charset="0"/>
                        </a:rPr>
                        <m:t>=1 −(1 − </m:t>
                      </m:r>
                      <m:sSup>
                        <m:sSupPr>
                          <m:ctrlPr>
                            <a:rPr lang="es-CL" sz="3200" i="1">
                              <a:latin typeface="Cambria Math" panose="02040503050406030204" pitchFamily="18" charset="0"/>
                            </a:rPr>
                          </m:ctrlPr>
                        </m:sSupPr>
                        <m:e>
                          <m:r>
                            <a:rPr lang="es-CL" sz="3200" i="1">
                              <a:latin typeface="Cambria Math" panose="02040503050406030204" pitchFamily="18" charset="0"/>
                            </a:rPr>
                            <m:t>𝑅</m:t>
                          </m:r>
                        </m:e>
                        <m:sup>
                          <m:r>
                            <a:rPr lang="es-CL" sz="3200" i="1">
                              <a:latin typeface="Cambria Math" panose="02040503050406030204" pitchFamily="18" charset="0"/>
                            </a:rPr>
                            <m:t>2</m:t>
                          </m:r>
                        </m:sup>
                      </m:sSup>
                      <m:r>
                        <a:rPr lang="es-CL" sz="3200" i="1">
                          <a:latin typeface="Cambria Math" panose="02040503050406030204" pitchFamily="18" charset="0"/>
                        </a:rPr>
                        <m:t>) </m:t>
                      </m:r>
                      <m:f>
                        <m:fPr>
                          <m:ctrlPr>
                            <a:rPr lang="es-CL" sz="3200" i="1">
                              <a:latin typeface="Cambria Math" panose="02040503050406030204" pitchFamily="18" charset="0"/>
                            </a:rPr>
                          </m:ctrlPr>
                        </m:fPr>
                        <m:num>
                          <m:r>
                            <a:rPr lang="es-CL" sz="3200" i="1">
                              <a:latin typeface="Cambria Math" panose="02040503050406030204" pitchFamily="18" charset="0"/>
                            </a:rPr>
                            <m:t>𝑛</m:t>
                          </m:r>
                          <m:r>
                            <a:rPr lang="es-CL" sz="3200" i="1">
                              <a:latin typeface="Cambria Math" panose="02040503050406030204" pitchFamily="18" charset="0"/>
                            </a:rPr>
                            <m:t> −1 </m:t>
                          </m:r>
                        </m:num>
                        <m:den>
                          <m:r>
                            <a:rPr lang="es-CL" sz="3200" i="1">
                              <a:latin typeface="Cambria Math" panose="02040503050406030204" pitchFamily="18" charset="0"/>
                            </a:rPr>
                            <m:t>𝑛</m:t>
                          </m:r>
                          <m:r>
                            <a:rPr lang="es-CL" sz="3200" i="1">
                              <a:latin typeface="Cambria Math" panose="02040503050406030204" pitchFamily="18" charset="0"/>
                            </a:rPr>
                            <m:t> −</m:t>
                          </m:r>
                          <m:r>
                            <a:rPr lang="es-CL" sz="3200" i="1">
                              <a:latin typeface="Cambria Math" panose="02040503050406030204" pitchFamily="18" charset="0"/>
                            </a:rPr>
                            <m:t>𝑝</m:t>
                          </m:r>
                          <m:r>
                            <a:rPr lang="es-CL" sz="3200" i="1">
                              <a:latin typeface="Cambria Math" panose="02040503050406030204" pitchFamily="18" charset="0"/>
                            </a:rPr>
                            <m:t> −1</m:t>
                          </m:r>
                        </m:den>
                      </m:f>
                    </m:oMath>
                  </m:oMathPara>
                </a14:m>
                <a:endParaRPr lang="es-CL" sz="3200" dirty="0">
                  <a:latin typeface="Source Sans Pro" panose="020B0503030403020204" pitchFamily="34" charset="0"/>
                </a:endParaRPr>
              </a:p>
            </p:txBody>
          </p:sp>
        </mc:Choice>
        <mc:Fallback xmlns="">
          <p:sp>
            <p:nvSpPr>
              <p:cNvPr id="10" name="CuadroTexto 9"/>
              <p:cNvSpPr txBox="1">
                <a:spLocks noRot="1" noChangeAspect="1" noMove="1" noResize="1" noEditPoints="1" noAdjustHandles="1" noChangeArrowheads="1" noChangeShapeType="1" noTextEdit="1"/>
              </p:cNvSpPr>
              <p:nvPr/>
            </p:nvSpPr>
            <p:spPr>
              <a:xfrm>
                <a:off x="2271134" y="3259942"/>
                <a:ext cx="7704856" cy="100809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7696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
        <p:nvSpPr>
          <p:cNvPr id="7" name="Rectángulo redondeado 6"/>
          <p:cNvSpPr/>
          <p:nvPr/>
        </p:nvSpPr>
        <p:spPr>
          <a:xfrm>
            <a:off x="815966" y="1453167"/>
            <a:ext cx="4656305" cy="3451659"/>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ángulo redondeado 1">
            <a:extLst>
              <a:ext uri="{FF2B5EF4-FFF2-40B4-BE49-F238E27FC236}">
                <a16:creationId xmlns:a16="http://schemas.microsoft.com/office/drawing/2014/main" id="{C3570969-2E5F-D2A5-C789-0C6E1197D972}"/>
              </a:ext>
            </a:extLst>
          </p:cNvPr>
          <p:cNvSpPr/>
          <p:nvPr/>
        </p:nvSpPr>
        <p:spPr>
          <a:xfrm>
            <a:off x="5987144" y="669394"/>
            <a:ext cx="4996542" cy="5619809"/>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Título 1"/>
          <p:cNvSpPr>
            <a:spLocks noGrp="1"/>
          </p:cNvSpPr>
          <p:nvPr>
            <p:ph type="title"/>
          </p:nvPr>
        </p:nvSpPr>
        <p:spPr>
          <a:xfrm>
            <a:off x="810727" y="555901"/>
            <a:ext cx="9862694" cy="480002"/>
          </a:xfrm>
        </p:spPr>
        <p:txBody>
          <a:bodyPr/>
          <a:lstStyle/>
          <a:p>
            <a:pPr algn="just" eaLnBrk="1" fontAlgn="auto" hangingPunct="1">
              <a:lnSpc>
                <a:spcPct val="150000"/>
              </a:lnSpc>
              <a:spcAft>
                <a:spcPts val="0"/>
              </a:spcAft>
              <a:defRPr/>
            </a:pPr>
            <a:r>
              <a:rPr lang="es-CL" sz="3200" dirty="0">
                <a:solidFill>
                  <a:schemeClr val="bg1">
                    <a:lumMod val="50000"/>
                  </a:schemeClr>
                </a:solidFill>
                <a:latin typeface="Arial" panose="020B0604020202020204" pitchFamily="34" charset="0"/>
                <a:cs typeface="Arial" panose="020B0604020202020204" pitchFamily="34" charset="0"/>
              </a:rPr>
              <a:t>Evaluando el modelo</a:t>
            </a:r>
          </a:p>
        </p:txBody>
      </p:sp>
      <p:sp>
        <p:nvSpPr>
          <p:cNvPr id="12" name="CuadroTexto 11"/>
          <p:cNvSpPr txBox="1"/>
          <p:nvPr/>
        </p:nvSpPr>
        <p:spPr>
          <a:xfrm>
            <a:off x="1102606" y="1574209"/>
            <a:ext cx="3659872" cy="1323439"/>
          </a:xfrm>
          <a:prstGeom prst="rect">
            <a:avLst/>
          </a:prstGeom>
          <a:noFill/>
        </p:spPr>
        <p:txBody>
          <a:bodyPr wrap="square" rtlCol="0">
            <a:spAutoFit/>
          </a:bodyPr>
          <a:lstStyle/>
          <a:p>
            <a:pPr algn="just"/>
            <a:r>
              <a:rPr lang="es-ES" sz="1600" dirty="0">
                <a:solidFill>
                  <a:schemeClr val="bg1"/>
                </a:solidFill>
                <a:latin typeface="+mn-lt"/>
              </a:rPr>
              <a:t>Al aplicar la función OLS, obtenemos los coeficientes R cuadrado y R cuadrado ajustado. Debemos ir viendo cómo se comporta este indicador en la medida que vamos eliminando variables.</a:t>
            </a:r>
          </a:p>
        </p:txBody>
      </p:sp>
      <p:pic>
        <p:nvPicPr>
          <p:cNvPr id="20" name="Imagen 19"/>
          <p:cNvPicPr>
            <a:picLocks noChangeAspect="1"/>
          </p:cNvPicPr>
          <p:nvPr/>
        </p:nvPicPr>
        <p:blipFill>
          <a:blip r:embed="rId3"/>
          <a:stretch>
            <a:fillRect/>
          </a:stretch>
        </p:blipFill>
        <p:spPr>
          <a:xfrm>
            <a:off x="6476622" y="921065"/>
            <a:ext cx="4292893" cy="5084560"/>
          </a:xfrm>
          <a:prstGeom prst="rect">
            <a:avLst/>
          </a:prstGeom>
        </p:spPr>
      </p:pic>
      <p:sp>
        <p:nvSpPr>
          <p:cNvPr id="21" name="Rectángulo 20"/>
          <p:cNvSpPr/>
          <p:nvPr/>
        </p:nvSpPr>
        <p:spPr>
          <a:xfrm>
            <a:off x="8996090" y="1153612"/>
            <a:ext cx="1668760" cy="5637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16849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p:cNvSpPr/>
          <p:nvPr/>
        </p:nvSpPr>
        <p:spPr>
          <a:xfrm>
            <a:off x="-749030" y="3132234"/>
            <a:ext cx="7964307" cy="894946"/>
          </a:xfrm>
          <a:prstGeom prst="roundRect">
            <a:avLst>
              <a:gd name="adj" fmla="val 2778"/>
            </a:avLst>
          </a:prstGeom>
          <a:gradFill flip="none" rotWithShape="1">
            <a:gsLst>
              <a:gs pos="0">
                <a:srgbClr val="732C61">
                  <a:shade val="30000"/>
                  <a:satMod val="115000"/>
                </a:srgbClr>
              </a:gs>
              <a:gs pos="50000">
                <a:srgbClr val="732C61">
                  <a:shade val="67500"/>
                  <a:satMod val="115000"/>
                </a:srgbClr>
              </a:gs>
              <a:gs pos="100000">
                <a:srgbClr val="732C61">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ítulo 1"/>
          <p:cNvSpPr txBox="1">
            <a:spLocks/>
          </p:cNvSpPr>
          <p:nvPr/>
        </p:nvSpPr>
        <p:spPr bwMode="auto">
          <a:xfrm>
            <a:off x="2768633" y="2835053"/>
            <a:ext cx="4446644" cy="148930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Dudas y consultas</a:t>
            </a:r>
          </a:p>
        </p:txBody>
      </p:sp>
    </p:spTree>
    <p:extLst>
      <p:ext uri="{BB962C8B-B14F-4D97-AF65-F5344CB8AC3E}">
        <p14:creationId xmlns:p14="http://schemas.microsoft.com/office/powerpoint/2010/main" val="3944547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txBox="1">
            <a:spLocks/>
          </p:cNvSpPr>
          <p:nvPr/>
        </p:nvSpPr>
        <p:spPr bwMode="auto">
          <a:xfrm>
            <a:off x="462603" y="2924969"/>
            <a:ext cx="10782300" cy="1008062"/>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Source Sans Pro"/>
                <a:cs typeface="Arial" panose="020B0604020202020204" pitchFamily="34" charset="0"/>
              </a:rPr>
              <a:t>Fin presentación</a:t>
            </a:r>
          </a:p>
        </p:txBody>
      </p:sp>
    </p:spTree>
    <p:extLst>
      <p:ext uri="{BB962C8B-B14F-4D97-AF65-F5344CB8AC3E}">
        <p14:creationId xmlns:p14="http://schemas.microsoft.com/office/powerpoint/2010/main" val="313078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B05674-0616-4E66-A9FD-3C514085E54B}">
  <ds:schemaRefs>
    <ds:schemaRef ds:uri="http://schemas.microsoft.com/sharepoint/v3/contenttype/forms"/>
  </ds:schemaRefs>
</ds:datastoreItem>
</file>

<file path=customXml/itemProps3.xml><?xml version="1.0" encoding="utf-8"?>
<ds:datastoreItem xmlns:ds="http://schemas.openxmlformats.org/officeDocument/2006/customXml" ds:itemID="{BE26BDBF-E58D-4DAC-8738-D11056BF4C72}">
  <ds:schemaRefs>
    <ds:schemaRef ds:uri="http://purl.org/dc/terms/"/>
    <ds:schemaRef ds:uri="http://schemas.openxmlformats.org/package/2006/metadata/core-properties"/>
    <ds:schemaRef ds:uri="http://schemas.microsoft.com/office/2006/metadata/properties"/>
    <ds:schemaRef ds:uri="http://www.w3.org/XML/1998/namespace"/>
    <ds:schemaRef ds:uri="http://purl.org/dc/dcmitype/"/>
    <ds:schemaRef ds:uri="http://schemas.microsoft.com/office/2006/documentManagement/types"/>
    <ds:schemaRef ds:uri="http://purl.org/dc/elements/1.1/"/>
    <ds:schemaRef ds:uri="http://schemas.microsoft.com/office/infopath/2007/PartnerControls"/>
    <ds:schemaRef ds:uri="6171001b-fa9d-409b-8713-8b6a17935d68"/>
    <ds:schemaRef ds:uri="470d2f17-52cb-407b-8136-5e632d1cee08"/>
  </ds:schemaRefs>
</ds:datastoreItem>
</file>

<file path=docProps/app.xml><?xml version="1.0" encoding="utf-8"?>
<Properties xmlns="http://schemas.openxmlformats.org/officeDocument/2006/extended-properties" xmlns:vt="http://schemas.openxmlformats.org/officeDocument/2006/docPropsVTypes">
  <TotalTime>7740</TotalTime>
  <Words>819</Words>
  <Application>Microsoft Office PowerPoint</Application>
  <PresentationFormat>Panorámica</PresentationFormat>
  <Paragraphs>89</Paragraphs>
  <Slides>17</Slides>
  <Notes>0</Notes>
  <HiddenSlides>0</HiddenSlides>
  <MMClips>0</MMClips>
  <ScaleCrop>false</ScaleCrop>
  <HeadingPairs>
    <vt:vector size="4" baseType="variant">
      <vt:variant>
        <vt:lpstr>Tema</vt:lpstr>
      </vt:variant>
      <vt:variant>
        <vt:i4>2</vt:i4>
      </vt:variant>
      <vt:variant>
        <vt:lpstr>Títulos de diapositiva</vt:lpstr>
      </vt:variant>
      <vt:variant>
        <vt:i4>17</vt:i4>
      </vt:variant>
    </vt:vector>
  </HeadingPairs>
  <TitlesOfParts>
    <vt:vector size="19" baseType="lpstr">
      <vt:lpstr>Tema de Office</vt:lpstr>
      <vt:lpstr>1_Tema de Office</vt:lpstr>
      <vt:lpstr>Selección del Modelo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Evaluando el modelo</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Diseño ITA</cp:lastModifiedBy>
  <cp:revision>445</cp:revision>
  <dcterms:created xsi:type="dcterms:W3CDTF">2023-01-03T12:28:26Z</dcterms:created>
  <dcterms:modified xsi:type="dcterms:W3CDTF">2025-09-26T13:01:36Z</dcterms:modified>
</cp:coreProperties>
</file>