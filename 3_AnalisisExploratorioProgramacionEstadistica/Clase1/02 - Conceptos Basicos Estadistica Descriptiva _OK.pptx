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i6F20AV7m+6IPUI/FxRCIcomadi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FA939D-9960-1F99-3C08-604DD1BBF094}" v="4" dt="2025-09-26T12:11:07.2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48FA939D-9960-1F99-3C08-604DD1BBF094}"/>
    <pc:docChg chg="modSld">
      <pc:chgData name="Soraya Salazar" userId="S::soraya.salazar@kibernumacademy.com::fdf00a5c-f577-43dc-8064-9968cad83607" providerId="AD" clId="Web-{48FA939D-9960-1F99-3C08-604DD1BBF094}" dt="2025-09-26T12:11:07.245" v="1" actId="20577"/>
      <pc:docMkLst>
        <pc:docMk/>
      </pc:docMkLst>
      <pc:sldChg chg="modSp">
        <pc:chgData name="Soraya Salazar" userId="S::soraya.salazar@kibernumacademy.com::fdf00a5c-f577-43dc-8064-9968cad83607" providerId="AD" clId="Web-{48FA939D-9960-1F99-3C08-604DD1BBF094}" dt="2025-09-26T12:11:07.245" v="1" actId="20577"/>
        <pc:sldMkLst>
          <pc:docMk/>
          <pc:sldMk cId="0" sldId="256"/>
        </pc:sldMkLst>
        <pc:spChg chg="mod">
          <ac:chgData name="Soraya Salazar" userId="S::soraya.salazar@kibernumacademy.com::fdf00a5c-f577-43dc-8064-9968cad83607" providerId="AD" clId="Web-{48FA939D-9960-1F99-3C08-604DD1BBF094}" dt="2025-09-26T12:11:07.245" v="1" actId="20577"/>
          <ac:spMkLst>
            <pc:docMk/>
            <pc:sldMk cId="0" sldId="256"/>
            <ac:spMk id="8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1" name="Google Shape;11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6" name="Google Shape;12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9" name="Google Shape;13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8" name="Google Shape;14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8" name="Google Shape;16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7" name="Google Shape;17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7" name="Google Shape;18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6" name="Google Shape;19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6" name="Google Shape;20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7" name="Google Shape;21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6" name="Google Shape;22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6" name="Google Shape;23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5" name="Google Shape;24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1" name="Google Shape;25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2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 name="Google Shape;29;p2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2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2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2" name="Google Shape;42;p2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0" name="Google Shape;60;p2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7" name="Google Shape;67;p27"/>
          <p:cNvSpPr>
            <a:spLocks noGrp="1"/>
          </p:cNvSpPr>
          <p:nvPr>
            <p:ph type="pic" idx="2"/>
          </p:nvPr>
        </p:nvSpPr>
        <p:spPr>
          <a:xfrm>
            <a:off x="5183188" y="987425"/>
            <a:ext cx="6172200" cy="4873625"/>
          </a:xfrm>
          <a:prstGeom prst="rect">
            <a:avLst/>
          </a:prstGeom>
          <a:noFill/>
          <a:ln>
            <a:noFill/>
          </a:ln>
        </p:spPr>
      </p:sp>
      <p:sp>
        <p:nvSpPr>
          <p:cNvPr id="68" name="Google Shape;68;p2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4" name="Google Shape;74;p2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2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2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descr="Diagrama&#10;&#10;Descripción generada automáticamente con confianza media"/>
          <p:cNvPicPr preferRelativeResize="0"/>
          <p:nvPr/>
        </p:nvPicPr>
        <p:blipFill rotWithShape="1">
          <a:blip r:embed="rId3">
            <a:alphaModFix/>
          </a:blip>
          <a:srcRect/>
          <a:stretch/>
        </p:blipFill>
        <p:spPr>
          <a:xfrm>
            <a:off x="0" y="0"/>
            <a:ext cx="12192000" cy="7037762"/>
          </a:xfrm>
          <a:prstGeom prst="rect">
            <a:avLst/>
          </a:prstGeom>
          <a:noFill/>
          <a:ln>
            <a:noFill/>
          </a:ln>
        </p:spPr>
      </p:pic>
      <p:sp>
        <p:nvSpPr>
          <p:cNvPr id="89" name="Google Shape;89;p1"/>
          <p:cNvSpPr txBox="1"/>
          <p:nvPr/>
        </p:nvSpPr>
        <p:spPr>
          <a:xfrm>
            <a:off x="3890331" y="3191318"/>
            <a:ext cx="6873463" cy="369291"/>
          </a:xfrm>
          <a:prstGeom prst="rect">
            <a:avLst/>
          </a:prstGeom>
          <a:noFill/>
          <a:ln>
            <a:noFill/>
          </a:ln>
        </p:spPr>
        <p:txBody>
          <a:bodyPr spcFirstLastPara="1" wrap="square" lIns="91425" tIns="45700" rIns="91425" bIns="45700" anchor="t" anchorCtr="0">
            <a:spAutoFit/>
          </a:bodyPr>
          <a:lstStyle/>
          <a:p>
            <a:pPr>
              <a:buClr>
                <a:schemeClr val="lt1"/>
              </a:buClr>
              <a:buSzPts val="1800"/>
            </a:pPr>
            <a:r>
              <a:rPr lang="es-ES" sz="1800" b="1">
                <a:solidFill>
                  <a:schemeClr val="lt1"/>
                </a:solidFill>
              </a:rPr>
              <a:t> </a:t>
            </a:r>
            <a:r>
              <a:rPr lang="es-ES" sz="1800" b="1" i="0" u="none" strike="noStrike" cap="none">
                <a:solidFill>
                  <a:schemeClr val="lt1"/>
                </a:solidFill>
                <a:latin typeface="Arial"/>
                <a:ea typeface="Arial"/>
                <a:cs typeface="Arial"/>
                <a:sym typeface="Arial"/>
              </a:rPr>
              <a:t>Análisis Exploratorio y Programación Estadística</a:t>
            </a:r>
            <a:endParaRPr sz="1800" b="0" i="0" u="none" strike="noStrike" cap="none">
              <a:solidFill>
                <a:schemeClr val="lt1"/>
              </a:solidFill>
              <a:latin typeface="Calibri"/>
              <a:ea typeface="Calibri"/>
              <a:cs typeface="Calibri"/>
              <a:sym typeface="Calibri"/>
            </a:endParaRPr>
          </a:p>
        </p:txBody>
      </p:sp>
      <p:sp>
        <p:nvSpPr>
          <p:cNvPr id="90" name="Google Shape;90;p1"/>
          <p:cNvSpPr/>
          <p:nvPr/>
        </p:nvSpPr>
        <p:spPr>
          <a:xfrm>
            <a:off x="3474721" y="3715090"/>
            <a:ext cx="7289073" cy="1655893"/>
          </a:xfrm>
          <a:prstGeom prst="roundRect">
            <a:avLst>
              <a:gd name="adj" fmla="val 7874"/>
            </a:avLst>
          </a:prstGeom>
          <a:solidFill>
            <a:schemeClr val="dk1">
              <a:alpha val="75686"/>
            </a:schemeClr>
          </a:solidFill>
          <a:ln>
            <a:noFill/>
          </a:ln>
        </p:spPr>
        <p:txBody>
          <a:bodyPr spcFirstLastPara="1" wrap="square" lIns="91425" tIns="45700" rIns="540000" bIns="45700" anchor="ctr" anchorCtr="0">
            <a:noAutofit/>
          </a:bodyPr>
          <a:lstStyle/>
          <a:p>
            <a:pPr marL="0" marR="0" lvl="0" indent="0" algn="ctr" rtl="0">
              <a:spcBef>
                <a:spcPts val="0"/>
              </a:spcBef>
              <a:spcAft>
                <a:spcPts val="0"/>
              </a:spcAft>
              <a:buNone/>
            </a:pPr>
            <a:endParaRPr sz="2800" b="1" i="0" u="none" strike="noStrike" cap="none">
              <a:solidFill>
                <a:schemeClr val="lt1"/>
              </a:solidFill>
              <a:latin typeface="Calibri"/>
              <a:ea typeface="Calibri"/>
              <a:cs typeface="Calibri"/>
              <a:sym typeface="Calibri"/>
            </a:endParaRPr>
          </a:p>
        </p:txBody>
      </p:sp>
      <p:sp>
        <p:nvSpPr>
          <p:cNvPr id="91" name="Google Shape;91;p1"/>
          <p:cNvSpPr txBox="1">
            <a:spLocks noGrp="1"/>
          </p:cNvSpPr>
          <p:nvPr>
            <p:ph type="ctrTitle"/>
          </p:nvPr>
        </p:nvSpPr>
        <p:spPr>
          <a:xfrm>
            <a:off x="3890331" y="3904847"/>
            <a:ext cx="6632128" cy="1276377"/>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r>
              <a:rPr lang="es-ES" sz="4400" b="1">
                <a:solidFill>
                  <a:schemeClr val="lt1"/>
                </a:solidFill>
                <a:latin typeface="Arial"/>
                <a:ea typeface="Arial"/>
                <a:cs typeface="Arial"/>
                <a:sym typeface="Arial"/>
              </a:rPr>
              <a:t>Conceptos Básicos de   Estadística Descriptiva</a:t>
            </a:r>
            <a:endParaRPr sz="44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p:nvPr/>
        </p:nvSpPr>
        <p:spPr>
          <a:xfrm>
            <a:off x="752949" y="706724"/>
            <a:ext cx="2290353"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Definición</a:t>
            </a:r>
            <a:endParaRPr/>
          </a:p>
        </p:txBody>
      </p:sp>
      <p:sp>
        <p:nvSpPr>
          <p:cNvPr id="98" name="Google Shape;98;p2"/>
          <p:cNvSpPr/>
          <p:nvPr/>
        </p:nvSpPr>
        <p:spPr>
          <a:xfrm>
            <a:off x="3620393" y="755591"/>
            <a:ext cx="7911013" cy="5221340"/>
          </a:xfrm>
          <a:prstGeom prst="roundRect">
            <a:avLst>
              <a:gd name="adj" fmla="val 2971"/>
            </a:avLst>
          </a:prstGeom>
          <a:solidFill>
            <a:srgbClr val="343541"/>
          </a:solidFill>
          <a:ln w="38100" cap="flat" cmpd="sng">
            <a:solidFill>
              <a:srgbClr val="078C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99" name="Google Shape;99;p2"/>
          <p:cNvPicPr preferRelativeResize="0"/>
          <p:nvPr/>
        </p:nvPicPr>
        <p:blipFill rotWithShape="1">
          <a:blip r:embed="rId3">
            <a:alphaModFix/>
          </a:blip>
          <a:srcRect/>
          <a:stretch/>
        </p:blipFill>
        <p:spPr>
          <a:xfrm>
            <a:off x="3727146" y="958353"/>
            <a:ext cx="7574242" cy="481581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fade">
                                      <p:cBhvr>
                                        <p:cTn id="7"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p:nvPr/>
        </p:nvSpPr>
        <p:spPr>
          <a:xfrm>
            <a:off x="-239961" y="2082800"/>
            <a:ext cx="7167418" cy="3490686"/>
          </a:xfrm>
          <a:prstGeom prst="roundRect">
            <a:avLst>
              <a:gd name="adj" fmla="val 2971"/>
            </a:avLst>
          </a:prstGeom>
          <a:gradFill>
            <a:gsLst>
              <a:gs pos="0">
                <a:srgbClr val="00546B"/>
              </a:gs>
              <a:gs pos="50000">
                <a:srgbClr val="007B9B"/>
              </a:gs>
              <a:gs pos="100000">
                <a:srgbClr val="0093B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 name="Google Shape;105;p3"/>
          <p:cNvSpPr txBox="1"/>
          <p:nvPr/>
        </p:nvSpPr>
        <p:spPr>
          <a:xfrm>
            <a:off x="632612" y="1022222"/>
            <a:ext cx="11851881"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Población y Muestra</a:t>
            </a:r>
            <a:endParaRPr/>
          </a:p>
        </p:txBody>
      </p:sp>
      <p:sp>
        <p:nvSpPr>
          <p:cNvPr id="106" name="Google Shape;106;p3"/>
          <p:cNvSpPr txBox="1"/>
          <p:nvPr/>
        </p:nvSpPr>
        <p:spPr>
          <a:xfrm>
            <a:off x="632612" y="2390818"/>
            <a:ext cx="5631849" cy="286232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b="1">
                <a:solidFill>
                  <a:schemeClr val="lt1"/>
                </a:solidFill>
                <a:latin typeface="Calibri"/>
                <a:ea typeface="Calibri"/>
                <a:cs typeface="Calibri"/>
                <a:sym typeface="Calibri"/>
              </a:rPr>
              <a:t>Población</a:t>
            </a:r>
            <a:r>
              <a:rPr lang="es-ES" sz="1800">
                <a:solidFill>
                  <a:schemeClr val="lt1"/>
                </a:solidFill>
                <a:latin typeface="Calibri"/>
                <a:ea typeface="Calibri"/>
                <a:cs typeface="Calibri"/>
                <a:sym typeface="Calibri"/>
              </a:rPr>
              <a:t> (‘population’) es el conjunto sobre el que estamos interesados en obtener conclusiones (hacer inferencia). Normalmente es demasiado grande para poder abarcarlo.</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b="1">
                <a:solidFill>
                  <a:schemeClr val="lt1"/>
                </a:solidFill>
                <a:latin typeface="Calibri"/>
                <a:ea typeface="Calibri"/>
                <a:cs typeface="Calibri"/>
                <a:sym typeface="Calibri"/>
              </a:rPr>
              <a:t>Muestra</a:t>
            </a:r>
            <a:r>
              <a:rPr lang="es-ES" sz="1800">
                <a:solidFill>
                  <a:schemeClr val="lt1"/>
                </a:solidFill>
                <a:latin typeface="Calibri"/>
                <a:ea typeface="Calibri"/>
                <a:cs typeface="Calibri"/>
                <a:sym typeface="Calibri"/>
              </a:rPr>
              <a:t> (‘sample’) es un subconjunto suyo al que tenemos acceso y sobre el que realmente hacemos las observaciones (mediciones). Debería ser “representativo”. Está formado por miembros “seleccionados” de la población (individuos, unidades experimentales).</a:t>
            </a:r>
            <a:endParaRPr sz="1800">
              <a:solidFill>
                <a:schemeClr val="lt1"/>
              </a:solidFill>
              <a:latin typeface="Arial"/>
              <a:ea typeface="Arial"/>
              <a:cs typeface="Arial"/>
              <a:sym typeface="Arial"/>
            </a:endParaRPr>
          </a:p>
        </p:txBody>
      </p:sp>
      <p:sp>
        <p:nvSpPr>
          <p:cNvPr id="107" name="Google Shape;107;p3"/>
          <p:cNvSpPr/>
          <p:nvPr/>
        </p:nvSpPr>
        <p:spPr>
          <a:xfrm>
            <a:off x="7010400" y="2086606"/>
            <a:ext cx="4826000" cy="3493105"/>
          </a:xfrm>
          <a:prstGeom prst="roundRect">
            <a:avLst>
              <a:gd name="adj" fmla="val 2971"/>
            </a:avLst>
          </a:prstGeom>
          <a:solidFill>
            <a:schemeClr val="lt1"/>
          </a:solidFill>
          <a:ln w="38100" cap="flat" cmpd="sng">
            <a:solidFill>
              <a:srgbClr val="078C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08" name="Google Shape;108;p3"/>
          <p:cNvPicPr preferRelativeResize="0"/>
          <p:nvPr/>
        </p:nvPicPr>
        <p:blipFill rotWithShape="1">
          <a:blip r:embed="rId3">
            <a:alphaModFix/>
          </a:blip>
          <a:srcRect/>
          <a:stretch/>
        </p:blipFill>
        <p:spPr>
          <a:xfrm>
            <a:off x="7093343" y="2657305"/>
            <a:ext cx="4660114" cy="248233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4"/>
          <p:cNvSpPr/>
          <p:nvPr/>
        </p:nvSpPr>
        <p:spPr>
          <a:xfrm>
            <a:off x="-444659" y="1090842"/>
            <a:ext cx="13226581" cy="1289859"/>
          </a:xfrm>
          <a:prstGeom prst="roundRect">
            <a:avLst>
              <a:gd name="adj" fmla="val 2971"/>
            </a:avLst>
          </a:prstGeom>
          <a:gradFill>
            <a:gsLst>
              <a:gs pos="0">
                <a:srgbClr val="00546B"/>
              </a:gs>
              <a:gs pos="50000">
                <a:srgbClr val="007B9B"/>
              </a:gs>
              <a:gs pos="100000">
                <a:srgbClr val="0093B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 name="Google Shape;114;p4"/>
          <p:cNvSpPr txBox="1"/>
          <p:nvPr/>
        </p:nvSpPr>
        <p:spPr>
          <a:xfrm>
            <a:off x="1227909" y="111719"/>
            <a:ext cx="9690099"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Tipos de estadística</a:t>
            </a:r>
            <a:endParaRPr/>
          </a:p>
        </p:txBody>
      </p:sp>
      <p:sp>
        <p:nvSpPr>
          <p:cNvPr id="115" name="Google Shape;115;p4"/>
          <p:cNvSpPr txBox="1"/>
          <p:nvPr/>
        </p:nvSpPr>
        <p:spPr>
          <a:xfrm>
            <a:off x="1227909" y="1221327"/>
            <a:ext cx="9690099"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La estadística descriptiva procede a resumir y organizar los datos para facilitar su análisis e interpretación, mientras que la estadística inferencial procede a formular estimaciones y probar hipótesis acerca de la población a partir de esos datos resumidos obtenidos en la muestra.</a:t>
            </a:r>
            <a:endParaRPr sz="1800">
              <a:solidFill>
                <a:schemeClr val="lt1"/>
              </a:solidFill>
              <a:latin typeface="Calibri"/>
              <a:ea typeface="Calibri"/>
              <a:cs typeface="Calibri"/>
              <a:sym typeface="Calibri"/>
            </a:endParaRPr>
          </a:p>
        </p:txBody>
      </p:sp>
      <p:sp>
        <p:nvSpPr>
          <p:cNvPr id="116" name="Google Shape;116;p4"/>
          <p:cNvSpPr/>
          <p:nvPr/>
        </p:nvSpPr>
        <p:spPr>
          <a:xfrm>
            <a:off x="1227909" y="2692605"/>
            <a:ext cx="9690099" cy="3046461"/>
          </a:xfrm>
          <a:prstGeom prst="roundRect">
            <a:avLst>
              <a:gd name="adj" fmla="val 2971"/>
            </a:avLst>
          </a:prstGeom>
          <a:solidFill>
            <a:schemeClr val="lt1"/>
          </a:solidFill>
          <a:ln w="38100" cap="flat" cmpd="sng">
            <a:solidFill>
              <a:srgbClr val="078C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 name="Google Shape;117;p4"/>
          <p:cNvSpPr/>
          <p:nvPr/>
        </p:nvSpPr>
        <p:spPr>
          <a:xfrm>
            <a:off x="4942998" y="3279836"/>
            <a:ext cx="1736202" cy="460591"/>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a:solidFill>
                  <a:schemeClr val="lt1"/>
                </a:solidFill>
                <a:latin typeface="Calibri"/>
                <a:ea typeface="Calibri"/>
                <a:cs typeface="Calibri"/>
                <a:sym typeface="Calibri"/>
              </a:rPr>
              <a:t>Estadística</a:t>
            </a:r>
            <a:endParaRPr/>
          </a:p>
        </p:txBody>
      </p:sp>
      <p:sp>
        <p:nvSpPr>
          <p:cNvPr id="118" name="Google Shape;118;p4"/>
          <p:cNvSpPr/>
          <p:nvPr/>
        </p:nvSpPr>
        <p:spPr>
          <a:xfrm>
            <a:off x="3401286" y="4547098"/>
            <a:ext cx="1736202" cy="460591"/>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a:solidFill>
                  <a:schemeClr val="lt1"/>
                </a:solidFill>
                <a:latin typeface="Calibri"/>
                <a:ea typeface="Calibri"/>
                <a:cs typeface="Calibri"/>
                <a:sym typeface="Calibri"/>
              </a:rPr>
              <a:t>Descriptiva</a:t>
            </a:r>
            <a:endParaRPr/>
          </a:p>
        </p:txBody>
      </p:sp>
      <p:sp>
        <p:nvSpPr>
          <p:cNvPr id="119" name="Google Shape;119;p4"/>
          <p:cNvSpPr/>
          <p:nvPr/>
        </p:nvSpPr>
        <p:spPr>
          <a:xfrm>
            <a:off x="6379310" y="4547099"/>
            <a:ext cx="1736202" cy="460591"/>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a:solidFill>
                  <a:schemeClr val="lt1"/>
                </a:solidFill>
                <a:latin typeface="Calibri"/>
                <a:ea typeface="Calibri"/>
                <a:cs typeface="Calibri"/>
                <a:sym typeface="Calibri"/>
              </a:rPr>
              <a:t>Inferencial</a:t>
            </a:r>
            <a:endParaRPr/>
          </a:p>
        </p:txBody>
      </p:sp>
      <p:sp>
        <p:nvSpPr>
          <p:cNvPr id="120" name="Google Shape;120;p4"/>
          <p:cNvSpPr txBox="1"/>
          <p:nvPr/>
        </p:nvSpPr>
        <p:spPr>
          <a:xfrm>
            <a:off x="3493320" y="5143243"/>
            <a:ext cx="164416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7F7F7F"/>
                </a:solidFill>
                <a:latin typeface="Calibri"/>
                <a:ea typeface="Calibri"/>
                <a:cs typeface="Calibri"/>
                <a:sym typeface="Calibri"/>
              </a:rPr>
              <a:t>Describir la muestra</a:t>
            </a:r>
            <a:endParaRPr/>
          </a:p>
        </p:txBody>
      </p:sp>
      <p:sp>
        <p:nvSpPr>
          <p:cNvPr id="121" name="Google Shape;121;p4"/>
          <p:cNvSpPr txBox="1"/>
          <p:nvPr/>
        </p:nvSpPr>
        <p:spPr>
          <a:xfrm>
            <a:off x="6096000" y="5109426"/>
            <a:ext cx="2646722"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7F7F7F"/>
                </a:solidFill>
                <a:latin typeface="Calibri"/>
                <a:ea typeface="Calibri"/>
                <a:cs typeface="Calibri"/>
                <a:sym typeface="Calibri"/>
              </a:rPr>
              <a:t>Inferir conclusiones a partir de los datos que describen una muestra</a:t>
            </a:r>
            <a:endParaRPr/>
          </a:p>
        </p:txBody>
      </p:sp>
      <p:cxnSp>
        <p:nvCxnSpPr>
          <p:cNvPr id="122" name="Google Shape;122;p4"/>
          <p:cNvCxnSpPr>
            <a:cxnSpLocks/>
          </p:cNvCxnSpPr>
          <p:nvPr/>
        </p:nvCxnSpPr>
        <p:spPr>
          <a:xfrm flipH="1">
            <a:off x="4302099" y="3740427"/>
            <a:ext cx="1509000" cy="764100"/>
          </a:xfrm>
          <a:prstGeom prst="straightConnector1">
            <a:avLst/>
          </a:prstGeom>
          <a:noFill/>
          <a:ln w="9525" cap="flat" cmpd="sng">
            <a:solidFill>
              <a:schemeClr val="accent1"/>
            </a:solidFill>
            <a:prstDash val="solid"/>
            <a:miter lim="800000"/>
            <a:headEnd type="none" w="sm" len="sm"/>
            <a:tailEnd type="triangle" w="med" len="med"/>
          </a:ln>
        </p:spPr>
      </p:cxnSp>
      <p:cxnSp>
        <p:nvCxnSpPr>
          <p:cNvPr id="123" name="Google Shape;123;p4"/>
          <p:cNvCxnSpPr>
            <a:cxnSpLocks/>
          </p:cNvCxnSpPr>
          <p:nvPr/>
        </p:nvCxnSpPr>
        <p:spPr>
          <a:xfrm>
            <a:off x="5811099" y="3740427"/>
            <a:ext cx="1702200" cy="764100"/>
          </a:xfrm>
          <a:prstGeom prst="straightConnector1">
            <a:avLst/>
          </a:prstGeom>
          <a:noFill/>
          <a:ln w="9525" cap="flat" cmpd="sng">
            <a:solidFill>
              <a:schemeClr val="accent1"/>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fade">
                                      <p:cBhvr>
                                        <p:cTn id="7" dur="5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5"/>
          <p:cNvSpPr/>
          <p:nvPr/>
        </p:nvSpPr>
        <p:spPr>
          <a:xfrm>
            <a:off x="680796" y="1040835"/>
            <a:ext cx="10918641" cy="1379272"/>
          </a:xfrm>
          <a:prstGeom prst="roundRect">
            <a:avLst>
              <a:gd name="adj" fmla="val 2971"/>
            </a:avLst>
          </a:prstGeom>
          <a:solidFill>
            <a:srgbClr val="078CA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9" name="Google Shape;129;p5"/>
          <p:cNvSpPr txBox="1"/>
          <p:nvPr/>
        </p:nvSpPr>
        <p:spPr>
          <a:xfrm>
            <a:off x="912111" y="128329"/>
            <a:ext cx="10374926"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Estadística descriptiva</a:t>
            </a:r>
            <a:endParaRPr/>
          </a:p>
        </p:txBody>
      </p:sp>
      <p:sp>
        <p:nvSpPr>
          <p:cNvPr id="130" name="Google Shape;130;p5"/>
          <p:cNvSpPr txBox="1"/>
          <p:nvPr/>
        </p:nvSpPr>
        <p:spPr>
          <a:xfrm>
            <a:off x="933353" y="1281776"/>
            <a:ext cx="10374926"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La estadística descriptiva es una rama de la estadística que se enfoca en resumir y describir características importantes de un conjunto de datos. Su objetivo principal es proporcionar una comprensión clara y concisa de la información presente en los datos, sin inferir conclusiones más allá de los datos mismos.</a:t>
            </a:r>
            <a:endParaRPr/>
          </a:p>
        </p:txBody>
      </p:sp>
      <p:sp>
        <p:nvSpPr>
          <p:cNvPr id="131" name="Google Shape;131;p5"/>
          <p:cNvSpPr/>
          <p:nvPr/>
        </p:nvSpPr>
        <p:spPr>
          <a:xfrm>
            <a:off x="680794" y="2669712"/>
            <a:ext cx="10918641" cy="3232728"/>
          </a:xfrm>
          <a:prstGeom prst="roundRect">
            <a:avLst>
              <a:gd name="adj" fmla="val 2971"/>
            </a:avLst>
          </a:prstGeom>
          <a:solidFill>
            <a:schemeClr val="lt1"/>
          </a:solidFill>
          <a:ln w="28575" cap="flat" cmpd="sng">
            <a:solidFill>
              <a:srgbClr val="078C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2" name="Google Shape;132;p5"/>
          <p:cNvSpPr txBox="1"/>
          <p:nvPr/>
        </p:nvSpPr>
        <p:spPr>
          <a:xfrm>
            <a:off x="933352" y="3311872"/>
            <a:ext cx="2777798" cy="954107"/>
          </a:xfrm>
          <a:prstGeom prst="rect">
            <a:avLst/>
          </a:prstGeom>
          <a:solidFill>
            <a:srgbClr val="F2F2F2"/>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400">
                <a:solidFill>
                  <a:srgbClr val="595959"/>
                </a:solidFill>
                <a:latin typeface="Calibri"/>
                <a:ea typeface="Calibri"/>
                <a:cs typeface="Calibri"/>
                <a:sym typeface="Calibri"/>
              </a:rPr>
              <a:t>Se encarga de recoger, almacenar, ordenar, realizar tablas o gráficos, calcular parámetros básicos sobre el conjunto de datos.</a:t>
            </a:r>
            <a:endParaRPr/>
          </a:p>
        </p:txBody>
      </p:sp>
      <p:sp>
        <p:nvSpPr>
          <p:cNvPr id="133" name="Google Shape;133;p5"/>
          <p:cNvSpPr txBox="1"/>
          <p:nvPr/>
        </p:nvSpPr>
        <p:spPr>
          <a:xfrm>
            <a:off x="922309" y="4626956"/>
            <a:ext cx="2753370" cy="523180"/>
          </a:xfrm>
          <a:prstGeom prst="rect">
            <a:avLst/>
          </a:prstGeom>
          <a:solidFill>
            <a:srgbClr val="F2F2F2"/>
          </a:solidFill>
          <a:ln w="9525" cap="flat" cmpd="sng">
            <a:solidFill>
              <a:srgbClr val="F2F2F2"/>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400">
                <a:solidFill>
                  <a:srgbClr val="595959"/>
                </a:solidFill>
                <a:latin typeface="Calibri"/>
                <a:ea typeface="Calibri"/>
                <a:cs typeface="Calibri"/>
                <a:sym typeface="Calibri"/>
              </a:rPr>
              <a:t>Describe de forma cuantitativa un fenómeno.</a:t>
            </a:r>
            <a:endParaRPr/>
          </a:p>
        </p:txBody>
      </p:sp>
      <p:pic>
        <p:nvPicPr>
          <p:cNvPr id="134" name="Google Shape;134;p5" descr="Infografía: La juventud neerlandesa es la más alta del mundo | Statista"/>
          <p:cNvPicPr preferRelativeResize="0"/>
          <p:nvPr/>
        </p:nvPicPr>
        <p:blipFill rotWithShape="1">
          <a:blip r:embed="rId3">
            <a:alphaModFix/>
          </a:blip>
          <a:srcRect t="25582" b="8997"/>
          <a:stretch/>
        </p:blipFill>
        <p:spPr>
          <a:xfrm>
            <a:off x="8020134" y="2841882"/>
            <a:ext cx="3288144" cy="2509494"/>
          </a:xfrm>
          <a:prstGeom prst="rect">
            <a:avLst/>
          </a:prstGeom>
          <a:noFill/>
          <a:ln>
            <a:noFill/>
          </a:ln>
        </p:spPr>
      </p:pic>
      <p:pic>
        <p:nvPicPr>
          <p:cNvPr id="135" name="Google Shape;135;p5"/>
          <p:cNvPicPr preferRelativeResize="0"/>
          <p:nvPr/>
        </p:nvPicPr>
        <p:blipFill rotWithShape="1">
          <a:blip r:embed="rId4">
            <a:alphaModFix/>
          </a:blip>
          <a:srcRect l="7181" r="6165"/>
          <a:stretch/>
        </p:blipFill>
        <p:spPr>
          <a:xfrm>
            <a:off x="3711150" y="2873449"/>
            <a:ext cx="4235029" cy="2750166"/>
          </a:xfrm>
          <a:prstGeom prst="rect">
            <a:avLst/>
          </a:prstGeom>
          <a:noFill/>
          <a:ln>
            <a:noFill/>
          </a:ln>
        </p:spPr>
      </p:pic>
      <p:sp>
        <p:nvSpPr>
          <p:cNvPr id="136" name="Google Shape;136;p5"/>
          <p:cNvSpPr txBox="1"/>
          <p:nvPr/>
        </p:nvSpPr>
        <p:spPr>
          <a:xfrm>
            <a:off x="8003381" y="5307936"/>
            <a:ext cx="3378852"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595959"/>
                </a:solidFill>
                <a:latin typeface="Calibri"/>
                <a:ea typeface="Calibri"/>
                <a:cs typeface="Calibri"/>
                <a:sym typeface="Calibri"/>
              </a:rPr>
              <a:t>Estatura media de los jóvenes de 19 años en 2019.</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9"/>
                                        </p:tgtEl>
                                        <p:attrNameLst>
                                          <p:attrName>style.visibility</p:attrName>
                                        </p:attrNameLst>
                                      </p:cBhvr>
                                      <p:to>
                                        <p:strVal val="visible"/>
                                      </p:to>
                                    </p:set>
                                    <p:animEffect transition="in" filter="fade">
                                      <p:cBhvr>
                                        <p:cTn id="7" dur="5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6"/>
          <p:cNvSpPr/>
          <p:nvPr/>
        </p:nvSpPr>
        <p:spPr>
          <a:xfrm>
            <a:off x="-611081" y="1336430"/>
            <a:ext cx="6254702" cy="3270306"/>
          </a:xfrm>
          <a:prstGeom prst="roundRect">
            <a:avLst>
              <a:gd name="adj" fmla="val 2971"/>
            </a:avLst>
          </a:prstGeom>
          <a:gradFill>
            <a:gsLst>
              <a:gs pos="0">
                <a:srgbClr val="00546B"/>
              </a:gs>
              <a:gs pos="50000">
                <a:srgbClr val="007B9B"/>
              </a:gs>
              <a:gs pos="100000">
                <a:srgbClr val="0093B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2" name="Google Shape;142;p6"/>
          <p:cNvSpPr txBox="1"/>
          <p:nvPr/>
        </p:nvSpPr>
        <p:spPr>
          <a:xfrm>
            <a:off x="511516" y="331427"/>
            <a:ext cx="5120461"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Variables</a:t>
            </a:r>
            <a:endParaRPr/>
          </a:p>
        </p:txBody>
      </p:sp>
      <p:sp>
        <p:nvSpPr>
          <p:cNvPr id="143" name="Google Shape;143;p6"/>
          <p:cNvSpPr txBox="1"/>
          <p:nvPr/>
        </p:nvSpPr>
        <p:spPr>
          <a:xfrm>
            <a:off x="506617" y="1717342"/>
            <a:ext cx="4648188" cy="230832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Una variable estadística es una </a:t>
            </a:r>
            <a:r>
              <a:rPr lang="es-ES" sz="1800" b="1">
                <a:solidFill>
                  <a:schemeClr val="lt1"/>
                </a:solidFill>
                <a:latin typeface="Calibri"/>
                <a:ea typeface="Calibri"/>
                <a:cs typeface="Calibri"/>
                <a:sym typeface="Calibri"/>
              </a:rPr>
              <a:t>característica o propiedad de un fenómeno o evento que puede ser medida, cuantificada o categorizada, y que puede variar de un individuo a otro dentro de una población o muestra</a:t>
            </a:r>
            <a:r>
              <a:rPr lang="es-ES" sz="1800">
                <a:solidFill>
                  <a:schemeClr val="lt1"/>
                </a:solidFill>
                <a:latin typeface="Calibri"/>
                <a:ea typeface="Calibri"/>
                <a:cs typeface="Calibri"/>
                <a:sym typeface="Calibri"/>
              </a:rPr>
              <a:t>. En otras palabras, una variable estadística es cualquier característica o atributo que puede ser observado y medido en un conjunto de datos.</a:t>
            </a:r>
            <a:endParaRPr/>
          </a:p>
        </p:txBody>
      </p:sp>
      <p:sp>
        <p:nvSpPr>
          <p:cNvPr id="144" name="Google Shape;144;p6"/>
          <p:cNvSpPr/>
          <p:nvPr/>
        </p:nvSpPr>
        <p:spPr>
          <a:xfrm>
            <a:off x="5897766" y="653143"/>
            <a:ext cx="5814369" cy="5516545"/>
          </a:xfrm>
          <a:prstGeom prst="roundRect">
            <a:avLst>
              <a:gd name="adj" fmla="val 2971"/>
            </a:avLst>
          </a:prstGeom>
          <a:solidFill>
            <a:schemeClr val="lt1"/>
          </a:solidFill>
          <a:ln w="38100" cap="flat" cmpd="sng">
            <a:solidFill>
              <a:srgbClr val="078C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5" name="Google Shape;145;p6"/>
          <p:cNvSpPr/>
          <p:nvPr/>
        </p:nvSpPr>
        <p:spPr>
          <a:xfrm>
            <a:off x="6429344" y="835458"/>
            <a:ext cx="4955437" cy="5213735"/>
          </a:xfrm>
          <a:prstGeom prst="rect">
            <a:avLst/>
          </a:prstGeom>
          <a:noFill/>
          <a:ln>
            <a:noFill/>
          </a:ln>
        </p:spPr>
        <p:txBody>
          <a:bodyPr spcFirstLastPara="1" wrap="square" lIns="91425" tIns="45700" rIns="91425" bIns="45700" anchor="t" anchorCtr="0">
            <a:spAutoFit/>
          </a:bodyPr>
          <a:lstStyle/>
          <a:p>
            <a:pPr marL="0" marR="0" lvl="0" indent="0" algn="just" rtl="0">
              <a:lnSpc>
                <a:spcPct val="80000"/>
              </a:lnSpc>
              <a:spcBef>
                <a:spcPts val="0"/>
              </a:spcBef>
              <a:spcAft>
                <a:spcPts val="0"/>
              </a:spcAft>
              <a:buNone/>
            </a:pPr>
            <a:r>
              <a:rPr lang="es-ES" sz="1600">
                <a:solidFill>
                  <a:srgbClr val="595959"/>
                </a:solidFill>
                <a:latin typeface="Calibri"/>
                <a:ea typeface="Calibri"/>
                <a:cs typeface="Calibri"/>
                <a:sym typeface="Calibri"/>
              </a:rPr>
              <a:t>Ejemplos de </a:t>
            </a:r>
            <a:r>
              <a:rPr lang="es-ES" sz="1600" b="1">
                <a:solidFill>
                  <a:srgbClr val="595959"/>
                </a:solidFill>
                <a:latin typeface="Calibri"/>
                <a:ea typeface="Calibri"/>
                <a:cs typeface="Calibri"/>
                <a:sym typeface="Calibri"/>
              </a:rPr>
              <a:t>características que varían</a:t>
            </a:r>
            <a:r>
              <a:rPr lang="es-ES" sz="1600">
                <a:solidFill>
                  <a:srgbClr val="595959"/>
                </a:solidFill>
                <a:latin typeface="Calibri"/>
                <a:ea typeface="Calibri"/>
                <a:cs typeface="Calibri"/>
                <a:sym typeface="Calibri"/>
              </a:rPr>
              <a:t> en una muestra:</a:t>
            </a:r>
            <a:endParaRPr/>
          </a:p>
          <a:p>
            <a:pPr marL="0" marR="0" lvl="0" indent="0" algn="just" rtl="0">
              <a:lnSpc>
                <a:spcPct val="80000"/>
              </a:lnSpc>
              <a:spcBef>
                <a:spcPts val="0"/>
              </a:spcBef>
              <a:spcAft>
                <a:spcPts val="0"/>
              </a:spcAft>
              <a:buNone/>
            </a:pPr>
            <a:endParaRPr sz="1600">
              <a:solidFill>
                <a:srgbClr val="595959"/>
              </a:solidFill>
              <a:latin typeface="Calibri"/>
              <a:ea typeface="Calibri"/>
              <a:cs typeface="Calibri"/>
              <a:sym typeface="Calibri"/>
            </a:endParaRPr>
          </a:p>
          <a:p>
            <a:pPr marL="285750" marR="0" lvl="0" indent="-285750" algn="just" rtl="0">
              <a:lnSpc>
                <a:spcPct val="80000"/>
              </a:lnSpc>
              <a:spcBef>
                <a:spcPts val="0"/>
              </a:spcBef>
              <a:spcAft>
                <a:spcPts val="0"/>
              </a:spcAft>
              <a:buClr>
                <a:srgbClr val="595959"/>
              </a:buClr>
              <a:buSzPts val="1600"/>
              <a:buFont typeface="Arial"/>
              <a:buChar char="•"/>
            </a:pPr>
            <a:r>
              <a:rPr lang="es-ES" sz="1600">
                <a:solidFill>
                  <a:srgbClr val="595959"/>
                </a:solidFill>
                <a:latin typeface="Calibri"/>
                <a:ea typeface="Calibri"/>
                <a:cs typeface="Calibri"/>
                <a:sym typeface="Calibri"/>
              </a:rPr>
              <a:t>Edad de los estudiantes en una clase.</a:t>
            </a:r>
            <a:endParaRPr/>
          </a:p>
          <a:p>
            <a:pPr marL="0" marR="0" lvl="0" indent="0" algn="just" rtl="0">
              <a:lnSpc>
                <a:spcPct val="80000"/>
              </a:lnSpc>
              <a:spcBef>
                <a:spcPts val="0"/>
              </a:spcBef>
              <a:spcAft>
                <a:spcPts val="0"/>
              </a:spcAft>
              <a:buNone/>
            </a:pPr>
            <a:r>
              <a:rPr lang="es-ES" sz="1600">
                <a:solidFill>
                  <a:srgbClr val="595959"/>
                </a:solidFill>
                <a:latin typeface="Calibri"/>
                <a:ea typeface="Calibri"/>
                <a:cs typeface="Calibri"/>
                <a:sym typeface="Calibri"/>
              </a:rPr>
              <a:t>      {18, 19, 19 ,17, 18,…}</a:t>
            </a:r>
            <a:endParaRPr/>
          </a:p>
          <a:p>
            <a:pPr marL="0" marR="0" lvl="0" indent="0" algn="just" rtl="0">
              <a:lnSpc>
                <a:spcPct val="80000"/>
              </a:lnSpc>
              <a:spcBef>
                <a:spcPts val="0"/>
              </a:spcBef>
              <a:spcAft>
                <a:spcPts val="0"/>
              </a:spcAft>
              <a:buNone/>
            </a:pPr>
            <a:endParaRPr sz="1600">
              <a:solidFill>
                <a:srgbClr val="595959"/>
              </a:solidFill>
              <a:latin typeface="Calibri"/>
              <a:ea typeface="Calibri"/>
              <a:cs typeface="Calibri"/>
              <a:sym typeface="Calibri"/>
            </a:endParaRPr>
          </a:p>
          <a:p>
            <a:pPr marL="285750" marR="0" lvl="0" indent="-285750" algn="just" rtl="0">
              <a:lnSpc>
                <a:spcPct val="80000"/>
              </a:lnSpc>
              <a:spcBef>
                <a:spcPts val="0"/>
              </a:spcBef>
              <a:spcAft>
                <a:spcPts val="0"/>
              </a:spcAft>
              <a:buClr>
                <a:srgbClr val="595959"/>
              </a:buClr>
              <a:buSzPts val="1600"/>
              <a:buFont typeface="Arial"/>
              <a:buChar char="•"/>
            </a:pPr>
            <a:r>
              <a:rPr lang="es-ES" sz="1600">
                <a:solidFill>
                  <a:srgbClr val="595959"/>
                </a:solidFill>
                <a:latin typeface="Calibri"/>
                <a:ea typeface="Calibri"/>
                <a:cs typeface="Calibri"/>
                <a:sym typeface="Calibri"/>
              </a:rPr>
              <a:t>Género de los encuestados en una investigación.</a:t>
            </a:r>
            <a:endParaRPr/>
          </a:p>
          <a:p>
            <a:pPr marL="0" marR="0" lvl="0" indent="0" algn="just" rtl="0">
              <a:lnSpc>
                <a:spcPct val="80000"/>
              </a:lnSpc>
              <a:spcBef>
                <a:spcPts val="0"/>
              </a:spcBef>
              <a:spcAft>
                <a:spcPts val="0"/>
              </a:spcAft>
              <a:buNone/>
            </a:pPr>
            <a:r>
              <a:rPr lang="es-ES" sz="1600">
                <a:solidFill>
                  <a:srgbClr val="595959"/>
                </a:solidFill>
                <a:latin typeface="Calibri"/>
                <a:ea typeface="Calibri"/>
                <a:cs typeface="Calibri"/>
                <a:sym typeface="Calibri"/>
              </a:rPr>
              <a:t>      {M, F, F, M, M,…}</a:t>
            </a:r>
            <a:endParaRPr/>
          </a:p>
          <a:p>
            <a:pPr marL="285750" marR="0" lvl="0" indent="-184150" algn="just" rtl="0">
              <a:lnSpc>
                <a:spcPct val="80000"/>
              </a:lnSpc>
              <a:spcBef>
                <a:spcPts val="0"/>
              </a:spcBef>
              <a:spcAft>
                <a:spcPts val="0"/>
              </a:spcAft>
              <a:buClr>
                <a:schemeClr val="dk1"/>
              </a:buClr>
              <a:buSzPts val="1600"/>
              <a:buFont typeface="Arial"/>
              <a:buNone/>
            </a:pPr>
            <a:endParaRPr sz="1600">
              <a:solidFill>
                <a:srgbClr val="595959"/>
              </a:solidFill>
              <a:latin typeface="Calibri"/>
              <a:ea typeface="Calibri"/>
              <a:cs typeface="Calibri"/>
              <a:sym typeface="Calibri"/>
            </a:endParaRPr>
          </a:p>
          <a:p>
            <a:pPr marL="285750" marR="0" lvl="0" indent="-285750" algn="just" rtl="0">
              <a:lnSpc>
                <a:spcPct val="80000"/>
              </a:lnSpc>
              <a:spcBef>
                <a:spcPts val="0"/>
              </a:spcBef>
              <a:spcAft>
                <a:spcPts val="0"/>
              </a:spcAft>
              <a:buClr>
                <a:srgbClr val="595959"/>
              </a:buClr>
              <a:buSzPts val="1600"/>
              <a:buFont typeface="Arial"/>
              <a:buChar char="•"/>
            </a:pPr>
            <a:r>
              <a:rPr lang="es-ES" sz="1600">
                <a:solidFill>
                  <a:srgbClr val="595959"/>
                </a:solidFill>
                <a:latin typeface="Calibri"/>
                <a:ea typeface="Calibri"/>
                <a:cs typeface="Calibri"/>
                <a:sym typeface="Calibri"/>
              </a:rPr>
              <a:t>Nivel de ingresos de los hogares en una comunidad.</a:t>
            </a:r>
            <a:endParaRPr/>
          </a:p>
          <a:p>
            <a:pPr marL="0" marR="0" lvl="0" indent="0" algn="just" rtl="0">
              <a:lnSpc>
                <a:spcPct val="80000"/>
              </a:lnSpc>
              <a:spcBef>
                <a:spcPts val="0"/>
              </a:spcBef>
              <a:spcAft>
                <a:spcPts val="0"/>
              </a:spcAft>
              <a:buNone/>
            </a:pPr>
            <a:r>
              <a:rPr lang="es-ES" sz="1600">
                <a:solidFill>
                  <a:srgbClr val="595959"/>
                </a:solidFill>
                <a:latin typeface="Calibri"/>
                <a:ea typeface="Calibri"/>
                <a:cs typeface="Calibri"/>
                <a:sym typeface="Calibri"/>
              </a:rPr>
              <a:t>      {Alto, Medio, Medio Alto, …}</a:t>
            </a:r>
            <a:endParaRPr/>
          </a:p>
          <a:p>
            <a:pPr marL="285750" marR="0" lvl="0" indent="-184150" algn="just" rtl="0">
              <a:lnSpc>
                <a:spcPct val="80000"/>
              </a:lnSpc>
              <a:spcBef>
                <a:spcPts val="0"/>
              </a:spcBef>
              <a:spcAft>
                <a:spcPts val="0"/>
              </a:spcAft>
              <a:buClr>
                <a:schemeClr val="dk1"/>
              </a:buClr>
              <a:buSzPts val="1600"/>
              <a:buFont typeface="Arial"/>
              <a:buNone/>
            </a:pPr>
            <a:endParaRPr sz="1600">
              <a:solidFill>
                <a:srgbClr val="595959"/>
              </a:solidFill>
              <a:latin typeface="Calibri"/>
              <a:ea typeface="Calibri"/>
              <a:cs typeface="Calibri"/>
              <a:sym typeface="Calibri"/>
            </a:endParaRPr>
          </a:p>
          <a:p>
            <a:pPr marL="285750" marR="0" lvl="0" indent="-285750" algn="just" rtl="0">
              <a:lnSpc>
                <a:spcPct val="80000"/>
              </a:lnSpc>
              <a:spcBef>
                <a:spcPts val="0"/>
              </a:spcBef>
              <a:spcAft>
                <a:spcPts val="0"/>
              </a:spcAft>
              <a:buClr>
                <a:srgbClr val="595959"/>
              </a:buClr>
              <a:buSzPts val="1600"/>
              <a:buFont typeface="Arial"/>
              <a:buChar char="•"/>
            </a:pPr>
            <a:r>
              <a:rPr lang="es-ES" sz="1600">
                <a:solidFill>
                  <a:srgbClr val="595959"/>
                </a:solidFill>
                <a:latin typeface="Calibri"/>
                <a:ea typeface="Calibri"/>
                <a:cs typeface="Calibri"/>
                <a:sym typeface="Calibri"/>
              </a:rPr>
              <a:t>Altura de los jugadores de un equipo de baloncesto.</a:t>
            </a:r>
            <a:endParaRPr/>
          </a:p>
          <a:p>
            <a:pPr marL="0" marR="0" lvl="0" indent="0" algn="just" rtl="0">
              <a:lnSpc>
                <a:spcPct val="80000"/>
              </a:lnSpc>
              <a:spcBef>
                <a:spcPts val="0"/>
              </a:spcBef>
              <a:spcAft>
                <a:spcPts val="0"/>
              </a:spcAft>
              <a:buNone/>
            </a:pPr>
            <a:r>
              <a:rPr lang="es-ES" sz="1600">
                <a:solidFill>
                  <a:srgbClr val="595959"/>
                </a:solidFill>
                <a:latin typeface="Calibri"/>
                <a:ea typeface="Calibri"/>
                <a:cs typeface="Calibri"/>
                <a:sym typeface="Calibri"/>
              </a:rPr>
              <a:t>      {1.94, 2.01, 1.89, …}</a:t>
            </a:r>
            <a:endParaRPr/>
          </a:p>
          <a:p>
            <a:pPr marL="285750" marR="0" lvl="0" indent="-184150" algn="just" rtl="0">
              <a:lnSpc>
                <a:spcPct val="80000"/>
              </a:lnSpc>
              <a:spcBef>
                <a:spcPts val="0"/>
              </a:spcBef>
              <a:spcAft>
                <a:spcPts val="0"/>
              </a:spcAft>
              <a:buClr>
                <a:schemeClr val="dk1"/>
              </a:buClr>
              <a:buSzPts val="1600"/>
              <a:buFont typeface="Arial"/>
              <a:buNone/>
            </a:pPr>
            <a:endParaRPr sz="1600">
              <a:solidFill>
                <a:srgbClr val="595959"/>
              </a:solidFill>
              <a:latin typeface="Calibri"/>
              <a:ea typeface="Calibri"/>
              <a:cs typeface="Calibri"/>
              <a:sym typeface="Calibri"/>
            </a:endParaRPr>
          </a:p>
          <a:p>
            <a:pPr marL="285750" marR="0" lvl="0" indent="-285750" algn="just" rtl="0">
              <a:lnSpc>
                <a:spcPct val="80000"/>
              </a:lnSpc>
              <a:spcBef>
                <a:spcPts val="0"/>
              </a:spcBef>
              <a:spcAft>
                <a:spcPts val="0"/>
              </a:spcAft>
              <a:buClr>
                <a:srgbClr val="595959"/>
              </a:buClr>
              <a:buSzPts val="1600"/>
              <a:buFont typeface="Arial"/>
              <a:buChar char="•"/>
            </a:pPr>
            <a:r>
              <a:rPr lang="es-ES" sz="1600">
                <a:solidFill>
                  <a:srgbClr val="595959"/>
                </a:solidFill>
                <a:latin typeface="Calibri"/>
                <a:ea typeface="Calibri"/>
                <a:cs typeface="Calibri"/>
                <a:sym typeface="Calibri"/>
              </a:rPr>
              <a:t>Número de hermanos de una persona.</a:t>
            </a:r>
            <a:endParaRPr/>
          </a:p>
          <a:p>
            <a:pPr marL="285750" marR="0" lvl="0" indent="-184150" algn="just" rtl="0">
              <a:lnSpc>
                <a:spcPct val="80000"/>
              </a:lnSpc>
              <a:spcBef>
                <a:spcPts val="0"/>
              </a:spcBef>
              <a:spcAft>
                <a:spcPts val="0"/>
              </a:spcAft>
              <a:buClr>
                <a:schemeClr val="dk1"/>
              </a:buClr>
              <a:buSzPts val="1600"/>
              <a:buFont typeface="Arial"/>
              <a:buNone/>
            </a:pPr>
            <a:endParaRPr sz="1600">
              <a:solidFill>
                <a:srgbClr val="595959"/>
              </a:solidFill>
              <a:latin typeface="Calibri"/>
              <a:ea typeface="Calibri"/>
              <a:cs typeface="Calibri"/>
              <a:sym typeface="Calibri"/>
            </a:endParaRPr>
          </a:p>
          <a:p>
            <a:pPr marL="285750" marR="0" lvl="0" indent="-285750" algn="just" rtl="0">
              <a:lnSpc>
                <a:spcPct val="80000"/>
              </a:lnSpc>
              <a:spcBef>
                <a:spcPts val="0"/>
              </a:spcBef>
              <a:spcAft>
                <a:spcPts val="0"/>
              </a:spcAft>
              <a:buClr>
                <a:srgbClr val="595959"/>
              </a:buClr>
              <a:buSzPts val="1600"/>
              <a:buFont typeface="Arial"/>
              <a:buChar char="•"/>
            </a:pPr>
            <a:r>
              <a:rPr lang="es-ES" sz="1600">
                <a:solidFill>
                  <a:srgbClr val="595959"/>
                </a:solidFill>
                <a:latin typeface="Calibri"/>
                <a:ea typeface="Calibri"/>
                <a:cs typeface="Calibri"/>
                <a:sym typeface="Calibri"/>
              </a:rPr>
              <a:t>Temperatura registrada durante el día en una ciudad.</a:t>
            </a:r>
            <a:endParaRPr/>
          </a:p>
          <a:p>
            <a:pPr marL="285750" marR="0" lvl="0" indent="-184150" algn="just" rtl="0">
              <a:lnSpc>
                <a:spcPct val="80000"/>
              </a:lnSpc>
              <a:spcBef>
                <a:spcPts val="0"/>
              </a:spcBef>
              <a:spcAft>
                <a:spcPts val="0"/>
              </a:spcAft>
              <a:buClr>
                <a:schemeClr val="dk1"/>
              </a:buClr>
              <a:buSzPts val="1600"/>
              <a:buFont typeface="Arial"/>
              <a:buNone/>
            </a:pPr>
            <a:endParaRPr sz="1600">
              <a:solidFill>
                <a:srgbClr val="595959"/>
              </a:solidFill>
              <a:latin typeface="Calibri"/>
              <a:ea typeface="Calibri"/>
              <a:cs typeface="Calibri"/>
              <a:sym typeface="Calibri"/>
            </a:endParaRPr>
          </a:p>
          <a:p>
            <a:pPr marL="285750" marR="0" lvl="0" indent="-285750" algn="just" rtl="0">
              <a:lnSpc>
                <a:spcPct val="80000"/>
              </a:lnSpc>
              <a:spcBef>
                <a:spcPts val="0"/>
              </a:spcBef>
              <a:spcAft>
                <a:spcPts val="0"/>
              </a:spcAft>
              <a:buClr>
                <a:srgbClr val="595959"/>
              </a:buClr>
              <a:buSzPts val="1600"/>
              <a:buFont typeface="Arial"/>
              <a:buChar char="•"/>
            </a:pPr>
            <a:r>
              <a:rPr lang="es-ES" sz="1600">
                <a:solidFill>
                  <a:srgbClr val="595959"/>
                </a:solidFill>
                <a:latin typeface="Calibri"/>
                <a:ea typeface="Calibri"/>
                <a:cs typeface="Calibri"/>
                <a:sym typeface="Calibri"/>
              </a:rPr>
              <a:t>Puntuación obtenida en un examen.</a:t>
            </a:r>
            <a:endParaRPr/>
          </a:p>
          <a:p>
            <a:pPr marL="285750" marR="0" lvl="0" indent="-184150" algn="just" rtl="0">
              <a:lnSpc>
                <a:spcPct val="80000"/>
              </a:lnSpc>
              <a:spcBef>
                <a:spcPts val="0"/>
              </a:spcBef>
              <a:spcAft>
                <a:spcPts val="0"/>
              </a:spcAft>
              <a:buClr>
                <a:schemeClr val="dk1"/>
              </a:buClr>
              <a:buSzPts val="1600"/>
              <a:buFont typeface="Arial"/>
              <a:buNone/>
            </a:pPr>
            <a:endParaRPr sz="1600">
              <a:solidFill>
                <a:srgbClr val="595959"/>
              </a:solidFill>
              <a:latin typeface="Calibri"/>
              <a:ea typeface="Calibri"/>
              <a:cs typeface="Calibri"/>
              <a:sym typeface="Calibri"/>
            </a:endParaRPr>
          </a:p>
          <a:p>
            <a:pPr marL="285750" marR="0" lvl="0" indent="-285750" algn="just" rtl="0">
              <a:lnSpc>
                <a:spcPct val="80000"/>
              </a:lnSpc>
              <a:spcBef>
                <a:spcPts val="0"/>
              </a:spcBef>
              <a:spcAft>
                <a:spcPts val="0"/>
              </a:spcAft>
              <a:buClr>
                <a:srgbClr val="595959"/>
              </a:buClr>
              <a:buSzPts val="1600"/>
              <a:buFont typeface="Arial"/>
              <a:buChar char="•"/>
            </a:pPr>
            <a:r>
              <a:rPr lang="es-ES" sz="1600">
                <a:solidFill>
                  <a:srgbClr val="595959"/>
                </a:solidFill>
                <a:latin typeface="Calibri"/>
                <a:ea typeface="Calibri"/>
                <a:cs typeface="Calibri"/>
                <a:sym typeface="Calibri"/>
              </a:rPr>
              <a:t>Color de los ojos de los habitantes de una ciudad.</a:t>
            </a:r>
            <a:endParaRPr/>
          </a:p>
          <a:p>
            <a:pPr marL="285750" marR="0" lvl="0" indent="-184150" algn="just" rtl="0">
              <a:lnSpc>
                <a:spcPct val="80000"/>
              </a:lnSpc>
              <a:spcBef>
                <a:spcPts val="0"/>
              </a:spcBef>
              <a:spcAft>
                <a:spcPts val="0"/>
              </a:spcAft>
              <a:buClr>
                <a:schemeClr val="dk1"/>
              </a:buClr>
              <a:buSzPts val="1600"/>
              <a:buFont typeface="Arial"/>
              <a:buNone/>
            </a:pPr>
            <a:endParaRPr sz="1600">
              <a:solidFill>
                <a:srgbClr val="595959"/>
              </a:solidFill>
              <a:latin typeface="Calibri"/>
              <a:ea typeface="Calibri"/>
              <a:cs typeface="Calibri"/>
              <a:sym typeface="Calibri"/>
            </a:endParaRPr>
          </a:p>
          <a:p>
            <a:pPr marL="285750" marR="0" lvl="0" indent="-285750" algn="just" rtl="0">
              <a:lnSpc>
                <a:spcPct val="80000"/>
              </a:lnSpc>
              <a:spcBef>
                <a:spcPts val="0"/>
              </a:spcBef>
              <a:spcAft>
                <a:spcPts val="0"/>
              </a:spcAft>
              <a:buClr>
                <a:srgbClr val="595959"/>
              </a:buClr>
              <a:buSzPts val="1600"/>
              <a:buFont typeface="Arial"/>
              <a:buChar char="•"/>
            </a:pPr>
            <a:r>
              <a:rPr lang="es-ES" sz="1600">
                <a:solidFill>
                  <a:srgbClr val="595959"/>
                </a:solidFill>
                <a:latin typeface="Calibri"/>
                <a:ea typeface="Calibri"/>
                <a:cs typeface="Calibri"/>
                <a:sym typeface="Calibri"/>
              </a:rPr>
              <a:t>Precio de una acción en la bolsa de valores.</a:t>
            </a:r>
            <a:endParaRPr/>
          </a:p>
          <a:p>
            <a:pPr marL="285750" marR="0" lvl="0" indent="-184150" algn="just" rtl="0">
              <a:lnSpc>
                <a:spcPct val="80000"/>
              </a:lnSpc>
              <a:spcBef>
                <a:spcPts val="0"/>
              </a:spcBef>
              <a:spcAft>
                <a:spcPts val="0"/>
              </a:spcAft>
              <a:buClr>
                <a:schemeClr val="dk1"/>
              </a:buClr>
              <a:buSzPts val="1600"/>
              <a:buFont typeface="Arial"/>
              <a:buNone/>
            </a:pPr>
            <a:endParaRPr sz="1600">
              <a:solidFill>
                <a:srgbClr val="595959"/>
              </a:solidFill>
              <a:latin typeface="Calibri"/>
              <a:ea typeface="Calibri"/>
              <a:cs typeface="Calibri"/>
              <a:sym typeface="Calibri"/>
            </a:endParaRPr>
          </a:p>
          <a:p>
            <a:pPr marL="285750" marR="0" lvl="0" indent="-285750" algn="just" rtl="0">
              <a:lnSpc>
                <a:spcPct val="80000"/>
              </a:lnSpc>
              <a:spcBef>
                <a:spcPts val="0"/>
              </a:spcBef>
              <a:spcAft>
                <a:spcPts val="0"/>
              </a:spcAft>
              <a:buClr>
                <a:srgbClr val="595959"/>
              </a:buClr>
              <a:buSzPts val="1600"/>
              <a:buFont typeface="Arial"/>
              <a:buChar char="•"/>
            </a:pPr>
            <a:r>
              <a:rPr lang="es-ES" sz="1600">
                <a:solidFill>
                  <a:srgbClr val="595959"/>
                </a:solidFill>
                <a:latin typeface="Calibri"/>
                <a:ea typeface="Calibri"/>
                <a:cs typeface="Calibri"/>
                <a:sym typeface="Calibri"/>
              </a:rPr>
              <a:t>Tiempo empleado por un vehículo en recorrer una distancia determinada.</a:t>
            </a:r>
            <a:endParaRPr sz="1100">
              <a:solidFill>
                <a:srgbClr val="595959"/>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2"/>
                                        </p:tgtEl>
                                        <p:attrNameLst>
                                          <p:attrName>style.visibility</p:attrName>
                                        </p:attrNameLst>
                                      </p:cBhvr>
                                      <p:to>
                                        <p:strVal val="visible"/>
                                      </p:to>
                                    </p:set>
                                    <p:animEffect transition="in" filter="fade">
                                      <p:cBhvr>
                                        <p:cTn id="7" dur="500"/>
                                        <p:tgtEl>
                                          <p:spTgt spid="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7"/>
          <p:cNvSpPr txBox="1"/>
          <p:nvPr/>
        </p:nvSpPr>
        <p:spPr>
          <a:xfrm>
            <a:off x="554180" y="319303"/>
            <a:ext cx="11111346"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Tipos de variables</a:t>
            </a:r>
            <a:endParaRPr/>
          </a:p>
        </p:txBody>
      </p:sp>
      <p:sp>
        <p:nvSpPr>
          <p:cNvPr id="151" name="Google Shape;151;p7"/>
          <p:cNvSpPr/>
          <p:nvPr/>
        </p:nvSpPr>
        <p:spPr>
          <a:xfrm>
            <a:off x="554181" y="1571625"/>
            <a:ext cx="11111345" cy="4034848"/>
          </a:xfrm>
          <a:prstGeom prst="roundRect">
            <a:avLst>
              <a:gd name="adj" fmla="val 2971"/>
            </a:avLst>
          </a:prstGeom>
          <a:solidFill>
            <a:schemeClr val="lt1"/>
          </a:solidFill>
          <a:ln w="38100" cap="flat" cmpd="sng">
            <a:solidFill>
              <a:srgbClr val="078C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52" name="Google Shape;152;p7"/>
          <p:cNvGrpSpPr/>
          <p:nvPr/>
        </p:nvGrpSpPr>
        <p:grpSpPr>
          <a:xfrm>
            <a:off x="2170765" y="2065586"/>
            <a:ext cx="7572546" cy="2745878"/>
            <a:chOff x="3114504" y="1598322"/>
            <a:chExt cx="9077496" cy="3291587"/>
          </a:xfrm>
        </p:grpSpPr>
        <p:sp>
          <p:nvSpPr>
            <p:cNvPr id="153" name="Google Shape;153;p7"/>
            <p:cNvSpPr/>
            <p:nvPr/>
          </p:nvSpPr>
          <p:spPr>
            <a:xfrm>
              <a:off x="6487046" y="1598322"/>
              <a:ext cx="2080260" cy="671671"/>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a:solidFill>
                    <a:schemeClr val="lt1"/>
                  </a:solidFill>
                  <a:latin typeface="Calibri"/>
                  <a:ea typeface="Calibri"/>
                  <a:cs typeface="Calibri"/>
                  <a:sym typeface="Calibri"/>
                </a:rPr>
                <a:t>Variable</a:t>
              </a:r>
              <a:endParaRPr/>
            </a:p>
          </p:txBody>
        </p:sp>
        <p:sp>
          <p:nvSpPr>
            <p:cNvPr id="154" name="Google Shape;154;p7"/>
            <p:cNvSpPr/>
            <p:nvPr/>
          </p:nvSpPr>
          <p:spPr>
            <a:xfrm>
              <a:off x="4375933" y="2929335"/>
              <a:ext cx="2080260" cy="671671"/>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dirty="0">
                  <a:solidFill>
                    <a:schemeClr val="lt1"/>
                  </a:solidFill>
                  <a:latin typeface="Calibri"/>
                  <a:cs typeface="Calibri"/>
                  <a:sym typeface="Calibri"/>
                </a:rPr>
                <a:t>Cuantitativa</a:t>
              </a:r>
              <a:endParaRPr dirty="0"/>
            </a:p>
          </p:txBody>
        </p:sp>
        <p:sp>
          <p:nvSpPr>
            <p:cNvPr id="155" name="Google Shape;155;p7"/>
            <p:cNvSpPr/>
            <p:nvPr/>
          </p:nvSpPr>
          <p:spPr>
            <a:xfrm>
              <a:off x="8934812" y="2924969"/>
              <a:ext cx="2080260" cy="671671"/>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dirty="0">
                  <a:solidFill>
                    <a:schemeClr val="lt1"/>
                  </a:solidFill>
                  <a:latin typeface="Calibri"/>
                  <a:cs typeface="Calibri"/>
                  <a:sym typeface="Calibri"/>
                </a:rPr>
                <a:t>Cualitativa</a:t>
              </a:r>
              <a:endParaRPr dirty="0"/>
            </a:p>
          </p:txBody>
        </p:sp>
        <p:sp>
          <p:nvSpPr>
            <p:cNvPr id="156" name="Google Shape;156;p7"/>
            <p:cNvSpPr/>
            <p:nvPr/>
          </p:nvSpPr>
          <p:spPr>
            <a:xfrm>
              <a:off x="3114504" y="4218238"/>
              <a:ext cx="2080260" cy="671671"/>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a:solidFill>
                    <a:schemeClr val="lt1"/>
                  </a:solidFill>
                  <a:latin typeface="Calibri"/>
                  <a:ea typeface="Calibri"/>
                  <a:cs typeface="Calibri"/>
                  <a:sym typeface="Calibri"/>
                </a:rPr>
                <a:t>Discreta</a:t>
              </a:r>
              <a:endParaRPr/>
            </a:p>
          </p:txBody>
        </p:sp>
        <p:sp>
          <p:nvSpPr>
            <p:cNvPr id="157" name="Google Shape;157;p7"/>
            <p:cNvSpPr/>
            <p:nvPr/>
          </p:nvSpPr>
          <p:spPr>
            <a:xfrm>
              <a:off x="5446916" y="4218237"/>
              <a:ext cx="2080260" cy="671671"/>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a:solidFill>
                    <a:schemeClr val="lt1"/>
                  </a:solidFill>
                  <a:latin typeface="Calibri"/>
                  <a:ea typeface="Calibri"/>
                  <a:cs typeface="Calibri"/>
                  <a:sym typeface="Calibri"/>
                </a:rPr>
                <a:t>Continua</a:t>
              </a:r>
              <a:endParaRPr/>
            </a:p>
          </p:txBody>
        </p:sp>
        <p:sp>
          <p:nvSpPr>
            <p:cNvPr id="158" name="Google Shape;158;p7"/>
            <p:cNvSpPr/>
            <p:nvPr/>
          </p:nvSpPr>
          <p:spPr>
            <a:xfrm>
              <a:off x="7779328" y="4206849"/>
              <a:ext cx="2080260" cy="671671"/>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a:solidFill>
                    <a:schemeClr val="lt1"/>
                  </a:solidFill>
                  <a:latin typeface="Calibri"/>
                  <a:ea typeface="Calibri"/>
                  <a:cs typeface="Calibri"/>
                  <a:sym typeface="Calibri"/>
                </a:rPr>
                <a:t>Nominal</a:t>
              </a:r>
              <a:endParaRPr/>
            </a:p>
          </p:txBody>
        </p:sp>
        <p:sp>
          <p:nvSpPr>
            <p:cNvPr id="159" name="Google Shape;159;p7"/>
            <p:cNvSpPr/>
            <p:nvPr/>
          </p:nvSpPr>
          <p:spPr>
            <a:xfrm>
              <a:off x="10111740" y="4206848"/>
              <a:ext cx="2080260" cy="671671"/>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a:solidFill>
                    <a:schemeClr val="lt1"/>
                  </a:solidFill>
                  <a:latin typeface="Calibri"/>
                  <a:ea typeface="Calibri"/>
                  <a:cs typeface="Calibri"/>
                  <a:sym typeface="Calibri"/>
                </a:rPr>
                <a:t>Ordinal</a:t>
              </a:r>
              <a:endParaRPr/>
            </a:p>
          </p:txBody>
        </p:sp>
        <p:cxnSp>
          <p:nvCxnSpPr>
            <p:cNvPr id="160" name="Google Shape;160;p7"/>
            <p:cNvCxnSpPr>
              <a:stCxn id="153" idx="2"/>
              <a:endCxn id="154" idx="0"/>
            </p:cNvCxnSpPr>
            <p:nvPr/>
          </p:nvCxnSpPr>
          <p:spPr>
            <a:xfrm rot="5400000">
              <a:off x="6141926" y="1544143"/>
              <a:ext cx="659400" cy="2111100"/>
            </a:xfrm>
            <a:prstGeom prst="bentConnector3">
              <a:avLst>
                <a:gd name="adj1" fmla="val -4770"/>
              </a:avLst>
            </a:prstGeom>
            <a:noFill/>
            <a:ln w="9525" cap="flat" cmpd="sng">
              <a:solidFill>
                <a:schemeClr val="accent1"/>
              </a:solidFill>
              <a:prstDash val="solid"/>
              <a:miter lim="800000"/>
              <a:headEnd type="none" w="sm" len="sm"/>
              <a:tailEnd type="triangle" w="med" len="med"/>
            </a:ln>
          </p:spPr>
        </p:cxnSp>
        <p:cxnSp>
          <p:nvCxnSpPr>
            <p:cNvPr id="161" name="Google Shape;161;p7"/>
            <p:cNvCxnSpPr>
              <a:stCxn id="153" idx="2"/>
              <a:endCxn id="155" idx="0"/>
            </p:cNvCxnSpPr>
            <p:nvPr/>
          </p:nvCxnSpPr>
          <p:spPr>
            <a:xfrm rot="-5400000" flipH="1">
              <a:off x="8423576" y="1373593"/>
              <a:ext cx="654900" cy="2447700"/>
            </a:xfrm>
            <a:prstGeom prst="bentConnector3">
              <a:avLst>
                <a:gd name="adj1" fmla="val 50000"/>
              </a:avLst>
            </a:prstGeom>
            <a:noFill/>
            <a:ln w="9525" cap="flat" cmpd="sng">
              <a:solidFill>
                <a:schemeClr val="accent1"/>
              </a:solidFill>
              <a:prstDash val="solid"/>
              <a:miter lim="800000"/>
              <a:headEnd type="none" w="sm" len="sm"/>
              <a:tailEnd type="triangle" w="med" len="med"/>
            </a:ln>
          </p:spPr>
        </p:cxnSp>
        <p:cxnSp>
          <p:nvCxnSpPr>
            <p:cNvPr id="162" name="Google Shape;162;p7"/>
            <p:cNvCxnSpPr>
              <a:stCxn id="154" idx="2"/>
              <a:endCxn id="156" idx="0"/>
            </p:cNvCxnSpPr>
            <p:nvPr/>
          </p:nvCxnSpPr>
          <p:spPr>
            <a:xfrm rot="5400000">
              <a:off x="4476763" y="3278806"/>
              <a:ext cx="617100" cy="1261500"/>
            </a:xfrm>
            <a:prstGeom prst="bentConnector3">
              <a:avLst>
                <a:gd name="adj1" fmla="val 50000"/>
              </a:avLst>
            </a:prstGeom>
            <a:noFill/>
            <a:ln w="9525" cap="flat" cmpd="sng">
              <a:solidFill>
                <a:schemeClr val="accent1"/>
              </a:solidFill>
              <a:prstDash val="solid"/>
              <a:miter lim="800000"/>
              <a:headEnd type="none" w="sm" len="sm"/>
              <a:tailEnd type="triangle" w="med" len="med"/>
            </a:ln>
          </p:spPr>
        </p:cxnSp>
        <p:cxnSp>
          <p:nvCxnSpPr>
            <p:cNvPr id="163" name="Google Shape;163;p7"/>
            <p:cNvCxnSpPr>
              <a:stCxn id="154" idx="2"/>
              <a:endCxn id="157" idx="0"/>
            </p:cNvCxnSpPr>
            <p:nvPr/>
          </p:nvCxnSpPr>
          <p:spPr>
            <a:xfrm rot="-5400000" flipH="1">
              <a:off x="5643013" y="3374056"/>
              <a:ext cx="617100" cy="1071000"/>
            </a:xfrm>
            <a:prstGeom prst="bentConnector3">
              <a:avLst>
                <a:gd name="adj1" fmla="val 50000"/>
              </a:avLst>
            </a:prstGeom>
            <a:noFill/>
            <a:ln w="9525" cap="flat" cmpd="sng">
              <a:solidFill>
                <a:schemeClr val="accent1"/>
              </a:solidFill>
              <a:prstDash val="solid"/>
              <a:miter lim="800000"/>
              <a:headEnd type="none" w="sm" len="sm"/>
              <a:tailEnd type="triangle" w="med" len="med"/>
            </a:ln>
          </p:spPr>
        </p:cxnSp>
        <p:cxnSp>
          <p:nvCxnSpPr>
            <p:cNvPr id="164" name="Google Shape;164;p7"/>
            <p:cNvCxnSpPr>
              <a:stCxn id="155" idx="2"/>
              <a:endCxn id="158" idx="0"/>
            </p:cNvCxnSpPr>
            <p:nvPr/>
          </p:nvCxnSpPr>
          <p:spPr>
            <a:xfrm rot="5400000">
              <a:off x="9092042" y="3323940"/>
              <a:ext cx="610200" cy="1155600"/>
            </a:xfrm>
            <a:prstGeom prst="bentConnector3">
              <a:avLst>
                <a:gd name="adj1" fmla="val 50000"/>
              </a:avLst>
            </a:prstGeom>
            <a:noFill/>
            <a:ln w="9525" cap="flat" cmpd="sng">
              <a:solidFill>
                <a:schemeClr val="accent1"/>
              </a:solidFill>
              <a:prstDash val="solid"/>
              <a:miter lim="800000"/>
              <a:headEnd type="none" w="sm" len="sm"/>
              <a:tailEnd type="triangle" w="med" len="med"/>
            </a:ln>
          </p:spPr>
        </p:cxnSp>
        <p:cxnSp>
          <p:nvCxnSpPr>
            <p:cNvPr id="165" name="Google Shape;165;p7"/>
            <p:cNvCxnSpPr>
              <a:stCxn id="155" idx="2"/>
              <a:endCxn id="159" idx="0"/>
            </p:cNvCxnSpPr>
            <p:nvPr/>
          </p:nvCxnSpPr>
          <p:spPr>
            <a:xfrm rot="-5400000" flipH="1">
              <a:off x="10258292" y="3313290"/>
              <a:ext cx="610200" cy="1176900"/>
            </a:xfrm>
            <a:prstGeom prst="bentConnector3">
              <a:avLst>
                <a:gd name="adj1" fmla="val 50000"/>
              </a:avLst>
            </a:prstGeom>
            <a:noFill/>
            <a:ln w="9525" cap="flat" cmpd="sng">
              <a:solidFill>
                <a:schemeClr val="accent1"/>
              </a:solidFill>
              <a:prstDash val="solid"/>
              <a:miter lim="800000"/>
              <a:headEnd type="none" w="sm" len="sm"/>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0"/>
                                        </p:tgtEl>
                                        <p:attrNameLst>
                                          <p:attrName>style.visibility</p:attrName>
                                        </p:attrNameLst>
                                      </p:cBhvr>
                                      <p:to>
                                        <p:strVal val="visible"/>
                                      </p:to>
                                    </p:set>
                                    <p:animEffect transition="in" filter="fade">
                                      <p:cBhvr>
                                        <p:cTn id="7" dur="500"/>
                                        <p:tgtEl>
                                          <p:spTgt spid="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8"/>
          <p:cNvSpPr txBox="1"/>
          <p:nvPr/>
        </p:nvSpPr>
        <p:spPr>
          <a:xfrm>
            <a:off x="1053018" y="395730"/>
            <a:ext cx="10329068" cy="757405"/>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Datos Cuantitativos</a:t>
            </a:r>
            <a:endParaRPr/>
          </a:p>
        </p:txBody>
      </p:sp>
      <p:sp>
        <p:nvSpPr>
          <p:cNvPr id="171" name="Google Shape;171;p8"/>
          <p:cNvSpPr/>
          <p:nvPr/>
        </p:nvSpPr>
        <p:spPr>
          <a:xfrm>
            <a:off x="728014" y="2532184"/>
            <a:ext cx="10782300" cy="3074795"/>
          </a:xfrm>
          <a:prstGeom prst="roundRect">
            <a:avLst>
              <a:gd name="adj" fmla="val 2971"/>
            </a:avLst>
          </a:prstGeom>
          <a:solidFill>
            <a:schemeClr val="lt1"/>
          </a:solidFill>
          <a:ln w="38100" cap="flat" cmpd="sng">
            <a:solidFill>
              <a:srgbClr val="078C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2" name="Google Shape;172;p8"/>
          <p:cNvSpPr txBox="1"/>
          <p:nvPr/>
        </p:nvSpPr>
        <p:spPr>
          <a:xfrm>
            <a:off x="1053019" y="2776919"/>
            <a:ext cx="10132290" cy="258532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595959"/>
                </a:solidFill>
                <a:latin typeface="Calibri"/>
                <a:ea typeface="Calibri"/>
                <a:cs typeface="Calibri"/>
                <a:sym typeface="Calibri"/>
              </a:rPr>
              <a:t>Se dividen en dos subtipos:</a:t>
            </a:r>
            <a:endParaRPr/>
          </a:p>
          <a:p>
            <a:pPr marL="0" marR="0" lvl="0" indent="0" algn="just" rtl="0">
              <a:spcBef>
                <a:spcPts val="0"/>
              </a:spcBef>
              <a:spcAft>
                <a:spcPts val="0"/>
              </a:spcAft>
              <a:buNone/>
            </a:pPr>
            <a:endParaRPr sz="1800">
              <a:solidFill>
                <a:srgbClr val="595959"/>
              </a:solidFill>
              <a:latin typeface="Calibri"/>
              <a:ea typeface="Calibri"/>
              <a:cs typeface="Calibri"/>
              <a:sym typeface="Calibri"/>
            </a:endParaRPr>
          </a:p>
          <a:p>
            <a:pPr marL="285750" marR="0" lvl="0" indent="-285750" algn="just" rtl="0">
              <a:spcBef>
                <a:spcPts val="0"/>
              </a:spcBef>
              <a:spcAft>
                <a:spcPts val="0"/>
              </a:spcAft>
              <a:buClr>
                <a:srgbClr val="595959"/>
              </a:buClr>
              <a:buSzPts val="1800"/>
              <a:buFont typeface="Arial"/>
              <a:buChar char="•"/>
            </a:pPr>
            <a:r>
              <a:rPr lang="es-ES" sz="1800" b="1">
                <a:solidFill>
                  <a:srgbClr val="595959"/>
                </a:solidFill>
                <a:latin typeface="Calibri"/>
                <a:ea typeface="Calibri"/>
                <a:cs typeface="Calibri"/>
                <a:sym typeface="Calibri"/>
              </a:rPr>
              <a:t>Discretas</a:t>
            </a:r>
            <a:r>
              <a:rPr lang="es-ES" sz="1800">
                <a:solidFill>
                  <a:srgbClr val="595959"/>
                </a:solidFill>
                <a:latin typeface="Calibri"/>
                <a:ea typeface="Calibri"/>
                <a:cs typeface="Calibri"/>
                <a:sym typeface="Calibri"/>
              </a:rPr>
              <a:t>: Los valores de estas variables son números enteros que representan conteos o recuentos. No pueden tener valores fraccionarios o continuos. Por ejemplo, el número de hijos en una familia o el número de estudiantes en una clase.</a:t>
            </a:r>
            <a:endParaRPr/>
          </a:p>
          <a:p>
            <a:pPr marL="285750" marR="0" lvl="0" indent="-171450" algn="just" rtl="0">
              <a:spcBef>
                <a:spcPts val="0"/>
              </a:spcBef>
              <a:spcAft>
                <a:spcPts val="0"/>
              </a:spcAft>
              <a:buClr>
                <a:schemeClr val="dk1"/>
              </a:buClr>
              <a:buSzPts val="1800"/>
              <a:buFont typeface="Arial"/>
              <a:buNone/>
            </a:pPr>
            <a:endParaRPr sz="1800">
              <a:solidFill>
                <a:srgbClr val="595959"/>
              </a:solidFill>
              <a:latin typeface="Calibri"/>
              <a:ea typeface="Calibri"/>
              <a:cs typeface="Calibri"/>
              <a:sym typeface="Calibri"/>
            </a:endParaRPr>
          </a:p>
          <a:p>
            <a:pPr marL="285750" marR="0" lvl="0" indent="-285750" algn="just" rtl="0">
              <a:spcBef>
                <a:spcPts val="0"/>
              </a:spcBef>
              <a:spcAft>
                <a:spcPts val="0"/>
              </a:spcAft>
              <a:buClr>
                <a:srgbClr val="595959"/>
              </a:buClr>
              <a:buSzPts val="1800"/>
              <a:buFont typeface="Arial"/>
              <a:buChar char="•"/>
            </a:pPr>
            <a:r>
              <a:rPr lang="es-ES" sz="1800" b="1">
                <a:solidFill>
                  <a:srgbClr val="595959"/>
                </a:solidFill>
                <a:latin typeface="Calibri"/>
                <a:ea typeface="Calibri"/>
                <a:cs typeface="Calibri"/>
                <a:sym typeface="Calibri"/>
              </a:rPr>
              <a:t>Continuas</a:t>
            </a:r>
            <a:r>
              <a:rPr lang="es-ES" sz="1800">
                <a:solidFill>
                  <a:srgbClr val="595959"/>
                </a:solidFill>
                <a:latin typeface="Calibri"/>
                <a:ea typeface="Calibri"/>
                <a:cs typeface="Calibri"/>
                <a:sym typeface="Calibri"/>
              </a:rPr>
              <a:t>: Los valores de estas variables son números reales que representan mediciones precisas y pueden tener un rango infinito de valores posibles. Por ejemplo, la altura, el peso, la temperatura o el tiempo.</a:t>
            </a:r>
            <a:endParaRPr sz="1800">
              <a:solidFill>
                <a:srgbClr val="595959"/>
              </a:solidFill>
              <a:latin typeface="Calibri"/>
              <a:ea typeface="Calibri"/>
              <a:cs typeface="Calibri"/>
              <a:sym typeface="Calibri"/>
            </a:endParaRPr>
          </a:p>
        </p:txBody>
      </p:sp>
      <p:sp>
        <p:nvSpPr>
          <p:cNvPr id="173" name="Google Shape;173;p8"/>
          <p:cNvSpPr/>
          <p:nvPr/>
        </p:nvSpPr>
        <p:spPr>
          <a:xfrm>
            <a:off x="-357306" y="1275503"/>
            <a:ext cx="13239291" cy="909020"/>
          </a:xfrm>
          <a:prstGeom prst="roundRect">
            <a:avLst>
              <a:gd name="adj" fmla="val 2971"/>
            </a:avLst>
          </a:prstGeom>
          <a:gradFill>
            <a:gsLst>
              <a:gs pos="0">
                <a:srgbClr val="00546B"/>
              </a:gs>
              <a:gs pos="50000">
                <a:srgbClr val="007B9B"/>
              </a:gs>
              <a:gs pos="100000">
                <a:srgbClr val="0093B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4" name="Google Shape;174;p8"/>
          <p:cNvSpPr txBox="1"/>
          <p:nvPr/>
        </p:nvSpPr>
        <p:spPr>
          <a:xfrm>
            <a:off x="1053018" y="1410017"/>
            <a:ext cx="10132291" cy="70788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a:solidFill>
                  <a:schemeClr val="lt1"/>
                </a:solidFill>
                <a:latin typeface="Calibri"/>
                <a:ea typeface="Calibri"/>
                <a:cs typeface="Calibri"/>
                <a:sym typeface="Calibri"/>
              </a:rPr>
              <a:t>Estas variables representan </a:t>
            </a:r>
            <a:r>
              <a:rPr lang="es-ES" sz="2000" b="1">
                <a:solidFill>
                  <a:schemeClr val="lt1"/>
                </a:solidFill>
                <a:latin typeface="Calibri"/>
                <a:ea typeface="Calibri"/>
                <a:cs typeface="Calibri"/>
                <a:sym typeface="Calibri"/>
              </a:rPr>
              <a:t>cantidades numéricas que se pueden medir o contar </a:t>
            </a:r>
            <a:r>
              <a:rPr lang="es-ES" sz="2000">
                <a:solidFill>
                  <a:schemeClr val="lt1"/>
                </a:solidFill>
                <a:latin typeface="Calibri"/>
                <a:ea typeface="Calibri"/>
                <a:cs typeface="Calibri"/>
                <a:sym typeface="Calibri"/>
              </a:rPr>
              <a:t>(tiene sentido hacer operaciones aritméticas con ellas). </a:t>
            </a:r>
            <a:endParaRPr sz="20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Effect transition="in" filter="fade">
                                      <p:cBhvr>
                                        <p:cTn id="7" dur="500"/>
                                        <p:tgtEl>
                                          <p:spTgt spid="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9"/>
          <p:cNvSpPr txBox="1"/>
          <p:nvPr/>
        </p:nvSpPr>
        <p:spPr>
          <a:xfrm>
            <a:off x="1199837" y="306677"/>
            <a:ext cx="967248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Datos Cuantitativos</a:t>
            </a:r>
            <a:endParaRPr/>
          </a:p>
        </p:txBody>
      </p:sp>
      <p:sp>
        <p:nvSpPr>
          <p:cNvPr id="180" name="Google Shape;180;p9"/>
          <p:cNvSpPr/>
          <p:nvPr/>
        </p:nvSpPr>
        <p:spPr>
          <a:xfrm>
            <a:off x="704850" y="1314739"/>
            <a:ext cx="7725717" cy="4764514"/>
          </a:xfrm>
          <a:prstGeom prst="roundRect">
            <a:avLst>
              <a:gd name="adj" fmla="val 2971"/>
            </a:avLst>
          </a:prstGeom>
          <a:gradFill>
            <a:gsLst>
              <a:gs pos="0">
                <a:srgbClr val="00546B"/>
              </a:gs>
              <a:gs pos="50000">
                <a:srgbClr val="007B9B"/>
              </a:gs>
              <a:gs pos="100000">
                <a:srgbClr val="0093B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1" name="Google Shape;181;p9"/>
          <p:cNvSpPr txBox="1"/>
          <p:nvPr/>
        </p:nvSpPr>
        <p:spPr>
          <a:xfrm>
            <a:off x="1199837" y="1606573"/>
            <a:ext cx="6497200" cy="4154984"/>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s-ES" sz="1600">
                <a:solidFill>
                  <a:schemeClr val="lt1"/>
                </a:solidFill>
                <a:latin typeface="Calibri"/>
                <a:ea typeface="Calibri"/>
                <a:cs typeface="Calibri"/>
                <a:sym typeface="Calibri"/>
              </a:rPr>
              <a:t>Los posibles valores de una variable, suele denominarse </a:t>
            </a:r>
            <a:r>
              <a:rPr lang="es-ES" sz="1600" b="1">
                <a:solidFill>
                  <a:schemeClr val="lt1"/>
                </a:solidFill>
                <a:latin typeface="Calibri"/>
                <a:ea typeface="Calibri"/>
                <a:cs typeface="Calibri"/>
                <a:sym typeface="Calibri"/>
              </a:rPr>
              <a:t>modalidades</a:t>
            </a:r>
            <a:r>
              <a:rPr lang="es-ES" sz="1600">
                <a:solidFill>
                  <a:schemeClr val="lt1"/>
                </a:solidFill>
                <a:latin typeface="Calibri"/>
                <a:ea typeface="Calibri"/>
                <a:cs typeface="Calibri"/>
                <a:sym typeface="Calibri"/>
              </a:rPr>
              <a:t>.</a:t>
            </a:r>
            <a:endParaRPr/>
          </a:p>
          <a:p>
            <a:pPr marL="0" marR="0" lvl="0" indent="0" algn="just" rtl="0">
              <a:lnSpc>
                <a:spcPct val="150000"/>
              </a:lnSpc>
              <a:spcBef>
                <a:spcPts val="0"/>
              </a:spcBef>
              <a:spcAft>
                <a:spcPts val="0"/>
              </a:spcAft>
              <a:buNone/>
            </a:pPr>
            <a:endParaRPr sz="1600">
              <a:solidFill>
                <a:schemeClr val="lt1"/>
              </a:solidFill>
              <a:latin typeface="Calibri"/>
              <a:ea typeface="Calibri"/>
              <a:cs typeface="Calibri"/>
              <a:sym typeface="Calibri"/>
            </a:endParaRPr>
          </a:p>
          <a:p>
            <a:pPr marL="0" marR="0" lvl="0" indent="0" algn="just" rtl="0">
              <a:lnSpc>
                <a:spcPct val="150000"/>
              </a:lnSpc>
              <a:spcBef>
                <a:spcPts val="0"/>
              </a:spcBef>
              <a:spcAft>
                <a:spcPts val="0"/>
              </a:spcAft>
              <a:buNone/>
            </a:pPr>
            <a:r>
              <a:rPr lang="es-ES" sz="1600">
                <a:solidFill>
                  <a:schemeClr val="lt1"/>
                </a:solidFill>
                <a:latin typeface="Calibri"/>
                <a:ea typeface="Calibri"/>
                <a:cs typeface="Calibri"/>
                <a:sym typeface="Calibri"/>
              </a:rPr>
              <a:t>Las modalidades pueden agruparse en </a:t>
            </a:r>
            <a:r>
              <a:rPr lang="es-ES" sz="1600" b="1">
                <a:solidFill>
                  <a:schemeClr val="lt1"/>
                </a:solidFill>
                <a:latin typeface="Calibri"/>
                <a:ea typeface="Calibri"/>
                <a:cs typeface="Calibri"/>
                <a:sym typeface="Calibri"/>
              </a:rPr>
              <a:t>clases (intervalos)</a:t>
            </a:r>
            <a:r>
              <a:rPr lang="es-ES" sz="1600">
                <a:solidFill>
                  <a:schemeClr val="lt1"/>
                </a:solidFill>
                <a:latin typeface="Calibri"/>
                <a:ea typeface="Calibri"/>
                <a:cs typeface="Calibri"/>
                <a:sym typeface="Calibri"/>
              </a:rPr>
              <a:t>.</a:t>
            </a:r>
            <a:endParaRPr/>
          </a:p>
          <a:p>
            <a:pPr marL="742950" marR="0" lvl="1" indent="-285750" algn="just" rtl="0">
              <a:lnSpc>
                <a:spcPct val="150000"/>
              </a:lnSpc>
              <a:spcBef>
                <a:spcPts val="0"/>
              </a:spcBef>
              <a:spcAft>
                <a:spcPts val="0"/>
              </a:spcAft>
              <a:buClr>
                <a:schemeClr val="lt1"/>
              </a:buClr>
              <a:buSzPts val="1600"/>
              <a:buFont typeface="Arial"/>
              <a:buChar char="•"/>
            </a:pPr>
            <a:r>
              <a:rPr lang="es-ES" sz="1600" b="0" i="0" u="none" strike="noStrike" cap="none">
                <a:solidFill>
                  <a:schemeClr val="lt1"/>
                </a:solidFill>
                <a:latin typeface="Calibri"/>
                <a:ea typeface="Calibri"/>
                <a:cs typeface="Calibri"/>
                <a:sym typeface="Calibri"/>
              </a:rPr>
              <a:t>Por ejemplo: </a:t>
            </a:r>
            <a:endParaRPr/>
          </a:p>
          <a:p>
            <a:pPr marL="0" marR="0" lvl="0" indent="0" algn="just" rtl="0">
              <a:lnSpc>
                <a:spcPct val="150000"/>
              </a:lnSpc>
              <a:spcBef>
                <a:spcPts val="0"/>
              </a:spcBef>
              <a:spcAft>
                <a:spcPts val="0"/>
              </a:spcAft>
              <a:buNone/>
            </a:pPr>
            <a:r>
              <a:rPr lang="es-ES" sz="1600">
                <a:solidFill>
                  <a:schemeClr val="lt1"/>
                </a:solidFill>
                <a:latin typeface="Calibri"/>
                <a:ea typeface="Calibri"/>
                <a:cs typeface="Calibri"/>
                <a:sym typeface="Calibri"/>
              </a:rPr>
              <a:t>	Edades (menor de 20 años, de 20 a 50 años, más de 50 años).</a:t>
            </a:r>
            <a:endParaRPr/>
          </a:p>
          <a:p>
            <a:pPr marL="0" marR="0" lvl="0" indent="0" algn="just" rtl="0">
              <a:lnSpc>
                <a:spcPct val="150000"/>
              </a:lnSpc>
              <a:spcBef>
                <a:spcPts val="0"/>
              </a:spcBef>
              <a:spcAft>
                <a:spcPts val="0"/>
              </a:spcAft>
              <a:buNone/>
            </a:pPr>
            <a:r>
              <a:rPr lang="es-ES" sz="1600">
                <a:solidFill>
                  <a:schemeClr val="lt1"/>
                </a:solidFill>
                <a:latin typeface="Calibri"/>
                <a:ea typeface="Calibri"/>
                <a:cs typeface="Calibri"/>
                <a:sym typeface="Calibri"/>
              </a:rPr>
              <a:t>	Hijos (menos de 3 hijos, entre 3 y 5, 6  o más).</a:t>
            </a:r>
            <a:endParaRPr/>
          </a:p>
          <a:p>
            <a:pPr marL="0" marR="0" lvl="0" indent="0" algn="just" rtl="0">
              <a:lnSpc>
                <a:spcPct val="150000"/>
              </a:lnSpc>
              <a:spcBef>
                <a:spcPts val="0"/>
              </a:spcBef>
              <a:spcAft>
                <a:spcPts val="0"/>
              </a:spcAft>
              <a:buNone/>
            </a:pPr>
            <a:endParaRPr sz="1600">
              <a:solidFill>
                <a:schemeClr val="lt1"/>
              </a:solidFill>
              <a:latin typeface="Calibri"/>
              <a:ea typeface="Calibri"/>
              <a:cs typeface="Calibri"/>
              <a:sym typeface="Calibri"/>
            </a:endParaRPr>
          </a:p>
          <a:p>
            <a:pPr marL="0" marR="0" lvl="0" indent="0" algn="just" rtl="0">
              <a:lnSpc>
                <a:spcPct val="150000"/>
              </a:lnSpc>
              <a:spcBef>
                <a:spcPts val="0"/>
              </a:spcBef>
              <a:spcAft>
                <a:spcPts val="0"/>
              </a:spcAft>
              <a:buNone/>
            </a:pPr>
            <a:r>
              <a:rPr lang="es-ES" sz="1600">
                <a:solidFill>
                  <a:schemeClr val="lt1"/>
                </a:solidFill>
                <a:latin typeface="Calibri"/>
                <a:ea typeface="Calibri"/>
                <a:cs typeface="Calibri"/>
                <a:sym typeface="Calibri"/>
              </a:rPr>
              <a:t>Las modalidades/clases deben formar un sistema </a:t>
            </a:r>
            <a:r>
              <a:rPr lang="es-ES" sz="1600" b="1">
                <a:solidFill>
                  <a:schemeClr val="lt1"/>
                </a:solidFill>
                <a:latin typeface="Calibri"/>
                <a:ea typeface="Calibri"/>
                <a:cs typeface="Calibri"/>
                <a:sym typeface="Calibri"/>
              </a:rPr>
              <a:t>exhaustivo y excluyente</a:t>
            </a:r>
            <a:r>
              <a:rPr lang="es-ES" sz="1600">
                <a:solidFill>
                  <a:schemeClr val="lt1"/>
                </a:solidFill>
                <a:latin typeface="Calibri"/>
                <a:ea typeface="Calibri"/>
                <a:cs typeface="Calibri"/>
                <a:sym typeface="Calibri"/>
              </a:rPr>
              <a:t>.</a:t>
            </a:r>
            <a:endParaRPr/>
          </a:p>
          <a:p>
            <a:pPr marL="742950" marR="0" lvl="1" indent="-285750" algn="just" rtl="0">
              <a:lnSpc>
                <a:spcPct val="150000"/>
              </a:lnSpc>
              <a:spcBef>
                <a:spcPts val="0"/>
              </a:spcBef>
              <a:spcAft>
                <a:spcPts val="0"/>
              </a:spcAft>
              <a:buClr>
                <a:schemeClr val="lt1"/>
              </a:buClr>
              <a:buSzPts val="1600"/>
              <a:buFont typeface="Arial"/>
              <a:buChar char="•"/>
            </a:pPr>
            <a:r>
              <a:rPr lang="es-ES" sz="1600" b="0" i="0" u="none" strike="noStrike" cap="none">
                <a:solidFill>
                  <a:schemeClr val="lt1"/>
                </a:solidFill>
                <a:latin typeface="Calibri"/>
                <a:ea typeface="Calibri"/>
                <a:cs typeface="Calibri"/>
                <a:sym typeface="Calibri"/>
              </a:rPr>
              <a:t>Exhaustivo: No podemos olvidar ningún posible valor de la variable.</a:t>
            </a:r>
            <a:endParaRPr/>
          </a:p>
          <a:p>
            <a:pPr marL="742950" marR="0" lvl="1" indent="-285750" algn="just" rtl="0">
              <a:lnSpc>
                <a:spcPct val="150000"/>
              </a:lnSpc>
              <a:spcBef>
                <a:spcPts val="0"/>
              </a:spcBef>
              <a:spcAft>
                <a:spcPts val="0"/>
              </a:spcAft>
              <a:buClr>
                <a:schemeClr val="lt1"/>
              </a:buClr>
              <a:buSzPts val="1600"/>
              <a:buFont typeface="Arial"/>
              <a:buChar char="•"/>
            </a:pPr>
            <a:r>
              <a:rPr lang="es-ES" sz="1600" b="0" i="0" u="none" strike="noStrike" cap="none">
                <a:solidFill>
                  <a:schemeClr val="lt1"/>
                </a:solidFill>
                <a:latin typeface="Calibri"/>
                <a:ea typeface="Calibri"/>
                <a:cs typeface="Calibri"/>
                <a:sym typeface="Calibri"/>
              </a:rPr>
              <a:t>Excluyente: Nadie puede presentar dos valores simultáneos de la variable.</a:t>
            </a:r>
            <a:endParaRPr sz="1600" b="0" i="0" u="none" strike="noStrike" cap="none">
              <a:solidFill>
                <a:schemeClr val="lt1"/>
              </a:solidFill>
              <a:latin typeface="Calibri"/>
              <a:ea typeface="Calibri"/>
              <a:cs typeface="Calibri"/>
              <a:sym typeface="Calibri"/>
            </a:endParaRPr>
          </a:p>
        </p:txBody>
      </p:sp>
      <p:pic>
        <p:nvPicPr>
          <p:cNvPr id="182" name="Google Shape;182;p9"/>
          <p:cNvPicPr preferRelativeResize="0"/>
          <p:nvPr/>
        </p:nvPicPr>
        <p:blipFill rotWithShape="1">
          <a:blip r:embed="rId3">
            <a:alphaModFix/>
          </a:blip>
          <a:srcRect/>
          <a:stretch/>
        </p:blipFill>
        <p:spPr>
          <a:xfrm>
            <a:off x="777807" y="1697066"/>
            <a:ext cx="323116" cy="323116"/>
          </a:xfrm>
          <a:prstGeom prst="rect">
            <a:avLst/>
          </a:prstGeom>
          <a:noFill/>
          <a:ln>
            <a:noFill/>
          </a:ln>
        </p:spPr>
      </p:pic>
      <p:pic>
        <p:nvPicPr>
          <p:cNvPr id="183" name="Google Shape;183;p9"/>
          <p:cNvPicPr preferRelativeResize="0"/>
          <p:nvPr/>
        </p:nvPicPr>
        <p:blipFill rotWithShape="1">
          <a:blip r:embed="rId3">
            <a:alphaModFix/>
          </a:blip>
          <a:srcRect/>
          <a:stretch/>
        </p:blipFill>
        <p:spPr>
          <a:xfrm>
            <a:off x="771843" y="2432653"/>
            <a:ext cx="323116" cy="323116"/>
          </a:xfrm>
          <a:prstGeom prst="rect">
            <a:avLst/>
          </a:prstGeom>
          <a:noFill/>
          <a:ln>
            <a:noFill/>
          </a:ln>
        </p:spPr>
      </p:pic>
      <p:pic>
        <p:nvPicPr>
          <p:cNvPr id="184" name="Google Shape;184;p9"/>
          <p:cNvPicPr preferRelativeResize="0"/>
          <p:nvPr/>
        </p:nvPicPr>
        <p:blipFill rotWithShape="1">
          <a:blip r:embed="rId3">
            <a:alphaModFix/>
          </a:blip>
          <a:srcRect/>
          <a:stretch/>
        </p:blipFill>
        <p:spPr>
          <a:xfrm>
            <a:off x="790786" y="4257088"/>
            <a:ext cx="323116" cy="32311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fade">
                                      <p:cBhvr>
                                        <p:cTn id="7" dur="5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0"/>
          <p:cNvSpPr txBox="1"/>
          <p:nvPr/>
        </p:nvSpPr>
        <p:spPr>
          <a:xfrm>
            <a:off x="834013" y="280848"/>
            <a:ext cx="10516592" cy="582450"/>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Datos Cualitativos</a:t>
            </a:r>
            <a:endParaRPr/>
          </a:p>
        </p:txBody>
      </p:sp>
      <p:sp>
        <p:nvSpPr>
          <p:cNvPr id="190" name="Google Shape;190;p10"/>
          <p:cNvSpPr/>
          <p:nvPr/>
        </p:nvSpPr>
        <p:spPr>
          <a:xfrm>
            <a:off x="397212" y="2654793"/>
            <a:ext cx="11226482" cy="3260008"/>
          </a:xfrm>
          <a:prstGeom prst="roundRect">
            <a:avLst>
              <a:gd name="adj" fmla="val 2971"/>
            </a:avLst>
          </a:prstGeom>
          <a:solidFill>
            <a:schemeClr val="lt1"/>
          </a:solidFill>
          <a:ln w="38100" cap="flat" cmpd="sng">
            <a:solidFill>
              <a:srgbClr val="078C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10"/>
          <p:cNvSpPr/>
          <p:nvPr/>
        </p:nvSpPr>
        <p:spPr>
          <a:xfrm>
            <a:off x="-223521" y="1003594"/>
            <a:ext cx="12675475" cy="1455883"/>
          </a:xfrm>
          <a:prstGeom prst="roundRect">
            <a:avLst>
              <a:gd name="adj" fmla="val 2971"/>
            </a:avLst>
          </a:prstGeom>
          <a:gradFill>
            <a:gsLst>
              <a:gs pos="0">
                <a:srgbClr val="00546B"/>
              </a:gs>
              <a:gs pos="50000">
                <a:srgbClr val="007B9B"/>
              </a:gs>
              <a:gs pos="100000">
                <a:srgbClr val="0093B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2" name="Google Shape;192;p10"/>
          <p:cNvSpPr txBox="1"/>
          <p:nvPr/>
        </p:nvSpPr>
        <p:spPr>
          <a:xfrm>
            <a:off x="834013" y="1130468"/>
            <a:ext cx="10451898" cy="120032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Un dato cualitativo es una información o característica que describe cualidades o atributos que </a:t>
            </a:r>
            <a:r>
              <a:rPr lang="es-ES" sz="1800" b="1">
                <a:solidFill>
                  <a:schemeClr val="lt1"/>
                </a:solidFill>
                <a:latin typeface="Calibri"/>
                <a:ea typeface="Calibri"/>
                <a:cs typeface="Calibri"/>
                <a:sym typeface="Calibri"/>
              </a:rPr>
              <a:t>no pueden ser medidos numéricamente</a:t>
            </a:r>
            <a:r>
              <a:rPr lang="es-ES" sz="1800">
                <a:solidFill>
                  <a:schemeClr val="lt1"/>
                </a:solidFill>
                <a:latin typeface="Calibri"/>
                <a:ea typeface="Calibri"/>
                <a:cs typeface="Calibri"/>
                <a:sym typeface="Calibri"/>
              </a:rPr>
              <a:t> (no pueden hacerse operaciones aritméticas con ellos). Estos datos representan categorías o clasificaciones y se utilizan para describir características cualitativas de un fenómeno o una población.</a:t>
            </a:r>
            <a:endParaRPr sz="1800">
              <a:solidFill>
                <a:schemeClr val="lt1"/>
              </a:solidFill>
              <a:latin typeface="Calibri"/>
              <a:ea typeface="Calibri"/>
              <a:cs typeface="Calibri"/>
              <a:sym typeface="Calibri"/>
            </a:endParaRPr>
          </a:p>
        </p:txBody>
      </p:sp>
      <p:sp>
        <p:nvSpPr>
          <p:cNvPr id="193" name="Google Shape;193;p10"/>
          <p:cNvSpPr txBox="1"/>
          <p:nvPr/>
        </p:nvSpPr>
        <p:spPr>
          <a:xfrm>
            <a:off x="834013" y="2818124"/>
            <a:ext cx="10451898" cy="286232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7F7F7F"/>
                </a:solidFill>
                <a:latin typeface="Arial"/>
                <a:ea typeface="Arial"/>
                <a:cs typeface="Arial"/>
                <a:sym typeface="Arial"/>
              </a:rPr>
              <a:t>Los datos cualitativos pueden ser de dos tipos:</a:t>
            </a:r>
            <a:endParaRPr/>
          </a:p>
          <a:p>
            <a:pPr marL="0" marR="0" lvl="0" indent="0" algn="just" rtl="0">
              <a:spcBef>
                <a:spcPts val="0"/>
              </a:spcBef>
              <a:spcAft>
                <a:spcPts val="0"/>
              </a:spcAft>
              <a:buNone/>
            </a:pPr>
            <a:endParaRPr sz="1800">
              <a:solidFill>
                <a:srgbClr val="7F7F7F"/>
              </a:solidFill>
              <a:latin typeface="Arial"/>
              <a:ea typeface="Arial"/>
              <a:cs typeface="Arial"/>
              <a:sym typeface="Arial"/>
            </a:endParaRPr>
          </a:p>
          <a:p>
            <a:pPr marL="285750" marR="0" lvl="0" indent="-285750" algn="just" rtl="0">
              <a:spcBef>
                <a:spcPts val="0"/>
              </a:spcBef>
              <a:spcAft>
                <a:spcPts val="0"/>
              </a:spcAft>
              <a:buClr>
                <a:srgbClr val="7F7F7F"/>
              </a:buClr>
              <a:buSzPts val="1800"/>
              <a:buFont typeface="Arial"/>
              <a:buChar char="•"/>
            </a:pPr>
            <a:r>
              <a:rPr lang="es-ES" sz="1800" b="1">
                <a:solidFill>
                  <a:srgbClr val="7F7F7F"/>
                </a:solidFill>
                <a:latin typeface="Arial"/>
                <a:ea typeface="Arial"/>
                <a:cs typeface="Arial"/>
                <a:sym typeface="Arial"/>
              </a:rPr>
              <a:t>Nominales</a:t>
            </a:r>
            <a:r>
              <a:rPr lang="es-ES" sz="1800">
                <a:solidFill>
                  <a:srgbClr val="7F7F7F"/>
                </a:solidFill>
                <a:latin typeface="Arial"/>
                <a:ea typeface="Arial"/>
                <a:cs typeface="Arial"/>
                <a:sym typeface="Arial"/>
              </a:rPr>
              <a:t>: Los datos nominales representan categorías o nombres que no tienen un orden inherente. Por ejemplo, el género (masculino, femenino), el tipo de sangre (A, B, AB, O), el estado civil (soltero, casado, divorciado) o el color de los ojos (azul, marrón, verde).</a:t>
            </a:r>
            <a:endParaRPr/>
          </a:p>
          <a:p>
            <a:pPr marL="285750" marR="0" lvl="0" indent="-171450" algn="just" rtl="0">
              <a:spcBef>
                <a:spcPts val="0"/>
              </a:spcBef>
              <a:spcAft>
                <a:spcPts val="0"/>
              </a:spcAft>
              <a:buClr>
                <a:schemeClr val="dk1"/>
              </a:buClr>
              <a:buSzPts val="1800"/>
              <a:buFont typeface="Arial"/>
              <a:buNone/>
            </a:pPr>
            <a:endParaRPr sz="1800">
              <a:solidFill>
                <a:srgbClr val="7F7F7F"/>
              </a:solidFill>
              <a:latin typeface="Arial"/>
              <a:ea typeface="Arial"/>
              <a:cs typeface="Arial"/>
              <a:sym typeface="Arial"/>
            </a:endParaRPr>
          </a:p>
          <a:p>
            <a:pPr marL="285750" marR="0" lvl="0" indent="-285750" algn="just" rtl="0">
              <a:spcBef>
                <a:spcPts val="0"/>
              </a:spcBef>
              <a:spcAft>
                <a:spcPts val="0"/>
              </a:spcAft>
              <a:buClr>
                <a:srgbClr val="7F7F7F"/>
              </a:buClr>
              <a:buSzPts val="1800"/>
              <a:buFont typeface="Arial"/>
              <a:buChar char="•"/>
            </a:pPr>
            <a:r>
              <a:rPr lang="es-ES" sz="1800" b="1">
                <a:solidFill>
                  <a:srgbClr val="7F7F7F"/>
                </a:solidFill>
                <a:latin typeface="Arial"/>
                <a:ea typeface="Arial"/>
                <a:cs typeface="Arial"/>
                <a:sym typeface="Arial"/>
              </a:rPr>
              <a:t>Ordinales</a:t>
            </a:r>
            <a:r>
              <a:rPr lang="es-ES" sz="1800">
                <a:solidFill>
                  <a:srgbClr val="7F7F7F"/>
                </a:solidFill>
                <a:latin typeface="Arial"/>
                <a:ea typeface="Arial"/>
                <a:cs typeface="Arial"/>
                <a:sym typeface="Arial"/>
              </a:rPr>
              <a:t>: Los datos ordinales también representan categorías, pero tienen un orden natural o jerarquía. Aunque los valores son categorías, tienen un orden. Por ejemplo, el nivel educativo (primario, secundario, terciario), el grado de satisfacción (muy insatisfecho, insatisfecho, neutral, satisfecho, muy satisfecho) o la clasificación socioeconómica (baja, media, alta).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9"/>
                                        </p:tgtEl>
                                        <p:attrNameLst>
                                          <p:attrName>style.visibility</p:attrName>
                                        </p:attrNameLst>
                                      </p:cBhvr>
                                      <p:to>
                                        <p:strVal val="visible"/>
                                      </p:to>
                                    </p:set>
                                    <p:animEffect transition="in" filter="fade">
                                      <p:cBhvr>
                                        <p:cTn id="7" dur="500"/>
                                        <p:tgtEl>
                                          <p:spTgt spid="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1"/>
          <p:cNvSpPr/>
          <p:nvPr/>
        </p:nvSpPr>
        <p:spPr>
          <a:xfrm>
            <a:off x="-257267" y="1325987"/>
            <a:ext cx="6496701" cy="4225068"/>
          </a:xfrm>
          <a:prstGeom prst="roundRect">
            <a:avLst>
              <a:gd name="adj" fmla="val 2971"/>
            </a:avLst>
          </a:prstGeom>
          <a:gradFill>
            <a:gsLst>
              <a:gs pos="0">
                <a:srgbClr val="00546B"/>
              </a:gs>
              <a:gs pos="50000">
                <a:srgbClr val="007B9B"/>
              </a:gs>
              <a:gs pos="100000">
                <a:srgbClr val="0093B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9" name="Google Shape;199;p11"/>
          <p:cNvSpPr txBox="1"/>
          <p:nvPr/>
        </p:nvSpPr>
        <p:spPr>
          <a:xfrm>
            <a:off x="568305" y="280847"/>
            <a:ext cx="10782300" cy="734363"/>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Datos Cualitativos</a:t>
            </a:r>
            <a:endParaRPr/>
          </a:p>
        </p:txBody>
      </p:sp>
      <p:sp>
        <p:nvSpPr>
          <p:cNvPr id="200" name="Google Shape;200;p11"/>
          <p:cNvSpPr txBox="1"/>
          <p:nvPr/>
        </p:nvSpPr>
        <p:spPr>
          <a:xfrm>
            <a:off x="568305" y="2103699"/>
            <a:ext cx="5157000" cy="255454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a:solidFill>
                  <a:schemeClr val="lt1"/>
                </a:solidFill>
                <a:latin typeface="Calibri"/>
                <a:ea typeface="Calibri"/>
                <a:cs typeface="Calibri"/>
                <a:sym typeface="Calibri"/>
              </a:rPr>
              <a:t>Los datos cualitativos (nominales u ordinales) se cuantifican como recuentos del número de casos observados para cada categoría, y suelen expresarse habitualmente como porcentajes u otro tipo de cocientes.</a:t>
            </a:r>
            <a:endParaRPr/>
          </a:p>
          <a:p>
            <a:pPr marL="0" marR="0" lvl="0" indent="0" algn="just" rtl="0">
              <a:spcBef>
                <a:spcPts val="0"/>
              </a:spcBef>
              <a:spcAft>
                <a:spcPts val="0"/>
              </a:spcAft>
              <a:buNone/>
            </a:pPr>
            <a:endParaRPr sz="2000">
              <a:solidFill>
                <a:schemeClr val="lt1"/>
              </a:solidFill>
              <a:latin typeface="Calibri"/>
              <a:ea typeface="Calibri"/>
              <a:cs typeface="Calibri"/>
              <a:sym typeface="Calibri"/>
            </a:endParaRPr>
          </a:p>
          <a:p>
            <a:pPr marL="0" marR="0" lvl="0" indent="0" algn="just" rtl="0">
              <a:spcBef>
                <a:spcPts val="0"/>
              </a:spcBef>
              <a:spcAft>
                <a:spcPts val="0"/>
              </a:spcAft>
              <a:buNone/>
            </a:pPr>
            <a:r>
              <a:rPr lang="es-ES" sz="2000">
                <a:solidFill>
                  <a:schemeClr val="lt1"/>
                </a:solidFill>
                <a:latin typeface="Calibri"/>
                <a:ea typeface="Calibri"/>
                <a:cs typeface="Calibri"/>
                <a:sym typeface="Calibri"/>
              </a:rPr>
              <a:t>Ej. La proporción de mujeres con síndrome X es del 82 % (55 de 67).</a:t>
            </a:r>
            <a:endParaRPr sz="2000">
              <a:solidFill>
                <a:schemeClr val="lt1"/>
              </a:solidFill>
              <a:latin typeface="Calibri"/>
              <a:ea typeface="Calibri"/>
              <a:cs typeface="Calibri"/>
              <a:sym typeface="Calibri"/>
            </a:endParaRPr>
          </a:p>
        </p:txBody>
      </p:sp>
      <p:sp>
        <p:nvSpPr>
          <p:cNvPr id="201" name="Google Shape;201;p11"/>
          <p:cNvSpPr/>
          <p:nvPr/>
        </p:nvSpPr>
        <p:spPr>
          <a:xfrm>
            <a:off x="6511890" y="1316466"/>
            <a:ext cx="4735998" cy="4225068"/>
          </a:xfrm>
          <a:prstGeom prst="roundRect">
            <a:avLst>
              <a:gd name="adj" fmla="val 2971"/>
            </a:avLst>
          </a:prstGeom>
          <a:solidFill>
            <a:schemeClr val="lt1"/>
          </a:solidFill>
          <a:ln w="38100" cap="flat" cmpd="sng">
            <a:solidFill>
              <a:srgbClr val="078C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2" name="Google Shape;202;p11"/>
          <p:cNvSpPr txBox="1"/>
          <p:nvPr/>
        </p:nvSpPr>
        <p:spPr>
          <a:xfrm>
            <a:off x="6778100" y="2103699"/>
            <a:ext cx="4203577"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7F7F7F"/>
                </a:solidFill>
                <a:latin typeface="Calibri"/>
                <a:ea typeface="Calibri"/>
                <a:cs typeface="Calibri"/>
                <a:sym typeface="Calibri"/>
              </a:rPr>
              <a:t>Este es un ejemplo de una Tabla de Frecuencias para describir una variable cualitativa:</a:t>
            </a:r>
            <a:endParaRPr sz="1800">
              <a:solidFill>
                <a:srgbClr val="7F7F7F"/>
              </a:solidFill>
              <a:latin typeface="Calibri"/>
              <a:ea typeface="Calibri"/>
              <a:cs typeface="Calibri"/>
              <a:sym typeface="Calibri"/>
            </a:endParaRPr>
          </a:p>
        </p:txBody>
      </p:sp>
      <p:sp>
        <p:nvSpPr>
          <p:cNvPr id="203" name="Google Shape;203;p11"/>
          <p:cNvSpPr txBox="1"/>
          <p:nvPr/>
        </p:nvSpPr>
        <p:spPr>
          <a:xfrm>
            <a:off x="7328397" y="3121764"/>
            <a:ext cx="3919491" cy="138499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0" i="0">
                <a:solidFill>
                  <a:schemeClr val="dk1"/>
                </a:solidFill>
                <a:latin typeface="Consolas"/>
                <a:ea typeface="Consolas"/>
                <a:cs typeface="Consolas"/>
                <a:sym typeface="Consolas"/>
              </a:rPr>
              <a:t>Tipo de transporte | Frecuencia</a:t>
            </a:r>
            <a:endParaRPr/>
          </a:p>
          <a:p>
            <a:pPr marL="0" marR="0" lvl="0" indent="0" algn="l" rtl="0">
              <a:spcBef>
                <a:spcPts val="0"/>
              </a:spcBef>
              <a:spcAft>
                <a:spcPts val="0"/>
              </a:spcAft>
              <a:buNone/>
            </a:pPr>
            <a:r>
              <a:rPr lang="es-ES" sz="1400" b="0" i="0">
                <a:solidFill>
                  <a:schemeClr val="dk1"/>
                </a:solidFill>
                <a:latin typeface="Consolas"/>
                <a:ea typeface="Consolas"/>
                <a:cs typeface="Consolas"/>
                <a:sym typeface="Consolas"/>
              </a:rPr>
              <a:t>-------------------|------------ </a:t>
            </a:r>
            <a:endParaRPr/>
          </a:p>
          <a:p>
            <a:pPr marL="0" marR="0" lvl="0" indent="0" algn="l" rtl="0">
              <a:spcBef>
                <a:spcPts val="0"/>
              </a:spcBef>
              <a:spcAft>
                <a:spcPts val="0"/>
              </a:spcAft>
              <a:buNone/>
            </a:pPr>
            <a:r>
              <a:rPr lang="es-ES" sz="1400" b="0" i="0">
                <a:solidFill>
                  <a:schemeClr val="dk1"/>
                </a:solidFill>
                <a:latin typeface="Consolas"/>
                <a:ea typeface="Consolas"/>
                <a:cs typeface="Consolas"/>
                <a:sym typeface="Consolas"/>
              </a:rPr>
              <a:t>Automóvil          | 120 </a:t>
            </a:r>
            <a:endParaRPr/>
          </a:p>
          <a:p>
            <a:pPr marL="0" marR="0" lvl="0" indent="0" algn="l" rtl="0">
              <a:spcBef>
                <a:spcPts val="0"/>
              </a:spcBef>
              <a:spcAft>
                <a:spcPts val="0"/>
              </a:spcAft>
              <a:buNone/>
            </a:pPr>
            <a:r>
              <a:rPr lang="es-ES" sz="1400" b="0" i="0">
                <a:solidFill>
                  <a:schemeClr val="dk1"/>
                </a:solidFill>
                <a:latin typeface="Consolas"/>
                <a:ea typeface="Consolas"/>
                <a:cs typeface="Consolas"/>
                <a:sym typeface="Consolas"/>
              </a:rPr>
              <a:t>Transporte público |  80 </a:t>
            </a:r>
            <a:endParaRPr sz="1400" b="0" i="0">
              <a:solidFill>
                <a:schemeClr val="dk1"/>
              </a:solidFill>
              <a:latin typeface="Consolas"/>
              <a:ea typeface="Consolas"/>
              <a:cs typeface="Consolas"/>
              <a:sym typeface="Consolas"/>
            </a:endParaRPr>
          </a:p>
          <a:p>
            <a:pPr marL="0" marR="0" lvl="0" indent="0" algn="l" rtl="0">
              <a:spcBef>
                <a:spcPts val="0"/>
              </a:spcBef>
              <a:spcAft>
                <a:spcPts val="0"/>
              </a:spcAft>
              <a:buNone/>
            </a:pPr>
            <a:r>
              <a:rPr lang="es-ES" sz="1400" b="0" i="0">
                <a:solidFill>
                  <a:schemeClr val="dk1"/>
                </a:solidFill>
                <a:latin typeface="Consolas"/>
                <a:ea typeface="Consolas"/>
                <a:cs typeface="Consolas"/>
                <a:sym typeface="Consolas"/>
              </a:rPr>
              <a:t>Bicicleta          |  30 </a:t>
            </a:r>
            <a:endParaRPr sz="1400" b="0" i="0">
              <a:solidFill>
                <a:schemeClr val="dk1"/>
              </a:solidFill>
              <a:latin typeface="Consolas"/>
              <a:ea typeface="Consolas"/>
              <a:cs typeface="Consolas"/>
              <a:sym typeface="Consolas"/>
            </a:endParaRPr>
          </a:p>
          <a:p>
            <a:pPr marL="0" marR="0" lvl="0" indent="0" algn="l" rtl="0">
              <a:spcBef>
                <a:spcPts val="0"/>
              </a:spcBef>
              <a:spcAft>
                <a:spcPts val="0"/>
              </a:spcAft>
              <a:buNone/>
            </a:pPr>
            <a:r>
              <a:rPr lang="es-ES" sz="1400" b="0" i="0">
                <a:solidFill>
                  <a:schemeClr val="dk1"/>
                </a:solidFill>
                <a:latin typeface="Consolas"/>
                <a:ea typeface="Consolas"/>
                <a:cs typeface="Consolas"/>
                <a:sym typeface="Consolas"/>
              </a:rPr>
              <a:t>A pie              |  50</a:t>
            </a:r>
            <a:endParaRPr sz="1400">
              <a:solidFill>
                <a:schemeClr val="dk1"/>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9"/>
                                        </p:tgtEl>
                                        <p:attrNameLst>
                                          <p:attrName>style.visibility</p:attrName>
                                        </p:attrNameLst>
                                      </p:cBhvr>
                                      <p:to>
                                        <p:strVal val="visible"/>
                                      </p:to>
                                    </p:set>
                                    <p:animEffect transition="in" filter="fade">
                                      <p:cBhvr>
                                        <p:cTn id="7" dur="500"/>
                                        <p:tgtEl>
                                          <p:spTgt spid="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2"/>
          <p:cNvSpPr txBox="1"/>
          <p:nvPr/>
        </p:nvSpPr>
        <p:spPr>
          <a:xfrm>
            <a:off x="803868" y="197107"/>
            <a:ext cx="10401236" cy="698391"/>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Codificación de variables cualitativas</a:t>
            </a:r>
            <a:endParaRPr/>
          </a:p>
        </p:txBody>
      </p:sp>
      <p:sp>
        <p:nvSpPr>
          <p:cNvPr id="209" name="Google Shape;209;p12"/>
          <p:cNvSpPr/>
          <p:nvPr/>
        </p:nvSpPr>
        <p:spPr>
          <a:xfrm>
            <a:off x="607882" y="2260443"/>
            <a:ext cx="10985443" cy="3934981"/>
          </a:xfrm>
          <a:prstGeom prst="roundRect">
            <a:avLst>
              <a:gd name="adj" fmla="val 2971"/>
            </a:avLst>
          </a:prstGeom>
          <a:solidFill>
            <a:schemeClr val="lt1"/>
          </a:solidFill>
          <a:ln w="38100" cap="flat" cmpd="sng">
            <a:solidFill>
              <a:srgbClr val="078C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10" name="Google Shape;210;p12"/>
          <p:cNvPicPr preferRelativeResize="0"/>
          <p:nvPr/>
        </p:nvPicPr>
        <p:blipFill rotWithShape="1">
          <a:blip r:embed="rId3">
            <a:alphaModFix/>
          </a:blip>
          <a:srcRect t="15426" b="53090"/>
          <a:stretch/>
        </p:blipFill>
        <p:spPr>
          <a:xfrm>
            <a:off x="6713828" y="2489428"/>
            <a:ext cx="4642002" cy="1667535"/>
          </a:xfrm>
          <a:prstGeom prst="rect">
            <a:avLst/>
          </a:prstGeom>
          <a:noFill/>
          <a:ln>
            <a:noFill/>
          </a:ln>
        </p:spPr>
      </p:pic>
      <p:pic>
        <p:nvPicPr>
          <p:cNvPr id="211" name="Google Shape;211;p12"/>
          <p:cNvPicPr preferRelativeResize="0"/>
          <p:nvPr/>
        </p:nvPicPr>
        <p:blipFill rotWithShape="1">
          <a:blip r:embed="rId3">
            <a:alphaModFix/>
          </a:blip>
          <a:srcRect t="65399" b="4435"/>
          <a:stretch/>
        </p:blipFill>
        <p:spPr>
          <a:xfrm>
            <a:off x="6713828" y="4385948"/>
            <a:ext cx="4642002" cy="1597699"/>
          </a:xfrm>
          <a:prstGeom prst="rect">
            <a:avLst/>
          </a:prstGeom>
          <a:noFill/>
          <a:ln>
            <a:noFill/>
          </a:ln>
        </p:spPr>
      </p:pic>
      <p:sp>
        <p:nvSpPr>
          <p:cNvPr id="212" name="Google Shape;212;p12"/>
          <p:cNvSpPr/>
          <p:nvPr/>
        </p:nvSpPr>
        <p:spPr>
          <a:xfrm>
            <a:off x="608576" y="875506"/>
            <a:ext cx="10988897" cy="1212741"/>
          </a:xfrm>
          <a:prstGeom prst="roundRect">
            <a:avLst>
              <a:gd name="adj" fmla="val 2971"/>
            </a:avLst>
          </a:prstGeom>
          <a:gradFill>
            <a:gsLst>
              <a:gs pos="0">
                <a:srgbClr val="00546B"/>
              </a:gs>
              <a:gs pos="50000">
                <a:srgbClr val="007B9B"/>
              </a:gs>
              <a:gs pos="100000">
                <a:srgbClr val="0093B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3" name="Google Shape;213;p12"/>
          <p:cNvSpPr txBox="1"/>
          <p:nvPr/>
        </p:nvSpPr>
        <p:spPr>
          <a:xfrm>
            <a:off x="803868" y="1003626"/>
            <a:ext cx="10551962"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Arial"/>
                <a:ea typeface="Arial"/>
                <a:cs typeface="Arial"/>
                <a:sym typeface="Arial"/>
              </a:rPr>
              <a:t>Es buena idea codificar las variables como números para poder procesarlas con facilidad en un ordenador. Es conveniente asignar “etiquetas” a los valores de las variables para recordar qué significan los códigos numéricos.</a:t>
            </a:r>
            <a:endParaRPr/>
          </a:p>
        </p:txBody>
      </p:sp>
      <p:sp>
        <p:nvSpPr>
          <p:cNvPr id="214" name="Google Shape;214;p12"/>
          <p:cNvSpPr txBox="1"/>
          <p:nvPr/>
        </p:nvSpPr>
        <p:spPr>
          <a:xfrm>
            <a:off x="803868" y="2350497"/>
            <a:ext cx="5519768" cy="375487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595959"/>
                </a:solidFill>
                <a:latin typeface="Calibri"/>
                <a:ea typeface="Calibri"/>
                <a:cs typeface="Calibri"/>
                <a:sym typeface="Calibri"/>
              </a:rPr>
              <a:t>Sexo (Cualit: Códigos arbitrarios)</a:t>
            </a:r>
            <a:endParaRPr/>
          </a:p>
          <a:p>
            <a:pPr marL="0" marR="0" lvl="0" indent="0" algn="l" rtl="0">
              <a:spcBef>
                <a:spcPts val="0"/>
              </a:spcBef>
              <a:spcAft>
                <a:spcPts val="0"/>
              </a:spcAft>
              <a:buNone/>
            </a:pPr>
            <a:r>
              <a:rPr lang="es-ES" sz="1400">
                <a:solidFill>
                  <a:srgbClr val="595959"/>
                </a:solidFill>
                <a:latin typeface="Calibri"/>
                <a:ea typeface="Calibri"/>
                <a:cs typeface="Calibri"/>
                <a:sym typeface="Calibri"/>
              </a:rPr>
              <a:t>1 = Hombre</a:t>
            </a:r>
            <a:endParaRPr/>
          </a:p>
          <a:p>
            <a:pPr marL="0" marR="0" lvl="0" indent="0" algn="l" rtl="0">
              <a:spcBef>
                <a:spcPts val="0"/>
              </a:spcBef>
              <a:spcAft>
                <a:spcPts val="0"/>
              </a:spcAft>
              <a:buNone/>
            </a:pPr>
            <a:r>
              <a:rPr lang="es-ES" sz="1400">
                <a:solidFill>
                  <a:srgbClr val="595959"/>
                </a:solidFill>
                <a:latin typeface="Calibri"/>
                <a:ea typeface="Calibri"/>
                <a:cs typeface="Calibri"/>
                <a:sym typeface="Calibri"/>
              </a:rPr>
              <a:t>2 = Mujer</a:t>
            </a:r>
            <a:endParaRPr/>
          </a:p>
          <a:p>
            <a:pPr marL="0" marR="0" lvl="0" indent="0" algn="l" rtl="0">
              <a:spcBef>
                <a:spcPts val="0"/>
              </a:spcBef>
              <a:spcAft>
                <a:spcPts val="0"/>
              </a:spcAft>
              <a:buNone/>
            </a:pPr>
            <a:endParaRPr sz="1400">
              <a:solidFill>
                <a:srgbClr val="595959"/>
              </a:solidFill>
              <a:latin typeface="Calibri"/>
              <a:ea typeface="Calibri"/>
              <a:cs typeface="Calibri"/>
              <a:sym typeface="Calibri"/>
            </a:endParaRPr>
          </a:p>
          <a:p>
            <a:pPr marL="0" marR="0" lvl="0" indent="0" algn="l" rtl="0">
              <a:spcBef>
                <a:spcPts val="0"/>
              </a:spcBef>
              <a:spcAft>
                <a:spcPts val="0"/>
              </a:spcAft>
              <a:buNone/>
            </a:pPr>
            <a:r>
              <a:rPr lang="es-ES" sz="1400">
                <a:solidFill>
                  <a:srgbClr val="595959"/>
                </a:solidFill>
                <a:latin typeface="Calibri"/>
                <a:ea typeface="Calibri"/>
                <a:cs typeface="Calibri"/>
                <a:sym typeface="Calibri"/>
              </a:rPr>
              <a:t>Raza (Cualit: Códigos arbitrarios)</a:t>
            </a:r>
            <a:endParaRPr/>
          </a:p>
          <a:p>
            <a:pPr marL="0" marR="0" lvl="0" indent="0" algn="l" rtl="0">
              <a:spcBef>
                <a:spcPts val="0"/>
              </a:spcBef>
              <a:spcAft>
                <a:spcPts val="0"/>
              </a:spcAft>
              <a:buNone/>
            </a:pPr>
            <a:r>
              <a:rPr lang="es-ES" sz="1400">
                <a:solidFill>
                  <a:srgbClr val="595959"/>
                </a:solidFill>
                <a:latin typeface="Calibri"/>
                <a:ea typeface="Calibri"/>
                <a:cs typeface="Calibri"/>
                <a:sym typeface="Calibri"/>
              </a:rPr>
              <a:t>1 = Blanca</a:t>
            </a:r>
            <a:endParaRPr/>
          </a:p>
          <a:p>
            <a:pPr marL="0" marR="0" lvl="0" indent="0" algn="l" rtl="0">
              <a:spcBef>
                <a:spcPts val="0"/>
              </a:spcBef>
              <a:spcAft>
                <a:spcPts val="0"/>
              </a:spcAft>
              <a:buNone/>
            </a:pPr>
            <a:r>
              <a:rPr lang="es-ES" sz="1400">
                <a:solidFill>
                  <a:srgbClr val="595959"/>
                </a:solidFill>
                <a:latin typeface="Calibri"/>
                <a:ea typeface="Calibri"/>
                <a:cs typeface="Calibri"/>
                <a:sym typeface="Calibri"/>
              </a:rPr>
              <a:t>2 = Negra,...</a:t>
            </a:r>
            <a:endParaRPr/>
          </a:p>
          <a:p>
            <a:pPr marL="0" marR="0" lvl="0" indent="0" algn="l" rtl="0">
              <a:spcBef>
                <a:spcPts val="0"/>
              </a:spcBef>
              <a:spcAft>
                <a:spcPts val="0"/>
              </a:spcAft>
              <a:buNone/>
            </a:pPr>
            <a:endParaRPr sz="1400">
              <a:solidFill>
                <a:srgbClr val="595959"/>
              </a:solidFill>
              <a:latin typeface="Calibri"/>
              <a:ea typeface="Calibri"/>
              <a:cs typeface="Calibri"/>
              <a:sym typeface="Calibri"/>
            </a:endParaRPr>
          </a:p>
          <a:p>
            <a:pPr marL="0" marR="0" lvl="0" indent="0" algn="l" rtl="0">
              <a:spcBef>
                <a:spcPts val="0"/>
              </a:spcBef>
              <a:spcAft>
                <a:spcPts val="0"/>
              </a:spcAft>
              <a:buNone/>
            </a:pPr>
            <a:r>
              <a:rPr lang="es-ES" sz="1400">
                <a:solidFill>
                  <a:srgbClr val="595959"/>
                </a:solidFill>
                <a:latin typeface="Calibri"/>
                <a:ea typeface="Calibri"/>
                <a:cs typeface="Calibri"/>
                <a:sym typeface="Calibri"/>
              </a:rPr>
              <a:t>Felicidad Ordinal: Respetar un orden al codificar.</a:t>
            </a:r>
            <a:endParaRPr/>
          </a:p>
          <a:p>
            <a:pPr marL="0" marR="0" lvl="0" indent="0" algn="l" rtl="0">
              <a:spcBef>
                <a:spcPts val="0"/>
              </a:spcBef>
              <a:spcAft>
                <a:spcPts val="0"/>
              </a:spcAft>
              <a:buNone/>
            </a:pPr>
            <a:r>
              <a:rPr lang="es-ES" sz="1400">
                <a:solidFill>
                  <a:srgbClr val="595959"/>
                </a:solidFill>
                <a:latin typeface="Calibri"/>
                <a:ea typeface="Calibri"/>
                <a:cs typeface="Calibri"/>
                <a:sym typeface="Calibri"/>
              </a:rPr>
              <a:t>1 = Muy feliz</a:t>
            </a:r>
            <a:endParaRPr/>
          </a:p>
          <a:p>
            <a:pPr marL="0" marR="0" lvl="0" indent="0" algn="l" rtl="0">
              <a:spcBef>
                <a:spcPts val="0"/>
              </a:spcBef>
              <a:spcAft>
                <a:spcPts val="0"/>
              </a:spcAft>
              <a:buNone/>
            </a:pPr>
            <a:r>
              <a:rPr lang="es-ES" sz="1400">
                <a:solidFill>
                  <a:srgbClr val="595959"/>
                </a:solidFill>
                <a:latin typeface="Calibri"/>
                <a:ea typeface="Calibri"/>
                <a:cs typeface="Calibri"/>
                <a:sym typeface="Calibri"/>
              </a:rPr>
              <a:t>2 = Bastante feliz</a:t>
            </a:r>
            <a:endParaRPr/>
          </a:p>
          <a:p>
            <a:pPr marL="0" marR="0" lvl="0" indent="0" algn="l" rtl="0">
              <a:spcBef>
                <a:spcPts val="0"/>
              </a:spcBef>
              <a:spcAft>
                <a:spcPts val="0"/>
              </a:spcAft>
              <a:buNone/>
            </a:pPr>
            <a:r>
              <a:rPr lang="es-ES" sz="1400">
                <a:solidFill>
                  <a:srgbClr val="595959"/>
                </a:solidFill>
                <a:latin typeface="Calibri"/>
                <a:ea typeface="Calibri"/>
                <a:cs typeface="Calibri"/>
                <a:sym typeface="Calibri"/>
              </a:rPr>
              <a:t>3 = No demasiado feliz</a:t>
            </a:r>
            <a:endParaRPr/>
          </a:p>
          <a:p>
            <a:pPr marL="0" marR="0" lvl="0" indent="0" algn="l" rtl="0">
              <a:spcBef>
                <a:spcPts val="0"/>
              </a:spcBef>
              <a:spcAft>
                <a:spcPts val="0"/>
              </a:spcAft>
              <a:buNone/>
            </a:pPr>
            <a:endParaRPr sz="1400">
              <a:solidFill>
                <a:srgbClr val="595959"/>
              </a:solidFill>
              <a:latin typeface="Calibri"/>
              <a:ea typeface="Calibri"/>
              <a:cs typeface="Calibri"/>
              <a:sym typeface="Calibri"/>
            </a:endParaRPr>
          </a:p>
          <a:p>
            <a:pPr marL="0" marR="0" lvl="0" indent="0" algn="l" rtl="0">
              <a:spcBef>
                <a:spcPts val="0"/>
              </a:spcBef>
              <a:spcAft>
                <a:spcPts val="0"/>
              </a:spcAft>
              <a:buNone/>
            </a:pPr>
            <a:r>
              <a:rPr lang="es-ES" sz="1400">
                <a:solidFill>
                  <a:srgbClr val="595959"/>
                </a:solidFill>
                <a:latin typeface="Calibri"/>
                <a:ea typeface="Calibri"/>
                <a:cs typeface="Calibri"/>
                <a:sym typeface="Calibri"/>
              </a:rPr>
              <a:t>Se pueden asignar códigos a respuestas especiales como</a:t>
            </a:r>
            <a:endParaRPr/>
          </a:p>
          <a:p>
            <a:pPr marL="0" marR="0" lvl="0" indent="0" algn="l" rtl="0">
              <a:spcBef>
                <a:spcPts val="0"/>
              </a:spcBef>
              <a:spcAft>
                <a:spcPts val="0"/>
              </a:spcAft>
              <a:buNone/>
            </a:pPr>
            <a:r>
              <a:rPr lang="es-ES" sz="1400">
                <a:solidFill>
                  <a:srgbClr val="595959"/>
                </a:solidFill>
                <a:latin typeface="Calibri"/>
                <a:ea typeface="Calibri"/>
                <a:cs typeface="Calibri"/>
                <a:sym typeface="Calibri"/>
              </a:rPr>
              <a:t>0 = No sabe</a:t>
            </a:r>
            <a:endParaRPr/>
          </a:p>
          <a:p>
            <a:pPr marL="0" marR="0" lvl="0" indent="0" algn="l" rtl="0">
              <a:spcBef>
                <a:spcPts val="0"/>
              </a:spcBef>
              <a:spcAft>
                <a:spcPts val="0"/>
              </a:spcAft>
              <a:buNone/>
            </a:pPr>
            <a:r>
              <a:rPr lang="es-ES" sz="1400">
                <a:solidFill>
                  <a:srgbClr val="595959"/>
                </a:solidFill>
                <a:latin typeface="Calibri"/>
                <a:ea typeface="Calibri"/>
                <a:cs typeface="Calibri"/>
                <a:sym typeface="Calibri"/>
              </a:rPr>
              <a:t>99 = No contesta... Estas situaciones deberán ser tenidas</a:t>
            </a:r>
            <a:endParaRPr/>
          </a:p>
          <a:p>
            <a:pPr marL="0" marR="0" lvl="0" indent="0" algn="l" rtl="0">
              <a:spcBef>
                <a:spcPts val="0"/>
              </a:spcBef>
              <a:spcAft>
                <a:spcPts val="0"/>
              </a:spcAft>
              <a:buNone/>
            </a:pPr>
            <a:r>
              <a:rPr lang="es-ES" sz="1400">
                <a:solidFill>
                  <a:srgbClr val="595959"/>
                </a:solidFill>
                <a:latin typeface="Calibri"/>
                <a:ea typeface="Calibri"/>
                <a:cs typeface="Calibri"/>
                <a:sym typeface="Calibri"/>
              </a:rPr>
              <a:t>        en cuentas en el análisis. Datos perdidos (‘missing data’)</a:t>
            </a:r>
            <a:endParaRPr sz="1400">
              <a:solidFill>
                <a:srgbClr val="595959"/>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8"/>
                                        </p:tgtEl>
                                        <p:attrNameLst>
                                          <p:attrName>style.visibility</p:attrName>
                                        </p:attrNameLst>
                                      </p:cBhvr>
                                      <p:to>
                                        <p:strVal val="visible"/>
                                      </p:to>
                                    </p:set>
                                    <p:animEffect transition="in" filter="fade">
                                      <p:cBhvr>
                                        <p:cTn id="7" dur="500"/>
                                        <p:tgtEl>
                                          <p:spTgt spid="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3"/>
          <p:cNvSpPr txBox="1"/>
          <p:nvPr/>
        </p:nvSpPr>
        <p:spPr>
          <a:xfrm>
            <a:off x="824256" y="202983"/>
            <a:ext cx="10607723" cy="594463"/>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Representación ordenada de datos</a:t>
            </a:r>
            <a:endParaRPr/>
          </a:p>
        </p:txBody>
      </p:sp>
      <p:sp>
        <p:nvSpPr>
          <p:cNvPr id="220" name="Google Shape;220;p13"/>
          <p:cNvSpPr/>
          <p:nvPr/>
        </p:nvSpPr>
        <p:spPr>
          <a:xfrm>
            <a:off x="824257" y="2121534"/>
            <a:ext cx="10511160" cy="3906404"/>
          </a:xfrm>
          <a:prstGeom prst="roundRect">
            <a:avLst>
              <a:gd name="adj" fmla="val 2971"/>
            </a:avLst>
          </a:prstGeom>
          <a:solidFill>
            <a:schemeClr val="lt1"/>
          </a:solidFill>
          <a:ln w="38100" cap="flat" cmpd="sng">
            <a:solidFill>
              <a:srgbClr val="078C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21" name="Google Shape;221;p13"/>
          <p:cNvPicPr preferRelativeResize="0"/>
          <p:nvPr/>
        </p:nvPicPr>
        <p:blipFill rotWithShape="1">
          <a:blip r:embed="rId3">
            <a:alphaModFix/>
          </a:blip>
          <a:srcRect/>
          <a:stretch/>
        </p:blipFill>
        <p:spPr>
          <a:xfrm>
            <a:off x="1477323" y="2439767"/>
            <a:ext cx="9205027" cy="3269937"/>
          </a:xfrm>
          <a:prstGeom prst="rect">
            <a:avLst/>
          </a:prstGeom>
          <a:noFill/>
          <a:ln>
            <a:noFill/>
          </a:ln>
        </p:spPr>
      </p:pic>
      <p:sp>
        <p:nvSpPr>
          <p:cNvPr id="222" name="Google Shape;222;p13"/>
          <p:cNvSpPr/>
          <p:nvPr/>
        </p:nvSpPr>
        <p:spPr>
          <a:xfrm>
            <a:off x="-348672" y="932607"/>
            <a:ext cx="12939257" cy="1008062"/>
          </a:xfrm>
          <a:prstGeom prst="roundRect">
            <a:avLst>
              <a:gd name="adj" fmla="val 2971"/>
            </a:avLst>
          </a:prstGeom>
          <a:gradFill>
            <a:gsLst>
              <a:gs pos="0">
                <a:srgbClr val="00546B"/>
              </a:gs>
              <a:gs pos="50000">
                <a:srgbClr val="007B9B"/>
              </a:gs>
              <a:gs pos="100000">
                <a:srgbClr val="0093BA"/>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23" name="Google Shape;223;p13"/>
          <p:cNvSpPr txBox="1"/>
          <p:nvPr/>
        </p:nvSpPr>
        <p:spPr>
          <a:xfrm>
            <a:off x="824257" y="1136324"/>
            <a:ext cx="10511160"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Arial"/>
                <a:ea typeface="Arial"/>
                <a:cs typeface="Arial"/>
                <a:sym typeface="Arial"/>
              </a:rPr>
              <a:t>Las </a:t>
            </a:r>
            <a:r>
              <a:rPr lang="es-ES" sz="1800" b="1">
                <a:solidFill>
                  <a:schemeClr val="lt1"/>
                </a:solidFill>
                <a:latin typeface="Arial"/>
                <a:ea typeface="Arial"/>
                <a:cs typeface="Arial"/>
                <a:sym typeface="Arial"/>
              </a:rPr>
              <a:t>Tablas de Frecuencia </a:t>
            </a:r>
            <a:r>
              <a:rPr lang="es-ES" sz="1800">
                <a:solidFill>
                  <a:schemeClr val="lt1"/>
                </a:solidFill>
                <a:latin typeface="Arial"/>
                <a:ea typeface="Arial"/>
                <a:cs typeface="Arial"/>
                <a:sym typeface="Arial"/>
              </a:rPr>
              <a:t>y las </a:t>
            </a:r>
            <a:r>
              <a:rPr lang="es-ES" sz="1800" b="1">
                <a:solidFill>
                  <a:schemeClr val="lt1"/>
                </a:solidFill>
                <a:latin typeface="Arial"/>
                <a:ea typeface="Arial"/>
                <a:cs typeface="Arial"/>
                <a:sym typeface="Arial"/>
              </a:rPr>
              <a:t>Representaciones Gráficas </a:t>
            </a:r>
            <a:r>
              <a:rPr lang="es-ES" sz="1800">
                <a:solidFill>
                  <a:schemeClr val="lt1"/>
                </a:solidFill>
                <a:latin typeface="Arial"/>
                <a:ea typeface="Arial"/>
                <a:cs typeface="Arial"/>
                <a:sym typeface="Arial"/>
              </a:rPr>
              <a:t>son dos maneras equivalentes de presentar la información. Las dos exponen ordenadamente la información recogida en una muestra.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9"/>
                                        </p:tgtEl>
                                        <p:attrNameLst>
                                          <p:attrName>style.visibility</p:attrName>
                                        </p:attrNameLst>
                                      </p:cBhvr>
                                      <p:to>
                                        <p:strVal val="visible"/>
                                      </p:to>
                                    </p:set>
                                    <p:animEffect transition="in" filter="fade">
                                      <p:cBhvr>
                                        <p:cTn id="7" dur="500"/>
                                        <p:tgtEl>
                                          <p:spTgt spid="2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4"/>
          <p:cNvSpPr txBox="1"/>
          <p:nvPr/>
        </p:nvSpPr>
        <p:spPr>
          <a:xfrm>
            <a:off x="740546" y="639472"/>
            <a:ext cx="10205619" cy="5553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Tablas de frecuencia</a:t>
            </a:r>
            <a:endParaRPr/>
          </a:p>
        </p:txBody>
      </p:sp>
      <p:sp>
        <p:nvSpPr>
          <p:cNvPr id="229" name="Google Shape;229;p14"/>
          <p:cNvSpPr/>
          <p:nvPr/>
        </p:nvSpPr>
        <p:spPr>
          <a:xfrm>
            <a:off x="460409" y="1395017"/>
            <a:ext cx="11336355" cy="2369158"/>
          </a:xfrm>
          <a:prstGeom prst="roundRect">
            <a:avLst>
              <a:gd name="adj" fmla="val 2971"/>
            </a:avLst>
          </a:prstGeom>
          <a:solidFill>
            <a:srgbClr val="078CAE"/>
          </a:solidFill>
          <a:ln w="38100" cap="flat" cmpd="sng">
            <a:solidFill>
              <a:srgbClr val="078C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0" name="Google Shape;230;p14"/>
          <p:cNvSpPr txBox="1"/>
          <p:nvPr/>
        </p:nvSpPr>
        <p:spPr>
          <a:xfrm>
            <a:off x="796422" y="1502677"/>
            <a:ext cx="10583944" cy="203132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Una </a:t>
            </a:r>
            <a:r>
              <a:rPr lang="es-ES" sz="1800" b="1">
                <a:solidFill>
                  <a:schemeClr val="lt1"/>
                </a:solidFill>
                <a:latin typeface="Calibri"/>
                <a:ea typeface="Calibri"/>
                <a:cs typeface="Calibri"/>
                <a:sym typeface="Calibri"/>
              </a:rPr>
              <a:t>tabla de frecuencia </a:t>
            </a:r>
            <a:r>
              <a:rPr lang="es-ES" sz="1800">
                <a:solidFill>
                  <a:schemeClr val="lt1"/>
                </a:solidFill>
                <a:latin typeface="Calibri"/>
                <a:ea typeface="Calibri"/>
                <a:cs typeface="Calibri"/>
                <a:sym typeface="Calibri"/>
              </a:rPr>
              <a:t>es una herramienta utilizada en estadística para </a:t>
            </a:r>
            <a:r>
              <a:rPr lang="es-ES" sz="1800" b="1">
                <a:solidFill>
                  <a:schemeClr val="lt1"/>
                </a:solidFill>
                <a:latin typeface="Calibri"/>
                <a:ea typeface="Calibri"/>
                <a:cs typeface="Calibri"/>
                <a:sym typeface="Calibri"/>
              </a:rPr>
              <a:t>organizar y resumir datos</a:t>
            </a:r>
            <a:r>
              <a:rPr lang="es-ES" sz="1800">
                <a:solidFill>
                  <a:schemeClr val="lt1"/>
                </a:solidFill>
                <a:latin typeface="Calibri"/>
                <a:ea typeface="Calibri"/>
                <a:cs typeface="Calibri"/>
                <a:sym typeface="Calibri"/>
              </a:rPr>
              <a:t>, mostrando la </a:t>
            </a:r>
            <a:r>
              <a:rPr lang="es-ES" sz="1800" b="1">
                <a:solidFill>
                  <a:schemeClr val="lt1"/>
                </a:solidFill>
                <a:latin typeface="Calibri"/>
                <a:ea typeface="Calibri"/>
                <a:cs typeface="Calibri"/>
                <a:sym typeface="Calibri"/>
              </a:rPr>
              <a:t>frecuencia con la que ocurren diferentes valores</a:t>
            </a:r>
            <a:r>
              <a:rPr lang="es-ES" sz="1800">
                <a:solidFill>
                  <a:schemeClr val="lt1"/>
                </a:solidFill>
                <a:latin typeface="Calibri"/>
                <a:ea typeface="Calibri"/>
                <a:cs typeface="Calibri"/>
                <a:sym typeface="Calibri"/>
              </a:rPr>
              <a:t> en un conjunto de datos. Básicamente, cuenta cuántas veces aparece cada valor o rango de valores en los datos.</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En una tabla de frecuencia, los valores únicos del conjunto de datos se enumeran en una columna, mientras que en la columna adyacente se muestra la frecuencia de cada valor, es decir, el número de veces que aparece en los datos.</a:t>
            </a:r>
            <a:endParaRPr sz="1800">
              <a:solidFill>
                <a:schemeClr val="lt1"/>
              </a:solidFill>
              <a:latin typeface="Calibri"/>
              <a:ea typeface="Calibri"/>
              <a:cs typeface="Calibri"/>
              <a:sym typeface="Calibri"/>
            </a:endParaRPr>
          </a:p>
        </p:txBody>
      </p:sp>
      <p:sp>
        <p:nvSpPr>
          <p:cNvPr id="231" name="Google Shape;231;p14"/>
          <p:cNvSpPr/>
          <p:nvPr/>
        </p:nvSpPr>
        <p:spPr>
          <a:xfrm>
            <a:off x="878126" y="4072018"/>
            <a:ext cx="10456414" cy="1906752"/>
          </a:xfrm>
          <a:prstGeom prst="roundRect">
            <a:avLst>
              <a:gd name="adj" fmla="val 2971"/>
            </a:avLst>
          </a:prstGeom>
          <a:solidFill>
            <a:schemeClr val="lt1"/>
          </a:solidFill>
          <a:ln w="38100" cap="flat" cmpd="sng">
            <a:solidFill>
              <a:srgbClr val="078C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32" name="Google Shape;232;p14"/>
          <p:cNvPicPr preferRelativeResize="0"/>
          <p:nvPr/>
        </p:nvPicPr>
        <p:blipFill rotWithShape="1">
          <a:blip r:embed="rId3">
            <a:alphaModFix/>
          </a:blip>
          <a:srcRect/>
          <a:stretch/>
        </p:blipFill>
        <p:spPr>
          <a:xfrm>
            <a:off x="6609080" y="4287857"/>
            <a:ext cx="4506708" cy="1384989"/>
          </a:xfrm>
          <a:prstGeom prst="rect">
            <a:avLst/>
          </a:prstGeom>
          <a:noFill/>
          <a:ln>
            <a:noFill/>
          </a:ln>
        </p:spPr>
      </p:pic>
      <p:sp>
        <p:nvSpPr>
          <p:cNvPr id="233" name="Google Shape;233;p14"/>
          <p:cNvSpPr txBox="1"/>
          <p:nvPr/>
        </p:nvSpPr>
        <p:spPr>
          <a:xfrm>
            <a:off x="1164662" y="4287857"/>
            <a:ext cx="5157882" cy="1477328"/>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rgbClr val="595959"/>
              </a:buClr>
              <a:buSzPts val="1800"/>
              <a:buFont typeface="Arial"/>
              <a:buChar char="•"/>
            </a:pPr>
            <a:r>
              <a:rPr lang="es-ES" sz="1800" b="1" dirty="0">
                <a:solidFill>
                  <a:srgbClr val="595959"/>
                </a:solidFill>
                <a:latin typeface="Calibri"/>
                <a:ea typeface="Calibri"/>
                <a:cs typeface="Calibri"/>
                <a:sym typeface="Calibri"/>
              </a:rPr>
              <a:t>Frecuencia Absoluta</a:t>
            </a:r>
            <a:r>
              <a:rPr lang="es-ES" sz="1800" dirty="0">
                <a:solidFill>
                  <a:srgbClr val="595959"/>
                </a:solidFill>
                <a:latin typeface="Calibri"/>
                <a:ea typeface="Calibri"/>
                <a:cs typeface="Calibri"/>
                <a:sym typeface="Calibri"/>
              </a:rPr>
              <a:t>: contabiliza el número de individuos de cada modalidad</a:t>
            </a:r>
            <a:endParaRPr dirty="0"/>
          </a:p>
          <a:p>
            <a:pPr marL="285750" marR="0" lvl="0" indent="-171450" algn="just" rtl="0">
              <a:spcBef>
                <a:spcPts val="0"/>
              </a:spcBef>
              <a:spcAft>
                <a:spcPts val="0"/>
              </a:spcAft>
              <a:buClr>
                <a:schemeClr val="dk1"/>
              </a:buClr>
              <a:buSzPts val="1800"/>
              <a:buFont typeface="Arial"/>
              <a:buNone/>
            </a:pPr>
            <a:endParaRPr sz="1800">
              <a:solidFill>
                <a:srgbClr val="595959"/>
              </a:solidFill>
              <a:latin typeface="Calibri"/>
              <a:ea typeface="Calibri"/>
              <a:cs typeface="Calibri"/>
              <a:sym typeface="Calibri"/>
            </a:endParaRPr>
          </a:p>
          <a:p>
            <a:pPr marL="285750" marR="0" lvl="0" indent="-285750" algn="just" rtl="0">
              <a:spcBef>
                <a:spcPts val="0"/>
              </a:spcBef>
              <a:spcAft>
                <a:spcPts val="0"/>
              </a:spcAft>
              <a:buClr>
                <a:srgbClr val="595959"/>
              </a:buClr>
              <a:buSzPts val="1800"/>
              <a:buFont typeface="Arial"/>
              <a:buChar char="•"/>
            </a:pPr>
            <a:r>
              <a:rPr lang="es-ES" sz="1800" b="1" dirty="0">
                <a:solidFill>
                  <a:srgbClr val="595959"/>
                </a:solidFill>
                <a:latin typeface="Calibri"/>
                <a:ea typeface="Calibri"/>
                <a:cs typeface="Calibri"/>
                <a:sym typeface="Calibri"/>
              </a:rPr>
              <a:t>Frecuencia Relativa</a:t>
            </a:r>
            <a:r>
              <a:rPr lang="es-ES" sz="1800" dirty="0">
                <a:solidFill>
                  <a:srgbClr val="595959"/>
                </a:solidFill>
                <a:latin typeface="Calibri"/>
                <a:ea typeface="Calibri"/>
                <a:cs typeface="Calibri"/>
                <a:sym typeface="Calibri"/>
              </a:rPr>
              <a:t>: ídem, pero dividido por el total (porcentajes)</a:t>
            </a:r>
            <a:endParaRPr sz="1800" dirty="0">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8"/>
                                        </p:tgtEl>
                                        <p:attrNameLst>
                                          <p:attrName>style.visibility</p:attrName>
                                        </p:attrNameLst>
                                      </p:cBhvr>
                                      <p:to>
                                        <p:strVal val="visible"/>
                                      </p:to>
                                    </p:set>
                                    <p:animEffect transition="in" filter="fade">
                                      <p:cBhvr>
                                        <p:cTn id="7" dur="500"/>
                                        <p:tgtEl>
                                          <p:spTgt spid="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5"/>
          <p:cNvSpPr txBox="1"/>
          <p:nvPr/>
        </p:nvSpPr>
        <p:spPr>
          <a:xfrm>
            <a:off x="1477107" y="937424"/>
            <a:ext cx="9708072" cy="5553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Tablas de frecuencia</a:t>
            </a:r>
            <a:endParaRPr/>
          </a:p>
        </p:txBody>
      </p:sp>
      <p:sp>
        <p:nvSpPr>
          <p:cNvPr id="239" name="Google Shape;239;p15"/>
          <p:cNvSpPr/>
          <p:nvPr/>
        </p:nvSpPr>
        <p:spPr>
          <a:xfrm>
            <a:off x="924448" y="1728316"/>
            <a:ext cx="10359852" cy="3868615"/>
          </a:xfrm>
          <a:prstGeom prst="roundRect">
            <a:avLst>
              <a:gd name="adj" fmla="val 2971"/>
            </a:avLst>
          </a:prstGeom>
          <a:solidFill>
            <a:schemeClr val="lt1"/>
          </a:solidFill>
          <a:ln w="38100" cap="flat" cmpd="sng">
            <a:solidFill>
              <a:srgbClr val="078C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0" name="Google Shape;240;p15"/>
          <p:cNvSpPr txBox="1"/>
          <p:nvPr/>
        </p:nvSpPr>
        <p:spPr>
          <a:xfrm>
            <a:off x="1477107" y="1999622"/>
            <a:ext cx="6129495" cy="4093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a:solidFill>
                  <a:srgbClr val="595959"/>
                </a:solidFill>
                <a:latin typeface="Calibri"/>
                <a:ea typeface="Calibri"/>
                <a:cs typeface="Calibri"/>
                <a:sym typeface="Calibri"/>
              </a:rPr>
              <a:t>Algunos ejemplos más:</a:t>
            </a:r>
            <a:endParaRPr/>
          </a:p>
        </p:txBody>
      </p:sp>
      <p:pic>
        <p:nvPicPr>
          <p:cNvPr id="241" name="Google Shape;241;p15"/>
          <p:cNvPicPr preferRelativeResize="0"/>
          <p:nvPr/>
        </p:nvPicPr>
        <p:blipFill rotWithShape="1">
          <a:blip r:embed="rId3">
            <a:alphaModFix/>
          </a:blip>
          <a:srcRect l="50286" t="51100"/>
          <a:stretch/>
        </p:blipFill>
        <p:spPr>
          <a:xfrm>
            <a:off x="6100571" y="2644474"/>
            <a:ext cx="4772188" cy="2546299"/>
          </a:xfrm>
          <a:prstGeom prst="rect">
            <a:avLst/>
          </a:prstGeom>
          <a:noFill/>
          <a:ln>
            <a:noFill/>
          </a:ln>
        </p:spPr>
      </p:pic>
      <p:pic>
        <p:nvPicPr>
          <p:cNvPr id="242" name="Google Shape;242;p15"/>
          <p:cNvPicPr preferRelativeResize="0"/>
          <p:nvPr/>
        </p:nvPicPr>
        <p:blipFill rotWithShape="1">
          <a:blip r:embed="rId3">
            <a:alphaModFix/>
          </a:blip>
          <a:srcRect l="1445" t="70955" r="53729" b="-5122"/>
          <a:stretch/>
        </p:blipFill>
        <p:spPr>
          <a:xfrm>
            <a:off x="1385979" y="2570472"/>
            <a:ext cx="4303051" cy="17792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8"/>
                                        </p:tgtEl>
                                        <p:attrNameLst>
                                          <p:attrName>style.visibility</p:attrName>
                                        </p:attrNameLst>
                                      </p:cBhvr>
                                      <p:to>
                                        <p:strVal val="visible"/>
                                      </p:to>
                                    </p:set>
                                    <p:animEffect transition="in" filter="fade">
                                      <p:cBhvr>
                                        <p:cTn id="7" dur="500"/>
                                        <p:tgtEl>
                                          <p:spTgt spid="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6"/>
          <p:cNvSpPr/>
          <p:nvPr/>
        </p:nvSpPr>
        <p:spPr>
          <a:xfrm>
            <a:off x="-585177" y="3057041"/>
            <a:ext cx="7270376" cy="1045333"/>
          </a:xfrm>
          <a:prstGeom prst="roundRect">
            <a:avLst>
              <a:gd name="adj" fmla="val 9640"/>
            </a:avLst>
          </a:prstGeom>
          <a:gradFill>
            <a:gsLst>
              <a:gs pos="0">
                <a:srgbClr val="00546B"/>
              </a:gs>
              <a:gs pos="50000">
                <a:srgbClr val="007B9B"/>
              </a:gs>
              <a:gs pos="100000">
                <a:srgbClr val="0093B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b="1">
              <a:solidFill>
                <a:srgbClr val="008CAD"/>
              </a:solidFill>
              <a:latin typeface="Calibri"/>
              <a:ea typeface="Calibri"/>
              <a:cs typeface="Calibri"/>
              <a:sym typeface="Calibri"/>
            </a:endParaRPr>
          </a:p>
        </p:txBody>
      </p:sp>
      <p:sp>
        <p:nvSpPr>
          <p:cNvPr id="248" name="Google Shape;248;p16"/>
          <p:cNvSpPr txBox="1"/>
          <p:nvPr/>
        </p:nvSpPr>
        <p:spPr>
          <a:xfrm>
            <a:off x="2547763" y="2835053"/>
            <a:ext cx="4446644" cy="148930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3600"/>
              <a:buFont typeface="Arial"/>
              <a:buNone/>
            </a:pPr>
            <a:r>
              <a:rPr lang="es-ES" sz="3600">
                <a:solidFill>
                  <a:schemeClr val="lt1"/>
                </a:solidFill>
                <a:latin typeface="Arial"/>
                <a:ea typeface="Arial"/>
                <a:cs typeface="Arial"/>
                <a:sym typeface="Arial"/>
              </a:rPr>
              <a:t>Dudas y consultas</a:t>
            </a: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8"/>
                                        </p:tgtEl>
                                        <p:attrNameLst>
                                          <p:attrName>style.visibility</p:attrName>
                                        </p:attrNameLst>
                                      </p:cBhvr>
                                      <p:to>
                                        <p:strVal val="visible"/>
                                      </p:to>
                                    </p:set>
                                    <p:animEffect transition="in" filter="fade">
                                      <p:cBhvr>
                                        <p:cTn id="7" dur="500"/>
                                        <p:tgtEl>
                                          <p:spTgt spid="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17"/>
          <p:cNvSpPr txBox="1"/>
          <p:nvPr/>
        </p:nvSpPr>
        <p:spPr>
          <a:xfrm>
            <a:off x="775189" y="2914919"/>
            <a:ext cx="10782300"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None/>
            </a:pPr>
            <a:r>
              <a:rPr lang="es-ES" sz="3600">
                <a:solidFill>
                  <a:srgbClr val="7F7F7F"/>
                </a:solidFill>
                <a:latin typeface="Arial"/>
                <a:ea typeface="Arial"/>
                <a:cs typeface="Arial"/>
                <a:sym typeface="Arial"/>
              </a:rPr>
              <a:t>Fin de la Presentación</a:t>
            </a:r>
            <a:endParaRPr sz="36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3"/>
                                        </p:tgtEl>
                                        <p:attrNameLst>
                                          <p:attrName>style.visibility</p:attrName>
                                        </p:attrNameLst>
                                      </p:cBhvr>
                                      <p:to>
                                        <p:strVal val="visible"/>
                                      </p:to>
                                    </p:set>
                                    <p:animEffect transition="in" filter="fade">
                                      <p:cBhvr>
                                        <p:cTn id="7" dur="500"/>
                                        <p:tgtEl>
                                          <p:spTgt spid="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1237</Words>
  <Application>Microsoft Office PowerPoint</Application>
  <PresentationFormat>Panorámica</PresentationFormat>
  <Paragraphs>122</Paragraphs>
  <Slides>17</Slides>
  <Notes>17</Notes>
  <HiddenSlides>0</HiddenSlides>
  <MMClips>0</MMClips>
  <ScaleCrop>false</ScaleCrop>
  <HeadingPairs>
    <vt:vector size="4" baseType="variant">
      <vt:variant>
        <vt:lpstr>Tema</vt:lpstr>
      </vt:variant>
      <vt:variant>
        <vt:i4>1</vt:i4>
      </vt:variant>
      <vt:variant>
        <vt:lpstr>Títulos de diapositiva</vt:lpstr>
      </vt:variant>
      <vt:variant>
        <vt:i4>17</vt:i4>
      </vt:variant>
    </vt:vector>
  </HeadingPairs>
  <TitlesOfParts>
    <vt:vector size="18" baseType="lpstr">
      <vt:lpstr>Tema de Office</vt:lpstr>
      <vt:lpstr>Conceptos Básicos de   Estadística Descriptiva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Conceptos Básicos de   Estadística Descriptiva</dc:title>
  <dc:creator>Kibernum</dc:creator>
  <cp:lastModifiedBy>Diseño ITA</cp:lastModifiedBy>
  <cp:revision>26</cp:revision>
  <dcterms:created xsi:type="dcterms:W3CDTF">2023-01-03T12:28:26Z</dcterms:created>
  <dcterms:modified xsi:type="dcterms:W3CDTF">2025-09-26T12:11:08Z</dcterms:modified>
</cp:coreProperties>
</file>