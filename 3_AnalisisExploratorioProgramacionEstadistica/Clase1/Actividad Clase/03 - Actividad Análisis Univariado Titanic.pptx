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562" r:id="rId5"/>
    <p:sldId id="595" r:id="rId6"/>
    <p:sldId id="633" r:id="rId7"/>
    <p:sldId id="634" r:id="rId8"/>
    <p:sldId id="636" r:id="rId9"/>
    <p:sldId id="637" r:id="rId10"/>
    <p:sldId id="632" r:id="rId11"/>
    <p:sldId id="389" r:id="rId12"/>
    <p:sldId id="638" r:id="rId13"/>
  </p:sldIdLst>
  <p:sldSz cx="12192000" cy="6858000"/>
  <p:notesSz cx="6858000" cy="9144000"/>
  <p:defaultTextStyle>
    <a:defPPr>
      <a:defRPr lang="es-ES_tradnl"/>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8CAE"/>
    <a:srgbClr val="F6A120"/>
    <a:srgbClr val="FD0075"/>
    <a:srgbClr val="98C340"/>
    <a:srgbClr val="7FAEF2"/>
    <a:srgbClr val="000000"/>
    <a:srgbClr val="4E7FDE"/>
    <a:srgbClr val="006BCE"/>
    <a:srgbClr val="F8D6D9"/>
    <a:srgbClr val="8AD3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1220A9-333F-F4CD-D2AC-5055CCF6AC87}" v="6" dt="2025-09-26T12:11:16.1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03" autoAdjust="0"/>
    <p:restoredTop sz="96395" autoAdjust="0"/>
  </p:normalViewPr>
  <p:slideViewPr>
    <p:cSldViewPr snapToGrid="0">
      <p:cViewPr varScale="1">
        <p:scale>
          <a:sx n="111" d="100"/>
          <a:sy n="111" d="100"/>
        </p:scale>
        <p:origin x="372"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FC1220A9-333F-F4CD-D2AC-5055CCF6AC87}"/>
    <pc:docChg chg="modSld">
      <pc:chgData name="Soraya Salazar" userId="S::soraya.salazar@kibernumacademy.com::fdf00a5c-f577-43dc-8064-9968cad83607" providerId="AD" clId="Web-{FC1220A9-333F-F4CD-D2AC-5055CCF6AC87}" dt="2025-09-26T12:11:16.172" v="2" actId="20577"/>
      <pc:docMkLst>
        <pc:docMk/>
      </pc:docMkLst>
      <pc:sldChg chg="modSp">
        <pc:chgData name="Soraya Salazar" userId="S::soraya.salazar@kibernumacademy.com::fdf00a5c-f577-43dc-8064-9968cad83607" providerId="AD" clId="Web-{FC1220A9-333F-F4CD-D2AC-5055CCF6AC87}" dt="2025-09-26T12:11:16.172" v="2" actId="20577"/>
        <pc:sldMkLst>
          <pc:docMk/>
          <pc:sldMk cId="1998777028" sldId="562"/>
        </pc:sldMkLst>
        <pc:spChg chg="mod">
          <ac:chgData name="Soraya Salazar" userId="S::soraya.salazar@kibernumacademy.com::fdf00a5c-f577-43dc-8064-9968cad83607" providerId="AD" clId="Web-{FC1220A9-333F-F4CD-D2AC-5055CCF6AC87}" dt="2025-09-26T12:11:16.172" v="2" actId="20577"/>
          <ac:spMkLst>
            <pc:docMk/>
            <pc:sldMk cId="1998777028" sldId="562"/>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14ECDC-27AA-4BAE-B04E-533364742B70}" type="datetimeFigureOut">
              <a:rPr lang="es-ES_tradnl"/>
              <a:pPr>
                <a:defRPr/>
              </a:pPr>
              <a:t>26/09/2025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61DC0F2-0470-49B2-BD20-1BE6BAB0CFEB}"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a:defRPr/>
            </a:pPr>
            <a:fld id="{723CE86C-1FAA-476E-8610-6CF612D82F6D}"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17FDA0F7-3317-4A90-85A9-784F1E0F6A0E}" type="slidenum">
              <a:rPr lang="es-ES_tradnl" altLang="es-CL"/>
              <a:pPr/>
              <a:t>‹Nº›</a:t>
            </a:fld>
            <a:endParaRPr lang="es-ES_tradnl" altLang="es-CL"/>
          </a:p>
        </p:txBody>
      </p:sp>
    </p:spTree>
    <p:extLst>
      <p:ext uri="{BB962C8B-B14F-4D97-AF65-F5344CB8AC3E}">
        <p14:creationId xmlns:p14="http://schemas.microsoft.com/office/powerpoint/2010/main" val="2693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E95A1AB2-ABDE-4AA7-B0BA-B4771DBF257E}"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35CBBCA2-D1A3-4B4D-AC73-9D069169A434}" type="slidenum">
              <a:rPr lang="es-ES_tradnl" altLang="es-CL"/>
              <a:pPr/>
              <a:t>‹Nº›</a:t>
            </a:fld>
            <a:endParaRPr lang="es-ES_tradnl" altLang="es-CL"/>
          </a:p>
        </p:txBody>
      </p:sp>
    </p:spTree>
    <p:extLst>
      <p:ext uri="{BB962C8B-B14F-4D97-AF65-F5344CB8AC3E}">
        <p14:creationId xmlns:p14="http://schemas.microsoft.com/office/powerpoint/2010/main" val="25467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a:defRPr/>
            </a:pPr>
            <a:fld id="{096A1A31-6B2F-42D4-9D8B-250D0522AC84}"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4248B1C2-5544-4117-B964-FFA2790965CB}" type="slidenum">
              <a:rPr lang="es-ES_tradnl" altLang="es-CL"/>
              <a:pPr/>
              <a:t>‹Nº›</a:t>
            </a:fld>
            <a:endParaRPr lang="es-ES_tradnl" altLang="es-CL"/>
          </a:p>
        </p:txBody>
      </p:sp>
    </p:spTree>
    <p:extLst>
      <p:ext uri="{BB962C8B-B14F-4D97-AF65-F5344CB8AC3E}">
        <p14:creationId xmlns:p14="http://schemas.microsoft.com/office/powerpoint/2010/main" val="424472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a:defRPr/>
            </a:pPr>
            <a:fld id="{5CC90434-FF42-4568-BAFD-14D07093E120}"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81203834-0EF4-4D06-A8D3-876274F5BE0F}" type="slidenum">
              <a:rPr lang="es-ES_tradnl" altLang="es-CL"/>
              <a:pPr/>
              <a:t>‹Nº›</a:t>
            </a:fld>
            <a:endParaRPr lang="es-ES_tradnl" altLang="es-CL"/>
          </a:p>
        </p:txBody>
      </p:sp>
    </p:spTree>
    <p:extLst>
      <p:ext uri="{BB962C8B-B14F-4D97-AF65-F5344CB8AC3E}">
        <p14:creationId xmlns:p14="http://schemas.microsoft.com/office/powerpoint/2010/main" val="9397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a:defRPr/>
            </a:pPr>
            <a:fld id="{3AE415DC-2033-47BD-86E8-F874CF6E7C58}" type="datetimeFigureOut">
              <a:rPr lang="es-ES_tradnl"/>
              <a:pPr>
                <a:defRPr/>
              </a:pPr>
              <a:t>26/09/2025</a:t>
            </a:fld>
            <a:endParaRPr lang="es-ES_tradnl"/>
          </a:p>
        </p:txBody>
      </p:sp>
      <p:sp>
        <p:nvSpPr>
          <p:cNvPr id="8" name="Marcador de pie de página 4"/>
          <p:cNvSpPr>
            <a:spLocks noGrp="1"/>
          </p:cNvSpPr>
          <p:nvPr>
            <p:ph type="ftr" sz="quarter" idx="11"/>
          </p:nvPr>
        </p:nvSpPr>
        <p:spPr/>
        <p:txBody>
          <a:bodyPr/>
          <a:lstStyle>
            <a:lvl1pPr>
              <a:defRPr/>
            </a:lvl1pPr>
          </a:lstStyle>
          <a:p>
            <a:pPr>
              <a:defRPr/>
            </a:pPr>
            <a:endParaRPr lang="es-ES_tradnl"/>
          </a:p>
        </p:txBody>
      </p:sp>
      <p:sp>
        <p:nvSpPr>
          <p:cNvPr id="9" name="Marcador de número de diapositiva 5"/>
          <p:cNvSpPr>
            <a:spLocks noGrp="1"/>
          </p:cNvSpPr>
          <p:nvPr>
            <p:ph type="sldNum" sz="quarter" idx="12"/>
          </p:nvPr>
        </p:nvSpPr>
        <p:spPr/>
        <p:txBody>
          <a:bodyPr/>
          <a:lstStyle>
            <a:lvl1pPr>
              <a:defRPr/>
            </a:lvl1pPr>
          </a:lstStyle>
          <a:p>
            <a:fld id="{6A3AF083-3250-4136-BEB9-7AF9A938BA7A}" type="slidenum">
              <a:rPr lang="es-ES_tradnl" altLang="es-CL"/>
              <a:pPr/>
              <a:t>‹Nº›</a:t>
            </a:fld>
            <a:endParaRPr lang="es-ES_tradnl" altLang="es-CL"/>
          </a:p>
        </p:txBody>
      </p:sp>
    </p:spTree>
    <p:extLst>
      <p:ext uri="{BB962C8B-B14F-4D97-AF65-F5344CB8AC3E}">
        <p14:creationId xmlns:p14="http://schemas.microsoft.com/office/powerpoint/2010/main" val="319215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a:defRPr/>
            </a:pPr>
            <a:fld id="{688908FD-EE54-425E-B52D-A5E77FE0F4E1}" type="datetimeFigureOut">
              <a:rPr lang="es-ES_tradnl"/>
              <a:pPr>
                <a:defRPr/>
              </a:pPr>
              <a:t>26/09/2025</a:t>
            </a:fld>
            <a:endParaRPr lang="es-ES_tradnl"/>
          </a:p>
        </p:txBody>
      </p:sp>
      <p:sp>
        <p:nvSpPr>
          <p:cNvPr id="4" name="Marcador de pie de página 4"/>
          <p:cNvSpPr>
            <a:spLocks noGrp="1"/>
          </p:cNvSpPr>
          <p:nvPr>
            <p:ph type="ftr" sz="quarter" idx="11"/>
          </p:nvPr>
        </p:nvSpPr>
        <p:spPr/>
        <p:txBody>
          <a:bodyPr/>
          <a:lstStyle>
            <a:lvl1pPr>
              <a:defRPr/>
            </a:lvl1pPr>
          </a:lstStyle>
          <a:p>
            <a:pPr>
              <a:defRPr/>
            </a:pPr>
            <a:endParaRPr lang="es-ES_tradnl"/>
          </a:p>
        </p:txBody>
      </p:sp>
      <p:sp>
        <p:nvSpPr>
          <p:cNvPr id="5" name="Marcador de número de diapositiva 5"/>
          <p:cNvSpPr>
            <a:spLocks noGrp="1"/>
          </p:cNvSpPr>
          <p:nvPr>
            <p:ph type="sldNum" sz="quarter" idx="12"/>
          </p:nvPr>
        </p:nvSpPr>
        <p:spPr/>
        <p:txBody>
          <a:bodyPr/>
          <a:lstStyle>
            <a:lvl1pPr>
              <a:defRPr/>
            </a:lvl1pPr>
          </a:lstStyle>
          <a:p>
            <a:fld id="{59C4D746-ECE6-4F12-9BD7-02F1A03DE9BC}" type="slidenum">
              <a:rPr lang="es-ES_tradnl" altLang="es-CL"/>
              <a:pPr/>
              <a:t>‹Nº›</a:t>
            </a:fld>
            <a:endParaRPr lang="es-ES_tradnl" altLang="es-CL"/>
          </a:p>
        </p:txBody>
      </p:sp>
    </p:spTree>
    <p:extLst>
      <p:ext uri="{BB962C8B-B14F-4D97-AF65-F5344CB8AC3E}">
        <p14:creationId xmlns:p14="http://schemas.microsoft.com/office/powerpoint/2010/main" val="115544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fld id="{454B1D3B-28B6-43FE-A4A1-ACF50A9182C7}" type="datetimeFigureOut">
              <a:rPr lang="es-ES_tradnl"/>
              <a:pPr>
                <a:defRPr/>
              </a:pPr>
              <a:t>26/09/2025</a:t>
            </a:fld>
            <a:endParaRPr lang="es-ES_tradnl"/>
          </a:p>
        </p:txBody>
      </p:sp>
      <p:sp>
        <p:nvSpPr>
          <p:cNvPr id="3" name="Marcador de pie de página 4"/>
          <p:cNvSpPr>
            <a:spLocks noGrp="1"/>
          </p:cNvSpPr>
          <p:nvPr>
            <p:ph type="ftr" sz="quarter" idx="11"/>
          </p:nvPr>
        </p:nvSpPr>
        <p:spPr/>
        <p:txBody>
          <a:bodyPr/>
          <a:lstStyle>
            <a:lvl1pPr>
              <a:defRPr/>
            </a:lvl1pPr>
          </a:lstStyle>
          <a:p>
            <a:pPr>
              <a:defRPr/>
            </a:pPr>
            <a:endParaRPr lang="es-ES_tradnl"/>
          </a:p>
        </p:txBody>
      </p:sp>
      <p:sp>
        <p:nvSpPr>
          <p:cNvPr id="4" name="Marcador de número de diapositiva 5"/>
          <p:cNvSpPr>
            <a:spLocks noGrp="1"/>
          </p:cNvSpPr>
          <p:nvPr>
            <p:ph type="sldNum" sz="quarter" idx="12"/>
          </p:nvPr>
        </p:nvSpPr>
        <p:spPr/>
        <p:txBody>
          <a:bodyPr/>
          <a:lstStyle>
            <a:lvl1pPr>
              <a:defRPr/>
            </a:lvl1pPr>
          </a:lstStyle>
          <a:p>
            <a:fld id="{546EC160-BB17-4C5C-A913-243CEE97784F}" type="slidenum">
              <a:rPr lang="es-ES_tradnl" altLang="es-CL"/>
              <a:pPr/>
              <a:t>‹Nº›</a:t>
            </a:fld>
            <a:endParaRPr lang="es-ES_tradnl" altLang="es-CL"/>
          </a:p>
        </p:txBody>
      </p:sp>
    </p:spTree>
    <p:extLst>
      <p:ext uri="{BB962C8B-B14F-4D97-AF65-F5344CB8AC3E}">
        <p14:creationId xmlns:p14="http://schemas.microsoft.com/office/powerpoint/2010/main" val="29216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022D298C-5E21-4FDC-838E-33C54A0835BE}"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F01B316F-FC05-4AA9-8B17-611F2B66785A}" type="slidenum">
              <a:rPr lang="es-ES_tradnl" altLang="es-CL"/>
              <a:pPr/>
              <a:t>‹Nº›</a:t>
            </a:fld>
            <a:endParaRPr lang="es-ES_tradnl" altLang="es-CL"/>
          </a:p>
        </p:txBody>
      </p:sp>
    </p:spTree>
    <p:extLst>
      <p:ext uri="{BB962C8B-B14F-4D97-AF65-F5344CB8AC3E}">
        <p14:creationId xmlns:p14="http://schemas.microsoft.com/office/powerpoint/2010/main" val="15247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A65492E0-A143-485F-B68F-8CC91249D59B}"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EDC192D6-CB19-4D76-BAD3-1D4E4EA927D1}" type="slidenum">
              <a:rPr lang="es-ES_tradnl" altLang="es-CL"/>
              <a:pPr/>
              <a:t>‹Nº›</a:t>
            </a:fld>
            <a:endParaRPr lang="es-ES_tradnl" altLang="es-CL"/>
          </a:p>
        </p:txBody>
      </p:sp>
    </p:spTree>
    <p:extLst>
      <p:ext uri="{BB962C8B-B14F-4D97-AF65-F5344CB8AC3E}">
        <p14:creationId xmlns:p14="http://schemas.microsoft.com/office/powerpoint/2010/main" val="1631019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4C38D573-BBF9-4466-8100-20705A6765C2}"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64F13FBE-C0B8-4F7C-B7BE-9681116FC5EC}" type="slidenum">
              <a:rPr lang="es-ES_tradnl" altLang="es-CL"/>
              <a:pPr/>
              <a:t>‹Nº›</a:t>
            </a:fld>
            <a:endParaRPr lang="es-ES_tradnl" altLang="es-CL"/>
          </a:p>
        </p:txBody>
      </p:sp>
    </p:spTree>
    <p:extLst>
      <p:ext uri="{BB962C8B-B14F-4D97-AF65-F5344CB8AC3E}">
        <p14:creationId xmlns:p14="http://schemas.microsoft.com/office/powerpoint/2010/main" val="1856682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A3C05822-3120-4BF7-B215-1DFE2C6DC6A3}"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F19D8483-F2FB-4D92-932B-BB90B8B7CC0E}" type="slidenum">
              <a:rPr lang="es-ES_tradnl" altLang="es-CL"/>
              <a:pPr/>
              <a:t>‹Nº›</a:t>
            </a:fld>
            <a:endParaRPr lang="es-ES_tradnl" altLang="es-CL"/>
          </a:p>
        </p:txBody>
      </p:sp>
    </p:spTree>
    <p:extLst>
      <p:ext uri="{BB962C8B-B14F-4D97-AF65-F5344CB8AC3E}">
        <p14:creationId xmlns:p14="http://schemas.microsoft.com/office/powerpoint/2010/main" val="3455749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0F057B8-E3CD-456E-9A46-2B8B20AF9933}" type="datetimeFigureOut">
              <a:rPr lang="es-ES_tradnl"/>
              <a:pPr>
                <a:defRPr/>
              </a:pPr>
              <a:t>26/09/2025</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59D94CD-8797-4F90-8E76-E70F46B730A3}"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Diagrama&#10;&#10;Descripción generada automáticamente con confianza media">
            <a:extLst>
              <a:ext uri="{FF2B5EF4-FFF2-40B4-BE49-F238E27FC236}">
                <a16:creationId xmlns:a16="http://schemas.microsoft.com/office/drawing/2014/main" id="{A8A3BFFD-35E7-1135-4D1C-50C91FA77E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72"/>
            <a:ext cx="12192000" cy="7037762"/>
          </a:xfrm>
          <a:prstGeom prst="rect">
            <a:avLst/>
          </a:prstGeom>
        </p:spPr>
      </p:pic>
      <p:sp>
        <p:nvSpPr>
          <p:cNvPr id="5" name="Rectangle: Rounded Corners 22"/>
          <p:cNvSpPr/>
          <p:nvPr/>
        </p:nvSpPr>
        <p:spPr>
          <a:xfrm>
            <a:off x="3890332" y="3950221"/>
            <a:ext cx="7022778" cy="1655893"/>
          </a:xfrm>
          <a:prstGeom prst="roundRect">
            <a:avLst>
              <a:gd name="adj" fmla="val 7874"/>
            </a:avLst>
          </a:prstGeom>
          <a:solidFill>
            <a:schemeClr val="tx1">
              <a:alpha val="76000"/>
            </a:schemeClr>
          </a:solidFill>
          <a:ln>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Ins="540000" anchor="ctr"/>
          <a:lstStyle/>
          <a:p>
            <a:pPr algn="ctr">
              <a:defRPr/>
            </a:pPr>
            <a:endParaRPr lang="en-US" sz="2800" b="1" dirty="0"/>
          </a:p>
        </p:txBody>
      </p:sp>
      <p:sp>
        <p:nvSpPr>
          <p:cNvPr id="6" name="Título 1"/>
          <p:cNvSpPr>
            <a:spLocks noGrp="1"/>
          </p:cNvSpPr>
          <p:nvPr>
            <p:ph type="ctrTitle"/>
          </p:nvPr>
        </p:nvSpPr>
        <p:spPr>
          <a:xfrm>
            <a:off x="4249783" y="4076649"/>
            <a:ext cx="5704114" cy="1403036"/>
          </a:xfrm>
        </p:spPr>
        <p:txBody>
          <a:bodyPr rtlCol="0">
            <a:noAutofit/>
          </a:bodyPr>
          <a:lstStyle/>
          <a:p>
            <a:pPr algn="l" eaLnBrk="1" fontAlgn="auto" hangingPunct="1">
              <a:spcAft>
                <a:spcPts val="0"/>
              </a:spcAft>
              <a:defRPr/>
            </a:pPr>
            <a:br>
              <a:rPr lang="es-CL" sz="4800" b="1" dirty="0">
                <a:solidFill>
                  <a:schemeClr val="bg1"/>
                </a:solidFill>
                <a:latin typeface="Arial" panose="020B0604020202020204" pitchFamily="34" charset="0"/>
                <a:cs typeface="Arial" panose="020B0604020202020204" pitchFamily="34" charset="0"/>
              </a:rPr>
            </a:br>
            <a:r>
              <a:rPr lang="es-ES" sz="4800" b="1" dirty="0">
                <a:solidFill>
                  <a:schemeClr val="bg1"/>
                </a:solidFill>
                <a:latin typeface="Arial" panose="020B0604020202020204" pitchFamily="34" charset="0"/>
                <a:cs typeface="Arial" panose="020B0604020202020204" pitchFamily="34" charset="0"/>
              </a:rPr>
              <a:t>Actividad: Análisis </a:t>
            </a:r>
            <a:r>
              <a:rPr lang="es-ES" sz="4800" b="1" dirty="0" err="1">
                <a:solidFill>
                  <a:schemeClr val="bg1"/>
                </a:solidFill>
                <a:latin typeface="Arial" panose="020B0604020202020204" pitchFamily="34" charset="0"/>
                <a:cs typeface="Arial" panose="020B0604020202020204" pitchFamily="34" charset="0"/>
              </a:rPr>
              <a:t>Univariado</a:t>
            </a:r>
            <a:r>
              <a:rPr lang="es-ES" sz="4800" b="1" dirty="0">
                <a:solidFill>
                  <a:schemeClr val="bg1"/>
                </a:solidFill>
                <a:latin typeface="Arial" panose="020B0604020202020204" pitchFamily="34" charset="0"/>
                <a:cs typeface="Arial" panose="020B0604020202020204" pitchFamily="34" charset="0"/>
              </a:rPr>
              <a:t> </a:t>
            </a:r>
            <a:r>
              <a:rPr lang="es-ES" sz="4800" b="1" dirty="0" err="1">
                <a:solidFill>
                  <a:schemeClr val="bg1"/>
                </a:solidFill>
                <a:latin typeface="Arial" panose="020B0604020202020204" pitchFamily="34" charset="0"/>
                <a:cs typeface="Arial" panose="020B0604020202020204" pitchFamily="34" charset="0"/>
              </a:rPr>
              <a:t>Titanic</a:t>
            </a:r>
            <a:endParaRPr lang="es-ES_tradnl" sz="2800" b="1" dirty="0">
              <a:solidFill>
                <a:schemeClr val="bg1"/>
              </a:solidFill>
              <a:latin typeface="Arial" panose="020B0604020202020204" pitchFamily="34" charset="0"/>
              <a:cs typeface="Arial" panose="020B0604020202020204" pitchFamily="34" charset="0"/>
            </a:endParaRPr>
          </a:p>
        </p:txBody>
      </p:sp>
      <p:sp>
        <p:nvSpPr>
          <p:cNvPr id="8" name="Google Shape;92;p1"/>
          <p:cNvSpPr txBox="1"/>
          <p:nvPr/>
        </p:nvSpPr>
        <p:spPr>
          <a:xfrm>
            <a:off x="4084320" y="3414809"/>
            <a:ext cx="7022779" cy="369291"/>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s-ES" b="1">
                <a:solidFill>
                  <a:schemeClr val="lt1"/>
                </a:solidFill>
                <a:latin typeface="Arial"/>
                <a:ea typeface="Arial"/>
                <a:cs typeface="Arial"/>
                <a:sym typeface="Arial"/>
              </a:rPr>
              <a:t> Análisis Exploratorio y Programación Estadística</a:t>
            </a:r>
            <a:endParaRPr lang="es-ES" sz="1800">
              <a:solidFill>
                <a:schemeClr val="lt1"/>
              </a:solidFill>
              <a:latin typeface="Calibri"/>
              <a:ea typeface="Calibri"/>
              <a:cs typeface="Calibri"/>
            </a:endParaRPr>
          </a:p>
        </p:txBody>
      </p:sp>
    </p:spTree>
    <p:extLst>
      <p:ext uri="{BB962C8B-B14F-4D97-AF65-F5344CB8AC3E}">
        <p14:creationId xmlns:p14="http://schemas.microsoft.com/office/powerpoint/2010/main" val="1998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6150043" y="1349553"/>
            <a:ext cx="6041957" cy="90624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endParaRPr lang="es-MX" sz="3600" dirty="0">
              <a:solidFill>
                <a:schemeClr val="bg1">
                  <a:lumMod val="50000"/>
                </a:schemeClr>
              </a:solidFill>
              <a:latin typeface="Arial" panose="020B0604020202020204" pitchFamily="34" charset="0"/>
              <a:cs typeface="Arial" panose="020B0604020202020204" pitchFamily="34" charset="0"/>
            </a:endParaRPr>
          </a:p>
          <a:p>
            <a:pPr eaLnBrk="1" fontAlgn="auto" hangingPunct="1">
              <a:spcAft>
                <a:spcPts val="0"/>
              </a:spcAft>
              <a:defRPr/>
            </a:pPr>
            <a:r>
              <a:rPr lang="es-MX" sz="3600" dirty="0">
                <a:solidFill>
                  <a:schemeClr val="bg1">
                    <a:lumMod val="50000"/>
                  </a:schemeClr>
                </a:solidFill>
                <a:latin typeface="Arial" panose="020B0604020202020204" pitchFamily="34" charset="0"/>
                <a:cs typeface="Arial" panose="020B0604020202020204" pitchFamily="34" charset="0"/>
              </a:rPr>
              <a:t>Actividad: </a:t>
            </a:r>
          </a:p>
          <a:p>
            <a:pPr eaLnBrk="1" fontAlgn="auto" hangingPunct="1">
              <a:spcAft>
                <a:spcPts val="0"/>
              </a:spcAft>
              <a:defRPr/>
            </a:pPr>
            <a:r>
              <a:rPr lang="es-MX" sz="3600" dirty="0">
                <a:solidFill>
                  <a:schemeClr val="bg1">
                    <a:lumMod val="50000"/>
                  </a:schemeClr>
                </a:solidFill>
                <a:latin typeface="Arial" panose="020B0604020202020204" pitchFamily="34" charset="0"/>
                <a:cs typeface="Arial" panose="020B0604020202020204" pitchFamily="34" charset="0"/>
              </a:rPr>
              <a:t>Análisis </a:t>
            </a:r>
            <a:r>
              <a:rPr lang="es-MX" sz="3600" dirty="0" err="1">
                <a:solidFill>
                  <a:schemeClr val="bg1">
                    <a:lumMod val="50000"/>
                  </a:schemeClr>
                </a:solidFill>
                <a:latin typeface="Arial" panose="020B0604020202020204" pitchFamily="34" charset="0"/>
                <a:cs typeface="Arial" panose="020B0604020202020204" pitchFamily="34" charset="0"/>
              </a:rPr>
              <a:t>Univariado</a:t>
            </a:r>
            <a:r>
              <a:rPr lang="es-MX" sz="3600" dirty="0">
                <a:solidFill>
                  <a:schemeClr val="bg1">
                    <a:lumMod val="50000"/>
                  </a:schemeClr>
                </a:solidFill>
                <a:latin typeface="Arial" panose="020B0604020202020204" pitchFamily="34" charset="0"/>
                <a:cs typeface="Arial" panose="020B0604020202020204" pitchFamily="34" charset="0"/>
              </a:rPr>
              <a:t> </a:t>
            </a:r>
            <a:r>
              <a:rPr lang="es-MX" sz="3600" dirty="0" err="1">
                <a:solidFill>
                  <a:schemeClr val="bg1">
                    <a:lumMod val="50000"/>
                  </a:schemeClr>
                </a:solidFill>
                <a:latin typeface="Arial" panose="020B0604020202020204" pitchFamily="34" charset="0"/>
                <a:cs typeface="Arial" panose="020B0604020202020204" pitchFamily="34" charset="0"/>
              </a:rPr>
              <a:t>Titanic</a:t>
            </a:r>
            <a:endParaRPr lang="es-MX" sz="3600" dirty="0">
              <a:solidFill>
                <a:schemeClr val="bg1">
                  <a:lumMod val="50000"/>
                </a:schemeClr>
              </a:solidFill>
              <a:latin typeface="Arial" panose="020B0604020202020204" pitchFamily="34" charset="0"/>
              <a:cs typeface="Arial" panose="020B0604020202020204" pitchFamily="34" charset="0"/>
            </a:endParaRPr>
          </a:p>
          <a:p>
            <a:pPr eaLnBrk="1" fontAlgn="auto" hangingPunct="1">
              <a:spcAft>
                <a:spcPts val="0"/>
              </a:spcAft>
              <a:defRPr/>
            </a:pPr>
            <a:endParaRPr lang="es-MX" sz="3200" dirty="0">
              <a:solidFill>
                <a:schemeClr val="bg1">
                  <a:lumMod val="50000"/>
                </a:schemeClr>
              </a:solidFill>
              <a:latin typeface="Source Sans Pro" panose="020B0503030403020204" pitchFamily="34" charset="0"/>
            </a:endParaRPr>
          </a:p>
        </p:txBody>
      </p:sp>
      <p:sp>
        <p:nvSpPr>
          <p:cNvPr id="4" name="Rectángulo redondeado 4">
            <a:extLst>
              <a:ext uri="{FF2B5EF4-FFF2-40B4-BE49-F238E27FC236}">
                <a16:creationId xmlns:a16="http://schemas.microsoft.com/office/drawing/2014/main" id="{F54B704E-F625-E3FA-92EA-8240924D3BF1}"/>
              </a:ext>
            </a:extLst>
          </p:cNvPr>
          <p:cNvSpPr/>
          <p:nvPr/>
        </p:nvSpPr>
        <p:spPr>
          <a:xfrm>
            <a:off x="644757" y="1349553"/>
            <a:ext cx="5311415" cy="4412524"/>
          </a:xfrm>
          <a:prstGeom prst="roundRect">
            <a:avLst>
              <a:gd name="adj" fmla="val 2971"/>
            </a:avLst>
          </a:prstGeom>
          <a:solidFill>
            <a:srgbClr val="7FAEF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5" name="Picture 2" descr="5 técnicas de análisis de datos para la precisión de tus informes">
            <a:extLst>
              <a:ext uri="{FF2B5EF4-FFF2-40B4-BE49-F238E27FC236}">
                <a16:creationId xmlns:a16="http://schemas.microsoft.com/office/drawing/2014/main" id="{2EF599DD-F081-0474-AC33-107E6F0BE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255" y="1802674"/>
            <a:ext cx="4956418" cy="329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93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37068" y="1109006"/>
            <a:ext cx="12733867" cy="1243042"/>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358537" y="146594"/>
            <a:ext cx="9757698"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Caso </a:t>
            </a:r>
            <a:r>
              <a:rPr lang="es-ES" sz="3200" dirty="0" err="1">
                <a:solidFill>
                  <a:schemeClr val="bg1">
                    <a:lumMod val="50000"/>
                  </a:schemeClr>
                </a:solidFill>
                <a:latin typeface="Arial" panose="020B0604020202020204" pitchFamily="34" charset="0"/>
                <a:cs typeface="Arial" panose="020B0604020202020204" pitchFamily="34" charset="0"/>
              </a:rPr>
              <a:t>Titanic</a:t>
            </a:r>
            <a:endParaRPr lang="es-ES"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1271451" y="1265950"/>
            <a:ext cx="9562012" cy="923330"/>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El 10 de Abril de 1912 partió desde el puerto de Southampton hacia New York el transatlántico </a:t>
            </a:r>
            <a:r>
              <a:rPr lang="es-ES" dirty="0" err="1">
                <a:solidFill>
                  <a:schemeClr val="bg1"/>
                </a:solidFill>
                <a:latin typeface="+mn-lt"/>
                <a:ea typeface="Source Sans Pro"/>
              </a:rPr>
              <a:t>Titanic</a:t>
            </a:r>
            <a:r>
              <a:rPr lang="es-ES" dirty="0">
                <a:solidFill>
                  <a:schemeClr val="bg1"/>
                </a:solidFill>
                <a:latin typeface="+mn-lt"/>
                <a:ea typeface="Source Sans Pro"/>
              </a:rPr>
              <a:t>, que sufrió un siniestro la noche del 14 de abril, en donde murieron 1.492 personas de un total de 2.208 convirtiendo esta tragedia en uno de los mayores naufragios de la historia.</a:t>
            </a:r>
          </a:p>
        </p:txBody>
      </p:sp>
      <p:sp>
        <p:nvSpPr>
          <p:cNvPr id="4" name="Rectángulo redondeado 1">
            <a:extLst>
              <a:ext uri="{FF2B5EF4-FFF2-40B4-BE49-F238E27FC236}">
                <a16:creationId xmlns:a16="http://schemas.microsoft.com/office/drawing/2014/main" id="{0B99778C-B5B5-1BAE-12CB-02C9A981455B}"/>
              </a:ext>
            </a:extLst>
          </p:cNvPr>
          <p:cNvSpPr/>
          <p:nvPr/>
        </p:nvSpPr>
        <p:spPr>
          <a:xfrm>
            <a:off x="1271451" y="2703140"/>
            <a:ext cx="9562012" cy="3540906"/>
          </a:xfrm>
          <a:prstGeom prst="roundRect">
            <a:avLst>
              <a:gd name="adj" fmla="val 2971"/>
            </a:avLst>
          </a:prstGeom>
          <a:solidFill>
            <a:schemeClr val="bg1"/>
          </a:solidFill>
          <a:ln w="38100">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7" name="Picture 2" descr="RMS Titanic 3.jpg">
            <a:extLst>
              <a:ext uri="{FF2B5EF4-FFF2-40B4-BE49-F238E27FC236}">
                <a16:creationId xmlns:a16="http://schemas.microsoft.com/office/drawing/2014/main" id="{71B5CBE5-8271-FDC1-FCAA-5675650903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183" b="23006"/>
          <a:stretch/>
        </p:blipFill>
        <p:spPr bwMode="auto">
          <a:xfrm>
            <a:off x="2713701" y="2883130"/>
            <a:ext cx="6677512" cy="3180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3598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1862058" y="156189"/>
            <a:ext cx="8636358"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Source Sans Pro" panose="020B0503030403020204" pitchFamily="34" charset="0"/>
              </a:rPr>
              <a:t>Caso </a:t>
            </a:r>
            <a:r>
              <a:rPr lang="es-ES" sz="3200" dirty="0" err="1">
                <a:solidFill>
                  <a:schemeClr val="bg1">
                    <a:lumMod val="50000"/>
                  </a:schemeClr>
                </a:solidFill>
                <a:latin typeface="Source Sans Pro" panose="020B0503030403020204" pitchFamily="34" charset="0"/>
              </a:rPr>
              <a:t>Titanic</a:t>
            </a:r>
            <a:endParaRPr lang="es-ES" sz="3200" dirty="0">
              <a:solidFill>
                <a:schemeClr val="bg1">
                  <a:lumMod val="50000"/>
                </a:schemeClr>
              </a:solidFill>
              <a:latin typeface="Source Sans Pro" panose="020B0503030403020204" pitchFamily="34" charset="0"/>
            </a:endParaRPr>
          </a:p>
        </p:txBody>
      </p:sp>
      <p:sp>
        <p:nvSpPr>
          <p:cNvPr id="4" name="Rectángulo redondeado 1">
            <a:extLst>
              <a:ext uri="{FF2B5EF4-FFF2-40B4-BE49-F238E27FC236}">
                <a16:creationId xmlns:a16="http://schemas.microsoft.com/office/drawing/2014/main" id="{0B99778C-B5B5-1BAE-12CB-02C9A981455B}"/>
              </a:ext>
            </a:extLst>
          </p:cNvPr>
          <p:cNvSpPr/>
          <p:nvPr/>
        </p:nvSpPr>
        <p:spPr>
          <a:xfrm>
            <a:off x="1862058" y="1143525"/>
            <a:ext cx="8636358" cy="4935058"/>
          </a:xfrm>
          <a:prstGeom prst="roundRect">
            <a:avLst>
              <a:gd name="adj" fmla="val 2971"/>
            </a:avLst>
          </a:prstGeom>
          <a:solidFill>
            <a:schemeClr val="bg1"/>
          </a:solidFill>
          <a:ln w="38100">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14" name="Grupo 13">
            <a:extLst>
              <a:ext uri="{FF2B5EF4-FFF2-40B4-BE49-F238E27FC236}">
                <a16:creationId xmlns:a16="http://schemas.microsoft.com/office/drawing/2014/main" id="{1F46615E-A193-C6D6-BC61-C86CACD4D3FA}"/>
              </a:ext>
            </a:extLst>
          </p:cNvPr>
          <p:cNvGrpSpPr/>
          <p:nvPr/>
        </p:nvGrpSpPr>
        <p:grpSpPr>
          <a:xfrm>
            <a:off x="2676005" y="1532708"/>
            <a:ext cx="7008464" cy="4290014"/>
            <a:chOff x="1383916" y="1096923"/>
            <a:chExt cx="9012784" cy="5439983"/>
          </a:xfrm>
        </p:grpSpPr>
        <p:pic>
          <p:nvPicPr>
            <p:cNvPr id="5" name="Imagen 4">
              <a:extLst>
                <a:ext uri="{FF2B5EF4-FFF2-40B4-BE49-F238E27FC236}">
                  <a16:creationId xmlns:a16="http://schemas.microsoft.com/office/drawing/2014/main" id="{32E1B531-BCD3-6D89-24DA-FCA9352BA2C8}"/>
                </a:ext>
              </a:extLst>
            </p:cNvPr>
            <p:cNvPicPr>
              <a:picLocks noChangeAspect="1"/>
            </p:cNvPicPr>
            <p:nvPr/>
          </p:nvPicPr>
          <p:blipFill>
            <a:blip r:embed="rId2"/>
            <a:stretch>
              <a:fillRect/>
            </a:stretch>
          </p:blipFill>
          <p:spPr>
            <a:xfrm>
              <a:off x="1383917" y="1096923"/>
              <a:ext cx="9012783" cy="3780032"/>
            </a:xfrm>
            <a:prstGeom prst="rect">
              <a:avLst/>
            </a:prstGeom>
          </p:spPr>
        </p:pic>
        <p:pic>
          <p:nvPicPr>
            <p:cNvPr id="10" name="Picture 2" descr="https://upload.wikimedia.org/wikipedia/commons/thumb/c/cc/Photograph_of_Olympic%27s_Grand_Staircase_with_the_crystal_dome_and_the_clock._Photograph_taken_at_the_boat_deck_level.jpg/240px-Photograph_of_Olympic%27s_Grand_Staircase_with_the_crystal_dome_and_the_clock._Photograph_taken_at_the_boat_deck_level.jpg">
              <a:extLst>
                <a:ext uri="{FF2B5EF4-FFF2-40B4-BE49-F238E27FC236}">
                  <a16:creationId xmlns:a16="http://schemas.microsoft.com/office/drawing/2014/main" id="{00FF62E9-72CA-8A1C-BE41-D1E32E525F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059"/>
            <a:stretch/>
          </p:blipFill>
          <p:spPr bwMode="auto">
            <a:xfrm>
              <a:off x="1383916" y="4946231"/>
              <a:ext cx="2286000" cy="155801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s://upload.wikimedia.org/wikipedia/commons/thumb/9/91/Grand_staircase.jpg/243px-Grand_staircase.jpg">
              <a:extLst>
                <a:ext uri="{FF2B5EF4-FFF2-40B4-BE49-F238E27FC236}">
                  <a16:creationId xmlns:a16="http://schemas.microsoft.com/office/drawing/2014/main" id="{458D8C8F-DF59-EB86-9420-99F14B065C9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9890"/>
            <a:stretch/>
          </p:blipFill>
          <p:spPr bwMode="auto">
            <a:xfrm>
              <a:off x="3669926" y="4946231"/>
              <a:ext cx="2314575" cy="157187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https://upload.wikimedia.org/wikipedia/commons/thumb/9/95/RMS_Olympic_aft_grand_staircase.jpg/220px-RMS_Olympic_aft_grand_staircase.jpg">
              <a:extLst>
                <a:ext uri="{FF2B5EF4-FFF2-40B4-BE49-F238E27FC236}">
                  <a16:creationId xmlns:a16="http://schemas.microsoft.com/office/drawing/2014/main" id="{41F077B3-5828-15E5-C2C4-59101F7F7F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4500" y="4946231"/>
              <a:ext cx="2095500" cy="15906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https://upload.wikimedia.org/wikipedia/commons/thumb/c/c8/RMS_Titanic%27s_reading_and_writing_room.jpg/244px-RMS_Titanic%27s_reading_and_writing_room.jpg">
              <a:extLst>
                <a:ext uri="{FF2B5EF4-FFF2-40B4-BE49-F238E27FC236}">
                  <a16:creationId xmlns:a16="http://schemas.microsoft.com/office/drawing/2014/main" id="{24BED3D2-4878-EC7B-D69A-277C068FC5A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18574"/>
            <a:stretch/>
          </p:blipFill>
          <p:spPr bwMode="auto">
            <a:xfrm>
              <a:off x="8072600" y="4951425"/>
              <a:ext cx="2324100" cy="15666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8556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redondeado 1">
            <a:extLst>
              <a:ext uri="{FF2B5EF4-FFF2-40B4-BE49-F238E27FC236}">
                <a16:creationId xmlns:a16="http://schemas.microsoft.com/office/drawing/2014/main" id="{0B99778C-B5B5-1BAE-12CB-02C9A981455B}"/>
              </a:ext>
            </a:extLst>
          </p:cNvPr>
          <p:cNvSpPr/>
          <p:nvPr/>
        </p:nvSpPr>
        <p:spPr>
          <a:xfrm>
            <a:off x="526918" y="384036"/>
            <a:ext cx="4310743" cy="6130834"/>
          </a:xfrm>
          <a:prstGeom prst="roundRect">
            <a:avLst>
              <a:gd name="adj" fmla="val 2971"/>
            </a:avLst>
          </a:prstGeom>
          <a:solidFill>
            <a:schemeClr val="bg1"/>
          </a:solidFill>
          <a:ln w="38100">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Rectángulo redondeado 1">
            <a:extLst>
              <a:ext uri="{FF2B5EF4-FFF2-40B4-BE49-F238E27FC236}">
                <a16:creationId xmlns:a16="http://schemas.microsoft.com/office/drawing/2014/main" id="{0B99778C-B5B5-1BAE-12CB-02C9A981455B}"/>
              </a:ext>
            </a:extLst>
          </p:cNvPr>
          <p:cNvSpPr/>
          <p:nvPr/>
        </p:nvSpPr>
        <p:spPr>
          <a:xfrm>
            <a:off x="5270695" y="1040711"/>
            <a:ext cx="6466598" cy="3884024"/>
          </a:xfrm>
          <a:prstGeom prst="roundRect">
            <a:avLst>
              <a:gd name="adj" fmla="val 2971"/>
            </a:avLst>
          </a:prstGeom>
          <a:solidFill>
            <a:schemeClr val="bg1"/>
          </a:solidFill>
          <a:ln w="38100">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 name="Picture 2" descr="Publican lista de pasajeros del Titanic - Planetacurioso">
            <a:extLst>
              <a:ext uri="{FF2B5EF4-FFF2-40B4-BE49-F238E27FC236}">
                <a16:creationId xmlns:a16="http://schemas.microsoft.com/office/drawing/2014/main" id="{E294D280-6179-9131-F5B9-04DCD8E620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89" y="591953"/>
            <a:ext cx="3810000" cy="5715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Fotos, listas de pasajeros y miembros de la tripulación del Titanic, en  internet">
            <a:extLst>
              <a:ext uri="{FF2B5EF4-FFF2-40B4-BE49-F238E27FC236}">
                <a16:creationId xmlns:a16="http://schemas.microsoft.com/office/drawing/2014/main" id="{06585270-4210-6049-6923-84DD07905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944" y="1258697"/>
            <a:ext cx="6134100" cy="3448051"/>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p:cNvSpPr txBox="1">
            <a:spLocks/>
          </p:cNvSpPr>
          <p:nvPr/>
        </p:nvSpPr>
        <p:spPr bwMode="auto">
          <a:xfrm>
            <a:off x="5282335" y="87922"/>
            <a:ext cx="448267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Nómina de pasajeros</a:t>
            </a:r>
          </a:p>
        </p:txBody>
      </p:sp>
    </p:spTree>
    <p:extLst>
      <p:ext uri="{BB962C8B-B14F-4D97-AF65-F5344CB8AC3E}">
        <p14:creationId xmlns:p14="http://schemas.microsoft.com/office/powerpoint/2010/main" val="68614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1625037" y="1317934"/>
            <a:ext cx="8588795"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Set de datos</a:t>
            </a:r>
          </a:p>
        </p:txBody>
      </p:sp>
      <p:sp>
        <p:nvSpPr>
          <p:cNvPr id="4" name="Rectángulo redondeado 1">
            <a:extLst>
              <a:ext uri="{FF2B5EF4-FFF2-40B4-BE49-F238E27FC236}">
                <a16:creationId xmlns:a16="http://schemas.microsoft.com/office/drawing/2014/main" id="{0B99778C-B5B5-1BAE-12CB-02C9A981455B}"/>
              </a:ext>
            </a:extLst>
          </p:cNvPr>
          <p:cNvSpPr/>
          <p:nvPr/>
        </p:nvSpPr>
        <p:spPr>
          <a:xfrm>
            <a:off x="1221671" y="2325996"/>
            <a:ext cx="9587116" cy="3034840"/>
          </a:xfrm>
          <a:prstGeom prst="roundRect">
            <a:avLst>
              <a:gd name="adj" fmla="val 2971"/>
            </a:avLst>
          </a:prstGeom>
          <a:solidFill>
            <a:schemeClr val="bg1"/>
          </a:solidFill>
          <a:ln w="38100">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5" name="Imagen 4">
            <a:extLst>
              <a:ext uri="{FF2B5EF4-FFF2-40B4-BE49-F238E27FC236}">
                <a16:creationId xmlns:a16="http://schemas.microsoft.com/office/drawing/2014/main" id="{129E12AF-11E5-0047-24C6-9236CCE90864}"/>
              </a:ext>
            </a:extLst>
          </p:cNvPr>
          <p:cNvPicPr>
            <a:picLocks noChangeAspect="1"/>
          </p:cNvPicPr>
          <p:nvPr/>
        </p:nvPicPr>
        <p:blipFill>
          <a:blip r:embed="rId2"/>
          <a:stretch>
            <a:fillRect/>
          </a:stretch>
        </p:blipFill>
        <p:spPr>
          <a:xfrm>
            <a:off x="1625038" y="2578449"/>
            <a:ext cx="8780381" cy="2651853"/>
          </a:xfrm>
          <a:prstGeom prst="rect">
            <a:avLst/>
          </a:prstGeom>
        </p:spPr>
      </p:pic>
    </p:spTree>
    <p:extLst>
      <p:ext uri="{BB962C8B-B14F-4D97-AF65-F5344CB8AC3E}">
        <p14:creationId xmlns:p14="http://schemas.microsoft.com/office/powerpoint/2010/main" val="4789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457200" y="1194823"/>
            <a:ext cx="10549467" cy="5014388"/>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933451" y="214613"/>
            <a:ext cx="876935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Set de datos</a:t>
            </a:r>
          </a:p>
        </p:txBody>
      </p:sp>
      <p:sp>
        <p:nvSpPr>
          <p:cNvPr id="9" name="CuadroTexto 8">
            <a:extLst>
              <a:ext uri="{FF2B5EF4-FFF2-40B4-BE49-F238E27FC236}">
                <a16:creationId xmlns:a16="http://schemas.microsoft.com/office/drawing/2014/main" id="{C746CFDD-6FC3-5AA7-5C1D-362E2C5244F1}"/>
              </a:ext>
            </a:extLst>
          </p:cNvPr>
          <p:cNvSpPr txBox="1"/>
          <p:nvPr/>
        </p:nvSpPr>
        <p:spPr>
          <a:xfrm>
            <a:off x="933451" y="1382164"/>
            <a:ext cx="8341178" cy="4601260"/>
          </a:xfrm>
          <a:prstGeom prst="rect">
            <a:avLst/>
          </a:prstGeom>
          <a:noFill/>
          <a:ln>
            <a:noFill/>
          </a:ln>
        </p:spPr>
        <p:txBody>
          <a:bodyPr wrap="square" lIns="91440" tIns="45720" rIns="91440" bIns="45720" rtlCol="0" anchor="t">
            <a:spAutoFit/>
          </a:bodyPr>
          <a:lstStyle/>
          <a:p>
            <a:r>
              <a:rPr lang="es-ES" dirty="0">
                <a:solidFill>
                  <a:schemeClr val="bg1"/>
                </a:solidFill>
                <a:latin typeface="+mn-lt"/>
                <a:ea typeface="Source Sans Pro"/>
              </a:rPr>
              <a:t>A continuación, se describe cada columna:</a:t>
            </a:r>
          </a:p>
          <a:p>
            <a:pPr>
              <a:lnSpc>
                <a:spcPts val="2160"/>
              </a:lnSpc>
            </a:pPr>
            <a:endParaRPr lang="es-ES" dirty="0">
              <a:solidFill>
                <a:schemeClr val="bg1"/>
              </a:solidFill>
              <a:latin typeface="+mn-lt"/>
              <a:ea typeface="Source Sans Pro"/>
            </a:endParaRP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Passenger</a:t>
            </a:r>
            <a:r>
              <a:rPr lang="es-ES" b="1" dirty="0">
                <a:solidFill>
                  <a:schemeClr val="bg1"/>
                </a:solidFill>
                <a:latin typeface="+mn-lt"/>
                <a:ea typeface="Source Sans Pro"/>
              </a:rPr>
              <a:t> Id</a:t>
            </a:r>
            <a:r>
              <a:rPr lang="es-ES" dirty="0">
                <a:solidFill>
                  <a:schemeClr val="bg1"/>
                </a:solidFill>
                <a:latin typeface="+mn-lt"/>
                <a:ea typeface="Source Sans Pro"/>
              </a:rPr>
              <a:t>: Muestra el id del Pasajero (correlativo).</a:t>
            </a: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Survived</a:t>
            </a:r>
            <a:r>
              <a:rPr lang="es-ES" dirty="0">
                <a:solidFill>
                  <a:schemeClr val="bg1"/>
                </a:solidFill>
                <a:latin typeface="+mn-lt"/>
                <a:ea typeface="Source Sans Pro"/>
              </a:rPr>
              <a:t>: Se encuentra en 2 valores 0 si murió en la tragedia y 1 si sobrevivió.</a:t>
            </a: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Pclass</a:t>
            </a:r>
            <a:r>
              <a:rPr lang="es-ES" dirty="0">
                <a:solidFill>
                  <a:schemeClr val="bg1"/>
                </a:solidFill>
                <a:latin typeface="+mn-lt"/>
                <a:ea typeface="Source Sans Pro"/>
              </a:rPr>
              <a:t>: Determina la clase del pasajero, 1ra, 2da o 3era clase.</a:t>
            </a: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Name</a:t>
            </a:r>
            <a:r>
              <a:rPr lang="es-ES" dirty="0">
                <a:solidFill>
                  <a:schemeClr val="bg1"/>
                </a:solidFill>
                <a:latin typeface="+mn-lt"/>
                <a:ea typeface="Source Sans Pro"/>
              </a:rPr>
              <a:t>: Nombre de los Pasajeros.</a:t>
            </a:r>
          </a:p>
          <a:p>
            <a:pPr marL="285750" indent="-285750">
              <a:lnSpc>
                <a:spcPts val="2160"/>
              </a:lnSpc>
              <a:buFont typeface="Arial" panose="020B0604020202020204" pitchFamily="34" charset="0"/>
              <a:buChar char="•"/>
            </a:pPr>
            <a:r>
              <a:rPr lang="es-ES" b="1" dirty="0">
                <a:solidFill>
                  <a:schemeClr val="bg1"/>
                </a:solidFill>
                <a:latin typeface="+mn-lt"/>
                <a:ea typeface="Source Sans Pro"/>
              </a:rPr>
              <a:t>Sex</a:t>
            </a:r>
            <a:r>
              <a:rPr lang="es-ES" dirty="0">
                <a:solidFill>
                  <a:schemeClr val="bg1"/>
                </a:solidFill>
                <a:latin typeface="+mn-lt"/>
                <a:ea typeface="Source Sans Pro"/>
              </a:rPr>
              <a:t>: Sexo de los Pasajeros.</a:t>
            </a:r>
          </a:p>
          <a:p>
            <a:pPr marL="285750" indent="-285750">
              <a:lnSpc>
                <a:spcPts val="2160"/>
              </a:lnSpc>
              <a:buFont typeface="Arial" panose="020B0604020202020204" pitchFamily="34" charset="0"/>
              <a:buChar char="•"/>
            </a:pPr>
            <a:r>
              <a:rPr lang="es-ES" b="1" dirty="0">
                <a:solidFill>
                  <a:schemeClr val="bg1"/>
                </a:solidFill>
                <a:latin typeface="+mn-lt"/>
                <a:ea typeface="Source Sans Pro"/>
              </a:rPr>
              <a:t>Age</a:t>
            </a:r>
            <a:r>
              <a:rPr lang="es-ES" dirty="0">
                <a:solidFill>
                  <a:schemeClr val="bg1"/>
                </a:solidFill>
                <a:latin typeface="+mn-lt"/>
                <a:ea typeface="Source Sans Pro"/>
              </a:rPr>
              <a:t>: Edad de los Pasajeros.</a:t>
            </a: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SibSp</a:t>
            </a:r>
            <a:r>
              <a:rPr lang="es-ES" dirty="0">
                <a:solidFill>
                  <a:schemeClr val="bg1"/>
                </a:solidFill>
                <a:latin typeface="+mn-lt"/>
                <a:ea typeface="Source Sans Pro"/>
              </a:rPr>
              <a:t>: Número de parientes como Hermano, Hermana, Hermanastra, Hermanastro, Esposo o Esposa.</a:t>
            </a: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Parch</a:t>
            </a:r>
            <a:r>
              <a:rPr lang="es-ES" dirty="0">
                <a:solidFill>
                  <a:schemeClr val="bg1"/>
                </a:solidFill>
                <a:latin typeface="+mn-lt"/>
                <a:ea typeface="Source Sans Pro"/>
              </a:rPr>
              <a:t>: Número de parientes como Madre, Padre, Hijo, Hija, Hijastro, Hijastra.</a:t>
            </a:r>
          </a:p>
          <a:p>
            <a:pPr marL="285750" indent="-285750">
              <a:lnSpc>
                <a:spcPts val="2160"/>
              </a:lnSpc>
              <a:buFont typeface="Arial" panose="020B0604020202020204" pitchFamily="34" charset="0"/>
              <a:buChar char="•"/>
            </a:pPr>
            <a:r>
              <a:rPr lang="es-ES" b="1" dirty="0">
                <a:solidFill>
                  <a:schemeClr val="bg1"/>
                </a:solidFill>
                <a:latin typeface="+mn-lt"/>
                <a:ea typeface="Source Sans Pro"/>
              </a:rPr>
              <a:t>Ticket</a:t>
            </a:r>
            <a:r>
              <a:rPr lang="es-ES" dirty="0">
                <a:solidFill>
                  <a:schemeClr val="bg1"/>
                </a:solidFill>
                <a:latin typeface="+mn-lt"/>
                <a:ea typeface="Source Sans Pro"/>
              </a:rPr>
              <a:t>: Número del ticket o boleto.</a:t>
            </a: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Fare</a:t>
            </a:r>
            <a:r>
              <a:rPr lang="es-ES" dirty="0">
                <a:solidFill>
                  <a:schemeClr val="bg1"/>
                </a:solidFill>
                <a:latin typeface="+mn-lt"/>
                <a:ea typeface="Source Sans Pro"/>
              </a:rPr>
              <a:t>: Tarifa del pasaje.</a:t>
            </a: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Cabin</a:t>
            </a:r>
            <a:r>
              <a:rPr lang="es-ES" dirty="0">
                <a:solidFill>
                  <a:schemeClr val="bg1"/>
                </a:solidFill>
                <a:latin typeface="+mn-lt"/>
                <a:ea typeface="Source Sans Pro"/>
              </a:rPr>
              <a:t>: Número de cabina del pasajero.</a:t>
            </a:r>
          </a:p>
          <a:p>
            <a:pPr marL="285750" indent="-285750">
              <a:lnSpc>
                <a:spcPts val="2160"/>
              </a:lnSpc>
              <a:buFont typeface="Arial" panose="020B0604020202020204" pitchFamily="34" charset="0"/>
              <a:buChar char="•"/>
            </a:pPr>
            <a:r>
              <a:rPr lang="es-ES" b="1" dirty="0" err="1">
                <a:solidFill>
                  <a:schemeClr val="bg1"/>
                </a:solidFill>
                <a:latin typeface="+mn-lt"/>
                <a:ea typeface="Source Sans Pro"/>
              </a:rPr>
              <a:t>Embarked</a:t>
            </a:r>
            <a:r>
              <a:rPr lang="es-ES" dirty="0">
                <a:solidFill>
                  <a:schemeClr val="bg1"/>
                </a:solidFill>
                <a:latin typeface="+mn-lt"/>
                <a:ea typeface="Source Sans Pro"/>
              </a:rPr>
              <a:t>: Muestra los datos del puerto de </a:t>
            </a:r>
            <a:r>
              <a:rPr lang="es-ES" dirty="0" err="1">
                <a:solidFill>
                  <a:schemeClr val="bg1"/>
                </a:solidFill>
                <a:latin typeface="+mn-lt"/>
                <a:ea typeface="Source Sans Pro"/>
              </a:rPr>
              <a:t>embarcaquedero</a:t>
            </a:r>
            <a:r>
              <a:rPr lang="es-ES" dirty="0">
                <a:solidFill>
                  <a:schemeClr val="bg1"/>
                </a:solidFill>
                <a:latin typeface="+mn-lt"/>
                <a:ea typeface="Source Sans Pro"/>
              </a:rPr>
              <a:t>. (C = </a:t>
            </a:r>
            <a:r>
              <a:rPr lang="es-ES" dirty="0" err="1">
                <a:solidFill>
                  <a:schemeClr val="bg1"/>
                </a:solidFill>
                <a:latin typeface="+mn-lt"/>
                <a:ea typeface="Source Sans Pro"/>
              </a:rPr>
              <a:t>Cherbourg</a:t>
            </a:r>
            <a:r>
              <a:rPr lang="es-ES" dirty="0">
                <a:solidFill>
                  <a:schemeClr val="bg1"/>
                </a:solidFill>
                <a:latin typeface="+mn-lt"/>
                <a:ea typeface="Source Sans Pro"/>
              </a:rPr>
              <a:t>, Q = </a:t>
            </a:r>
            <a:r>
              <a:rPr lang="es-ES" dirty="0" err="1">
                <a:solidFill>
                  <a:schemeClr val="bg1"/>
                </a:solidFill>
                <a:latin typeface="+mn-lt"/>
                <a:ea typeface="Source Sans Pro"/>
              </a:rPr>
              <a:t>Queenston</a:t>
            </a:r>
            <a:r>
              <a:rPr lang="es-ES" dirty="0">
                <a:solidFill>
                  <a:schemeClr val="bg1"/>
                </a:solidFill>
                <a:latin typeface="+mn-lt"/>
                <a:ea typeface="Source Sans Pro"/>
              </a:rPr>
              <a:t>, S = </a:t>
            </a:r>
            <a:r>
              <a:rPr lang="es-ES" dirty="0" err="1">
                <a:solidFill>
                  <a:schemeClr val="bg1"/>
                </a:solidFill>
                <a:latin typeface="+mn-lt"/>
                <a:ea typeface="Source Sans Pro"/>
              </a:rPr>
              <a:t>Southapmtpon</a:t>
            </a:r>
            <a:r>
              <a:rPr lang="es-ES" dirty="0">
                <a:solidFill>
                  <a:schemeClr val="bg1"/>
                </a:solidFill>
                <a:latin typeface="+mn-lt"/>
                <a:ea typeface="Source Sans Pro"/>
              </a:rPr>
              <a:t>).</a:t>
            </a:r>
          </a:p>
        </p:txBody>
      </p:sp>
    </p:spTree>
    <p:extLst>
      <p:ext uri="{BB962C8B-B14F-4D97-AF65-F5344CB8AC3E}">
        <p14:creationId xmlns:p14="http://schemas.microsoft.com/office/powerpoint/2010/main" val="429145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936620" y="1960510"/>
            <a:ext cx="10318751" cy="3219955"/>
          </a:xfrm>
          <a:prstGeom prst="roundRect">
            <a:avLst>
              <a:gd name="adj" fmla="val 2971"/>
            </a:avLst>
          </a:prstGeom>
          <a:solidFill>
            <a:srgbClr val="078C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216965" y="784672"/>
            <a:ext cx="10270183"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Instrucciones</a:t>
            </a:r>
          </a:p>
        </p:txBody>
      </p:sp>
      <p:sp>
        <p:nvSpPr>
          <p:cNvPr id="9" name="CuadroTexto 8">
            <a:extLst>
              <a:ext uri="{FF2B5EF4-FFF2-40B4-BE49-F238E27FC236}">
                <a16:creationId xmlns:a16="http://schemas.microsoft.com/office/drawing/2014/main" id="{C746CFDD-6FC3-5AA7-5C1D-362E2C5244F1}"/>
              </a:ext>
            </a:extLst>
          </p:cNvPr>
          <p:cNvSpPr txBox="1"/>
          <p:nvPr/>
        </p:nvSpPr>
        <p:spPr>
          <a:xfrm>
            <a:off x="1216965" y="2269707"/>
            <a:ext cx="9758063" cy="2734082"/>
          </a:xfrm>
          <a:prstGeom prst="rect">
            <a:avLst/>
          </a:prstGeom>
          <a:noFill/>
          <a:ln>
            <a:noFill/>
          </a:ln>
        </p:spPr>
        <p:txBody>
          <a:bodyPr wrap="square" lIns="91440" tIns="45720" rIns="91440" bIns="45720" rtlCol="0" anchor="t">
            <a:spAutoFit/>
          </a:bodyPr>
          <a:lstStyle/>
          <a:p>
            <a:pPr algn="just">
              <a:lnSpc>
                <a:spcPts val="2160"/>
              </a:lnSpc>
            </a:pPr>
            <a:r>
              <a:rPr lang="es-ES" dirty="0">
                <a:solidFill>
                  <a:schemeClr val="bg1"/>
                </a:solidFill>
                <a:latin typeface="+mn-lt"/>
                <a:ea typeface="Source Sans Pro"/>
              </a:rPr>
              <a:t>Construya un notebook </a:t>
            </a:r>
            <a:r>
              <a:rPr lang="es-ES" dirty="0" err="1">
                <a:solidFill>
                  <a:schemeClr val="bg1"/>
                </a:solidFill>
                <a:latin typeface="+mn-lt"/>
                <a:ea typeface="Source Sans Pro"/>
              </a:rPr>
              <a:t>jupyter</a:t>
            </a:r>
            <a:r>
              <a:rPr lang="es-ES" dirty="0">
                <a:solidFill>
                  <a:schemeClr val="bg1"/>
                </a:solidFill>
                <a:latin typeface="+mn-lt"/>
                <a:ea typeface="Source Sans Pro"/>
              </a:rPr>
              <a:t>, </a:t>
            </a:r>
            <a:r>
              <a:rPr lang="es-ES" b="1" dirty="0">
                <a:solidFill>
                  <a:schemeClr val="bg1"/>
                </a:solidFill>
                <a:latin typeface="+mn-lt"/>
                <a:ea typeface="Source Sans Pro"/>
              </a:rPr>
              <a:t>ordenado</a:t>
            </a:r>
            <a:r>
              <a:rPr lang="es-ES" dirty="0">
                <a:solidFill>
                  <a:schemeClr val="bg1"/>
                </a:solidFill>
                <a:latin typeface="+mn-lt"/>
                <a:ea typeface="Source Sans Pro"/>
              </a:rPr>
              <a:t>, </a:t>
            </a:r>
            <a:r>
              <a:rPr lang="es-ES" b="1" dirty="0">
                <a:solidFill>
                  <a:schemeClr val="bg1"/>
                </a:solidFill>
                <a:latin typeface="+mn-lt"/>
                <a:ea typeface="Source Sans Pro"/>
              </a:rPr>
              <a:t>bien documentado </a:t>
            </a:r>
            <a:r>
              <a:rPr lang="es-ES" dirty="0">
                <a:solidFill>
                  <a:schemeClr val="bg1"/>
                </a:solidFill>
                <a:latin typeface="+mn-lt"/>
                <a:ea typeface="Source Sans Pro"/>
              </a:rPr>
              <a:t>y </a:t>
            </a:r>
            <a:r>
              <a:rPr lang="es-ES" b="1" dirty="0">
                <a:solidFill>
                  <a:schemeClr val="bg1"/>
                </a:solidFill>
                <a:latin typeface="+mn-lt"/>
                <a:ea typeface="Source Sans Pro"/>
              </a:rPr>
              <a:t>reproducible</a:t>
            </a:r>
            <a:r>
              <a:rPr lang="es-ES" dirty="0">
                <a:solidFill>
                  <a:schemeClr val="bg1"/>
                </a:solidFill>
                <a:latin typeface="+mn-lt"/>
                <a:ea typeface="Source Sans Pro"/>
              </a:rPr>
              <a:t>, que permita responder lo siguiente:</a:t>
            </a:r>
          </a:p>
          <a:p>
            <a:pPr marL="285750" indent="-285750" algn="just">
              <a:lnSpc>
                <a:spcPct val="150000"/>
              </a:lnSpc>
              <a:buFont typeface="Arial" panose="020B0604020202020204" pitchFamily="34" charset="0"/>
              <a:buChar char="•"/>
            </a:pPr>
            <a:r>
              <a:rPr lang="es-ES" dirty="0">
                <a:solidFill>
                  <a:schemeClr val="bg1"/>
                </a:solidFill>
                <a:latin typeface="+mn-lt"/>
                <a:ea typeface="Source Sans Pro"/>
              </a:rPr>
              <a:t>Análisis </a:t>
            </a:r>
            <a:r>
              <a:rPr lang="es-ES" dirty="0" err="1">
                <a:solidFill>
                  <a:schemeClr val="bg1"/>
                </a:solidFill>
                <a:latin typeface="+mn-lt"/>
                <a:ea typeface="Source Sans Pro"/>
              </a:rPr>
              <a:t>univariado</a:t>
            </a:r>
            <a:r>
              <a:rPr lang="es-ES" dirty="0">
                <a:solidFill>
                  <a:schemeClr val="bg1"/>
                </a:solidFill>
                <a:latin typeface="+mn-lt"/>
                <a:ea typeface="Source Sans Pro"/>
              </a:rPr>
              <a:t> de la edad de los pasajeros.</a:t>
            </a:r>
          </a:p>
          <a:p>
            <a:pPr marL="285750" indent="-285750" algn="just">
              <a:lnSpc>
                <a:spcPct val="150000"/>
              </a:lnSpc>
              <a:buFont typeface="Arial" panose="020B0604020202020204" pitchFamily="34" charset="0"/>
              <a:buChar char="•"/>
            </a:pPr>
            <a:r>
              <a:rPr lang="es-ES" dirty="0">
                <a:solidFill>
                  <a:schemeClr val="bg1"/>
                </a:solidFill>
                <a:latin typeface="+mn-lt"/>
                <a:ea typeface="Source Sans Pro"/>
              </a:rPr>
              <a:t>Análisis </a:t>
            </a:r>
            <a:r>
              <a:rPr lang="es-ES" dirty="0" err="1">
                <a:solidFill>
                  <a:schemeClr val="bg1"/>
                </a:solidFill>
                <a:latin typeface="+mn-lt"/>
                <a:ea typeface="Source Sans Pro"/>
              </a:rPr>
              <a:t>univariado</a:t>
            </a:r>
            <a:r>
              <a:rPr lang="es-ES" dirty="0">
                <a:solidFill>
                  <a:schemeClr val="bg1"/>
                </a:solidFill>
                <a:latin typeface="+mn-lt"/>
                <a:ea typeface="Source Sans Pro"/>
              </a:rPr>
              <a:t> del valor del pasaje.</a:t>
            </a:r>
          </a:p>
          <a:p>
            <a:pPr marL="285750" indent="-285750" algn="just">
              <a:lnSpc>
                <a:spcPct val="150000"/>
              </a:lnSpc>
              <a:buFont typeface="Arial" panose="020B0604020202020204" pitchFamily="34" charset="0"/>
              <a:buChar char="•"/>
            </a:pPr>
            <a:r>
              <a:rPr lang="es-ES" dirty="0">
                <a:solidFill>
                  <a:schemeClr val="bg1"/>
                </a:solidFill>
                <a:latin typeface="+mn-lt"/>
                <a:ea typeface="Source Sans Pro"/>
              </a:rPr>
              <a:t>Del análisis anterior, ¿Qué insights puede levantar?.</a:t>
            </a:r>
            <a:endParaRPr lang="es-ES" dirty="0">
              <a:solidFill>
                <a:schemeClr val="bg1"/>
              </a:solidFill>
              <a:latin typeface="+mn-lt"/>
              <a:ea typeface="Source Sans Pro"/>
              <a:cs typeface="Calibri"/>
            </a:endParaRPr>
          </a:p>
          <a:p>
            <a:pPr lvl="1" algn="just">
              <a:lnSpc>
                <a:spcPct val="150000"/>
              </a:lnSpc>
            </a:pPr>
            <a:endParaRPr lang="es-ES" dirty="0">
              <a:solidFill>
                <a:schemeClr val="bg1"/>
              </a:solidFill>
              <a:latin typeface="+mn-lt"/>
              <a:ea typeface="Source Sans Pro"/>
            </a:endParaRPr>
          </a:p>
          <a:p>
            <a:pPr lvl="1" algn="just">
              <a:lnSpc>
                <a:spcPct val="150000"/>
              </a:lnSpc>
            </a:pPr>
            <a:r>
              <a:rPr lang="es-ES" dirty="0">
                <a:solidFill>
                  <a:schemeClr val="bg1"/>
                </a:solidFill>
                <a:latin typeface="+mn-lt"/>
                <a:ea typeface="Source Sans Pro"/>
              </a:rPr>
              <a:t> Recuerde aplicar los conceptos, técnicas y herramientas aprendidos durante la sesión.</a:t>
            </a:r>
          </a:p>
        </p:txBody>
      </p:sp>
      <p:pic>
        <p:nvPicPr>
          <p:cNvPr id="5" name="Imagen 4"/>
          <p:cNvPicPr>
            <a:picLocks noChangeAspect="1"/>
          </p:cNvPicPr>
          <p:nvPr/>
        </p:nvPicPr>
        <p:blipFill>
          <a:blip r:embed="rId2">
            <a:clrChange>
              <a:clrFrom>
                <a:srgbClr val="FFFFFF"/>
              </a:clrFrom>
              <a:clrTo>
                <a:srgbClr val="FFFFFF">
                  <a:alpha val="0"/>
                </a:srgbClr>
              </a:clrTo>
            </a:clrChange>
          </a:blip>
          <a:stretch>
            <a:fillRect/>
          </a:stretch>
        </p:blipFill>
        <p:spPr>
          <a:xfrm>
            <a:off x="1265855" y="4415581"/>
            <a:ext cx="419100" cy="504825"/>
          </a:xfrm>
          <a:prstGeom prst="rect">
            <a:avLst/>
          </a:prstGeom>
        </p:spPr>
      </p:pic>
    </p:spTree>
    <p:extLst>
      <p:ext uri="{BB962C8B-B14F-4D97-AF65-F5344CB8AC3E}">
        <p14:creationId xmlns:p14="http://schemas.microsoft.com/office/powerpoint/2010/main" val="295583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6"/>
          <p:cNvSpPr/>
          <p:nvPr/>
        </p:nvSpPr>
        <p:spPr>
          <a:xfrm>
            <a:off x="1357459" y="754144"/>
            <a:ext cx="5599522" cy="5263123"/>
          </a:xfrm>
          <a:prstGeom prst="roundRect">
            <a:avLst>
              <a:gd name="adj" fmla="val 2971"/>
            </a:avLst>
          </a:prstGeom>
          <a:solidFill>
            <a:schemeClr val="bg1"/>
          </a:solidFill>
          <a:ln w="28575">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 name="Rectángulo redondeado 5"/>
          <p:cNvSpPr/>
          <p:nvPr/>
        </p:nvSpPr>
        <p:spPr>
          <a:xfrm>
            <a:off x="7303304" y="2590254"/>
            <a:ext cx="4920343" cy="1590900"/>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3980" y="1051873"/>
            <a:ext cx="5106479" cy="4667663"/>
          </a:xfrm>
          <a:prstGeom prst="rect">
            <a:avLst/>
          </a:prstGeom>
          <a:solidFill>
            <a:schemeClr val="bg1"/>
          </a:solidFill>
        </p:spPr>
      </p:pic>
      <p:sp>
        <p:nvSpPr>
          <p:cNvPr id="5" name="Título 4"/>
          <p:cNvSpPr>
            <a:spLocks noGrp="1"/>
          </p:cNvSpPr>
          <p:nvPr>
            <p:ph type="title"/>
          </p:nvPr>
        </p:nvSpPr>
        <p:spPr>
          <a:xfrm>
            <a:off x="8145409" y="3062538"/>
            <a:ext cx="1983377" cy="646331"/>
          </a:xfrm>
          <a:prstGeom prst="rect">
            <a:avLst/>
          </a:prstGeom>
        </p:spPr>
        <p:txBody>
          <a:bodyPr wrap="square">
            <a:spAutoFit/>
          </a:bodyPr>
          <a:lstStyle/>
          <a:p>
            <a:pPr algn="just"/>
            <a:r>
              <a:rPr lang="es-CL" sz="4000" dirty="0">
                <a:solidFill>
                  <a:schemeClr val="bg1"/>
                </a:solidFill>
                <a:latin typeface="Arial" panose="020B0604020202020204" pitchFamily="34" charset="0"/>
                <a:cs typeface="Arial" panose="020B0604020202020204" pitchFamily="34" charset="0"/>
              </a:rPr>
              <a:t>¡Éxito!</a:t>
            </a:r>
            <a:endParaRPr lang="en-US" sz="4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21765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171001b-fa9d-409b-8713-8b6a17935d68"/>
    <lcf76f155ced4ddcb4097134ff3c332f xmlns="470d2f17-52cb-407b-8136-5e632d1cee0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EC9CD3420DD7C44287EDEB9C6D6708D7" ma:contentTypeVersion="15" ma:contentTypeDescription="Crear nuevo documento." ma:contentTypeScope="" ma:versionID="f7a9dcde27c9264a09c73004259269f1">
  <xsd:schema xmlns:xsd="http://www.w3.org/2001/XMLSchema" xmlns:xs="http://www.w3.org/2001/XMLSchema" xmlns:p="http://schemas.microsoft.com/office/2006/metadata/properties" xmlns:ns2="470d2f17-52cb-407b-8136-5e632d1cee08" xmlns:ns3="6171001b-fa9d-409b-8713-8b6a17935d68" targetNamespace="http://schemas.microsoft.com/office/2006/metadata/properties" ma:root="true" ma:fieldsID="674b5fe278d71baa753a58252eaf8fe3" ns2:_="" ns3:_="">
    <xsd:import namespace="470d2f17-52cb-407b-8136-5e632d1cee08"/>
    <xsd:import namespace="6171001b-fa9d-409b-8713-8b6a17935d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d2f17-52cb-407b-8136-5e632d1cee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5ecad781-11e1-4240-b729-e370ca3e03e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1001b-fa9d-409b-8713-8b6a17935d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26c5a85-e9ed-4a7d-a8f2-1ac62c4b72da}" ma:internalName="TaxCatchAll" ma:showField="CatchAllData" ma:web="6171001b-fa9d-409b-8713-8b6a17935d6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26BDBF-E58D-4DAC-8738-D11056BF4C72}">
  <ds:schemaRefs>
    <ds:schemaRef ds:uri="http://purl.org/dc/terms/"/>
    <ds:schemaRef ds:uri="470d2f17-52cb-407b-8136-5e632d1cee08"/>
    <ds:schemaRef ds:uri="http://schemas.microsoft.com/office/infopath/2007/PartnerControls"/>
    <ds:schemaRef ds:uri="http://purl.org/dc/elements/1.1/"/>
    <ds:schemaRef ds:uri="http://schemas.microsoft.com/office/2006/documentManagement/types"/>
    <ds:schemaRef ds:uri="6171001b-fa9d-409b-8713-8b6a17935d68"/>
    <ds:schemaRef ds:uri="http://purl.org/dc/dcmitype/"/>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89B05674-0616-4E66-A9FD-3C514085E54B}">
  <ds:schemaRefs>
    <ds:schemaRef ds:uri="http://schemas.microsoft.com/sharepoint/v3/contenttype/forms"/>
  </ds:schemaRefs>
</ds:datastoreItem>
</file>

<file path=customXml/itemProps3.xml><?xml version="1.0" encoding="utf-8"?>
<ds:datastoreItem xmlns:ds="http://schemas.openxmlformats.org/officeDocument/2006/customXml" ds:itemID="{DD405DB1-990F-4DDD-81A1-478BCA203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d2f17-52cb-407b-8136-5e632d1cee08"/>
    <ds:schemaRef ds:uri="6171001b-fa9d-409b-8713-8b6a17935d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7657</TotalTime>
  <Words>301</Words>
  <Application>Microsoft Office PowerPoint</Application>
  <PresentationFormat>Panorámica</PresentationFormat>
  <Paragraphs>33</Paragraphs>
  <Slides>9</Slides>
  <Notes>0</Notes>
  <HiddenSlides>0</HiddenSlides>
  <MMClips>0</MMClips>
  <ScaleCrop>false</ScaleCrop>
  <HeadingPairs>
    <vt:vector size="4" baseType="variant">
      <vt:variant>
        <vt:lpstr>Tema</vt:lpstr>
      </vt:variant>
      <vt:variant>
        <vt:i4>1</vt:i4>
      </vt:variant>
      <vt:variant>
        <vt:lpstr>Títulos de diapositiva</vt:lpstr>
      </vt:variant>
      <vt:variant>
        <vt:i4>9</vt:i4>
      </vt:variant>
    </vt:vector>
  </HeadingPairs>
  <TitlesOfParts>
    <vt:vector size="10" baseType="lpstr">
      <vt:lpstr>Tema de Office</vt:lpstr>
      <vt:lpstr> Actividad: Análisis Univariado Titanic</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¡Éxito!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Diseño ITA</cp:lastModifiedBy>
  <cp:revision>252</cp:revision>
  <dcterms:created xsi:type="dcterms:W3CDTF">2023-01-03T12:28:26Z</dcterms:created>
  <dcterms:modified xsi:type="dcterms:W3CDTF">2025-09-26T12:11:25Z</dcterms:modified>
</cp:coreProperties>
</file>