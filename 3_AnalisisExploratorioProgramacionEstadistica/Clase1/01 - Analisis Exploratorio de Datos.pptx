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j+gejy6FowNhRk7CHN9fieuhja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9F524B-3871-DE82-4485-ECA40F4A6F14}" v="6" dt="2025-09-26T12:10:06.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E79F524B-3871-DE82-4485-ECA40F4A6F14}"/>
    <pc:docChg chg="modSld">
      <pc:chgData name="Soraya Salazar" userId="S::soraya.salazar@kibernumacademy.com::fdf00a5c-f577-43dc-8064-9968cad83607" providerId="AD" clId="Web-{E79F524B-3871-DE82-4485-ECA40F4A6F14}" dt="2025-09-26T12:10:06.466" v="4" actId="20577"/>
      <pc:docMkLst>
        <pc:docMk/>
      </pc:docMkLst>
      <pc:sldChg chg="modSp">
        <pc:chgData name="Soraya Salazar" userId="S::soraya.salazar@kibernumacademy.com::fdf00a5c-f577-43dc-8064-9968cad83607" providerId="AD" clId="Web-{E79F524B-3871-DE82-4485-ECA40F4A6F14}" dt="2025-09-26T12:10:06.466" v="4" actId="20577"/>
        <pc:sldMkLst>
          <pc:docMk/>
          <pc:sldMk cId="0" sldId="256"/>
        </pc:sldMkLst>
        <pc:spChg chg="mod">
          <ac:chgData name="Soraya Salazar" userId="S::soraya.salazar@kibernumacademy.com::fdf00a5c-f577-43dc-8064-9968cad83607" providerId="AD" clId="Web-{E79F524B-3871-DE82-4485-ECA40F4A6F14}" dt="2025-09-26T12:10:06.466" v="4" actId="20577"/>
          <ac:spMkLst>
            <pc:docMk/>
            <pc:sldMk cId="0" sldId="256"/>
            <ac:spMk id="9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5" name="Google Shape;14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4" name="Google Shape;19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3" name="Google Shape;20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2" name="Google Shape;2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0" name="Google Shape;26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6" name="Google Shape;26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25"/>
          <p:cNvSpPr>
            <a:spLocks noGrp="1"/>
          </p:cNvSpPr>
          <p:nvPr>
            <p:ph type="pic" idx="2"/>
          </p:nvPr>
        </p:nvSpPr>
        <p:spPr>
          <a:xfrm>
            <a:off x="5183188" y="987425"/>
            <a:ext cx="6172200" cy="4873625"/>
          </a:xfrm>
          <a:prstGeom prst="rect">
            <a:avLst/>
          </a:prstGeom>
          <a:noFill/>
          <a:ln>
            <a:noFill/>
          </a:ln>
        </p:spPr>
      </p:sp>
      <p:sp>
        <p:nvSpPr>
          <p:cNvPr id="68" name="Google Shape;68;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Patrón de fondo&#10;&#10;Descripción generada automáticamente con confianza baja"/>
          <p:cNvPicPr preferRelativeResize="0"/>
          <p:nvPr/>
        </p:nvPicPr>
        <p:blipFill rotWithShape="1">
          <a:blip r:embed="rId3">
            <a:alphaModFix/>
          </a:blip>
          <a:srcRect/>
          <a:stretch/>
        </p:blipFill>
        <p:spPr>
          <a:xfrm>
            <a:off x="0" y="-155136"/>
            <a:ext cx="12192000" cy="7006642"/>
          </a:xfrm>
          <a:prstGeom prst="rect">
            <a:avLst/>
          </a:prstGeom>
          <a:noFill/>
          <a:ln>
            <a:noFill/>
          </a:ln>
        </p:spPr>
      </p:pic>
      <p:sp>
        <p:nvSpPr>
          <p:cNvPr id="89" name="Google Shape;89;p1"/>
          <p:cNvSpPr/>
          <p:nvPr/>
        </p:nvSpPr>
        <p:spPr>
          <a:xfrm>
            <a:off x="3890331" y="3715090"/>
            <a:ext cx="7135021"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ctrTitle"/>
          </p:nvPr>
        </p:nvSpPr>
        <p:spPr>
          <a:xfrm>
            <a:off x="4047628" y="3794099"/>
            <a:ext cx="6820426" cy="149787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br>
              <a:rPr lang="es-ES" sz="5000" b="1">
                <a:solidFill>
                  <a:schemeClr val="lt1"/>
                </a:solidFill>
                <a:latin typeface="Arial"/>
                <a:ea typeface="Arial"/>
                <a:cs typeface="Arial"/>
                <a:sym typeface="Arial"/>
              </a:rPr>
            </a:br>
            <a:r>
              <a:rPr lang="es-ES" sz="5000" b="1">
                <a:solidFill>
                  <a:schemeClr val="lt1"/>
                </a:solidFill>
                <a:latin typeface="Arial"/>
                <a:ea typeface="Arial"/>
                <a:cs typeface="Arial"/>
                <a:sym typeface="Arial"/>
              </a:rPr>
              <a:t>Análisis Exploratorio de Datos</a:t>
            </a:r>
            <a:endParaRPr sz="3000" b="1">
              <a:solidFill>
                <a:schemeClr val="lt1"/>
              </a:solidFill>
              <a:latin typeface="Arial"/>
              <a:ea typeface="Arial"/>
              <a:cs typeface="Arial"/>
              <a:sym typeface="Arial"/>
            </a:endParaRPr>
          </a:p>
        </p:txBody>
      </p:sp>
      <p:sp>
        <p:nvSpPr>
          <p:cNvPr id="92" name="Google Shape;92;p1"/>
          <p:cNvSpPr txBox="1"/>
          <p:nvPr/>
        </p:nvSpPr>
        <p:spPr>
          <a:xfrm>
            <a:off x="4047628" y="3121649"/>
            <a:ext cx="7022779" cy="369291"/>
          </a:xfrm>
          <a:prstGeom prst="rect">
            <a:avLst/>
          </a:prstGeom>
          <a:noFill/>
          <a:ln>
            <a:noFill/>
          </a:ln>
        </p:spPr>
        <p:txBody>
          <a:bodyPr spcFirstLastPara="1" wrap="square" lIns="91425" tIns="45700" rIns="91425" bIns="45700" anchor="t" anchorCtr="0">
            <a:spAutoFit/>
          </a:bodyPr>
          <a:lstStyle/>
          <a:p>
            <a:pPr>
              <a:buClr>
                <a:srgbClr val="FFFFFF"/>
              </a:buClr>
              <a:buSzPts val="1800"/>
            </a:pPr>
            <a:r>
              <a:rPr lang="es-ES" sz="1800" b="1">
                <a:solidFill>
                  <a:schemeClr val="lt1"/>
                </a:solidFill>
              </a:rPr>
              <a:t> </a:t>
            </a:r>
            <a:r>
              <a:rPr lang="es-ES" sz="1800" b="1">
                <a:solidFill>
                  <a:schemeClr val="lt1"/>
                </a:solidFill>
                <a:latin typeface="Arial"/>
                <a:ea typeface="Arial"/>
                <a:cs typeface="Arial"/>
                <a:sym typeface="Arial"/>
              </a:rPr>
              <a:t>Análisis Exploratorio y Programación Estadística</a:t>
            </a:r>
            <a:endParaRPr lang="es-ES" sz="1800">
              <a:solidFill>
                <a:schemeClr val="lt1"/>
              </a:solidFill>
              <a:latin typeface="Calibri"/>
              <a:ea typeface="Calibri"/>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5900027" y="-178494"/>
            <a:ext cx="5322438" cy="5877097"/>
          </a:xfrm>
          <a:prstGeom prst="roundRect">
            <a:avLst>
              <a:gd name="adj" fmla="val 2778"/>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2"/>
          <p:cNvSpPr txBox="1"/>
          <p:nvPr/>
        </p:nvSpPr>
        <p:spPr>
          <a:xfrm>
            <a:off x="236059" y="469681"/>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99" name="Google Shape;99;p2"/>
          <p:cNvSpPr txBox="1"/>
          <p:nvPr/>
        </p:nvSpPr>
        <p:spPr>
          <a:xfrm>
            <a:off x="6812510" y="2090170"/>
            <a:ext cx="4193015" cy="22467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a:solidFill>
                  <a:srgbClr val="FFFFFF"/>
                </a:solidFill>
                <a:latin typeface="Calibri"/>
                <a:ea typeface="Calibri"/>
                <a:cs typeface="Calibri"/>
                <a:sym typeface="Calibri"/>
              </a:rPr>
              <a:t>Reconocer el ciclo de vida de los problemas analíticos.</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FFFFFF"/>
                </a:solidFill>
                <a:latin typeface="Calibri"/>
                <a:ea typeface="Calibri"/>
                <a:cs typeface="Calibri"/>
                <a:sym typeface="Calibri"/>
              </a:rPr>
              <a:t>Describir el concepto de Análisis Exploratorio.</a:t>
            </a:r>
            <a:endParaRPr sz="2000">
              <a:solidFill>
                <a:schemeClr val="dk1"/>
              </a:solidFill>
              <a:latin typeface="Calibri"/>
              <a:ea typeface="Calibri"/>
              <a:cs typeface="Calibri"/>
              <a:sym typeface="Calibri"/>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s-ES" sz="2000">
                <a:solidFill>
                  <a:srgbClr val="FFFFFF"/>
                </a:solidFill>
                <a:latin typeface="Calibri"/>
                <a:ea typeface="Calibri"/>
                <a:cs typeface="Calibri"/>
                <a:sym typeface="Calibri"/>
              </a:rPr>
              <a:t>Reconocer qué es un Insight.</a:t>
            </a:r>
            <a:endParaRPr sz="2000">
              <a:solidFill>
                <a:schemeClr val="dk1"/>
              </a:solidFill>
              <a:latin typeface="Calibri"/>
              <a:ea typeface="Calibri"/>
              <a:cs typeface="Calibri"/>
              <a:sym typeface="Calibri"/>
            </a:endParaRPr>
          </a:p>
        </p:txBody>
      </p:sp>
      <p:pic>
        <p:nvPicPr>
          <p:cNvPr id="100" name="Google Shape;100;p2"/>
          <p:cNvPicPr preferRelativeResize="0"/>
          <p:nvPr/>
        </p:nvPicPr>
        <p:blipFill rotWithShape="1">
          <a:blip r:embed="rId3">
            <a:alphaModFix/>
          </a:blip>
          <a:srcRect/>
          <a:stretch/>
        </p:blipFill>
        <p:spPr>
          <a:xfrm>
            <a:off x="6346788" y="2115375"/>
            <a:ext cx="322811" cy="322811"/>
          </a:xfrm>
          <a:prstGeom prst="rect">
            <a:avLst/>
          </a:prstGeom>
          <a:noFill/>
          <a:ln>
            <a:noFill/>
          </a:ln>
        </p:spPr>
      </p:pic>
      <p:grpSp>
        <p:nvGrpSpPr>
          <p:cNvPr id="101" name="Google Shape;101;p2"/>
          <p:cNvGrpSpPr/>
          <p:nvPr/>
        </p:nvGrpSpPr>
        <p:grpSpPr>
          <a:xfrm>
            <a:off x="1120545" y="1659284"/>
            <a:ext cx="3524500" cy="3720972"/>
            <a:chOff x="884486" y="0"/>
            <a:chExt cx="3524500" cy="3720972"/>
          </a:xfrm>
        </p:grpSpPr>
        <p:sp>
          <p:nvSpPr>
            <p:cNvPr id="102" name="Google Shape;102;p2"/>
            <p:cNvSpPr/>
            <p:nvPr/>
          </p:nvSpPr>
          <p:spPr>
            <a:xfrm>
              <a:off x="884486" y="0"/>
              <a:ext cx="3524500" cy="3524500"/>
            </a:xfrm>
            <a:prstGeom prst="ellipse">
              <a:avLst/>
            </a:prstGeom>
            <a:blipFill rotWithShape="1">
              <a:blip r:embed="rId4">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pic>
        <p:nvPicPr>
          <p:cNvPr id="105" name="Google Shape;105;p2"/>
          <p:cNvPicPr preferRelativeResize="0"/>
          <p:nvPr/>
        </p:nvPicPr>
        <p:blipFill rotWithShape="1">
          <a:blip r:embed="rId3">
            <a:alphaModFix/>
          </a:blip>
          <a:srcRect/>
          <a:stretch/>
        </p:blipFill>
        <p:spPr>
          <a:xfrm>
            <a:off x="6346788" y="3052148"/>
            <a:ext cx="322811" cy="322811"/>
          </a:xfrm>
          <a:prstGeom prst="rect">
            <a:avLst/>
          </a:prstGeom>
          <a:noFill/>
          <a:ln>
            <a:noFill/>
          </a:ln>
        </p:spPr>
      </p:pic>
      <p:pic>
        <p:nvPicPr>
          <p:cNvPr id="106" name="Google Shape;106;p2"/>
          <p:cNvPicPr preferRelativeResize="0"/>
          <p:nvPr/>
        </p:nvPicPr>
        <p:blipFill rotWithShape="1">
          <a:blip r:embed="rId3">
            <a:alphaModFix/>
          </a:blip>
          <a:srcRect/>
          <a:stretch/>
        </p:blipFill>
        <p:spPr>
          <a:xfrm>
            <a:off x="6378633" y="3988920"/>
            <a:ext cx="322812" cy="32281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p:nvPr/>
        </p:nvSpPr>
        <p:spPr>
          <a:xfrm>
            <a:off x="708212" y="1207365"/>
            <a:ext cx="10877147" cy="4811695"/>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3"/>
          <p:cNvSpPr txBox="1"/>
          <p:nvPr/>
        </p:nvSpPr>
        <p:spPr>
          <a:xfrm>
            <a:off x="1676399" y="376239"/>
            <a:ext cx="9579931" cy="56185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Ciclo de vida de un problema de Ciencia de Datos</a:t>
            </a:r>
            <a:endParaRPr/>
          </a:p>
        </p:txBody>
      </p:sp>
      <p:pic>
        <p:nvPicPr>
          <p:cNvPr id="113" name="Google Shape;113;p3"/>
          <p:cNvPicPr preferRelativeResize="0"/>
          <p:nvPr/>
        </p:nvPicPr>
        <p:blipFill rotWithShape="1">
          <a:blip r:embed="rId3">
            <a:alphaModFix/>
          </a:blip>
          <a:srcRect l="4896" t="5653" r="896" b="4371"/>
          <a:stretch/>
        </p:blipFill>
        <p:spPr>
          <a:xfrm>
            <a:off x="1676399" y="1289288"/>
            <a:ext cx="8957568" cy="45161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4" descr="Patrón de fondo"/>
          <p:cNvPicPr preferRelativeResize="0"/>
          <p:nvPr/>
        </p:nvPicPr>
        <p:blipFill rotWithShape="1">
          <a:blip r:embed="rId3">
            <a:alphaModFix/>
          </a:blip>
          <a:srcRect/>
          <a:stretch/>
        </p:blipFill>
        <p:spPr>
          <a:xfrm>
            <a:off x="0" y="-1"/>
            <a:ext cx="12192000" cy="6858001"/>
          </a:xfrm>
          <a:prstGeom prst="rect">
            <a:avLst/>
          </a:prstGeom>
          <a:noFill/>
          <a:ln>
            <a:noFill/>
          </a:ln>
        </p:spPr>
      </p:pic>
      <p:sp>
        <p:nvSpPr>
          <p:cNvPr id="119" name="Google Shape;119;p4"/>
          <p:cNvSpPr txBox="1"/>
          <p:nvPr/>
        </p:nvSpPr>
        <p:spPr>
          <a:xfrm>
            <a:off x="2510117" y="233087"/>
            <a:ext cx="737984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Análisis Exploratorio de Datos</a:t>
            </a:r>
            <a:endParaRPr/>
          </a:p>
        </p:txBody>
      </p:sp>
      <p:sp>
        <p:nvSpPr>
          <p:cNvPr id="120" name="Google Shape;120;p4"/>
          <p:cNvSpPr/>
          <p:nvPr/>
        </p:nvSpPr>
        <p:spPr>
          <a:xfrm>
            <a:off x="2294406" y="1451580"/>
            <a:ext cx="7595552" cy="4962902"/>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4"/>
          <p:cNvSpPr/>
          <p:nvPr/>
        </p:nvSpPr>
        <p:spPr>
          <a:xfrm>
            <a:off x="3517946" y="2881253"/>
            <a:ext cx="1302327" cy="5818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Recolección de Datos</a:t>
            </a:r>
            <a:endParaRPr sz="1800">
              <a:solidFill>
                <a:schemeClr val="lt1"/>
              </a:solidFill>
              <a:latin typeface="Calibri"/>
              <a:ea typeface="Calibri"/>
              <a:cs typeface="Calibri"/>
              <a:sym typeface="Calibri"/>
            </a:endParaRPr>
          </a:p>
        </p:txBody>
      </p:sp>
      <p:sp>
        <p:nvSpPr>
          <p:cNvPr id="122" name="Google Shape;122;p4"/>
          <p:cNvSpPr/>
          <p:nvPr/>
        </p:nvSpPr>
        <p:spPr>
          <a:xfrm>
            <a:off x="5069655" y="2881253"/>
            <a:ext cx="1302327" cy="5818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Limpieza</a:t>
            </a:r>
            <a:endParaRPr sz="1800">
              <a:solidFill>
                <a:schemeClr val="lt1"/>
              </a:solidFill>
              <a:latin typeface="Calibri"/>
              <a:ea typeface="Calibri"/>
              <a:cs typeface="Calibri"/>
              <a:sym typeface="Calibri"/>
            </a:endParaRPr>
          </a:p>
        </p:txBody>
      </p:sp>
      <p:sp>
        <p:nvSpPr>
          <p:cNvPr id="123" name="Google Shape;123;p4"/>
          <p:cNvSpPr/>
          <p:nvPr/>
        </p:nvSpPr>
        <p:spPr>
          <a:xfrm>
            <a:off x="6621364" y="2881253"/>
            <a:ext cx="1302327" cy="581891"/>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Procesamiento</a:t>
            </a:r>
            <a:endParaRPr sz="1800">
              <a:solidFill>
                <a:schemeClr val="lt1"/>
              </a:solidFill>
              <a:latin typeface="Calibri"/>
              <a:ea typeface="Calibri"/>
              <a:cs typeface="Calibri"/>
              <a:sym typeface="Calibri"/>
            </a:endParaRPr>
          </a:p>
        </p:txBody>
      </p:sp>
      <p:pic>
        <p:nvPicPr>
          <p:cNvPr id="124" name="Google Shape;124;p4" descr="GLOBO TERRAQUEO BASE PLASTICO 30CM"/>
          <p:cNvPicPr preferRelativeResize="0"/>
          <p:nvPr/>
        </p:nvPicPr>
        <p:blipFill rotWithShape="1">
          <a:blip r:embed="rId4">
            <a:alphaModFix/>
          </a:blip>
          <a:srcRect l="10234" t="8533" r="7065" b="2738"/>
          <a:stretch/>
        </p:blipFill>
        <p:spPr>
          <a:xfrm>
            <a:off x="2395727" y="3670272"/>
            <a:ext cx="1122219" cy="1556444"/>
          </a:xfrm>
          <a:prstGeom prst="rect">
            <a:avLst/>
          </a:prstGeom>
          <a:noFill/>
          <a:ln>
            <a:noFill/>
          </a:ln>
        </p:spPr>
      </p:pic>
      <p:sp>
        <p:nvSpPr>
          <p:cNvPr id="125" name="Google Shape;125;p4"/>
          <p:cNvSpPr txBox="1"/>
          <p:nvPr/>
        </p:nvSpPr>
        <p:spPr>
          <a:xfrm>
            <a:off x="2416509" y="5219482"/>
            <a:ext cx="108065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La realidad</a:t>
            </a:r>
            <a:endParaRPr/>
          </a:p>
        </p:txBody>
      </p:sp>
      <p:cxnSp>
        <p:nvCxnSpPr>
          <p:cNvPr id="126" name="Google Shape;126;p4"/>
          <p:cNvCxnSpPr>
            <a:stCxn id="124" idx="0"/>
            <a:endCxn id="121" idx="1"/>
          </p:cNvCxnSpPr>
          <p:nvPr/>
        </p:nvCxnSpPr>
        <p:spPr>
          <a:xfrm rot="-5400000">
            <a:off x="2988337" y="3140772"/>
            <a:ext cx="498000" cy="561000"/>
          </a:xfrm>
          <a:prstGeom prst="bentConnector2">
            <a:avLst/>
          </a:prstGeom>
          <a:noFill/>
          <a:ln w="9525" cap="flat" cmpd="sng">
            <a:solidFill>
              <a:schemeClr val="accent1"/>
            </a:solidFill>
            <a:prstDash val="solid"/>
            <a:miter lim="800000"/>
            <a:headEnd type="none" w="sm" len="sm"/>
            <a:tailEnd type="triangle" w="med" len="med"/>
          </a:ln>
        </p:spPr>
      </p:cxnSp>
      <p:cxnSp>
        <p:nvCxnSpPr>
          <p:cNvPr id="127" name="Google Shape;127;p4"/>
          <p:cNvCxnSpPr>
            <a:stCxn id="121" idx="3"/>
            <a:endCxn id="122" idx="1"/>
          </p:cNvCxnSpPr>
          <p:nvPr/>
        </p:nvCxnSpPr>
        <p:spPr>
          <a:xfrm>
            <a:off x="4820273" y="3172199"/>
            <a:ext cx="2493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28" name="Google Shape;128;p4"/>
          <p:cNvCxnSpPr>
            <a:stCxn id="122" idx="3"/>
            <a:endCxn id="123" idx="1"/>
          </p:cNvCxnSpPr>
          <p:nvPr/>
        </p:nvCxnSpPr>
        <p:spPr>
          <a:xfrm>
            <a:off x="6371982" y="3172199"/>
            <a:ext cx="249300" cy="0"/>
          </a:xfrm>
          <a:prstGeom prst="straightConnector1">
            <a:avLst/>
          </a:prstGeom>
          <a:noFill/>
          <a:ln w="9525" cap="flat" cmpd="sng">
            <a:solidFill>
              <a:schemeClr val="accent1"/>
            </a:solidFill>
            <a:prstDash val="solid"/>
            <a:miter lim="800000"/>
            <a:headEnd type="none" w="sm" len="sm"/>
            <a:tailEnd type="triangle" w="med" len="med"/>
          </a:ln>
        </p:spPr>
      </p:cxnSp>
      <p:sp>
        <p:nvSpPr>
          <p:cNvPr id="129" name="Google Shape;129;p4"/>
          <p:cNvSpPr/>
          <p:nvPr/>
        </p:nvSpPr>
        <p:spPr>
          <a:xfrm>
            <a:off x="6621364" y="3866604"/>
            <a:ext cx="1302327" cy="581891"/>
          </a:xfrm>
          <a:prstGeom prst="rect">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Modelo</a:t>
            </a:r>
            <a:endParaRPr sz="1800">
              <a:solidFill>
                <a:schemeClr val="lt1"/>
              </a:solidFill>
              <a:latin typeface="Calibri"/>
              <a:ea typeface="Calibri"/>
              <a:cs typeface="Calibri"/>
              <a:sym typeface="Calibri"/>
            </a:endParaRPr>
          </a:p>
        </p:txBody>
      </p:sp>
      <p:sp>
        <p:nvSpPr>
          <p:cNvPr id="130" name="Google Shape;130;p4"/>
          <p:cNvSpPr/>
          <p:nvPr/>
        </p:nvSpPr>
        <p:spPr>
          <a:xfrm>
            <a:off x="5069654" y="1848261"/>
            <a:ext cx="3934691" cy="581891"/>
          </a:xfrm>
          <a:prstGeom prst="rect">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Análisis Exploratorio de Datos</a:t>
            </a:r>
            <a:endParaRPr sz="1800">
              <a:solidFill>
                <a:schemeClr val="lt1"/>
              </a:solidFill>
              <a:latin typeface="Calibri"/>
              <a:ea typeface="Calibri"/>
              <a:cs typeface="Calibri"/>
              <a:sym typeface="Calibri"/>
            </a:endParaRPr>
          </a:p>
        </p:txBody>
      </p:sp>
      <p:cxnSp>
        <p:nvCxnSpPr>
          <p:cNvPr id="131" name="Google Shape;131;p4"/>
          <p:cNvCxnSpPr>
            <a:endCxn id="122" idx="0"/>
          </p:cNvCxnSpPr>
          <p:nvPr/>
        </p:nvCxnSpPr>
        <p:spPr>
          <a:xfrm>
            <a:off x="5720819" y="2430053"/>
            <a:ext cx="0" cy="4512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 name="Google Shape;132;p4"/>
          <p:cNvCxnSpPr/>
          <p:nvPr/>
        </p:nvCxnSpPr>
        <p:spPr>
          <a:xfrm>
            <a:off x="7230963" y="2430152"/>
            <a:ext cx="0" cy="45110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3" name="Google Shape;133;p4"/>
          <p:cNvCxnSpPr>
            <a:endCxn id="129" idx="3"/>
          </p:cNvCxnSpPr>
          <p:nvPr/>
        </p:nvCxnSpPr>
        <p:spPr>
          <a:xfrm rot="5400000">
            <a:off x="7420141" y="2933699"/>
            <a:ext cx="1727400" cy="720300"/>
          </a:xfrm>
          <a:prstGeom prst="bentConnector2">
            <a:avLst/>
          </a:prstGeom>
          <a:noFill/>
          <a:ln w="9525" cap="flat" cmpd="sng">
            <a:solidFill>
              <a:schemeClr val="accent1"/>
            </a:solidFill>
            <a:prstDash val="solid"/>
            <a:miter lim="800000"/>
            <a:headEnd type="none" w="sm" len="sm"/>
            <a:tailEnd type="triangle" w="med" len="med"/>
          </a:ln>
        </p:spPr>
      </p:cxnSp>
      <p:cxnSp>
        <p:nvCxnSpPr>
          <p:cNvPr id="134" name="Google Shape;134;p4"/>
          <p:cNvCxnSpPr>
            <a:stCxn id="123" idx="2"/>
            <a:endCxn id="129" idx="0"/>
          </p:cNvCxnSpPr>
          <p:nvPr/>
        </p:nvCxnSpPr>
        <p:spPr>
          <a:xfrm>
            <a:off x="7272527" y="3463144"/>
            <a:ext cx="0" cy="403500"/>
          </a:xfrm>
          <a:prstGeom prst="straightConnector1">
            <a:avLst/>
          </a:prstGeom>
          <a:noFill/>
          <a:ln w="9525" cap="flat" cmpd="sng">
            <a:solidFill>
              <a:schemeClr val="accent1"/>
            </a:solidFill>
            <a:prstDash val="solid"/>
            <a:miter lim="800000"/>
            <a:headEnd type="none" w="sm" len="sm"/>
            <a:tailEnd type="triangle" w="med" len="med"/>
          </a:ln>
        </p:spPr>
      </p:cxnSp>
      <p:sp>
        <p:nvSpPr>
          <p:cNvPr id="135" name="Google Shape;135;p4"/>
          <p:cNvSpPr/>
          <p:nvPr/>
        </p:nvSpPr>
        <p:spPr>
          <a:xfrm>
            <a:off x="6621364" y="4935771"/>
            <a:ext cx="1302327" cy="581891"/>
          </a:xfrm>
          <a:prstGeom prst="rect">
            <a:avLst/>
          </a:prstGeom>
          <a:solidFill>
            <a:schemeClr val="accent3"/>
          </a:solidFill>
          <a:ln w="12700" cap="flat" cmpd="sng">
            <a:solidFill>
              <a:srgbClr val="78787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Comunicar</a:t>
            </a:r>
            <a:endParaRPr sz="1800">
              <a:solidFill>
                <a:schemeClr val="lt1"/>
              </a:solidFill>
              <a:latin typeface="Calibri"/>
              <a:ea typeface="Calibri"/>
              <a:cs typeface="Calibri"/>
              <a:sym typeface="Calibri"/>
            </a:endParaRPr>
          </a:p>
        </p:txBody>
      </p:sp>
      <p:cxnSp>
        <p:nvCxnSpPr>
          <p:cNvPr id="136" name="Google Shape;136;p4"/>
          <p:cNvCxnSpPr>
            <a:stCxn id="129" idx="2"/>
            <a:endCxn id="135" idx="0"/>
          </p:cNvCxnSpPr>
          <p:nvPr/>
        </p:nvCxnSpPr>
        <p:spPr>
          <a:xfrm>
            <a:off x="7272527" y="4448495"/>
            <a:ext cx="0" cy="487200"/>
          </a:xfrm>
          <a:prstGeom prst="straightConnector1">
            <a:avLst/>
          </a:prstGeom>
          <a:noFill/>
          <a:ln w="9525" cap="flat" cmpd="sng">
            <a:solidFill>
              <a:schemeClr val="accent1"/>
            </a:solidFill>
            <a:prstDash val="solid"/>
            <a:miter lim="800000"/>
            <a:headEnd type="none" w="sm" len="sm"/>
            <a:tailEnd type="triangle" w="med" len="med"/>
          </a:ln>
        </p:spPr>
      </p:cxnSp>
      <p:sp>
        <p:nvSpPr>
          <p:cNvPr id="137" name="Google Shape;137;p4"/>
          <p:cNvSpPr/>
          <p:nvPr/>
        </p:nvSpPr>
        <p:spPr>
          <a:xfrm>
            <a:off x="4917254" y="4935771"/>
            <a:ext cx="1302327" cy="581891"/>
          </a:xfrm>
          <a:prstGeom prst="rect">
            <a:avLst/>
          </a:prstGeom>
          <a:solidFill>
            <a:schemeClr val="accent3"/>
          </a:solidFill>
          <a:ln w="12700" cap="flat" cmpd="sng">
            <a:solidFill>
              <a:srgbClr val="78787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400">
                <a:solidFill>
                  <a:schemeClr val="lt1"/>
                </a:solidFill>
                <a:latin typeface="Calibri"/>
                <a:ea typeface="Calibri"/>
                <a:cs typeface="Calibri"/>
                <a:sym typeface="Calibri"/>
              </a:rPr>
              <a:t>Producto de Datos</a:t>
            </a:r>
            <a:endParaRPr sz="1800">
              <a:solidFill>
                <a:schemeClr val="lt1"/>
              </a:solidFill>
              <a:latin typeface="Calibri"/>
              <a:ea typeface="Calibri"/>
              <a:cs typeface="Calibri"/>
              <a:sym typeface="Calibri"/>
            </a:endParaRPr>
          </a:p>
        </p:txBody>
      </p:sp>
      <p:cxnSp>
        <p:nvCxnSpPr>
          <p:cNvPr id="138" name="Google Shape;138;p4"/>
          <p:cNvCxnSpPr>
            <a:stCxn id="135" idx="1"/>
            <a:endCxn id="137" idx="3"/>
          </p:cNvCxnSpPr>
          <p:nvPr/>
        </p:nvCxnSpPr>
        <p:spPr>
          <a:xfrm rot="10800000">
            <a:off x="6219664" y="5226717"/>
            <a:ext cx="4017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39" name="Google Shape;139;p4"/>
          <p:cNvCxnSpPr>
            <a:endCxn id="124" idx="3"/>
          </p:cNvCxnSpPr>
          <p:nvPr/>
        </p:nvCxnSpPr>
        <p:spPr>
          <a:xfrm rot="10800000">
            <a:off x="3517946" y="4448494"/>
            <a:ext cx="1302300" cy="7782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pic>
        <p:nvPicPr>
          <p:cNvPr id="140" name="Google Shape;140;p4" descr="People icon"/>
          <p:cNvPicPr preferRelativeResize="0"/>
          <p:nvPr/>
        </p:nvPicPr>
        <p:blipFill rotWithShape="1">
          <a:blip r:embed="rId5">
            <a:alphaModFix/>
          </a:blip>
          <a:srcRect/>
          <a:stretch/>
        </p:blipFill>
        <p:spPr>
          <a:xfrm>
            <a:off x="8644126" y="4717246"/>
            <a:ext cx="1018940" cy="1018940"/>
          </a:xfrm>
          <a:prstGeom prst="rect">
            <a:avLst/>
          </a:prstGeom>
          <a:noFill/>
          <a:ln>
            <a:noFill/>
          </a:ln>
        </p:spPr>
      </p:pic>
      <p:cxnSp>
        <p:nvCxnSpPr>
          <p:cNvPr id="141" name="Google Shape;141;p4"/>
          <p:cNvCxnSpPr>
            <a:stCxn id="135" idx="3"/>
            <a:endCxn id="140" idx="1"/>
          </p:cNvCxnSpPr>
          <p:nvPr/>
        </p:nvCxnSpPr>
        <p:spPr>
          <a:xfrm>
            <a:off x="7923691" y="5226717"/>
            <a:ext cx="720300" cy="0"/>
          </a:xfrm>
          <a:prstGeom prst="straightConnector1">
            <a:avLst/>
          </a:prstGeom>
          <a:noFill/>
          <a:ln w="9525" cap="flat" cmpd="sng">
            <a:solidFill>
              <a:schemeClr val="accent1"/>
            </a:solidFill>
            <a:prstDash val="solid"/>
            <a:miter lim="800000"/>
            <a:headEnd type="none" w="sm" len="sm"/>
            <a:tailEnd type="triangle" w="med" len="med"/>
          </a:ln>
        </p:spPr>
      </p:cxnSp>
      <p:sp>
        <p:nvSpPr>
          <p:cNvPr id="142" name="Google Shape;142;p4"/>
          <p:cNvSpPr txBox="1"/>
          <p:nvPr/>
        </p:nvSpPr>
        <p:spPr>
          <a:xfrm>
            <a:off x="8613270" y="5700536"/>
            <a:ext cx="108065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a:solidFill>
                  <a:schemeClr val="dk1"/>
                </a:solidFill>
                <a:latin typeface="Calibri"/>
                <a:ea typeface="Calibri"/>
                <a:cs typeface="Calibri"/>
                <a:sym typeface="Calibri"/>
              </a:rPr>
              <a:t>Tomar Decisiones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p:nvPr/>
        </p:nvSpPr>
        <p:spPr>
          <a:xfrm>
            <a:off x="-323274" y="1613648"/>
            <a:ext cx="6634427" cy="3550024"/>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5"/>
          <p:cNvSpPr txBox="1"/>
          <p:nvPr/>
        </p:nvSpPr>
        <p:spPr>
          <a:xfrm>
            <a:off x="6402107" y="1613648"/>
            <a:ext cx="578989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Exploratorio de Datos</a:t>
            </a:r>
            <a:endParaRPr/>
          </a:p>
        </p:txBody>
      </p:sp>
      <p:sp>
        <p:nvSpPr>
          <p:cNvPr id="149" name="Google Shape;149;p5"/>
          <p:cNvSpPr txBox="1"/>
          <p:nvPr/>
        </p:nvSpPr>
        <p:spPr>
          <a:xfrm>
            <a:off x="386418" y="2001056"/>
            <a:ext cx="5160378" cy="2554545"/>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Arial"/>
                <a:ea typeface="Arial"/>
                <a:cs typeface="Arial"/>
                <a:sym typeface="Arial"/>
              </a:rPr>
              <a:t>En palabras simples, es una aproximación en el análisis de sets de datos para sumarizar sus características, a menudo valiéndose de métodos visuales.</a:t>
            </a:r>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Arial"/>
              <a:ea typeface="Arial"/>
              <a:cs typeface="Arial"/>
              <a:sym typeface="Arial"/>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Arial"/>
                <a:ea typeface="Arial"/>
                <a:cs typeface="Arial"/>
                <a:sym typeface="Arial"/>
              </a:rPr>
              <a:t>Utilizado también en etapas de preparación de datos en labores principalmente de reconocimiento y limpieza</a:t>
            </a:r>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Arial"/>
              <a:ea typeface="Arial"/>
              <a:cs typeface="Arial"/>
              <a:sym typeface="Arial"/>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Arial"/>
                <a:ea typeface="Arial"/>
                <a:cs typeface="Arial"/>
                <a:sym typeface="Arial"/>
              </a:rPr>
              <a:t>Utilizado para chequear hipótesis de trabajo en las etapas de modelamiento</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6"/>
          <p:cNvSpPr/>
          <p:nvPr/>
        </p:nvSpPr>
        <p:spPr>
          <a:xfrm>
            <a:off x="-322090" y="2364375"/>
            <a:ext cx="12985378" cy="2665595"/>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6"/>
          <p:cNvSpPr txBox="1"/>
          <p:nvPr/>
        </p:nvSpPr>
        <p:spPr>
          <a:xfrm>
            <a:off x="113178" y="1367197"/>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Análisis Exploratorio de Datos</a:t>
            </a:r>
            <a:endParaRPr/>
          </a:p>
        </p:txBody>
      </p:sp>
      <p:sp>
        <p:nvSpPr>
          <p:cNvPr id="156" name="Google Shape;156;p6"/>
          <p:cNvSpPr txBox="1"/>
          <p:nvPr/>
        </p:nvSpPr>
        <p:spPr>
          <a:xfrm>
            <a:off x="2645546" y="2686952"/>
            <a:ext cx="7093258" cy="203132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i="1" dirty="0">
                <a:solidFill>
                  <a:schemeClr val="lt1"/>
                </a:solidFill>
                <a:latin typeface="Arial"/>
                <a:ea typeface="Arial"/>
                <a:cs typeface="Arial"/>
                <a:sym typeface="Arial"/>
              </a:rPr>
              <a:t>“Procedimientos para el análisis de datos, técnicas para la interpretación de los resultados de dichos procedimientos, vías para planear la recolección de datos que hagan el análisis más fácil, más preciso y exacto, y toda la batería de herramientas estadísticas que nos permitan analizar los datos”</a:t>
            </a:r>
            <a:endParaRPr dirty="0">
              <a:solidFill>
                <a:schemeClr val="lt1"/>
              </a:solidFill>
            </a:endParaRPr>
          </a:p>
          <a:p>
            <a:pPr marL="0" marR="0" lvl="0" indent="0" algn="just" rtl="0">
              <a:spcBef>
                <a:spcPts val="0"/>
              </a:spcBef>
              <a:spcAft>
                <a:spcPts val="0"/>
              </a:spcAft>
              <a:buNone/>
            </a:pPr>
            <a:endParaRPr sz="1800" i="1">
              <a:solidFill>
                <a:schemeClr val="lt1"/>
              </a:solidFill>
              <a:latin typeface="Arial"/>
              <a:ea typeface="Arial"/>
              <a:cs typeface="Arial"/>
              <a:sym typeface="Arial"/>
            </a:endParaRPr>
          </a:p>
          <a:p>
            <a:pPr marL="0" marR="0" lvl="0" indent="0" algn="r" rtl="0">
              <a:spcBef>
                <a:spcPts val="0"/>
              </a:spcBef>
              <a:spcAft>
                <a:spcPts val="0"/>
              </a:spcAft>
              <a:buNone/>
            </a:pPr>
            <a:r>
              <a:rPr lang="es-ES" sz="1800" i="1" dirty="0">
                <a:solidFill>
                  <a:schemeClr val="lt1"/>
                </a:solidFill>
                <a:latin typeface="Arial"/>
                <a:ea typeface="Arial"/>
                <a:cs typeface="Arial"/>
                <a:sym typeface="Arial"/>
              </a:rPr>
              <a:t>John </a:t>
            </a:r>
            <a:r>
              <a:rPr lang="es-ES" sz="1800" i="1" dirty="0">
                <a:solidFill>
                  <a:schemeClr val="lt1"/>
                </a:solidFill>
              </a:rPr>
              <a:t>Tukey</a:t>
            </a:r>
            <a:r>
              <a:rPr lang="es-ES" sz="1800" i="1" dirty="0">
                <a:solidFill>
                  <a:schemeClr val="lt1"/>
                </a:solidFill>
                <a:latin typeface="Arial"/>
                <a:ea typeface="Arial"/>
                <a:cs typeface="Arial"/>
                <a:sym typeface="Arial"/>
              </a:rPr>
              <a:t> - 1961 – “</a:t>
            </a:r>
            <a:r>
              <a:rPr lang="es-ES" sz="1800" i="1" dirty="0" err="1">
                <a:solidFill>
                  <a:schemeClr val="lt1"/>
                </a:solidFill>
                <a:latin typeface="Arial"/>
                <a:ea typeface="Arial"/>
                <a:cs typeface="Arial"/>
                <a:sym typeface="Arial"/>
              </a:rPr>
              <a:t>The</a:t>
            </a:r>
            <a:r>
              <a:rPr lang="es-ES" sz="1800" i="1" dirty="0">
                <a:solidFill>
                  <a:schemeClr val="lt1"/>
                </a:solidFill>
                <a:latin typeface="Arial"/>
                <a:ea typeface="Arial"/>
                <a:cs typeface="Arial"/>
                <a:sym typeface="Arial"/>
              </a:rPr>
              <a:t> future </a:t>
            </a:r>
            <a:r>
              <a:rPr lang="es-ES" sz="1800" i="1" dirty="0" err="1">
                <a:solidFill>
                  <a:schemeClr val="lt1"/>
                </a:solidFill>
                <a:latin typeface="Arial"/>
                <a:ea typeface="Arial"/>
                <a:cs typeface="Arial"/>
                <a:sym typeface="Arial"/>
              </a:rPr>
              <a:t>of</a:t>
            </a:r>
            <a:r>
              <a:rPr lang="es-ES" sz="1800" i="1" dirty="0">
                <a:solidFill>
                  <a:schemeClr val="lt1"/>
                </a:solidFill>
                <a:latin typeface="Arial"/>
                <a:ea typeface="Arial"/>
                <a:cs typeface="Arial"/>
                <a:sym typeface="Arial"/>
              </a:rPr>
              <a:t> data </a:t>
            </a:r>
            <a:r>
              <a:rPr lang="es-ES" sz="1800" i="1" dirty="0" err="1">
                <a:solidFill>
                  <a:schemeClr val="lt1"/>
                </a:solidFill>
                <a:latin typeface="Arial"/>
                <a:ea typeface="Arial"/>
                <a:cs typeface="Arial"/>
                <a:sym typeface="Arial"/>
              </a:rPr>
              <a:t>analysis</a:t>
            </a:r>
            <a:r>
              <a:rPr lang="es-ES" sz="1800" i="1" dirty="0">
                <a:solidFill>
                  <a:schemeClr val="lt1"/>
                </a:solidFill>
                <a:latin typeface="Arial"/>
                <a:ea typeface="Arial"/>
                <a:cs typeface="Arial"/>
                <a:sym typeface="Arial"/>
              </a:rPr>
              <a:t>”</a:t>
            </a:r>
            <a:endParaRPr sz="1800" i="1" dirty="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p:nvPr/>
        </p:nvSpPr>
        <p:spPr>
          <a:xfrm>
            <a:off x="1845734" y="1506854"/>
            <a:ext cx="8824383" cy="4705687"/>
          </a:xfrm>
          <a:prstGeom prst="roundRect">
            <a:avLst>
              <a:gd name="adj" fmla="val 2971"/>
            </a:avLst>
          </a:prstGeom>
          <a:solidFill>
            <a:srgbClr val="FFFFFF"/>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7"/>
          <p:cNvSpPr txBox="1"/>
          <p:nvPr/>
        </p:nvSpPr>
        <p:spPr>
          <a:xfrm>
            <a:off x="2737044" y="619941"/>
            <a:ext cx="6242797"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Análisis Exploratorio de Datos</a:t>
            </a:r>
            <a:endParaRPr/>
          </a:p>
        </p:txBody>
      </p:sp>
      <p:sp>
        <p:nvSpPr>
          <p:cNvPr id="163" name="Google Shape;163;p7"/>
          <p:cNvSpPr/>
          <p:nvPr/>
        </p:nvSpPr>
        <p:spPr>
          <a:xfrm>
            <a:off x="2567666" y="1743531"/>
            <a:ext cx="7165923" cy="4315691"/>
          </a:xfrm>
          <a:prstGeom prst="rect">
            <a:avLst/>
          </a:prstGeom>
          <a:solidFill>
            <a:schemeClr val="lt1"/>
          </a:solidFill>
          <a:ln w="127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7"/>
          <p:cNvSpPr/>
          <p:nvPr/>
        </p:nvSpPr>
        <p:spPr>
          <a:xfrm>
            <a:off x="2737044" y="2401625"/>
            <a:ext cx="3754581" cy="3546760"/>
          </a:xfrm>
          <a:prstGeom prst="rect">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5" name="Google Shape;165;p7"/>
          <p:cNvSpPr txBox="1"/>
          <p:nvPr/>
        </p:nvSpPr>
        <p:spPr>
          <a:xfrm>
            <a:off x="2889443" y="2581734"/>
            <a:ext cx="235795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Calibri"/>
                <a:ea typeface="Calibri"/>
                <a:cs typeface="Calibri"/>
                <a:sym typeface="Calibri"/>
              </a:rPr>
              <a:t>IDA – Initial Data Analysis</a:t>
            </a:r>
            <a:endParaRPr sz="1600" b="1">
              <a:solidFill>
                <a:schemeClr val="dk1"/>
              </a:solidFill>
              <a:latin typeface="Calibri"/>
              <a:ea typeface="Calibri"/>
              <a:cs typeface="Calibri"/>
              <a:sym typeface="Calibri"/>
            </a:endParaRPr>
          </a:p>
        </p:txBody>
      </p:sp>
      <p:sp>
        <p:nvSpPr>
          <p:cNvPr id="166" name="Google Shape;166;p7"/>
          <p:cNvSpPr txBox="1"/>
          <p:nvPr/>
        </p:nvSpPr>
        <p:spPr>
          <a:xfrm>
            <a:off x="2889443" y="1922058"/>
            <a:ext cx="290188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600" b="1">
                <a:solidFill>
                  <a:schemeClr val="dk1"/>
                </a:solidFill>
                <a:latin typeface="Calibri"/>
                <a:ea typeface="Calibri"/>
                <a:cs typeface="Calibri"/>
                <a:sym typeface="Calibri"/>
              </a:rPr>
              <a:t>EDA – Exploratory Data Analysis</a:t>
            </a:r>
            <a:endParaRPr sz="1600" b="1">
              <a:solidFill>
                <a:schemeClr val="dk1"/>
              </a:solidFill>
              <a:latin typeface="Calibri"/>
              <a:ea typeface="Calibri"/>
              <a:cs typeface="Calibri"/>
              <a:sym typeface="Calibri"/>
            </a:endParaRPr>
          </a:p>
        </p:txBody>
      </p:sp>
      <p:sp>
        <p:nvSpPr>
          <p:cNvPr id="167" name="Google Shape;167;p7"/>
          <p:cNvSpPr txBox="1"/>
          <p:nvPr/>
        </p:nvSpPr>
        <p:spPr>
          <a:xfrm>
            <a:off x="2931006" y="2961847"/>
            <a:ext cx="3144982" cy="3046988"/>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Manejar valores perdidos y data errónea.</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Detectar anomalías  y outliers en los datos.</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Identificar las variables más importantes.</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Mapear la estructura de los datos.</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Chequear la completitud.</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Asegurar que los datos son apropiados para el caso de uso.</a:t>
            </a:r>
            <a:endParaRPr sz="1600">
              <a:solidFill>
                <a:schemeClr val="dk1"/>
              </a:solidFill>
              <a:latin typeface="Calibri"/>
              <a:ea typeface="Calibri"/>
              <a:cs typeface="Calibri"/>
              <a:sym typeface="Calibri"/>
            </a:endParaRPr>
          </a:p>
          <a:p>
            <a:pPr marL="285750" marR="0" lvl="0" indent="-184150" algn="l" rtl="0">
              <a:spcBef>
                <a:spcPts val="0"/>
              </a:spcBef>
              <a:spcAft>
                <a:spcPts val="0"/>
              </a:spcAft>
              <a:buClr>
                <a:schemeClr val="dk1"/>
              </a:buClr>
              <a:buSzPts val="1600"/>
              <a:buFont typeface="Arial"/>
              <a:buNone/>
            </a:pPr>
            <a:endParaRPr sz="1600">
              <a:solidFill>
                <a:schemeClr val="dk1"/>
              </a:solidFill>
              <a:latin typeface="Calibri"/>
              <a:ea typeface="Calibri"/>
              <a:cs typeface="Calibri"/>
              <a:sym typeface="Calibri"/>
            </a:endParaRPr>
          </a:p>
        </p:txBody>
      </p:sp>
      <p:sp>
        <p:nvSpPr>
          <p:cNvPr id="168" name="Google Shape;168;p7"/>
          <p:cNvSpPr txBox="1"/>
          <p:nvPr/>
        </p:nvSpPr>
        <p:spPr>
          <a:xfrm>
            <a:off x="6685587" y="2528400"/>
            <a:ext cx="2854036" cy="3293209"/>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Sugerir hipótesis acerca de la causa de un fenómeno observado.</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Realizar/checkear supuestos para una posterior inferencia estadística.</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Apoyar la selección de herramientas y técnicas estadísticas.</a:t>
            </a:r>
            <a:endParaRPr sz="16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1600"/>
              <a:buFont typeface="Arial"/>
              <a:buChar char="•"/>
            </a:pPr>
            <a:r>
              <a:rPr lang="es-ES" sz="1600">
                <a:solidFill>
                  <a:schemeClr val="dk1"/>
                </a:solidFill>
                <a:latin typeface="Calibri"/>
                <a:ea typeface="Calibri"/>
                <a:cs typeface="Calibri"/>
                <a:sym typeface="Calibri"/>
              </a:rPr>
              <a:t>Proveer la base para futuros procesos de recolección de datos.</a:t>
            </a:r>
            <a:endParaRPr sz="1600">
              <a:solidFill>
                <a:schemeClr val="dk1"/>
              </a:solidFill>
              <a:latin typeface="Calibri"/>
              <a:ea typeface="Calibri"/>
              <a:cs typeface="Calibri"/>
              <a:sym typeface="Calibri"/>
            </a:endParaRPr>
          </a:p>
          <a:p>
            <a:pPr marL="285750" marR="0" lvl="0" indent="-184150" algn="l" rtl="0">
              <a:spcBef>
                <a:spcPts val="0"/>
              </a:spcBef>
              <a:spcAft>
                <a:spcPts val="0"/>
              </a:spcAft>
              <a:buClr>
                <a:schemeClr val="dk1"/>
              </a:buClr>
              <a:buSzPts val="1600"/>
              <a:buFont typeface="Arial"/>
              <a:buNone/>
            </a:pPr>
            <a:endParaRPr sz="16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8"/>
          <p:cNvSpPr txBox="1"/>
          <p:nvPr/>
        </p:nvSpPr>
        <p:spPr>
          <a:xfrm>
            <a:off x="1279978" y="233087"/>
            <a:ext cx="6885711"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ES" sz="3200">
                <a:solidFill>
                  <a:srgbClr val="7F7F7F"/>
                </a:solidFill>
                <a:latin typeface="Arial"/>
                <a:ea typeface="Arial"/>
                <a:cs typeface="Arial"/>
                <a:sym typeface="Arial"/>
              </a:rPr>
              <a:t>Técnicas y Herramientas</a:t>
            </a:r>
            <a:endParaRPr/>
          </a:p>
        </p:txBody>
      </p:sp>
      <p:sp>
        <p:nvSpPr>
          <p:cNvPr id="174" name="Google Shape;174;p8"/>
          <p:cNvSpPr/>
          <p:nvPr/>
        </p:nvSpPr>
        <p:spPr>
          <a:xfrm>
            <a:off x="1284287" y="1379863"/>
            <a:ext cx="9729151" cy="4962902"/>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75" name="Google Shape;175;p8"/>
          <p:cNvGrpSpPr/>
          <p:nvPr/>
        </p:nvGrpSpPr>
        <p:grpSpPr>
          <a:xfrm>
            <a:off x="2684236" y="1756414"/>
            <a:ext cx="6885710" cy="4303568"/>
            <a:chOff x="0" y="286904"/>
            <a:chExt cx="6885710" cy="4303568"/>
          </a:xfrm>
        </p:grpSpPr>
        <p:sp>
          <p:nvSpPr>
            <p:cNvPr id="176" name="Google Shape;176;p8"/>
            <p:cNvSpPr/>
            <p:nvPr/>
          </p:nvSpPr>
          <p:spPr>
            <a:xfrm>
              <a:off x="0" y="286904"/>
              <a:ext cx="6885710" cy="4303568"/>
            </a:xfrm>
            <a:custGeom>
              <a:avLst/>
              <a:gdLst/>
              <a:ahLst/>
              <a:cxnLst/>
              <a:rect l="l" t="t" r="r" b="b"/>
              <a:pathLst>
                <a:path w="120000" h="120000" extrusionOk="0">
                  <a:moveTo>
                    <a:pt x="0" y="120000"/>
                  </a:moveTo>
                  <a:quadBezTo>
                    <a:pt x="20000" y="40000"/>
                    <a:pt x="101250" y="15000"/>
                  </a:quadBezTo>
                  <a:lnTo>
                    <a:pt x="100194" y="0"/>
                  </a:lnTo>
                  <a:lnTo>
                    <a:pt x="120000" y="24000"/>
                  </a:lnTo>
                  <a:lnTo>
                    <a:pt x="104419" y="60000"/>
                  </a:lnTo>
                  <a:lnTo>
                    <a:pt x="103363" y="45000"/>
                  </a:lnTo>
                  <a:quadBezTo>
                    <a:pt x="30000" y="55000"/>
                    <a:pt x="0" y="120000"/>
                  </a:quadBezTo>
                  <a:close/>
                </a:path>
              </a:pathLst>
            </a:custGeom>
            <a:solidFill>
              <a:srgbClr val="CFD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678242" y="3343585"/>
              <a:ext cx="158371" cy="158371"/>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757428" y="3422771"/>
              <a:ext cx="902028" cy="102424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txBox="1"/>
            <p:nvPr/>
          </p:nvSpPr>
          <p:spPr>
            <a:xfrm>
              <a:off x="757428" y="3422771"/>
              <a:ext cx="902028" cy="1024249"/>
            </a:xfrm>
            <a:prstGeom prst="rect">
              <a:avLst/>
            </a:prstGeom>
            <a:noFill/>
            <a:ln>
              <a:noFill/>
            </a:ln>
          </p:spPr>
          <p:txBody>
            <a:bodyPr spcFirstLastPara="1" wrap="square" lIns="83900" tIns="0" rIns="0" bIns="0" anchor="t" anchorCtr="0">
              <a:noAutofit/>
            </a:bodyPr>
            <a:lstStyle/>
            <a:p>
              <a:pPr marL="0" marR="0" lvl="0" indent="0" algn="l" rtl="0">
                <a:lnSpc>
                  <a:spcPct val="90000"/>
                </a:lnSpc>
                <a:spcBef>
                  <a:spcPts val="0"/>
                </a:spcBef>
                <a:spcAft>
                  <a:spcPts val="0"/>
                </a:spcAft>
                <a:buNone/>
              </a:pPr>
              <a:r>
                <a:rPr lang="es-ES" sz="1800">
                  <a:solidFill>
                    <a:schemeClr val="dk1"/>
                  </a:solidFill>
                  <a:latin typeface="Calibri"/>
                  <a:ea typeface="Calibri"/>
                  <a:cs typeface="Calibri"/>
                  <a:sym typeface="Calibri"/>
                </a:rPr>
                <a:t>Analizar una muestra</a:t>
              </a:r>
              <a:endParaRPr/>
            </a:p>
          </p:txBody>
        </p:sp>
        <p:sp>
          <p:nvSpPr>
            <p:cNvPr id="180" name="Google Shape;180;p8"/>
            <p:cNvSpPr/>
            <p:nvPr/>
          </p:nvSpPr>
          <p:spPr>
            <a:xfrm>
              <a:off x="1535513" y="2519882"/>
              <a:ext cx="247885" cy="247885"/>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p:nvPr/>
          </p:nvSpPr>
          <p:spPr>
            <a:xfrm>
              <a:off x="1659456" y="2643825"/>
              <a:ext cx="1143027" cy="180319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8"/>
            <p:cNvSpPr txBox="1"/>
            <p:nvPr/>
          </p:nvSpPr>
          <p:spPr>
            <a:xfrm>
              <a:off x="1659456" y="2643825"/>
              <a:ext cx="1143027" cy="1803195"/>
            </a:xfrm>
            <a:prstGeom prst="rect">
              <a:avLst/>
            </a:prstGeom>
            <a:noFill/>
            <a:ln>
              <a:noFill/>
            </a:ln>
          </p:spPr>
          <p:txBody>
            <a:bodyPr spcFirstLastPara="1" wrap="square" lIns="131325" tIns="0" rIns="0" bIns="0" anchor="t" anchorCtr="0">
              <a:noAutofit/>
            </a:bodyPr>
            <a:lstStyle/>
            <a:p>
              <a:pPr marL="0" marR="0" lvl="0" indent="0" algn="l" rtl="0">
                <a:lnSpc>
                  <a:spcPct val="90000"/>
                </a:lnSpc>
                <a:spcBef>
                  <a:spcPts val="0"/>
                </a:spcBef>
                <a:spcAft>
                  <a:spcPts val="0"/>
                </a:spcAft>
                <a:buNone/>
              </a:pPr>
              <a:r>
                <a:rPr lang="es-ES" sz="1800">
                  <a:solidFill>
                    <a:schemeClr val="dk1"/>
                  </a:solidFill>
                  <a:latin typeface="Calibri"/>
                  <a:ea typeface="Calibri"/>
                  <a:cs typeface="Calibri"/>
                  <a:sym typeface="Calibri"/>
                </a:rPr>
                <a:t>Analizar una columna</a:t>
              </a:r>
              <a:endParaRPr/>
            </a:p>
          </p:txBody>
        </p:sp>
        <p:sp>
          <p:nvSpPr>
            <p:cNvPr id="183" name="Google Shape;183;p8"/>
            <p:cNvSpPr/>
            <p:nvPr/>
          </p:nvSpPr>
          <p:spPr>
            <a:xfrm>
              <a:off x="2637226" y="1863158"/>
              <a:ext cx="330514" cy="330514"/>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2802483" y="2028415"/>
              <a:ext cx="1328942" cy="241860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txBox="1"/>
            <p:nvPr/>
          </p:nvSpPr>
          <p:spPr>
            <a:xfrm>
              <a:off x="2802483" y="2028415"/>
              <a:ext cx="1328942" cy="2418605"/>
            </a:xfrm>
            <a:prstGeom prst="rect">
              <a:avLst/>
            </a:prstGeom>
            <a:noFill/>
            <a:ln>
              <a:noFill/>
            </a:ln>
          </p:spPr>
          <p:txBody>
            <a:bodyPr spcFirstLastPara="1" wrap="square" lIns="175125" tIns="0" rIns="0" bIns="0" anchor="t" anchorCtr="0">
              <a:noAutofit/>
            </a:bodyPr>
            <a:lstStyle/>
            <a:p>
              <a:pPr marL="0" marR="0" lvl="0" indent="0" algn="l" rtl="0">
                <a:lnSpc>
                  <a:spcPct val="90000"/>
                </a:lnSpc>
                <a:spcBef>
                  <a:spcPts val="0"/>
                </a:spcBef>
                <a:spcAft>
                  <a:spcPts val="0"/>
                </a:spcAft>
                <a:buNone/>
              </a:pPr>
              <a:r>
                <a:rPr lang="es-ES" sz="1800">
                  <a:solidFill>
                    <a:schemeClr val="dk1"/>
                  </a:solidFill>
                  <a:latin typeface="Calibri"/>
                  <a:ea typeface="Calibri"/>
                  <a:cs typeface="Calibri"/>
                  <a:sym typeface="Calibri"/>
                </a:rPr>
                <a:t>Analizar relación entre columnas</a:t>
              </a:r>
              <a:endParaRPr/>
            </a:p>
          </p:txBody>
        </p:sp>
        <p:sp>
          <p:nvSpPr>
            <p:cNvPr id="186" name="Google Shape;186;p8"/>
            <p:cNvSpPr/>
            <p:nvPr/>
          </p:nvSpPr>
          <p:spPr>
            <a:xfrm>
              <a:off x="3917968" y="1350172"/>
              <a:ext cx="426914" cy="426914"/>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8"/>
            <p:cNvSpPr/>
            <p:nvPr/>
          </p:nvSpPr>
          <p:spPr>
            <a:xfrm>
              <a:off x="4131426" y="1563629"/>
              <a:ext cx="1377142" cy="288339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8"/>
            <p:cNvSpPr txBox="1"/>
            <p:nvPr/>
          </p:nvSpPr>
          <p:spPr>
            <a:xfrm>
              <a:off x="4131426" y="1563629"/>
              <a:ext cx="1377142" cy="2883391"/>
            </a:xfrm>
            <a:prstGeom prst="rect">
              <a:avLst/>
            </a:prstGeom>
            <a:noFill/>
            <a:ln>
              <a:noFill/>
            </a:ln>
          </p:spPr>
          <p:txBody>
            <a:bodyPr spcFirstLastPara="1" wrap="square" lIns="226200" tIns="0" rIns="0" bIns="0" anchor="t" anchorCtr="0">
              <a:noAutofit/>
            </a:bodyPr>
            <a:lstStyle/>
            <a:p>
              <a:pPr marL="0" marR="0" lvl="0" indent="0" algn="l" rtl="0">
                <a:lnSpc>
                  <a:spcPct val="90000"/>
                </a:lnSpc>
                <a:spcBef>
                  <a:spcPts val="0"/>
                </a:spcBef>
                <a:spcAft>
                  <a:spcPts val="0"/>
                </a:spcAft>
                <a:buNone/>
              </a:pPr>
              <a:r>
                <a:rPr lang="es-ES" sz="1800">
                  <a:solidFill>
                    <a:schemeClr val="dk1"/>
                  </a:solidFill>
                  <a:latin typeface="Calibri"/>
                  <a:ea typeface="Calibri"/>
                  <a:cs typeface="Calibri"/>
                  <a:sym typeface="Calibri"/>
                </a:rPr>
                <a:t>Transformar los datos</a:t>
              </a:r>
              <a:endParaRPr/>
            </a:p>
          </p:txBody>
        </p:sp>
        <p:sp>
          <p:nvSpPr>
            <p:cNvPr id="189" name="Google Shape;189;p8"/>
            <p:cNvSpPr/>
            <p:nvPr/>
          </p:nvSpPr>
          <p:spPr>
            <a:xfrm>
              <a:off x="5236582" y="1007608"/>
              <a:ext cx="543971" cy="543971"/>
            </a:xfrm>
            <a:prstGeom prst="ellipse">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8"/>
            <p:cNvSpPr/>
            <p:nvPr/>
          </p:nvSpPr>
          <p:spPr>
            <a:xfrm>
              <a:off x="5508568" y="1279594"/>
              <a:ext cx="1377142" cy="316742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8"/>
            <p:cNvSpPr txBox="1"/>
            <p:nvPr/>
          </p:nvSpPr>
          <p:spPr>
            <a:xfrm>
              <a:off x="5508568" y="1279594"/>
              <a:ext cx="1377142" cy="3167426"/>
            </a:xfrm>
            <a:prstGeom prst="rect">
              <a:avLst/>
            </a:prstGeom>
            <a:noFill/>
            <a:ln>
              <a:noFill/>
            </a:ln>
          </p:spPr>
          <p:txBody>
            <a:bodyPr spcFirstLastPara="1" wrap="square" lIns="288225" tIns="0" rIns="0" bIns="0" anchor="t" anchorCtr="0">
              <a:noAutofit/>
            </a:bodyPr>
            <a:lstStyle/>
            <a:p>
              <a:pPr marL="0" marR="0" lvl="0" indent="0" algn="l" rtl="0">
                <a:lnSpc>
                  <a:spcPct val="90000"/>
                </a:lnSpc>
                <a:spcBef>
                  <a:spcPts val="0"/>
                </a:spcBef>
                <a:spcAft>
                  <a:spcPts val="0"/>
                </a:spcAft>
                <a:buNone/>
              </a:pPr>
              <a:r>
                <a:rPr lang="es-ES" sz="1800">
                  <a:solidFill>
                    <a:schemeClr val="dk1"/>
                  </a:solidFill>
                  <a:latin typeface="Calibri"/>
                  <a:ea typeface="Calibri"/>
                  <a:cs typeface="Calibri"/>
                  <a:sym typeface="Calibri"/>
                </a:rPr>
                <a:t>Reducir los datos</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9"/>
          <p:cNvSpPr/>
          <p:nvPr/>
        </p:nvSpPr>
        <p:spPr>
          <a:xfrm>
            <a:off x="402771" y="1903719"/>
            <a:ext cx="11362185" cy="3124200"/>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7" name="Google Shape;197;p9"/>
          <p:cNvSpPr txBox="1"/>
          <p:nvPr/>
        </p:nvSpPr>
        <p:spPr>
          <a:xfrm>
            <a:off x="700686" y="699098"/>
            <a:ext cx="531921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En búsqueda de Insights</a:t>
            </a:r>
            <a:endParaRPr sz="3200">
              <a:solidFill>
                <a:srgbClr val="7F7F7F"/>
              </a:solidFill>
              <a:latin typeface="Arial"/>
              <a:ea typeface="Arial"/>
              <a:cs typeface="Arial"/>
              <a:sym typeface="Arial"/>
            </a:endParaRPr>
          </a:p>
        </p:txBody>
      </p:sp>
      <p:sp>
        <p:nvSpPr>
          <p:cNvPr id="198" name="Google Shape;198;p9"/>
          <p:cNvSpPr txBox="1"/>
          <p:nvPr/>
        </p:nvSpPr>
        <p:spPr>
          <a:xfrm>
            <a:off x="696006" y="2141947"/>
            <a:ext cx="5661252" cy="255450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000">
                <a:solidFill>
                  <a:schemeClr val="lt1"/>
                </a:solidFill>
                <a:latin typeface="Calibri"/>
                <a:ea typeface="Calibri"/>
                <a:cs typeface="Calibri"/>
                <a:sym typeface="Calibri"/>
              </a:rPr>
              <a:t>En este ejemplo, se está analizando el sueldo de los empleados del ayuntamiento de San Francisco entre los años 2010 y 2014.</a:t>
            </a:r>
            <a:endParaRPr sz="2000">
              <a:latin typeface="Calibri"/>
              <a:ea typeface="Calibri"/>
              <a:cs typeface="Calibri"/>
            </a:endParaRPr>
          </a:p>
          <a:p>
            <a:pPr marL="0" marR="0" lvl="0" indent="0" algn="just" rtl="0">
              <a:spcBef>
                <a:spcPts val="0"/>
              </a:spcBef>
              <a:spcAft>
                <a:spcPts val="0"/>
              </a:spcAft>
              <a:buNone/>
            </a:pPr>
            <a:endParaRPr sz="2000">
              <a:solidFill>
                <a:schemeClr val="lt1"/>
              </a:solidFill>
              <a:latin typeface="Calibri"/>
              <a:ea typeface="Calibri"/>
              <a:cs typeface="Calibri"/>
              <a:sym typeface="Calibri"/>
            </a:endParaRPr>
          </a:p>
          <a:p>
            <a:pPr marL="0" marR="0" lvl="0" indent="0" algn="just" rtl="0">
              <a:spcBef>
                <a:spcPts val="0"/>
              </a:spcBef>
              <a:spcAft>
                <a:spcPts val="0"/>
              </a:spcAft>
              <a:buNone/>
            </a:pPr>
            <a:r>
              <a:rPr lang="es-ES" sz="2000">
                <a:solidFill>
                  <a:schemeClr val="lt1"/>
                </a:solidFill>
                <a:latin typeface="Calibri"/>
                <a:ea typeface="Calibri"/>
                <a:cs typeface="Calibri"/>
                <a:sym typeface="Calibri"/>
              </a:rPr>
              <a:t>A partir de esta información:</a:t>
            </a:r>
            <a:endParaRPr sz="2000">
              <a:latin typeface="Calibri"/>
              <a:ea typeface="Calibri"/>
              <a:cs typeface="Calibri"/>
            </a:endParaRPr>
          </a:p>
          <a:p>
            <a:pPr marL="742950" marR="0" lvl="1" indent="-285750" algn="just" rtl="0">
              <a:spcBef>
                <a:spcPts val="0"/>
              </a:spcBef>
              <a:spcAft>
                <a:spcPts val="0"/>
              </a:spcAft>
              <a:buClr>
                <a:schemeClr val="lt1"/>
              </a:buClr>
              <a:buSzPts val="1800"/>
              <a:buFont typeface="Arial"/>
              <a:buChar char="•"/>
            </a:pPr>
            <a:r>
              <a:rPr lang="es-ES" sz="2000" b="0" i="0" u="none" strike="noStrike" cap="none">
                <a:solidFill>
                  <a:schemeClr val="lt1"/>
                </a:solidFill>
                <a:latin typeface="Calibri"/>
                <a:ea typeface="Calibri"/>
                <a:cs typeface="Calibri"/>
                <a:sym typeface="Calibri"/>
              </a:rPr>
              <a:t> ¿Es posible hacerse una idea de cómo son los sueldos en dicho lugar? </a:t>
            </a:r>
            <a:endParaRPr sz="2000" b="0" i="0" u="none" strike="noStrike" cap="none">
              <a:solidFill>
                <a:schemeClr val="lt1"/>
              </a:solidFill>
              <a:latin typeface="Calibri"/>
              <a:ea typeface="Calibri"/>
              <a:cs typeface="Calibri"/>
              <a:sym typeface="Calibri"/>
            </a:endParaRPr>
          </a:p>
          <a:p>
            <a:pPr marL="742950" marR="0" lvl="1" indent="-285750" algn="just" rtl="0">
              <a:spcBef>
                <a:spcPts val="0"/>
              </a:spcBef>
              <a:spcAft>
                <a:spcPts val="0"/>
              </a:spcAft>
              <a:buClr>
                <a:schemeClr val="lt1"/>
              </a:buClr>
              <a:buSzPts val="1800"/>
              <a:buFont typeface="Arial"/>
              <a:buChar char="•"/>
            </a:pPr>
            <a:r>
              <a:rPr lang="es-ES" sz="2000" b="0" i="0" u="none" strike="noStrike" cap="none">
                <a:solidFill>
                  <a:schemeClr val="lt1"/>
                </a:solidFill>
                <a:latin typeface="Calibri"/>
                <a:ea typeface="Calibri"/>
                <a:cs typeface="Calibri"/>
                <a:sym typeface="Calibri"/>
              </a:rPr>
              <a:t>¿Hay algo que llame la atención?.</a:t>
            </a:r>
            <a:endParaRPr sz="2000" b="0" i="0" u="none" strike="noStrike" cap="none">
              <a:solidFill>
                <a:schemeClr val="lt1"/>
              </a:solidFill>
              <a:latin typeface="Calibri"/>
              <a:ea typeface="Calibri"/>
              <a:cs typeface="Calibri"/>
            </a:endParaRPr>
          </a:p>
        </p:txBody>
      </p:sp>
      <p:sp>
        <p:nvSpPr>
          <p:cNvPr id="199" name="Google Shape;199;p9"/>
          <p:cNvSpPr/>
          <p:nvPr/>
        </p:nvSpPr>
        <p:spPr>
          <a:xfrm>
            <a:off x="6528929" y="2049995"/>
            <a:ext cx="5135174" cy="2874565"/>
          </a:xfrm>
          <a:prstGeom prst="roundRect">
            <a:avLst>
              <a:gd name="adj" fmla="val 2971"/>
            </a:avLst>
          </a:prstGeom>
          <a:solidFill>
            <a:srgbClr val="1E1E1E"/>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0" name="Google Shape;200;p9"/>
          <p:cNvPicPr preferRelativeResize="0"/>
          <p:nvPr/>
        </p:nvPicPr>
        <p:blipFill rotWithShape="1">
          <a:blip r:embed="rId3">
            <a:alphaModFix/>
          </a:blip>
          <a:srcRect/>
          <a:stretch/>
        </p:blipFill>
        <p:spPr>
          <a:xfrm>
            <a:off x="6817668" y="2139301"/>
            <a:ext cx="4753638" cy="269595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p:nvPr/>
        </p:nvSpPr>
        <p:spPr>
          <a:xfrm>
            <a:off x="1037679" y="1511150"/>
            <a:ext cx="10003790" cy="4395901"/>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0"/>
          <p:cNvSpPr txBox="1"/>
          <p:nvPr/>
        </p:nvSpPr>
        <p:spPr>
          <a:xfrm>
            <a:off x="1038045" y="664546"/>
            <a:ext cx="5053693" cy="714148"/>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En búsqueda de Insights</a:t>
            </a:r>
            <a:endParaRPr sz="3200">
              <a:solidFill>
                <a:srgbClr val="7F7F7F"/>
              </a:solidFill>
              <a:latin typeface="Arial"/>
              <a:ea typeface="Arial"/>
              <a:cs typeface="Arial"/>
              <a:sym typeface="Arial"/>
            </a:endParaRPr>
          </a:p>
        </p:txBody>
      </p:sp>
      <p:sp>
        <p:nvSpPr>
          <p:cNvPr id="207" name="Google Shape;207;p10"/>
          <p:cNvSpPr txBox="1"/>
          <p:nvPr/>
        </p:nvSpPr>
        <p:spPr>
          <a:xfrm>
            <a:off x="1299323" y="1710750"/>
            <a:ext cx="4487615" cy="1938952"/>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s-ES" sz="2000">
                <a:solidFill>
                  <a:schemeClr val="lt1"/>
                </a:solidFill>
                <a:latin typeface="Calibri"/>
                <a:ea typeface="Calibri"/>
                <a:cs typeface="Calibri"/>
                <a:sym typeface="Calibri"/>
              </a:rPr>
              <a:t>Ahora revisemos la distribución de sueldos para el mismo caso.</a:t>
            </a:r>
            <a:endParaRPr lang="es-ES" sz="2000"/>
          </a:p>
          <a:p>
            <a:pPr marL="0" marR="0" lvl="0" indent="0" rtl="0">
              <a:spcBef>
                <a:spcPts val="0"/>
              </a:spcBef>
              <a:spcAft>
                <a:spcPts val="0"/>
              </a:spcAft>
              <a:buNone/>
            </a:pPr>
            <a:endParaRPr sz="2000">
              <a:solidFill>
                <a:schemeClr val="lt1"/>
              </a:solidFill>
              <a:latin typeface="Calibri"/>
              <a:ea typeface="Calibri"/>
              <a:cs typeface="Calibri"/>
            </a:endParaRPr>
          </a:p>
          <a:p>
            <a:pPr marL="742950" marR="0" lvl="1" indent="-285750" rtl="0">
              <a:spcBef>
                <a:spcPts val="0"/>
              </a:spcBef>
              <a:spcAft>
                <a:spcPts val="0"/>
              </a:spcAft>
              <a:buClr>
                <a:schemeClr val="lt1"/>
              </a:buClr>
              <a:buSzPts val="1800"/>
              <a:buFont typeface="Arial"/>
              <a:buChar char="•"/>
            </a:pPr>
            <a:r>
              <a:rPr lang="es-ES" sz="2000" b="0" i="0" u="none" strike="noStrike" cap="none">
                <a:solidFill>
                  <a:schemeClr val="lt1"/>
                </a:solidFill>
                <a:latin typeface="Calibri"/>
                <a:ea typeface="Calibri"/>
                <a:cs typeface="Calibri"/>
                <a:sym typeface="Calibri"/>
              </a:rPr>
              <a:t>¿Es consistente con la información anterior?</a:t>
            </a:r>
            <a:endParaRPr sz="2000"/>
          </a:p>
          <a:p>
            <a:pPr marL="742950" marR="0" lvl="1" indent="-285750" rtl="0">
              <a:spcBef>
                <a:spcPts val="0"/>
              </a:spcBef>
              <a:spcAft>
                <a:spcPts val="0"/>
              </a:spcAft>
              <a:buClr>
                <a:schemeClr val="lt1"/>
              </a:buClr>
              <a:buSzPts val="1800"/>
              <a:buFont typeface="Arial"/>
              <a:buChar char="•"/>
            </a:pPr>
            <a:r>
              <a:rPr lang="es-ES" sz="2000" b="0" i="0" u="none" strike="noStrike" cap="none">
                <a:solidFill>
                  <a:schemeClr val="lt1"/>
                </a:solidFill>
                <a:latin typeface="Calibri"/>
                <a:ea typeface="Calibri"/>
                <a:cs typeface="Calibri"/>
                <a:sym typeface="Calibri"/>
              </a:rPr>
              <a:t>¿Hay algo que llame la atención?.</a:t>
            </a:r>
            <a:endParaRPr sz="2000" b="0" i="0" u="none" strike="noStrike" cap="none">
              <a:solidFill>
                <a:schemeClr val="lt1"/>
              </a:solidFill>
              <a:latin typeface="Calibri"/>
              <a:ea typeface="Calibri"/>
              <a:cs typeface="Calibri"/>
            </a:endParaRPr>
          </a:p>
        </p:txBody>
      </p:sp>
      <p:sp>
        <p:nvSpPr>
          <p:cNvPr id="208" name="Google Shape;208;p10"/>
          <p:cNvSpPr/>
          <p:nvPr/>
        </p:nvSpPr>
        <p:spPr>
          <a:xfrm>
            <a:off x="5791021" y="1584217"/>
            <a:ext cx="5135174" cy="4235749"/>
          </a:xfrm>
          <a:prstGeom prst="roundRect">
            <a:avLst>
              <a:gd name="adj" fmla="val 2971"/>
            </a:avLst>
          </a:prstGeom>
          <a:solidFill>
            <a:srgbClr val="1E1E1E"/>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09" name="Google Shape;209;p10"/>
          <p:cNvPicPr preferRelativeResize="0"/>
          <p:nvPr/>
        </p:nvPicPr>
        <p:blipFill rotWithShape="1">
          <a:blip r:embed="rId3">
            <a:alphaModFix/>
          </a:blip>
          <a:srcRect/>
          <a:stretch/>
        </p:blipFill>
        <p:spPr>
          <a:xfrm>
            <a:off x="5972262" y="1754282"/>
            <a:ext cx="4772691" cy="372479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p:nvPr/>
        </p:nvSpPr>
        <p:spPr>
          <a:xfrm>
            <a:off x="542229" y="1237344"/>
            <a:ext cx="11067066" cy="5244418"/>
          </a:xfrm>
          <a:prstGeom prst="roundRect">
            <a:avLst>
              <a:gd name="adj" fmla="val 2971"/>
            </a:avLst>
          </a:prstGeom>
          <a:solidFill>
            <a:srgbClr val="FFFFFF"/>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5" name="Google Shape;215;p11"/>
          <p:cNvSpPr txBox="1"/>
          <p:nvPr/>
        </p:nvSpPr>
        <p:spPr>
          <a:xfrm>
            <a:off x="838199" y="275365"/>
            <a:ext cx="10834991"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3200">
                <a:solidFill>
                  <a:srgbClr val="7F7F7F"/>
                </a:solidFill>
                <a:latin typeface="Arial"/>
                <a:ea typeface="Arial"/>
                <a:cs typeface="Arial"/>
                <a:sym typeface="Arial"/>
              </a:rPr>
              <a:t>En búsqueda de Insights</a:t>
            </a:r>
            <a:endParaRPr sz="3200">
              <a:solidFill>
                <a:srgbClr val="7F7F7F"/>
              </a:solidFill>
              <a:latin typeface="Arial"/>
              <a:ea typeface="Arial"/>
              <a:cs typeface="Arial"/>
              <a:sym typeface="Arial"/>
            </a:endParaRPr>
          </a:p>
        </p:txBody>
      </p:sp>
      <p:pic>
        <p:nvPicPr>
          <p:cNvPr id="216" name="Google Shape;216;p11"/>
          <p:cNvPicPr preferRelativeResize="0"/>
          <p:nvPr/>
        </p:nvPicPr>
        <p:blipFill rotWithShape="1">
          <a:blip r:embed="rId3">
            <a:alphaModFix/>
          </a:blip>
          <a:srcRect/>
          <a:stretch/>
        </p:blipFill>
        <p:spPr>
          <a:xfrm>
            <a:off x="838200" y="1506854"/>
            <a:ext cx="6783986" cy="4756351"/>
          </a:xfrm>
          <a:prstGeom prst="rect">
            <a:avLst/>
          </a:prstGeom>
          <a:noFill/>
          <a:ln>
            <a:noFill/>
          </a:ln>
        </p:spPr>
      </p:pic>
      <p:pic>
        <p:nvPicPr>
          <p:cNvPr id="217" name="Google Shape;217;p11"/>
          <p:cNvPicPr preferRelativeResize="0"/>
          <p:nvPr/>
        </p:nvPicPr>
        <p:blipFill rotWithShape="1">
          <a:blip r:embed="rId4">
            <a:alphaModFix/>
          </a:blip>
          <a:srcRect/>
          <a:stretch/>
        </p:blipFill>
        <p:spPr>
          <a:xfrm>
            <a:off x="7729587" y="1506854"/>
            <a:ext cx="3569584" cy="2018947"/>
          </a:xfrm>
          <a:prstGeom prst="rect">
            <a:avLst/>
          </a:prstGeom>
          <a:noFill/>
          <a:ln>
            <a:noFill/>
          </a:ln>
        </p:spPr>
      </p:pic>
      <p:pic>
        <p:nvPicPr>
          <p:cNvPr id="218" name="Google Shape;218;p11"/>
          <p:cNvPicPr preferRelativeResize="0"/>
          <p:nvPr/>
        </p:nvPicPr>
        <p:blipFill rotWithShape="1">
          <a:blip r:embed="rId5">
            <a:alphaModFix/>
          </a:blip>
          <a:srcRect/>
          <a:stretch/>
        </p:blipFill>
        <p:spPr>
          <a:xfrm>
            <a:off x="7729587" y="3477362"/>
            <a:ext cx="3569584" cy="27858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p:nvPr/>
        </p:nvSpPr>
        <p:spPr>
          <a:xfrm>
            <a:off x="530518" y="1375493"/>
            <a:ext cx="11054841" cy="1261176"/>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12"/>
          <p:cNvSpPr txBox="1"/>
          <p:nvPr/>
        </p:nvSpPr>
        <p:spPr>
          <a:xfrm>
            <a:off x="783456" y="506187"/>
            <a:ext cx="10703694" cy="73115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Importancia de encontrar Insights</a:t>
            </a:r>
            <a:endParaRPr sz="3200">
              <a:solidFill>
                <a:srgbClr val="7F7F7F"/>
              </a:solidFill>
              <a:latin typeface="Arial"/>
              <a:ea typeface="Arial"/>
              <a:cs typeface="Arial"/>
              <a:sym typeface="Arial"/>
            </a:endParaRPr>
          </a:p>
        </p:txBody>
      </p:sp>
      <p:sp>
        <p:nvSpPr>
          <p:cNvPr id="225" name="Google Shape;225;p12"/>
          <p:cNvSpPr txBox="1"/>
          <p:nvPr/>
        </p:nvSpPr>
        <p:spPr>
          <a:xfrm>
            <a:off x="783456" y="1552790"/>
            <a:ext cx="10467250" cy="92328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Un ejemplo importante es la obtención de insights respecto al </a:t>
            </a:r>
            <a:r>
              <a:rPr lang="es-ES" sz="1800" b="1">
                <a:solidFill>
                  <a:schemeClr val="lt1"/>
                </a:solidFill>
                <a:latin typeface="Calibri"/>
                <a:ea typeface="Calibri"/>
                <a:cs typeface="Calibri"/>
                <a:sym typeface="Calibri"/>
              </a:rPr>
              <a:t>comportamiento de los clientes</a:t>
            </a:r>
            <a:r>
              <a:rPr lang="es-ES" sz="1800">
                <a:solidFill>
                  <a:schemeClr val="lt1"/>
                </a:solidFill>
                <a:latin typeface="Calibri"/>
                <a:ea typeface="Calibri"/>
                <a:cs typeface="Calibri"/>
                <a:sym typeface="Calibri"/>
              </a:rPr>
              <a:t>. Esto proporciona a la empresa una comprensión valiosa que permite adaptar sus estrategias y operaciones para aprovechar al máximo este patrón de compra específico. </a:t>
            </a:r>
            <a:endParaRPr sz="1600"/>
          </a:p>
        </p:txBody>
      </p:sp>
      <p:sp>
        <p:nvSpPr>
          <p:cNvPr id="226" name="Google Shape;226;p12"/>
          <p:cNvSpPr/>
          <p:nvPr/>
        </p:nvSpPr>
        <p:spPr>
          <a:xfrm>
            <a:off x="530517" y="2822966"/>
            <a:ext cx="11054841" cy="3265037"/>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12"/>
          <p:cNvSpPr txBox="1"/>
          <p:nvPr/>
        </p:nvSpPr>
        <p:spPr>
          <a:xfrm>
            <a:off x="783456" y="3079884"/>
            <a:ext cx="4587534"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La base del éxito está en la capacidad de entender a los clientes, sus verdaderas necesidades, expectativas, y traducirlas en estrategias.</a:t>
            </a:r>
            <a:endParaRPr sz="1400">
              <a:solidFill>
                <a:srgbClr val="7F7F7F"/>
              </a:solidFill>
              <a:latin typeface="Calibri"/>
              <a:ea typeface="Calibri"/>
              <a:cs typeface="Calibri"/>
              <a:sym typeface="Calibri"/>
            </a:endParaRPr>
          </a:p>
        </p:txBody>
      </p:sp>
      <p:grpSp>
        <p:nvGrpSpPr>
          <p:cNvPr id="228" name="Google Shape;228;p12"/>
          <p:cNvGrpSpPr/>
          <p:nvPr/>
        </p:nvGrpSpPr>
        <p:grpSpPr>
          <a:xfrm>
            <a:off x="5119456" y="2974018"/>
            <a:ext cx="3740214" cy="2858608"/>
            <a:chOff x="0" y="0"/>
            <a:chExt cx="3740214" cy="2858608"/>
          </a:xfrm>
        </p:grpSpPr>
        <p:sp>
          <p:nvSpPr>
            <p:cNvPr id="229" name="Google Shape;229;p12"/>
            <p:cNvSpPr/>
            <p:nvPr/>
          </p:nvSpPr>
          <p:spPr>
            <a:xfrm>
              <a:off x="1496085" y="0"/>
              <a:ext cx="748042" cy="571721"/>
            </a:xfrm>
            <a:prstGeom prst="trapezoid">
              <a:avLst>
                <a:gd name="adj" fmla="val 6542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txBox="1"/>
            <p:nvPr/>
          </p:nvSpPr>
          <p:spPr>
            <a:xfrm>
              <a:off x="1496085" y="0"/>
              <a:ext cx="748042" cy="571721"/>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None/>
              </a:pPr>
              <a:r>
                <a:rPr lang="es-ES" sz="1700">
                  <a:solidFill>
                    <a:schemeClr val="lt1"/>
                  </a:solidFill>
                  <a:latin typeface="Calibri"/>
                  <a:ea typeface="Calibri"/>
                  <a:cs typeface="Calibri"/>
                  <a:sym typeface="Calibri"/>
                </a:rPr>
                <a:t>Wow</a:t>
              </a:r>
              <a:endParaRPr sz="1700">
                <a:solidFill>
                  <a:schemeClr val="lt1"/>
                </a:solidFill>
                <a:latin typeface="Calibri"/>
                <a:ea typeface="Calibri"/>
                <a:cs typeface="Calibri"/>
                <a:sym typeface="Calibri"/>
              </a:endParaRPr>
            </a:p>
          </p:txBody>
        </p:sp>
        <p:sp>
          <p:nvSpPr>
            <p:cNvPr id="231" name="Google Shape;231;p12"/>
            <p:cNvSpPr/>
            <p:nvPr/>
          </p:nvSpPr>
          <p:spPr>
            <a:xfrm>
              <a:off x="1122064" y="571721"/>
              <a:ext cx="1496085" cy="571721"/>
            </a:xfrm>
            <a:prstGeom prst="trapezoid">
              <a:avLst>
                <a:gd name="adj" fmla="val 65420"/>
              </a:avLst>
            </a:prstGeom>
            <a:solidFill>
              <a:srgbClr val="D7785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2"/>
            <p:cNvSpPr txBox="1"/>
            <p:nvPr/>
          </p:nvSpPr>
          <p:spPr>
            <a:xfrm>
              <a:off x="1383879" y="571721"/>
              <a:ext cx="972455" cy="571721"/>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None/>
              </a:pPr>
              <a:r>
                <a:rPr lang="es-ES" sz="1800">
                  <a:solidFill>
                    <a:schemeClr val="lt1"/>
                  </a:solidFill>
                  <a:latin typeface="Calibri"/>
                  <a:ea typeface="Calibri"/>
                  <a:cs typeface="Calibri"/>
                  <a:sym typeface="Calibri"/>
                </a:rPr>
                <a:t>Ahá</a:t>
              </a:r>
              <a:endParaRPr sz="1800">
                <a:solidFill>
                  <a:schemeClr val="lt1"/>
                </a:solidFill>
                <a:latin typeface="Calibri"/>
                <a:ea typeface="Calibri"/>
                <a:cs typeface="Calibri"/>
                <a:sym typeface="Calibri"/>
              </a:endParaRPr>
            </a:p>
          </p:txBody>
        </p:sp>
        <p:sp>
          <p:nvSpPr>
            <p:cNvPr id="233" name="Google Shape;233;p12"/>
            <p:cNvSpPr/>
            <p:nvPr/>
          </p:nvSpPr>
          <p:spPr>
            <a:xfrm>
              <a:off x="748042" y="1143443"/>
              <a:ext cx="2244128" cy="571721"/>
            </a:xfrm>
            <a:prstGeom prst="trapezoid">
              <a:avLst>
                <a:gd name="adj" fmla="val 65420"/>
              </a:avLst>
            </a:prstGeom>
            <a:solidFill>
              <a:srgbClr val="C47F6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2"/>
            <p:cNvSpPr txBox="1"/>
            <p:nvPr/>
          </p:nvSpPr>
          <p:spPr>
            <a:xfrm>
              <a:off x="1140765" y="1143443"/>
              <a:ext cx="1458683" cy="571721"/>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None/>
              </a:pPr>
              <a:r>
                <a:rPr lang="es-ES" sz="1800">
                  <a:solidFill>
                    <a:schemeClr val="lt1"/>
                  </a:solidFill>
                  <a:latin typeface="Calibri"/>
                  <a:ea typeface="Calibri"/>
                  <a:cs typeface="Calibri"/>
                  <a:sym typeface="Calibri"/>
                </a:rPr>
                <a:t>Por qué</a:t>
              </a:r>
              <a:endParaRPr sz="1200"/>
            </a:p>
          </p:txBody>
        </p:sp>
        <p:sp>
          <p:nvSpPr>
            <p:cNvPr id="235" name="Google Shape;235;p12"/>
            <p:cNvSpPr/>
            <p:nvPr/>
          </p:nvSpPr>
          <p:spPr>
            <a:xfrm>
              <a:off x="374021" y="1715165"/>
              <a:ext cx="2992171" cy="571721"/>
            </a:xfrm>
            <a:prstGeom prst="trapezoid">
              <a:avLst>
                <a:gd name="adj" fmla="val 65420"/>
              </a:avLst>
            </a:prstGeom>
            <a:solidFill>
              <a:srgbClr val="B38E8A"/>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2"/>
            <p:cNvSpPr txBox="1"/>
            <p:nvPr/>
          </p:nvSpPr>
          <p:spPr>
            <a:xfrm>
              <a:off x="897651" y="1715165"/>
              <a:ext cx="1944911" cy="571721"/>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None/>
              </a:pPr>
              <a:r>
                <a:rPr lang="es-ES" sz="1800">
                  <a:solidFill>
                    <a:schemeClr val="lt1"/>
                  </a:solidFill>
                  <a:latin typeface="Calibri"/>
                  <a:ea typeface="Calibri"/>
                  <a:cs typeface="Calibri"/>
                  <a:sym typeface="Calibri"/>
                </a:rPr>
                <a:t>Cómo</a:t>
              </a:r>
              <a:endParaRPr sz="1200"/>
            </a:p>
          </p:txBody>
        </p:sp>
        <p:sp>
          <p:nvSpPr>
            <p:cNvPr id="237" name="Google Shape;237;p12"/>
            <p:cNvSpPr/>
            <p:nvPr/>
          </p:nvSpPr>
          <p:spPr>
            <a:xfrm>
              <a:off x="0" y="2286887"/>
              <a:ext cx="3740214" cy="571721"/>
            </a:xfrm>
            <a:prstGeom prst="trapezoid">
              <a:avLst>
                <a:gd name="adj" fmla="val 65420"/>
              </a:avLst>
            </a:prstGeom>
            <a:solidFill>
              <a:srgbClr val="A4A4A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txBox="1"/>
            <p:nvPr/>
          </p:nvSpPr>
          <p:spPr>
            <a:xfrm>
              <a:off x="654537" y="2286887"/>
              <a:ext cx="2431139" cy="571721"/>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None/>
              </a:pPr>
              <a:r>
                <a:rPr lang="es-ES" sz="1800">
                  <a:solidFill>
                    <a:schemeClr val="lt1"/>
                  </a:solidFill>
                  <a:latin typeface="Calibri"/>
                  <a:ea typeface="Calibri"/>
                  <a:cs typeface="Calibri"/>
                  <a:sym typeface="Calibri"/>
                </a:rPr>
                <a:t>Qué</a:t>
              </a:r>
              <a:endParaRPr sz="1200"/>
            </a:p>
          </p:txBody>
        </p:sp>
      </p:grpSp>
      <p:sp>
        <p:nvSpPr>
          <p:cNvPr id="239" name="Google Shape;239;p12"/>
          <p:cNvSpPr txBox="1"/>
          <p:nvPr/>
        </p:nvSpPr>
        <p:spPr>
          <a:xfrm>
            <a:off x="9778752" y="5283439"/>
            <a:ext cx="1593542"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Arial"/>
                <a:ea typeface="Arial"/>
                <a:cs typeface="Arial"/>
                <a:sym typeface="Arial"/>
              </a:rPr>
              <a:t>Observaciones o datos</a:t>
            </a:r>
            <a:endParaRPr sz="1400">
              <a:solidFill>
                <a:srgbClr val="7F7F7F"/>
              </a:solidFill>
              <a:latin typeface="Calibri"/>
              <a:ea typeface="Calibri"/>
              <a:cs typeface="Calibri"/>
              <a:sym typeface="Calibri"/>
            </a:endParaRPr>
          </a:p>
        </p:txBody>
      </p:sp>
      <p:cxnSp>
        <p:nvCxnSpPr>
          <p:cNvPr id="240" name="Google Shape;240;p12"/>
          <p:cNvCxnSpPr/>
          <p:nvPr/>
        </p:nvCxnSpPr>
        <p:spPr>
          <a:xfrm rot="10800000">
            <a:off x="8859670" y="5557421"/>
            <a:ext cx="701580" cy="0"/>
          </a:xfrm>
          <a:prstGeom prst="straightConnector1">
            <a:avLst/>
          </a:prstGeom>
          <a:noFill/>
          <a:ln w="9525" cap="flat" cmpd="sng">
            <a:solidFill>
              <a:srgbClr val="595959"/>
            </a:solidFill>
            <a:prstDash val="solid"/>
            <a:miter lim="800000"/>
            <a:headEnd type="none" w="sm" len="sm"/>
            <a:tailEnd type="triangle" w="med" len="med"/>
          </a:ln>
        </p:spPr>
      </p:cxnSp>
      <p:cxnSp>
        <p:nvCxnSpPr>
          <p:cNvPr id="241" name="Google Shape;241;p12"/>
          <p:cNvCxnSpPr/>
          <p:nvPr/>
        </p:nvCxnSpPr>
        <p:spPr>
          <a:xfrm rot="10800000">
            <a:off x="8821078" y="4955219"/>
            <a:ext cx="701580" cy="0"/>
          </a:xfrm>
          <a:prstGeom prst="straightConnector1">
            <a:avLst/>
          </a:prstGeom>
          <a:noFill/>
          <a:ln w="9525" cap="flat" cmpd="sng">
            <a:solidFill>
              <a:srgbClr val="595959"/>
            </a:solidFill>
            <a:prstDash val="solid"/>
            <a:miter lim="800000"/>
            <a:headEnd type="none" w="sm" len="sm"/>
            <a:tailEnd type="triangle" w="med" len="med"/>
          </a:ln>
        </p:spPr>
      </p:cxnSp>
      <p:sp>
        <p:nvSpPr>
          <p:cNvPr id="242" name="Google Shape;242;p12"/>
          <p:cNvSpPr txBox="1"/>
          <p:nvPr/>
        </p:nvSpPr>
        <p:spPr>
          <a:xfrm>
            <a:off x="9778752" y="4789365"/>
            <a:ext cx="159354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Arial"/>
                <a:ea typeface="Arial"/>
                <a:cs typeface="Arial"/>
                <a:sym typeface="Arial"/>
              </a:rPr>
              <a:t>Información</a:t>
            </a:r>
            <a:endParaRPr sz="1400">
              <a:solidFill>
                <a:srgbClr val="7F7F7F"/>
              </a:solidFill>
              <a:latin typeface="Calibri"/>
              <a:ea typeface="Calibri"/>
              <a:cs typeface="Calibri"/>
              <a:sym typeface="Calibri"/>
            </a:endParaRPr>
          </a:p>
        </p:txBody>
      </p:sp>
      <p:cxnSp>
        <p:nvCxnSpPr>
          <p:cNvPr id="243" name="Google Shape;243;p12"/>
          <p:cNvCxnSpPr/>
          <p:nvPr/>
        </p:nvCxnSpPr>
        <p:spPr>
          <a:xfrm rot="10800000">
            <a:off x="8814915" y="4403322"/>
            <a:ext cx="701580" cy="0"/>
          </a:xfrm>
          <a:prstGeom prst="straightConnector1">
            <a:avLst/>
          </a:prstGeom>
          <a:noFill/>
          <a:ln w="9525" cap="flat" cmpd="sng">
            <a:solidFill>
              <a:srgbClr val="595959"/>
            </a:solidFill>
            <a:prstDash val="solid"/>
            <a:miter lim="800000"/>
            <a:headEnd type="none" w="sm" len="sm"/>
            <a:tailEnd type="triangle" w="med" len="med"/>
          </a:ln>
        </p:spPr>
      </p:cxnSp>
      <p:sp>
        <p:nvSpPr>
          <p:cNvPr id="244" name="Google Shape;244;p12"/>
          <p:cNvSpPr txBox="1"/>
          <p:nvPr/>
        </p:nvSpPr>
        <p:spPr>
          <a:xfrm>
            <a:off x="9815002" y="4193321"/>
            <a:ext cx="159354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Arial"/>
                <a:ea typeface="Arial"/>
                <a:cs typeface="Arial"/>
                <a:sym typeface="Arial"/>
              </a:rPr>
              <a:t>Hallazgo</a:t>
            </a:r>
            <a:endParaRPr sz="1400">
              <a:solidFill>
                <a:srgbClr val="7F7F7F"/>
              </a:solidFill>
              <a:latin typeface="Calibri"/>
              <a:ea typeface="Calibri"/>
              <a:cs typeface="Calibri"/>
              <a:sym typeface="Calibri"/>
            </a:endParaRPr>
          </a:p>
        </p:txBody>
      </p:sp>
      <p:cxnSp>
        <p:nvCxnSpPr>
          <p:cNvPr id="245" name="Google Shape;245;p12"/>
          <p:cNvCxnSpPr/>
          <p:nvPr/>
        </p:nvCxnSpPr>
        <p:spPr>
          <a:xfrm rot="10800000">
            <a:off x="8778665" y="3797523"/>
            <a:ext cx="701580" cy="0"/>
          </a:xfrm>
          <a:prstGeom prst="straightConnector1">
            <a:avLst/>
          </a:prstGeom>
          <a:noFill/>
          <a:ln w="9525" cap="flat" cmpd="sng">
            <a:solidFill>
              <a:srgbClr val="595959"/>
            </a:solidFill>
            <a:prstDash val="solid"/>
            <a:miter lim="800000"/>
            <a:headEnd type="none" w="sm" len="sm"/>
            <a:tailEnd type="triangle" w="med" len="med"/>
          </a:ln>
        </p:spPr>
      </p:cxnSp>
      <p:sp>
        <p:nvSpPr>
          <p:cNvPr id="246" name="Google Shape;246;p12"/>
          <p:cNvSpPr txBox="1"/>
          <p:nvPr/>
        </p:nvSpPr>
        <p:spPr>
          <a:xfrm>
            <a:off x="9778752" y="3587522"/>
            <a:ext cx="159354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Arial"/>
                <a:ea typeface="Arial"/>
                <a:cs typeface="Arial"/>
                <a:sym typeface="Arial"/>
              </a:rPr>
              <a:t>Insight</a:t>
            </a:r>
            <a:endParaRPr sz="1400">
              <a:solidFill>
                <a:srgbClr val="7F7F7F"/>
              </a:solidFill>
              <a:latin typeface="Calibri"/>
              <a:ea typeface="Calibri"/>
              <a:cs typeface="Calibri"/>
              <a:sym typeface="Calibri"/>
            </a:endParaRPr>
          </a:p>
        </p:txBody>
      </p:sp>
      <p:cxnSp>
        <p:nvCxnSpPr>
          <p:cNvPr id="247" name="Google Shape;247;p12"/>
          <p:cNvCxnSpPr/>
          <p:nvPr/>
        </p:nvCxnSpPr>
        <p:spPr>
          <a:xfrm rot="10800000">
            <a:off x="8778665" y="3289885"/>
            <a:ext cx="701580" cy="0"/>
          </a:xfrm>
          <a:prstGeom prst="straightConnector1">
            <a:avLst/>
          </a:prstGeom>
          <a:noFill/>
          <a:ln w="9525" cap="flat" cmpd="sng">
            <a:solidFill>
              <a:srgbClr val="595959"/>
            </a:solidFill>
            <a:prstDash val="solid"/>
            <a:miter lim="800000"/>
            <a:headEnd type="none" w="sm" len="sm"/>
            <a:tailEnd type="triangle" w="med" len="med"/>
          </a:ln>
        </p:spPr>
      </p:cxnSp>
      <p:sp>
        <p:nvSpPr>
          <p:cNvPr id="248" name="Google Shape;248;p12"/>
          <p:cNvSpPr txBox="1"/>
          <p:nvPr/>
        </p:nvSpPr>
        <p:spPr>
          <a:xfrm>
            <a:off x="9778752" y="3116589"/>
            <a:ext cx="159354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400">
                <a:solidFill>
                  <a:srgbClr val="7F7F7F"/>
                </a:solidFill>
                <a:latin typeface="Arial"/>
                <a:ea typeface="Arial"/>
                <a:cs typeface="Arial"/>
                <a:sym typeface="Arial"/>
              </a:rPr>
              <a:t>Idea o Estrategia</a:t>
            </a:r>
            <a:endParaRPr sz="1400">
              <a:solidFill>
                <a:srgbClr val="7F7F7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fade">
                                      <p:cBhvr>
                                        <p:cTn id="7"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3"/>
          <p:cNvSpPr/>
          <p:nvPr/>
        </p:nvSpPr>
        <p:spPr>
          <a:xfrm>
            <a:off x="530518" y="1375491"/>
            <a:ext cx="8302764" cy="4892143"/>
          </a:xfrm>
          <a:prstGeom prst="roundRect">
            <a:avLst>
              <a:gd name="adj" fmla="val 2971"/>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4" name="Google Shape;254;p13"/>
          <p:cNvSpPr txBox="1"/>
          <p:nvPr/>
        </p:nvSpPr>
        <p:spPr>
          <a:xfrm>
            <a:off x="1100498" y="506187"/>
            <a:ext cx="10386651" cy="73115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200">
                <a:solidFill>
                  <a:srgbClr val="7F7F7F"/>
                </a:solidFill>
                <a:latin typeface="Arial"/>
                <a:ea typeface="Arial"/>
                <a:cs typeface="Arial"/>
                <a:sym typeface="Arial"/>
              </a:rPr>
              <a:t>Importancia de encontrar Insights</a:t>
            </a:r>
            <a:endParaRPr sz="3200">
              <a:solidFill>
                <a:srgbClr val="7F7F7F"/>
              </a:solidFill>
              <a:latin typeface="Arial"/>
              <a:ea typeface="Arial"/>
              <a:cs typeface="Arial"/>
              <a:sym typeface="Arial"/>
            </a:endParaRPr>
          </a:p>
        </p:txBody>
      </p:sp>
      <p:sp>
        <p:nvSpPr>
          <p:cNvPr id="255" name="Google Shape;255;p13"/>
          <p:cNvSpPr txBox="1"/>
          <p:nvPr/>
        </p:nvSpPr>
        <p:spPr>
          <a:xfrm>
            <a:off x="1100499" y="1497097"/>
            <a:ext cx="7162801" cy="477053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a:solidFill>
                  <a:schemeClr val="lt1"/>
                </a:solidFill>
                <a:latin typeface="Calibri"/>
                <a:ea typeface="Calibri"/>
                <a:cs typeface="Calibri"/>
                <a:sym typeface="Calibri"/>
              </a:rPr>
              <a:t>Supongamos que una empresa de comercio electrónico está analizando los datos de sus clientes y descubre que </a:t>
            </a:r>
            <a:r>
              <a:rPr lang="es-ES" sz="1600" b="1">
                <a:solidFill>
                  <a:schemeClr val="lt1"/>
                </a:solidFill>
                <a:latin typeface="Calibri"/>
                <a:ea typeface="Calibri"/>
                <a:cs typeface="Calibri"/>
                <a:sym typeface="Calibri"/>
              </a:rPr>
              <a:t>el 80% de las compras se realizan los días viernes por la tarde</a:t>
            </a:r>
            <a:r>
              <a:rPr lang="es-ES" sz="1600">
                <a:solidFill>
                  <a:schemeClr val="lt1"/>
                </a:solidFill>
                <a:latin typeface="Calibri"/>
                <a:ea typeface="Calibri"/>
                <a:cs typeface="Calibri"/>
                <a:sym typeface="Calibri"/>
              </a:rPr>
              <a:t>. Este descubrimiento podría llevar a la empresa a tomar varias acciones estratégicas: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Programar campañas de marketing específicamente dirigidas a los clientes los viernes por la tarde, aprovechando el momento en que están más propensos a realizar compras.</a:t>
            </a:r>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Ofrecer descuentos especiales o promociones exclusivas los viernes por la tarde para incentivar aún más las compras.</a:t>
            </a:r>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Ajustar los horarios de atención al cliente o aumentar la disponibilidad de personal los viernes por la tarde para garantizar un servicio de alta calidad durante los momentos de mayor actividad.</a:t>
            </a:r>
            <a:endParaRPr/>
          </a:p>
          <a:p>
            <a:pPr marL="285750" marR="0" lvl="0" indent="-184150" algn="just"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285750" marR="0" lvl="0" indent="-285750" algn="just" rtl="0">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Optimizar el inventario y la logística para garantizar que los productos estén disponibles y puedan entregarse rápidamente a los clientes que realizan compras los viernes por la tarde.</a:t>
            </a:r>
            <a:endParaRPr/>
          </a:p>
        </p:txBody>
      </p:sp>
      <p:sp>
        <p:nvSpPr>
          <p:cNvPr id="256" name="Google Shape;256;p13"/>
          <p:cNvSpPr/>
          <p:nvPr/>
        </p:nvSpPr>
        <p:spPr>
          <a:xfrm>
            <a:off x="9240610" y="1918446"/>
            <a:ext cx="2404543" cy="3576917"/>
          </a:xfrm>
          <a:prstGeom prst="roundRect">
            <a:avLst>
              <a:gd name="adj" fmla="val 2971"/>
            </a:avLst>
          </a:prstGeom>
          <a:solidFill>
            <a:schemeClr val="lt1"/>
          </a:solidFill>
          <a:ln w="38100" cap="flat" cmpd="sng">
            <a:solidFill>
              <a:srgbClr val="8D32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57" name="Google Shape;257;p13" descr="Imágenes de Ampolleta Dibujo - Descarga gratuita en Freepik"/>
          <p:cNvPicPr preferRelativeResize="0"/>
          <p:nvPr/>
        </p:nvPicPr>
        <p:blipFill rotWithShape="1">
          <a:blip r:embed="rId3">
            <a:alphaModFix/>
          </a:blip>
          <a:srcRect l="9210" t="9771" r="10414" b="10570"/>
          <a:stretch/>
        </p:blipFill>
        <p:spPr>
          <a:xfrm>
            <a:off x="9500744" y="2219599"/>
            <a:ext cx="1884273" cy="29746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4"/>
          <p:cNvSpPr/>
          <p:nvPr/>
        </p:nvSpPr>
        <p:spPr>
          <a:xfrm>
            <a:off x="-585177" y="3057041"/>
            <a:ext cx="7800454" cy="1045333"/>
          </a:xfrm>
          <a:prstGeom prst="roundRect">
            <a:avLst>
              <a:gd name="adj" fmla="val 9640"/>
            </a:avLst>
          </a:prstGeom>
          <a:gradFill>
            <a:gsLst>
              <a:gs pos="0">
                <a:srgbClr val="541844"/>
              </a:gs>
              <a:gs pos="50000">
                <a:srgbClr val="7A2363"/>
              </a:gs>
              <a:gs pos="100000">
                <a:srgbClr val="932B7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1" i="0" u="none" strike="noStrike" cap="none">
              <a:solidFill>
                <a:srgbClr val="008CAD"/>
              </a:solidFill>
              <a:latin typeface="Calibri"/>
              <a:ea typeface="Calibri"/>
              <a:cs typeface="Calibri"/>
              <a:sym typeface="Calibri"/>
            </a:endParaRPr>
          </a:p>
        </p:txBody>
      </p:sp>
      <p:sp>
        <p:nvSpPr>
          <p:cNvPr id="263" name="Google Shape;263;p14"/>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ES"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fade">
                                      <p:cBhvr>
                                        <p:cTn id="7" dur="5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5"/>
          <p:cNvSpPr txBox="1">
            <a:spLocks noGrp="1"/>
          </p:cNvSpPr>
          <p:nvPr>
            <p:ph type="title"/>
          </p:nvPr>
        </p:nvSpPr>
        <p:spPr>
          <a:xfrm>
            <a:off x="817180" y="2835056"/>
            <a:ext cx="10515600" cy="1325563"/>
          </a:xfrm>
          <a:prstGeom prst="rect">
            <a:avLst/>
          </a:prstGeom>
          <a:noFill/>
          <a:ln>
            <a:noFill/>
          </a:ln>
        </p:spPr>
        <p:txBody>
          <a:bodyPr spcFirstLastPara="1" wrap="square" lIns="91425" tIns="45700" rIns="91425" bIns="45700" anchor="ctr" anchorCtr="0">
            <a:spAutoFit/>
          </a:bodyPr>
          <a:lstStyle/>
          <a:p>
            <a:pPr marL="0" lvl="0" indent="0" algn="ctr" rtl="0">
              <a:lnSpc>
                <a:spcPct val="90000"/>
              </a:lnSpc>
              <a:spcBef>
                <a:spcPts val="0"/>
              </a:spcBef>
              <a:spcAft>
                <a:spcPts val="0"/>
              </a:spcAft>
              <a:buNone/>
            </a:pPr>
            <a:r>
              <a:rPr lang="es-ES" sz="3200">
                <a:solidFill>
                  <a:srgbClr val="7F7F7F"/>
                </a:solidFill>
                <a:latin typeface="Arial"/>
                <a:ea typeface="Arial"/>
                <a:cs typeface="Arial"/>
                <a:sym typeface="Arial"/>
              </a:rPr>
              <a:t>Fin de la Presentación</a:t>
            </a:r>
            <a:endParaRPr sz="14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650</Words>
  <Application>Microsoft Office PowerPoint</Application>
  <PresentationFormat>Panorámica</PresentationFormat>
  <Paragraphs>85</Paragraphs>
  <Slides>15</Slides>
  <Notes>15</Notes>
  <HiddenSlides>0</HiddenSlides>
  <MMClips>0</MMClips>
  <ScaleCrop>false</ScaleCrop>
  <HeadingPairs>
    <vt:vector size="4" baseType="variant">
      <vt:variant>
        <vt:lpstr>Tema</vt:lpstr>
      </vt:variant>
      <vt:variant>
        <vt:i4>1</vt:i4>
      </vt:variant>
      <vt:variant>
        <vt:lpstr>Títulos de diapositiva</vt:lpstr>
      </vt:variant>
      <vt:variant>
        <vt:i4>15</vt:i4>
      </vt:variant>
    </vt:vector>
  </HeadingPairs>
  <TitlesOfParts>
    <vt:vector size="16" baseType="lpstr">
      <vt:lpstr>Tema de Office</vt:lpstr>
      <vt:lpstr> Análisis Exploratorio de Datos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Fin de la Presentación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Análisis Exploratorio de Datos</dc:title>
  <dc:creator>Kibernum</dc:creator>
  <cp:lastModifiedBy>Diseño ITA</cp:lastModifiedBy>
  <cp:revision>26</cp:revision>
  <dcterms:created xsi:type="dcterms:W3CDTF">2023-01-03T12:28:26Z</dcterms:created>
  <dcterms:modified xsi:type="dcterms:W3CDTF">2025-09-26T12:10:08Z</dcterms:modified>
</cp:coreProperties>
</file>