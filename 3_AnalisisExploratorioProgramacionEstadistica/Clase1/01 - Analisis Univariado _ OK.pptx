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12192000" cy="6858000"/>
  <p:notesSz cx="6858000" cy="9144000"/>
  <p:embeddedFontLst>
    <p:embeddedFont>
      <p:font typeface="Open Sans" panose="020B0606030504020204" pitchFamily="34" charset="0"/>
      <p:regular r:id="rId31"/>
      <p:bold r:id="rId32"/>
      <p:italic r:id="rId33"/>
      <p:bold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9" roundtripDataSignature="AMtx7mjx+oml47LGJrSuFe09UrypP4qSj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A0E9657-C13D-79BB-B8C8-4729EE9FF86B}" v="4" dt="2025-09-26T12:10:15.17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customschemas.google.com/relationships/presentationmetadata" Target="metadata"/><Relationship Id="rId21" Type="http://schemas.openxmlformats.org/officeDocument/2006/relationships/slide" Target="slides/slide20.xml"/><Relationship Id="rId34" Type="http://schemas.openxmlformats.org/officeDocument/2006/relationships/font" Target="fonts/font4.fntdata"/><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raya Salazar" userId="S::soraya.salazar@kibernumacademy.com::fdf00a5c-f577-43dc-8064-9968cad83607" providerId="AD" clId="Web-{6A0E9657-C13D-79BB-B8C8-4729EE9FF86B}"/>
    <pc:docChg chg="modSld">
      <pc:chgData name="Soraya Salazar" userId="S::soraya.salazar@kibernumacademy.com::fdf00a5c-f577-43dc-8064-9968cad83607" providerId="AD" clId="Web-{6A0E9657-C13D-79BB-B8C8-4729EE9FF86B}" dt="2025-09-26T12:10:15.177" v="1" actId="20577"/>
      <pc:docMkLst>
        <pc:docMk/>
      </pc:docMkLst>
      <pc:sldChg chg="modSp">
        <pc:chgData name="Soraya Salazar" userId="S::soraya.salazar@kibernumacademy.com::fdf00a5c-f577-43dc-8064-9968cad83607" providerId="AD" clId="Web-{6A0E9657-C13D-79BB-B8C8-4729EE9FF86B}" dt="2025-09-26T12:10:15.177" v="1" actId="20577"/>
        <pc:sldMkLst>
          <pc:docMk/>
          <pc:sldMk cId="0" sldId="256"/>
        </pc:sldMkLst>
        <pc:spChg chg="mod">
          <ac:chgData name="Soraya Salazar" userId="S::soraya.salazar@kibernumacademy.com::fdf00a5c-f577-43dc-8064-9968cad83607" providerId="AD" clId="Web-{6A0E9657-C13D-79BB-B8C8-4729EE9FF86B}" dt="2025-09-26T12:10:15.177" v="1" actId="20577"/>
          <ac:spMkLst>
            <pc:docMk/>
            <pc:sldMk cId="0" sldId="256"/>
            <ac:spMk id="9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s-ES"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95" name="Google Shape;9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06" name="Google Shape;10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16" name="Google Shape;116;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3" name="Google Shape;123;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30" name="Google Shape;130;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44" name="Google Shape;14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53" name="Google Shape;153;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62" name="Google Shape;162;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69" name="Google Shape;169;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79" name="Google Shape;179;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89" name="Google Shape;189;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9" name="Google Shape;199;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ES"/>
              <a:t>https://www.medwave.cl/link.cgi/Medwave/Series/MBE04/4934#:~:text=Las%20medidas%20de%20tendencia%20central,%3A%20media%2C%20mediana%20y%20moda.</a:t>
            </a:r>
            <a:endParaRPr/>
          </a:p>
          <a:p>
            <a:pPr marL="0" lvl="0" indent="0" algn="l" rtl="0">
              <a:spcBef>
                <a:spcPts val="360"/>
              </a:spcBef>
              <a:spcAft>
                <a:spcPts val="0"/>
              </a:spcAft>
              <a:buNone/>
            </a:pPr>
            <a:r>
              <a:rPr lang="es-ES"/>
              <a:t>https://www.ritchieng.com/pandas-variability/</a:t>
            </a:r>
            <a:endParaRPr/>
          </a:p>
          <a:p>
            <a:pPr marL="0" lvl="0" indent="0" algn="l" rtl="0">
              <a:spcBef>
                <a:spcPts val="360"/>
              </a:spcBef>
              <a:spcAft>
                <a:spcPts val="0"/>
              </a:spcAft>
              <a:buNone/>
            </a:pPr>
            <a:r>
              <a:rPr lang="es-ES"/>
              <a:t>https://es.wikipedia.org/wiki/Correcci%C3%B3n_de_Bessel</a:t>
            </a:r>
            <a:endParaRPr/>
          </a:p>
          <a:p>
            <a:pPr marL="0" lvl="0" indent="0" algn="l" rtl="0">
              <a:spcBef>
                <a:spcPts val="360"/>
              </a:spcBef>
              <a:spcAft>
                <a:spcPts val="0"/>
              </a:spcAft>
              <a:buNone/>
            </a:pPr>
            <a:endParaRPr/>
          </a:p>
        </p:txBody>
      </p:sp>
      <p:sp>
        <p:nvSpPr>
          <p:cNvPr id="200" name="Google Shape;200;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8" name="Google Shape;208;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ES"/>
              <a:t>https://www.medwave.cl/link.cgi/Medwave/Series/MBE04/4934#:~:text=Las%20medidas%20de%20tendencia%20central,%3A%20media%2C%20mediana%20y%20moda.</a:t>
            </a:r>
            <a:endParaRPr/>
          </a:p>
          <a:p>
            <a:pPr marL="0" lvl="0" indent="0" algn="l" rtl="0">
              <a:spcBef>
                <a:spcPts val="360"/>
              </a:spcBef>
              <a:spcAft>
                <a:spcPts val="0"/>
              </a:spcAft>
              <a:buNone/>
            </a:pPr>
            <a:r>
              <a:rPr lang="es-ES"/>
              <a:t>https://www.ritchieng.com/pandas-variability/</a:t>
            </a:r>
            <a:endParaRPr/>
          </a:p>
          <a:p>
            <a:pPr marL="0" lvl="0" indent="0" algn="l" rtl="0">
              <a:spcBef>
                <a:spcPts val="360"/>
              </a:spcBef>
              <a:spcAft>
                <a:spcPts val="0"/>
              </a:spcAft>
              <a:buNone/>
            </a:pPr>
            <a:r>
              <a:rPr lang="es-ES"/>
              <a:t>https://es.wikipedia.org/wiki/Correcci%C3%B3n_de_Bessel</a:t>
            </a:r>
            <a:endParaRPr/>
          </a:p>
          <a:p>
            <a:pPr marL="0" lvl="0" indent="0" algn="l" rtl="0">
              <a:spcBef>
                <a:spcPts val="360"/>
              </a:spcBef>
              <a:spcAft>
                <a:spcPts val="0"/>
              </a:spcAft>
              <a:buNone/>
            </a:pPr>
            <a:endParaRPr/>
          </a:p>
        </p:txBody>
      </p:sp>
      <p:sp>
        <p:nvSpPr>
          <p:cNvPr id="209" name="Google Shape;209;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22" name="Google Shape;222;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31" name="Google Shape;231;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38" name="Google Shape;238;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67" name="Google Shape;267;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96" name="Google Shape;296;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35" name="Google Shape;335;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44" name="Google Shape;344;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55" name="Google Shape;355;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69" name="Google Shape;369;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78" name="Google Shape;378;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02" name="Google Shape;402;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11" name="Google Shape;411;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21" name="Google Shape;421;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27" name="Google Shape;427;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5"/>
        <p:cNvGrpSpPr/>
        <p:nvPr/>
      </p:nvGrpSpPr>
      <p:grpSpPr>
        <a:xfrm>
          <a:off x="0" y="0"/>
          <a:ext cx="0" cy="0"/>
          <a:chOff x="0" y="0"/>
          <a:chExt cx="0" cy="0"/>
        </a:xfrm>
      </p:grpSpPr>
      <p:sp>
        <p:nvSpPr>
          <p:cNvPr id="16" name="Google Shape;16;p30"/>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7" name="Google Shape;17;p30"/>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b="0" i="0" u="none" strike="noStrike" cap="none">
                <a:solidFill>
                  <a:srgbClr val="898989"/>
                </a:solidFill>
                <a:latin typeface="Calibri"/>
                <a:ea typeface="Calibri"/>
                <a:cs typeface="Calibri"/>
                <a:sym typeface="Calibri"/>
              </a:defRPr>
            </a:lvl1pPr>
            <a:lvl2pPr marL="0" lvl="1" indent="0" algn="r">
              <a:spcBef>
                <a:spcPts val="0"/>
              </a:spcBef>
              <a:spcAft>
                <a:spcPts val="0"/>
              </a:spcAft>
              <a:buNone/>
              <a:defRPr sz="1200" b="0" i="0" u="none" strike="noStrike" cap="none">
                <a:solidFill>
                  <a:srgbClr val="898989"/>
                </a:solidFill>
                <a:latin typeface="Calibri"/>
                <a:ea typeface="Calibri"/>
                <a:cs typeface="Calibri"/>
                <a:sym typeface="Calibri"/>
              </a:defRPr>
            </a:lvl2pPr>
            <a:lvl3pPr marL="0" lvl="2" indent="0" algn="r">
              <a:spcBef>
                <a:spcPts val="0"/>
              </a:spcBef>
              <a:spcAft>
                <a:spcPts val="0"/>
              </a:spcAft>
              <a:buNone/>
              <a:defRPr sz="1200" b="0" i="0" u="none" strike="noStrike" cap="none">
                <a:solidFill>
                  <a:srgbClr val="898989"/>
                </a:solidFill>
                <a:latin typeface="Calibri"/>
                <a:ea typeface="Calibri"/>
                <a:cs typeface="Calibri"/>
                <a:sym typeface="Calibri"/>
              </a:defRPr>
            </a:lvl3pPr>
            <a:lvl4pPr marL="0" lvl="3" indent="0" algn="r">
              <a:spcBef>
                <a:spcPts val="0"/>
              </a:spcBef>
              <a:spcAft>
                <a:spcPts val="0"/>
              </a:spcAft>
              <a:buNone/>
              <a:defRPr sz="1200" b="0" i="0" u="none" strike="noStrike" cap="none">
                <a:solidFill>
                  <a:srgbClr val="898989"/>
                </a:solidFill>
                <a:latin typeface="Calibri"/>
                <a:ea typeface="Calibri"/>
                <a:cs typeface="Calibri"/>
                <a:sym typeface="Calibri"/>
              </a:defRPr>
            </a:lvl4pPr>
            <a:lvl5pPr marL="0" lvl="4" indent="0" algn="r">
              <a:spcBef>
                <a:spcPts val="0"/>
              </a:spcBef>
              <a:spcAft>
                <a:spcPts val="0"/>
              </a:spcAft>
              <a:buNone/>
              <a:defRPr sz="1200" b="0" i="0" u="none" strike="noStrike" cap="none">
                <a:solidFill>
                  <a:srgbClr val="898989"/>
                </a:solidFill>
                <a:latin typeface="Calibri"/>
                <a:ea typeface="Calibri"/>
                <a:cs typeface="Calibri"/>
                <a:sym typeface="Calibri"/>
              </a:defRPr>
            </a:lvl5pPr>
            <a:lvl6pPr marL="0" lvl="5" indent="0" algn="r">
              <a:spcBef>
                <a:spcPts val="0"/>
              </a:spcBef>
              <a:spcAft>
                <a:spcPts val="0"/>
              </a:spcAft>
              <a:buNone/>
              <a:defRPr sz="1200" b="0" i="0" u="none" strike="noStrike" cap="none">
                <a:solidFill>
                  <a:srgbClr val="898989"/>
                </a:solidFill>
                <a:latin typeface="Calibri"/>
                <a:ea typeface="Calibri"/>
                <a:cs typeface="Calibri"/>
                <a:sym typeface="Calibri"/>
              </a:defRPr>
            </a:lvl6pPr>
            <a:lvl7pPr marL="0" lvl="6" indent="0" algn="r">
              <a:spcBef>
                <a:spcPts val="0"/>
              </a:spcBef>
              <a:spcAft>
                <a:spcPts val="0"/>
              </a:spcAft>
              <a:buNone/>
              <a:defRPr sz="1200" b="0" i="0" u="none" strike="noStrike" cap="none">
                <a:solidFill>
                  <a:srgbClr val="898989"/>
                </a:solidFill>
                <a:latin typeface="Calibri"/>
                <a:ea typeface="Calibri"/>
                <a:cs typeface="Calibri"/>
                <a:sym typeface="Calibri"/>
              </a:defRPr>
            </a:lvl7pPr>
            <a:lvl8pPr marL="0" lvl="7" indent="0" algn="r">
              <a:spcBef>
                <a:spcPts val="0"/>
              </a:spcBef>
              <a:spcAft>
                <a:spcPts val="0"/>
              </a:spcAft>
              <a:buNone/>
              <a:defRPr sz="1200" b="0" i="0" u="none" strike="noStrike" cap="none">
                <a:solidFill>
                  <a:srgbClr val="898989"/>
                </a:solidFill>
                <a:latin typeface="Calibri"/>
                <a:ea typeface="Calibri"/>
                <a:cs typeface="Calibri"/>
                <a:sym typeface="Calibri"/>
              </a:defRPr>
            </a:lvl8pPr>
            <a:lvl9pPr marL="0" lvl="8" indent="0" algn="r">
              <a:spcBef>
                <a:spcPts val="0"/>
              </a:spcBef>
              <a:spcAft>
                <a:spcPts val="0"/>
              </a:spcAft>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21"/>
        <p:cNvGrpSpPr/>
        <p:nvPr/>
      </p:nvGrpSpPr>
      <p:grpSpPr>
        <a:xfrm>
          <a:off x="0" y="0"/>
          <a:ext cx="0" cy="0"/>
          <a:chOff x="0" y="0"/>
          <a:chExt cx="0" cy="0"/>
        </a:xfrm>
      </p:grpSpPr>
      <p:sp>
        <p:nvSpPr>
          <p:cNvPr id="22" name="Google Shape;22;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3" name="Google Shape;23;p3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27"/>
        <p:cNvGrpSpPr/>
        <p:nvPr/>
      </p:nvGrpSpPr>
      <p:grpSpPr>
        <a:xfrm>
          <a:off x="0" y="0"/>
          <a:ext cx="0" cy="0"/>
          <a:chOff x="0" y="0"/>
          <a:chExt cx="0" cy="0"/>
        </a:xfrm>
      </p:grpSpPr>
      <p:sp>
        <p:nvSpPr>
          <p:cNvPr id="28" name="Google Shape;28;p32"/>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9" name="Google Shape;29;p32"/>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33"/>
        <p:cNvGrpSpPr/>
        <p:nvPr/>
      </p:nvGrpSpPr>
      <p:grpSpPr>
        <a:xfrm>
          <a:off x="0" y="0"/>
          <a:ext cx="0" cy="0"/>
          <a:chOff x="0" y="0"/>
          <a:chExt cx="0" cy="0"/>
        </a:xfrm>
      </p:grpSpPr>
      <p:sp>
        <p:nvSpPr>
          <p:cNvPr id="34" name="Google Shape;34;p3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5" name="Google Shape;35;p33"/>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33"/>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40"/>
        <p:cNvGrpSpPr/>
        <p:nvPr/>
      </p:nvGrpSpPr>
      <p:grpSpPr>
        <a:xfrm>
          <a:off x="0" y="0"/>
          <a:ext cx="0" cy="0"/>
          <a:chOff x="0" y="0"/>
          <a:chExt cx="0" cy="0"/>
        </a:xfrm>
      </p:grpSpPr>
      <p:sp>
        <p:nvSpPr>
          <p:cNvPr id="41" name="Google Shape;41;p34"/>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42" name="Google Shape;42;p34"/>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34"/>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34"/>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34"/>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49"/>
        <p:cNvGrpSpPr/>
        <p:nvPr/>
      </p:nvGrpSpPr>
      <p:grpSpPr>
        <a:xfrm>
          <a:off x="0" y="0"/>
          <a:ext cx="0" cy="0"/>
          <a:chOff x="0" y="0"/>
          <a:chExt cx="0" cy="0"/>
        </a:xfrm>
      </p:grpSpPr>
      <p:sp>
        <p:nvSpPr>
          <p:cNvPr id="50" name="Google Shape;50;p3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51" name="Google Shape;51;p3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3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54"/>
        <p:cNvGrpSpPr/>
        <p:nvPr/>
      </p:nvGrpSpPr>
      <p:grpSpPr>
        <a:xfrm>
          <a:off x="0" y="0"/>
          <a:ext cx="0" cy="0"/>
          <a:chOff x="0" y="0"/>
          <a:chExt cx="0" cy="0"/>
        </a:xfrm>
      </p:grpSpPr>
      <p:sp>
        <p:nvSpPr>
          <p:cNvPr id="55" name="Google Shape;55;p3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3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58"/>
        <p:cNvGrpSpPr/>
        <p:nvPr/>
      </p:nvGrpSpPr>
      <p:grpSpPr>
        <a:xfrm>
          <a:off x="0" y="0"/>
          <a:ext cx="0" cy="0"/>
          <a:chOff x="0" y="0"/>
          <a:chExt cx="0" cy="0"/>
        </a:xfrm>
      </p:grpSpPr>
      <p:sp>
        <p:nvSpPr>
          <p:cNvPr id="59" name="Google Shape;59;p3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60" name="Google Shape;60;p37"/>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37"/>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3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3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3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65"/>
        <p:cNvGrpSpPr/>
        <p:nvPr/>
      </p:nvGrpSpPr>
      <p:grpSpPr>
        <a:xfrm>
          <a:off x="0" y="0"/>
          <a:ext cx="0" cy="0"/>
          <a:chOff x="0" y="0"/>
          <a:chExt cx="0" cy="0"/>
        </a:xfrm>
      </p:grpSpPr>
      <p:sp>
        <p:nvSpPr>
          <p:cNvPr id="66" name="Google Shape;66;p3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67" name="Google Shape;67;p38"/>
          <p:cNvSpPr>
            <a:spLocks noGrp="1"/>
          </p:cNvSpPr>
          <p:nvPr>
            <p:ph type="pic" idx="2"/>
          </p:nvPr>
        </p:nvSpPr>
        <p:spPr>
          <a:xfrm>
            <a:off x="5183188" y="987425"/>
            <a:ext cx="6172200" cy="4873625"/>
          </a:xfrm>
          <a:prstGeom prst="rect">
            <a:avLst/>
          </a:prstGeom>
          <a:noFill/>
          <a:ln>
            <a:noFill/>
          </a:ln>
        </p:spPr>
      </p:sp>
      <p:sp>
        <p:nvSpPr>
          <p:cNvPr id="68" name="Google Shape;68;p38"/>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3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3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72"/>
        <p:cNvGrpSpPr/>
        <p:nvPr/>
      </p:nvGrpSpPr>
      <p:grpSpPr>
        <a:xfrm>
          <a:off x="0" y="0"/>
          <a:ext cx="0" cy="0"/>
          <a:chOff x="0" y="0"/>
          <a:chExt cx="0" cy="0"/>
        </a:xfrm>
      </p:grpSpPr>
      <p:sp>
        <p:nvSpPr>
          <p:cNvPr id="73" name="Google Shape;73;p3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74" name="Google Shape;74;p39"/>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3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3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3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78"/>
        <p:cNvGrpSpPr/>
        <p:nvPr/>
      </p:nvGrpSpPr>
      <p:grpSpPr>
        <a:xfrm>
          <a:off x="0" y="0"/>
          <a:ext cx="0" cy="0"/>
          <a:chOff x="0" y="0"/>
          <a:chExt cx="0" cy="0"/>
        </a:xfrm>
      </p:grpSpPr>
      <p:sp>
        <p:nvSpPr>
          <p:cNvPr id="79" name="Google Shape;79;p40"/>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80" name="Google Shape;80;p40"/>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4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4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4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9"/>
        <p:cNvGrpSpPr/>
        <p:nvPr/>
      </p:nvGrpSpPr>
      <p:grpSpPr>
        <a:xfrm>
          <a:off x="0" y="0"/>
          <a:ext cx="0" cy="0"/>
          <a:chOff x="0" y="0"/>
          <a:chExt cx="0" cy="0"/>
        </a:xfrm>
      </p:grpSpPr>
      <p:sp>
        <p:nvSpPr>
          <p:cNvPr id="10" name="Google Shape;10;p2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11" name="Google Shape;11;p2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200" b="0" i="0" u="none" strike="noStrike" cap="none">
                <a:solidFill>
                  <a:srgbClr val="898989"/>
                </a:solidFill>
                <a:latin typeface="Calibri"/>
                <a:ea typeface="Calibri"/>
                <a:cs typeface="Calibri"/>
                <a:sym typeface="Calibri"/>
              </a:defRPr>
            </a:lvl1pPr>
            <a:lvl2pPr marL="0" marR="0" lvl="1" indent="0" algn="r" rtl="0">
              <a:spcBef>
                <a:spcPts val="0"/>
              </a:spcBef>
              <a:spcAft>
                <a:spcPts val="0"/>
              </a:spcAft>
              <a:buNone/>
              <a:defRPr sz="1200" b="0" i="0" u="none" strike="noStrike" cap="none">
                <a:solidFill>
                  <a:srgbClr val="898989"/>
                </a:solidFill>
                <a:latin typeface="Calibri"/>
                <a:ea typeface="Calibri"/>
                <a:cs typeface="Calibri"/>
                <a:sym typeface="Calibri"/>
              </a:defRPr>
            </a:lvl2pPr>
            <a:lvl3pPr marL="0" marR="0" lvl="2" indent="0" algn="r" rtl="0">
              <a:spcBef>
                <a:spcPts val="0"/>
              </a:spcBef>
              <a:spcAft>
                <a:spcPts val="0"/>
              </a:spcAft>
              <a:buNone/>
              <a:defRPr sz="1200" b="0" i="0" u="none" strike="noStrike" cap="none">
                <a:solidFill>
                  <a:srgbClr val="898989"/>
                </a:solidFill>
                <a:latin typeface="Calibri"/>
                <a:ea typeface="Calibri"/>
                <a:cs typeface="Calibri"/>
                <a:sym typeface="Calibri"/>
              </a:defRPr>
            </a:lvl3pPr>
            <a:lvl4pPr marL="0" marR="0" lvl="3" indent="0" algn="r" rtl="0">
              <a:spcBef>
                <a:spcPts val="0"/>
              </a:spcBef>
              <a:spcAft>
                <a:spcPts val="0"/>
              </a:spcAft>
              <a:buNone/>
              <a:defRPr sz="1200" b="0" i="0" u="none" strike="noStrike" cap="none">
                <a:solidFill>
                  <a:srgbClr val="898989"/>
                </a:solidFill>
                <a:latin typeface="Calibri"/>
                <a:ea typeface="Calibri"/>
                <a:cs typeface="Calibri"/>
                <a:sym typeface="Calibri"/>
              </a:defRPr>
            </a:lvl4pPr>
            <a:lvl5pPr marL="0" marR="0" lvl="4" indent="0" algn="r" rtl="0">
              <a:spcBef>
                <a:spcPts val="0"/>
              </a:spcBef>
              <a:spcAft>
                <a:spcPts val="0"/>
              </a:spcAft>
              <a:buNone/>
              <a:defRPr sz="1200" b="0" i="0" u="none" strike="noStrike" cap="none">
                <a:solidFill>
                  <a:srgbClr val="898989"/>
                </a:solidFill>
                <a:latin typeface="Calibri"/>
                <a:ea typeface="Calibri"/>
                <a:cs typeface="Calibri"/>
                <a:sym typeface="Calibri"/>
              </a:defRPr>
            </a:lvl5pPr>
            <a:lvl6pPr marL="0" marR="0" lvl="5" indent="0" algn="r" rtl="0">
              <a:spcBef>
                <a:spcPts val="0"/>
              </a:spcBef>
              <a:spcAft>
                <a:spcPts val="0"/>
              </a:spcAft>
              <a:buNone/>
              <a:defRPr sz="1200" b="0" i="0" u="none" strike="noStrike" cap="none">
                <a:solidFill>
                  <a:srgbClr val="898989"/>
                </a:solidFill>
                <a:latin typeface="Calibri"/>
                <a:ea typeface="Calibri"/>
                <a:cs typeface="Calibri"/>
                <a:sym typeface="Calibri"/>
              </a:defRPr>
            </a:lvl6pPr>
            <a:lvl7pPr marL="0" marR="0" lvl="6" indent="0" algn="r" rtl="0">
              <a:spcBef>
                <a:spcPts val="0"/>
              </a:spcBef>
              <a:spcAft>
                <a:spcPts val="0"/>
              </a:spcAft>
              <a:buNone/>
              <a:defRPr sz="1200" b="0" i="0" u="none" strike="noStrike" cap="none">
                <a:solidFill>
                  <a:srgbClr val="898989"/>
                </a:solidFill>
                <a:latin typeface="Calibri"/>
                <a:ea typeface="Calibri"/>
                <a:cs typeface="Calibri"/>
                <a:sym typeface="Calibri"/>
              </a:defRPr>
            </a:lvl7pPr>
            <a:lvl8pPr marL="0" marR="0" lvl="7" indent="0" algn="r" rtl="0">
              <a:spcBef>
                <a:spcPts val="0"/>
              </a:spcBef>
              <a:spcAft>
                <a:spcPts val="0"/>
              </a:spcAft>
              <a:buNone/>
              <a:defRPr sz="1200" b="0" i="0" u="none" strike="noStrike" cap="none">
                <a:solidFill>
                  <a:srgbClr val="898989"/>
                </a:solidFill>
                <a:latin typeface="Calibri"/>
                <a:ea typeface="Calibri"/>
                <a:cs typeface="Calibri"/>
                <a:sym typeface="Calibri"/>
              </a:defRPr>
            </a:lvl8pPr>
            <a:lvl9pPr marL="0" marR="0" lvl="8" indent="0" algn="r" rtl="0">
              <a:spcBef>
                <a:spcPts val="0"/>
              </a:spcBef>
              <a:spcAft>
                <a:spcPts val="0"/>
              </a:spcAft>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19.png"/><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17.png"/><Relationship Id="rId7" Type="http://schemas.openxmlformats.org/officeDocument/2006/relationships/image" Target="../media/image26.png"/><Relationship Id="rId12" Type="http://schemas.openxmlformats.org/officeDocument/2006/relationships/image" Target="../media/image31.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25.png"/><Relationship Id="rId11" Type="http://schemas.openxmlformats.org/officeDocument/2006/relationships/image" Target="../media/image30.png"/><Relationship Id="rId5" Type="http://schemas.openxmlformats.org/officeDocument/2006/relationships/image" Target="../media/image24.png"/><Relationship Id="rId10"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28.png"/></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2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2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88" name="Google Shape;88;p1" descr="Patrón de fondo&#10;&#10;Descripción generada automáticamente con confianza baja"/>
          <p:cNvPicPr preferRelativeResize="0"/>
          <p:nvPr/>
        </p:nvPicPr>
        <p:blipFill rotWithShape="1">
          <a:blip r:embed="rId3">
            <a:alphaModFix/>
          </a:blip>
          <a:srcRect/>
          <a:stretch/>
        </p:blipFill>
        <p:spPr>
          <a:xfrm>
            <a:off x="0" y="0"/>
            <a:ext cx="12192000" cy="7006642"/>
          </a:xfrm>
          <a:prstGeom prst="rect">
            <a:avLst/>
          </a:prstGeom>
          <a:noFill/>
          <a:ln>
            <a:noFill/>
          </a:ln>
        </p:spPr>
      </p:pic>
      <p:sp>
        <p:nvSpPr>
          <p:cNvPr id="89" name="Google Shape;89;p1"/>
          <p:cNvSpPr/>
          <p:nvPr/>
        </p:nvSpPr>
        <p:spPr>
          <a:xfrm>
            <a:off x="3890331" y="3715090"/>
            <a:ext cx="7230251" cy="1655893"/>
          </a:xfrm>
          <a:prstGeom prst="roundRect">
            <a:avLst>
              <a:gd name="adj" fmla="val 7874"/>
            </a:avLst>
          </a:prstGeom>
          <a:solidFill>
            <a:schemeClr val="dk1">
              <a:alpha val="75686"/>
            </a:schemeClr>
          </a:solidFill>
          <a:ln>
            <a:noFill/>
          </a:ln>
        </p:spPr>
        <p:txBody>
          <a:bodyPr spcFirstLastPara="1" wrap="square" lIns="91425" tIns="45700" rIns="540000" bIns="45700" anchor="ctr" anchorCtr="0">
            <a:noAutofit/>
          </a:bodyPr>
          <a:lstStyle/>
          <a:p>
            <a:pPr marL="0" marR="0" lvl="0" indent="0" algn="ctr" rtl="0">
              <a:spcBef>
                <a:spcPts val="0"/>
              </a:spcBef>
              <a:spcAft>
                <a:spcPts val="0"/>
              </a:spcAft>
              <a:buNone/>
            </a:pPr>
            <a:endParaRPr sz="2800" b="1" i="0" u="none" strike="noStrike" cap="none">
              <a:solidFill>
                <a:schemeClr val="lt1"/>
              </a:solidFill>
              <a:latin typeface="Calibri"/>
              <a:ea typeface="Calibri"/>
              <a:cs typeface="Calibri"/>
              <a:sym typeface="Calibri"/>
            </a:endParaRPr>
          </a:p>
        </p:txBody>
      </p:sp>
      <p:sp>
        <p:nvSpPr>
          <p:cNvPr id="90" name="Google Shape;90;p1"/>
          <p:cNvSpPr txBox="1">
            <a:spLocks noGrp="1"/>
          </p:cNvSpPr>
          <p:nvPr>
            <p:ph type="ctrTitle"/>
          </p:nvPr>
        </p:nvSpPr>
        <p:spPr>
          <a:xfrm>
            <a:off x="4241313" y="4027919"/>
            <a:ext cx="6262891" cy="844598"/>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None/>
            </a:pPr>
            <a:br>
              <a:rPr lang="es-ES" sz="5000" b="1">
                <a:solidFill>
                  <a:schemeClr val="lt1"/>
                </a:solidFill>
                <a:latin typeface="Arial"/>
                <a:ea typeface="Arial"/>
                <a:cs typeface="Arial"/>
                <a:sym typeface="Arial"/>
              </a:rPr>
            </a:br>
            <a:r>
              <a:rPr lang="es-ES" sz="5000" b="1">
                <a:solidFill>
                  <a:schemeClr val="lt1"/>
                </a:solidFill>
                <a:latin typeface="Arial"/>
                <a:ea typeface="Arial"/>
                <a:cs typeface="Arial"/>
                <a:sym typeface="Arial"/>
              </a:rPr>
              <a:t>Análisis Univariado</a:t>
            </a:r>
            <a:endParaRPr sz="3000" b="1">
              <a:solidFill>
                <a:schemeClr val="lt1"/>
              </a:solidFill>
              <a:latin typeface="Arial"/>
              <a:ea typeface="Arial"/>
              <a:cs typeface="Arial"/>
              <a:sym typeface="Arial"/>
            </a:endParaRPr>
          </a:p>
        </p:txBody>
      </p:sp>
      <p:sp>
        <p:nvSpPr>
          <p:cNvPr id="92" name="Google Shape;92;p1"/>
          <p:cNvSpPr txBox="1"/>
          <p:nvPr/>
        </p:nvSpPr>
        <p:spPr>
          <a:xfrm>
            <a:off x="4241313" y="3134167"/>
            <a:ext cx="7022779" cy="369291"/>
          </a:xfrm>
          <a:prstGeom prst="rect">
            <a:avLst/>
          </a:prstGeom>
          <a:noFill/>
          <a:ln>
            <a:noFill/>
          </a:ln>
        </p:spPr>
        <p:txBody>
          <a:bodyPr spcFirstLastPara="1" wrap="square" lIns="91425" tIns="45700" rIns="91425" bIns="45700" anchor="t" anchorCtr="0">
            <a:spAutoFit/>
          </a:bodyPr>
          <a:lstStyle/>
          <a:p>
            <a:pPr>
              <a:buClr>
                <a:schemeClr val="lt1"/>
              </a:buClr>
              <a:buSzPts val="1800"/>
            </a:pPr>
            <a:r>
              <a:rPr lang="es-ES" sz="1800" b="1">
                <a:solidFill>
                  <a:schemeClr val="lt1"/>
                </a:solidFill>
              </a:rPr>
              <a:t> </a:t>
            </a:r>
            <a:r>
              <a:rPr lang="es-ES" sz="1800" b="1">
                <a:solidFill>
                  <a:schemeClr val="lt1"/>
                </a:solidFill>
                <a:latin typeface="Arial"/>
                <a:ea typeface="Arial"/>
                <a:cs typeface="Arial"/>
                <a:sym typeface="Arial"/>
              </a:rPr>
              <a:t>Análisis Exploratorio y Programación Estadística</a:t>
            </a:r>
            <a:endParaRPr sz="1800">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90"/>
                                        </p:tgtEl>
                                        <p:attrNameLst>
                                          <p:attrName>style.visibility</p:attrName>
                                        </p:attrNameLst>
                                      </p:cBhvr>
                                      <p:to>
                                        <p:strVal val="visible"/>
                                      </p:to>
                                    </p:set>
                                    <p:animEffect transition="in" filter="fade">
                                      <p:cBhvr>
                                        <p:cTn id="7" dur="500"/>
                                        <p:tgtEl>
                                          <p:spTgt spid="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2"/>
          <p:cNvSpPr/>
          <p:nvPr/>
        </p:nvSpPr>
        <p:spPr>
          <a:xfrm>
            <a:off x="6068290" y="-277106"/>
            <a:ext cx="4557668" cy="5877097"/>
          </a:xfrm>
          <a:prstGeom prst="roundRect">
            <a:avLst>
              <a:gd name="adj" fmla="val 2778"/>
            </a:avLst>
          </a:prstGeom>
          <a:gradFill>
            <a:gsLst>
              <a:gs pos="0">
                <a:srgbClr val="541844"/>
              </a:gs>
              <a:gs pos="50000">
                <a:srgbClr val="7A2363"/>
              </a:gs>
              <a:gs pos="100000">
                <a:srgbClr val="932B78"/>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8" name="Google Shape;98;p2"/>
          <p:cNvSpPr txBox="1"/>
          <p:nvPr/>
        </p:nvSpPr>
        <p:spPr>
          <a:xfrm>
            <a:off x="236059" y="469681"/>
            <a:ext cx="5293474" cy="1008062"/>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s-ES" sz="3200">
                <a:solidFill>
                  <a:srgbClr val="7F7F7F"/>
                </a:solidFill>
                <a:latin typeface="Arial"/>
                <a:ea typeface="Arial"/>
                <a:cs typeface="Arial"/>
                <a:sym typeface="Arial"/>
              </a:rPr>
              <a:t>Objetivos</a:t>
            </a:r>
            <a:endParaRPr/>
          </a:p>
        </p:txBody>
      </p:sp>
      <p:sp>
        <p:nvSpPr>
          <p:cNvPr id="99" name="Google Shape;99;p2"/>
          <p:cNvSpPr txBox="1"/>
          <p:nvPr/>
        </p:nvSpPr>
        <p:spPr>
          <a:xfrm>
            <a:off x="6184979" y="1659284"/>
            <a:ext cx="4324289" cy="3477875"/>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rgbClr val="FFFFFF"/>
              </a:buClr>
              <a:buSzPts val="2000"/>
              <a:buFont typeface="Arial"/>
              <a:buChar char="•"/>
            </a:pPr>
            <a:r>
              <a:rPr lang="es-ES" sz="2000">
                <a:solidFill>
                  <a:srgbClr val="FFFFFF"/>
                </a:solidFill>
                <a:latin typeface="Calibri"/>
                <a:ea typeface="Calibri"/>
                <a:cs typeface="Calibri"/>
                <a:sym typeface="Calibri"/>
              </a:rPr>
              <a:t>Explicar en qué consiste el análisis de datos univariado.</a:t>
            </a:r>
            <a:endParaRPr sz="2000">
              <a:solidFill>
                <a:schemeClr val="dk1"/>
              </a:solidFill>
              <a:latin typeface="Calibri"/>
              <a:ea typeface="Calibri"/>
              <a:cs typeface="Calibri"/>
              <a:sym typeface="Calibri"/>
            </a:endParaRPr>
          </a:p>
          <a:p>
            <a:pPr marL="342900" marR="0" lvl="0" indent="-215900" algn="l" rtl="0">
              <a:spcBef>
                <a:spcPts val="0"/>
              </a:spcBef>
              <a:spcAft>
                <a:spcPts val="0"/>
              </a:spcAft>
              <a:buClr>
                <a:srgbClr val="FFFFFF"/>
              </a:buClr>
              <a:buSzPts val="2000"/>
              <a:buFont typeface="Arial"/>
              <a:buNone/>
            </a:pPr>
            <a:endParaRPr sz="2000">
              <a:solidFill>
                <a:schemeClr val="dk1"/>
              </a:solidFill>
              <a:latin typeface="Calibri"/>
              <a:ea typeface="Calibri"/>
              <a:cs typeface="Calibri"/>
              <a:sym typeface="Calibri"/>
            </a:endParaRPr>
          </a:p>
          <a:p>
            <a:pPr marL="342900" marR="0" lvl="0" indent="-342900" algn="l" rtl="0">
              <a:spcBef>
                <a:spcPts val="0"/>
              </a:spcBef>
              <a:spcAft>
                <a:spcPts val="0"/>
              </a:spcAft>
              <a:buClr>
                <a:srgbClr val="FFFFFF"/>
              </a:buClr>
              <a:buSzPts val="2000"/>
              <a:buFont typeface="Arial"/>
              <a:buChar char="•"/>
            </a:pPr>
            <a:r>
              <a:rPr lang="es-ES" sz="2000">
                <a:solidFill>
                  <a:srgbClr val="FFFFFF"/>
                </a:solidFill>
                <a:latin typeface="Calibri"/>
                <a:ea typeface="Calibri"/>
                <a:cs typeface="Calibri"/>
                <a:sym typeface="Calibri"/>
              </a:rPr>
              <a:t>Distinguir medidas de tendencia central, dispersión y posición.</a:t>
            </a:r>
            <a:endParaRPr sz="2000">
              <a:solidFill>
                <a:schemeClr val="dk1"/>
              </a:solidFill>
              <a:latin typeface="Calibri"/>
              <a:ea typeface="Calibri"/>
              <a:cs typeface="Calibri"/>
              <a:sym typeface="Calibri"/>
            </a:endParaRPr>
          </a:p>
          <a:p>
            <a:pPr marL="342900" marR="0" lvl="0" indent="-215900" algn="l" rtl="0">
              <a:spcBef>
                <a:spcPts val="0"/>
              </a:spcBef>
              <a:spcAft>
                <a:spcPts val="0"/>
              </a:spcAft>
              <a:buClr>
                <a:srgbClr val="FFFFFF"/>
              </a:buClr>
              <a:buSzPts val="2000"/>
              <a:buFont typeface="Arial"/>
              <a:buNone/>
            </a:pPr>
            <a:endParaRPr sz="2000">
              <a:solidFill>
                <a:schemeClr val="dk1"/>
              </a:solidFill>
              <a:latin typeface="Calibri"/>
              <a:ea typeface="Calibri"/>
              <a:cs typeface="Calibri"/>
              <a:sym typeface="Calibri"/>
            </a:endParaRPr>
          </a:p>
          <a:p>
            <a:pPr marL="342900" marR="0" lvl="0" indent="-342900" algn="l" rtl="0">
              <a:spcBef>
                <a:spcPts val="0"/>
              </a:spcBef>
              <a:spcAft>
                <a:spcPts val="0"/>
              </a:spcAft>
              <a:buClr>
                <a:srgbClr val="FFFFFF"/>
              </a:buClr>
              <a:buSzPts val="2000"/>
              <a:buFont typeface="Arial"/>
              <a:buChar char="•"/>
            </a:pPr>
            <a:r>
              <a:rPr lang="es-ES" sz="2000">
                <a:solidFill>
                  <a:srgbClr val="FFFFFF"/>
                </a:solidFill>
                <a:latin typeface="Calibri"/>
                <a:ea typeface="Calibri"/>
                <a:cs typeface="Calibri"/>
                <a:sym typeface="Calibri"/>
              </a:rPr>
              <a:t>Reconocer diagramas para análisis univariado.</a:t>
            </a:r>
            <a:endParaRPr sz="2000">
              <a:solidFill>
                <a:schemeClr val="dk1"/>
              </a:solidFill>
              <a:latin typeface="Calibri"/>
              <a:ea typeface="Calibri"/>
              <a:cs typeface="Calibri"/>
              <a:sym typeface="Calibri"/>
            </a:endParaRPr>
          </a:p>
          <a:p>
            <a:pPr marL="342900" marR="0" lvl="0" indent="-215900" algn="l" rtl="0">
              <a:spcBef>
                <a:spcPts val="0"/>
              </a:spcBef>
              <a:spcAft>
                <a:spcPts val="0"/>
              </a:spcAft>
              <a:buClr>
                <a:srgbClr val="FFFFFF"/>
              </a:buClr>
              <a:buSzPts val="2000"/>
              <a:buFont typeface="Arial"/>
              <a:buNone/>
            </a:pPr>
            <a:endParaRPr sz="2000">
              <a:solidFill>
                <a:schemeClr val="dk1"/>
              </a:solidFill>
              <a:latin typeface="Calibri"/>
              <a:ea typeface="Calibri"/>
              <a:cs typeface="Calibri"/>
              <a:sym typeface="Calibri"/>
            </a:endParaRPr>
          </a:p>
          <a:p>
            <a:pPr marL="342900" marR="0" lvl="0" indent="-342900" algn="l" rtl="0">
              <a:spcBef>
                <a:spcPts val="0"/>
              </a:spcBef>
              <a:spcAft>
                <a:spcPts val="0"/>
              </a:spcAft>
              <a:buClr>
                <a:srgbClr val="FFFFFF"/>
              </a:buClr>
              <a:buSzPts val="2000"/>
              <a:buFont typeface="Arial"/>
              <a:buChar char="•"/>
            </a:pPr>
            <a:r>
              <a:rPr lang="es-ES" sz="2000">
                <a:solidFill>
                  <a:srgbClr val="FFFFFF"/>
                </a:solidFill>
                <a:latin typeface="Calibri"/>
                <a:ea typeface="Calibri"/>
                <a:cs typeface="Calibri"/>
                <a:sym typeface="Calibri"/>
              </a:rPr>
              <a:t>Implementar análisis univariado en Python.</a:t>
            </a:r>
            <a:endParaRPr sz="2000">
              <a:solidFill>
                <a:schemeClr val="dk1"/>
              </a:solidFill>
              <a:latin typeface="Arial"/>
              <a:ea typeface="Arial"/>
              <a:cs typeface="Arial"/>
              <a:sym typeface="Arial"/>
            </a:endParaRPr>
          </a:p>
        </p:txBody>
      </p:sp>
      <p:grpSp>
        <p:nvGrpSpPr>
          <p:cNvPr id="100" name="Google Shape;100;p2"/>
          <p:cNvGrpSpPr/>
          <p:nvPr/>
        </p:nvGrpSpPr>
        <p:grpSpPr>
          <a:xfrm>
            <a:off x="1120545" y="1659284"/>
            <a:ext cx="3524500" cy="3720972"/>
            <a:chOff x="884486" y="0"/>
            <a:chExt cx="3524500" cy="3720972"/>
          </a:xfrm>
        </p:grpSpPr>
        <p:sp>
          <p:nvSpPr>
            <p:cNvPr id="101" name="Google Shape;101;p2"/>
            <p:cNvSpPr/>
            <p:nvPr/>
          </p:nvSpPr>
          <p:spPr>
            <a:xfrm>
              <a:off x="884486" y="0"/>
              <a:ext cx="3524500" cy="3524500"/>
            </a:xfrm>
            <a:prstGeom prst="ellipse">
              <a:avLst/>
            </a:prstGeom>
            <a:blipFill rotWithShape="1">
              <a:blip r:embed="rId3">
                <a:alphaModFix/>
              </a:blip>
              <a:stretch>
                <a:fillRect l="-24998" r="-24998"/>
              </a:stretch>
            </a:blip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2"/>
            <p:cNvSpPr/>
            <p:nvPr/>
          </p:nvSpPr>
          <p:spPr>
            <a:xfrm flipH="1">
              <a:off x="3413435" y="3516041"/>
              <a:ext cx="97637" cy="204931"/>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2"/>
            <p:cNvSpPr txBox="1"/>
            <p:nvPr/>
          </p:nvSpPr>
          <p:spPr>
            <a:xfrm>
              <a:off x="3413435" y="3516041"/>
              <a:ext cx="97637" cy="204931"/>
            </a:xfrm>
            <a:prstGeom prst="rect">
              <a:avLst/>
            </a:prstGeom>
            <a:noFill/>
            <a:ln>
              <a:noFill/>
            </a:ln>
          </p:spPr>
          <p:txBody>
            <a:bodyPr spcFirstLastPara="1" wrap="square" lIns="0" tIns="0" rIns="0" bIns="0" anchor="b" anchorCtr="0">
              <a:noAutofit/>
            </a:bodyPr>
            <a:lstStyle/>
            <a:p>
              <a:pPr marL="0" marR="0" lvl="0" indent="0" algn="ctr" rtl="0">
                <a:lnSpc>
                  <a:spcPct val="90000"/>
                </a:lnSpc>
                <a:spcBef>
                  <a:spcPts val="0"/>
                </a:spcBef>
                <a:spcAft>
                  <a:spcPts val="0"/>
                </a:spcAft>
                <a:buNone/>
              </a:pPr>
              <a:endParaRPr sz="500">
                <a:solidFill>
                  <a:schemeClr val="lt1"/>
                </a:solidFill>
                <a:latin typeface="Calibri"/>
                <a:ea typeface="Calibri"/>
                <a:cs typeface="Calibri"/>
                <a:sym typeface="Calibri"/>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98"/>
                                        </p:tgtEl>
                                        <p:attrNameLst>
                                          <p:attrName>style.visibility</p:attrName>
                                        </p:attrNameLst>
                                      </p:cBhvr>
                                      <p:to>
                                        <p:strVal val="visible"/>
                                      </p:to>
                                    </p:set>
                                    <p:animEffect transition="in" filter="fade">
                                      <p:cBhvr>
                                        <p:cTn id="7" dur="500"/>
                                        <p:tgtEl>
                                          <p:spTgt spid="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3"/>
          <p:cNvSpPr/>
          <p:nvPr/>
        </p:nvSpPr>
        <p:spPr>
          <a:xfrm>
            <a:off x="-360218" y="1108648"/>
            <a:ext cx="12940145" cy="1536845"/>
          </a:xfrm>
          <a:prstGeom prst="roundRect">
            <a:avLst>
              <a:gd name="adj" fmla="val 2778"/>
            </a:avLst>
          </a:prstGeom>
          <a:gradFill>
            <a:gsLst>
              <a:gs pos="0">
                <a:srgbClr val="541844"/>
              </a:gs>
              <a:gs pos="50000">
                <a:srgbClr val="7A2363"/>
              </a:gs>
              <a:gs pos="100000">
                <a:srgbClr val="932B78"/>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9" name="Google Shape;109;p3"/>
          <p:cNvSpPr/>
          <p:nvPr/>
        </p:nvSpPr>
        <p:spPr>
          <a:xfrm>
            <a:off x="699249" y="2900177"/>
            <a:ext cx="10821210" cy="3251827"/>
          </a:xfrm>
          <a:prstGeom prst="roundRect">
            <a:avLst>
              <a:gd name="adj" fmla="val 2971"/>
            </a:avLst>
          </a:prstGeom>
          <a:solidFill>
            <a:schemeClr val="lt1"/>
          </a:solidFill>
          <a:ln w="38100" cap="flat" cmpd="sng">
            <a:solidFill>
              <a:srgbClr val="8D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0" name="Google Shape;110;p3"/>
          <p:cNvSpPr txBox="1"/>
          <p:nvPr/>
        </p:nvSpPr>
        <p:spPr>
          <a:xfrm>
            <a:off x="623803" y="376239"/>
            <a:ext cx="10782300" cy="731156"/>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s-ES" sz="3200">
                <a:solidFill>
                  <a:srgbClr val="7F7F7F"/>
                </a:solidFill>
                <a:latin typeface="Arial"/>
                <a:ea typeface="Arial"/>
                <a:cs typeface="Arial"/>
                <a:sym typeface="Arial"/>
              </a:rPr>
              <a:t>Análisis Univariado</a:t>
            </a:r>
            <a:endParaRPr sz="3200">
              <a:solidFill>
                <a:srgbClr val="7F7F7F"/>
              </a:solidFill>
              <a:latin typeface="Arial"/>
              <a:ea typeface="Arial"/>
              <a:cs typeface="Arial"/>
              <a:sym typeface="Arial"/>
            </a:endParaRPr>
          </a:p>
        </p:txBody>
      </p:sp>
      <p:pic>
        <p:nvPicPr>
          <p:cNvPr id="111" name="Google Shape;111;p3"/>
          <p:cNvPicPr preferRelativeResize="0"/>
          <p:nvPr/>
        </p:nvPicPr>
        <p:blipFill rotWithShape="1">
          <a:blip r:embed="rId3">
            <a:alphaModFix/>
          </a:blip>
          <a:srcRect/>
          <a:stretch/>
        </p:blipFill>
        <p:spPr>
          <a:xfrm>
            <a:off x="1818901" y="3672825"/>
            <a:ext cx="8392076" cy="2352175"/>
          </a:xfrm>
          <a:prstGeom prst="rect">
            <a:avLst/>
          </a:prstGeom>
          <a:noFill/>
          <a:ln>
            <a:noFill/>
          </a:ln>
        </p:spPr>
      </p:pic>
      <p:sp>
        <p:nvSpPr>
          <p:cNvPr id="112" name="Google Shape;112;p3"/>
          <p:cNvSpPr txBox="1"/>
          <p:nvPr/>
        </p:nvSpPr>
        <p:spPr>
          <a:xfrm>
            <a:off x="1820038" y="3006534"/>
            <a:ext cx="8395858"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a:solidFill>
                  <a:srgbClr val="7F7F7F"/>
                </a:solidFill>
                <a:latin typeface="Calibri"/>
                <a:ea typeface="Calibri"/>
                <a:cs typeface="Calibri"/>
                <a:sym typeface="Calibri"/>
              </a:rPr>
              <a:t>Hagamos un análisis del dataset de Sueldos de San Francisco, en particular, de la columna sueldo base (</a:t>
            </a:r>
            <a:r>
              <a:rPr lang="es-ES" sz="1600" b="1">
                <a:solidFill>
                  <a:srgbClr val="7F7F7F"/>
                </a:solidFill>
                <a:latin typeface="Calibri"/>
                <a:ea typeface="Calibri"/>
                <a:cs typeface="Calibri"/>
                <a:sym typeface="Calibri"/>
              </a:rPr>
              <a:t>BasePay</a:t>
            </a:r>
            <a:r>
              <a:rPr lang="es-ES" sz="1600">
                <a:solidFill>
                  <a:srgbClr val="7F7F7F"/>
                </a:solidFill>
                <a:latin typeface="Calibri"/>
                <a:ea typeface="Calibri"/>
                <a:cs typeface="Calibri"/>
                <a:sym typeface="Calibri"/>
              </a:rPr>
              <a:t>) para ver cómo se comporta.</a:t>
            </a:r>
            <a:endParaRPr/>
          </a:p>
        </p:txBody>
      </p:sp>
      <p:sp>
        <p:nvSpPr>
          <p:cNvPr id="113" name="Google Shape;113;p3"/>
          <p:cNvSpPr txBox="1"/>
          <p:nvPr/>
        </p:nvSpPr>
        <p:spPr>
          <a:xfrm>
            <a:off x="623803" y="1363332"/>
            <a:ext cx="10782300" cy="92333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Es la forma más simple de análisis, en donde se estudia cada variable de forma aislada. El propósito principal de un análisis univariado es describir los datos, valiéndose de la estadística descriptiva, para encontrar patrones y develar fenómenos subyacentes difíciles de encontrar solamente observando los datos de forma aislada.</a:t>
            </a:r>
            <a:endParaRPr sz="18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10"/>
                                        </p:tgtEl>
                                        <p:attrNameLst>
                                          <p:attrName>style.visibility</p:attrName>
                                        </p:attrNameLst>
                                      </p:cBhvr>
                                      <p:to>
                                        <p:strVal val="visible"/>
                                      </p:to>
                                    </p:set>
                                    <p:animEffect transition="in" filter="fade">
                                      <p:cBhvr>
                                        <p:cTn id="7" dur="500"/>
                                        <p:tgtEl>
                                          <p:spTgt spid="1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4"/>
          <p:cNvSpPr/>
          <p:nvPr/>
        </p:nvSpPr>
        <p:spPr>
          <a:xfrm>
            <a:off x="-558801" y="2128369"/>
            <a:ext cx="10991823" cy="3619982"/>
          </a:xfrm>
          <a:prstGeom prst="roundRect">
            <a:avLst>
              <a:gd name="adj" fmla="val 2971"/>
            </a:avLst>
          </a:prstGeom>
          <a:solidFill>
            <a:srgbClr val="8D32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9" name="Google Shape;119;p4"/>
          <p:cNvSpPr txBox="1"/>
          <p:nvPr/>
        </p:nvSpPr>
        <p:spPr>
          <a:xfrm>
            <a:off x="422275" y="1120307"/>
            <a:ext cx="10782300"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s-ES" sz="3200">
                <a:solidFill>
                  <a:srgbClr val="7F7F7F"/>
                </a:solidFill>
                <a:latin typeface="Arial"/>
                <a:ea typeface="Arial"/>
                <a:cs typeface="Arial"/>
                <a:sym typeface="Arial"/>
              </a:rPr>
              <a:t>Medidas de Tendencia Central</a:t>
            </a:r>
            <a:endParaRPr/>
          </a:p>
        </p:txBody>
      </p:sp>
      <p:sp>
        <p:nvSpPr>
          <p:cNvPr id="120" name="Google Shape;120;p4"/>
          <p:cNvSpPr txBox="1"/>
          <p:nvPr/>
        </p:nvSpPr>
        <p:spPr>
          <a:xfrm>
            <a:off x="422275" y="2368609"/>
            <a:ext cx="9733401" cy="313928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Son medidas estadísticas que pretenden resumir en un solo valor a un conjunto de valores, representando el centro en torno al cual se sitúan los datos.</a:t>
            </a:r>
            <a:endParaRPr sz="1800"/>
          </a:p>
          <a:p>
            <a:pPr marL="285750" marR="0" lvl="0" indent="-184150" algn="just" rtl="0">
              <a:spcBef>
                <a:spcPts val="0"/>
              </a:spcBef>
              <a:spcAft>
                <a:spcPts val="0"/>
              </a:spcAft>
              <a:buClr>
                <a:schemeClr val="dk1"/>
              </a:buClr>
              <a:buSzPts val="1600"/>
              <a:buFont typeface="Arial"/>
              <a:buNone/>
            </a:pPr>
            <a:endParaRPr sz="1800">
              <a:solidFill>
                <a:schemeClr val="lt1"/>
              </a:solidFill>
              <a:latin typeface="Calibri"/>
              <a:ea typeface="Calibri"/>
              <a:cs typeface="Calibri"/>
              <a:sym typeface="Calibri"/>
            </a:endParaRPr>
          </a:p>
          <a:p>
            <a:pPr marL="285750" marR="0" lvl="0" indent="-285750" algn="just" rtl="0">
              <a:spcBef>
                <a:spcPts val="0"/>
              </a:spcBef>
              <a:spcAft>
                <a:spcPts val="0"/>
              </a:spcAft>
              <a:buClr>
                <a:schemeClr val="lt1"/>
              </a:buClr>
              <a:buSzPts val="1600"/>
              <a:buFont typeface="Arial"/>
              <a:buChar char="•"/>
            </a:pPr>
            <a:r>
              <a:rPr lang="es-ES" sz="1800" b="1">
                <a:solidFill>
                  <a:schemeClr val="lt1"/>
                </a:solidFill>
                <a:latin typeface="Calibri"/>
                <a:ea typeface="Calibri"/>
                <a:cs typeface="Calibri"/>
                <a:sym typeface="Calibri"/>
              </a:rPr>
              <a:t>Media: </a:t>
            </a:r>
            <a:r>
              <a:rPr lang="es-ES" sz="1800">
                <a:solidFill>
                  <a:schemeClr val="lt1"/>
                </a:solidFill>
                <a:latin typeface="Calibri"/>
                <a:ea typeface="Calibri"/>
                <a:cs typeface="Calibri"/>
                <a:sym typeface="Calibri"/>
              </a:rPr>
              <a:t>corresponde al promedio aritmético, es decir, la suma de los valores dividido por la cantidad de valores.</a:t>
            </a:r>
            <a:endParaRPr sz="1800"/>
          </a:p>
          <a:p>
            <a:pPr marL="285750" marR="0" lvl="0" indent="-184150" algn="just" rtl="0">
              <a:spcBef>
                <a:spcPts val="0"/>
              </a:spcBef>
              <a:spcAft>
                <a:spcPts val="0"/>
              </a:spcAft>
              <a:buClr>
                <a:schemeClr val="dk1"/>
              </a:buClr>
              <a:buSzPts val="1600"/>
              <a:buFont typeface="Arial"/>
              <a:buNone/>
            </a:pPr>
            <a:endParaRPr sz="1800">
              <a:solidFill>
                <a:schemeClr val="lt1"/>
              </a:solidFill>
              <a:latin typeface="Calibri"/>
              <a:ea typeface="Calibri"/>
              <a:cs typeface="Calibri"/>
              <a:sym typeface="Calibri"/>
            </a:endParaRPr>
          </a:p>
          <a:p>
            <a:pPr marL="285750" marR="0" lvl="0" indent="-285750" algn="just" rtl="0">
              <a:spcBef>
                <a:spcPts val="0"/>
              </a:spcBef>
              <a:spcAft>
                <a:spcPts val="0"/>
              </a:spcAft>
              <a:buClr>
                <a:schemeClr val="lt1"/>
              </a:buClr>
              <a:buSzPts val="1600"/>
              <a:buFont typeface="Arial"/>
              <a:buChar char="•"/>
            </a:pPr>
            <a:r>
              <a:rPr lang="es-ES" sz="1800" b="1">
                <a:solidFill>
                  <a:schemeClr val="lt1"/>
                </a:solidFill>
                <a:latin typeface="Calibri"/>
                <a:ea typeface="Calibri"/>
                <a:cs typeface="Calibri"/>
                <a:sym typeface="Calibri"/>
              </a:rPr>
              <a:t>Mediana:</a:t>
            </a:r>
            <a:r>
              <a:rPr lang="es-ES" sz="1800">
                <a:solidFill>
                  <a:schemeClr val="lt1"/>
                </a:solidFill>
                <a:latin typeface="Calibri"/>
                <a:ea typeface="Calibri"/>
                <a:cs typeface="Calibri"/>
                <a:sym typeface="Calibri"/>
              </a:rPr>
              <a:t> corresponde al valor de la variable que ocupa la posición central en el conjunto de valores, es decir, el 50% de las observaciones tiene un valor igual o inferior a la mediana y el otro 50% un valor igual o superior a la mediana</a:t>
            </a:r>
            <a:endParaRPr sz="1800"/>
          </a:p>
          <a:p>
            <a:pPr marL="285750" marR="0" lvl="0" indent="-184150" algn="just" rtl="0">
              <a:spcBef>
                <a:spcPts val="0"/>
              </a:spcBef>
              <a:spcAft>
                <a:spcPts val="0"/>
              </a:spcAft>
              <a:buClr>
                <a:schemeClr val="dk1"/>
              </a:buClr>
              <a:buSzPts val="1600"/>
              <a:buFont typeface="Arial"/>
              <a:buNone/>
            </a:pPr>
            <a:endParaRPr sz="1800">
              <a:solidFill>
                <a:schemeClr val="lt1"/>
              </a:solidFill>
              <a:latin typeface="Calibri"/>
              <a:ea typeface="Calibri"/>
              <a:cs typeface="Calibri"/>
              <a:sym typeface="Calibri"/>
            </a:endParaRPr>
          </a:p>
          <a:p>
            <a:pPr marL="285750" marR="0" lvl="0" indent="-285750" algn="just" rtl="0">
              <a:spcBef>
                <a:spcPts val="0"/>
              </a:spcBef>
              <a:spcAft>
                <a:spcPts val="0"/>
              </a:spcAft>
              <a:buClr>
                <a:schemeClr val="lt1"/>
              </a:buClr>
              <a:buSzPts val="1600"/>
              <a:buFont typeface="Arial"/>
              <a:buChar char="•"/>
            </a:pPr>
            <a:r>
              <a:rPr lang="es-ES" sz="1800" b="1">
                <a:solidFill>
                  <a:schemeClr val="lt1"/>
                </a:solidFill>
                <a:latin typeface="Calibri"/>
                <a:ea typeface="Calibri"/>
                <a:cs typeface="Calibri"/>
                <a:sym typeface="Calibri"/>
              </a:rPr>
              <a:t>Moda: </a:t>
            </a:r>
            <a:r>
              <a:rPr lang="es-ES" sz="1800">
                <a:solidFill>
                  <a:schemeClr val="lt1"/>
                </a:solidFill>
                <a:latin typeface="Calibri"/>
                <a:ea typeface="Calibri"/>
                <a:cs typeface="Calibri"/>
                <a:sym typeface="Calibri"/>
              </a:rPr>
              <a:t>corresponde al valor que más se repite en un conjunto de datos.</a:t>
            </a:r>
            <a:endParaRPr sz="18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19"/>
                                        </p:tgtEl>
                                        <p:attrNameLst>
                                          <p:attrName>style.visibility</p:attrName>
                                        </p:attrNameLst>
                                      </p:cBhvr>
                                      <p:to>
                                        <p:strVal val="visible"/>
                                      </p:to>
                                    </p:set>
                                    <p:animEffect transition="in" filter="fade">
                                      <p:cBhvr>
                                        <p:cTn id="7" dur="500"/>
                                        <p:tgtEl>
                                          <p:spTgt spid="1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5"/>
          <p:cNvSpPr/>
          <p:nvPr/>
        </p:nvSpPr>
        <p:spPr>
          <a:xfrm>
            <a:off x="1239322" y="1228436"/>
            <a:ext cx="9691583" cy="4826003"/>
          </a:xfrm>
          <a:prstGeom prst="roundRect">
            <a:avLst>
              <a:gd name="adj" fmla="val 2971"/>
            </a:avLst>
          </a:prstGeom>
          <a:solidFill>
            <a:schemeClr val="lt1"/>
          </a:solidFill>
          <a:ln w="28575" cap="flat" cmpd="sng">
            <a:solidFill>
              <a:srgbClr val="8D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26" name="Google Shape;126;p5"/>
          <p:cNvPicPr preferRelativeResize="0"/>
          <p:nvPr/>
        </p:nvPicPr>
        <p:blipFill rotWithShape="1">
          <a:blip r:embed="rId3">
            <a:alphaModFix/>
          </a:blip>
          <a:srcRect/>
          <a:stretch/>
        </p:blipFill>
        <p:spPr>
          <a:xfrm>
            <a:off x="2925112" y="1440810"/>
            <a:ext cx="6341774" cy="4379481"/>
          </a:xfrm>
          <a:prstGeom prst="rect">
            <a:avLst/>
          </a:prstGeom>
          <a:noFill/>
          <a:ln>
            <a:noFill/>
          </a:ln>
        </p:spPr>
      </p:pic>
      <p:sp>
        <p:nvSpPr>
          <p:cNvPr id="127" name="Google Shape;127;p5"/>
          <p:cNvSpPr txBox="1"/>
          <p:nvPr/>
        </p:nvSpPr>
        <p:spPr>
          <a:xfrm>
            <a:off x="1239521" y="108744"/>
            <a:ext cx="10782300"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s-ES" sz="3200">
                <a:solidFill>
                  <a:srgbClr val="7F7F7F"/>
                </a:solidFill>
                <a:latin typeface="Arial"/>
                <a:ea typeface="Arial"/>
                <a:cs typeface="Arial"/>
                <a:sym typeface="Arial"/>
              </a:rPr>
              <a:t>Medidas de Tendencia Central</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27"/>
                                        </p:tgtEl>
                                        <p:attrNameLst>
                                          <p:attrName>style.visibility</p:attrName>
                                        </p:attrNameLst>
                                      </p:cBhvr>
                                      <p:to>
                                        <p:strVal val="visible"/>
                                      </p:to>
                                    </p:set>
                                    <p:animEffect transition="in" filter="fade">
                                      <p:cBhvr>
                                        <p:cTn id="7" dur="500"/>
                                        <p:tgtEl>
                                          <p:spTgt spid="1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6"/>
          <p:cNvSpPr txBox="1"/>
          <p:nvPr/>
        </p:nvSpPr>
        <p:spPr>
          <a:xfrm>
            <a:off x="605137" y="233087"/>
            <a:ext cx="10782300" cy="619127"/>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Medidas de Tendencia Central</a:t>
            </a:r>
            <a:endParaRPr/>
          </a:p>
        </p:txBody>
      </p:sp>
      <p:sp>
        <p:nvSpPr>
          <p:cNvPr id="133" name="Google Shape;133;p6"/>
          <p:cNvSpPr/>
          <p:nvPr/>
        </p:nvSpPr>
        <p:spPr>
          <a:xfrm>
            <a:off x="515280" y="1207740"/>
            <a:ext cx="11097600" cy="4502180"/>
          </a:xfrm>
          <a:prstGeom prst="roundRect">
            <a:avLst>
              <a:gd name="adj" fmla="val 2971"/>
            </a:avLst>
          </a:prstGeom>
          <a:solidFill>
            <a:schemeClr val="lt1"/>
          </a:solidFill>
          <a:ln w="38100" cap="flat" cmpd="sng">
            <a:solidFill>
              <a:srgbClr val="8D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34" name="Google Shape;134;p6"/>
          <p:cNvPicPr preferRelativeResize="0"/>
          <p:nvPr/>
        </p:nvPicPr>
        <p:blipFill rotWithShape="1">
          <a:blip r:embed="rId3">
            <a:alphaModFix/>
          </a:blip>
          <a:srcRect/>
          <a:stretch/>
        </p:blipFill>
        <p:spPr>
          <a:xfrm>
            <a:off x="2322708" y="2090342"/>
            <a:ext cx="4281292" cy="2665570"/>
          </a:xfrm>
          <a:prstGeom prst="rect">
            <a:avLst/>
          </a:prstGeom>
          <a:noFill/>
          <a:ln>
            <a:noFill/>
          </a:ln>
        </p:spPr>
      </p:pic>
      <p:sp>
        <p:nvSpPr>
          <p:cNvPr id="135" name="Google Shape;135;p6"/>
          <p:cNvSpPr txBox="1"/>
          <p:nvPr/>
        </p:nvSpPr>
        <p:spPr>
          <a:xfrm>
            <a:off x="8054108" y="1826036"/>
            <a:ext cx="2831100" cy="52318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a:solidFill>
                  <a:srgbClr val="7F7F7F"/>
                </a:solidFill>
                <a:latin typeface="Open Sans"/>
                <a:ea typeface="Open Sans"/>
                <a:cs typeface="Open Sans"/>
                <a:sym typeface="Open Sans"/>
              </a:rPr>
              <a:t>El promedio de sueldo es de aproximadamente U$ 66.325</a:t>
            </a:r>
            <a:endParaRPr sz="1200"/>
          </a:p>
        </p:txBody>
      </p:sp>
      <p:cxnSp>
        <p:nvCxnSpPr>
          <p:cNvPr id="136" name="Google Shape;136;p6"/>
          <p:cNvCxnSpPr/>
          <p:nvPr/>
        </p:nvCxnSpPr>
        <p:spPr>
          <a:xfrm flipH="1">
            <a:off x="6604000" y="2259724"/>
            <a:ext cx="1246908" cy="306415"/>
          </a:xfrm>
          <a:prstGeom prst="straightConnector1">
            <a:avLst/>
          </a:prstGeom>
          <a:noFill/>
          <a:ln w="9525" cap="flat" cmpd="sng">
            <a:solidFill>
              <a:srgbClr val="8D3275"/>
            </a:solidFill>
            <a:prstDash val="solid"/>
            <a:miter lim="800000"/>
            <a:headEnd type="none" w="sm" len="sm"/>
            <a:tailEnd type="triangle" w="med" len="med"/>
          </a:ln>
        </p:spPr>
      </p:cxnSp>
      <p:sp>
        <p:nvSpPr>
          <p:cNvPr id="137" name="Google Shape;137;p6"/>
          <p:cNvSpPr txBox="1"/>
          <p:nvPr/>
        </p:nvSpPr>
        <p:spPr>
          <a:xfrm>
            <a:off x="8054108" y="2996338"/>
            <a:ext cx="2831100" cy="738623"/>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a:solidFill>
                  <a:srgbClr val="7F7F7F"/>
                </a:solidFill>
                <a:latin typeface="Open Sans"/>
                <a:ea typeface="Open Sans"/>
                <a:cs typeface="Open Sans"/>
                <a:sym typeface="Open Sans"/>
              </a:rPr>
              <a:t>La mitad de las personas tiene un sueldo igual o inferior a U$ 65.007</a:t>
            </a:r>
            <a:endParaRPr sz="1200"/>
          </a:p>
        </p:txBody>
      </p:sp>
      <p:cxnSp>
        <p:nvCxnSpPr>
          <p:cNvPr id="138" name="Google Shape;138;p6"/>
          <p:cNvCxnSpPr/>
          <p:nvPr/>
        </p:nvCxnSpPr>
        <p:spPr>
          <a:xfrm rot="10800000">
            <a:off x="6737131" y="3289738"/>
            <a:ext cx="1187670" cy="9027"/>
          </a:xfrm>
          <a:prstGeom prst="straightConnector1">
            <a:avLst/>
          </a:prstGeom>
          <a:noFill/>
          <a:ln w="9525" cap="flat" cmpd="sng">
            <a:solidFill>
              <a:srgbClr val="8D3275"/>
            </a:solidFill>
            <a:prstDash val="solid"/>
            <a:miter lim="800000"/>
            <a:headEnd type="none" w="sm" len="sm"/>
            <a:tailEnd type="triangle" w="med" len="med"/>
          </a:ln>
        </p:spPr>
      </p:cxnSp>
      <p:sp>
        <p:nvSpPr>
          <p:cNvPr id="139" name="Google Shape;139;p6"/>
          <p:cNvSpPr txBox="1"/>
          <p:nvPr/>
        </p:nvSpPr>
        <p:spPr>
          <a:xfrm>
            <a:off x="8054108" y="4120410"/>
            <a:ext cx="2868300" cy="954067"/>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a:solidFill>
                  <a:srgbClr val="7F7F7F"/>
                </a:solidFill>
                <a:latin typeface="Open Sans"/>
                <a:ea typeface="Open Sans"/>
                <a:cs typeface="Open Sans"/>
                <a:sym typeface="Open Sans"/>
              </a:rPr>
              <a:t>El valor que más se repite es U$0.0</a:t>
            </a:r>
            <a:endParaRPr sz="1200"/>
          </a:p>
          <a:p>
            <a:pPr marL="0" marR="0" lvl="0" indent="0" algn="just" rtl="0">
              <a:spcBef>
                <a:spcPts val="0"/>
              </a:spcBef>
              <a:spcAft>
                <a:spcPts val="0"/>
              </a:spcAft>
              <a:buNone/>
            </a:pPr>
            <a:r>
              <a:rPr lang="es-ES" b="1">
                <a:solidFill>
                  <a:srgbClr val="7F7F7F"/>
                </a:solidFill>
                <a:latin typeface="Open Sans"/>
                <a:ea typeface="Open Sans"/>
                <a:cs typeface="Open Sans"/>
                <a:sym typeface="Open Sans"/>
              </a:rPr>
              <a:t>Hemos descubierto un insight!!!</a:t>
            </a:r>
            <a:r>
              <a:rPr lang="es-ES">
                <a:solidFill>
                  <a:srgbClr val="7F7F7F"/>
                </a:solidFill>
                <a:latin typeface="Open Sans"/>
                <a:ea typeface="Open Sans"/>
                <a:cs typeface="Open Sans"/>
                <a:sym typeface="Open Sans"/>
              </a:rPr>
              <a:t> </a:t>
            </a:r>
            <a:endParaRPr sz="1200"/>
          </a:p>
        </p:txBody>
      </p:sp>
      <p:cxnSp>
        <p:nvCxnSpPr>
          <p:cNvPr id="140" name="Google Shape;140;p6"/>
          <p:cNvCxnSpPr/>
          <p:nvPr/>
        </p:nvCxnSpPr>
        <p:spPr>
          <a:xfrm rot="10800000">
            <a:off x="6631708" y="4094316"/>
            <a:ext cx="1219200" cy="503061"/>
          </a:xfrm>
          <a:prstGeom prst="straightConnector1">
            <a:avLst/>
          </a:prstGeom>
          <a:noFill/>
          <a:ln w="9525" cap="flat" cmpd="sng">
            <a:solidFill>
              <a:srgbClr val="8D3275"/>
            </a:solidFill>
            <a:prstDash val="solid"/>
            <a:miter lim="800000"/>
            <a:headEnd type="none" w="sm" len="sm"/>
            <a:tailEnd type="triangle" w="med" len="med"/>
          </a:ln>
        </p:spPr>
      </p:cxnSp>
      <p:sp>
        <p:nvSpPr>
          <p:cNvPr id="141" name="Google Shape;141;p6"/>
          <p:cNvSpPr txBox="1"/>
          <p:nvPr/>
        </p:nvSpPr>
        <p:spPr>
          <a:xfrm>
            <a:off x="1399600" y="1487482"/>
            <a:ext cx="4945321" cy="30773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a:solidFill>
                  <a:srgbClr val="7F7F7F"/>
                </a:solidFill>
                <a:latin typeface="Open Sans"/>
                <a:ea typeface="Open Sans"/>
                <a:cs typeface="Open Sans"/>
                <a:sym typeface="Open Sans"/>
              </a:rPr>
              <a:t>Ahora veamos qué pasa con la variable sueldo base.</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32"/>
                                        </p:tgtEl>
                                        <p:attrNameLst>
                                          <p:attrName>style.visibility</p:attrName>
                                        </p:attrNameLst>
                                      </p:cBhvr>
                                      <p:to>
                                        <p:strVal val="visible"/>
                                      </p:to>
                                    </p:set>
                                    <p:animEffect transition="in" filter="fade">
                                      <p:cBhvr>
                                        <p:cTn id="7" dur="500"/>
                                        <p:tgtEl>
                                          <p:spTgt spid="1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7"/>
          <p:cNvSpPr/>
          <p:nvPr/>
        </p:nvSpPr>
        <p:spPr>
          <a:xfrm>
            <a:off x="490984" y="1253040"/>
            <a:ext cx="11210032" cy="3925450"/>
          </a:xfrm>
          <a:prstGeom prst="roundRect">
            <a:avLst>
              <a:gd name="adj" fmla="val 2971"/>
            </a:avLst>
          </a:prstGeom>
          <a:gradFill>
            <a:gsLst>
              <a:gs pos="0">
                <a:srgbClr val="541844"/>
              </a:gs>
              <a:gs pos="50000">
                <a:srgbClr val="7A2363"/>
              </a:gs>
              <a:gs pos="100000">
                <a:srgbClr val="932B78"/>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7" name="Google Shape;147;p7"/>
          <p:cNvSpPr txBox="1"/>
          <p:nvPr/>
        </p:nvSpPr>
        <p:spPr>
          <a:xfrm>
            <a:off x="704850" y="322732"/>
            <a:ext cx="10782300" cy="684702"/>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s-ES" sz="3200">
                <a:solidFill>
                  <a:srgbClr val="7F7F7F"/>
                </a:solidFill>
                <a:latin typeface="Arial"/>
                <a:ea typeface="Arial"/>
                <a:cs typeface="Arial"/>
                <a:sym typeface="Arial"/>
              </a:rPr>
              <a:t>Medidas de Dispersión</a:t>
            </a:r>
            <a:endParaRPr sz="3200">
              <a:solidFill>
                <a:srgbClr val="7F7F7F"/>
              </a:solidFill>
              <a:latin typeface="Arial"/>
              <a:ea typeface="Arial"/>
              <a:cs typeface="Arial"/>
              <a:sym typeface="Arial"/>
            </a:endParaRPr>
          </a:p>
        </p:txBody>
      </p:sp>
      <p:sp>
        <p:nvSpPr>
          <p:cNvPr id="148" name="Google Shape;148;p7"/>
          <p:cNvSpPr txBox="1"/>
          <p:nvPr/>
        </p:nvSpPr>
        <p:spPr>
          <a:xfrm>
            <a:off x="719584" y="1486719"/>
            <a:ext cx="6651678" cy="341632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Muchas veces vamos a preguntarnos si las mediciones tienes valores muy cercanos entre sí o muy dispersos. Para eso necesitamos </a:t>
            </a:r>
            <a:r>
              <a:rPr lang="es-ES" sz="1800" b="1">
                <a:solidFill>
                  <a:schemeClr val="lt1"/>
                </a:solidFill>
                <a:latin typeface="Calibri"/>
                <a:ea typeface="Calibri"/>
                <a:cs typeface="Calibri"/>
                <a:sym typeface="Calibri"/>
              </a:rPr>
              <a:t>medidas de dispersión</a:t>
            </a:r>
            <a:r>
              <a:rPr lang="es-ES" sz="1800">
                <a:solidFill>
                  <a:schemeClr val="lt1"/>
                </a:solidFill>
                <a:latin typeface="Calibri"/>
                <a:ea typeface="Calibri"/>
                <a:cs typeface="Calibri"/>
                <a:sym typeface="Calibri"/>
              </a:rPr>
              <a:t>.</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a:solidFill>
                  <a:schemeClr val="lt1"/>
                </a:solidFill>
                <a:latin typeface="Calibri"/>
                <a:ea typeface="Calibri"/>
                <a:cs typeface="Calibri"/>
                <a:sym typeface="Calibri"/>
              </a:rPr>
              <a:t>Se calculan para describir la dispersión de los valores de una muestra en torno a un parámetro de ubicación. En pocas palabras, los parámetros de dispersión </a:t>
            </a:r>
            <a:r>
              <a:rPr lang="es-ES" sz="1800" b="1">
                <a:solidFill>
                  <a:schemeClr val="lt1"/>
                </a:solidFill>
                <a:latin typeface="Calibri"/>
                <a:ea typeface="Calibri"/>
                <a:cs typeface="Calibri"/>
                <a:sym typeface="Calibri"/>
              </a:rPr>
              <a:t>son una medida de cuánto fluctúa una muestra en torno a un valor medio</a:t>
            </a:r>
            <a:r>
              <a:rPr lang="es-ES" sz="1800">
                <a:solidFill>
                  <a:schemeClr val="lt1"/>
                </a:solidFill>
                <a:latin typeface="Calibri"/>
                <a:ea typeface="Calibri"/>
                <a:cs typeface="Calibri"/>
                <a:sym typeface="Calibri"/>
              </a:rPr>
              <a:t>.</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a:solidFill>
                  <a:schemeClr val="lt1"/>
                </a:solidFill>
                <a:latin typeface="Calibri"/>
                <a:ea typeface="Calibri"/>
                <a:cs typeface="Calibri"/>
                <a:sym typeface="Calibri"/>
              </a:rPr>
              <a:t>Nótese en este ejemplo que la variable cuantitativa Total de la Cuenta (total_bill) tiene una dispersión de valores levemente mayor el sábado.</a:t>
            </a:r>
            <a:endParaRPr/>
          </a:p>
        </p:txBody>
      </p:sp>
      <p:sp>
        <p:nvSpPr>
          <p:cNvPr id="149" name="Google Shape;149;p7"/>
          <p:cNvSpPr/>
          <p:nvPr/>
        </p:nvSpPr>
        <p:spPr>
          <a:xfrm>
            <a:off x="7576877" y="1324947"/>
            <a:ext cx="4008702" cy="3760237"/>
          </a:xfrm>
          <a:prstGeom prst="roundRect">
            <a:avLst>
              <a:gd name="adj" fmla="val 2971"/>
            </a:avLst>
          </a:prstGeom>
          <a:solidFill>
            <a:schemeClr val="lt1"/>
          </a:solidFill>
          <a:ln w="28575"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50" name="Google Shape;150;p7"/>
          <p:cNvPicPr preferRelativeResize="0"/>
          <p:nvPr/>
        </p:nvPicPr>
        <p:blipFill rotWithShape="1">
          <a:blip r:embed="rId3">
            <a:alphaModFix/>
          </a:blip>
          <a:srcRect/>
          <a:stretch/>
        </p:blipFill>
        <p:spPr>
          <a:xfrm>
            <a:off x="7767506" y="1637154"/>
            <a:ext cx="3352800" cy="33528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47"/>
                                        </p:tgtEl>
                                        <p:attrNameLst>
                                          <p:attrName>style.visibility</p:attrName>
                                        </p:attrNameLst>
                                      </p:cBhvr>
                                      <p:to>
                                        <p:strVal val="visible"/>
                                      </p:to>
                                    </p:set>
                                    <p:animEffect transition="in" filter="fade">
                                      <p:cBhvr>
                                        <p:cTn id="7" dur="500"/>
                                        <p:tgtEl>
                                          <p:spTgt spid="1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8"/>
          <p:cNvSpPr/>
          <p:nvPr/>
        </p:nvSpPr>
        <p:spPr>
          <a:xfrm>
            <a:off x="490984" y="1383668"/>
            <a:ext cx="11210032" cy="4252021"/>
          </a:xfrm>
          <a:prstGeom prst="roundRect">
            <a:avLst>
              <a:gd name="adj" fmla="val 2971"/>
            </a:avLst>
          </a:prstGeom>
          <a:gradFill>
            <a:gsLst>
              <a:gs pos="0">
                <a:srgbClr val="541844"/>
              </a:gs>
              <a:gs pos="50000">
                <a:srgbClr val="7A2363"/>
              </a:gs>
              <a:gs pos="100000">
                <a:srgbClr val="932B78"/>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6" name="Google Shape;156;p8"/>
          <p:cNvSpPr txBox="1"/>
          <p:nvPr/>
        </p:nvSpPr>
        <p:spPr>
          <a:xfrm>
            <a:off x="704850" y="322732"/>
            <a:ext cx="10782300" cy="684702"/>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s-ES" sz="3200">
                <a:solidFill>
                  <a:srgbClr val="7F7F7F"/>
                </a:solidFill>
                <a:latin typeface="Arial"/>
                <a:ea typeface="Arial"/>
                <a:cs typeface="Arial"/>
                <a:sym typeface="Arial"/>
              </a:rPr>
              <a:t>Medidas de Dispersión</a:t>
            </a:r>
            <a:endParaRPr/>
          </a:p>
        </p:txBody>
      </p:sp>
      <p:sp>
        <p:nvSpPr>
          <p:cNvPr id="157" name="Google Shape;157;p8"/>
          <p:cNvSpPr txBox="1"/>
          <p:nvPr/>
        </p:nvSpPr>
        <p:spPr>
          <a:xfrm>
            <a:off x="719584" y="1617348"/>
            <a:ext cx="10767566"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Existen varias formas de medir la dispersión de una variable. A continuación, algunos ejemplos:</a:t>
            </a:r>
            <a:endParaRPr/>
          </a:p>
        </p:txBody>
      </p:sp>
      <p:sp>
        <p:nvSpPr>
          <p:cNvPr id="158" name="Google Shape;158;p8"/>
          <p:cNvSpPr/>
          <p:nvPr/>
        </p:nvSpPr>
        <p:spPr>
          <a:xfrm>
            <a:off x="578498" y="2192696"/>
            <a:ext cx="11007081" cy="3335263"/>
          </a:xfrm>
          <a:prstGeom prst="roundRect">
            <a:avLst>
              <a:gd name="adj" fmla="val 2971"/>
            </a:avLst>
          </a:prstGeom>
          <a:solidFill>
            <a:schemeClr val="lt1"/>
          </a:solidFill>
          <a:ln w="28575"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59" name="Google Shape;159;p8" descr="Parámetro de dispersión"/>
          <p:cNvPicPr preferRelativeResize="0"/>
          <p:nvPr/>
        </p:nvPicPr>
        <p:blipFill rotWithShape="1">
          <a:blip r:embed="rId3">
            <a:alphaModFix/>
          </a:blip>
          <a:srcRect/>
          <a:stretch/>
        </p:blipFill>
        <p:spPr>
          <a:xfrm>
            <a:off x="1878496" y="2545077"/>
            <a:ext cx="8239125" cy="26955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56"/>
                                        </p:tgtEl>
                                        <p:attrNameLst>
                                          <p:attrName>style.visibility</p:attrName>
                                        </p:attrNameLst>
                                      </p:cBhvr>
                                      <p:to>
                                        <p:strVal val="visible"/>
                                      </p:to>
                                    </p:set>
                                    <p:animEffect transition="in" filter="fade">
                                      <p:cBhvr>
                                        <p:cTn id="7" dur="500"/>
                                        <p:tgtEl>
                                          <p:spTgt spid="1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9"/>
          <p:cNvSpPr/>
          <p:nvPr/>
        </p:nvSpPr>
        <p:spPr>
          <a:xfrm>
            <a:off x="704849" y="2036823"/>
            <a:ext cx="10782300" cy="3402106"/>
          </a:xfrm>
          <a:prstGeom prst="roundRect">
            <a:avLst>
              <a:gd name="adj" fmla="val 2971"/>
            </a:avLst>
          </a:prstGeom>
          <a:gradFill>
            <a:gsLst>
              <a:gs pos="0">
                <a:srgbClr val="541844"/>
              </a:gs>
              <a:gs pos="50000">
                <a:srgbClr val="7A2363"/>
              </a:gs>
              <a:gs pos="100000">
                <a:srgbClr val="932B78"/>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5" name="Google Shape;165;p9"/>
          <p:cNvSpPr txBox="1"/>
          <p:nvPr/>
        </p:nvSpPr>
        <p:spPr>
          <a:xfrm>
            <a:off x="1180287" y="1236118"/>
            <a:ext cx="10449103" cy="684702"/>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s-ES" sz="3200">
                <a:solidFill>
                  <a:srgbClr val="7F7F7F"/>
                </a:solidFill>
                <a:latin typeface="Arial"/>
                <a:ea typeface="Arial"/>
                <a:cs typeface="Arial"/>
                <a:sym typeface="Arial"/>
              </a:rPr>
              <a:t>Medidas de Dispersión</a:t>
            </a:r>
            <a:endParaRPr/>
          </a:p>
        </p:txBody>
      </p:sp>
      <p:sp>
        <p:nvSpPr>
          <p:cNvPr id="166" name="Google Shape;166;p9"/>
          <p:cNvSpPr txBox="1"/>
          <p:nvPr/>
        </p:nvSpPr>
        <p:spPr>
          <a:xfrm>
            <a:off x="1180287" y="2268830"/>
            <a:ext cx="9831424" cy="317009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A continuación, se describirán las siguientes medidas más utilizadas para caracterizar la dispersión de una variable.</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285750" marR="0" lvl="0" indent="-285750" algn="just" rtl="0">
              <a:spcBef>
                <a:spcPts val="0"/>
              </a:spcBef>
              <a:spcAft>
                <a:spcPts val="0"/>
              </a:spcAft>
              <a:buClr>
                <a:schemeClr val="lt1"/>
              </a:buClr>
              <a:buSzPts val="1800"/>
              <a:buFont typeface="Arial"/>
              <a:buChar char="•"/>
            </a:pPr>
            <a:r>
              <a:rPr lang="es-ES" sz="1800" b="1">
                <a:solidFill>
                  <a:schemeClr val="lt1"/>
                </a:solidFill>
                <a:latin typeface="Calibri"/>
                <a:ea typeface="Calibri"/>
                <a:cs typeface="Calibri"/>
                <a:sym typeface="Calibri"/>
              </a:rPr>
              <a:t>Rango de variación</a:t>
            </a:r>
            <a:r>
              <a:rPr lang="es-ES" sz="1800">
                <a:solidFill>
                  <a:schemeClr val="lt1"/>
                </a:solidFill>
                <a:latin typeface="Calibri"/>
                <a:ea typeface="Calibri"/>
                <a:cs typeface="Calibri"/>
                <a:sym typeface="Calibri"/>
              </a:rPr>
              <a:t>: es la diferencia entre el mayor valor de la variable y el menor valor.</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285750" marR="0" lvl="0" indent="-285750" algn="just" rtl="0">
              <a:spcBef>
                <a:spcPts val="0"/>
              </a:spcBef>
              <a:spcAft>
                <a:spcPts val="0"/>
              </a:spcAft>
              <a:buClr>
                <a:schemeClr val="lt1"/>
              </a:buClr>
              <a:buSzPts val="1800"/>
              <a:buFont typeface="Arial"/>
              <a:buChar char="•"/>
            </a:pPr>
            <a:r>
              <a:rPr lang="es-ES" sz="1800" b="1">
                <a:solidFill>
                  <a:schemeClr val="lt1"/>
                </a:solidFill>
                <a:latin typeface="Calibri"/>
                <a:ea typeface="Calibri"/>
                <a:cs typeface="Calibri"/>
                <a:sym typeface="Calibri"/>
              </a:rPr>
              <a:t>Varianza</a:t>
            </a:r>
            <a:r>
              <a:rPr lang="es-ES" sz="1800">
                <a:solidFill>
                  <a:schemeClr val="lt1"/>
                </a:solidFill>
                <a:latin typeface="Calibri"/>
                <a:ea typeface="Calibri"/>
                <a:cs typeface="Calibri"/>
                <a:sym typeface="Calibri"/>
              </a:rPr>
              <a:t>: es la suma de las diferencias entre el valor y el promedio, al cuadrado, dividido por la cantidad de valores.</a:t>
            </a:r>
            <a:endParaRPr/>
          </a:p>
          <a:p>
            <a:pPr marL="0" marR="0" lvl="0" indent="0" algn="just" rtl="0">
              <a:spcBef>
                <a:spcPts val="0"/>
              </a:spcBef>
              <a:spcAft>
                <a:spcPts val="0"/>
              </a:spcAft>
              <a:buNone/>
            </a:pPr>
            <a:endParaRPr sz="1800" i="1">
              <a:solidFill>
                <a:schemeClr val="lt1"/>
              </a:solidFill>
              <a:latin typeface="Calibri"/>
              <a:ea typeface="Calibri"/>
              <a:cs typeface="Calibri"/>
              <a:sym typeface="Calibri"/>
            </a:endParaRPr>
          </a:p>
          <a:p>
            <a:pPr marL="285750" marR="0" lvl="0" indent="-285750" algn="just" rtl="0">
              <a:spcBef>
                <a:spcPts val="0"/>
              </a:spcBef>
              <a:spcAft>
                <a:spcPts val="0"/>
              </a:spcAft>
              <a:buClr>
                <a:schemeClr val="lt1"/>
              </a:buClr>
              <a:buSzPts val="1800"/>
              <a:buFont typeface="Arial"/>
              <a:buChar char="•"/>
            </a:pPr>
            <a:r>
              <a:rPr lang="es-ES" sz="1800" b="1">
                <a:solidFill>
                  <a:schemeClr val="lt1"/>
                </a:solidFill>
                <a:latin typeface="Calibri"/>
                <a:ea typeface="Calibri"/>
                <a:cs typeface="Calibri"/>
                <a:sym typeface="Calibri"/>
              </a:rPr>
              <a:t>Desviación Estándar</a:t>
            </a:r>
            <a:r>
              <a:rPr lang="es-ES" sz="1800">
                <a:solidFill>
                  <a:schemeClr val="lt1"/>
                </a:solidFill>
                <a:latin typeface="Calibri"/>
                <a:ea typeface="Calibri"/>
                <a:cs typeface="Calibri"/>
                <a:sym typeface="Calibri"/>
              </a:rPr>
              <a:t>: corresponde a la raíz cuadrada de la varianza, para que la medida de dispersión quede en la misma unidad que los valores de la variable.</a:t>
            </a:r>
            <a:endParaRPr/>
          </a:p>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65"/>
                                        </p:tgtEl>
                                        <p:attrNameLst>
                                          <p:attrName>style.visibility</p:attrName>
                                        </p:attrNameLst>
                                      </p:cBhvr>
                                      <p:to>
                                        <p:strVal val="visible"/>
                                      </p:to>
                                    </p:set>
                                    <p:animEffect transition="in" filter="fade">
                                      <p:cBhvr>
                                        <p:cTn id="7" dur="500"/>
                                        <p:tgtEl>
                                          <p:spTgt spid="1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10"/>
          <p:cNvSpPr/>
          <p:nvPr/>
        </p:nvSpPr>
        <p:spPr>
          <a:xfrm>
            <a:off x="704850" y="1513481"/>
            <a:ext cx="10782300" cy="3952612"/>
          </a:xfrm>
          <a:prstGeom prst="roundRect">
            <a:avLst>
              <a:gd name="adj" fmla="val 2971"/>
            </a:avLst>
          </a:prstGeom>
          <a:gradFill>
            <a:gsLst>
              <a:gs pos="0">
                <a:srgbClr val="541844"/>
              </a:gs>
              <a:gs pos="50000">
                <a:srgbClr val="7A2363"/>
              </a:gs>
              <a:gs pos="100000">
                <a:srgbClr val="932B78"/>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2" name="Google Shape;172;p10"/>
          <p:cNvSpPr txBox="1"/>
          <p:nvPr/>
        </p:nvSpPr>
        <p:spPr>
          <a:xfrm>
            <a:off x="1019503" y="708993"/>
            <a:ext cx="10782300" cy="684702"/>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ES" sz="3200">
                <a:solidFill>
                  <a:srgbClr val="7F7F7F"/>
                </a:solidFill>
                <a:latin typeface="Arial"/>
                <a:ea typeface="Arial"/>
                <a:cs typeface="Arial"/>
                <a:sym typeface="Arial"/>
              </a:rPr>
              <a:t>Rango de Variación</a:t>
            </a:r>
            <a:endParaRPr/>
          </a:p>
        </p:txBody>
      </p:sp>
      <p:sp>
        <p:nvSpPr>
          <p:cNvPr id="173" name="Google Shape;173;p10"/>
          <p:cNvSpPr txBox="1"/>
          <p:nvPr/>
        </p:nvSpPr>
        <p:spPr>
          <a:xfrm>
            <a:off x="1019503" y="2087261"/>
            <a:ext cx="4933425" cy="2308324"/>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El </a:t>
            </a:r>
            <a:r>
              <a:rPr lang="es-ES" sz="1800" b="1">
                <a:solidFill>
                  <a:schemeClr val="lt1"/>
                </a:solidFill>
                <a:latin typeface="Calibri"/>
                <a:ea typeface="Calibri"/>
                <a:cs typeface="Calibri"/>
                <a:sym typeface="Calibri"/>
              </a:rPr>
              <a:t>rango de variación</a:t>
            </a:r>
            <a:r>
              <a:rPr lang="es-ES" sz="1800">
                <a:solidFill>
                  <a:schemeClr val="lt1"/>
                </a:solidFill>
                <a:latin typeface="Calibri"/>
                <a:ea typeface="Calibri"/>
                <a:cs typeface="Calibri"/>
                <a:sym typeface="Calibri"/>
              </a:rPr>
              <a:t>, también conocido simplemente como "rango", es una medida estadística que indica la diferencia entre el valor máximo y el valor mínimo en un conjunto de datos.</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a:solidFill>
                  <a:schemeClr val="lt1"/>
                </a:solidFill>
                <a:latin typeface="Calibri"/>
                <a:ea typeface="Calibri"/>
                <a:cs typeface="Calibri"/>
                <a:sym typeface="Calibri"/>
              </a:rPr>
              <a:t>En otras palabras, es la amplitud o extensión total de los valores presentes en el conjunto de datos.</a:t>
            </a:r>
            <a:endParaRPr/>
          </a:p>
        </p:txBody>
      </p:sp>
      <p:sp>
        <p:nvSpPr>
          <p:cNvPr id="174" name="Google Shape;174;p10"/>
          <p:cNvSpPr/>
          <p:nvPr/>
        </p:nvSpPr>
        <p:spPr>
          <a:xfrm>
            <a:off x="6054781" y="1581697"/>
            <a:ext cx="5318449" cy="3816179"/>
          </a:xfrm>
          <a:prstGeom prst="roundRect">
            <a:avLst>
              <a:gd name="adj" fmla="val 2971"/>
            </a:avLst>
          </a:prstGeom>
          <a:solidFill>
            <a:schemeClr val="lt1"/>
          </a:solidFill>
          <a:ln w="28575"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75" name="Google Shape;175;p10" descr="Rango"/>
          <p:cNvPicPr preferRelativeResize="0"/>
          <p:nvPr/>
        </p:nvPicPr>
        <p:blipFill rotWithShape="1">
          <a:blip r:embed="rId3">
            <a:alphaModFix/>
          </a:blip>
          <a:srcRect/>
          <a:stretch/>
        </p:blipFill>
        <p:spPr>
          <a:xfrm>
            <a:off x="6223217" y="2022936"/>
            <a:ext cx="4981575" cy="2933700"/>
          </a:xfrm>
          <a:prstGeom prst="rect">
            <a:avLst/>
          </a:prstGeom>
          <a:noFill/>
          <a:ln>
            <a:noFill/>
          </a:ln>
        </p:spPr>
      </p:pic>
      <p:sp>
        <p:nvSpPr>
          <p:cNvPr id="176" name="Google Shape;176;p10"/>
          <p:cNvSpPr txBox="1"/>
          <p:nvPr/>
        </p:nvSpPr>
        <p:spPr>
          <a:xfrm>
            <a:off x="1899232" y="4692364"/>
            <a:ext cx="2725508" cy="369332"/>
          </a:xfrm>
          <a:prstGeom prst="rect">
            <a:avLst/>
          </a:prstGeom>
          <a:blipFill rotWithShape="1">
            <a:blip r:embed="rId4">
              <a:alphaModFix/>
            </a:blip>
            <a:stretch>
              <a:fillRect b="-1666"/>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72"/>
                                        </p:tgtEl>
                                        <p:attrNameLst>
                                          <p:attrName>style.visibility</p:attrName>
                                        </p:attrNameLst>
                                      </p:cBhvr>
                                      <p:to>
                                        <p:strVal val="visible"/>
                                      </p:to>
                                    </p:set>
                                    <p:animEffect transition="in" filter="fade">
                                      <p:cBhvr>
                                        <p:cTn id="7" dur="500"/>
                                        <p:tgtEl>
                                          <p:spTgt spid="1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11"/>
          <p:cNvSpPr/>
          <p:nvPr/>
        </p:nvSpPr>
        <p:spPr>
          <a:xfrm>
            <a:off x="608525" y="1191450"/>
            <a:ext cx="10953000" cy="4545600"/>
          </a:xfrm>
          <a:prstGeom prst="roundRect">
            <a:avLst>
              <a:gd name="adj" fmla="val 2971"/>
            </a:avLst>
          </a:prstGeom>
          <a:gradFill>
            <a:gsLst>
              <a:gs pos="0">
                <a:srgbClr val="541844"/>
              </a:gs>
              <a:gs pos="50000">
                <a:srgbClr val="7A2363"/>
              </a:gs>
              <a:gs pos="100000">
                <a:srgbClr val="932B78"/>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2" name="Google Shape;182;p11"/>
          <p:cNvSpPr txBox="1"/>
          <p:nvPr/>
        </p:nvSpPr>
        <p:spPr>
          <a:xfrm>
            <a:off x="825096" y="322732"/>
            <a:ext cx="10662053" cy="684702"/>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ES" sz="3200">
                <a:solidFill>
                  <a:srgbClr val="7F7F7F"/>
                </a:solidFill>
                <a:latin typeface="Arial"/>
                <a:ea typeface="Arial"/>
                <a:cs typeface="Arial"/>
                <a:sym typeface="Arial"/>
              </a:rPr>
              <a:t>Varianza</a:t>
            </a:r>
            <a:endParaRPr/>
          </a:p>
        </p:txBody>
      </p:sp>
      <p:sp>
        <p:nvSpPr>
          <p:cNvPr id="183" name="Google Shape;183;p11"/>
          <p:cNvSpPr txBox="1"/>
          <p:nvPr/>
        </p:nvSpPr>
        <p:spPr>
          <a:xfrm>
            <a:off x="825097" y="1584231"/>
            <a:ext cx="5146225" cy="286232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La varianza es una medida importante en estadística porque proporciona información sobre la dispersión de los datos.</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a:solidFill>
                  <a:schemeClr val="lt1"/>
                </a:solidFill>
                <a:latin typeface="Calibri"/>
                <a:ea typeface="Calibri"/>
                <a:cs typeface="Calibri"/>
                <a:sym typeface="Calibri"/>
              </a:rPr>
              <a:t>Valores de varianza más altos indican una mayor dispersión de los datos alrededor de la media, mientras que valores de varianza más bajos indican una menor dispersión. Nótese que la varianza se incrementa de forma cuadrática en la medida que los puntos más se alejan de su media.</a:t>
            </a:r>
            <a:endParaRPr/>
          </a:p>
        </p:txBody>
      </p:sp>
      <p:sp>
        <p:nvSpPr>
          <p:cNvPr id="184" name="Google Shape;184;p11"/>
          <p:cNvSpPr/>
          <p:nvPr/>
        </p:nvSpPr>
        <p:spPr>
          <a:xfrm>
            <a:off x="6178423" y="1260816"/>
            <a:ext cx="5318400" cy="4407000"/>
          </a:xfrm>
          <a:prstGeom prst="roundRect">
            <a:avLst>
              <a:gd name="adj" fmla="val 2971"/>
            </a:avLst>
          </a:prstGeom>
          <a:solidFill>
            <a:schemeClr val="lt1"/>
          </a:solidFill>
          <a:ln w="28575"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5" name="Google Shape;185;p11"/>
          <p:cNvSpPr txBox="1"/>
          <p:nvPr/>
        </p:nvSpPr>
        <p:spPr>
          <a:xfrm>
            <a:off x="1860745" y="4744910"/>
            <a:ext cx="2914600" cy="646331"/>
          </a:xfrm>
          <a:prstGeom prst="rect">
            <a:avLst/>
          </a:pr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pic>
        <p:nvPicPr>
          <p:cNvPr id="186" name="Google Shape;186;p11"/>
          <p:cNvPicPr preferRelativeResize="0"/>
          <p:nvPr/>
        </p:nvPicPr>
        <p:blipFill rotWithShape="1">
          <a:blip r:embed="rId4">
            <a:alphaModFix/>
          </a:blip>
          <a:srcRect/>
          <a:stretch/>
        </p:blipFill>
        <p:spPr>
          <a:xfrm>
            <a:off x="6552300" y="2208825"/>
            <a:ext cx="4793725" cy="26305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82"/>
                                        </p:tgtEl>
                                        <p:attrNameLst>
                                          <p:attrName>style.visibility</p:attrName>
                                        </p:attrNameLst>
                                      </p:cBhvr>
                                      <p:to>
                                        <p:strVal val="visible"/>
                                      </p:to>
                                    </p:set>
                                    <p:animEffect transition="in" filter="fade">
                                      <p:cBhvr>
                                        <p:cTn id="7" dur="500"/>
                                        <p:tgtEl>
                                          <p:spTgt spid="1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12"/>
          <p:cNvSpPr/>
          <p:nvPr/>
        </p:nvSpPr>
        <p:spPr>
          <a:xfrm>
            <a:off x="608513" y="1191456"/>
            <a:ext cx="10994907" cy="4498143"/>
          </a:xfrm>
          <a:prstGeom prst="roundRect">
            <a:avLst>
              <a:gd name="adj" fmla="val 2971"/>
            </a:avLst>
          </a:prstGeom>
          <a:gradFill>
            <a:gsLst>
              <a:gs pos="0">
                <a:srgbClr val="541844"/>
              </a:gs>
              <a:gs pos="50000">
                <a:srgbClr val="7A2363"/>
              </a:gs>
              <a:gs pos="100000">
                <a:srgbClr val="932B78"/>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2" name="Google Shape;192;p12"/>
          <p:cNvSpPr txBox="1"/>
          <p:nvPr/>
        </p:nvSpPr>
        <p:spPr>
          <a:xfrm>
            <a:off x="704850" y="322732"/>
            <a:ext cx="10782300" cy="684702"/>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s-ES" sz="3200">
                <a:solidFill>
                  <a:srgbClr val="7F7F7F"/>
                </a:solidFill>
                <a:latin typeface="Arial"/>
                <a:ea typeface="Arial"/>
                <a:cs typeface="Arial"/>
                <a:sym typeface="Arial"/>
              </a:rPr>
              <a:t>Desviación Estándar</a:t>
            </a:r>
            <a:endParaRPr/>
          </a:p>
        </p:txBody>
      </p:sp>
      <p:sp>
        <p:nvSpPr>
          <p:cNvPr id="193" name="Google Shape;193;p12"/>
          <p:cNvSpPr txBox="1"/>
          <p:nvPr/>
        </p:nvSpPr>
        <p:spPr>
          <a:xfrm>
            <a:off x="773672" y="1818089"/>
            <a:ext cx="5146225" cy="2585323"/>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La desviación estándar se calcula como la raíz cuadrada de la varianza. La varianza, como mencioné anteriormente, es la media de las diferencias al cuadrado entre cada valor individual y la media del conjunto de datos. </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a:solidFill>
                  <a:schemeClr val="lt1"/>
                </a:solidFill>
                <a:latin typeface="Calibri"/>
                <a:ea typeface="Calibri"/>
                <a:cs typeface="Calibri"/>
                <a:sym typeface="Calibri"/>
              </a:rPr>
              <a:t>Al tomar la raíz cuadrada de la varianza, obtenemos una medida de dispersión en las mismas unidades que los datos originales.</a:t>
            </a:r>
            <a:endParaRPr sz="1800">
              <a:solidFill>
                <a:schemeClr val="lt1"/>
              </a:solidFill>
              <a:latin typeface="Calibri"/>
              <a:ea typeface="Calibri"/>
              <a:cs typeface="Calibri"/>
              <a:sym typeface="Calibri"/>
            </a:endParaRPr>
          </a:p>
        </p:txBody>
      </p:sp>
      <p:sp>
        <p:nvSpPr>
          <p:cNvPr id="194" name="Google Shape;194;p12"/>
          <p:cNvSpPr/>
          <p:nvPr/>
        </p:nvSpPr>
        <p:spPr>
          <a:xfrm>
            <a:off x="6199550" y="1237091"/>
            <a:ext cx="5318400" cy="4407000"/>
          </a:xfrm>
          <a:prstGeom prst="roundRect">
            <a:avLst>
              <a:gd name="adj" fmla="val 2971"/>
            </a:avLst>
          </a:prstGeom>
          <a:solidFill>
            <a:schemeClr val="lt1"/>
          </a:solidFill>
          <a:ln w="28575"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95" name="Google Shape;195;p12"/>
          <p:cNvPicPr preferRelativeResize="0"/>
          <p:nvPr/>
        </p:nvPicPr>
        <p:blipFill rotWithShape="1">
          <a:blip r:embed="rId3">
            <a:alphaModFix/>
          </a:blip>
          <a:srcRect/>
          <a:stretch/>
        </p:blipFill>
        <p:spPr>
          <a:xfrm>
            <a:off x="6503053" y="2204825"/>
            <a:ext cx="4711385" cy="2585300"/>
          </a:xfrm>
          <a:prstGeom prst="rect">
            <a:avLst/>
          </a:prstGeom>
          <a:noFill/>
          <a:ln>
            <a:noFill/>
          </a:ln>
        </p:spPr>
      </p:pic>
      <p:sp>
        <p:nvSpPr>
          <p:cNvPr id="196" name="Google Shape;196;p12"/>
          <p:cNvSpPr txBox="1"/>
          <p:nvPr/>
        </p:nvSpPr>
        <p:spPr>
          <a:xfrm>
            <a:off x="2137043" y="4790132"/>
            <a:ext cx="2130157" cy="369332"/>
          </a:xfrm>
          <a:prstGeom prst="rect">
            <a:avLst/>
          </a:prstGeom>
          <a:blipFill rotWithShape="1">
            <a:blip r:embed="rId4">
              <a:alphaModFix/>
            </a:blip>
            <a:stretch>
              <a:fillRect b="-13332"/>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92"/>
                                        </p:tgtEl>
                                        <p:attrNameLst>
                                          <p:attrName>style.visibility</p:attrName>
                                        </p:attrNameLst>
                                      </p:cBhvr>
                                      <p:to>
                                        <p:strVal val="visible"/>
                                      </p:to>
                                    </p:set>
                                    <p:animEffect transition="in" filter="fade">
                                      <p:cBhvr>
                                        <p:cTn id="7" dur="500"/>
                                        <p:tgtEl>
                                          <p:spTgt spid="1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13"/>
          <p:cNvSpPr txBox="1"/>
          <p:nvPr/>
        </p:nvSpPr>
        <p:spPr>
          <a:xfrm>
            <a:off x="704850" y="506187"/>
            <a:ext cx="10782300" cy="731156"/>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s-ES" sz="3200">
                <a:solidFill>
                  <a:srgbClr val="7F7F7F"/>
                </a:solidFill>
                <a:latin typeface="Arial"/>
                <a:ea typeface="Arial"/>
                <a:cs typeface="Arial"/>
                <a:sym typeface="Arial"/>
              </a:rPr>
              <a:t>Corrección de Bessel</a:t>
            </a:r>
            <a:endParaRPr/>
          </a:p>
        </p:txBody>
      </p:sp>
      <p:sp>
        <p:nvSpPr>
          <p:cNvPr id="203" name="Google Shape;203;p13"/>
          <p:cNvSpPr/>
          <p:nvPr/>
        </p:nvSpPr>
        <p:spPr>
          <a:xfrm>
            <a:off x="-605913" y="1527611"/>
            <a:ext cx="10990133" cy="3582869"/>
          </a:xfrm>
          <a:prstGeom prst="roundRect">
            <a:avLst>
              <a:gd name="adj" fmla="val 2971"/>
            </a:avLst>
          </a:prstGeom>
          <a:gradFill>
            <a:gsLst>
              <a:gs pos="0">
                <a:srgbClr val="541844"/>
              </a:gs>
              <a:gs pos="50000">
                <a:srgbClr val="7A2363"/>
              </a:gs>
              <a:gs pos="100000">
                <a:srgbClr val="932B78"/>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4" name="Google Shape;204;p13"/>
          <p:cNvSpPr txBox="1"/>
          <p:nvPr/>
        </p:nvSpPr>
        <p:spPr>
          <a:xfrm>
            <a:off x="704850" y="1887884"/>
            <a:ext cx="8874158" cy="286232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Cuando se quiere estimar la desviación estándar como indicador estadístico de una población a partir de una muestra, es importante considerar que, en general, las muestras tienden a subestimar la variabilidad de la población. Sin embargo, esto se puede mejorar con la corrección de Bessel:</a:t>
            </a:r>
            <a:endParaRPr/>
          </a:p>
          <a:p>
            <a:pPr marL="285750" marR="0" lvl="0" indent="-171450" algn="just" rtl="0">
              <a:spcBef>
                <a:spcPts val="0"/>
              </a:spcBef>
              <a:spcAft>
                <a:spcPts val="0"/>
              </a:spcAft>
              <a:buClr>
                <a:schemeClr val="dk1"/>
              </a:buClr>
              <a:buSzPts val="1800"/>
              <a:buFont typeface="Arial"/>
              <a:buNone/>
            </a:pPr>
            <a:endParaRPr sz="1800">
              <a:solidFill>
                <a:schemeClr val="lt1"/>
              </a:solidFill>
              <a:latin typeface="Calibri"/>
              <a:ea typeface="Calibri"/>
              <a:cs typeface="Calibri"/>
              <a:sym typeface="Calibri"/>
            </a:endParaRPr>
          </a:p>
          <a:p>
            <a:pPr marL="285750" marR="0" lvl="0" indent="-285750" algn="just" rtl="0">
              <a:spcBef>
                <a:spcPts val="0"/>
              </a:spcBef>
              <a:spcAft>
                <a:spcPts val="0"/>
              </a:spcAft>
              <a:buClr>
                <a:schemeClr val="lt1"/>
              </a:buClr>
              <a:buSzPts val="1800"/>
              <a:buFont typeface="Arial"/>
              <a:buChar char="•"/>
            </a:pPr>
            <a:r>
              <a:rPr lang="es-ES" sz="1800">
                <a:solidFill>
                  <a:schemeClr val="lt1"/>
                </a:solidFill>
                <a:latin typeface="Calibri"/>
                <a:ea typeface="Calibri"/>
                <a:cs typeface="Calibri"/>
                <a:sym typeface="Calibri"/>
              </a:rPr>
              <a:t>Si estamos estimando la desviación estándar (o la varianza) de la población a partir de una muestra, debemos dividir por n -1</a:t>
            </a:r>
            <a:endParaRPr/>
          </a:p>
          <a:p>
            <a:pPr marL="285750" marR="0" lvl="0" indent="-171450" algn="just" rtl="0">
              <a:spcBef>
                <a:spcPts val="0"/>
              </a:spcBef>
              <a:spcAft>
                <a:spcPts val="0"/>
              </a:spcAft>
              <a:buClr>
                <a:schemeClr val="dk1"/>
              </a:buClr>
              <a:buSzPts val="1800"/>
              <a:buFont typeface="Arial"/>
              <a:buNone/>
            </a:pPr>
            <a:endParaRPr sz="1800">
              <a:solidFill>
                <a:schemeClr val="lt1"/>
              </a:solidFill>
              <a:latin typeface="Calibri"/>
              <a:ea typeface="Calibri"/>
              <a:cs typeface="Calibri"/>
              <a:sym typeface="Calibri"/>
            </a:endParaRPr>
          </a:p>
          <a:p>
            <a:pPr marL="285750" marR="0" lvl="0" indent="-285750" algn="just" rtl="0">
              <a:spcBef>
                <a:spcPts val="0"/>
              </a:spcBef>
              <a:spcAft>
                <a:spcPts val="0"/>
              </a:spcAft>
              <a:buClr>
                <a:schemeClr val="lt1"/>
              </a:buClr>
              <a:buSzPts val="1800"/>
              <a:buFont typeface="Arial"/>
              <a:buChar char="•"/>
            </a:pPr>
            <a:r>
              <a:rPr lang="es-ES" sz="1800">
                <a:solidFill>
                  <a:schemeClr val="lt1"/>
                </a:solidFill>
                <a:latin typeface="Calibri"/>
                <a:ea typeface="Calibri"/>
                <a:cs typeface="Calibri"/>
                <a:sym typeface="Calibri"/>
              </a:rPr>
              <a:t>Si estamos midiendo la desviación estándar (o la varianza) de la población, debemos dividir por n.</a:t>
            </a:r>
            <a:endParaRPr/>
          </a:p>
        </p:txBody>
      </p:sp>
      <p:sp>
        <p:nvSpPr>
          <p:cNvPr id="205" name="Google Shape;205;p13"/>
          <p:cNvSpPr txBox="1"/>
          <p:nvPr/>
        </p:nvSpPr>
        <p:spPr>
          <a:xfrm>
            <a:off x="1044216" y="5705482"/>
            <a:ext cx="5356583" cy="769441"/>
          </a:xfrm>
          <a:prstGeom prst="rect">
            <a:avLst/>
          </a:prstGeom>
          <a:solidFill>
            <a:srgbClr val="F2F2F2"/>
          </a:solidFill>
          <a:ln w="9525"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a:solidFill>
                  <a:srgbClr val="7F7F7F"/>
                </a:solidFill>
                <a:latin typeface="Calibri"/>
                <a:ea typeface="Calibri"/>
                <a:cs typeface="Calibri"/>
                <a:sym typeface="Calibri"/>
              </a:rPr>
              <a:t>*Corrección de Bessel</a:t>
            </a:r>
            <a:endParaRPr sz="1600">
              <a:solidFill>
                <a:srgbClr val="7F7F7F"/>
              </a:solidFill>
              <a:latin typeface="Calibri"/>
              <a:ea typeface="Calibri"/>
              <a:cs typeface="Calibri"/>
              <a:sym typeface="Calibri"/>
            </a:endParaRPr>
          </a:p>
          <a:p>
            <a:pPr marL="0" marR="0" lvl="0" indent="0" algn="l" rtl="0">
              <a:spcBef>
                <a:spcPts val="0"/>
              </a:spcBef>
              <a:spcAft>
                <a:spcPts val="0"/>
              </a:spcAft>
              <a:buNone/>
            </a:pPr>
            <a:r>
              <a:rPr lang="es-ES" sz="1600">
                <a:solidFill>
                  <a:srgbClr val="7F7F7F"/>
                </a:solidFill>
                <a:latin typeface="Calibri"/>
                <a:ea typeface="Calibri"/>
                <a:cs typeface="Calibri"/>
                <a:sym typeface="Calibri"/>
              </a:rPr>
              <a:t>https://es.wikipedia.org/wiki/Correcci%C3%B3n_de_Bessel</a:t>
            </a:r>
            <a:endParaRPr/>
          </a:p>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02"/>
                                        </p:tgtEl>
                                        <p:attrNameLst>
                                          <p:attrName>style.visibility</p:attrName>
                                        </p:attrNameLst>
                                      </p:cBhvr>
                                      <p:to>
                                        <p:strVal val="visible"/>
                                      </p:to>
                                    </p:set>
                                    <p:animEffect transition="in" filter="fade">
                                      <p:cBhvr>
                                        <p:cTn id="7" dur="500"/>
                                        <p:tgtEl>
                                          <p:spTgt spid="2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14"/>
          <p:cNvSpPr txBox="1"/>
          <p:nvPr/>
        </p:nvSpPr>
        <p:spPr>
          <a:xfrm>
            <a:off x="1281085" y="1196514"/>
            <a:ext cx="10325099" cy="731156"/>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ES" sz="3200">
                <a:solidFill>
                  <a:srgbClr val="7F7F7F"/>
                </a:solidFill>
                <a:latin typeface="Arial"/>
                <a:ea typeface="Arial"/>
                <a:cs typeface="Arial"/>
                <a:sym typeface="Arial"/>
              </a:rPr>
              <a:t>Corrección de Bessel</a:t>
            </a:r>
            <a:endParaRPr/>
          </a:p>
        </p:txBody>
      </p:sp>
      <p:sp>
        <p:nvSpPr>
          <p:cNvPr id="212" name="Google Shape;212;p14"/>
          <p:cNvSpPr/>
          <p:nvPr/>
        </p:nvSpPr>
        <p:spPr>
          <a:xfrm>
            <a:off x="1153969" y="2559803"/>
            <a:ext cx="4659630" cy="2963109"/>
          </a:xfrm>
          <a:prstGeom prst="roundRect">
            <a:avLst>
              <a:gd name="adj" fmla="val 2971"/>
            </a:avLst>
          </a:prstGeom>
          <a:gradFill>
            <a:gsLst>
              <a:gs pos="0">
                <a:srgbClr val="541844"/>
              </a:gs>
              <a:gs pos="50000">
                <a:srgbClr val="7A2363"/>
              </a:gs>
              <a:gs pos="100000">
                <a:srgbClr val="932B78"/>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3" name="Google Shape;213;p14"/>
          <p:cNvSpPr txBox="1"/>
          <p:nvPr/>
        </p:nvSpPr>
        <p:spPr>
          <a:xfrm>
            <a:off x="1415437" y="2617988"/>
            <a:ext cx="4136700" cy="369300"/>
          </a:xfrm>
          <a:prstGeom prst="rect">
            <a:avLst/>
          </a:prstGeom>
          <a:noFill/>
          <a:ln>
            <a:noFill/>
          </a:ln>
        </p:spPr>
        <p:txBody>
          <a:bodyPr spcFirstLastPara="1" wrap="square" lIns="91425" tIns="45700" rIns="91425" bIns="45700" anchor="t" anchorCtr="0">
            <a:spAutoFit/>
          </a:bodyPr>
          <a:lstStyle/>
          <a:p>
            <a:r>
              <a:rPr lang="es-ES" sz="1800" dirty="0">
                <a:solidFill>
                  <a:schemeClr val="lt1"/>
                </a:solidFill>
                <a:latin typeface="Arial"/>
                <a:ea typeface="Arial"/>
                <a:cs typeface="Arial"/>
                <a:sym typeface="Arial"/>
              </a:rPr>
              <a:t>Desviación estándar de</a:t>
            </a:r>
            <a:r>
              <a:rPr lang="es-ES" sz="1800" dirty="0">
                <a:solidFill>
                  <a:schemeClr val="lt1"/>
                </a:solidFill>
              </a:rPr>
              <a:t> la población</a:t>
            </a:r>
            <a:endParaRPr dirty="0">
              <a:solidFill>
                <a:schemeClr val="lt1"/>
              </a:solidFill>
            </a:endParaRPr>
          </a:p>
        </p:txBody>
      </p:sp>
      <p:sp>
        <p:nvSpPr>
          <p:cNvPr id="214" name="Google Shape;214;p14"/>
          <p:cNvSpPr/>
          <p:nvPr/>
        </p:nvSpPr>
        <p:spPr>
          <a:xfrm>
            <a:off x="1281085" y="3092914"/>
            <a:ext cx="4405397" cy="2154169"/>
          </a:xfrm>
          <a:prstGeom prst="roundRect">
            <a:avLst>
              <a:gd name="adj" fmla="val 2971"/>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5" name="Google Shape;215;p14"/>
          <p:cNvSpPr txBox="1"/>
          <p:nvPr/>
        </p:nvSpPr>
        <p:spPr>
          <a:xfrm>
            <a:off x="1661432" y="3347265"/>
            <a:ext cx="3272700" cy="1183500"/>
          </a:xfrm>
          <a:prstGeom prst="rect">
            <a:avLst/>
          </a:pr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216" name="Google Shape;216;p14"/>
          <p:cNvSpPr/>
          <p:nvPr/>
        </p:nvSpPr>
        <p:spPr>
          <a:xfrm>
            <a:off x="6501246" y="2559803"/>
            <a:ext cx="4659630" cy="2963109"/>
          </a:xfrm>
          <a:prstGeom prst="roundRect">
            <a:avLst>
              <a:gd name="adj" fmla="val 2971"/>
            </a:avLst>
          </a:prstGeom>
          <a:gradFill>
            <a:gsLst>
              <a:gs pos="0">
                <a:srgbClr val="541844"/>
              </a:gs>
              <a:gs pos="50000">
                <a:srgbClr val="7A2363"/>
              </a:gs>
              <a:gs pos="100000">
                <a:srgbClr val="932B78"/>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7" name="Google Shape;217;p14"/>
          <p:cNvSpPr txBox="1"/>
          <p:nvPr/>
        </p:nvSpPr>
        <p:spPr>
          <a:xfrm>
            <a:off x="6715325" y="2617975"/>
            <a:ext cx="4195200" cy="369300"/>
          </a:xfrm>
          <a:prstGeom prst="rect">
            <a:avLst/>
          </a:prstGeom>
          <a:noFill/>
          <a:ln>
            <a:noFill/>
          </a:ln>
        </p:spPr>
        <p:txBody>
          <a:bodyPr spcFirstLastPara="1" wrap="square" lIns="91425" tIns="45700" rIns="91425" bIns="45700" anchor="t" anchorCtr="0">
            <a:spAutoFit/>
          </a:bodyPr>
          <a:lstStyle/>
          <a:p>
            <a:r>
              <a:rPr lang="es-ES" sz="1800" dirty="0">
                <a:solidFill>
                  <a:schemeClr val="lt1"/>
                </a:solidFill>
                <a:latin typeface="Arial"/>
                <a:ea typeface="Arial"/>
                <a:cs typeface="Arial"/>
                <a:sym typeface="Arial"/>
              </a:rPr>
              <a:t>Desviación estándar de </a:t>
            </a:r>
            <a:r>
              <a:rPr lang="es-ES" sz="1800" dirty="0">
                <a:solidFill>
                  <a:schemeClr val="lt1"/>
                </a:solidFill>
              </a:rPr>
              <a:t>una muestra</a:t>
            </a:r>
            <a:endParaRPr lang="es-ES" dirty="0">
              <a:solidFill>
                <a:schemeClr val="lt1"/>
              </a:solidFill>
            </a:endParaRPr>
          </a:p>
        </p:txBody>
      </p:sp>
      <p:sp>
        <p:nvSpPr>
          <p:cNvPr id="218" name="Google Shape;218;p14"/>
          <p:cNvSpPr/>
          <p:nvPr/>
        </p:nvSpPr>
        <p:spPr>
          <a:xfrm>
            <a:off x="6628362" y="3045488"/>
            <a:ext cx="4405500" cy="2154300"/>
          </a:xfrm>
          <a:prstGeom prst="roundRect">
            <a:avLst>
              <a:gd name="adj" fmla="val 2971"/>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9" name="Google Shape;219;p14"/>
          <p:cNvSpPr txBox="1"/>
          <p:nvPr/>
        </p:nvSpPr>
        <p:spPr>
          <a:xfrm>
            <a:off x="7145271" y="3347253"/>
            <a:ext cx="2914500" cy="1183500"/>
          </a:xfrm>
          <a:prstGeom prst="rect">
            <a:avLst/>
          </a:pr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11"/>
                                        </p:tgtEl>
                                        <p:attrNameLst>
                                          <p:attrName>style.visibility</p:attrName>
                                        </p:attrNameLst>
                                      </p:cBhvr>
                                      <p:to>
                                        <p:strVal val="visible"/>
                                      </p:to>
                                    </p:set>
                                    <p:animEffect transition="in" filter="fade">
                                      <p:cBhvr>
                                        <p:cTn id="7" dur="500"/>
                                        <p:tgtEl>
                                          <p:spTgt spid="2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15"/>
          <p:cNvSpPr txBox="1"/>
          <p:nvPr/>
        </p:nvSpPr>
        <p:spPr>
          <a:xfrm>
            <a:off x="938995" y="348829"/>
            <a:ext cx="10782300" cy="752433"/>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Medidas de Dispersión</a:t>
            </a:r>
            <a:endParaRPr/>
          </a:p>
        </p:txBody>
      </p:sp>
      <p:sp>
        <p:nvSpPr>
          <p:cNvPr id="225" name="Google Shape;225;p15"/>
          <p:cNvSpPr/>
          <p:nvPr/>
        </p:nvSpPr>
        <p:spPr>
          <a:xfrm>
            <a:off x="998651" y="1198875"/>
            <a:ext cx="10920000" cy="4632900"/>
          </a:xfrm>
          <a:prstGeom prst="roundRect">
            <a:avLst>
              <a:gd name="adj" fmla="val 2971"/>
            </a:avLst>
          </a:prstGeom>
          <a:solidFill>
            <a:srgbClr val="8D3275"/>
          </a:solidFill>
          <a:ln w="38100" cap="flat" cmpd="sng">
            <a:solidFill>
              <a:srgbClr val="8D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6" name="Google Shape;226;p15"/>
          <p:cNvSpPr txBox="1"/>
          <p:nvPr/>
        </p:nvSpPr>
        <p:spPr>
          <a:xfrm>
            <a:off x="1142820" y="1394133"/>
            <a:ext cx="2813400" cy="15546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900">
                <a:solidFill>
                  <a:schemeClr val="lt1"/>
                </a:solidFill>
                <a:latin typeface="Calibri"/>
                <a:ea typeface="Calibri"/>
                <a:cs typeface="Calibri"/>
                <a:sym typeface="Calibri"/>
              </a:rPr>
              <a:t>A continuación, algunos ejemplos de cómo realizar cálculos de </a:t>
            </a:r>
            <a:r>
              <a:rPr lang="es-ES" sz="1900" b="1">
                <a:solidFill>
                  <a:schemeClr val="lt1"/>
                </a:solidFill>
                <a:latin typeface="Calibri"/>
                <a:ea typeface="Calibri"/>
                <a:cs typeface="Calibri"/>
                <a:sym typeface="Calibri"/>
              </a:rPr>
              <a:t>medidas de dispersión</a:t>
            </a:r>
            <a:r>
              <a:rPr lang="es-ES" sz="1900">
                <a:solidFill>
                  <a:schemeClr val="lt1"/>
                </a:solidFill>
                <a:latin typeface="Calibri"/>
                <a:ea typeface="Calibri"/>
                <a:cs typeface="Calibri"/>
                <a:sym typeface="Calibri"/>
              </a:rPr>
              <a:t> en Python con la librería Pandas.</a:t>
            </a:r>
            <a:endParaRPr sz="1300"/>
          </a:p>
        </p:txBody>
      </p:sp>
      <p:sp>
        <p:nvSpPr>
          <p:cNvPr id="227" name="Google Shape;227;p15"/>
          <p:cNvSpPr/>
          <p:nvPr/>
        </p:nvSpPr>
        <p:spPr>
          <a:xfrm>
            <a:off x="4199668" y="1296495"/>
            <a:ext cx="7613959" cy="4437727"/>
          </a:xfrm>
          <a:prstGeom prst="roundRect">
            <a:avLst>
              <a:gd name="adj" fmla="val 2971"/>
            </a:avLst>
          </a:prstGeom>
          <a:solidFill>
            <a:schemeClr val="lt1"/>
          </a:solidFill>
          <a:ln w="381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28" name="Google Shape;228;p15"/>
          <p:cNvPicPr preferRelativeResize="0"/>
          <p:nvPr/>
        </p:nvPicPr>
        <p:blipFill rotWithShape="1">
          <a:blip r:embed="rId3">
            <a:alphaModFix/>
          </a:blip>
          <a:srcRect/>
          <a:stretch/>
        </p:blipFill>
        <p:spPr>
          <a:xfrm>
            <a:off x="4313419" y="1394113"/>
            <a:ext cx="7407876" cy="424249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24"/>
                                        </p:tgtEl>
                                        <p:attrNameLst>
                                          <p:attrName>style.visibility</p:attrName>
                                        </p:attrNameLst>
                                      </p:cBhvr>
                                      <p:to>
                                        <p:strVal val="visible"/>
                                      </p:to>
                                    </p:set>
                                    <p:animEffect transition="in" filter="fade">
                                      <p:cBhvr>
                                        <p:cTn id="7" dur="500"/>
                                        <p:tgtEl>
                                          <p:spTgt spid="2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16"/>
          <p:cNvSpPr/>
          <p:nvPr/>
        </p:nvSpPr>
        <p:spPr>
          <a:xfrm>
            <a:off x="-412616" y="1397876"/>
            <a:ext cx="11842615" cy="4281564"/>
          </a:xfrm>
          <a:prstGeom prst="roundRect">
            <a:avLst>
              <a:gd name="adj" fmla="val 2971"/>
            </a:avLst>
          </a:prstGeom>
          <a:gradFill>
            <a:gsLst>
              <a:gs pos="0">
                <a:srgbClr val="541844"/>
              </a:gs>
              <a:gs pos="50000">
                <a:srgbClr val="7A2363"/>
              </a:gs>
              <a:gs pos="100000">
                <a:srgbClr val="932B78"/>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4" name="Google Shape;234;p16"/>
          <p:cNvSpPr txBox="1"/>
          <p:nvPr/>
        </p:nvSpPr>
        <p:spPr>
          <a:xfrm>
            <a:off x="1037543" y="418924"/>
            <a:ext cx="10519147"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s-ES" sz="3200">
                <a:solidFill>
                  <a:srgbClr val="7F7F7F"/>
                </a:solidFill>
                <a:latin typeface="Arial"/>
                <a:ea typeface="Arial"/>
                <a:cs typeface="Arial"/>
                <a:sym typeface="Arial"/>
              </a:rPr>
              <a:t>Medidas de Posición</a:t>
            </a:r>
            <a:endParaRPr/>
          </a:p>
        </p:txBody>
      </p:sp>
      <p:sp>
        <p:nvSpPr>
          <p:cNvPr id="235" name="Google Shape;235;p16"/>
          <p:cNvSpPr txBox="1"/>
          <p:nvPr/>
        </p:nvSpPr>
        <p:spPr>
          <a:xfrm>
            <a:off x="1037543" y="1845053"/>
            <a:ext cx="9168002" cy="341632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Las medidas de posición, también conocidas como </a:t>
            </a:r>
            <a:r>
              <a:rPr lang="es-ES" sz="1800" b="1">
                <a:solidFill>
                  <a:schemeClr val="lt1"/>
                </a:solidFill>
                <a:latin typeface="Calibri"/>
                <a:ea typeface="Calibri"/>
                <a:cs typeface="Calibri"/>
                <a:sym typeface="Calibri"/>
              </a:rPr>
              <a:t>cuantiles</a:t>
            </a:r>
            <a:r>
              <a:rPr lang="es-ES" sz="1800">
                <a:solidFill>
                  <a:schemeClr val="lt1"/>
                </a:solidFill>
                <a:latin typeface="Calibri"/>
                <a:ea typeface="Calibri"/>
                <a:cs typeface="Calibri"/>
                <a:sym typeface="Calibri"/>
              </a:rPr>
              <a:t>, son estadísticas que dividen un conjunto de datos ordenados en partes iguales o proporcionales. Estas medidas son útiles para comprender la distribución de los datos y para identificar valores atípicos. Las medidas más habituales son las siguientes:</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285750" marR="0" lvl="0" indent="-285750" algn="just" rtl="0">
              <a:spcBef>
                <a:spcPts val="0"/>
              </a:spcBef>
              <a:spcAft>
                <a:spcPts val="0"/>
              </a:spcAft>
              <a:buClr>
                <a:schemeClr val="lt1"/>
              </a:buClr>
              <a:buSzPts val="1800"/>
              <a:buFont typeface="Arial"/>
              <a:buChar char="•"/>
            </a:pPr>
            <a:r>
              <a:rPr lang="es-ES" sz="1800" b="1">
                <a:solidFill>
                  <a:schemeClr val="lt1"/>
                </a:solidFill>
                <a:latin typeface="Calibri"/>
                <a:ea typeface="Calibri"/>
                <a:cs typeface="Calibri"/>
                <a:sym typeface="Calibri"/>
              </a:rPr>
              <a:t>El cuartil:</a:t>
            </a:r>
            <a:r>
              <a:rPr lang="es-ES" sz="1800">
                <a:solidFill>
                  <a:schemeClr val="lt1"/>
                </a:solidFill>
                <a:latin typeface="Calibri"/>
                <a:ea typeface="Calibri"/>
                <a:cs typeface="Calibri"/>
                <a:sym typeface="Calibri"/>
              </a:rPr>
              <a:t> divide la distribución en 4 partes iguales, por lo tanto hay 3 cuartiles.</a:t>
            </a:r>
            <a:endParaRPr/>
          </a:p>
          <a:p>
            <a:pPr marL="285750" marR="0" lvl="0" indent="-171450" algn="just" rtl="0">
              <a:spcBef>
                <a:spcPts val="0"/>
              </a:spcBef>
              <a:spcAft>
                <a:spcPts val="0"/>
              </a:spcAft>
              <a:buClr>
                <a:schemeClr val="dk1"/>
              </a:buClr>
              <a:buSzPts val="1800"/>
              <a:buFont typeface="Arial"/>
              <a:buNone/>
            </a:pPr>
            <a:endParaRPr sz="1800">
              <a:solidFill>
                <a:schemeClr val="lt1"/>
              </a:solidFill>
              <a:latin typeface="Calibri"/>
              <a:ea typeface="Calibri"/>
              <a:cs typeface="Calibri"/>
              <a:sym typeface="Calibri"/>
            </a:endParaRPr>
          </a:p>
          <a:p>
            <a:pPr marL="285750" marR="0" lvl="0" indent="-285750" algn="just" rtl="0">
              <a:spcBef>
                <a:spcPts val="0"/>
              </a:spcBef>
              <a:spcAft>
                <a:spcPts val="0"/>
              </a:spcAft>
              <a:buClr>
                <a:schemeClr val="lt1"/>
              </a:buClr>
              <a:buSzPts val="1800"/>
              <a:buFont typeface="Arial"/>
              <a:buChar char="•"/>
            </a:pPr>
            <a:r>
              <a:rPr lang="es-ES" sz="1800" b="1">
                <a:solidFill>
                  <a:schemeClr val="lt1"/>
                </a:solidFill>
                <a:latin typeface="Calibri"/>
                <a:ea typeface="Calibri"/>
                <a:cs typeface="Calibri"/>
                <a:sym typeface="Calibri"/>
              </a:rPr>
              <a:t>El quintil: </a:t>
            </a:r>
            <a:r>
              <a:rPr lang="es-ES" sz="1800">
                <a:solidFill>
                  <a:schemeClr val="lt1"/>
                </a:solidFill>
                <a:latin typeface="Calibri"/>
                <a:ea typeface="Calibri"/>
                <a:cs typeface="Calibri"/>
                <a:sym typeface="Calibri"/>
              </a:rPr>
              <a:t>divide la distribución en 5 partes, por lo tanto hay 4 quintiles.</a:t>
            </a:r>
            <a:endParaRPr/>
          </a:p>
          <a:p>
            <a:pPr marL="285750" marR="0" lvl="0" indent="-171450" algn="just" rtl="0">
              <a:spcBef>
                <a:spcPts val="0"/>
              </a:spcBef>
              <a:spcAft>
                <a:spcPts val="0"/>
              </a:spcAft>
              <a:buClr>
                <a:schemeClr val="dk1"/>
              </a:buClr>
              <a:buSzPts val="1800"/>
              <a:buFont typeface="Arial"/>
              <a:buNone/>
            </a:pPr>
            <a:endParaRPr sz="1800">
              <a:solidFill>
                <a:schemeClr val="lt1"/>
              </a:solidFill>
              <a:latin typeface="Calibri"/>
              <a:ea typeface="Calibri"/>
              <a:cs typeface="Calibri"/>
              <a:sym typeface="Calibri"/>
            </a:endParaRPr>
          </a:p>
          <a:p>
            <a:pPr marL="285750" marR="0" lvl="0" indent="-285750" algn="just" rtl="0">
              <a:spcBef>
                <a:spcPts val="0"/>
              </a:spcBef>
              <a:spcAft>
                <a:spcPts val="0"/>
              </a:spcAft>
              <a:buClr>
                <a:schemeClr val="lt1"/>
              </a:buClr>
              <a:buSzPts val="1800"/>
              <a:buFont typeface="Arial"/>
              <a:buChar char="•"/>
            </a:pPr>
            <a:r>
              <a:rPr lang="es-ES" sz="1800" b="1">
                <a:solidFill>
                  <a:schemeClr val="lt1"/>
                </a:solidFill>
                <a:latin typeface="Calibri"/>
                <a:ea typeface="Calibri"/>
                <a:cs typeface="Calibri"/>
                <a:sym typeface="Calibri"/>
              </a:rPr>
              <a:t>El decil: </a:t>
            </a:r>
            <a:r>
              <a:rPr lang="es-ES" sz="1800">
                <a:solidFill>
                  <a:schemeClr val="lt1"/>
                </a:solidFill>
                <a:latin typeface="Calibri"/>
                <a:ea typeface="Calibri"/>
                <a:cs typeface="Calibri"/>
                <a:sym typeface="Calibri"/>
              </a:rPr>
              <a:t>divide la distribución en 10 partes iguales.</a:t>
            </a:r>
            <a:endParaRPr/>
          </a:p>
          <a:p>
            <a:pPr marL="285750" marR="0" lvl="0" indent="-171450" algn="just" rtl="0">
              <a:spcBef>
                <a:spcPts val="0"/>
              </a:spcBef>
              <a:spcAft>
                <a:spcPts val="0"/>
              </a:spcAft>
              <a:buClr>
                <a:schemeClr val="dk1"/>
              </a:buClr>
              <a:buSzPts val="1800"/>
              <a:buFont typeface="Arial"/>
              <a:buNone/>
            </a:pPr>
            <a:endParaRPr sz="1800">
              <a:solidFill>
                <a:schemeClr val="lt1"/>
              </a:solidFill>
              <a:latin typeface="Calibri"/>
              <a:ea typeface="Calibri"/>
              <a:cs typeface="Calibri"/>
              <a:sym typeface="Calibri"/>
            </a:endParaRPr>
          </a:p>
          <a:p>
            <a:pPr marL="285750" marR="0" lvl="0" indent="-285750" algn="just" rtl="0">
              <a:spcBef>
                <a:spcPts val="0"/>
              </a:spcBef>
              <a:spcAft>
                <a:spcPts val="0"/>
              </a:spcAft>
              <a:buClr>
                <a:schemeClr val="lt1"/>
              </a:buClr>
              <a:buSzPts val="1800"/>
              <a:buFont typeface="Arial"/>
              <a:buChar char="•"/>
            </a:pPr>
            <a:r>
              <a:rPr lang="es-ES" sz="1800" b="1">
                <a:solidFill>
                  <a:schemeClr val="lt1"/>
                </a:solidFill>
                <a:latin typeface="Calibri"/>
                <a:ea typeface="Calibri"/>
                <a:cs typeface="Calibri"/>
                <a:sym typeface="Calibri"/>
              </a:rPr>
              <a:t>El percentil: </a:t>
            </a:r>
            <a:r>
              <a:rPr lang="es-ES" sz="1800">
                <a:solidFill>
                  <a:schemeClr val="lt1"/>
                </a:solidFill>
                <a:latin typeface="Calibri"/>
                <a:ea typeface="Calibri"/>
                <a:cs typeface="Calibri"/>
                <a:sym typeface="Calibri"/>
              </a:rPr>
              <a:t>divide la distribución en 100 partes iguales.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34"/>
                                        </p:tgtEl>
                                        <p:attrNameLst>
                                          <p:attrName>style.visibility</p:attrName>
                                        </p:attrNameLst>
                                      </p:cBhvr>
                                      <p:to>
                                        <p:strVal val="visible"/>
                                      </p:to>
                                    </p:set>
                                    <p:animEffect transition="in" filter="fade">
                                      <p:cBhvr>
                                        <p:cTn id="7" dur="500"/>
                                        <p:tgtEl>
                                          <p:spTgt spid="2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17"/>
          <p:cNvSpPr/>
          <p:nvPr/>
        </p:nvSpPr>
        <p:spPr>
          <a:xfrm>
            <a:off x="704850" y="1189156"/>
            <a:ext cx="10782300" cy="4663440"/>
          </a:xfrm>
          <a:prstGeom prst="roundRect">
            <a:avLst>
              <a:gd name="adj" fmla="val 2971"/>
            </a:avLst>
          </a:prstGeom>
          <a:gradFill>
            <a:gsLst>
              <a:gs pos="0">
                <a:srgbClr val="541844"/>
              </a:gs>
              <a:gs pos="50000">
                <a:srgbClr val="7A2363"/>
              </a:gs>
              <a:gs pos="100000">
                <a:srgbClr val="932B78"/>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1" name="Google Shape;241;p17"/>
          <p:cNvSpPr txBox="1"/>
          <p:nvPr/>
        </p:nvSpPr>
        <p:spPr>
          <a:xfrm>
            <a:off x="953830" y="116772"/>
            <a:ext cx="10259000"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s-ES" sz="3200">
                <a:solidFill>
                  <a:srgbClr val="7F7F7F"/>
                </a:solidFill>
                <a:latin typeface="Arial"/>
                <a:ea typeface="Arial"/>
                <a:cs typeface="Arial"/>
                <a:sym typeface="Arial"/>
              </a:rPr>
              <a:t>Cuartiles</a:t>
            </a:r>
            <a:endParaRPr/>
          </a:p>
        </p:txBody>
      </p:sp>
      <p:sp>
        <p:nvSpPr>
          <p:cNvPr id="242" name="Google Shape;242;p17"/>
          <p:cNvSpPr txBox="1"/>
          <p:nvPr/>
        </p:nvSpPr>
        <p:spPr>
          <a:xfrm>
            <a:off x="953830" y="1388497"/>
            <a:ext cx="10258999" cy="92333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Los Cuartiles dividen el conjunto de datos en cuatro partes iguales. El primer cuartil (Q1) representa el 25% de los datos más bajos, el segundo cuartil (Q2) es la mediana y representa el 50% de los datos, y el tercer cuartil (Q3) representa el 75% de los datos más bajos.</a:t>
            </a:r>
            <a:endParaRPr/>
          </a:p>
        </p:txBody>
      </p:sp>
      <p:sp>
        <p:nvSpPr>
          <p:cNvPr id="243" name="Google Shape;243;p17"/>
          <p:cNvSpPr/>
          <p:nvPr/>
        </p:nvSpPr>
        <p:spPr>
          <a:xfrm>
            <a:off x="813293" y="2511169"/>
            <a:ext cx="10586227" cy="3254702"/>
          </a:xfrm>
          <a:prstGeom prst="roundRect">
            <a:avLst>
              <a:gd name="adj" fmla="val 2971"/>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44" name="Google Shape;244;p17"/>
          <p:cNvPicPr preferRelativeResize="0"/>
          <p:nvPr/>
        </p:nvPicPr>
        <p:blipFill rotWithShape="1">
          <a:blip r:embed="rId3">
            <a:alphaModFix/>
          </a:blip>
          <a:srcRect/>
          <a:stretch/>
        </p:blipFill>
        <p:spPr>
          <a:xfrm>
            <a:off x="3863762" y="3633840"/>
            <a:ext cx="326901" cy="769798"/>
          </a:xfrm>
          <a:prstGeom prst="rect">
            <a:avLst/>
          </a:prstGeom>
          <a:noFill/>
          <a:ln>
            <a:noFill/>
          </a:ln>
        </p:spPr>
      </p:pic>
      <p:pic>
        <p:nvPicPr>
          <p:cNvPr id="245" name="Google Shape;245;p17"/>
          <p:cNvPicPr preferRelativeResize="0"/>
          <p:nvPr/>
        </p:nvPicPr>
        <p:blipFill rotWithShape="1">
          <a:blip r:embed="rId3">
            <a:alphaModFix/>
          </a:blip>
          <a:srcRect/>
          <a:stretch/>
        </p:blipFill>
        <p:spPr>
          <a:xfrm>
            <a:off x="4349906" y="3626856"/>
            <a:ext cx="326901" cy="769798"/>
          </a:xfrm>
          <a:prstGeom prst="rect">
            <a:avLst/>
          </a:prstGeom>
          <a:noFill/>
          <a:ln>
            <a:noFill/>
          </a:ln>
        </p:spPr>
      </p:pic>
      <p:pic>
        <p:nvPicPr>
          <p:cNvPr id="246" name="Google Shape;246;p17"/>
          <p:cNvPicPr preferRelativeResize="0"/>
          <p:nvPr/>
        </p:nvPicPr>
        <p:blipFill rotWithShape="1">
          <a:blip r:embed="rId3">
            <a:alphaModFix/>
          </a:blip>
          <a:srcRect/>
          <a:stretch/>
        </p:blipFill>
        <p:spPr>
          <a:xfrm>
            <a:off x="4836050" y="3626856"/>
            <a:ext cx="326901" cy="769798"/>
          </a:xfrm>
          <a:prstGeom prst="rect">
            <a:avLst/>
          </a:prstGeom>
          <a:noFill/>
          <a:ln>
            <a:noFill/>
          </a:ln>
        </p:spPr>
      </p:pic>
      <p:pic>
        <p:nvPicPr>
          <p:cNvPr id="247" name="Google Shape;247;p17"/>
          <p:cNvPicPr preferRelativeResize="0"/>
          <p:nvPr/>
        </p:nvPicPr>
        <p:blipFill rotWithShape="1">
          <a:blip r:embed="rId3">
            <a:alphaModFix/>
          </a:blip>
          <a:srcRect/>
          <a:stretch/>
        </p:blipFill>
        <p:spPr>
          <a:xfrm>
            <a:off x="5322194" y="3633840"/>
            <a:ext cx="326901" cy="769798"/>
          </a:xfrm>
          <a:prstGeom prst="rect">
            <a:avLst/>
          </a:prstGeom>
          <a:noFill/>
          <a:ln>
            <a:noFill/>
          </a:ln>
        </p:spPr>
      </p:pic>
      <p:pic>
        <p:nvPicPr>
          <p:cNvPr id="248" name="Google Shape;248;p17"/>
          <p:cNvPicPr preferRelativeResize="0"/>
          <p:nvPr/>
        </p:nvPicPr>
        <p:blipFill rotWithShape="1">
          <a:blip r:embed="rId3">
            <a:alphaModFix/>
          </a:blip>
          <a:srcRect/>
          <a:stretch/>
        </p:blipFill>
        <p:spPr>
          <a:xfrm>
            <a:off x="5808338" y="3633840"/>
            <a:ext cx="326901" cy="769798"/>
          </a:xfrm>
          <a:prstGeom prst="rect">
            <a:avLst/>
          </a:prstGeom>
          <a:noFill/>
          <a:ln>
            <a:noFill/>
          </a:ln>
        </p:spPr>
      </p:pic>
      <p:pic>
        <p:nvPicPr>
          <p:cNvPr id="249" name="Google Shape;249;p17"/>
          <p:cNvPicPr preferRelativeResize="0"/>
          <p:nvPr/>
        </p:nvPicPr>
        <p:blipFill rotWithShape="1">
          <a:blip r:embed="rId3">
            <a:alphaModFix/>
          </a:blip>
          <a:srcRect/>
          <a:stretch/>
        </p:blipFill>
        <p:spPr>
          <a:xfrm>
            <a:off x="6294482" y="3633840"/>
            <a:ext cx="326901" cy="769798"/>
          </a:xfrm>
          <a:prstGeom prst="rect">
            <a:avLst/>
          </a:prstGeom>
          <a:noFill/>
          <a:ln>
            <a:noFill/>
          </a:ln>
        </p:spPr>
      </p:pic>
      <p:pic>
        <p:nvPicPr>
          <p:cNvPr id="250" name="Google Shape;250;p17"/>
          <p:cNvPicPr preferRelativeResize="0"/>
          <p:nvPr/>
        </p:nvPicPr>
        <p:blipFill rotWithShape="1">
          <a:blip r:embed="rId3">
            <a:alphaModFix/>
          </a:blip>
          <a:srcRect/>
          <a:stretch/>
        </p:blipFill>
        <p:spPr>
          <a:xfrm>
            <a:off x="6780626" y="3626856"/>
            <a:ext cx="326901" cy="769798"/>
          </a:xfrm>
          <a:prstGeom prst="rect">
            <a:avLst/>
          </a:prstGeom>
          <a:noFill/>
          <a:ln>
            <a:noFill/>
          </a:ln>
        </p:spPr>
      </p:pic>
      <p:pic>
        <p:nvPicPr>
          <p:cNvPr id="251" name="Google Shape;251;p17"/>
          <p:cNvPicPr preferRelativeResize="0"/>
          <p:nvPr/>
        </p:nvPicPr>
        <p:blipFill rotWithShape="1">
          <a:blip r:embed="rId3">
            <a:alphaModFix/>
          </a:blip>
          <a:srcRect/>
          <a:stretch/>
        </p:blipFill>
        <p:spPr>
          <a:xfrm>
            <a:off x="7266770" y="3626856"/>
            <a:ext cx="326901" cy="769798"/>
          </a:xfrm>
          <a:prstGeom prst="rect">
            <a:avLst/>
          </a:prstGeom>
          <a:noFill/>
          <a:ln>
            <a:noFill/>
          </a:ln>
        </p:spPr>
      </p:pic>
      <p:pic>
        <p:nvPicPr>
          <p:cNvPr id="252" name="Google Shape;252;p17"/>
          <p:cNvPicPr preferRelativeResize="0"/>
          <p:nvPr/>
        </p:nvPicPr>
        <p:blipFill rotWithShape="1">
          <a:blip r:embed="rId3">
            <a:alphaModFix/>
          </a:blip>
          <a:srcRect/>
          <a:stretch/>
        </p:blipFill>
        <p:spPr>
          <a:xfrm>
            <a:off x="7752914" y="3633840"/>
            <a:ext cx="326901" cy="769798"/>
          </a:xfrm>
          <a:prstGeom prst="rect">
            <a:avLst/>
          </a:prstGeom>
          <a:noFill/>
          <a:ln>
            <a:noFill/>
          </a:ln>
        </p:spPr>
      </p:pic>
      <p:pic>
        <p:nvPicPr>
          <p:cNvPr id="253" name="Google Shape;253;p17"/>
          <p:cNvPicPr preferRelativeResize="0"/>
          <p:nvPr/>
        </p:nvPicPr>
        <p:blipFill rotWithShape="1">
          <a:blip r:embed="rId3">
            <a:alphaModFix/>
          </a:blip>
          <a:srcRect/>
          <a:stretch/>
        </p:blipFill>
        <p:spPr>
          <a:xfrm>
            <a:off x="8239061" y="3633840"/>
            <a:ext cx="326901" cy="769798"/>
          </a:xfrm>
          <a:prstGeom prst="rect">
            <a:avLst/>
          </a:prstGeom>
          <a:noFill/>
          <a:ln>
            <a:noFill/>
          </a:ln>
        </p:spPr>
      </p:pic>
      <p:cxnSp>
        <p:nvCxnSpPr>
          <p:cNvPr id="254" name="Google Shape;254;p17"/>
          <p:cNvCxnSpPr/>
          <p:nvPr/>
        </p:nvCxnSpPr>
        <p:spPr>
          <a:xfrm>
            <a:off x="2082800" y="4516773"/>
            <a:ext cx="7271243" cy="0"/>
          </a:xfrm>
          <a:prstGeom prst="straightConnector1">
            <a:avLst/>
          </a:prstGeom>
          <a:noFill/>
          <a:ln w="9525" cap="flat" cmpd="sng">
            <a:solidFill>
              <a:schemeClr val="dk1"/>
            </a:solidFill>
            <a:prstDash val="solid"/>
            <a:miter lim="800000"/>
            <a:headEnd type="none" w="sm" len="sm"/>
            <a:tailEnd type="triangle" w="med" len="med"/>
          </a:ln>
        </p:spPr>
      </p:cxnSp>
      <p:sp>
        <p:nvSpPr>
          <p:cNvPr id="255" name="Google Shape;255;p17"/>
          <p:cNvSpPr txBox="1"/>
          <p:nvPr/>
        </p:nvSpPr>
        <p:spPr>
          <a:xfrm>
            <a:off x="8889933" y="4581096"/>
            <a:ext cx="103284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dk1"/>
                </a:solidFill>
                <a:latin typeface="Calibri"/>
                <a:ea typeface="Calibri"/>
                <a:cs typeface="Calibri"/>
                <a:sym typeface="Calibri"/>
              </a:rPr>
              <a:t>Peso (kg)</a:t>
            </a:r>
            <a:endParaRPr/>
          </a:p>
        </p:txBody>
      </p:sp>
      <p:sp>
        <p:nvSpPr>
          <p:cNvPr id="256" name="Google Shape;256;p17"/>
          <p:cNvSpPr txBox="1"/>
          <p:nvPr/>
        </p:nvSpPr>
        <p:spPr>
          <a:xfrm>
            <a:off x="2916531" y="4589269"/>
            <a:ext cx="584247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dk1"/>
                </a:solidFill>
                <a:latin typeface="Calibri"/>
                <a:ea typeface="Calibri"/>
                <a:cs typeface="Calibri"/>
                <a:sym typeface="Calibri"/>
              </a:rPr>
              <a:t>40    45    50     55    60      65     70     75     80    85     90     95</a:t>
            </a:r>
            <a:endParaRPr/>
          </a:p>
        </p:txBody>
      </p:sp>
      <p:pic>
        <p:nvPicPr>
          <p:cNvPr id="257" name="Google Shape;257;p17"/>
          <p:cNvPicPr preferRelativeResize="0"/>
          <p:nvPr/>
        </p:nvPicPr>
        <p:blipFill rotWithShape="1">
          <a:blip r:embed="rId3">
            <a:alphaModFix/>
          </a:blip>
          <a:srcRect/>
          <a:stretch/>
        </p:blipFill>
        <p:spPr>
          <a:xfrm>
            <a:off x="3402678" y="3633840"/>
            <a:ext cx="326901" cy="769798"/>
          </a:xfrm>
          <a:prstGeom prst="rect">
            <a:avLst/>
          </a:prstGeom>
          <a:noFill/>
          <a:ln>
            <a:noFill/>
          </a:ln>
        </p:spPr>
      </p:pic>
      <p:pic>
        <p:nvPicPr>
          <p:cNvPr id="258" name="Google Shape;258;p17"/>
          <p:cNvPicPr preferRelativeResize="0"/>
          <p:nvPr/>
        </p:nvPicPr>
        <p:blipFill rotWithShape="1">
          <a:blip r:embed="rId3">
            <a:alphaModFix/>
          </a:blip>
          <a:srcRect/>
          <a:stretch/>
        </p:blipFill>
        <p:spPr>
          <a:xfrm>
            <a:off x="2916531" y="3626856"/>
            <a:ext cx="326901" cy="769798"/>
          </a:xfrm>
          <a:prstGeom prst="rect">
            <a:avLst/>
          </a:prstGeom>
          <a:noFill/>
          <a:ln>
            <a:noFill/>
          </a:ln>
        </p:spPr>
      </p:pic>
      <p:sp>
        <p:nvSpPr>
          <p:cNvPr id="259" name="Google Shape;259;p17"/>
          <p:cNvSpPr/>
          <p:nvPr/>
        </p:nvSpPr>
        <p:spPr>
          <a:xfrm>
            <a:off x="4190663" y="4449016"/>
            <a:ext cx="132080" cy="132080"/>
          </a:xfrm>
          <a:prstGeom prst="ellipse">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0" name="Google Shape;260;p17"/>
          <p:cNvSpPr/>
          <p:nvPr/>
        </p:nvSpPr>
        <p:spPr>
          <a:xfrm>
            <a:off x="5669047" y="4439570"/>
            <a:ext cx="132080" cy="132080"/>
          </a:xfrm>
          <a:prstGeom prst="ellipse">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1" name="Google Shape;261;p17"/>
          <p:cNvSpPr/>
          <p:nvPr/>
        </p:nvSpPr>
        <p:spPr>
          <a:xfrm>
            <a:off x="7116859" y="4460976"/>
            <a:ext cx="132080" cy="132080"/>
          </a:xfrm>
          <a:prstGeom prst="ellipse">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2" name="Google Shape;262;p17"/>
          <p:cNvSpPr txBox="1"/>
          <p:nvPr/>
        </p:nvSpPr>
        <p:spPr>
          <a:xfrm>
            <a:off x="4055173" y="4945672"/>
            <a:ext cx="403059" cy="369332"/>
          </a:xfrm>
          <a:prstGeom prst="rect">
            <a:avLst/>
          </a:prstGeom>
          <a:blipFill rotWithShape="1">
            <a:blip r:embed="rId4">
              <a:alphaModFix/>
            </a:blip>
            <a:stretch>
              <a:fillRect l="-24241" r="-6058" b="-27865"/>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263" name="Google Shape;263;p17"/>
          <p:cNvSpPr txBox="1"/>
          <p:nvPr/>
        </p:nvSpPr>
        <p:spPr>
          <a:xfrm>
            <a:off x="5568729" y="4958601"/>
            <a:ext cx="410176" cy="369332"/>
          </a:xfrm>
          <a:prstGeom prst="rect">
            <a:avLst/>
          </a:prstGeom>
          <a:blipFill rotWithShape="1">
            <a:blip r:embed="rId5">
              <a:alphaModFix/>
            </a:blip>
            <a:stretch>
              <a:fillRect l="-23880" r="-5969" b="-27865"/>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264" name="Google Shape;264;p17"/>
          <p:cNvSpPr txBox="1"/>
          <p:nvPr/>
        </p:nvSpPr>
        <p:spPr>
          <a:xfrm>
            <a:off x="6981369" y="4986871"/>
            <a:ext cx="410176" cy="369332"/>
          </a:xfrm>
          <a:prstGeom prst="rect">
            <a:avLst/>
          </a:prstGeom>
          <a:blipFill rotWithShape="1">
            <a:blip r:embed="rId6">
              <a:alphaModFix/>
            </a:blip>
            <a:stretch>
              <a:fillRect l="-23528" r="-4411" b="-27865"/>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41"/>
                                        </p:tgtEl>
                                        <p:attrNameLst>
                                          <p:attrName>style.visibility</p:attrName>
                                        </p:attrNameLst>
                                      </p:cBhvr>
                                      <p:to>
                                        <p:strVal val="visible"/>
                                      </p:to>
                                    </p:set>
                                    <p:animEffect transition="in" filter="fade">
                                      <p:cBhvr>
                                        <p:cTn id="7" dur="500"/>
                                        <p:tgtEl>
                                          <p:spTgt spid="2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18"/>
          <p:cNvSpPr/>
          <p:nvPr/>
        </p:nvSpPr>
        <p:spPr>
          <a:xfrm>
            <a:off x="704850" y="1189156"/>
            <a:ext cx="10782300" cy="4663440"/>
          </a:xfrm>
          <a:prstGeom prst="roundRect">
            <a:avLst>
              <a:gd name="adj" fmla="val 2971"/>
            </a:avLst>
          </a:prstGeom>
          <a:gradFill>
            <a:gsLst>
              <a:gs pos="0">
                <a:srgbClr val="541844"/>
              </a:gs>
              <a:gs pos="50000">
                <a:srgbClr val="7A2363"/>
              </a:gs>
              <a:gs pos="100000">
                <a:srgbClr val="932B78"/>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0" name="Google Shape;270;p18"/>
          <p:cNvSpPr txBox="1"/>
          <p:nvPr/>
        </p:nvSpPr>
        <p:spPr>
          <a:xfrm>
            <a:off x="1040524" y="116772"/>
            <a:ext cx="9995338"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s-ES" sz="3200">
                <a:solidFill>
                  <a:srgbClr val="7F7F7F"/>
                </a:solidFill>
                <a:latin typeface="Arial"/>
                <a:ea typeface="Arial"/>
                <a:cs typeface="Arial"/>
                <a:sym typeface="Arial"/>
              </a:rPr>
              <a:t>Quintiles</a:t>
            </a:r>
            <a:endParaRPr/>
          </a:p>
        </p:txBody>
      </p:sp>
      <p:sp>
        <p:nvSpPr>
          <p:cNvPr id="271" name="Google Shape;271;p18"/>
          <p:cNvSpPr txBox="1"/>
          <p:nvPr/>
        </p:nvSpPr>
        <p:spPr>
          <a:xfrm>
            <a:off x="953830" y="1388497"/>
            <a:ext cx="10258999"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lt1"/>
                </a:solidFill>
                <a:latin typeface="Calibri"/>
                <a:ea typeface="Calibri"/>
                <a:cs typeface="Calibri"/>
                <a:sym typeface="Calibri"/>
              </a:rPr>
              <a:t>Los Quintiles dividen el conjunto de datos en cinco partes iguales, lo que significa que hay cuatro puntos de división. Los quintiles se usan menos comúnmente que los cuartiles, pero son útiles cuando se necesita una mayor granularidad en la división de los datos.</a:t>
            </a:r>
            <a:endParaRPr/>
          </a:p>
        </p:txBody>
      </p:sp>
      <p:sp>
        <p:nvSpPr>
          <p:cNvPr id="272" name="Google Shape;272;p18"/>
          <p:cNvSpPr/>
          <p:nvPr/>
        </p:nvSpPr>
        <p:spPr>
          <a:xfrm>
            <a:off x="813293" y="2511169"/>
            <a:ext cx="10586227" cy="3254702"/>
          </a:xfrm>
          <a:prstGeom prst="roundRect">
            <a:avLst>
              <a:gd name="adj" fmla="val 2971"/>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73" name="Google Shape;273;p18"/>
          <p:cNvPicPr preferRelativeResize="0"/>
          <p:nvPr/>
        </p:nvPicPr>
        <p:blipFill rotWithShape="1">
          <a:blip r:embed="rId3">
            <a:alphaModFix/>
          </a:blip>
          <a:srcRect/>
          <a:stretch/>
        </p:blipFill>
        <p:spPr>
          <a:xfrm>
            <a:off x="3619922" y="3633840"/>
            <a:ext cx="326901" cy="769798"/>
          </a:xfrm>
          <a:prstGeom prst="rect">
            <a:avLst/>
          </a:prstGeom>
          <a:noFill/>
          <a:ln>
            <a:noFill/>
          </a:ln>
        </p:spPr>
      </p:pic>
      <p:pic>
        <p:nvPicPr>
          <p:cNvPr id="274" name="Google Shape;274;p18"/>
          <p:cNvPicPr preferRelativeResize="0"/>
          <p:nvPr/>
        </p:nvPicPr>
        <p:blipFill rotWithShape="1">
          <a:blip r:embed="rId3">
            <a:alphaModFix/>
          </a:blip>
          <a:srcRect/>
          <a:stretch/>
        </p:blipFill>
        <p:spPr>
          <a:xfrm>
            <a:off x="4106066" y="3626856"/>
            <a:ext cx="326901" cy="769798"/>
          </a:xfrm>
          <a:prstGeom prst="rect">
            <a:avLst/>
          </a:prstGeom>
          <a:noFill/>
          <a:ln>
            <a:noFill/>
          </a:ln>
        </p:spPr>
      </p:pic>
      <p:pic>
        <p:nvPicPr>
          <p:cNvPr id="275" name="Google Shape;275;p18"/>
          <p:cNvPicPr preferRelativeResize="0"/>
          <p:nvPr/>
        </p:nvPicPr>
        <p:blipFill rotWithShape="1">
          <a:blip r:embed="rId3">
            <a:alphaModFix/>
          </a:blip>
          <a:srcRect/>
          <a:stretch/>
        </p:blipFill>
        <p:spPr>
          <a:xfrm>
            <a:off x="4592210" y="3626856"/>
            <a:ext cx="326901" cy="769798"/>
          </a:xfrm>
          <a:prstGeom prst="rect">
            <a:avLst/>
          </a:prstGeom>
          <a:noFill/>
          <a:ln>
            <a:noFill/>
          </a:ln>
        </p:spPr>
      </p:pic>
      <p:pic>
        <p:nvPicPr>
          <p:cNvPr id="276" name="Google Shape;276;p18"/>
          <p:cNvPicPr preferRelativeResize="0"/>
          <p:nvPr/>
        </p:nvPicPr>
        <p:blipFill rotWithShape="1">
          <a:blip r:embed="rId3">
            <a:alphaModFix/>
          </a:blip>
          <a:srcRect/>
          <a:stretch/>
        </p:blipFill>
        <p:spPr>
          <a:xfrm>
            <a:off x="5078354" y="3633840"/>
            <a:ext cx="326901" cy="769798"/>
          </a:xfrm>
          <a:prstGeom prst="rect">
            <a:avLst/>
          </a:prstGeom>
          <a:noFill/>
          <a:ln>
            <a:noFill/>
          </a:ln>
        </p:spPr>
      </p:pic>
      <p:pic>
        <p:nvPicPr>
          <p:cNvPr id="277" name="Google Shape;277;p18"/>
          <p:cNvPicPr preferRelativeResize="0"/>
          <p:nvPr/>
        </p:nvPicPr>
        <p:blipFill rotWithShape="1">
          <a:blip r:embed="rId3">
            <a:alphaModFix/>
          </a:blip>
          <a:srcRect/>
          <a:stretch/>
        </p:blipFill>
        <p:spPr>
          <a:xfrm>
            <a:off x="5564498" y="3633840"/>
            <a:ext cx="326901" cy="769798"/>
          </a:xfrm>
          <a:prstGeom prst="rect">
            <a:avLst/>
          </a:prstGeom>
          <a:noFill/>
          <a:ln>
            <a:noFill/>
          </a:ln>
        </p:spPr>
      </p:pic>
      <p:pic>
        <p:nvPicPr>
          <p:cNvPr id="278" name="Google Shape;278;p18"/>
          <p:cNvPicPr preferRelativeResize="0"/>
          <p:nvPr/>
        </p:nvPicPr>
        <p:blipFill rotWithShape="1">
          <a:blip r:embed="rId3">
            <a:alphaModFix/>
          </a:blip>
          <a:srcRect/>
          <a:stretch/>
        </p:blipFill>
        <p:spPr>
          <a:xfrm>
            <a:off x="6050642" y="3633840"/>
            <a:ext cx="326901" cy="769798"/>
          </a:xfrm>
          <a:prstGeom prst="rect">
            <a:avLst/>
          </a:prstGeom>
          <a:noFill/>
          <a:ln>
            <a:noFill/>
          </a:ln>
        </p:spPr>
      </p:pic>
      <p:pic>
        <p:nvPicPr>
          <p:cNvPr id="279" name="Google Shape;279;p18"/>
          <p:cNvPicPr preferRelativeResize="0"/>
          <p:nvPr/>
        </p:nvPicPr>
        <p:blipFill rotWithShape="1">
          <a:blip r:embed="rId3">
            <a:alphaModFix/>
          </a:blip>
          <a:srcRect/>
          <a:stretch/>
        </p:blipFill>
        <p:spPr>
          <a:xfrm>
            <a:off x="6536786" y="3626856"/>
            <a:ext cx="326901" cy="769798"/>
          </a:xfrm>
          <a:prstGeom prst="rect">
            <a:avLst/>
          </a:prstGeom>
          <a:noFill/>
          <a:ln>
            <a:noFill/>
          </a:ln>
        </p:spPr>
      </p:pic>
      <p:pic>
        <p:nvPicPr>
          <p:cNvPr id="280" name="Google Shape;280;p18"/>
          <p:cNvPicPr preferRelativeResize="0"/>
          <p:nvPr/>
        </p:nvPicPr>
        <p:blipFill rotWithShape="1">
          <a:blip r:embed="rId3">
            <a:alphaModFix/>
          </a:blip>
          <a:srcRect/>
          <a:stretch/>
        </p:blipFill>
        <p:spPr>
          <a:xfrm>
            <a:off x="7022930" y="3626856"/>
            <a:ext cx="326901" cy="769798"/>
          </a:xfrm>
          <a:prstGeom prst="rect">
            <a:avLst/>
          </a:prstGeom>
          <a:noFill/>
          <a:ln>
            <a:noFill/>
          </a:ln>
        </p:spPr>
      </p:pic>
      <p:pic>
        <p:nvPicPr>
          <p:cNvPr id="281" name="Google Shape;281;p18"/>
          <p:cNvPicPr preferRelativeResize="0"/>
          <p:nvPr/>
        </p:nvPicPr>
        <p:blipFill rotWithShape="1">
          <a:blip r:embed="rId3">
            <a:alphaModFix/>
          </a:blip>
          <a:srcRect/>
          <a:stretch/>
        </p:blipFill>
        <p:spPr>
          <a:xfrm>
            <a:off x="7509074" y="3633840"/>
            <a:ext cx="326901" cy="769798"/>
          </a:xfrm>
          <a:prstGeom prst="rect">
            <a:avLst/>
          </a:prstGeom>
          <a:noFill/>
          <a:ln>
            <a:noFill/>
          </a:ln>
        </p:spPr>
      </p:pic>
      <p:pic>
        <p:nvPicPr>
          <p:cNvPr id="282" name="Google Shape;282;p18"/>
          <p:cNvPicPr preferRelativeResize="0"/>
          <p:nvPr/>
        </p:nvPicPr>
        <p:blipFill rotWithShape="1">
          <a:blip r:embed="rId3">
            <a:alphaModFix/>
          </a:blip>
          <a:srcRect/>
          <a:stretch/>
        </p:blipFill>
        <p:spPr>
          <a:xfrm>
            <a:off x="7995221" y="3633840"/>
            <a:ext cx="326901" cy="769798"/>
          </a:xfrm>
          <a:prstGeom prst="rect">
            <a:avLst/>
          </a:prstGeom>
          <a:noFill/>
          <a:ln>
            <a:noFill/>
          </a:ln>
        </p:spPr>
      </p:pic>
      <p:cxnSp>
        <p:nvCxnSpPr>
          <p:cNvPr id="283" name="Google Shape;283;p18"/>
          <p:cNvCxnSpPr/>
          <p:nvPr/>
        </p:nvCxnSpPr>
        <p:spPr>
          <a:xfrm>
            <a:off x="3129280" y="4516773"/>
            <a:ext cx="5980923" cy="0"/>
          </a:xfrm>
          <a:prstGeom prst="straightConnector1">
            <a:avLst/>
          </a:prstGeom>
          <a:noFill/>
          <a:ln w="9525" cap="flat" cmpd="sng">
            <a:solidFill>
              <a:schemeClr val="dk1"/>
            </a:solidFill>
            <a:prstDash val="solid"/>
            <a:miter lim="800000"/>
            <a:headEnd type="none" w="sm" len="sm"/>
            <a:tailEnd type="triangle" w="med" len="med"/>
          </a:ln>
        </p:spPr>
      </p:cxnSp>
      <p:sp>
        <p:nvSpPr>
          <p:cNvPr id="284" name="Google Shape;284;p18"/>
          <p:cNvSpPr txBox="1"/>
          <p:nvPr/>
        </p:nvSpPr>
        <p:spPr>
          <a:xfrm>
            <a:off x="8646093" y="4581096"/>
            <a:ext cx="103284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dk1"/>
                </a:solidFill>
                <a:latin typeface="Calibri"/>
                <a:ea typeface="Calibri"/>
                <a:cs typeface="Calibri"/>
                <a:sym typeface="Calibri"/>
              </a:rPr>
              <a:t>Peso (kg)</a:t>
            </a:r>
            <a:endParaRPr/>
          </a:p>
        </p:txBody>
      </p:sp>
      <p:sp>
        <p:nvSpPr>
          <p:cNvPr id="285" name="Google Shape;285;p18"/>
          <p:cNvSpPr txBox="1"/>
          <p:nvPr/>
        </p:nvSpPr>
        <p:spPr>
          <a:xfrm>
            <a:off x="3536291" y="4589269"/>
            <a:ext cx="584247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dk1"/>
                </a:solidFill>
                <a:latin typeface="Calibri"/>
                <a:ea typeface="Calibri"/>
                <a:cs typeface="Calibri"/>
                <a:sym typeface="Calibri"/>
              </a:rPr>
              <a:t>50     55      60     65     70     75    80     85     90     95</a:t>
            </a:r>
            <a:endParaRPr/>
          </a:p>
        </p:txBody>
      </p:sp>
      <p:sp>
        <p:nvSpPr>
          <p:cNvPr id="286" name="Google Shape;286;p18"/>
          <p:cNvSpPr/>
          <p:nvPr/>
        </p:nvSpPr>
        <p:spPr>
          <a:xfrm>
            <a:off x="4444663" y="4449016"/>
            <a:ext cx="132080" cy="132080"/>
          </a:xfrm>
          <a:prstGeom prst="ellipse">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7" name="Google Shape;287;p18"/>
          <p:cNvSpPr/>
          <p:nvPr/>
        </p:nvSpPr>
        <p:spPr>
          <a:xfrm>
            <a:off x="5425207" y="4439570"/>
            <a:ext cx="132080" cy="132080"/>
          </a:xfrm>
          <a:prstGeom prst="ellipse">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8" name="Google Shape;288;p18"/>
          <p:cNvSpPr/>
          <p:nvPr/>
        </p:nvSpPr>
        <p:spPr>
          <a:xfrm>
            <a:off x="6405659" y="4460976"/>
            <a:ext cx="132080" cy="132080"/>
          </a:xfrm>
          <a:prstGeom prst="ellipse">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9" name="Google Shape;289;p18"/>
          <p:cNvSpPr txBox="1"/>
          <p:nvPr/>
        </p:nvSpPr>
        <p:spPr>
          <a:xfrm>
            <a:off x="4299013" y="4945672"/>
            <a:ext cx="403059" cy="369332"/>
          </a:xfrm>
          <a:prstGeom prst="rect">
            <a:avLst/>
          </a:prstGeom>
          <a:blipFill rotWithShape="1">
            <a:blip r:embed="rId4">
              <a:alphaModFix/>
            </a:blip>
            <a:stretch>
              <a:fillRect l="-24241" r="-6058" b="-27865"/>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290" name="Google Shape;290;p18"/>
          <p:cNvSpPr txBox="1"/>
          <p:nvPr/>
        </p:nvSpPr>
        <p:spPr>
          <a:xfrm>
            <a:off x="5324889" y="4958601"/>
            <a:ext cx="410176" cy="369332"/>
          </a:xfrm>
          <a:prstGeom prst="rect">
            <a:avLst/>
          </a:prstGeom>
          <a:blipFill rotWithShape="1">
            <a:blip r:embed="rId5">
              <a:alphaModFix/>
            </a:blip>
            <a:stretch>
              <a:fillRect l="-23880" r="-5969" b="-27865"/>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291" name="Google Shape;291;p18"/>
          <p:cNvSpPr txBox="1"/>
          <p:nvPr/>
        </p:nvSpPr>
        <p:spPr>
          <a:xfrm>
            <a:off x="6260009" y="4986871"/>
            <a:ext cx="410176" cy="369332"/>
          </a:xfrm>
          <a:prstGeom prst="rect">
            <a:avLst/>
          </a:prstGeom>
          <a:blipFill rotWithShape="1">
            <a:blip r:embed="rId6">
              <a:alphaModFix/>
            </a:blip>
            <a:stretch>
              <a:fillRect l="-23880" r="-5969" b="-27865"/>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292" name="Google Shape;292;p18"/>
          <p:cNvSpPr txBox="1"/>
          <p:nvPr/>
        </p:nvSpPr>
        <p:spPr>
          <a:xfrm>
            <a:off x="7205971" y="4976220"/>
            <a:ext cx="410176" cy="369332"/>
          </a:xfrm>
          <a:prstGeom prst="rect">
            <a:avLst/>
          </a:prstGeom>
          <a:blipFill rotWithShape="1">
            <a:blip r:embed="rId7">
              <a:alphaModFix/>
            </a:blip>
            <a:stretch>
              <a:fillRect l="-23880" r="-5969" b="-27865"/>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293" name="Google Shape;293;p18"/>
          <p:cNvSpPr/>
          <p:nvPr/>
        </p:nvSpPr>
        <p:spPr>
          <a:xfrm>
            <a:off x="7350539" y="4460976"/>
            <a:ext cx="132080" cy="132080"/>
          </a:xfrm>
          <a:prstGeom prst="ellipse">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70"/>
                                        </p:tgtEl>
                                        <p:attrNameLst>
                                          <p:attrName>style.visibility</p:attrName>
                                        </p:attrNameLst>
                                      </p:cBhvr>
                                      <p:to>
                                        <p:strVal val="visible"/>
                                      </p:to>
                                    </p:set>
                                    <p:animEffect transition="in" filter="fade">
                                      <p:cBhvr>
                                        <p:cTn id="7" dur="500"/>
                                        <p:tgtEl>
                                          <p:spTgt spid="2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19"/>
          <p:cNvSpPr/>
          <p:nvPr/>
        </p:nvSpPr>
        <p:spPr>
          <a:xfrm>
            <a:off x="704850" y="1189156"/>
            <a:ext cx="10782300" cy="4663440"/>
          </a:xfrm>
          <a:prstGeom prst="roundRect">
            <a:avLst>
              <a:gd name="adj" fmla="val 2971"/>
            </a:avLst>
          </a:prstGeom>
          <a:gradFill>
            <a:gsLst>
              <a:gs pos="0">
                <a:srgbClr val="541844"/>
              </a:gs>
              <a:gs pos="50000">
                <a:srgbClr val="7A2363"/>
              </a:gs>
              <a:gs pos="100000">
                <a:srgbClr val="932B78"/>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9" name="Google Shape;299;p19"/>
          <p:cNvSpPr txBox="1"/>
          <p:nvPr/>
        </p:nvSpPr>
        <p:spPr>
          <a:xfrm>
            <a:off x="953829" y="116058"/>
            <a:ext cx="10176626"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s-ES" sz="3200">
                <a:solidFill>
                  <a:srgbClr val="7F7F7F"/>
                </a:solidFill>
                <a:latin typeface="Arial"/>
                <a:ea typeface="Arial"/>
                <a:cs typeface="Arial"/>
                <a:sym typeface="Arial"/>
              </a:rPr>
              <a:t>Deciles</a:t>
            </a:r>
            <a:endParaRPr/>
          </a:p>
        </p:txBody>
      </p:sp>
      <p:sp>
        <p:nvSpPr>
          <p:cNvPr id="300" name="Google Shape;300;p19"/>
          <p:cNvSpPr txBox="1"/>
          <p:nvPr/>
        </p:nvSpPr>
        <p:spPr>
          <a:xfrm>
            <a:off x="953830" y="1388497"/>
            <a:ext cx="10258999" cy="92333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Los Deciles dividen un conjunto de datos ordenados en diez partes iguales, de manera que cada parte representa el 10% del total de los datos. Esto significa que hay nueve puntos de corte que dividen los datos en diez grupos, cada uno con aproximadamente el 10% de los datos.</a:t>
            </a:r>
            <a:endParaRPr/>
          </a:p>
        </p:txBody>
      </p:sp>
      <p:sp>
        <p:nvSpPr>
          <p:cNvPr id="301" name="Google Shape;301;p19"/>
          <p:cNvSpPr/>
          <p:nvPr/>
        </p:nvSpPr>
        <p:spPr>
          <a:xfrm>
            <a:off x="813293" y="2511169"/>
            <a:ext cx="10586227" cy="3254702"/>
          </a:xfrm>
          <a:prstGeom prst="roundRect">
            <a:avLst>
              <a:gd name="adj" fmla="val 2971"/>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302" name="Google Shape;302;p19"/>
          <p:cNvPicPr preferRelativeResize="0"/>
          <p:nvPr/>
        </p:nvPicPr>
        <p:blipFill rotWithShape="1">
          <a:blip r:embed="rId3">
            <a:alphaModFix/>
          </a:blip>
          <a:srcRect/>
          <a:stretch/>
        </p:blipFill>
        <p:spPr>
          <a:xfrm>
            <a:off x="3619922" y="3633840"/>
            <a:ext cx="326901" cy="769798"/>
          </a:xfrm>
          <a:prstGeom prst="rect">
            <a:avLst/>
          </a:prstGeom>
          <a:noFill/>
          <a:ln>
            <a:noFill/>
          </a:ln>
        </p:spPr>
      </p:pic>
      <p:pic>
        <p:nvPicPr>
          <p:cNvPr id="303" name="Google Shape;303;p19"/>
          <p:cNvPicPr preferRelativeResize="0"/>
          <p:nvPr/>
        </p:nvPicPr>
        <p:blipFill rotWithShape="1">
          <a:blip r:embed="rId3">
            <a:alphaModFix/>
          </a:blip>
          <a:srcRect/>
          <a:stretch/>
        </p:blipFill>
        <p:spPr>
          <a:xfrm>
            <a:off x="4106066" y="3626856"/>
            <a:ext cx="326901" cy="769798"/>
          </a:xfrm>
          <a:prstGeom prst="rect">
            <a:avLst/>
          </a:prstGeom>
          <a:noFill/>
          <a:ln>
            <a:noFill/>
          </a:ln>
        </p:spPr>
      </p:pic>
      <p:pic>
        <p:nvPicPr>
          <p:cNvPr id="304" name="Google Shape;304;p19"/>
          <p:cNvPicPr preferRelativeResize="0"/>
          <p:nvPr/>
        </p:nvPicPr>
        <p:blipFill rotWithShape="1">
          <a:blip r:embed="rId3">
            <a:alphaModFix/>
          </a:blip>
          <a:srcRect/>
          <a:stretch/>
        </p:blipFill>
        <p:spPr>
          <a:xfrm>
            <a:off x="4592210" y="3626856"/>
            <a:ext cx="326901" cy="769798"/>
          </a:xfrm>
          <a:prstGeom prst="rect">
            <a:avLst/>
          </a:prstGeom>
          <a:noFill/>
          <a:ln>
            <a:noFill/>
          </a:ln>
        </p:spPr>
      </p:pic>
      <p:pic>
        <p:nvPicPr>
          <p:cNvPr id="305" name="Google Shape;305;p19"/>
          <p:cNvPicPr preferRelativeResize="0"/>
          <p:nvPr/>
        </p:nvPicPr>
        <p:blipFill rotWithShape="1">
          <a:blip r:embed="rId3">
            <a:alphaModFix/>
          </a:blip>
          <a:srcRect/>
          <a:stretch/>
        </p:blipFill>
        <p:spPr>
          <a:xfrm>
            <a:off x="5078354" y="3633840"/>
            <a:ext cx="326901" cy="769798"/>
          </a:xfrm>
          <a:prstGeom prst="rect">
            <a:avLst/>
          </a:prstGeom>
          <a:noFill/>
          <a:ln>
            <a:noFill/>
          </a:ln>
        </p:spPr>
      </p:pic>
      <p:pic>
        <p:nvPicPr>
          <p:cNvPr id="306" name="Google Shape;306;p19"/>
          <p:cNvPicPr preferRelativeResize="0"/>
          <p:nvPr/>
        </p:nvPicPr>
        <p:blipFill rotWithShape="1">
          <a:blip r:embed="rId3">
            <a:alphaModFix/>
          </a:blip>
          <a:srcRect/>
          <a:stretch/>
        </p:blipFill>
        <p:spPr>
          <a:xfrm>
            <a:off x="5564498" y="3633840"/>
            <a:ext cx="326901" cy="769798"/>
          </a:xfrm>
          <a:prstGeom prst="rect">
            <a:avLst/>
          </a:prstGeom>
          <a:noFill/>
          <a:ln>
            <a:noFill/>
          </a:ln>
        </p:spPr>
      </p:pic>
      <p:pic>
        <p:nvPicPr>
          <p:cNvPr id="307" name="Google Shape;307;p19"/>
          <p:cNvPicPr preferRelativeResize="0"/>
          <p:nvPr/>
        </p:nvPicPr>
        <p:blipFill rotWithShape="1">
          <a:blip r:embed="rId3">
            <a:alphaModFix/>
          </a:blip>
          <a:srcRect/>
          <a:stretch/>
        </p:blipFill>
        <p:spPr>
          <a:xfrm>
            <a:off x="6050642" y="3633840"/>
            <a:ext cx="326901" cy="769798"/>
          </a:xfrm>
          <a:prstGeom prst="rect">
            <a:avLst/>
          </a:prstGeom>
          <a:noFill/>
          <a:ln>
            <a:noFill/>
          </a:ln>
        </p:spPr>
      </p:pic>
      <p:pic>
        <p:nvPicPr>
          <p:cNvPr id="308" name="Google Shape;308;p19"/>
          <p:cNvPicPr preferRelativeResize="0"/>
          <p:nvPr/>
        </p:nvPicPr>
        <p:blipFill rotWithShape="1">
          <a:blip r:embed="rId3">
            <a:alphaModFix/>
          </a:blip>
          <a:srcRect/>
          <a:stretch/>
        </p:blipFill>
        <p:spPr>
          <a:xfrm>
            <a:off x="6536786" y="3626856"/>
            <a:ext cx="326901" cy="769798"/>
          </a:xfrm>
          <a:prstGeom prst="rect">
            <a:avLst/>
          </a:prstGeom>
          <a:noFill/>
          <a:ln>
            <a:noFill/>
          </a:ln>
        </p:spPr>
      </p:pic>
      <p:pic>
        <p:nvPicPr>
          <p:cNvPr id="309" name="Google Shape;309;p19"/>
          <p:cNvPicPr preferRelativeResize="0"/>
          <p:nvPr/>
        </p:nvPicPr>
        <p:blipFill rotWithShape="1">
          <a:blip r:embed="rId3">
            <a:alphaModFix/>
          </a:blip>
          <a:srcRect/>
          <a:stretch/>
        </p:blipFill>
        <p:spPr>
          <a:xfrm>
            <a:off x="7022930" y="3626856"/>
            <a:ext cx="326901" cy="769798"/>
          </a:xfrm>
          <a:prstGeom prst="rect">
            <a:avLst/>
          </a:prstGeom>
          <a:noFill/>
          <a:ln>
            <a:noFill/>
          </a:ln>
        </p:spPr>
      </p:pic>
      <p:pic>
        <p:nvPicPr>
          <p:cNvPr id="310" name="Google Shape;310;p19"/>
          <p:cNvPicPr preferRelativeResize="0"/>
          <p:nvPr/>
        </p:nvPicPr>
        <p:blipFill rotWithShape="1">
          <a:blip r:embed="rId3">
            <a:alphaModFix/>
          </a:blip>
          <a:srcRect/>
          <a:stretch/>
        </p:blipFill>
        <p:spPr>
          <a:xfrm>
            <a:off x="7509074" y="3633840"/>
            <a:ext cx="326901" cy="769798"/>
          </a:xfrm>
          <a:prstGeom prst="rect">
            <a:avLst/>
          </a:prstGeom>
          <a:noFill/>
          <a:ln>
            <a:noFill/>
          </a:ln>
        </p:spPr>
      </p:pic>
      <p:pic>
        <p:nvPicPr>
          <p:cNvPr id="311" name="Google Shape;311;p19"/>
          <p:cNvPicPr preferRelativeResize="0"/>
          <p:nvPr/>
        </p:nvPicPr>
        <p:blipFill rotWithShape="1">
          <a:blip r:embed="rId3">
            <a:alphaModFix/>
          </a:blip>
          <a:srcRect/>
          <a:stretch/>
        </p:blipFill>
        <p:spPr>
          <a:xfrm>
            <a:off x="7995221" y="3633840"/>
            <a:ext cx="326901" cy="769798"/>
          </a:xfrm>
          <a:prstGeom prst="rect">
            <a:avLst/>
          </a:prstGeom>
          <a:noFill/>
          <a:ln>
            <a:noFill/>
          </a:ln>
        </p:spPr>
      </p:pic>
      <p:cxnSp>
        <p:nvCxnSpPr>
          <p:cNvPr id="312" name="Google Shape;312;p19"/>
          <p:cNvCxnSpPr/>
          <p:nvPr/>
        </p:nvCxnSpPr>
        <p:spPr>
          <a:xfrm>
            <a:off x="3129280" y="4516773"/>
            <a:ext cx="5980923" cy="0"/>
          </a:xfrm>
          <a:prstGeom prst="straightConnector1">
            <a:avLst/>
          </a:prstGeom>
          <a:noFill/>
          <a:ln w="9525" cap="flat" cmpd="sng">
            <a:solidFill>
              <a:schemeClr val="dk1"/>
            </a:solidFill>
            <a:prstDash val="solid"/>
            <a:miter lim="800000"/>
            <a:headEnd type="none" w="sm" len="sm"/>
            <a:tailEnd type="triangle" w="med" len="med"/>
          </a:ln>
        </p:spPr>
      </p:cxnSp>
      <p:sp>
        <p:nvSpPr>
          <p:cNvPr id="313" name="Google Shape;313;p19"/>
          <p:cNvSpPr txBox="1"/>
          <p:nvPr/>
        </p:nvSpPr>
        <p:spPr>
          <a:xfrm>
            <a:off x="8646093" y="4581096"/>
            <a:ext cx="103284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dk1"/>
                </a:solidFill>
                <a:latin typeface="Calibri"/>
                <a:ea typeface="Calibri"/>
                <a:cs typeface="Calibri"/>
                <a:sym typeface="Calibri"/>
              </a:rPr>
              <a:t>Peso (kg)</a:t>
            </a:r>
            <a:endParaRPr/>
          </a:p>
        </p:txBody>
      </p:sp>
      <p:sp>
        <p:nvSpPr>
          <p:cNvPr id="314" name="Google Shape;314;p19"/>
          <p:cNvSpPr txBox="1"/>
          <p:nvPr/>
        </p:nvSpPr>
        <p:spPr>
          <a:xfrm>
            <a:off x="3536291" y="4589269"/>
            <a:ext cx="584247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dk1"/>
                </a:solidFill>
                <a:latin typeface="Calibri"/>
                <a:ea typeface="Calibri"/>
                <a:cs typeface="Calibri"/>
                <a:sym typeface="Calibri"/>
              </a:rPr>
              <a:t>50     55      60     65     70     75    80     85     90     95</a:t>
            </a:r>
            <a:endParaRPr/>
          </a:p>
        </p:txBody>
      </p:sp>
      <p:sp>
        <p:nvSpPr>
          <p:cNvPr id="315" name="Google Shape;315;p19"/>
          <p:cNvSpPr/>
          <p:nvPr/>
        </p:nvSpPr>
        <p:spPr>
          <a:xfrm>
            <a:off x="3916343" y="4449016"/>
            <a:ext cx="132080" cy="132080"/>
          </a:xfrm>
          <a:prstGeom prst="ellipse">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6" name="Google Shape;316;p19"/>
          <p:cNvSpPr/>
          <p:nvPr/>
        </p:nvSpPr>
        <p:spPr>
          <a:xfrm>
            <a:off x="5425207" y="4439570"/>
            <a:ext cx="132080" cy="132080"/>
          </a:xfrm>
          <a:prstGeom prst="ellipse">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7" name="Google Shape;317;p19"/>
          <p:cNvSpPr/>
          <p:nvPr/>
        </p:nvSpPr>
        <p:spPr>
          <a:xfrm>
            <a:off x="6405659" y="4460976"/>
            <a:ext cx="132080" cy="132080"/>
          </a:xfrm>
          <a:prstGeom prst="ellipse">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8" name="Google Shape;318;p19"/>
          <p:cNvSpPr txBox="1"/>
          <p:nvPr/>
        </p:nvSpPr>
        <p:spPr>
          <a:xfrm>
            <a:off x="3770693" y="4945672"/>
            <a:ext cx="403059" cy="369332"/>
          </a:xfrm>
          <a:prstGeom prst="rect">
            <a:avLst/>
          </a:prstGeom>
          <a:blipFill rotWithShape="1">
            <a:blip r:embed="rId4">
              <a:alphaModFix/>
            </a:blip>
            <a:stretch>
              <a:fillRect l="-24241" r="-6058" b="-27865"/>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319" name="Google Shape;319;p19"/>
          <p:cNvSpPr txBox="1"/>
          <p:nvPr/>
        </p:nvSpPr>
        <p:spPr>
          <a:xfrm>
            <a:off x="5324889" y="4958601"/>
            <a:ext cx="410176" cy="369332"/>
          </a:xfrm>
          <a:prstGeom prst="rect">
            <a:avLst/>
          </a:prstGeom>
          <a:blipFill rotWithShape="1">
            <a:blip r:embed="rId5">
              <a:alphaModFix/>
            </a:blip>
            <a:stretch>
              <a:fillRect l="-23880" r="-5969" b="-27865"/>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320" name="Google Shape;320;p19"/>
          <p:cNvSpPr txBox="1"/>
          <p:nvPr/>
        </p:nvSpPr>
        <p:spPr>
          <a:xfrm>
            <a:off x="6260009" y="4986871"/>
            <a:ext cx="410176" cy="369332"/>
          </a:xfrm>
          <a:prstGeom prst="rect">
            <a:avLst/>
          </a:prstGeom>
          <a:blipFill rotWithShape="1">
            <a:blip r:embed="rId6">
              <a:alphaModFix/>
            </a:blip>
            <a:stretch>
              <a:fillRect l="-23880" r="-5969" b="-27865"/>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321" name="Google Shape;321;p19"/>
          <p:cNvSpPr txBox="1"/>
          <p:nvPr/>
        </p:nvSpPr>
        <p:spPr>
          <a:xfrm>
            <a:off x="7205971" y="4976220"/>
            <a:ext cx="410176" cy="369332"/>
          </a:xfrm>
          <a:prstGeom prst="rect">
            <a:avLst/>
          </a:prstGeom>
          <a:blipFill rotWithShape="1">
            <a:blip r:embed="rId7">
              <a:alphaModFix/>
            </a:blip>
            <a:stretch>
              <a:fillRect l="-23880" r="-5969" b="-27865"/>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322" name="Google Shape;322;p19"/>
          <p:cNvSpPr/>
          <p:nvPr/>
        </p:nvSpPr>
        <p:spPr>
          <a:xfrm>
            <a:off x="7350539" y="4460976"/>
            <a:ext cx="132080" cy="132080"/>
          </a:xfrm>
          <a:prstGeom prst="ellipse">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3" name="Google Shape;323;p19"/>
          <p:cNvSpPr/>
          <p:nvPr/>
        </p:nvSpPr>
        <p:spPr>
          <a:xfrm>
            <a:off x="4444663" y="4469336"/>
            <a:ext cx="132080" cy="132080"/>
          </a:xfrm>
          <a:prstGeom prst="ellipse">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4" name="Google Shape;324;p19"/>
          <p:cNvSpPr txBox="1"/>
          <p:nvPr/>
        </p:nvSpPr>
        <p:spPr>
          <a:xfrm>
            <a:off x="4299013" y="4965992"/>
            <a:ext cx="410176" cy="369332"/>
          </a:xfrm>
          <a:prstGeom prst="rect">
            <a:avLst/>
          </a:prstGeom>
          <a:blipFill rotWithShape="1">
            <a:blip r:embed="rId8">
              <a:alphaModFix/>
            </a:blip>
            <a:stretch>
              <a:fillRect l="-23528" r="-4411" b="-29996"/>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325" name="Google Shape;325;p19"/>
          <p:cNvSpPr/>
          <p:nvPr/>
        </p:nvSpPr>
        <p:spPr>
          <a:xfrm>
            <a:off x="4952663" y="4449016"/>
            <a:ext cx="132080" cy="132080"/>
          </a:xfrm>
          <a:prstGeom prst="ellipse">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6" name="Google Shape;326;p19"/>
          <p:cNvSpPr txBox="1"/>
          <p:nvPr/>
        </p:nvSpPr>
        <p:spPr>
          <a:xfrm>
            <a:off x="4807013" y="4945672"/>
            <a:ext cx="410176" cy="369332"/>
          </a:xfrm>
          <a:prstGeom prst="rect">
            <a:avLst/>
          </a:prstGeom>
          <a:blipFill rotWithShape="1">
            <a:blip r:embed="rId9">
              <a:alphaModFix/>
            </a:blip>
            <a:stretch>
              <a:fillRect l="-23880" r="-5969" b="-27865"/>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327" name="Google Shape;327;p19"/>
          <p:cNvSpPr/>
          <p:nvPr/>
        </p:nvSpPr>
        <p:spPr>
          <a:xfrm>
            <a:off x="5882407" y="4449730"/>
            <a:ext cx="132080" cy="132080"/>
          </a:xfrm>
          <a:prstGeom prst="ellipse">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8" name="Google Shape;328;p19"/>
          <p:cNvSpPr txBox="1"/>
          <p:nvPr/>
        </p:nvSpPr>
        <p:spPr>
          <a:xfrm>
            <a:off x="5782089" y="4968761"/>
            <a:ext cx="410176" cy="369332"/>
          </a:xfrm>
          <a:prstGeom prst="rect">
            <a:avLst/>
          </a:prstGeom>
          <a:blipFill rotWithShape="1">
            <a:blip r:embed="rId10">
              <a:alphaModFix/>
            </a:blip>
            <a:stretch>
              <a:fillRect l="-23880" r="-5969" b="-27865"/>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329" name="Google Shape;329;p19"/>
          <p:cNvSpPr/>
          <p:nvPr/>
        </p:nvSpPr>
        <p:spPr>
          <a:xfrm>
            <a:off x="6847607" y="4459890"/>
            <a:ext cx="132080" cy="132080"/>
          </a:xfrm>
          <a:prstGeom prst="ellipse">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0" name="Google Shape;330;p19"/>
          <p:cNvSpPr txBox="1"/>
          <p:nvPr/>
        </p:nvSpPr>
        <p:spPr>
          <a:xfrm>
            <a:off x="6747289" y="4978921"/>
            <a:ext cx="410176" cy="369332"/>
          </a:xfrm>
          <a:prstGeom prst="rect">
            <a:avLst/>
          </a:prstGeom>
          <a:blipFill rotWithShape="1">
            <a:blip r:embed="rId11">
              <a:alphaModFix/>
            </a:blip>
            <a:stretch>
              <a:fillRect l="-23880" r="-5969" b="-29996"/>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331" name="Google Shape;331;p19"/>
          <p:cNvSpPr/>
          <p:nvPr/>
        </p:nvSpPr>
        <p:spPr>
          <a:xfrm>
            <a:off x="7843287" y="4449730"/>
            <a:ext cx="132080" cy="132080"/>
          </a:xfrm>
          <a:prstGeom prst="ellipse">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2" name="Google Shape;332;p19"/>
          <p:cNvSpPr txBox="1"/>
          <p:nvPr/>
        </p:nvSpPr>
        <p:spPr>
          <a:xfrm>
            <a:off x="7742969" y="4968761"/>
            <a:ext cx="403764" cy="369332"/>
          </a:xfrm>
          <a:prstGeom prst="rect">
            <a:avLst/>
          </a:prstGeom>
          <a:blipFill rotWithShape="1">
            <a:blip r:embed="rId12">
              <a:alphaModFix/>
            </a:blip>
            <a:stretch>
              <a:fillRect l="-24241" r="-6058" b="-27865"/>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99"/>
                                        </p:tgtEl>
                                        <p:attrNameLst>
                                          <p:attrName>style.visibility</p:attrName>
                                        </p:attrNameLst>
                                      </p:cBhvr>
                                      <p:to>
                                        <p:strVal val="visible"/>
                                      </p:to>
                                    </p:set>
                                    <p:animEffect transition="in" filter="fade">
                                      <p:cBhvr>
                                        <p:cTn id="7" dur="500"/>
                                        <p:tgtEl>
                                          <p:spTgt spid="2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20"/>
          <p:cNvSpPr txBox="1"/>
          <p:nvPr/>
        </p:nvSpPr>
        <p:spPr>
          <a:xfrm>
            <a:off x="1624842" y="296602"/>
            <a:ext cx="9655290" cy="564544"/>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Medidas de Posición en Python</a:t>
            </a:r>
            <a:endParaRPr/>
          </a:p>
        </p:txBody>
      </p:sp>
      <p:sp>
        <p:nvSpPr>
          <p:cNvPr id="338" name="Google Shape;338;p20"/>
          <p:cNvSpPr/>
          <p:nvPr/>
        </p:nvSpPr>
        <p:spPr>
          <a:xfrm>
            <a:off x="1486534" y="1276877"/>
            <a:ext cx="9218931" cy="4304245"/>
          </a:xfrm>
          <a:prstGeom prst="roundRect">
            <a:avLst>
              <a:gd name="adj" fmla="val 2971"/>
            </a:avLst>
          </a:prstGeom>
          <a:gradFill>
            <a:gsLst>
              <a:gs pos="0">
                <a:srgbClr val="541844"/>
              </a:gs>
              <a:gs pos="50000">
                <a:srgbClr val="7A2363"/>
              </a:gs>
              <a:gs pos="100000">
                <a:srgbClr val="932B78"/>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9" name="Google Shape;339;p20"/>
          <p:cNvSpPr txBox="1"/>
          <p:nvPr/>
        </p:nvSpPr>
        <p:spPr>
          <a:xfrm>
            <a:off x="1624842" y="1384672"/>
            <a:ext cx="8860200" cy="615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700">
                <a:solidFill>
                  <a:schemeClr val="lt1"/>
                </a:solidFill>
                <a:latin typeface="Arial"/>
                <a:ea typeface="Arial"/>
                <a:cs typeface="Arial"/>
                <a:sym typeface="Arial"/>
              </a:rPr>
              <a:t>En este ejemplo utilizamos el método quantile para calcular los cuartiles de un conjunto de datos con la librería Pandas.</a:t>
            </a:r>
            <a:endParaRPr sz="1300"/>
          </a:p>
        </p:txBody>
      </p:sp>
      <p:sp>
        <p:nvSpPr>
          <p:cNvPr id="340" name="Google Shape;340;p20"/>
          <p:cNvSpPr/>
          <p:nvPr/>
        </p:nvSpPr>
        <p:spPr>
          <a:xfrm>
            <a:off x="1563341" y="2174240"/>
            <a:ext cx="9060844" cy="3340657"/>
          </a:xfrm>
          <a:prstGeom prst="roundRect">
            <a:avLst>
              <a:gd name="adj" fmla="val 2971"/>
            </a:avLst>
          </a:prstGeom>
          <a:solidFill>
            <a:schemeClr val="lt1"/>
          </a:solidFill>
          <a:ln w="381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341" name="Google Shape;341;p20"/>
          <p:cNvPicPr preferRelativeResize="0"/>
          <p:nvPr/>
        </p:nvPicPr>
        <p:blipFill rotWithShape="1">
          <a:blip r:embed="rId3">
            <a:alphaModFix/>
          </a:blip>
          <a:srcRect r="14080"/>
          <a:stretch/>
        </p:blipFill>
        <p:spPr>
          <a:xfrm>
            <a:off x="2500267" y="2499517"/>
            <a:ext cx="7186991" cy="278476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37"/>
                                        </p:tgtEl>
                                        <p:attrNameLst>
                                          <p:attrName>style.visibility</p:attrName>
                                        </p:attrNameLst>
                                      </p:cBhvr>
                                      <p:to>
                                        <p:strVal val="visible"/>
                                      </p:to>
                                    </p:set>
                                    <p:animEffect transition="in" filter="fade">
                                      <p:cBhvr>
                                        <p:cTn id="7" dur="500"/>
                                        <p:tgtEl>
                                          <p:spTgt spid="3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21"/>
          <p:cNvSpPr/>
          <p:nvPr/>
        </p:nvSpPr>
        <p:spPr>
          <a:xfrm>
            <a:off x="1569600" y="2711900"/>
            <a:ext cx="9520200" cy="2919300"/>
          </a:xfrm>
          <a:prstGeom prst="roundRect">
            <a:avLst>
              <a:gd name="adj" fmla="val 2971"/>
            </a:avLst>
          </a:prstGeom>
          <a:solidFill>
            <a:srgbClr val="FFFFFF"/>
          </a:solidFill>
          <a:ln w="38100" cap="flat" cmpd="sng">
            <a:solidFill>
              <a:srgbClr val="8D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7" name="Google Shape;347;p21"/>
          <p:cNvSpPr txBox="1"/>
          <p:nvPr/>
        </p:nvSpPr>
        <p:spPr>
          <a:xfrm>
            <a:off x="2079414" y="427301"/>
            <a:ext cx="9010334" cy="731156"/>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ES" sz="3200">
                <a:solidFill>
                  <a:srgbClr val="7F7F7F"/>
                </a:solidFill>
                <a:latin typeface="Arial"/>
                <a:ea typeface="Arial"/>
                <a:cs typeface="Arial"/>
                <a:sym typeface="Arial"/>
              </a:rPr>
              <a:t>Sumario de estadísticas</a:t>
            </a:r>
            <a:endParaRPr/>
          </a:p>
        </p:txBody>
      </p:sp>
      <p:pic>
        <p:nvPicPr>
          <p:cNvPr id="348" name="Google Shape;348;p21"/>
          <p:cNvPicPr preferRelativeResize="0"/>
          <p:nvPr/>
        </p:nvPicPr>
        <p:blipFill rotWithShape="1">
          <a:blip r:embed="rId3">
            <a:alphaModFix/>
          </a:blip>
          <a:srcRect/>
          <a:stretch/>
        </p:blipFill>
        <p:spPr>
          <a:xfrm>
            <a:off x="3343004" y="3019712"/>
            <a:ext cx="4666841" cy="2091237"/>
          </a:xfrm>
          <a:prstGeom prst="rect">
            <a:avLst/>
          </a:prstGeom>
          <a:noFill/>
          <a:ln>
            <a:noFill/>
          </a:ln>
        </p:spPr>
      </p:pic>
      <p:cxnSp>
        <p:nvCxnSpPr>
          <p:cNvPr id="349" name="Google Shape;349;p21"/>
          <p:cNvCxnSpPr/>
          <p:nvPr/>
        </p:nvCxnSpPr>
        <p:spPr>
          <a:xfrm flipH="1">
            <a:off x="5141225" y="4055700"/>
            <a:ext cx="3133200" cy="115800"/>
          </a:xfrm>
          <a:prstGeom prst="straightConnector1">
            <a:avLst/>
          </a:prstGeom>
          <a:noFill/>
          <a:ln w="9525" cap="flat" cmpd="sng">
            <a:solidFill>
              <a:srgbClr val="8D3275"/>
            </a:solidFill>
            <a:prstDash val="solid"/>
            <a:miter lim="800000"/>
            <a:headEnd type="none" w="sm" len="sm"/>
            <a:tailEnd type="triangle" w="med" len="med"/>
          </a:ln>
        </p:spPr>
      </p:cxnSp>
      <p:sp>
        <p:nvSpPr>
          <p:cNvPr id="350" name="Google Shape;350;p21"/>
          <p:cNvSpPr txBox="1"/>
          <p:nvPr/>
        </p:nvSpPr>
        <p:spPr>
          <a:xfrm>
            <a:off x="7842628" y="3757513"/>
            <a:ext cx="2507400" cy="615600"/>
          </a:xfrm>
          <a:prstGeom prst="rect">
            <a:avLst/>
          </a:prstGeom>
          <a:solidFill>
            <a:srgbClr val="F2F2F2"/>
          </a:solidFill>
          <a:ln w="9525" cap="flat" cmpd="sng">
            <a:solidFill>
              <a:srgbClr val="D8D8D8"/>
            </a:solidFill>
            <a:prstDash val="solid"/>
            <a:round/>
            <a:headEnd type="none" w="sm" len="sm"/>
            <a:tailEnd type="none" w="sm" len="sm"/>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700">
                <a:solidFill>
                  <a:srgbClr val="7F7F7F"/>
                </a:solidFill>
                <a:latin typeface="Arial"/>
                <a:ea typeface="Arial"/>
                <a:cs typeface="Arial"/>
                <a:sym typeface="Arial"/>
              </a:rPr>
              <a:t>Sueldo base negativo??</a:t>
            </a:r>
            <a:endParaRPr sz="1300"/>
          </a:p>
          <a:p>
            <a:pPr marL="0" marR="0" lvl="0" indent="0" algn="just" rtl="0">
              <a:spcBef>
                <a:spcPts val="0"/>
              </a:spcBef>
              <a:spcAft>
                <a:spcPts val="0"/>
              </a:spcAft>
              <a:buNone/>
            </a:pPr>
            <a:r>
              <a:rPr lang="es-ES" sz="1700" b="1">
                <a:solidFill>
                  <a:srgbClr val="7F7F7F"/>
                </a:solidFill>
                <a:latin typeface="Arial"/>
                <a:ea typeface="Arial"/>
                <a:cs typeface="Arial"/>
                <a:sym typeface="Arial"/>
              </a:rPr>
              <a:t>Insight!!!!</a:t>
            </a:r>
            <a:endParaRPr sz="1600"/>
          </a:p>
        </p:txBody>
      </p:sp>
      <p:sp>
        <p:nvSpPr>
          <p:cNvPr id="351" name="Google Shape;351;p21"/>
          <p:cNvSpPr/>
          <p:nvPr/>
        </p:nvSpPr>
        <p:spPr>
          <a:xfrm>
            <a:off x="1569612" y="1357451"/>
            <a:ext cx="9520136" cy="1095399"/>
          </a:xfrm>
          <a:prstGeom prst="roundRect">
            <a:avLst>
              <a:gd name="adj" fmla="val 2971"/>
            </a:avLst>
          </a:prstGeom>
          <a:gradFill>
            <a:gsLst>
              <a:gs pos="0">
                <a:srgbClr val="541844"/>
              </a:gs>
              <a:gs pos="50000">
                <a:srgbClr val="7A2363"/>
              </a:gs>
              <a:gs pos="100000">
                <a:srgbClr val="932B78"/>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2" name="Google Shape;352;p21"/>
          <p:cNvSpPr txBox="1"/>
          <p:nvPr/>
        </p:nvSpPr>
        <p:spPr>
          <a:xfrm>
            <a:off x="1905233" y="1600476"/>
            <a:ext cx="8874158" cy="64633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Con el método describe() obtenemos un sumario de estadísticas de la variable, lo cual es un excelente punto de partida para obtener insights.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47"/>
                                        </p:tgtEl>
                                        <p:attrNameLst>
                                          <p:attrName>style.visibility</p:attrName>
                                        </p:attrNameLst>
                                      </p:cBhvr>
                                      <p:to>
                                        <p:strVal val="visible"/>
                                      </p:to>
                                    </p:set>
                                    <p:animEffect transition="in" filter="fade">
                                      <p:cBhvr>
                                        <p:cTn id="7" dur="500"/>
                                        <p:tgtEl>
                                          <p:spTgt spid="3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65" name="Google Shape;365;p22"/>
          <p:cNvSpPr/>
          <p:nvPr/>
        </p:nvSpPr>
        <p:spPr>
          <a:xfrm>
            <a:off x="840377" y="969561"/>
            <a:ext cx="10653486" cy="5536638"/>
          </a:xfrm>
          <a:prstGeom prst="roundRect">
            <a:avLst>
              <a:gd name="adj" fmla="val 2971"/>
            </a:avLst>
          </a:prstGeom>
          <a:gradFill>
            <a:gsLst>
              <a:gs pos="0">
                <a:srgbClr val="541844"/>
              </a:gs>
              <a:gs pos="50000">
                <a:srgbClr val="7A2363"/>
              </a:gs>
              <a:gs pos="100000">
                <a:srgbClr val="932B78"/>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7" name="Google Shape;357;p22"/>
          <p:cNvSpPr txBox="1"/>
          <p:nvPr/>
        </p:nvSpPr>
        <p:spPr>
          <a:xfrm>
            <a:off x="1472045" y="136634"/>
            <a:ext cx="10027736" cy="676856"/>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Histograma</a:t>
            </a:r>
            <a:endParaRPr/>
          </a:p>
        </p:txBody>
      </p:sp>
      <p:sp>
        <p:nvSpPr>
          <p:cNvPr id="358" name="Google Shape;358;p22"/>
          <p:cNvSpPr/>
          <p:nvPr/>
        </p:nvSpPr>
        <p:spPr>
          <a:xfrm>
            <a:off x="1041281" y="2111942"/>
            <a:ext cx="10316992" cy="4279199"/>
          </a:xfrm>
          <a:prstGeom prst="roundRect">
            <a:avLst>
              <a:gd name="adj" fmla="val 2971"/>
            </a:avLst>
          </a:prstGeom>
          <a:solidFill>
            <a:schemeClr val="lt1"/>
          </a:solidFill>
          <a:ln w="38100" cap="flat" cmpd="sng">
            <a:solidFill>
              <a:srgbClr val="8D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359" name="Google Shape;359;p22"/>
          <p:cNvPicPr preferRelativeResize="0"/>
          <p:nvPr/>
        </p:nvPicPr>
        <p:blipFill rotWithShape="1">
          <a:blip r:embed="rId3">
            <a:alphaModFix/>
          </a:blip>
          <a:srcRect/>
          <a:stretch/>
        </p:blipFill>
        <p:spPr>
          <a:xfrm>
            <a:off x="1827581" y="2851214"/>
            <a:ext cx="3445514" cy="2289527"/>
          </a:xfrm>
          <a:prstGeom prst="rect">
            <a:avLst/>
          </a:prstGeom>
          <a:noFill/>
          <a:ln>
            <a:noFill/>
          </a:ln>
        </p:spPr>
      </p:pic>
      <p:pic>
        <p:nvPicPr>
          <p:cNvPr id="360" name="Google Shape;360;p22"/>
          <p:cNvPicPr preferRelativeResize="0"/>
          <p:nvPr/>
        </p:nvPicPr>
        <p:blipFill rotWithShape="1">
          <a:blip r:embed="rId4">
            <a:alphaModFix/>
          </a:blip>
          <a:srcRect/>
          <a:stretch/>
        </p:blipFill>
        <p:spPr>
          <a:xfrm>
            <a:off x="6479577" y="2842060"/>
            <a:ext cx="3448973" cy="2276550"/>
          </a:xfrm>
          <a:prstGeom prst="rect">
            <a:avLst/>
          </a:prstGeom>
          <a:noFill/>
          <a:ln>
            <a:noFill/>
          </a:ln>
        </p:spPr>
      </p:pic>
      <p:sp>
        <p:nvSpPr>
          <p:cNvPr id="361" name="Google Shape;361;p22"/>
          <p:cNvSpPr txBox="1"/>
          <p:nvPr/>
        </p:nvSpPr>
        <p:spPr>
          <a:xfrm>
            <a:off x="1472045" y="2158716"/>
            <a:ext cx="4156586" cy="584775"/>
          </a:xfrm>
          <a:prstGeom prst="rect">
            <a:avLst/>
          </a:prstGeom>
          <a:noFill/>
          <a:ln w="9525" cap="flat" cmpd="sng">
            <a:no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a:solidFill>
                  <a:srgbClr val="7F7F7F"/>
                </a:solidFill>
                <a:latin typeface="Calibri"/>
                <a:ea typeface="Calibri"/>
                <a:cs typeface="Calibri"/>
                <a:sym typeface="Calibri"/>
              </a:rPr>
              <a:t>Con este parámetro indicamos la cantidad de intervalos de acumulación</a:t>
            </a:r>
            <a:endParaRPr/>
          </a:p>
        </p:txBody>
      </p:sp>
      <p:sp>
        <p:nvSpPr>
          <p:cNvPr id="362" name="Google Shape;362;p22"/>
          <p:cNvSpPr txBox="1"/>
          <p:nvPr/>
        </p:nvSpPr>
        <p:spPr>
          <a:xfrm>
            <a:off x="6743796" y="2109162"/>
            <a:ext cx="2731348" cy="584775"/>
          </a:xfrm>
          <a:prstGeom prst="rect">
            <a:avLst/>
          </a:prstGeom>
          <a:noFill/>
          <a:ln w="9525" cap="flat" cmpd="sng">
            <a:no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a:solidFill>
                  <a:srgbClr val="7F7F7F"/>
                </a:solidFill>
                <a:latin typeface="Calibri"/>
                <a:ea typeface="Calibri"/>
                <a:cs typeface="Calibri"/>
                <a:sym typeface="Calibri"/>
              </a:rPr>
              <a:t>Otra forma más resumida de generar un histograma</a:t>
            </a:r>
            <a:endParaRPr/>
          </a:p>
        </p:txBody>
      </p:sp>
      <p:sp>
        <p:nvSpPr>
          <p:cNvPr id="363" name="Google Shape;363;p22"/>
          <p:cNvSpPr txBox="1"/>
          <p:nvPr/>
        </p:nvSpPr>
        <p:spPr>
          <a:xfrm>
            <a:off x="1609530" y="5618258"/>
            <a:ext cx="8936181" cy="584775"/>
          </a:xfrm>
          <a:prstGeom prst="rect">
            <a:avLst/>
          </a:prstGeom>
          <a:noFill/>
          <a:ln w="9525" cap="flat" cmpd="sng">
            <a:noFill/>
            <a:prstDash val="solid"/>
            <a:round/>
            <a:headEnd type="none" w="sm" len="sm"/>
            <a:tailEnd type="none" w="sm" len="sm"/>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600" dirty="0">
                <a:solidFill>
                  <a:srgbClr val="7F7F7F"/>
                </a:solidFill>
                <a:latin typeface="Calibri"/>
                <a:ea typeface="Calibri"/>
                <a:cs typeface="Calibri"/>
                <a:sym typeface="Calibri"/>
              </a:rPr>
              <a:t>Nótese que los intervalos de mayor frecuencia se encuentran en torno a los 60 mil dólares, y que también hay un intervalo de valores próximos a cero que tiene una frecuencia alta. </a:t>
            </a:r>
            <a:r>
              <a:rPr lang="es-ES" sz="1600" b="1" dirty="0">
                <a:solidFill>
                  <a:srgbClr val="7F7F7F"/>
                </a:solidFill>
                <a:latin typeface="Calibri"/>
                <a:ea typeface="Calibri"/>
                <a:cs typeface="Calibri"/>
                <a:sym typeface="Calibri"/>
              </a:rPr>
              <a:t>Este puede ser otro </a:t>
            </a:r>
            <a:r>
              <a:rPr lang="es-ES" sz="1600" b="1" dirty="0" err="1">
                <a:solidFill>
                  <a:srgbClr val="7F7F7F"/>
                </a:solidFill>
                <a:latin typeface="Calibri"/>
                <a:ea typeface="Calibri"/>
                <a:cs typeface="Calibri"/>
                <a:sym typeface="Calibri"/>
              </a:rPr>
              <a:t>insigth</a:t>
            </a:r>
            <a:r>
              <a:rPr lang="es-ES" sz="1600" b="1" dirty="0">
                <a:solidFill>
                  <a:srgbClr val="7F7F7F"/>
                </a:solidFill>
                <a:latin typeface="Calibri"/>
                <a:ea typeface="Calibri"/>
                <a:cs typeface="Calibri"/>
                <a:sym typeface="Calibri"/>
              </a:rPr>
              <a:t>!!!</a:t>
            </a:r>
            <a:endParaRPr dirty="0"/>
          </a:p>
        </p:txBody>
      </p:sp>
      <p:cxnSp>
        <p:nvCxnSpPr>
          <p:cNvPr id="364" name="Google Shape;364;p22"/>
          <p:cNvCxnSpPr/>
          <p:nvPr/>
        </p:nvCxnSpPr>
        <p:spPr>
          <a:xfrm rot="10800000" flipH="1">
            <a:off x="2039007" y="4638331"/>
            <a:ext cx="346841" cy="900621"/>
          </a:xfrm>
          <a:prstGeom prst="straightConnector1">
            <a:avLst/>
          </a:prstGeom>
          <a:noFill/>
          <a:ln w="9525" cap="flat" cmpd="sng">
            <a:solidFill>
              <a:schemeClr val="accent1"/>
            </a:solidFill>
            <a:prstDash val="solid"/>
            <a:miter lim="800000"/>
            <a:headEnd type="none" w="sm" len="sm"/>
            <a:tailEnd type="triangle" w="med" len="med"/>
          </a:ln>
        </p:spPr>
      </p:cxnSp>
      <p:sp>
        <p:nvSpPr>
          <p:cNvPr id="366" name="Google Shape;366;p22"/>
          <p:cNvSpPr txBox="1"/>
          <p:nvPr/>
        </p:nvSpPr>
        <p:spPr>
          <a:xfrm>
            <a:off x="1036617" y="1212242"/>
            <a:ext cx="10314636" cy="64629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Un histograma permite visualizar la frecuencia de ocurrencia de los distintos valores del conjunto de datos. Esta división se hacer en intervalos regulares entre el valor mínimo y máximo del conjunto.</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57"/>
                                        </p:tgtEl>
                                        <p:attrNameLst>
                                          <p:attrName>style.visibility</p:attrName>
                                        </p:attrNameLst>
                                      </p:cBhvr>
                                      <p:to>
                                        <p:strVal val="visible"/>
                                      </p:to>
                                    </p:set>
                                    <p:animEffect transition="in" filter="fade">
                                      <p:cBhvr>
                                        <p:cTn id="7" dur="500"/>
                                        <p:tgtEl>
                                          <p:spTgt spid="3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23"/>
          <p:cNvSpPr/>
          <p:nvPr/>
        </p:nvSpPr>
        <p:spPr>
          <a:xfrm>
            <a:off x="6520152" y="1938588"/>
            <a:ext cx="4077600" cy="3582300"/>
          </a:xfrm>
          <a:prstGeom prst="roundRect">
            <a:avLst>
              <a:gd name="adj" fmla="val 2971"/>
            </a:avLst>
          </a:prstGeom>
          <a:gradFill>
            <a:gsLst>
              <a:gs pos="0">
                <a:srgbClr val="541844"/>
              </a:gs>
              <a:gs pos="50000">
                <a:srgbClr val="7A2363"/>
              </a:gs>
              <a:gs pos="100000">
                <a:srgbClr val="932B78"/>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72" name="Google Shape;372;p23"/>
          <p:cNvSpPr txBox="1"/>
          <p:nvPr/>
        </p:nvSpPr>
        <p:spPr>
          <a:xfrm>
            <a:off x="587390" y="360272"/>
            <a:ext cx="5270400" cy="1008000"/>
          </a:xfrm>
          <a:prstGeom prst="rect">
            <a:avLst/>
          </a:prstGeom>
          <a:noFill/>
          <a:ln>
            <a:noFill/>
          </a:ln>
        </p:spPr>
        <p:txBody>
          <a:bodyPr spcFirstLastPara="1" wrap="square" lIns="91425" tIns="45700" rIns="91425" bIns="45700" anchor="ctr" anchorCtr="0">
            <a:noAutofit/>
          </a:bodyPr>
          <a:lstStyle/>
          <a:p>
            <a:pPr marL="0" marR="0" lvl="0" indent="0" algn="ctr" rtl="0">
              <a:lnSpc>
                <a:spcPct val="150000"/>
              </a:lnSpc>
              <a:spcBef>
                <a:spcPts val="0"/>
              </a:spcBef>
              <a:spcAft>
                <a:spcPts val="0"/>
              </a:spcAft>
              <a:buNone/>
            </a:pPr>
            <a:r>
              <a:rPr lang="es-ES" sz="3200">
                <a:solidFill>
                  <a:srgbClr val="7F7F7F"/>
                </a:solidFill>
                <a:latin typeface="Arial"/>
                <a:ea typeface="Arial"/>
                <a:cs typeface="Arial"/>
                <a:sym typeface="Arial"/>
              </a:rPr>
              <a:t>Diagrama de Distribución</a:t>
            </a:r>
            <a:endParaRPr/>
          </a:p>
        </p:txBody>
      </p:sp>
      <p:sp>
        <p:nvSpPr>
          <p:cNvPr id="373" name="Google Shape;373;p23"/>
          <p:cNvSpPr/>
          <p:nvPr/>
        </p:nvSpPr>
        <p:spPr>
          <a:xfrm>
            <a:off x="900267" y="1551193"/>
            <a:ext cx="7470300" cy="4357200"/>
          </a:xfrm>
          <a:prstGeom prst="roundRect">
            <a:avLst>
              <a:gd name="adj" fmla="val 2971"/>
            </a:avLst>
          </a:prstGeom>
          <a:solidFill>
            <a:schemeClr val="lt1"/>
          </a:solidFill>
          <a:ln w="38100" cap="flat" cmpd="sng">
            <a:solidFill>
              <a:srgbClr val="8D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374" name="Google Shape;374;p23"/>
          <p:cNvPicPr preferRelativeResize="0"/>
          <p:nvPr/>
        </p:nvPicPr>
        <p:blipFill rotWithShape="1">
          <a:blip r:embed="rId3">
            <a:alphaModFix/>
          </a:blip>
          <a:srcRect/>
          <a:stretch/>
        </p:blipFill>
        <p:spPr>
          <a:xfrm>
            <a:off x="966749" y="1729989"/>
            <a:ext cx="7337259" cy="3999487"/>
          </a:xfrm>
          <a:prstGeom prst="rect">
            <a:avLst/>
          </a:prstGeom>
          <a:noFill/>
          <a:ln>
            <a:noFill/>
          </a:ln>
        </p:spPr>
      </p:pic>
      <p:sp>
        <p:nvSpPr>
          <p:cNvPr id="375" name="Google Shape;375;p23"/>
          <p:cNvSpPr txBox="1"/>
          <p:nvPr/>
        </p:nvSpPr>
        <p:spPr>
          <a:xfrm>
            <a:off x="8465296" y="2169562"/>
            <a:ext cx="1979700" cy="2586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lt1"/>
                </a:solidFill>
                <a:latin typeface="Calibri"/>
                <a:ea typeface="Calibri"/>
                <a:cs typeface="Calibri"/>
                <a:sym typeface="Calibri"/>
              </a:rPr>
              <a:t>Un diagrama de distribución estima la función de densidad de probabilidad a partir de un conjunto de datos. (KDE: kernel density estimation)</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72"/>
                                        </p:tgtEl>
                                        <p:attrNameLst>
                                          <p:attrName>style.visibility</p:attrName>
                                        </p:attrNameLst>
                                      </p:cBhvr>
                                      <p:to>
                                        <p:strVal val="visible"/>
                                      </p:to>
                                    </p:set>
                                    <p:animEffect transition="in" filter="fade">
                                      <p:cBhvr>
                                        <p:cTn id="7" dur="500"/>
                                        <p:tgtEl>
                                          <p:spTgt spid="3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sp>
        <p:nvSpPr>
          <p:cNvPr id="380" name="Google Shape;380;p24"/>
          <p:cNvSpPr txBox="1"/>
          <p:nvPr/>
        </p:nvSpPr>
        <p:spPr>
          <a:xfrm>
            <a:off x="1273680" y="135200"/>
            <a:ext cx="5543415"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Medidas de Posición</a:t>
            </a:r>
            <a:endParaRPr/>
          </a:p>
        </p:txBody>
      </p:sp>
      <p:sp>
        <p:nvSpPr>
          <p:cNvPr id="381" name="Google Shape;381;p24"/>
          <p:cNvSpPr/>
          <p:nvPr/>
        </p:nvSpPr>
        <p:spPr>
          <a:xfrm>
            <a:off x="1097264" y="2247900"/>
            <a:ext cx="9989836" cy="4166582"/>
          </a:xfrm>
          <a:prstGeom prst="roundRect">
            <a:avLst>
              <a:gd name="adj" fmla="val 2971"/>
            </a:avLst>
          </a:prstGeom>
          <a:solidFill>
            <a:schemeClr val="lt1"/>
          </a:solidFill>
          <a:ln w="38100" cap="flat" cmpd="sng">
            <a:solidFill>
              <a:srgbClr val="8D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382" name="Google Shape;382;p24"/>
          <p:cNvPicPr preferRelativeResize="0"/>
          <p:nvPr/>
        </p:nvPicPr>
        <p:blipFill rotWithShape="1">
          <a:blip r:embed="rId3">
            <a:alphaModFix/>
          </a:blip>
          <a:srcRect/>
          <a:stretch/>
        </p:blipFill>
        <p:spPr>
          <a:xfrm>
            <a:off x="1405570" y="2701236"/>
            <a:ext cx="4457175" cy="3002958"/>
          </a:xfrm>
          <a:prstGeom prst="rect">
            <a:avLst/>
          </a:prstGeom>
          <a:noFill/>
          <a:ln>
            <a:noFill/>
          </a:ln>
        </p:spPr>
      </p:pic>
      <p:pic>
        <p:nvPicPr>
          <p:cNvPr id="383" name="Google Shape;383;p24"/>
          <p:cNvPicPr preferRelativeResize="0"/>
          <p:nvPr/>
        </p:nvPicPr>
        <p:blipFill rotWithShape="1">
          <a:blip r:embed="rId4">
            <a:alphaModFix/>
          </a:blip>
          <a:srcRect/>
          <a:stretch/>
        </p:blipFill>
        <p:spPr>
          <a:xfrm>
            <a:off x="8037748" y="2549564"/>
            <a:ext cx="923373" cy="2986711"/>
          </a:xfrm>
          <a:prstGeom prst="rect">
            <a:avLst/>
          </a:prstGeom>
          <a:noFill/>
          <a:ln>
            <a:noFill/>
          </a:ln>
        </p:spPr>
      </p:pic>
      <p:cxnSp>
        <p:nvCxnSpPr>
          <p:cNvPr id="384" name="Google Shape;384;p24"/>
          <p:cNvCxnSpPr/>
          <p:nvPr/>
        </p:nvCxnSpPr>
        <p:spPr>
          <a:xfrm>
            <a:off x="7364417" y="4921135"/>
            <a:ext cx="673331" cy="0"/>
          </a:xfrm>
          <a:prstGeom prst="straightConnector1">
            <a:avLst/>
          </a:prstGeom>
          <a:noFill/>
          <a:ln w="9525" cap="flat" cmpd="sng">
            <a:solidFill>
              <a:schemeClr val="accent1"/>
            </a:solidFill>
            <a:prstDash val="solid"/>
            <a:miter lim="800000"/>
            <a:headEnd type="none" w="sm" len="sm"/>
            <a:tailEnd type="triangle" w="med" len="med"/>
          </a:ln>
        </p:spPr>
      </p:cxnSp>
      <p:sp>
        <p:nvSpPr>
          <p:cNvPr id="385" name="Google Shape;385;p24"/>
          <p:cNvSpPr txBox="1"/>
          <p:nvPr/>
        </p:nvSpPr>
        <p:spPr>
          <a:xfrm>
            <a:off x="6745950" y="4790330"/>
            <a:ext cx="689612"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050">
                <a:solidFill>
                  <a:schemeClr val="dk1"/>
                </a:solidFill>
                <a:latin typeface="Calibri"/>
                <a:ea typeface="Calibri"/>
                <a:cs typeface="Calibri"/>
                <a:sym typeface="Calibri"/>
              </a:rPr>
              <a:t>Mediana</a:t>
            </a:r>
            <a:endParaRPr sz="1800">
              <a:solidFill>
                <a:schemeClr val="dk1"/>
              </a:solidFill>
              <a:latin typeface="Calibri"/>
              <a:ea typeface="Calibri"/>
              <a:cs typeface="Calibri"/>
              <a:sym typeface="Calibri"/>
            </a:endParaRPr>
          </a:p>
        </p:txBody>
      </p:sp>
      <p:cxnSp>
        <p:nvCxnSpPr>
          <p:cNvPr id="386" name="Google Shape;386;p24"/>
          <p:cNvCxnSpPr/>
          <p:nvPr/>
        </p:nvCxnSpPr>
        <p:spPr>
          <a:xfrm flipH="1">
            <a:off x="8961121" y="4513811"/>
            <a:ext cx="723206" cy="99753"/>
          </a:xfrm>
          <a:prstGeom prst="straightConnector1">
            <a:avLst/>
          </a:prstGeom>
          <a:noFill/>
          <a:ln w="9525" cap="flat" cmpd="sng">
            <a:solidFill>
              <a:schemeClr val="accent1"/>
            </a:solidFill>
            <a:prstDash val="solid"/>
            <a:miter lim="800000"/>
            <a:headEnd type="none" w="sm" len="sm"/>
            <a:tailEnd type="triangle" w="med" len="med"/>
          </a:ln>
        </p:spPr>
      </p:cxnSp>
      <p:sp>
        <p:nvSpPr>
          <p:cNvPr id="387" name="Google Shape;387;p24"/>
          <p:cNvSpPr txBox="1"/>
          <p:nvPr/>
        </p:nvSpPr>
        <p:spPr>
          <a:xfrm>
            <a:off x="9642762" y="4376274"/>
            <a:ext cx="344966"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050">
                <a:solidFill>
                  <a:schemeClr val="dk1"/>
                </a:solidFill>
                <a:latin typeface="Calibri"/>
                <a:ea typeface="Calibri"/>
                <a:cs typeface="Calibri"/>
                <a:sym typeface="Calibri"/>
              </a:rPr>
              <a:t>Q3</a:t>
            </a:r>
            <a:endParaRPr sz="1800">
              <a:solidFill>
                <a:schemeClr val="dk1"/>
              </a:solidFill>
              <a:latin typeface="Calibri"/>
              <a:ea typeface="Calibri"/>
              <a:cs typeface="Calibri"/>
              <a:sym typeface="Calibri"/>
            </a:endParaRPr>
          </a:p>
        </p:txBody>
      </p:sp>
      <p:cxnSp>
        <p:nvCxnSpPr>
          <p:cNvPr id="388" name="Google Shape;388;p24"/>
          <p:cNvCxnSpPr/>
          <p:nvPr/>
        </p:nvCxnSpPr>
        <p:spPr>
          <a:xfrm rot="10800000">
            <a:off x="8961121" y="5176939"/>
            <a:ext cx="723206" cy="154163"/>
          </a:xfrm>
          <a:prstGeom prst="straightConnector1">
            <a:avLst/>
          </a:prstGeom>
          <a:noFill/>
          <a:ln w="9525" cap="flat" cmpd="sng">
            <a:solidFill>
              <a:schemeClr val="accent1"/>
            </a:solidFill>
            <a:prstDash val="solid"/>
            <a:miter lim="800000"/>
            <a:headEnd type="none" w="sm" len="sm"/>
            <a:tailEnd type="triangle" w="med" len="med"/>
          </a:ln>
        </p:spPr>
      </p:cxnSp>
      <p:sp>
        <p:nvSpPr>
          <p:cNvPr id="389" name="Google Shape;389;p24"/>
          <p:cNvSpPr txBox="1"/>
          <p:nvPr/>
        </p:nvSpPr>
        <p:spPr>
          <a:xfrm>
            <a:off x="9684327" y="5220392"/>
            <a:ext cx="344966"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050">
                <a:solidFill>
                  <a:schemeClr val="dk1"/>
                </a:solidFill>
                <a:latin typeface="Calibri"/>
                <a:ea typeface="Calibri"/>
                <a:cs typeface="Calibri"/>
                <a:sym typeface="Calibri"/>
              </a:rPr>
              <a:t>Q1</a:t>
            </a:r>
            <a:endParaRPr sz="1800">
              <a:solidFill>
                <a:schemeClr val="dk1"/>
              </a:solidFill>
              <a:latin typeface="Calibri"/>
              <a:ea typeface="Calibri"/>
              <a:cs typeface="Calibri"/>
              <a:sym typeface="Calibri"/>
            </a:endParaRPr>
          </a:p>
        </p:txBody>
      </p:sp>
      <p:cxnSp>
        <p:nvCxnSpPr>
          <p:cNvPr id="390" name="Google Shape;390;p24"/>
          <p:cNvCxnSpPr/>
          <p:nvPr/>
        </p:nvCxnSpPr>
        <p:spPr>
          <a:xfrm flipH="1">
            <a:off x="8678502" y="2838773"/>
            <a:ext cx="723206" cy="99753"/>
          </a:xfrm>
          <a:prstGeom prst="straightConnector1">
            <a:avLst/>
          </a:prstGeom>
          <a:noFill/>
          <a:ln w="9525" cap="flat" cmpd="sng">
            <a:solidFill>
              <a:schemeClr val="accent1"/>
            </a:solidFill>
            <a:prstDash val="solid"/>
            <a:miter lim="800000"/>
            <a:headEnd type="none" w="sm" len="sm"/>
            <a:tailEnd type="triangle" w="med" len="med"/>
          </a:ln>
        </p:spPr>
      </p:cxnSp>
      <p:sp>
        <p:nvSpPr>
          <p:cNvPr id="391" name="Google Shape;391;p24"/>
          <p:cNvSpPr txBox="1"/>
          <p:nvPr/>
        </p:nvSpPr>
        <p:spPr>
          <a:xfrm>
            <a:off x="9360143" y="2701236"/>
            <a:ext cx="1045479"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050">
                <a:solidFill>
                  <a:schemeClr val="dk1"/>
                </a:solidFill>
                <a:latin typeface="Calibri"/>
                <a:ea typeface="Calibri"/>
                <a:cs typeface="Calibri"/>
                <a:sym typeface="Calibri"/>
              </a:rPr>
              <a:t>Valores atípicos</a:t>
            </a:r>
            <a:endParaRPr sz="1800">
              <a:solidFill>
                <a:schemeClr val="dk1"/>
              </a:solidFill>
              <a:latin typeface="Calibri"/>
              <a:ea typeface="Calibri"/>
              <a:cs typeface="Calibri"/>
              <a:sym typeface="Calibri"/>
            </a:endParaRPr>
          </a:p>
        </p:txBody>
      </p:sp>
      <p:cxnSp>
        <p:nvCxnSpPr>
          <p:cNvPr id="392" name="Google Shape;392;p24"/>
          <p:cNvCxnSpPr/>
          <p:nvPr/>
        </p:nvCxnSpPr>
        <p:spPr>
          <a:xfrm>
            <a:off x="7435562" y="5456365"/>
            <a:ext cx="673331" cy="0"/>
          </a:xfrm>
          <a:prstGeom prst="straightConnector1">
            <a:avLst/>
          </a:prstGeom>
          <a:noFill/>
          <a:ln w="9525" cap="flat" cmpd="sng">
            <a:solidFill>
              <a:schemeClr val="accent1"/>
            </a:solidFill>
            <a:prstDash val="solid"/>
            <a:miter lim="800000"/>
            <a:headEnd type="none" w="sm" len="sm"/>
            <a:tailEnd type="triangle" w="med" len="med"/>
          </a:ln>
        </p:spPr>
      </p:cxnSp>
      <p:sp>
        <p:nvSpPr>
          <p:cNvPr id="393" name="Google Shape;393;p24"/>
          <p:cNvSpPr txBox="1"/>
          <p:nvPr/>
        </p:nvSpPr>
        <p:spPr>
          <a:xfrm>
            <a:off x="6817095" y="5325560"/>
            <a:ext cx="609462"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050">
                <a:solidFill>
                  <a:schemeClr val="dk1"/>
                </a:solidFill>
                <a:latin typeface="Calibri"/>
                <a:ea typeface="Calibri"/>
                <a:cs typeface="Calibri"/>
                <a:sym typeface="Calibri"/>
              </a:rPr>
              <a:t>Mínimo</a:t>
            </a:r>
            <a:endParaRPr sz="1800">
              <a:solidFill>
                <a:schemeClr val="dk1"/>
              </a:solidFill>
              <a:latin typeface="Calibri"/>
              <a:ea typeface="Calibri"/>
              <a:cs typeface="Calibri"/>
              <a:sym typeface="Calibri"/>
            </a:endParaRPr>
          </a:p>
        </p:txBody>
      </p:sp>
      <p:cxnSp>
        <p:nvCxnSpPr>
          <p:cNvPr id="394" name="Google Shape;394;p24"/>
          <p:cNvCxnSpPr/>
          <p:nvPr/>
        </p:nvCxnSpPr>
        <p:spPr>
          <a:xfrm>
            <a:off x="7435562" y="3880764"/>
            <a:ext cx="673331" cy="0"/>
          </a:xfrm>
          <a:prstGeom prst="straightConnector1">
            <a:avLst/>
          </a:prstGeom>
          <a:noFill/>
          <a:ln w="9525" cap="flat" cmpd="sng">
            <a:solidFill>
              <a:schemeClr val="accent1"/>
            </a:solidFill>
            <a:prstDash val="solid"/>
            <a:miter lim="800000"/>
            <a:headEnd type="none" w="sm" len="sm"/>
            <a:tailEnd type="triangle" w="med" len="med"/>
          </a:ln>
        </p:spPr>
      </p:cxnSp>
      <p:sp>
        <p:nvSpPr>
          <p:cNvPr id="395" name="Google Shape;395;p24"/>
          <p:cNvSpPr txBox="1"/>
          <p:nvPr/>
        </p:nvSpPr>
        <p:spPr>
          <a:xfrm>
            <a:off x="6817095" y="3749959"/>
            <a:ext cx="630301"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050">
                <a:solidFill>
                  <a:schemeClr val="dk1"/>
                </a:solidFill>
                <a:latin typeface="Calibri"/>
                <a:ea typeface="Calibri"/>
                <a:cs typeface="Calibri"/>
                <a:sym typeface="Calibri"/>
              </a:rPr>
              <a:t>Máximo</a:t>
            </a:r>
            <a:endParaRPr sz="1800">
              <a:solidFill>
                <a:schemeClr val="dk1"/>
              </a:solidFill>
              <a:latin typeface="Calibri"/>
              <a:ea typeface="Calibri"/>
              <a:cs typeface="Calibri"/>
              <a:sym typeface="Calibri"/>
            </a:endParaRPr>
          </a:p>
        </p:txBody>
      </p:sp>
      <p:sp>
        <p:nvSpPr>
          <p:cNvPr id="396" name="Google Shape;396;p24"/>
          <p:cNvSpPr/>
          <p:nvPr/>
        </p:nvSpPr>
        <p:spPr>
          <a:xfrm>
            <a:off x="9094130" y="4684376"/>
            <a:ext cx="66502" cy="421750"/>
          </a:xfrm>
          <a:prstGeom prst="rightBrace">
            <a:avLst>
              <a:gd name="adj1" fmla="val 8333"/>
              <a:gd name="adj2" fmla="val 50000"/>
            </a:avLst>
          </a:prstGeom>
          <a:noFill/>
          <a:ln w="9525"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97" name="Google Shape;397;p24"/>
          <p:cNvSpPr txBox="1"/>
          <p:nvPr/>
        </p:nvSpPr>
        <p:spPr>
          <a:xfrm>
            <a:off x="9165354" y="4749041"/>
            <a:ext cx="1196161" cy="41549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050">
                <a:solidFill>
                  <a:schemeClr val="dk1"/>
                </a:solidFill>
                <a:latin typeface="Calibri"/>
                <a:ea typeface="Calibri"/>
                <a:cs typeface="Calibri"/>
                <a:sym typeface="Calibri"/>
              </a:rPr>
              <a:t>Rango intercuartil</a:t>
            </a:r>
            <a:endParaRPr sz="1050">
              <a:solidFill>
                <a:schemeClr val="dk1"/>
              </a:solidFill>
              <a:latin typeface="Calibri"/>
              <a:ea typeface="Calibri"/>
              <a:cs typeface="Calibri"/>
              <a:sym typeface="Calibri"/>
            </a:endParaRPr>
          </a:p>
          <a:p>
            <a:pPr marL="0" marR="0" lvl="0" indent="0" algn="ctr" rtl="0">
              <a:spcBef>
                <a:spcPts val="0"/>
              </a:spcBef>
              <a:spcAft>
                <a:spcPts val="0"/>
              </a:spcAft>
              <a:buNone/>
            </a:pPr>
            <a:r>
              <a:rPr lang="es-ES" sz="1050">
                <a:solidFill>
                  <a:schemeClr val="dk1"/>
                </a:solidFill>
                <a:latin typeface="Calibri"/>
                <a:ea typeface="Calibri"/>
                <a:cs typeface="Calibri"/>
                <a:sym typeface="Calibri"/>
              </a:rPr>
              <a:t>IQR = Q3 – Q1</a:t>
            </a:r>
            <a:endParaRPr sz="1800">
              <a:solidFill>
                <a:schemeClr val="dk1"/>
              </a:solidFill>
              <a:latin typeface="Calibri"/>
              <a:ea typeface="Calibri"/>
              <a:cs typeface="Calibri"/>
              <a:sym typeface="Calibri"/>
            </a:endParaRPr>
          </a:p>
        </p:txBody>
      </p:sp>
      <p:sp>
        <p:nvSpPr>
          <p:cNvPr id="398" name="Google Shape;398;p24"/>
          <p:cNvSpPr/>
          <p:nvPr/>
        </p:nvSpPr>
        <p:spPr>
          <a:xfrm>
            <a:off x="-264161" y="970206"/>
            <a:ext cx="12710161" cy="1008062"/>
          </a:xfrm>
          <a:prstGeom prst="roundRect">
            <a:avLst>
              <a:gd name="adj" fmla="val 2971"/>
            </a:avLst>
          </a:prstGeom>
          <a:gradFill>
            <a:gsLst>
              <a:gs pos="0">
                <a:srgbClr val="541844"/>
              </a:gs>
              <a:gs pos="50000">
                <a:srgbClr val="7A2363"/>
              </a:gs>
              <a:gs pos="100000">
                <a:srgbClr val="932B78"/>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99" name="Google Shape;399;p24"/>
          <p:cNvSpPr txBox="1"/>
          <p:nvPr/>
        </p:nvSpPr>
        <p:spPr>
          <a:xfrm>
            <a:off x="1176470" y="1144356"/>
            <a:ext cx="9831424" cy="64633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El boxplot, o diagrama de caja y bigote, entrega información de cómo se distribuyen los valores en un conjunto de datos, identificando también los cuartiles y puntos atípicos.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0"/>
                                        </p:tgtEl>
                                        <p:attrNameLst>
                                          <p:attrName>style.visibility</p:attrName>
                                        </p:attrNameLst>
                                      </p:cBhvr>
                                      <p:to>
                                        <p:strVal val="visible"/>
                                      </p:to>
                                    </p:set>
                                    <p:animEffect transition="in" filter="fade">
                                      <p:cBhvr>
                                        <p:cTn id="7" dur="500"/>
                                        <p:tgtEl>
                                          <p:spTgt spid="3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p25"/>
          <p:cNvSpPr/>
          <p:nvPr/>
        </p:nvSpPr>
        <p:spPr>
          <a:xfrm>
            <a:off x="-457200" y="896549"/>
            <a:ext cx="6858000" cy="5142584"/>
          </a:xfrm>
          <a:prstGeom prst="roundRect">
            <a:avLst>
              <a:gd name="adj" fmla="val 2971"/>
            </a:avLst>
          </a:prstGeom>
          <a:gradFill>
            <a:gsLst>
              <a:gs pos="0">
                <a:srgbClr val="541844"/>
              </a:gs>
              <a:gs pos="50000">
                <a:srgbClr val="7A2363"/>
              </a:gs>
              <a:gs pos="100000">
                <a:srgbClr val="932B78"/>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05" name="Google Shape;405;p25"/>
          <p:cNvSpPr txBox="1"/>
          <p:nvPr/>
        </p:nvSpPr>
        <p:spPr>
          <a:xfrm>
            <a:off x="7349890" y="717998"/>
            <a:ext cx="4178772"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ES" sz="3200">
                <a:solidFill>
                  <a:srgbClr val="7F7F7F"/>
                </a:solidFill>
                <a:latin typeface="Arial"/>
                <a:ea typeface="Arial"/>
                <a:cs typeface="Arial"/>
                <a:sym typeface="Arial"/>
              </a:rPr>
              <a:t>Valores Atípicos</a:t>
            </a:r>
            <a:endParaRPr/>
          </a:p>
        </p:txBody>
      </p:sp>
      <p:sp>
        <p:nvSpPr>
          <p:cNvPr id="406" name="Google Shape;406;p25"/>
          <p:cNvSpPr txBox="1"/>
          <p:nvPr/>
        </p:nvSpPr>
        <p:spPr>
          <a:xfrm>
            <a:off x="531980" y="1140955"/>
            <a:ext cx="5391129" cy="4801314"/>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Un valor atípico en un set de datos corresponde a una observación que es numéricamente distante del resto de los datos, extremadamente grande o extremadamente pequeña. Un valor atípico puede generar un efecto desproporcionado en los resultados estadísticos, como la media, lo cual puede conducir a interpretaciones engañosas.</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a:solidFill>
                  <a:schemeClr val="lt1"/>
                </a:solidFill>
                <a:latin typeface="Calibri"/>
                <a:ea typeface="Calibri"/>
                <a:cs typeface="Calibri"/>
                <a:sym typeface="Calibri"/>
              </a:rPr>
              <a:t>Un valor atípico, llamado a veces anomalía, podría deberse a un fenómeno único (por ejemplo una lista de clientes de un banco con una persona de 124 años) o bien podría ser producido por un error (por ejemplo tipearon 124 en vez de 24 años al momento de crear al cliente).</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a:solidFill>
                  <a:schemeClr val="lt1"/>
                </a:solidFill>
                <a:latin typeface="Calibri"/>
                <a:ea typeface="Calibri"/>
                <a:cs typeface="Calibri"/>
                <a:sym typeface="Calibri"/>
              </a:rPr>
              <a:t>Sea cual sea el dato, es conveniente identificar la presencia de valores atípicos o anomalías en los datos.</a:t>
            </a:r>
            <a:endParaRPr/>
          </a:p>
        </p:txBody>
      </p:sp>
      <p:sp>
        <p:nvSpPr>
          <p:cNvPr id="407" name="Google Shape;407;p25"/>
          <p:cNvSpPr/>
          <p:nvPr/>
        </p:nvSpPr>
        <p:spPr>
          <a:xfrm>
            <a:off x="7093445" y="1694529"/>
            <a:ext cx="4691662" cy="3496447"/>
          </a:xfrm>
          <a:prstGeom prst="roundRect">
            <a:avLst>
              <a:gd name="adj" fmla="val 2971"/>
            </a:avLst>
          </a:prstGeom>
          <a:solidFill>
            <a:schemeClr val="lt1"/>
          </a:solidFill>
          <a:ln w="38100" cap="flat" cmpd="sng">
            <a:solidFill>
              <a:srgbClr val="8D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408" name="Google Shape;408;p25"/>
          <p:cNvPicPr preferRelativeResize="0"/>
          <p:nvPr/>
        </p:nvPicPr>
        <p:blipFill rotWithShape="1">
          <a:blip r:embed="rId3">
            <a:alphaModFix/>
          </a:blip>
          <a:srcRect/>
          <a:stretch/>
        </p:blipFill>
        <p:spPr>
          <a:xfrm>
            <a:off x="7244887" y="1927521"/>
            <a:ext cx="4457175" cy="3002958"/>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05"/>
                                        </p:tgtEl>
                                        <p:attrNameLst>
                                          <p:attrName>style.visibility</p:attrName>
                                        </p:attrNameLst>
                                      </p:cBhvr>
                                      <p:to>
                                        <p:strVal val="visible"/>
                                      </p:to>
                                    </p:set>
                                    <p:animEffect transition="in" filter="fade">
                                      <p:cBhvr>
                                        <p:cTn id="7" dur="500"/>
                                        <p:tgtEl>
                                          <p:spTgt spid="4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12"/>
        <p:cNvGrpSpPr/>
        <p:nvPr/>
      </p:nvGrpSpPr>
      <p:grpSpPr>
        <a:xfrm>
          <a:off x="0" y="0"/>
          <a:ext cx="0" cy="0"/>
          <a:chOff x="0" y="0"/>
          <a:chExt cx="0" cy="0"/>
        </a:xfrm>
      </p:grpSpPr>
      <p:sp>
        <p:nvSpPr>
          <p:cNvPr id="413" name="Google Shape;413;p26"/>
          <p:cNvSpPr/>
          <p:nvPr/>
        </p:nvSpPr>
        <p:spPr>
          <a:xfrm>
            <a:off x="1845734" y="3112242"/>
            <a:ext cx="8824383" cy="3099872"/>
          </a:xfrm>
          <a:prstGeom prst="roundRect">
            <a:avLst>
              <a:gd name="adj" fmla="val 2971"/>
            </a:avLst>
          </a:prstGeom>
          <a:solidFill>
            <a:srgbClr val="FFFFFF"/>
          </a:solidFill>
          <a:ln w="38100" cap="flat" cmpd="sng">
            <a:solidFill>
              <a:srgbClr val="8D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14" name="Google Shape;414;p26"/>
          <p:cNvSpPr txBox="1"/>
          <p:nvPr/>
        </p:nvSpPr>
        <p:spPr>
          <a:xfrm>
            <a:off x="1671553" y="472466"/>
            <a:ext cx="10782300" cy="731156"/>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ES" sz="3200">
                <a:solidFill>
                  <a:srgbClr val="7F7F7F"/>
                </a:solidFill>
                <a:latin typeface="Arial"/>
                <a:ea typeface="Arial"/>
                <a:cs typeface="Arial"/>
                <a:sym typeface="Arial"/>
              </a:rPr>
              <a:t>Sumario de estadísticas</a:t>
            </a:r>
            <a:endParaRPr/>
          </a:p>
        </p:txBody>
      </p:sp>
      <p:sp>
        <p:nvSpPr>
          <p:cNvPr id="415" name="Google Shape;415;p26"/>
          <p:cNvSpPr/>
          <p:nvPr/>
        </p:nvSpPr>
        <p:spPr>
          <a:xfrm>
            <a:off x="-346843" y="1483930"/>
            <a:ext cx="13852635" cy="1095399"/>
          </a:xfrm>
          <a:prstGeom prst="roundRect">
            <a:avLst>
              <a:gd name="adj" fmla="val 2971"/>
            </a:avLst>
          </a:prstGeom>
          <a:gradFill>
            <a:gsLst>
              <a:gs pos="0">
                <a:srgbClr val="541844"/>
              </a:gs>
              <a:gs pos="50000">
                <a:srgbClr val="7A2363"/>
              </a:gs>
              <a:gs pos="100000">
                <a:srgbClr val="932B78"/>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16" name="Google Shape;416;p26"/>
          <p:cNvSpPr txBox="1"/>
          <p:nvPr/>
        </p:nvSpPr>
        <p:spPr>
          <a:xfrm>
            <a:off x="1671553" y="1717733"/>
            <a:ext cx="8874158" cy="64633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En este caso, los sueldos más altos son distinguidos como valores atípicos, lo cual tiene sentido puesto que hay pocos sueldos muy altos.</a:t>
            </a:r>
            <a:endParaRPr/>
          </a:p>
        </p:txBody>
      </p:sp>
      <p:pic>
        <p:nvPicPr>
          <p:cNvPr id="417" name="Google Shape;417;p26"/>
          <p:cNvPicPr preferRelativeResize="0"/>
          <p:nvPr/>
        </p:nvPicPr>
        <p:blipFill rotWithShape="1">
          <a:blip r:embed="rId3">
            <a:alphaModFix/>
          </a:blip>
          <a:srcRect/>
          <a:stretch/>
        </p:blipFill>
        <p:spPr>
          <a:xfrm>
            <a:off x="2162603" y="3302007"/>
            <a:ext cx="4070754" cy="2742612"/>
          </a:xfrm>
          <a:prstGeom prst="rect">
            <a:avLst/>
          </a:prstGeom>
          <a:noFill/>
          <a:ln>
            <a:noFill/>
          </a:ln>
        </p:spPr>
      </p:pic>
      <p:sp>
        <p:nvSpPr>
          <p:cNvPr id="418" name="Google Shape;418;p26"/>
          <p:cNvSpPr txBox="1"/>
          <p:nvPr/>
        </p:nvSpPr>
        <p:spPr>
          <a:xfrm>
            <a:off x="7671876" y="4097686"/>
            <a:ext cx="2357521" cy="15696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a:solidFill>
                  <a:schemeClr val="dk1"/>
                </a:solidFill>
                <a:latin typeface="Calibri"/>
                <a:ea typeface="Calibri"/>
                <a:cs typeface="Calibri"/>
                <a:sym typeface="Calibri"/>
              </a:rPr>
              <a:t>Cálculo de los límites</a:t>
            </a:r>
            <a:endParaRPr/>
          </a:p>
          <a:p>
            <a:pPr marL="0" marR="0" lvl="0" indent="0" algn="l" rtl="0">
              <a:spcBef>
                <a:spcPts val="0"/>
              </a:spcBef>
              <a:spcAft>
                <a:spcPts val="0"/>
              </a:spcAft>
              <a:buNone/>
            </a:pPr>
            <a:endParaRPr sz="1600">
              <a:solidFill>
                <a:schemeClr val="dk1"/>
              </a:solidFill>
              <a:latin typeface="Calibri"/>
              <a:ea typeface="Calibri"/>
              <a:cs typeface="Calibri"/>
              <a:sym typeface="Calibri"/>
            </a:endParaRPr>
          </a:p>
          <a:p>
            <a:pPr marL="0" marR="0" lvl="0" indent="0" algn="l" rtl="0">
              <a:spcBef>
                <a:spcPts val="0"/>
              </a:spcBef>
              <a:spcAft>
                <a:spcPts val="0"/>
              </a:spcAft>
              <a:buNone/>
            </a:pPr>
            <a:r>
              <a:rPr lang="es-ES" sz="1600">
                <a:solidFill>
                  <a:schemeClr val="dk1"/>
                </a:solidFill>
                <a:latin typeface="Calibri"/>
                <a:ea typeface="Calibri"/>
                <a:cs typeface="Calibri"/>
                <a:sym typeface="Calibri"/>
              </a:rPr>
              <a:t>LSUP = Q3 + 1.5*IQR</a:t>
            </a:r>
            <a:endParaRPr/>
          </a:p>
          <a:p>
            <a:pPr marL="0" marR="0" lvl="0" indent="0" algn="l" rtl="0">
              <a:spcBef>
                <a:spcPts val="0"/>
              </a:spcBef>
              <a:spcAft>
                <a:spcPts val="0"/>
              </a:spcAft>
              <a:buNone/>
            </a:pPr>
            <a:endParaRPr sz="1600">
              <a:solidFill>
                <a:schemeClr val="dk1"/>
              </a:solidFill>
              <a:latin typeface="Calibri"/>
              <a:ea typeface="Calibri"/>
              <a:cs typeface="Calibri"/>
              <a:sym typeface="Calibri"/>
            </a:endParaRPr>
          </a:p>
          <a:p>
            <a:pPr marL="0" marR="0" lvl="0" indent="0" algn="l" rtl="0">
              <a:spcBef>
                <a:spcPts val="0"/>
              </a:spcBef>
              <a:spcAft>
                <a:spcPts val="0"/>
              </a:spcAft>
              <a:buNone/>
            </a:pPr>
            <a:r>
              <a:rPr lang="es-ES" sz="1600">
                <a:solidFill>
                  <a:schemeClr val="dk1"/>
                </a:solidFill>
                <a:latin typeface="Calibri"/>
                <a:ea typeface="Calibri"/>
                <a:cs typeface="Calibri"/>
                <a:sym typeface="Calibri"/>
              </a:rPr>
              <a:t>LINF = Q1 - 1.5*IQR</a:t>
            </a:r>
            <a:endParaRPr/>
          </a:p>
          <a:p>
            <a:pPr marL="0" marR="0" lvl="0" indent="0" algn="l" rtl="0">
              <a:spcBef>
                <a:spcPts val="0"/>
              </a:spcBef>
              <a:spcAft>
                <a:spcPts val="0"/>
              </a:spcAft>
              <a:buNone/>
            </a:pPr>
            <a:endParaRPr sz="16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14"/>
                                        </p:tgtEl>
                                        <p:attrNameLst>
                                          <p:attrName>style.visibility</p:attrName>
                                        </p:attrNameLst>
                                      </p:cBhvr>
                                      <p:to>
                                        <p:strVal val="visible"/>
                                      </p:to>
                                    </p:set>
                                    <p:animEffect transition="in" filter="fade">
                                      <p:cBhvr>
                                        <p:cTn id="7" dur="500"/>
                                        <p:tgtEl>
                                          <p:spTgt spid="4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sp>
        <p:nvSpPr>
          <p:cNvPr id="423" name="Google Shape;423;p27"/>
          <p:cNvSpPr/>
          <p:nvPr/>
        </p:nvSpPr>
        <p:spPr>
          <a:xfrm>
            <a:off x="-585177" y="3057041"/>
            <a:ext cx="7800454" cy="1045333"/>
          </a:xfrm>
          <a:prstGeom prst="roundRect">
            <a:avLst>
              <a:gd name="adj" fmla="val 9640"/>
            </a:avLst>
          </a:prstGeom>
          <a:gradFill>
            <a:gsLst>
              <a:gs pos="0">
                <a:srgbClr val="541844"/>
              </a:gs>
              <a:gs pos="50000">
                <a:srgbClr val="7A2363"/>
              </a:gs>
              <a:gs pos="100000">
                <a:srgbClr val="932B78"/>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1" i="0" u="none" strike="noStrike" cap="none">
              <a:solidFill>
                <a:srgbClr val="008CAD"/>
              </a:solidFill>
              <a:latin typeface="Calibri"/>
              <a:ea typeface="Calibri"/>
              <a:cs typeface="Calibri"/>
              <a:sym typeface="Calibri"/>
            </a:endParaRPr>
          </a:p>
        </p:txBody>
      </p:sp>
      <p:sp>
        <p:nvSpPr>
          <p:cNvPr id="424" name="Google Shape;424;p27"/>
          <p:cNvSpPr txBox="1"/>
          <p:nvPr/>
        </p:nvSpPr>
        <p:spPr>
          <a:xfrm>
            <a:off x="2768633" y="2835053"/>
            <a:ext cx="4446644" cy="1489308"/>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FFFFF"/>
              </a:buClr>
              <a:buSzPts val="3600"/>
              <a:buFont typeface="Arial"/>
              <a:buNone/>
            </a:pPr>
            <a:r>
              <a:rPr lang="es-ES" sz="3600" b="0" i="0" u="none" strike="noStrike" cap="none">
                <a:solidFill>
                  <a:srgbClr val="FFFFFF"/>
                </a:solidFill>
                <a:latin typeface="Arial"/>
                <a:ea typeface="Arial"/>
                <a:cs typeface="Arial"/>
                <a:sym typeface="Arial"/>
              </a:rPr>
              <a:t>Dudas y consultas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24"/>
                                        </p:tgtEl>
                                        <p:attrNameLst>
                                          <p:attrName>style.visibility</p:attrName>
                                        </p:attrNameLst>
                                      </p:cBhvr>
                                      <p:to>
                                        <p:strVal val="visible"/>
                                      </p:to>
                                    </p:set>
                                    <p:animEffect transition="in" filter="fade">
                                      <p:cBhvr>
                                        <p:cTn id="7" dur="500"/>
                                        <p:tgtEl>
                                          <p:spTgt spid="4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sp>
        <p:nvSpPr>
          <p:cNvPr id="429" name="Google Shape;429;p28"/>
          <p:cNvSpPr txBox="1">
            <a:spLocks noGrp="1"/>
          </p:cNvSpPr>
          <p:nvPr>
            <p:ph type="title"/>
          </p:nvPr>
        </p:nvSpPr>
        <p:spPr>
          <a:xfrm>
            <a:off x="817180" y="2835056"/>
            <a:ext cx="10515600" cy="1325563"/>
          </a:xfrm>
          <a:prstGeom prst="rect">
            <a:avLst/>
          </a:prstGeom>
          <a:noFill/>
          <a:ln>
            <a:noFill/>
          </a:ln>
        </p:spPr>
        <p:txBody>
          <a:bodyPr spcFirstLastPara="1" wrap="square" lIns="91425" tIns="45700" rIns="91425" bIns="45700" anchor="ctr" anchorCtr="0">
            <a:spAutoFit/>
          </a:bodyPr>
          <a:lstStyle/>
          <a:p>
            <a:pPr marL="0" lvl="0" indent="0" algn="ctr" rtl="0">
              <a:lnSpc>
                <a:spcPct val="90000"/>
              </a:lnSpc>
              <a:spcBef>
                <a:spcPts val="0"/>
              </a:spcBef>
              <a:spcAft>
                <a:spcPts val="0"/>
              </a:spcAft>
              <a:buNone/>
            </a:pPr>
            <a:r>
              <a:rPr lang="es-ES" sz="3200">
                <a:solidFill>
                  <a:srgbClr val="7F7F7F"/>
                </a:solidFill>
                <a:latin typeface="Arial"/>
                <a:ea typeface="Arial"/>
                <a:cs typeface="Arial"/>
                <a:sym typeface="Arial"/>
              </a:rPr>
              <a:t>Fin de la Presentación</a:t>
            </a:r>
            <a:endParaRPr sz="1400">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1774</Words>
  <Application>Microsoft Office PowerPoint</Application>
  <PresentationFormat>Panorámica</PresentationFormat>
  <Paragraphs>158</Paragraphs>
  <Slides>28</Slides>
  <Notes>28</Notes>
  <HiddenSlides>0</HiddenSlides>
  <MMClips>0</MMClips>
  <ScaleCrop>false</ScaleCrop>
  <HeadingPairs>
    <vt:vector size="4" baseType="variant">
      <vt:variant>
        <vt:lpstr>Tema</vt:lpstr>
      </vt:variant>
      <vt:variant>
        <vt:i4>1</vt:i4>
      </vt:variant>
      <vt:variant>
        <vt:lpstr>Títulos de diapositiva</vt:lpstr>
      </vt:variant>
      <vt:variant>
        <vt:i4>28</vt:i4>
      </vt:variant>
    </vt:vector>
  </HeadingPairs>
  <TitlesOfParts>
    <vt:vector size="29" baseType="lpstr">
      <vt:lpstr>Tema de Office</vt:lpstr>
      <vt:lpstr> Análisis Univariado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Fin de la Presentación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Análisis Univariado</dc:title>
  <dc:creator>Kibernum</dc:creator>
  <cp:lastModifiedBy>Diseño ITA</cp:lastModifiedBy>
  <cp:revision>26</cp:revision>
  <dcterms:created xsi:type="dcterms:W3CDTF">2023-01-03T12:28:26Z</dcterms:created>
  <dcterms:modified xsi:type="dcterms:W3CDTF">2025-09-26T12:10:17Z</dcterms:modified>
</cp:coreProperties>
</file>