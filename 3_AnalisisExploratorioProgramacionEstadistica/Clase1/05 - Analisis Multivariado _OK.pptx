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embeddedFontLst>
    <p:embeddedFont>
      <p:font typeface="Noto Sans" panose="020B050204050402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j0kxU/UqXChLH5y7uAulFSUQym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12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2E01C8-6BF7-336A-FBEE-2D0B38E24B4D}" v="4" dt="2025-10-06T17:14:37.0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BA2E01C8-6BF7-336A-FBEE-2D0B38E24B4D}"/>
    <pc:docChg chg="modSld">
      <pc:chgData name="Soraya Salazar" userId="S::soraya.salazar@kibernumacademy.com::fdf00a5c-f577-43dc-8064-9968cad83607" providerId="AD" clId="Web-{BA2E01C8-6BF7-336A-FBEE-2D0B38E24B4D}" dt="2025-10-06T17:14:37.015" v="2" actId="20577"/>
      <pc:docMkLst>
        <pc:docMk/>
      </pc:docMkLst>
      <pc:sldChg chg="modSp">
        <pc:chgData name="Soraya Salazar" userId="S::soraya.salazar@kibernumacademy.com::fdf00a5c-f577-43dc-8064-9968cad83607" providerId="AD" clId="Web-{BA2E01C8-6BF7-336A-FBEE-2D0B38E24B4D}" dt="2025-10-06T17:14:37.015" v="2" actId="20577"/>
        <pc:sldMkLst>
          <pc:docMk/>
          <pc:sldMk cId="0" sldId="256"/>
        </pc:sldMkLst>
        <pc:spChg chg="mod">
          <ac:chgData name="Soraya Salazar" userId="S::soraya.salazar@kibernumacademy.com::fdf00a5c-f577-43dc-8064-9968cad83607" providerId="AD" clId="Web-{BA2E01C8-6BF7-336A-FBEE-2D0B38E24B4D}" dt="2025-10-06T17:14:37.015" v="2" actId="20577"/>
          <ac:spMkLst>
            <pc:docMk/>
            <pc:sldMk cId="0" sldId="256"/>
            <ac:spMk id="9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 name="Google Shape;1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8" name="Google Shape;13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8" name="Google Shape;14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7" name="Google Shape;15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8" name="Google Shape;24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3" name="Google Shape;30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0" name="Google Shape;31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8" name="Google Shape;31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8" name="Google Shape;32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0" name="Google Shape;34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4" name="Google Shape;35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1" name="Google Shape;36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8" name="Google Shape;36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1" name="Google Shape;39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8" name="Google Shape;39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1" name="Google Shape;41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Clr>
                <a:schemeClr val="dk1"/>
              </a:buClr>
              <a:buSzPts val="1200"/>
              <a:buFont typeface="Calibri"/>
              <a:buNone/>
            </a:pPr>
            <a:endParaRPr/>
          </a:p>
        </p:txBody>
      </p:sp>
      <p:sp>
        <p:nvSpPr>
          <p:cNvPr id="422" name="Google Shape;42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Clr>
                <a:schemeClr val="dk1"/>
              </a:buClr>
              <a:buSzPts val="1200"/>
              <a:buFont typeface="Calibri"/>
              <a:buNone/>
            </a:pPr>
            <a:endParaRPr/>
          </a:p>
        </p:txBody>
      </p:sp>
      <p:sp>
        <p:nvSpPr>
          <p:cNvPr id="429" name="Google Shape;42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3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33"/>
          <p:cNvSpPr>
            <a:spLocks noGrp="1"/>
          </p:cNvSpPr>
          <p:nvPr>
            <p:ph type="pic" idx="2"/>
          </p:nvPr>
        </p:nvSpPr>
        <p:spPr>
          <a:xfrm>
            <a:off x="5183188" y="987425"/>
            <a:ext cx="6172200" cy="4873625"/>
          </a:xfrm>
          <a:prstGeom prst="rect">
            <a:avLst/>
          </a:prstGeom>
          <a:noFill/>
          <a:ln>
            <a:noFill/>
          </a:ln>
        </p:spPr>
      </p:sp>
      <p:sp>
        <p:nvSpPr>
          <p:cNvPr id="68" name="Google Shape;68;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3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3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3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6.gif"/><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Un conjunto de letras negras en un fondo blanco&#10;&#10;Descripción generada automáticamente con confianza media"/>
          <p:cNvPicPr preferRelativeResize="0"/>
          <p:nvPr/>
        </p:nvPicPr>
        <p:blipFill rotWithShape="1">
          <a:blip r:embed="rId3">
            <a:alphaModFix/>
          </a:blip>
          <a:srcRect/>
          <a:stretch/>
        </p:blipFill>
        <p:spPr>
          <a:xfrm>
            <a:off x="0" y="0"/>
            <a:ext cx="12192000" cy="7037762"/>
          </a:xfrm>
          <a:prstGeom prst="rect">
            <a:avLst/>
          </a:prstGeom>
          <a:noFill/>
          <a:ln>
            <a:noFill/>
          </a:ln>
        </p:spPr>
      </p:pic>
      <p:sp>
        <p:nvSpPr>
          <p:cNvPr id="89" name="Google Shape;89;p1"/>
          <p:cNvSpPr/>
          <p:nvPr/>
        </p:nvSpPr>
        <p:spPr>
          <a:xfrm>
            <a:off x="3890331" y="3823063"/>
            <a:ext cx="7135021" cy="1480457"/>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90" name="Google Shape;90;p1"/>
          <p:cNvSpPr txBox="1">
            <a:spLocks noGrp="1"/>
          </p:cNvSpPr>
          <p:nvPr>
            <p:ph type="ctrTitle"/>
          </p:nvPr>
        </p:nvSpPr>
        <p:spPr>
          <a:xfrm>
            <a:off x="4047628" y="4092239"/>
            <a:ext cx="6820426" cy="902853"/>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s-ES" sz="5000" b="1">
                <a:solidFill>
                  <a:schemeClr val="lt1"/>
                </a:solidFill>
                <a:latin typeface="Arial"/>
                <a:ea typeface="Arial"/>
                <a:cs typeface="Arial"/>
                <a:sym typeface="Arial"/>
              </a:rPr>
              <a:t>Análisis Multivariado</a:t>
            </a:r>
            <a:endParaRPr sz="3000" b="1">
              <a:solidFill>
                <a:schemeClr val="lt1"/>
              </a:solidFill>
              <a:latin typeface="Arial"/>
              <a:ea typeface="Arial"/>
              <a:cs typeface="Arial"/>
              <a:sym typeface="Arial"/>
            </a:endParaRPr>
          </a:p>
        </p:txBody>
      </p:sp>
      <p:sp>
        <p:nvSpPr>
          <p:cNvPr id="92" name="Google Shape;92;p1"/>
          <p:cNvSpPr txBox="1"/>
          <p:nvPr/>
        </p:nvSpPr>
        <p:spPr>
          <a:xfrm>
            <a:off x="4047628" y="3194729"/>
            <a:ext cx="7022779" cy="646290"/>
          </a:xfrm>
          <a:prstGeom prst="rect">
            <a:avLst/>
          </a:prstGeom>
          <a:noFill/>
          <a:ln>
            <a:noFill/>
          </a:ln>
        </p:spPr>
        <p:txBody>
          <a:bodyPr spcFirstLastPara="1" wrap="square" lIns="91425" tIns="45700" rIns="91425" bIns="45700" anchor="t" anchorCtr="0">
            <a:spAutoFit/>
          </a:bodyPr>
          <a:lstStyle/>
          <a:p>
            <a:pPr>
              <a:buClr>
                <a:schemeClr val="lt1"/>
              </a:buClr>
              <a:buSzPts val="1800"/>
            </a:pPr>
            <a:endParaRPr lang="es-ES" sz="1800" b="1" dirty="0">
              <a:solidFill>
                <a:schemeClr val="lt1"/>
              </a:solidFill>
            </a:endParaRPr>
          </a:p>
          <a:p>
            <a:pPr>
              <a:buSzPts val="1800"/>
            </a:pPr>
            <a:r>
              <a:rPr lang="es-ES" sz="1800" b="1" dirty="0">
                <a:solidFill>
                  <a:schemeClr val="lt1"/>
                </a:solidFill>
              </a:rPr>
              <a:t> </a:t>
            </a:r>
            <a:r>
              <a:rPr lang="es-ES" sz="1800" b="1" dirty="0">
                <a:solidFill>
                  <a:schemeClr val="lt1"/>
                </a:solidFill>
                <a:latin typeface="Arial"/>
                <a:ea typeface="Arial"/>
                <a:cs typeface="Arial"/>
                <a:sym typeface="Arial"/>
              </a:rPr>
              <a:t> Análisis Exploratorio y Programación Estadística</a:t>
            </a:r>
            <a:endParaRPr sz="1800">
              <a:solidFill>
                <a:schemeClr val="lt1"/>
              </a:solidFill>
              <a:latin typeface="Calibri"/>
              <a:ea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p:nvPr/>
        </p:nvSpPr>
        <p:spPr>
          <a:xfrm>
            <a:off x="6244046" y="-496840"/>
            <a:ext cx="4634462" cy="5877097"/>
          </a:xfrm>
          <a:prstGeom prst="roundRect">
            <a:avLst>
              <a:gd name="adj" fmla="val 2778"/>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2"/>
          <p:cNvSpPr txBox="1"/>
          <p:nvPr/>
        </p:nvSpPr>
        <p:spPr>
          <a:xfrm>
            <a:off x="540859" y="460973"/>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Objetivos</a:t>
            </a:r>
            <a:endParaRPr/>
          </a:p>
        </p:txBody>
      </p:sp>
      <p:sp>
        <p:nvSpPr>
          <p:cNvPr id="99" name="Google Shape;99;p2"/>
          <p:cNvSpPr txBox="1"/>
          <p:nvPr/>
        </p:nvSpPr>
        <p:spPr>
          <a:xfrm>
            <a:off x="6320840" y="1960846"/>
            <a:ext cx="4324289" cy="2246769"/>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Explicar la diferencia entre análisis univariado, bivariado y multivariado.</a:t>
            </a:r>
            <a:endParaRPr sz="2000">
              <a:solidFill>
                <a:schemeClr val="dk1"/>
              </a:solidFill>
              <a:latin typeface="Calibri"/>
              <a:ea typeface="Calibri"/>
              <a:cs typeface="Calibri"/>
              <a:sym typeface="Calibri"/>
            </a:endParaRPr>
          </a:p>
          <a:p>
            <a:pPr marL="342900" marR="0" lvl="0" indent="-215900" algn="just" rtl="0">
              <a:spcBef>
                <a:spcPts val="0"/>
              </a:spcBef>
              <a:spcAft>
                <a:spcPts val="0"/>
              </a:spcAft>
              <a:buClr>
                <a:srgbClr val="FFFFFF"/>
              </a:buClr>
              <a:buSzPts val="2000"/>
              <a:buFont typeface="Arial"/>
              <a:buNone/>
            </a:pPr>
            <a:endParaRPr sz="2000">
              <a:solidFill>
                <a:schemeClr val="dk1"/>
              </a:solidFill>
              <a:latin typeface="Calibri"/>
              <a:ea typeface="Calibri"/>
              <a:cs typeface="Calibri"/>
              <a:sym typeface="Calibri"/>
            </a:endParaRPr>
          </a:p>
          <a:p>
            <a:pPr marL="342900" marR="0" lvl="0" indent="-342900" algn="just" rtl="0">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Describir el concepto de correlación entre variables.</a:t>
            </a:r>
            <a:endParaRPr sz="2000">
              <a:solidFill>
                <a:schemeClr val="dk1"/>
              </a:solidFill>
              <a:latin typeface="Calibri"/>
              <a:ea typeface="Calibri"/>
              <a:cs typeface="Calibri"/>
              <a:sym typeface="Calibri"/>
            </a:endParaRPr>
          </a:p>
          <a:p>
            <a:pPr marL="342900" marR="0" lvl="0" indent="-215900" algn="l" rtl="0">
              <a:spcBef>
                <a:spcPts val="0"/>
              </a:spcBef>
              <a:spcAft>
                <a:spcPts val="0"/>
              </a:spcAft>
              <a:buClr>
                <a:srgbClr val="FFFFFF"/>
              </a:buClr>
              <a:buSzPts val="2000"/>
              <a:buFont typeface="Arial"/>
              <a:buNone/>
            </a:pPr>
            <a:endParaRPr sz="2000">
              <a:solidFill>
                <a:schemeClr val="dk1"/>
              </a:solidFill>
              <a:latin typeface="Arial"/>
              <a:ea typeface="Arial"/>
              <a:cs typeface="Arial"/>
              <a:sym typeface="Arial"/>
            </a:endParaRPr>
          </a:p>
          <a:p>
            <a:pPr marL="342900" marR="0" lvl="0" indent="-215900" algn="l" rtl="0">
              <a:spcBef>
                <a:spcPts val="0"/>
              </a:spcBef>
              <a:spcAft>
                <a:spcPts val="0"/>
              </a:spcAft>
              <a:buClr>
                <a:srgbClr val="FFFFFF"/>
              </a:buClr>
              <a:buSzPts val="2000"/>
              <a:buFont typeface="Arial"/>
              <a:buNone/>
            </a:pPr>
            <a:endParaRPr sz="2000">
              <a:solidFill>
                <a:schemeClr val="dk1"/>
              </a:solidFill>
              <a:latin typeface="Arial"/>
              <a:ea typeface="Arial"/>
              <a:cs typeface="Arial"/>
              <a:sym typeface="Arial"/>
            </a:endParaRPr>
          </a:p>
        </p:txBody>
      </p:sp>
      <p:grpSp>
        <p:nvGrpSpPr>
          <p:cNvPr id="100" name="Google Shape;100;p2"/>
          <p:cNvGrpSpPr/>
          <p:nvPr/>
        </p:nvGrpSpPr>
        <p:grpSpPr>
          <a:xfrm>
            <a:off x="1320850" y="1659284"/>
            <a:ext cx="3524500" cy="3720972"/>
            <a:chOff x="1084791" y="0"/>
            <a:chExt cx="3524500" cy="3720972"/>
          </a:xfrm>
        </p:grpSpPr>
        <p:sp>
          <p:nvSpPr>
            <p:cNvPr id="101" name="Google Shape;101;p2"/>
            <p:cNvSpPr/>
            <p:nvPr/>
          </p:nvSpPr>
          <p:spPr>
            <a:xfrm>
              <a:off x="1084791" y="0"/>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p:nvPr/>
        </p:nvSpPr>
        <p:spPr>
          <a:xfrm>
            <a:off x="469983" y="1209964"/>
            <a:ext cx="11311659" cy="5095579"/>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3"/>
          <p:cNvSpPr/>
          <p:nvPr/>
        </p:nvSpPr>
        <p:spPr>
          <a:xfrm>
            <a:off x="618838" y="2654657"/>
            <a:ext cx="11016012" cy="3512852"/>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 name="Google Shape;110;p3"/>
          <p:cNvSpPr txBox="1"/>
          <p:nvPr/>
        </p:nvSpPr>
        <p:spPr>
          <a:xfrm>
            <a:off x="679534" y="476108"/>
            <a:ext cx="10659834" cy="52107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Análisis Multivariado</a:t>
            </a:r>
            <a:endParaRPr/>
          </a:p>
        </p:txBody>
      </p:sp>
      <p:sp>
        <p:nvSpPr>
          <p:cNvPr id="111" name="Google Shape;111;p3"/>
          <p:cNvSpPr txBox="1"/>
          <p:nvPr/>
        </p:nvSpPr>
        <p:spPr>
          <a:xfrm>
            <a:off x="614879" y="1339273"/>
            <a:ext cx="10932968" cy="12002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a:t>
            </a:r>
            <a:r>
              <a:rPr lang="es-ES" sz="1800" b="1">
                <a:solidFill>
                  <a:schemeClr val="lt1"/>
                </a:solidFill>
                <a:latin typeface="Calibri"/>
                <a:ea typeface="Calibri"/>
                <a:cs typeface="Calibri"/>
                <a:sym typeface="Calibri"/>
              </a:rPr>
              <a:t>análisis multivariado </a:t>
            </a:r>
            <a:r>
              <a:rPr lang="es-ES" sz="1800">
                <a:solidFill>
                  <a:schemeClr val="lt1"/>
                </a:solidFill>
                <a:latin typeface="Calibri"/>
                <a:ea typeface="Calibri"/>
                <a:cs typeface="Calibri"/>
                <a:sym typeface="Calibri"/>
              </a:rPr>
              <a:t>es una rama de la estadística que se ocupa del estudio simultáneo de múltiples variables interdependientes. A diferencia del análisis univariado (que se enfoca en una sola variable) o el análisis bivariado (que examina la relación entre dos variables), el análisis multivariado examina conjuntamente cómo varias variables están relacionadas entre sí y cómo influyen en un resultado o fenómeno. </a:t>
            </a:r>
            <a:endParaRPr sz="1800"/>
          </a:p>
        </p:txBody>
      </p:sp>
      <p:pic>
        <p:nvPicPr>
          <p:cNvPr id="112" name="Google Shape;112;p3"/>
          <p:cNvPicPr preferRelativeResize="0"/>
          <p:nvPr/>
        </p:nvPicPr>
        <p:blipFill rotWithShape="1">
          <a:blip r:embed="rId3">
            <a:alphaModFix/>
          </a:blip>
          <a:srcRect/>
          <a:stretch/>
        </p:blipFill>
        <p:spPr>
          <a:xfrm>
            <a:off x="3098718" y="3316545"/>
            <a:ext cx="6271899" cy="2725090"/>
          </a:xfrm>
          <a:prstGeom prst="rect">
            <a:avLst/>
          </a:prstGeom>
          <a:noFill/>
          <a:ln>
            <a:noFill/>
          </a:ln>
        </p:spPr>
      </p:pic>
      <p:sp>
        <p:nvSpPr>
          <p:cNvPr id="113" name="Google Shape;113;p3"/>
          <p:cNvSpPr txBox="1"/>
          <p:nvPr/>
        </p:nvSpPr>
        <p:spPr>
          <a:xfrm>
            <a:off x="777505" y="2863176"/>
            <a:ext cx="991061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dirty="0">
                <a:solidFill>
                  <a:srgbClr val="595959"/>
                </a:solidFill>
                <a:latin typeface="Calibri"/>
                <a:ea typeface="Calibri"/>
                <a:cs typeface="Calibri"/>
                <a:sym typeface="Calibri"/>
              </a:rPr>
              <a:t>A continuación, </a:t>
            </a:r>
            <a:r>
              <a:rPr lang="es-CL" sz="1600" dirty="0">
                <a:solidFill>
                  <a:srgbClr val="595959"/>
                </a:solidFill>
                <a:latin typeface="Calibri"/>
                <a:ea typeface="Calibri"/>
                <a:cs typeface="Calibri"/>
                <a:sym typeface="Calibri"/>
              </a:rPr>
              <a:t>algunos</a:t>
            </a:r>
            <a:r>
              <a:rPr lang="es-ES" sz="1600" dirty="0">
                <a:solidFill>
                  <a:srgbClr val="595959"/>
                </a:solidFill>
                <a:latin typeface="Calibri"/>
                <a:ea typeface="Calibri"/>
                <a:cs typeface="Calibri"/>
                <a:sym typeface="Calibri"/>
              </a:rPr>
              <a:t> ejemplos de visualizaciones. Para lo anterior, utilizaremos el </a:t>
            </a:r>
            <a:r>
              <a:rPr lang="es-ES" sz="1600" dirty="0" err="1">
                <a:solidFill>
                  <a:srgbClr val="595959"/>
                </a:solidFill>
                <a:latin typeface="Calibri"/>
                <a:ea typeface="Calibri"/>
                <a:cs typeface="Calibri"/>
                <a:sym typeface="Calibri"/>
              </a:rPr>
              <a:t>dataset</a:t>
            </a:r>
            <a:r>
              <a:rPr lang="es-ES" sz="1600" dirty="0">
                <a:solidFill>
                  <a:srgbClr val="595959"/>
                </a:solidFill>
                <a:latin typeface="Calibri"/>
                <a:ea typeface="Calibri"/>
                <a:cs typeface="Calibri"/>
                <a:sym typeface="Calibri"/>
              </a:rPr>
              <a:t> Iris.</a:t>
            </a:r>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4"/>
          <p:cNvSpPr/>
          <p:nvPr/>
        </p:nvSpPr>
        <p:spPr>
          <a:xfrm>
            <a:off x="-341745" y="1219199"/>
            <a:ext cx="12302836" cy="4692073"/>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4"/>
          <p:cNvSpPr txBox="1"/>
          <p:nvPr/>
        </p:nvSpPr>
        <p:spPr>
          <a:xfrm>
            <a:off x="482987" y="422861"/>
            <a:ext cx="10519993" cy="70361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Dispersión</a:t>
            </a:r>
            <a:endParaRPr/>
          </a:p>
        </p:txBody>
      </p:sp>
      <p:sp>
        <p:nvSpPr>
          <p:cNvPr id="120" name="Google Shape;120;p4"/>
          <p:cNvSpPr txBox="1"/>
          <p:nvPr/>
        </p:nvSpPr>
        <p:spPr>
          <a:xfrm>
            <a:off x="454682" y="1760699"/>
            <a:ext cx="5288302"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 diagrama de dispersión, también conocido como gráfico de dispersión o scatter plot en inglés, es una representación visual de datos que utiliza puntos para mostrar la relación entre dos variables. Cada punto en el diagrama de dispersión representa una observación en el conjunto de datos y se coloca en un plano cartesiano, donde un eje representa una variable y el otro eje representa la otra variable.</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A continuación, vamos a utilizar la librería Seaborn para hacer un scaterplot en donde podamos distinguir cada especie de Iris.</a:t>
            </a:r>
            <a:endParaRPr/>
          </a:p>
        </p:txBody>
      </p:sp>
      <p:sp>
        <p:nvSpPr>
          <p:cNvPr id="121" name="Google Shape;121;p4"/>
          <p:cNvSpPr/>
          <p:nvPr/>
        </p:nvSpPr>
        <p:spPr>
          <a:xfrm>
            <a:off x="6002025" y="1297250"/>
            <a:ext cx="5884500" cy="4557600"/>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2" name="Google Shape;122;p4"/>
          <p:cNvPicPr preferRelativeResize="0"/>
          <p:nvPr/>
        </p:nvPicPr>
        <p:blipFill rotWithShape="1">
          <a:blip r:embed="rId3">
            <a:alphaModFix/>
          </a:blip>
          <a:srcRect/>
          <a:stretch/>
        </p:blipFill>
        <p:spPr>
          <a:xfrm>
            <a:off x="6240991" y="1787152"/>
            <a:ext cx="5556188" cy="2956761"/>
          </a:xfrm>
          <a:prstGeom prst="rect">
            <a:avLst/>
          </a:prstGeom>
          <a:noFill/>
          <a:ln>
            <a:noFill/>
          </a:ln>
        </p:spPr>
      </p:pic>
      <p:pic>
        <p:nvPicPr>
          <p:cNvPr id="123" name="Google Shape;123;p4"/>
          <p:cNvPicPr preferRelativeResize="0"/>
          <p:nvPr/>
        </p:nvPicPr>
        <p:blipFill rotWithShape="1">
          <a:blip r:embed="rId4">
            <a:alphaModFix/>
          </a:blip>
          <a:srcRect/>
          <a:stretch/>
        </p:blipFill>
        <p:spPr>
          <a:xfrm>
            <a:off x="6333067" y="1482702"/>
            <a:ext cx="1768367" cy="167618"/>
          </a:xfrm>
          <a:prstGeom prst="rect">
            <a:avLst/>
          </a:prstGeom>
          <a:noFill/>
          <a:ln>
            <a:noFill/>
          </a:ln>
        </p:spPr>
      </p:pic>
      <p:sp>
        <p:nvSpPr>
          <p:cNvPr id="124" name="Google Shape;124;p4"/>
          <p:cNvSpPr txBox="1"/>
          <p:nvPr/>
        </p:nvSpPr>
        <p:spPr>
          <a:xfrm>
            <a:off x="6399800" y="4947725"/>
            <a:ext cx="5288400" cy="646500"/>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200">
                <a:solidFill>
                  <a:srgbClr val="595959"/>
                </a:solidFill>
                <a:latin typeface="Calibri"/>
                <a:ea typeface="Calibri"/>
                <a:cs typeface="Calibri"/>
                <a:sym typeface="Calibri"/>
              </a:rPr>
              <a:t>Como se puede apreciar, esta característica permite separar las distintas especies. Setosa tiene los tamaños más chicos de pétalos mientras que Virginica los más grandes.</a:t>
            </a:r>
            <a:endParaRPr sz="1200">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5"/>
          <p:cNvSpPr/>
          <p:nvPr/>
        </p:nvSpPr>
        <p:spPr>
          <a:xfrm>
            <a:off x="-529193" y="2388835"/>
            <a:ext cx="6734783" cy="3723118"/>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5"/>
          <p:cNvSpPr txBox="1"/>
          <p:nvPr/>
        </p:nvSpPr>
        <p:spPr>
          <a:xfrm>
            <a:off x="1115035" y="1060357"/>
            <a:ext cx="5220975" cy="637636"/>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Barras</a:t>
            </a:r>
            <a:endParaRPr/>
          </a:p>
        </p:txBody>
      </p:sp>
      <p:sp>
        <p:nvSpPr>
          <p:cNvPr id="131" name="Google Shape;131;p5"/>
          <p:cNvSpPr txBox="1"/>
          <p:nvPr/>
        </p:nvSpPr>
        <p:spPr>
          <a:xfrm>
            <a:off x="1121840" y="2664996"/>
            <a:ext cx="4766849" cy="31393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 diagrama de barras representa datos categóricos, desplegando barras rectangulares con largos proporcionales al valor que representan.</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este caso, representamos el promedio de cada variable para cada una de las especies. Como se puede observar, la especie Virgínica es la que posee en promedio mayor tamaño tanto de largo y ancho del pétalo, así como el largo del sépalo.</a:t>
            </a:r>
            <a:endParaRPr sz="1800">
              <a:solidFill>
                <a:schemeClr val="lt1"/>
              </a:solidFill>
              <a:latin typeface="Calibri"/>
              <a:ea typeface="Calibri"/>
              <a:cs typeface="Calibri"/>
              <a:sym typeface="Calibri"/>
            </a:endParaRPr>
          </a:p>
        </p:txBody>
      </p:sp>
      <p:sp>
        <p:nvSpPr>
          <p:cNvPr id="132" name="Google Shape;132;p5"/>
          <p:cNvSpPr/>
          <p:nvPr/>
        </p:nvSpPr>
        <p:spPr>
          <a:xfrm>
            <a:off x="6466430" y="909734"/>
            <a:ext cx="5075536" cy="5209683"/>
          </a:xfrm>
          <a:prstGeom prst="roundRect">
            <a:avLst>
              <a:gd name="adj" fmla="val 2971"/>
            </a:avLst>
          </a:prstGeom>
          <a:solidFill>
            <a:schemeClr val="lt1"/>
          </a:solidFill>
          <a:ln w="381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33" name="Google Shape;133;p5"/>
          <p:cNvPicPr preferRelativeResize="0"/>
          <p:nvPr/>
        </p:nvPicPr>
        <p:blipFill rotWithShape="1">
          <a:blip r:embed="rId3">
            <a:alphaModFix/>
          </a:blip>
          <a:srcRect/>
          <a:stretch/>
        </p:blipFill>
        <p:spPr>
          <a:xfrm>
            <a:off x="600159" y="2738274"/>
            <a:ext cx="289524" cy="289524"/>
          </a:xfrm>
          <a:prstGeom prst="rect">
            <a:avLst/>
          </a:prstGeom>
          <a:noFill/>
          <a:ln>
            <a:noFill/>
          </a:ln>
        </p:spPr>
      </p:pic>
      <p:pic>
        <p:nvPicPr>
          <p:cNvPr id="134" name="Google Shape;134;p5"/>
          <p:cNvPicPr preferRelativeResize="0"/>
          <p:nvPr/>
        </p:nvPicPr>
        <p:blipFill rotWithShape="1">
          <a:blip r:embed="rId4">
            <a:alphaModFix/>
          </a:blip>
          <a:srcRect/>
          <a:stretch/>
        </p:blipFill>
        <p:spPr>
          <a:xfrm>
            <a:off x="6988111" y="1060357"/>
            <a:ext cx="4032174" cy="4908436"/>
          </a:xfrm>
          <a:prstGeom prst="rect">
            <a:avLst/>
          </a:prstGeom>
          <a:noFill/>
          <a:ln>
            <a:noFill/>
          </a:ln>
        </p:spPr>
      </p:pic>
      <p:pic>
        <p:nvPicPr>
          <p:cNvPr id="135" name="Google Shape;135;p5"/>
          <p:cNvPicPr preferRelativeResize="0"/>
          <p:nvPr/>
        </p:nvPicPr>
        <p:blipFill rotWithShape="1">
          <a:blip r:embed="rId3">
            <a:alphaModFix/>
          </a:blip>
          <a:srcRect/>
          <a:stretch/>
        </p:blipFill>
        <p:spPr>
          <a:xfrm>
            <a:off x="600159" y="4089894"/>
            <a:ext cx="289524" cy="2895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
          <p:cNvSpPr/>
          <p:nvPr/>
        </p:nvSpPr>
        <p:spPr>
          <a:xfrm>
            <a:off x="6429983" y="2427881"/>
            <a:ext cx="6060332" cy="2002237"/>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 name="Google Shape;141;p6"/>
          <p:cNvSpPr txBox="1"/>
          <p:nvPr/>
        </p:nvSpPr>
        <p:spPr>
          <a:xfrm>
            <a:off x="6945745" y="1101548"/>
            <a:ext cx="4756629" cy="65458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Diagrama de Torta</a:t>
            </a:r>
            <a:endParaRPr/>
          </a:p>
        </p:txBody>
      </p:sp>
      <p:sp>
        <p:nvSpPr>
          <p:cNvPr id="142" name="Google Shape;142;p6"/>
          <p:cNvSpPr txBox="1"/>
          <p:nvPr/>
        </p:nvSpPr>
        <p:spPr>
          <a:xfrm>
            <a:off x="6945745" y="2626505"/>
            <a:ext cx="4867564"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Un diagrama de torta permite una visualización de las proporciones de alguna variable categórica.</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En el siguiente ejemplo, visualizamos la proporción de cada especie respecto a la cantidad de mediciones de cada una de ellas.</a:t>
            </a:r>
            <a:endParaRPr/>
          </a:p>
        </p:txBody>
      </p:sp>
      <p:sp>
        <p:nvSpPr>
          <p:cNvPr id="143" name="Google Shape;143;p6"/>
          <p:cNvSpPr/>
          <p:nvPr/>
        </p:nvSpPr>
        <p:spPr>
          <a:xfrm>
            <a:off x="720563" y="1101548"/>
            <a:ext cx="5868015" cy="448491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44" name="Google Shape;144;p6"/>
          <p:cNvPicPr preferRelativeResize="0"/>
          <p:nvPr/>
        </p:nvPicPr>
        <p:blipFill rotWithShape="1">
          <a:blip r:embed="rId3">
            <a:alphaModFix/>
          </a:blip>
          <a:srcRect/>
          <a:stretch/>
        </p:blipFill>
        <p:spPr>
          <a:xfrm>
            <a:off x="969231" y="1242768"/>
            <a:ext cx="3294245" cy="1532782"/>
          </a:xfrm>
          <a:prstGeom prst="rect">
            <a:avLst/>
          </a:prstGeom>
          <a:noFill/>
          <a:ln>
            <a:noFill/>
          </a:ln>
        </p:spPr>
      </p:pic>
      <p:pic>
        <p:nvPicPr>
          <p:cNvPr id="145" name="Google Shape;145;p6"/>
          <p:cNvPicPr preferRelativeResize="0"/>
          <p:nvPr/>
        </p:nvPicPr>
        <p:blipFill rotWithShape="1">
          <a:blip r:embed="rId4">
            <a:alphaModFix/>
          </a:blip>
          <a:srcRect/>
          <a:stretch/>
        </p:blipFill>
        <p:spPr>
          <a:xfrm>
            <a:off x="969231" y="3001488"/>
            <a:ext cx="5315946" cy="237466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p:nvPr/>
        </p:nvSpPr>
        <p:spPr>
          <a:xfrm>
            <a:off x="378780" y="1663071"/>
            <a:ext cx="11425382" cy="2291965"/>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 name="Google Shape;151;p7"/>
          <p:cNvSpPr txBox="1"/>
          <p:nvPr/>
        </p:nvSpPr>
        <p:spPr>
          <a:xfrm>
            <a:off x="941767" y="692178"/>
            <a:ext cx="10299408" cy="779118"/>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Correlación</a:t>
            </a:r>
            <a:endParaRPr/>
          </a:p>
        </p:txBody>
      </p:sp>
      <p:sp>
        <p:nvSpPr>
          <p:cNvPr id="152" name="Google Shape;152;p7"/>
          <p:cNvSpPr txBox="1"/>
          <p:nvPr/>
        </p:nvSpPr>
        <p:spPr>
          <a:xfrm>
            <a:off x="970046" y="1793390"/>
            <a:ext cx="10299408" cy="20313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Hasta ahora nos hemos centrado en medidas de tendencia central, variabilidad y asimetría de una única variable. No obstante, en la práctica es común examinar dos o más variables conjuntamente (v.g., relación entre inteligencia y rendimiento, etc.)</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este tema, nos centraremos en la relación entre 2 variables (a partir de n observaciones apareadas) y calcularemos (en particular) un índice que nos dará el grado de relación/asociación entre ambas variables: el coeficiente de correlación.</a:t>
            </a:r>
            <a:endParaRPr sz="1800">
              <a:solidFill>
                <a:schemeClr val="lt1"/>
              </a:solidFill>
              <a:latin typeface="Calibri"/>
              <a:ea typeface="Calibri"/>
              <a:cs typeface="Calibri"/>
              <a:sym typeface="Calibri"/>
            </a:endParaRPr>
          </a:p>
        </p:txBody>
      </p:sp>
      <p:sp>
        <p:nvSpPr>
          <p:cNvPr id="153" name="Google Shape;153;p7"/>
          <p:cNvSpPr/>
          <p:nvPr/>
        </p:nvSpPr>
        <p:spPr>
          <a:xfrm>
            <a:off x="2345696" y="4417317"/>
            <a:ext cx="7741800" cy="7419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 name="Google Shape;154;p7"/>
          <p:cNvSpPr/>
          <p:nvPr/>
        </p:nvSpPr>
        <p:spPr>
          <a:xfrm>
            <a:off x="2855757" y="4603644"/>
            <a:ext cx="7150200" cy="369300"/>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595959"/>
                </a:solidFill>
                <a:latin typeface="Calibri"/>
                <a:ea typeface="Calibri"/>
                <a:cs typeface="Calibri"/>
                <a:sym typeface="Calibri"/>
              </a:rPr>
              <a:t>Una </a:t>
            </a:r>
            <a:r>
              <a:rPr lang="es-ES" sz="1800" b="1">
                <a:solidFill>
                  <a:srgbClr val="595959"/>
                </a:solidFill>
                <a:latin typeface="Calibri"/>
                <a:ea typeface="Calibri"/>
                <a:cs typeface="Calibri"/>
                <a:sym typeface="Calibri"/>
              </a:rPr>
              <a:t>correlación </a:t>
            </a:r>
            <a:r>
              <a:rPr lang="es-ES" sz="1800">
                <a:solidFill>
                  <a:srgbClr val="595959"/>
                </a:solidFill>
                <a:latin typeface="Calibri"/>
                <a:ea typeface="Calibri"/>
                <a:cs typeface="Calibri"/>
                <a:sym typeface="Calibri"/>
              </a:rPr>
              <a:t>es una medida o grado de relación entre dos variables.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8"/>
          <p:cNvSpPr/>
          <p:nvPr/>
        </p:nvSpPr>
        <p:spPr>
          <a:xfrm>
            <a:off x="1137672" y="1380293"/>
            <a:ext cx="9916657" cy="4948313"/>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0" name="Google Shape;160;p8"/>
          <p:cNvSpPr txBox="1"/>
          <p:nvPr/>
        </p:nvSpPr>
        <p:spPr>
          <a:xfrm>
            <a:off x="1137672" y="475692"/>
            <a:ext cx="9852545"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Representación gráfica de una relación</a:t>
            </a:r>
            <a:endParaRPr/>
          </a:p>
        </p:txBody>
      </p:sp>
      <p:cxnSp>
        <p:nvCxnSpPr>
          <p:cNvPr id="161" name="Google Shape;161;p8"/>
          <p:cNvCxnSpPr/>
          <p:nvPr/>
        </p:nvCxnSpPr>
        <p:spPr>
          <a:xfrm>
            <a:off x="1798372" y="1948693"/>
            <a:ext cx="0" cy="2520950"/>
          </a:xfrm>
          <a:prstGeom prst="straightConnector1">
            <a:avLst/>
          </a:prstGeom>
          <a:noFill/>
          <a:ln w="9525" cap="flat" cmpd="sng">
            <a:solidFill>
              <a:schemeClr val="dk1"/>
            </a:solidFill>
            <a:prstDash val="solid"/>
            <a:round/>
            <a:headEnd type="none" w="med" len="med"/>
            <a:tailEnd type="none" w="med" len="med"/>
          </a:ln>
        </p:spPr>
      </p:cxnSp>
      <p:cxnSp>
        <p:nvCxnSpPr>
          <p:cNvPr id="162" name="Google Shape;162;p8"/>
          <p:cNvCxnSpPr/>
          <p:nvPr/>
        </p:nvCxnSpPr>
        <p:spPr>
          <a:xfrm>
            <a:off x="1763447" y="4469643"/>
            <a:ext cx="2411412" cy="0"/>
          </a:xfrm>
          <a:prstGeom prst="straightConnector1">
            <a:avLst/>
          </a:prstGeom>
          <a:noFill/>
          <a:ln w="9525" cap="flat" cmpd="sng">
            <a:solidFill>
              <a:schemeClr val="dk1"/>
            </a:solidFill>
            <a:prstDash val="solid"/>
            <a:round/>
            <a:headEnd type="none" w="med" len="med"/>
            <a:tailEnd type="none" w="med" len="med"/>
          </a:ln>
        </p:spPr>
      </p:cxnSp>
      <p:sp>
        <p:nvSpPr>
          <p:cNvPr id="163" name="Google Shape;163;p8"/>
          <p:cNvSpPr/>
          <p:nvPr/>
        </p:nvSpPr>
        <p:spPr>
          <a:xfrm>
            <a:off x="2158734" y="4182306"/>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4" name="Google Shape;164;p8"/>
          <p:cNvSpPr/>
          <p:nvPr/>
        </p:nvSpPr>
        <p:spPr>
          <a:xfrm>
            <a:off x="2303197" y="3748918"/>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5" name="Google Shape;165;p8"/>
          <p:cNvSpPr/>
          <p:nvPr/>
        </p:nvSpPr>
        <p:spPr>
          <a:xfrm>
            <a:off x="2663559" y="3964818"/>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6" name="Google Shape;166;p8"/>
          <p:cNvSpPr/>
          <p:nvPr/>
        </p:nvSpPr>
        <p:spPr>
          <a:xfrm>
            <a:off x="2734997" y="3677481"/>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7" name="Google Shape;167;p8"/>
          <p:cNvSpPr/>
          <p:nvPr/>
        </p:nvSpPr>
        <p:spPr>
          <a:xfrm>
            <a:off x="3022334" y="3390143"/>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8" name="Google Shape;168;p8"/>
          <p:cNvSpPr/>
          <p:nvPr/>
        </p:nvSpPr>
        <p:spPr>
          <a:xfrm>
            <a:off x="3455722" y="3461581"/>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9" name="Google Shape;169;p8"/>
          <p:cNvSpPr/>
          <p:nvPr/>
        </p:nvSpPr>
        <p:spPr>
          <a:xfrm>
            <a:off x="3527159" y="3029781"/>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0" name="Google Shape;170;p8"/>
          <p:cNvSpPr/>
          <p:nvPr/>
        </p:nvSpPr>
        <p:spPr>
          <a:xfrm>
            <a:off x="3814497" y="3390143"/>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1" name="Google Shape;171;p8"/>
          <p:cNvSpPr txBox="1"/>
          <p:nvPr/>
        </p:nvSpPr>
        <p:spPr>
          <a:xfrm>
            <a:off x="7919772" y="4614106"/>
            <a:ext cx="2303462"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inteligencia</a:t>
            </a:r>
            <a:endParaRPr/>
          </a:p>
        </p:txBody>
      </p:sp>
      <p:sp>
        <p:nvSpPr>
          <p:cNvPr id="172" name="Google Shape;172;p8"/>
          <p:cNvSpPr/>
          <p:nvPr/>
        </p:nvSpPr>
        <p:spPr>
          <a:xfrm>
            <a:off x="3238234" y="3606043"/>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3" name="Google Shape;173;p8"/>
          <p:cNvSpPr/>
          <p:nvPr/>
        </p:nvSpPr>
        <p:spPr>
          <a:xfrm>
            <a:off x="3166797" y="2885318"/>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74" name="Google Shape;174;p8"/>
          <p:cNvCxnSpPr/>
          <p:nvPr/>
        </p:nvCxnSpPr>
        <p:spPr>
          <a:xfrm>
            <a:off x="7810234" y="2091568"/>
            <a:ext cx="0" cy="2520950"/>
          </a:xfrm>
          <a:prstGeom prst="straightConnector1">
            <a:avLst/>
          </a:prstGeom>
          <a:noFill/>
          <a:ln w="9525" cap="flat" cmpd="sng">
            <a:solidFill>
              <a:schemeClr val="dk1"/>
            </a:solidFill>
            <a:prstDash val="solid"/>
            <a:round/>
            <a:headEnd type="none" w="med" len="med"/>
            <a:tailEnd type="none" w="med" len="med"/>
          </a:ln>
        </p:spPr>
      </p:cxnSp>
      <p:cxnSp>
        <p:nvCxnSpPr>
          <p:cNvPr id="175" name="Google Shape;175;p8"/>
          <p:cNvCxnSpPr/>
          <p:nvPr/>
        </p:nvCxnSpPr>
        <p:spPr>
          <a:xfrm>
            <a:off x="7810234" y="4612518"/>
            <a:ext cx="2736850" cy="0"/>
          </a:xfrm>
          <a:prstGeom prst="straightConnector1">
            <a:avLst/>
          </a:prstGeom>
          <a:noFill/>
          <a:ln w="9525" cap="flat" cmpd="sng">
            <a:solidFill>
              <a:schemeClr val="dk1"/>
            </a:solidFill>
            <a:prstDash val="solid"/>
            <a:round/>
            <a:headEnd type="none" w="med" len="med"/>
            <a:tailEnd type="none" w="med" len="med"/>
          </a:ln>
        </p:spPr>
      </p:cxnSp>
      <p:sp>
        <p:nvSpPr>
          <p:cNvPr id="176" name="Google Shape;176;p8"/>
          <p:cNvSpPr/>
          <p:nvPr/>
        </p:nvSpPr>
        <p:spPr>
          <a:xfrm>
            <a:off x="8423009" y="3534606"/>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7" name="Google Shape;177;p8"/>
          <p:cNvSpPr/>
          <p:nvPr/>
        </p:nvSpPr>
        <p:spPr>
          <a:xfrm>
            <a:off x="8603984" y="3820356"/>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8" name="Google Shape;178;p8"/>
          <p:cNvSpPr/>
          <p:nvPr/>
        </p:nvSpPr>
        <p:spPr>
          <a:xfrm>
            <a:off x="9143734" y="4037843"/>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9" name="Google Shape;179;p8"/>
          <p:cNvSpPr/>
          <p:nvPr/>
        </p:nvSpPr>
        <p:spPr>
          <a:xfrm>
            <a:off x="8423009" y="3174243"/>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8"/>
          <p:cNvSpPr/>
          <p:nvPr/>
        </p:nvSpPr>
        <p:spPr>
          <a:xfrm>
            <a:off x="9034197" y="3533018"/>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1" name="Google Shape;181;p8"/>
          <p:cNvSpPr/>
          <p:nvPr/>
        </p:nvSpPr>
        <p:spPr>
          <a:xfrm>
            <a:off x="8854809" y="3750506"/>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2" name="Google Shape;182;p8"/>
          <p:cNvSpPr/>
          <p:nvPr/>
        </p:nvSpPr>
        <p:spPr>
          <a:xfrm>
            <a:off x="9575534" y="4037843"/>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3" name="Google Shape;183;p8"/>
          <p:cNvSpPr/>
          <p:nvPr/>
        </p:nvSpPr>
        <p:spPr>
          <a:xfrm>
            <a:off x="9431072" y="4253743"/>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4" name="Google Shape;184;p8"/>
          <p:cNvSpPr txBox="1"/>
          <p:nvPr/>
        </p:nvSpPr>
        <p:spPr>
          <a:xfrm rot="-5400000">
            <a:off x="6374340" y="3133763"/>
            <a:ext cx="2447925"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rendimiento</a:t>
            </a:r>
            <a:endParaRPr/>
          </a:p>
        </p:txBody>
      </p:sp>
      <p:sp>
        <p:nvSpPr>
          <p:cNvPr id="185" name="Google Shape;185;p8"/>
          <p:cNvSpPr/>
          <p:nvPr/>
        </p:nvSpPr>
        <p:spPr>
          <a:xfrm>
            <a:off x="9250097" y="3748918"/>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6" name="Google Shape;186;p8"/>
          <p:cNvSpPr/>
          <p:nvPr/>
        </p:nvSpPr>
        <p:spPr>
          <a:xfrm>
            <a:off x="8783372" y="3317118"/>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87" name="Google Shape;187;p8"/>
          <p:cNvCxnSpPr/>
          <p:nvPr/>
        </p:nvCxnSpPr>
        <p:spPr>
          <a:xfrm>
            <a:off x="4714609" y="2091568"/>
            <a:ext cx="0" cy="2520950"/>
          </a:xfrm>
          <a:prstGeom prst="straightConnector1">
            <a:avLst/>
          </a:prstGeom>
          <a:noFill/>
          <a:ln w="9525" cap="flat" cmpd="sng">
            <a:solidFill>
              <a:schemeClr val="dk1"/>
            </a:solidFill>
            <a:prstDash val="solid"/>
            <a:round/>
            <a:headEnd type="none" w="med" len="med"/>
            <a:tailEnd type="none" w="med" len="med"/>
          </a:ln>
        </p:spPr>
      </p:cxnSp>
      <p:cxnSp>
        <p:nvCxnSpPr>
          <p:cNvPr id="188" name="Google Shape;188;p8"/>
          <p:cNvCxnSpPr/>
          <p:nvPr/>
        </p:nvCxnSpPr>
        <p:spPr>
          <a:xfrm>
            <a:off x="4714609" y="4612518"/>
            <a:ext cx="2736850" cy="0"/>
          </a:xfrm>
          <a:prstGeom prst="straightConnector1">
            <a:avLst/>
          </a:prstGeom>
          <a:noFill/>
          <a:ln w="9525" cap="flat" cmpd="sng">
            <a:solidFill>
              <a:schemeClr val="dk1"/>
            </a:solidFill>
            <a:prstDash val="solid"/>
            <a:round/>
            <a:headEnd type="none" w="med" len="med"/>
            <a:tailEnd type="none" w="med" len="med"/>
          </a:ln>
        </p:spPr>
      </p:cxnSp>
      <p:sp>
        <p:nvSpPr>
          <p:cNvPr id="189" name="Google Shape;189;p8"/>
          <p:cNvSpPr/>
          <p:nvPr/>
        </p:nvSpPr>
        <p:spPr>
          <a:xfrm>
            <a:off x="5254359" y="3966406"/>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8"/>
          <p:cNvSpPr/>
          <p:nvPr/>
        </p:nvSpPr>
        <p:spPr>
          <a:xfrm>
            <a:off x="5254359" y="3606043"/>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1" name="Google Shape;191;p8"/>
          <p:cNvSpPr/>
          <p:nvPr/>
        </p:nvSpPr>
        <p:spPr>
          <a:xfrm>
            <a:off x="5759184" y="4107693"/>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p8"/>
          <p:cNvSpPr/>
          <p:nvPr/>
        </p:nvSpPr>
        <p:spPr>
          <a:xfrm>
            <a:off x="5651234" y="3820356"/>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3" name="Google Shape;193;p8"/>
          <p:cNvSpPr/>
          <p:nvPr/>
        </p:nvSpPr>
        <p:spPr>
          <a:xfrm>
            <a:off x="5938572" y="3533018"/>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 name="Google Shape;194;p8"/>
          <p:cNvSpPr/>
          <p:nvPr/>
        </p:nvSpPr>
        <p:spPr>
          <a:xfrm>
            <a:off x="6371959" y="3604456"/>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5" name="Google Shape;195;p8"/>
          <p:cNvSpPr/>
          <p:nvPr/>
        </p:nvSpPr>
        <p:spPr>
          <a:xfrm>
            <a:off x="6443397" y="3172656"/>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p8"/>
          <p:cNvSpPr/>
          <p:nvPr/>
        </p:nvSpPr>
        <p:spPr>
          <a:xfrm>
            <a:off x="6911709" y="3677481"/>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p8"/>
          <p:cNvSpPr txBox="1"/>
          <p:nvPr/>
        </p:nvSpPr>
        <p:spPr>
          <a:xfrm rot="-5400000">
            <a:off x="3278715" y="3133763"/>
            <a:ext cx="2447925"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rendimiento</a:t>
            </a:r>
            <a:endParaRPr/>
          </a:p>
        </p:txBody>
      </p:sp>
      <p:sp>
        <p:nvSpPr>
          <p:cNvPr id="198" name="Google Shape;198;p8"/>
          <p:cNvSpPr/>
          <p:nvPr/>
        </p:nvSpPr>
        <p:spPr>
          <a:xfrm>
            <a:off x="6335447" y="3893381"/>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9" name="Google Shape;199;p8"/>
          <p:cNvSpPr/>
          <p:nvPr/>
        </p:nvSpPr>
        <p:spPr>
          <a:xfrm>
            <a:off x="5470259" y="3174243"/>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0" name="Google Shape;200;p8"/>
          <p:cNvSpPr txBox="1"/>
          <p:nvPr/>
        </p:nvSpPr>
        <p:spPr>
          <a:xfrm>
            <a:off x="4822559" y="4614106"/>
            <a:ext cx="2303463"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inteligencia</a:t>
            </a:r>
            <a:endParaRPr/>
          </a:p>
        </p:txBody>
      </p:sp>
      <p:sp>
        <p:nvSpPr>
          <p:cNvPr id="201" name="Google Shape;201;p8"/>
          <p:cNvSpPr txBox="1"/>
          <p:nvPr/>
        </p:nvSpPr>
        <p:spPr>
          <a:xfrm>
            <a:off x="2014272" y="4542668"/>
            <a:ext cx="2303462"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inteligencia</a:t>
            </a:r>
            <a:endParaRPr/>
          </a:p>
        </p:txBody>
      </p:sp>
      <p:sp>
        <p:nvSpPr>
          <p:cNvPr id="202" name="Google Shape;202;p8"/>
          <p:cNvSpPr txBox="1"/>
          <p:nvPr/>
        </p:nvSpPr>
        <p:spPr>
          <a:xfrm>
            <a:off x="1655496" y="5227845"/>
            <a:ext cx="2519363" cy="307777"/>
          </a:xfrm>
          <a:prstGeom prst="rect">
            <a:avLst/>
          </a:prstGeom>
          <a:solidFill>
            <a:srgbClr val="DDEAF6">
              <a:alpha val="56470"/>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393939"/>
                </a:solidFill>
                <a:latin typeface="Noto Sans"/>
                <a:ea typeface="Noto Sans"/>
                <a:cs typeface="Noto Sans"/>
                <a:sym typeface="Noto Sans"/>
              </a:rPr>
              <a:t>Relación lineal positiva</a:t>
            </a:r>
            <a:endParaRPr/>
          </a:p>
        </p:txBody>
      </p:sp>
      <p:sp>
        <p:nvSpPr>
          <p:cNvPr id="203" name="Google Shape;203;p8"/>
          <p:cNvSpPr txBox="1"/>
          <p:nvPr/>
        </p:nvSpPr>
        <p:spPr>
          <a:xfrm>
            <a:off x="7757846" y="5217740"/>
            <a:ext cx="2771775" cy="307777"/>
          </a:xfrm>
          <a:prstGeom prst="rect">
            <a:avLst/>
          </a:prstGeom>
          <a:solidFill>
            <a:srgbClr val="DDEAF6">
              <a:alpha val="56470"/>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393939"/>
                </a:solidFill>
                <a:latin typeface="Noto Sans"/>
                <a:ea typeface="Noto Sans"/>
                <a:cs typeface="Noto Sans"/>
                <a:sym typeface="Noto Sans"/>
              </a:rPr>
              <a:t>Relación lineal negativa</a:t>
            </a:r>
            <a:endParaRPr/>
          </a:p>
        </p:txBody>
      </p:sp>
      <p:cxnSp>
        <p:nvCxnSpPr>
          <p:cNvPr id="204" name="Google Shape;204;p8"/>
          <p:cNvCxnSpPr/>
          <p:nvPr/>
        </p:nvCxnSpPr>
        <p:spPr>
          <a:xfrm>
            <a:off x="4319322" y="1661356"/>
            <a:ext cx="0" cy="3816350"/>
          </a:xfrm>
          <a:prstGeom prst="straightConnector1">
            <a:avLst/>
          </a:prstGeom>
          <a:noFill/>
          <a:ln w="9525" cap="flat" cmpd="sng">
            <a:solidFill>
              <a:schemeClr val="dk1"/>
            </a:solidFill>
            <a:prstDash val="solid"/>
            <a:round/>
            <a:headEnd type="none" w="med" len="med"/>
            <a:tailEnd type="none" w="med" len="med"/>
          </a:ln>
        </p:spPr>
      </p:cxnSp>
      <p:cxnSp>
        <p:nvCxnSpPr>
          <p:cNvPr id="205" name="Google Shape;205;p8"/>
          <p:cNvCxnSpPr/>
          <p:nvPr/>
        </p:nvCxnSpPr>
        <p:spPr>
          <a:xfrm>
            <a:off x="7487972" y="1734381"/>
            <a:ext cx="0" cy="3816350"/>
          </a:xfrm>
          <a:prstGeom prst="straightConnector1">
            <a:avLst/>
          </a:prstGeom>
          <a:noFill/>
          <a:ln w="9525" cap="flat" cmpd="sng">
            <a:solidFill>
              <a:schemeClr val="dk1"/>
            </a:solidFill>
            <a:prstDash val="solid"/>
            <a:round/>
            <a:headEnd type="none" w="med" len="med"/>
            <a:tailEnd type="none" w="med" len="med"/>
          </a:ln>
        </p:spPr>
      </p:cxnSp>
      <p:sp>
        <p:nvSpPr>
          <p:cNvPr id="206" name="Google Shape;206;p8"/>
          <p:cNvSpPr txBox="1"/>
          <p:nvPr/>
        </p:nvSpPr>
        <p:spPr>
          <a:xfrm>
            <a:off x="5182922" y="5217740"/>
            <a:ext cx="1441450" cy="307777"/>
          </a:xfrm>
          <a:prstGeom prst="rect">
            <a:avLst/>
          </a:prstGeom>
          <a:solidFill>
            <a:srgbClr val="DDEAF6">
              <a:alpha val="56470"/>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393939"/>
                </a:solidFill>
                <a:latin typeface="Noto Sans"/>
                <a:ea typeface="Noto Sans"/>
                <a:cs typeface="Noto Sans"/>
                <a:sym typeface="Noto Sans"/>
              </a:rPr>
              <a:t>Sin relación</a:t>
            </a:r>
            <a:endParaRPr/>
          </a:p>
        </p:txBody>
      </p:sp>
      <p:sp>
        <p:nvSpPr>
          <p:cNvPr id="207" name="Google Shape;207;p8"/>
          <p:cNvSpPr txBox="1"/>
          <p:nvPr/>
        </p:nvSpPr>
        <p:spPr>
          <a:xfrm rot="-5400000">
            <a:off x="349974" y="3117205"/>
            <a:ext cx="2447925"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rendimiento</a:t>
            </a:r>
            <a:endParaRPr/>
          </a:p>
        </p:txBody>
      </p:sp>
      <p:sp>
        <p:nvSpPr>
          <p:cNvPr id="208" name="Google Shape;208;p8"/>
          <p:cNvSpPr txBox="1"/>
          <p:nvPr/>
        </p:nvSpPr>
        <p:spPr>
          <a:xfrm>
            <a:off x="2315369" y="5801617"/>
            <a:ext cx="7561262"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595959"/>
                </a:solidFill>
                <a:latin typeface="Calibri"/>
                <a:ea typeface="Calibri"/>
                <a:cs typeface="Calibri"/>
                <a:sym typeface="Calibri"/>
              </a:rPr>
              <a:t>Nota: El coeficiente de correlación de Pearson mide relación LINEAL.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5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9"/>
          <p:cNvSpPr/>
          <p:nvPr/>
        </p:nvSpPr>
        <p:spPr>
          <a:xfrm>
            <a:off x="985204" y="1386813"/>
            <a:ext cx="7262571" cy="419519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9"/>
          <p:cNvSpPr txBox="1"/>
          <p:nvPr/>
        </p:nvSpPr>
        <p:spPr>
          <a:xfrm>
            <a:off x="1584688" y="538951"/>
            <a:ext cx="8979081"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Representación gráfica de una relación</a:t>
            </a:r>
            <a:endParaRPr/>
          </a:p>
        </p:txBody>
      </p:sp>
      <p:cxnSp>
        <p:nvCxnSpPr>
          <p:cNvPr id="215" name="Google Shape;215;p9"/>
          <p:cNvCxnSpPr/>
          <p:nvPr/>
        </p:nvCxnSpPr>
        <p:spPr>
          <a:xfrm>
            <a:off x="2029131" y="1864954"/>
            <a:ext cx="0" cy="2520950"/>
          </a:xfrm>
          <a:prstGeom prst="straightConnector1">
            <a:avLst/>
          </a:prstGeom>
          <a:noFill/>
          <a:ln w="9525" cap="flat" cmpd="sng">
            <a:solidFill>
              <a:schemeClr val="dk1"/>
            </a:solidFill>
            <a:prstDash val="solid"/>
            <a:round/>
            <a:headEnd type="none" w="med" len="med"/>
            <a:tailEnd type="none" w="med" len="med"/>
          </a:ln>
        </p:spPr>
      </p:cxnSp>
      <p:cxnSp>
        <p:nvCxnSpPr>
          <p:cNvPr id="216" name="Google Shape;216;p9"/>
          <p:cNvCxnSpPr/>
          <p:nvPr/>
        </p:nvCxnSpPr>
        <p:spPr>
          <a:xfrm>
            <a:off x="1994206" y="4385904"/>
            <a:ext cx="2411413" cy="0"/>
          </a:xfrm>
          <a:prstGeom prst="straightConnector1">
            <a:avLst/>
          </a:prstGeom>
          <a:noFill/>
          <a:ln w="9525" cap="flat" cmpd="sng">
            <a:solidFill>
              <a:schemeClr val="dk1"/>
            </a:solidFill>
            <a:prstDash val="solid"/>
            <a:round/>
            <a:headEnd type="none" w="med" len="med"/>
            <a:tailEnd type="none" w="med" len="med"/>
          </a:ln>
        </p:spPr>
      </p:cxnSp>
      <p:sp>
        <p:nvSpPr>
          <p:cNvPr id="217" name="Google Shape;217;p9"/>
          <p:cNvSpPr/>
          <p:nvPr/>
        </p:nvSpPr>
        <p:spPr>
          <a:xfrm>
            <a:off x="2389494" y="409856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8" name="Google Shape;218;p9"/>
          <p:cNvSpPr/>
          <p:nvPr/>
        </p:nvSpPr>
        <p:spPr>
          <a:xfrm>
            <a:off x="2533956" y="3665179"/>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9" name="Google Shape;219;p9"/>
          <p:cNvSpPr/>
          <p:nvPr/>
        </p:nvSpPr>
        <p:spPr>
          <a:xfrm>
            <a:off x="2749856" y="3809641"/>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9"/>
          <p:cNvSpPr/>
          <p:nvPr/>
        </p:nvSpPr>
        <p:spPr>
          <a:xfrm>
            <a:off x="2965756" y="3593741"/>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1" name="Google Shape;221;p9"/>
          <p:cNvSpPr/>
          <p:nvPr/>
        </p:nvSpPr>
        <p:spPr>
          <a:xfrm>
            <a:off x="3253094" y="3306404"/>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2" name="Google Shape;222;p9"/>
          <p:cNvSpPr/>
          <p:nvPr/>
        </p:nvSpPr>
        <p:spPr>
          <a:xfrm>
            <a:off x="3757919" y="2585679"/>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3" name="Google Shape;223;p9"/>
          <p:cNvSpPr/>
          <p:nvPr/>
        </p:nvSpPr>
        <p:spPr>
          <a:xfrm>
            <a:off x="3757919" y="2946041"/>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4" name="Google Shape;224;p9"/>
          <p:cNvSpPr/>
          <p:nvPr/>
        </p:nvSpPr>
        <p:spPr>
          <a:xfrm>
            <a:off x="3468994" y="308891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5" name="Google Shape;225;p9"/>
          <p:cNvSpPr txBox="1"/>
          <p:nvPr/>
        </p:nvSpPr>
        <p:spPr>
          <a:xfrm rot="16200000">
            <a:off x="593237" y="2907148"/>
            <a:ext cx="2447925"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rendimiento</a:t>
            </a:r>
            <a:endParaRPr/>
          </a:p>
        </p:txBody>
      </p:sp>
      <p:sp>
        <p:nvSpPr>
          <p:cNvPr id="226" name="Google Shape;226;p9"/>
          <p:cNvSpPr/>
          <p:nvPr/>
        </p:nvSpPr>
        <p:spPr>
          <a:xfrm>
            <a:off x="3110219" y="330481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7" name="Google Shape;227;p9"/>
          <p:cNvSpPr/>
          <p:nvPr/>
        </p:nvSpPr>
        <p:spPr>
          <a:xfrm>
            <a:off x="3397556" y="2801579"/>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228" name="Google Shape;228;p9"/>
          <p:cNvCxnSpPr/>
          <p:nvPr/>
        </p:nvCxnSpPr>
        <p:spPr>
          <a:xfrm>
            <a:off x="4945369" y="1898500"/>
            <a:ext cx="0" cy="2520950"/>
          </a:xfrm>
          <a:prstGeom prst="straightConnector1">
            <a:avLst/>
          </a:prstGeom>
          <a:noFill/>
          <a:ln w="9525" cap="flat" cmpd="sng">
            <a:solidFill>
              <a:schemeClr val="dk1"/>
            </a:solidFill>
            <a:prstDash val="solid"/>
            <a:round/>
            <a:headEnd type="none" w="med" len="med"/>
            <a:tailEnd type="none" w="med" len="med"/>
          </a:ln>
        </p:spPr>
      </p:cxnSp>
      <p:cxnSp>
        <p:nvCxnSpPr>
          <p:cNvPr id="229" name="Google Shape;229;p9"/>
          <p:cNvCxnSpPr/>
          <p:nvPr/>
        </p:nvCxnSpPr>
        <p:spPr>
          <a:xfrm>
            <a:off x="4945369" y="4419450"/>
            <a:ext cx="2736850" cy="0"/>
          </a:xfrm>
          <a:prstGeom prst="straightConnector1">
            <a:avLst/>
          </a:prstGeom>
          <a:noFill/>
          <a:ln w="9525" cap="flat" cmpd="sng">
            <a:solidFill>
              <a:schemeClr val="dk1"/>
            </a:solidFill>
            <a:prstDash val="solid"/>
            <a:round/>
            <a:headEnd type="none" w="med" len="med"/>
            <a:tailEnd type="none" w="med" len="med"/>
          </a:ln>
        </p:spPr>
      </p:cxnSp>
      <p:sp>
        <p:nvSpPr>
          <p:cNvPr id="230" name="Google Shape;230;p9"/>
          <p:cNvSpPr/>
          <p:nvPr/>
        </p:nvSpPr>
        <p:spPr>
          <a:xfrm>
            <a:off x="5485119" y="3773337"/>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1" name="Google Shape;231;p9"/>
          <p:cNvSpPr/>
          <p:nvPr/>
        </p:nvSpPr>
        <p:spPr>
          <a:xfrm>
            <a:off x="5485119" y="3412975"/>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2" name="Google Shape;232;p9"/>
          <p:cNvSpPr/>
          <p:nvPr/>
        </p:nvSpPr>
        <p:spPr>
          <a:xfrm>
            <a:off x="6061381" y="3052612"/>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9"/>
          <p:cNvSpPr/>
          <p:nvPr/>
        </p:nvSpPr>
        <p:spPr>
          <a:xfrm>
            <a:off x="5486706" y="3987650"/>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4" name="Google Shape;234;p9"/>
          <p:cNvSpPr/>
          <p:nvPr/>
        </p:nvSpPr>
        <p:spPr>
          <a:xfrm>
            <a:off x="5774044" y="3484412"/>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9"/>
          <p:cNvSpPr/>
          <p:nvPr/>
        </p:nvSpPr>
        <p:spPr>
          <a:xfrm>
            <a:off x="6421744" y="2836712"/>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6" name="Google Shape;236;p9"/>
          <p:cNvSpPr/>
          <p:nvPr/>
        </p:nvSpPr>
        <p:spPr>
          <a:xfrm>
            <a:off x="6674156" y="2979587"/>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7" name="Google Shape;237;p9"/>
          <p:cNvSpPr/>
          <p:nvPr/>
        </p:nvSpPr>
        <p:spPr>
          <a:xfrm>
            <a:off x="7142469" y="2908150"/>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8" name="Google Shape;238;p9"/>
          <p:cNvSpPr txBox="1"/>
          <p:nvPr/>
        </p:nvSpPr>
        <p:spPr>
          <a:xfrm rot="16200000">
            <a:off x="3509475" y="2940693"/>
            <a:ext cx="2447925"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rendimiento</a:t>
            </a:r>
            <a:endParaRPr/>
          </a:p>
        </p:txBody>
      </p:sp>
      <p:sp>
        <p:nvSpPr>
          <p:cNvPr id="239" name="Google Shape;239;p9"/>
          <p:cNvSpPr/>
          <p:nvPr/>
        </p:nvSpPr>
        <p:spPr>
          <a:xfrm>
            <a:off x="6277281" y="2908150"/>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0" name="Google Shape;240;p9"/>
          <p:cNvSpPr/>
          <p:nvPr/>
        </p:nvSpPr>
        <p:spPr>
          <a:xfrm>
            <a:off x="5701019" y="2981175"/>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1" name="Google Shape;241;p9"/>
          <p:cNvSpPr txBox="1"/>
          <p:nvPr/>
        </p:nvSpPr>
        <p:spPr>
          <a:xfrm>
            <a:off x="5053319" y="4421037"/>
            <a:ext cx="2303462"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inteligencia</a:t>
            </a:r>
            <a:endParaRPr/>
          </a:p>
        </p:txBody>
      </p:sp>
      <p:sp>
        <p:nvSpPr>
          <p:cNvPr id="242" name="Google Shape;242;p9"/>
          <p:cNvSpPr txBox="1"/>
          <p:nvPr/>
        </p:nvSpPr>
        <p:spPr>
          <a:xfrm>
            <a:off x="2245031" y="4458929"/>
            <a:ext cx="2303463"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inteligencia</a:t>
            </a:r>
            <a:endParaRPr/>
          </a:p>
        </p:txBody>
      </p:sp>
      <p:sp>
        <p:nvSpPr>
          <p:cNvPr id="243" name="Google Shape;243;p9"/>
          <p:cNvSpPr txBox="1"/>
          <p:nvPr/>
        </p:nvSpPr>
        <p:spPr>
          <a:xfrm>
            <a:off x="2120412" y="5070539"/>
            <a:ext cx="2159000" cy="307777"/>
          </a:xfrm>
          <a:prstGeom prst="rect">
            <a:avLst/>
          </a:prstGeom>
          <a:solidFill>
            <a:srgbClr val="DDEAF6">
              <a:alpha val="56470"/>
            </a:srgbClr>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rgbClr val="393939"/>
                </a:solidFill>
                <a:latin typeface="Noto Sans"/>
                <a:ea typeface="Noto Sans"/>
                <a:cs typeface="Noto Sans"/>
                <a:sym typeface="Noto Sans"/>
              </a:rPr>
              <a:t>Relación lineal</a:t>
            </a:r>
            <a:endParaRPr/>
          </a:p>
        </p:txBody>
      </p:sp>
      <p:cxnSp>
        <p:nvCxnSpPr>
          <p:cNvPr id="244" name="Google Shape;244;p9"/>
          <p:cNvCxnSpPr/>
          <p:nvPr/>
        </p:nvCxnSpPr>
        <p:spPr>
          <a:xfrm>
            <a:off x="4550081" y="1577616"/>
            <a:ext cx="0" cy="3816350"/>
          </a:xfrm>
          <a:prstGeom prst="straightConnector1">
            <a:avLst/>
          </a:prstGeom>
          <a:noFill/>
          <a:ln w="9525" cap="flat" cmpd="sng">
            <a:solidFill>
              <a:schemeClr val="dk1"/>
            </a:solidFill>
            <a:prstDash val="solid"/>
            <a:round/>
            <a:headEnd type="none" w="med" len="med"/>
            <a:tailEnd type="none" w="med" len="med"/>
          </a:ln>
        </p:spPr>
      </p:cxnSp>
      <p:sp>
        <p:nvSpPr>
          <p:cNvPr id="245" name="Google Shape;245;p9"/>
          <p:cNvSpPr txBox="1"/>
          <p:nvPr/>
        </p:nvSpPr>
        <p:spPr>
          <a:xfrm>
            <a:off x="5161268" y="5032016"/>
            <a:ext cx="2305050" cy="307777"/>
          </a:xfrm>
          <a:prstGeom prst="rect">
            <a:avLst/>
          </a:prstGeom>
          <a:solidFill>
            <a:srgbClr val="DDEAF6">
              <a:alpha val="56470"/>
            </a:srgbClr>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rgbClr val="393939"/>
                </a:solidFill>
                <a:latin typeface="Noto Sans"/>
                <a:ea typeface="Noto Sans"/>
                <a:cs typeface="Noto Sans"/>
                <a:sym typeface="Noto Sans"/>
              </a:rPr>
              <a:t>Relación no lineal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4"/>
                                        </p:tgtEl>
                                        <p:attrNameLst>
                                          <p:attrName>style.visibility</p:attrName>
                                        </p:attrNameLst>
                                      </p:cBhvr>
                                      <p:to>
                                        <p:strVal val="visible"/>
                                      </p:to>
                                    </p:set>
                                    <p:animEffect transition="in" filter="fade">
                                      <p:cBhvr>
                                        <p:cTn id="7" dur="5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0"/>
          <p:cNvSpPr/>
          <p:nvPr/>
        </p:nvSpPr>
        <p:spPr>
          <a:xfrm>
            <a:off x="1137672" y="2034988"/>
            <a:ext cx="9916657" cy="426553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 name="Google Shape;251;p10"/>
          <p:cNvSpPr txBox="1"/>
          <p:nvPr/>
        </p:nvSpPr>
        <p:spPr>
          <a:xfrm>
            <a:off x="1137672" y="249047"/>
            <a:ext cx="9916657"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Representación gráfica de una relación</a:t>
            </a:r>
            <a:endParaRPr/>
          </a:p>
        </p:txBody>
      </p:sp>
      <p:cxnSp>
        <p:nvCxnSpPr>
          <p:cNvPr id="252" name="Google Shape;252;p10"/>
          <p:cNvCxnSpPr/>
          <p:nvPr/>
        </p:nvCxnSpPr>
        <p:spPr>
          <a:xfrm>
            <a:off x="1860965" y="2510434"/>
            <a:ext cx="0" cy="2520950"/>
          </a:xfrm>
          <a:prstGeom prst="straightConnector1">
            <a:avLst/>
          </a:prstGeom>
          <a:noFill/>
          <a:ln w="9525" cap="flat" cmpd="sng">
            <a:solidFill>
              <a:schemeClr val="dk1"/>
            </a:solidFill>
            <a:prstDash val="solid"/>
            <a:round/>
            <a:headEnd type="none" w="med" len="med"/>
            <a:tailEnd type="none" w="med" len="med"/>
          </a:ln>
        </p:spPr>
      </p:cxnSp>
      <p:cxnSp>
        <p:nvCxnSpPr>
          <p:cNvPr id="253" name="Google Shape;253;p10"/>
          <p:cNvCxnSpPr/>
          <p:nvPr/>
        </p:nvCxnSpPr>
        <p:spPr>
          <a:xfrm>
            <a:off x="1826040" y="5031384"/>
            <a:ext cx="2411412" cy="0"/>
          </a:xfrm>
          <a:prstGeom prst="straightConnector1">
            <a:avLst/>
          </a:prstGeom>
          <a:noFill/>
          <a:ln w="9525" cap="flat" cmpd="sng">
            <a:solidFill>
              <a:schemeClr val="dk1"/>
            </a:solidFill>
            <a:prstDash val="solid"/>
            <a:round/>
            <a:headEnd type="none" w="med" len="med"/>
            <a:tailEnd type="none" w="med" len="med"/>
          </a:ln>
        </p:spPr>
      </p:cxnSp>
      <p:sp>
        <p:nvSpPr>
          <p:cNvPr id="254" name="Google Shape;254;p10"/>
          <p:cNvSpPr/>
          <p:nvPr/>
        </p:nvSpPr>
        <p:spPr>
          <a:xfrm>
            <a:off x="2221327" y="4744047"/>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5" name="Google Shape;255;p10"/>
          <p:cNvSpPr/>
          <p:nvPr/>
        </p:nvSpPr>
        <p:spPr>
          <a:xfrm>
            <a:off x="2508665" y="4455122"/>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6" name="Google Shape;256;p10"/>
          <p:cNvSpPr/>
          <p:nvPr/>
        </p:nvSpPr>
        <p:spPr>
          <a:xfrm>
            <a:off x="2365790" y="4599584"/>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7" name="Google Shape;257;p10"/>
          <p:cNvSpPr/>
          <p:nvPr/>
        </p:nvSpPr>
        <p:spPr>
          <a:xfrm>
            <a:off x="2724565" y="4239222"/>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8" name="Google Shape;258;p10"/>
          <p:cNvSpPr/>
          <p:nvPr/>
        </p:nvSpPr>
        <p:spPr>
          <a:xfrm>
            <a:off x="3011902" y="3951884"/>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9" name="Google Shape;259;p10"/>
          <p:cNvSpPr/>
          <p:nvPr/>
        </p:nvSpPr>
        <p:spPr>
          <a:xfrm>
            <a:off x="3372265" y="3662959"/>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10"/>
          <p:cNvSpPr/>
          <p:nvPr/>
        </p:nvSpPr>
        <p:spPr>
          <a:xfrm>
            <a:off x="3516727" y="3520084"/>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1" name="Google Shape;261;p10"/>
          <p:cNvSpPr/>
          <p:nvPr/>
        </p:nvSpPr>
        <p:spPr>
          <a:xfrm>
            <a:off x="3734215" y="3304184"/>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2" name="Google Shape;262;p10"/>
          <p:cNvSpPr txBox="1"/>
          <p:nvPr/>
        </p:nvSpPr>
        <p:spPr>
          <a:xfrm>
            <a:off x="7982365" y="5056579"/>
            <a:ext cx="2303462"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inteligencia</a:t>
            </a:r>
            <a:endParaRPr/>
          </a:p>
        </p:txBody>
      </p:sp>
      <p:sp>
        <p:nvSpPr>
          <p:cNvPr id="263" name="Google Shape;263;p10"/>
          <p:cNvSpPr/>
          <p:nvPr/>
        </p:nvSpPr>
        <p:spPr>
          <a:xfrm>
            <a:off x="2869027" y="4096347"/>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4" name="Google Shape;264;p10"/>
          <p:cNvSpPr/>
          <p:nvPr/>
        </p:nvSpPr>
        <p:spPr>
          <a:xfrm>
            <a:off x="3227802" y="3807422"/>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265" name="Google Shape;265;p10"/>
          <p:cNvCxnSpPr/>
          <p:nvPr/>
        </p:nvCxnSpPr>
        <p:spPr>
          <a:xfrm>
            <a:off x="7872827" y="2534041"/>
            <a:ext cx="0" cy="2520950"/>
          </a:xfrm>
          <a:prstGeom prst="straightConnector1">
            <a:avLst/>
          </a:prstGeom>
          <a:noFill/>
          <a:ln w="9525" cap="flat" cmpd="sng">
            <a:solidFill>
              <a:schemeClr val="dk1"/>
            </a:solidFill>
            <a:prstDash val="solid"/>
            <a:round/>
            <a:headEnd type="none" w="med" len="med"/>
            <a:tailEnd type="none" w="med" len="med"/>
          </a:ln>
        </p:spPr>
      </p:cxnSp>
      <p:sp>
        <p:nvSpPr>
          <p:cNvPr id="266" name="Google Shape;266;p10"/>
          <p:cNvSpPr txBox="1"/>
          <p:nvPr/>
        </p:nvSpPr>
        <p:spPr>
          <a:xfrm rot="-5400000">
            <a:off x="6436933" y="3576236"/>
            <a:ext cx="2447925"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rendimiento</a:t>
            </a:r>
            <a:endParaRPr/>
          </a:p>
        </p:txBody>
      </p:sp>
      <p:cxnSp>
        <p:nvCxnSpPr>
          <p:cNvPr id="267" name="Google Shape;267;p10"/>
          <p:cNvCxnSpPr/>
          <p:nvPr/>
        </p:nvCxnSpPr>
        <p:spPr>
          <a:xfrm>
            <a:off x="4777202" y="2534041"/>
            <a:ext cx="0" cy="2520950"/>
          </a:xfrm>
          <a:prstGeom prst="straightConnector1">
            <a:avLst/>
          </a:prstGeom>
          <a:noFill/>
          <a:ln w="9525" cap="flat" cmpd="sng">
            <a:solidFill>
              <a:schemeClr val="dk1"/>
            </a:solidFill>
            <a:prstDash val="solid"/>
            <a:round/>
            <a:headEnd type="none" w="med" len="med"/>
            <a:tailEnd type="none" w="med" len="med"/>
          </a:ln>
        </p:spPr>
      </p:cxnSp>
      <p:cxnSp>
        <p:nvCxnSpPr>
          <p:cNvPr id="268" name="Google Shape;268;p10"/>
          <p:cNvCxnSpPr/>
          <p:nvPr/>
        </p:nvCxnSpPr>
        <p:spPr>
          <a:xfrm>
            <a:off x="4777202" y="5054991"/>
            <a:ext cx="2736850" cy="0"/>
          </a:xfrm>
          <a:prstGeom prst="straightConnector1">
            <a:avLst/>
          </a:prstGeom>
          <a:noFill/>
          <a:ln w="9525" cap="flat" cmpd="sng">
            <a:solidFill>
              <a:schemeClr val="dk1"/>
            </a:solidFill>
            <a:prstDash val="solid"/>
            <a:round/>
            <a:headEnd type="none" w="med" len="med"/>
            <a:tailEnd type="none" w="med" len="med"/>
          </a:ln>
        </p:spPr>
      </p:cxnSp>
      <p:sp>
        <p:nvSpPr>
          <p:cNvPr id="269" name="Google Shape;269;p10"/>
          <p:cNvSpPr/>
          <p:nvPr/>
        </p:nvSpPr>
        <p:spPr>
          <a:xfrm>
            <a:off x="5316952" y="4119954"/>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0" name="Google Shape;270;p10"/>
          <p:cNvSpPr/>
          <p:nvPr/>
        </p:nvSpPr>
        <p:spPr>
          <a:xfrm>
            <a:off x="5101052" y="448031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1" name="Google Shape;271;p10"/>
          <p:cNvSpPr/>
          <p:nvPr/>
        </p:nvSpPr>
        <p:spPr>
          <a:xfrm>
            <a:off x="5605877" y="4335854"/>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2" name="Google Shape;272;p10"/>
          <p:cNvSpPr/>
          <p:nvPr/>
        </p:nvSpPr>
        <p:spPr>
          <a:xfrm>
            <a:off x="5677315" y="404851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3" name="Google Shape;273;p10"/>
          <p:cNvSpPr/>
          <p:nvPr/>
        </p:nvSpPr>
        <p:spPr>
          <a:xfrm>
            <a:off x="6001165" y="3975491"/>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4" name="Google Shape;274;p10"/>
          <p:cNvSpPr/>
          <p:nvPr/>
        </p:nvSpPr>
        <p:spPr>
          <a:xfrm>
            <a:off x="6182140" y="3327791"/>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5" name="Google Shape;275;p10"/>
          <p:cNvSpPr/>
          <p:nvPr/>
        </p:nvSpPr>
        <p:spPr>
          <a:xfrm>
            <a:off x="6505990" y="3615129"/>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10"/>
          <p:cNvSpPr/>
          <p:nvPr/>
        </p:nvSpPr>
        <p:spPr>
          <a:xfrm>
            <a:off x="6613940" y="318491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7" name="Google Shape;277;p10"/>
          <p:cNvSpPr txBox="1"/>
          <p:nvPr/>
        </p:nvSpPr>
        <p:spPr>
          <a:xfrm rot="-5400000">
            <a:off x="3341308" y="3576236"/>
            <a:ext cx="2447925"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rendimiento</a:t>
            </a:r>
            <a:endParaRPr/>
          </a:p>
        </p:txBody>
      </p:sp>
      <p:sp>
        <p:nvSpPr>
          <p:cNvPr id="278" name="Google Shape;278;p10"/>
          <p:cNvSpPr/>
          <p:nvPr/>
        </p:nvSpPr>
        <p:spPr>
          <a:xfrm>
            <a:off x="6253577" y="361671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9" name="Google Shape;279;p10"/>
          <p:cNvSpPr/>
          <p:nvPr/>
        </p:nvSpPr>
        <p:spPr>
          <a:xfrm>
            <a:off x="5821777" y="361671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0" name="Google Shape;280;p10"/>
          <p:cNvSpPr txBox="1"/>
          <p:nvPr/>
        </p:nvSpPr>
        <p:spPr>
          <a:xfrm>
            <a:off x="4885152" y="5056579"/>
            <a:ext cx="2303463"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inteligencia</a:t>
            </a:r>
            <a:endParaRPr/>
          </a:p>
        </p:txBody>
      </p:sp>
      <p:sp>
        <p:nvSpPr>
          <p:cNvPr id="281" name="Google Shape;281;p10"/>
          <p:cNvSpPr txBox="1"/>
          <p:nvPr/>
        </p:nvSpPr>
        <p:spPr>
          <a:xfrm>
            <a:off x="2066926" y="5034836"/>
            <a:ext cx="2303462"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inteligencia</a:t>
            </a:r>
            <a:endParaRPr/>
          </a:p>
        </p:txBody>
      </p:sp>
      <p:sp>
        <p:nvSpPr>
          <p:cNvPr id="282" name="Google Shape;282;p10"/>
          <p:cNvSpPr txBox="1"/>
          <p:nvPr/>
        </p:nvSpPr>
        <p:spPr>
          <a:xfrm>
            <a:off x="1653865" y="5607223"/>
            <a:ext cx="2592387" cy="523220"/>
          </a:xfrm>
          <a:prstGeom prst="rect">
            <a:avLst/>
          </a:prstGeom>
          <a:solidFill>
            <a:srgbClr val="DDEAF6">
              <a:alpha val="56470"/>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393939"/>
                </a:solidFill>
                <a:latin typeface="Noto Sans"/>
                <a:ea typeface="Noto Sans"/>
                <a:cs typeface="Noto Sans"/>
                <a:sym typeface="Noto Sans"/>
              </a:rPr>
              <a:t>Relación lineal perfecta (casi perfecta)</a:t>
            </a:r>
            <a:endParaRPr/>
          </a:p>
        </p:txBody>
      </p:sp>
      <p:sp>
        <p:nvSpPr>
          <p:cNvPr id="283" name="Google Shape;283;p10"/>
          <p:cNvSpPr txBox="1"/>
          <p:nvPr/>
        </p:nvSpPr>
        <p:spPr>
          <a:xfrm>
            <a:off x="8018083" y="5764702"/>
            <a:ext cx="2376488" cy="307777"/>
          </a:xfrm>
          <a:prstGeom prst="rect">
            <a:avLst/>
          </a:prstGeom>
          <a:solidFill>
            <a:srgbClr val="DDEAF6">
              <a:alpha val="56470"/>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393939"/>
                </a:solidFill>
                <a:latin typeface="Noto Sans"/>
                <a:ea typeface="Noto Sans"/>
                <a:cs typeface="Noto Sans"/>
                <a:sym typeface="Noto Sans"/>
              </a:rPr>
              <a:t>Relación lineal débil</a:t>
            </a:r>
            <a:endParaRPr/>
          </a:p>
        </p:txBody>
      </p:sp>
      <p:cxnSp>
        <p:nvCxnSpPr>
          <p:cNvPr id="284" name="Google Shape;284;p10"/>
          <p:cNvCxnSpPr/>
          <p:nvPr/>
        </p:nvCxnSpPr>
        <p:spPr>
          <a:xfrm>
            <a:off x="4381915" y="2103829"/>
            <a:ext cx="0" cy="381635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10"/>
          <p:cNvCxnSpPr/>
          <p:nvPr/>
        </p:nvCxnSpPr>
        <p:spPr>
          <a:xfrm>
            <a:off x="7550565" y="2176854"/>
            <a:ext cx="0" cy="3816350"/>
          </a:xfrm>
          <a:prstGeom prst="straightConnector1">
            <a:avLst/>
          </a:prstGeom>
          <a:noFill/>
          <a:ln w="9525" cap="flat" cmpd="sng">
            <a:solidFill>
              <a:schemeClr val="dk1"/>
            </a:solidFill>
            <a:prstDash val="solid"/>
            <a:round/>
            <a:headEnd type="none" w="med" len="med"/>
            <a:tailEnd type="none" w="med" len="med"/>
          </a:ln>
        </p:spPr>
      </p:cxnSp>
      <p:sp>
        <p:nvSpPr>
          <p:cNvPr id="286" name="Google Shape;286;p10"/>
          <p:cNvSpPr txBox="1"/>
          <p:nvPr/>
        </p:nvSpPr>
        <p:spPr>
          <a:xfrm>
            <a:off x="4988431" y="5568697"/>
            <a:ext cx="2016125" cy="523220"/>
          </a:xfrm>
          <a:prstGeom prst="rect">
            <a:avLst/>
          </a:prstGeom>
          <a:solidFill>
            <a:srgbClr val="DDEAF6">
              <a:alpha val="56470"/>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393939"/>
                </a:solidFill>
                <a:latin typeface="Noto Sans"/>
                <a:ea typeface="Noto Sans"/>
                <a:cs typeface="Noto Sans"/>
                <a:sym typeface="Noto Sans"/>
              </a:rPr>
              <a:t>Relación lineal fuerte/moderada</a:t>
            </a:r>
            <a:endParaRPr/>
          </a:p>
        </p:txBody>
      </p:sp>
      <p:sp>
        <p:nvSpPr>
          <p:cNvPr id="287" name="Google Shape;287;p10"/>
          <p:cNvSpPr/>
          <p:nvPr/>
        </p:nvSpPr>
        <p:spPr>
          <a:xfrm>
            <a:off x="8342727" y="383261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8" name="Google Shape;288;p10"/>
          <p:cNvSpPr/>
          <p:nvPr/>
        </p:nvSpPr>
        <p:spPr>
          <a:xfrm>
            <a:off x="8233190" y="4481904"/>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9" name="Google Shape;289;p10"/>
          <p:cNvSpPr/>
          <p:nvPr/>
        </p:nvSpPr>
        <p:spPr>
          <a:xfrm>
            <a:off x="9061865" y="4335854"/>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0" name="Google Shape;290;p10"/>
          <p:cNvSpPr/>
          <p:nvPr/>
        </p:nvSpPr>
        <p:spPr>
          <a:xfrm>
            <a:off x="8701502" y="383261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1" name="Google Shape;291;p10"/>
          <p:cNvSpPr/>
          <p:nvPr/>
        </p:nvSpPr>
        <p:spPr>
          <a:xfrm>
            <a:off x="9206327" y="3688154"/>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2" name="Google Shape;292;p10"/>
          <p:cNvSpPr/>
          <p:nvPr/>
        </p:nvSpPr>
        <p:spPr>
          <a:xfrm>
            <a:off x="9854027" y="340081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10"/>
          <p:cNvSpPr/>
          <p:nvPr/>
        </p:nvSpPr>
        <p:spPr>
          <a:xfrm>
            <a:off x="9493665" y="3977079"/>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4" name="Google Shape;294;p10"/>
          <p:cNvSpPr/>
          <p:nvPr/>
        </p:nvSpPr>
        <p:spPr>
          <a:xfrm>
            <a:off x="9998490" y="2751529"/>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5" name="Google Shape;295;p10"/>
          <p:cNvSpPr/>
          <p:nvPr/>
        </p:nvSpPr>
        <p:spPr>
          <a:xfrm>
            <a:off x="9422227" y="2969016"/>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10"/>
          <p:cNvSpPr/>
          <p:nvPr/>
        </p:nvSpPr>
        <p:spPr>
          <a:xfrm>
            <a:off x="8845965" y="3327791"/>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7" name="Google Shape;297;p10"/>
          <p:cNvSpPr txBox="1"/>
          <p:nvPr/>
        </p:nvSpPr>
        <p:spPr>
          <a:xfrm rot="-5400000">
            <a:off x="405886" y="3479179"/>
            <a:ext cx="2447925"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rendimiento</a:t>
            </a:r>
            <a:endParaRPr/>
          </a:p>
        </p:txBody>
      </p:sp>
      <p:cxnSp>
        <p:nvCxnSpPr>
          <p:cNvPr id="298" name="Google Shape;298;p10"/>
          <p:cNvCxnSpPr/>
          <p:nvPr/>
        </p:nvCxnSpPr>
        <p:spPr>
          <a:xfrm>
            <a:off x="7874414" y="5054991"/>
            <a:ext cx="2736850" cy="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10"/>
          <p:cNvSpPr/>
          <p:nvPr/>
        </p:nvSpPr>
        <p:spPr>
          <a:xfrm>
            <a:off x="-489709" y="1056607"/>
            <a:ext cx="13859447" cy="778836"/>
          </a:xfrm>
          <a:prstGeom prst="roundRect">
            <a:avLst>
              <a:gd name="adj" fmla="val 2971"/>
            </a:avLst>
          </a:prstGeom>
          <a:solidFill>
            <a:srgbClr val="98C3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10"/>
          <p:cNvSpPr txBox="1"/>
          <p:nvPr/>
        </p:nvSpPr>
        <p:spPr>
          <a:xfrm>
            <a:off x="1137672" y="1094806"/>
            <a:ext cx="9916657"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Ahora necesitamos un índice que nos informe tanto del grado en que X e Y están relacionadas, y si la relación es positiva o negativa.</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1"/>
                                        </p:tgtEl>
                                        <p:attrNameLst>
                                          <p:attrName>style.visibility</p:attrName>
                                        </p:attrNameLst>
                                      </p:cBhvr>
                                      <p:to>
                                        <p:strVal val="visible"/>
                                      </p:to>
                                    </p:set>
                                    <p:animEffect transition="in" filter="fade">
                                      <p:cBhvr>
                                        <p:cTn id="7" dur="500"/>
                                        <p:tgtEl>
                                          <p:spTgt spid="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1"/>
          <p:cNvSpPr/>
          <p:nvPr/>
        </p:nvSpPr>
        <p:spPr>
          <a:xfrm>
            <a:off x="623208" y="1146430"/>
            <a:ext cx="11037568" cy="5071325"/>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6" name="Google Shape;306;p11"/>
          <p:cNvSpPr txBox="1"/>
          <p:nvPr/>
        </p:nvSpPr>
        <p:spPr>
          <a:xfrm>
            <a:off x="619320" y="149254"/>
            <a:ext cx="8085697"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Correlación vs Causalidad</a:t>
            </a:r>
            <a:endParaRPr/>
          </a:p>
        </p:txBody>
      </p:sp>
      <p:sp>
        <p:nvSpPr>
          <p:cNvPr id="307" name="Google Shape;307;p11"/>
          <p:cNvSpPr txBox="1"/>
          <p:nvPr/>
        </p:nvSpPr>
        <p:spPr>
          <a:xfrm>
            <a:off x="902348" y="1273331"/>
            <a:ext cx="10469667" cy="4708941"/>
          </a:xfrm>
          <a:prstGeom prst="rect">
            <a:avLst/>
          </a:prstGeom>
          <a:noFill/>
          <a:ln>
            <a:noFill/>
          </a:ln>
        </p:spPr>
        <p:txBody>
          <a:bodyPr spcFirstLastPara="1" wrap="square" lIns="91425" tIns="45700" rIns="91425" bIns="45700" anchor="t" anchorCtr="0">
            <a:spAutoFit/>
          </a:bodyPr>
          <a:lstStyle/>
          <a:p>
            <a:pPr algn="just"/>
            <a:r>
              <a:rPr lang="es-ES" sz="2000" dirty="0">
                <a:solidFill>
                  <a:schemeClr val="lt1"/>
                </a:solidFill>
                <a:latin typeface="Calibri"/>
                <a:ea typeface="Calibri"/>
                <a:cs typeface="Calibri"/>
                <a:sym typeface="Calibri"/>
              </a:rPr>
              <a:t>Es importante indicar que “</a:t>
            </a:r>
            <a:r>
              <a:rPr lang="es-ES" sz="2000" b="1" dirty="0">
                <a:solidFill>
                  <a:schemeClr val="lt1"/>
                </a:solidFill>
                <a:latin typeface="Calibri"/>
                <a:ea typeface="Calibri"/>
                <a:cs typeface="Calibri"/>
                <a:sym typeface="Calibri"/>
              </a:rPr>
              <a:t>CORRELACIÓN NO IMPLICA CAUSALIDAD</a:t>
            </a:r>
            <a:r>
              <a:rPr lang="es-ES" sz="2000" dirty="0">
                <a:solidFill>
                  <a:schemeClr val="lt1"/>
                </a:solidFill>
                <a:latin typeface="Calibri"/>
                <a:ea typeface="Calibri"/>
                <a:cs typeface="Calibri"/>
                <a:sym typeface="Calibri"/>
              </a:rPr>
              <a:t>”. El que dos variables estén altamente correlacionadas  (se mueven juntas) no implica necesariamente que X causa Y ni que Y causa X.</a:t>
            </a:r>
            <a:endParaRPr sz="2000" dirty="0">
              <a:solidFill>
                <a:schemeClr val="lt1"/>
              </a:solidFill>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1600"/>
              <a:buFont typeface="Arial"/>
              <a:buChar char="•"/>
            </a:pPr>
            <a:r>
              <a:rPr lang="es-ES" sz="2000" dirty="0">
                <a:solidFill>
                  <a:schemeClr val="lt1"/>
                </a:solidFill>
                <a:latin typeface="Calibri"/>
                <a:ea typeface="Calibri"/>
                <a:cs typeface="Calibri"/>
                <a:sym typeface="Calibri"/>
              </a:rPr>
              <a:t>Esa es una de las razones empleadas por las tabaqueras en el tema de la correlación entre cáncer de pulmón y el hecho de fumar.</a:t>
            </a:r>
            <a:endParaRPr sz="2000" dirty="0">
              <a:solidFill>
                <a:schemeClr val="lt1"/>
              </a:solidFill>
              <a:latin typeface="Calibri"/>
              <a:ea typeface="Calibri"/>
              <a:cs typeface="Calibri"/>
              <a:sym typeface="Calibri"/>
            </a:endParaRPr>
          </a:p>
          <a:p>
            <a:pPr marL="342900" marR="0" lvl="0" indent="-241300" algn="just" rtl="0">
              <a:spcBef>
                <a:spcPts val="0"/>
              </a:spcBef>
              <a:spcAft>
                <a:spcPts val="0"/>
              </a:spcAft>
              <a:buClr>
                <a:schemeClr val="dk1"/>
              </a:buClr>
              <a:buSzPts val="1600"/>
              <a:buFont typeface="Arial"/>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ES" sz="2000" dirty="0">
                <a:solidFill>
                  <a:schemeClr val="lt1"/>
                </a:solidFill>
                <a:latin typeface="Calibri"/>
                <a:ea typeface="Calibri"/>
                <a:cs typeface="Calibri"/>
                <a:sym typeface="Calibri"/>
              </a:rPr>
              <a:t>Una correlación fuerte puede indicar causalidad, pero también es probable que existan otras explicaciones:</a:t>
            </a:r>
            <a:endParaRPr sz="2000" dirty="0">
              <a:solidFill>
                <a:schemeClr val="lt1"/>
              </a:solidFill>
            </a:endParaRPr>
          </a:p>
          <a:p>
            <a:pPr marL="342900" marR="0" lvl="0" indent="-241300" algn="just" rtl="0">
              <a:spcBef>
                <a:spcPts val="0"/>
              </a:spcBef>
              <a:spcAft>
                <a:spcPts val="0"/>
              </a:spcAft>
              <a:buClr>
                <a:schemeClr val="dk1"/>
              </a:buClr>
              <a:buSzPts val="1600"/>
              <a:buFont typeface="Arial"/>
              <a:buNone/>
            </a:pPr>
            <a:endParaRPr sz="200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1600"/>
              <a:buFont typeface="Arial"/>
              <a:buChar char="•"/>
            </a:pPr>
            <a:r>
              <a:rPr lang="es-ES" sz="2000" dirty="0">
                <a:solidFill>
                  <a:schemeClr val="lt1"/>
                </a:solidFill>
                <a:latin typeface="Calibri"/>
                <a:ea typeface="Calibri"/>
                <a:cs typeface="Calibri"/>
                <a:sym typeface="Calibri"/>
              </a:rPr>
              <a:t>Puede ser el resultado del azar: las variables parecen estar relacionadas, pero en realidad no hay una relación subyacente.</a:t>
            </a:r>
            <a:endParaRPr sz="2000" dirty="0">
              <a:solidFill>
                <a:schemeClr val="lt1"/>
              </a:solidFill>
            </a:endParaRPr>
          </a:p>
          <a:p>
            <a:pPr marL="342900" marR="0" lvl="0" indent="-241300" algn="just" rtl="0">
              <a:spcBef>
                <a:spcPts val="0"/>
              </a:spcBef>
              <a:spcAft>
                <a:spcPts val="0"/>
              </a:spcAft>
              <a:buClr>
                <a:schemeClr val="dk1"/>
              </a:buClr>
              <a:buSzPts val="1600"/>
              <a:buFont typeface="Arial"/>
              <a:buNone/>
            </a:pPr>
            <a:endParaRPr sz="200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1600"/>
              <a:buFont typeface="Arial"/>
              <a:buChar char="•"/>
            </a:pPr>
            <a:r>
              <a:rPr lang="es-ES" sz="2000" dirty="0">
                <a:solidFill>
                  <a:schemeClr val="lt1"/>
                </a:solidFill>
                <a:latin typeface="Calibri"/>
                <a:ea typeface="Calibri"/>
                <a:cs typeface="Calibri"/>
                <a:sym typeface="Calibri"/>
              </a:rPr>
              <a:t>Puede haber una tercera variable al acecho que haga que la relación parezca más fuerte (o más débil) de lo que realmente es.</a:t>
            </a:r>
            <a:endParaRPr sz="2000" dirty="0">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6"/>
                                        </p:tgtEl>
                                        <p:attrNameLst>
                                          <p:attrName>style.visibility</p:attrName>
                                        </p:attrNameLst>
                                      </p:cBhvr>
                                      <p:to>
                                        <p:strVal val="visible"/>
                                      </p:to>
                                    </p:set>
                                    <p:animEffect transition="in" filter="fade">
                                      <p:cBhvr>
                                        <p:cTn id="7" dur="500"/>
                                        <p:tgtEl>
                                          <p:spTgt spid="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2"/>
          <p:cNvSpPr/>
          <p:nvPr/>
        </p:nvSpPr>
        <p:spPr>
          <a:xfrm>
            <a:off x="910332" y="1307686"/>
            <a:ext cx="10436313" cy="47079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3" name="Google Shape;313;p12"/>
          <p:cNvSpPr txBox="1"/>
          <p:nvPr/>
        </p:nvSpPr>
        <p:spPr>
          <a:xfrm>
            <a:off x="773787" y="416327"/>
            <a:ext cx="7621276"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Correlación y Causalidad</a:t>
            </a:r>
            <a:endParaRPr/>
          </a:p>
        </p:txBody>
      </p:sp>
      <p:pic>
        <p:nvPicPr>
          <p:cNvPr id="314" name="Google Shape;314;p12" descr="Candela Iglesias"/>
          <p:cNvPicPr preferRelativeResize="0"/>
          <p:nvPr/>
        </p:nvPicPr>
        <p:blipFill rotWithShape="1">
          <a:blip r:embed="rId3">
            <a:alphaModFix/>
          </a:blip>
          <a:srcRect/>
          <a:stretch/>
        </p:blipFill>
        <p:spPr>
          <a:xfrm>
            <a:off x="3129416" y="1610112"/>
            <a:ext cx="5621450" cy="3447574"/>
          </a:xfrm>
          <a:prstGeom prst="rect">
            <a:avLst/>
          </a:prstGeom>
          <a:noFill/>
          <a:ln>
            <a:noFill/>
          </a:ln>
        </p:spPr>
      </p:pic>
      <p:sp>
        <p:nvSpPr>
          <p:cNvPr id="315" name="Google Shape;315;p12"/>
          <p:cNvSpPr txBox="1"/>
          <p:nvPr/>
        </p:nvSpPr>
        <p:spPr>
          <a:xfrm>
            <a:off x="3131593" y="5227996"/>
            <a:ext cx="59304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800">
                <a:solidFill>
                  <a:srgbClr val="595959"/>
                </a:solidFill>
                <a:latin typeface="Calibri"/>
                <a:ea typeface="Calibri"/>
                <a:cs typeface="Calibri"/>
                <a:sym typeface="Calibri"/>
              </a:rPr>
              <a:t>¡¡¡Correlación NO implica causalidad !!!</a:t>
            </a:r>
            <a:endParaRPr/>
          </a:p>
        </p:txBody>
      </p:sp>
      <p:sp>
        <p:nvSpPr>
          <p:cNvPr id="2" name="CuadroTexto 1">
            <a:extLst>
              <a:ext uri="{FF2B5EF4-FFF2-40B4-BE49-F238E27FC236}">
                <a16:creationId xmlns:a16="http://schemas.microsoft.com/office/drawing/2014/main" id="{234A51EA-17D7-D084-4A54-85FE8A062FF6}"/>
              </a:ext>
            </a:extLst>
          </p:cNvPr>
          <p:cNvSpPr txBox="1"/>
          <p:nvPr/>
        </p:nvSpPr>
        <p:spPr>
          <a:xfrm>
            <a:off x="7336970" y="2013857"/>
            <a:ext cx="1055914" cy="52322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Ataques de tiburón</a:t>
            </a:r>
            <a:endParaRPr lang="es-ES"/>
          </a:p>
        </p:txBody>
      </p:sp>
      <p:sp>
        <p:nvSpPr>
          <p:cNvPr id="3" name="CuadroTexto 2">
            <a:extLst>
              <a:ext uri="{FF2B5EF4-FFF2-40B4-BE49-F238E27FC236}">
                <a16:creationId xmlns:a16="http://schemas.microsoft.com/office/drawing/2014/main" id="{C5D62FFE-0F18-3B91-48D1-3F8608E20730}"/>
              </a:ext>
            </a:extLst>
          </p:cNvPr>
          <p:cNvSpPr txBox="1"/>
          <p:nvPr/>
        </p:nvSpPr>
        <p:spPr>
          <a:xfrm>
            <a:off x="7336970" y="2536371"/>
            <a:ext cx="1317171" cy="52322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Ventas de helado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3"/>
                                        </p:tgtEl>
                                        <p:attrNameLst>
                                          <p:attrName>style.visibility</p:attrName>
                                        </p:attrNameLst>
                                      </p:cBhvr>
                                      <p:to>
                                        <p:strVal val="visible"/>
                                      </p:to>
                                    </p:set>
                                    <p:animEffect transition="in" filter="fade">
                                      <p:cBhvr>
                                        <p:cTn id="7" dur="5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13"/>
          <p:cNvSpPr/>
          <p:nvPr/>
        </p:nvSpPr>
        <p:spPr>
          <a:xfrm>
            <a:off x="1269410" y="1352806"/>
            <a:ext cx="9653177" cy="4400021"/>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 name="Google Shape;321;p13"/>
          <p:cNvSpPr txBox="1"/>
          <p:nvPr/>
        </p:nvSpPr>
        <p:spPr>
          <a:xfrm>
            <a:off x="1269410" y="552457"/>
            <a:ext cx="9720807"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Correlación y Causalidad</a:t>
            </a:r>
            <a:endParaRPr/>
          </a:p>
        </p:txBody>
      </p:sp>
      <p:pic>
        <p:nvPicPr>
          <p:cNvPr id="322" name="Google Shape;322;p13"/>
          <p:cNvPicPr preferRelativeResize="0"/>
          <p:nvPr/>
        </p:nvPicPr>
        <p:blipFill rotWithShape="1">
          <a:blip r:embed="rId3">
            <a:alphaModFix/>
          </a:blip>
          <a:srcRect/>
          <a:stretch/>
        </p:blipFill>
        <p:spPr>
          <a:xfrm>
            <a:off x="1623388" y="1380293"/>
            <a:ext cx="8945223" cy="4124901"/>
          </a:xfrm>
          <a:prstGeom prst="rect">
            <a:avLst/>
          </a:prstGeom>
          <a:noFill/>
          <a:ln>
            <a:noFill/>
          </a:ln>
        </p:spPr>
      </p:pic>
      <p:grpSp>
        <p:nvGrpSpPr>
          <p:cNvPr id="323" name="Google Shape;323;p13"/>
          <p:cNvGrpSpPr/>
          <p:nvPr/>
        </p:nvGrpSpPr>
        <p:grpSpPr>
          <a:xfrm>
            <a:off x="1547188" y="5842372"/>
            <a:ext cx="5972700" cy="711254"/>
            <a:chOff x="1547187" y="5941763"/>
            <a:chExt cx="5972700" cy="711254"/>
          </a:xfrm>
        </p:grpSpPr>
        <p:sp>
          <p:nvSpPr>
            <p:cNvPr id="324" name="Google Shape;324;p13"/>
            <p:cNvSpPr txBox="1"/>
            <p:nvPr/>
          </p:nvSpPr>
          <p:spPr>
            <a:xfrm>
              <a:off x="1547187" y="5941763"/>
              <a:ext cx="5972700"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dirty="0">
                  <a:solidFill>
                    <a:srgbClr val="595959"/>
                  </a:solidFill>
                  <a:latin typeface="Calibri"/>
                  <a:ea typeface="Calibri"/>
                  <a:cs typeface="Calibri"/>
                  <a:sym typeface="Calibri"/>
                </a:rPr>
                <a:t>Correlaciones Espurias</a:t>
              </a:r>
              <a:endParaRPr lang="es-ES" sz="1600"/>
            </a:p>
          </p:txBody>
        </p:sp>
        <p:sp>
          <p:nvSpPr>
            <p:cNvPr id="325" name="Google Shape;325;p13"/>
            <p:cNvSpPr/>
            <p:nvPr/>
          </p:nvSpPr>
          <p:spPr>
            <a:xfrm>
              <a:off x="1623387" y="6283685"/>
              <a:ext cx="4371197" cy="369332"/>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595959"/>
                  </a:solidFill>
                  <a:latin typeface="Calibri"/>
                  <a:ea typeface="Calibri"/>
                  <a:cs typeface="Calibri"/>
                  <a:sym typeface="Calibri"/>
                </a:rPr>
                <a:t>https://tylervigen.com/spurious-correlations</a:t>
              </a:r>
              <a:endParaRPr/>
            </a:p>
          </p:txBody>
        </p:sp>
      </p:grpSp>
      <p:sp>
        <p:nvSpPr>
          <p:cNvPr id="3" name="CuadroTexto 2">
            <a:extLst>
              <a:ext uri="{FF2B5EF4-FFF2-40B4-BE49-F238E27FC236}">
                <a16:creationId xmlns:a16="http://schemas.microsoft.com/office/drawing/2014/main" id="{02676553-937E-866F-3CF5-8B8F156AC37C}"/>
              </a:ext>
            </a:extLst>
          </p:cNvPr>
          <p:cNvSpPr txBox="1"/>
          <p:nvPr/>
        </p:nvSpPr>
        <p:spPr>
          <a:xfrm>
            <a:off x="8316685" y="555172"/>
            <a:ext cx="2971799" cy="52322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solidFill>
                  <a:srgbClr val="87121A"/>
                </a:solidFill>
              </a:rPr>
              <a:t>Número de personas que murieron ahogadas en su piscina </a:t>
            </a:r>
          </a:p>
        </p:txBody>
      </p:sp>
      <p:cxnSp>
        <p:nvCxnSpPr>
          <p:cNvPr id="4" name="Conector recto de flecha 3">
            <a:extLst>
              <a:ext uri="{FF2B5EF4-FFF2-40B4-BE49-F238E27FC236}">
                <a16:creationId xmlns:a16="http://schemas.microsoft.com/office/drawing/2014/main" id="{CD9CD5B7-A248-9EEC-C95F-3B63E9D8FDE1}"/>
              </a:ext>
            </a:extLst>
          </p:cNvPr>
          <p:cNvCxnSpPr/>
          <p:nvPr/>
        </p:nvCxnSpPr>
        <p:spPr>
          <a:xfrm flipH="1">
            <a:off x="7935685" y="1110342"/>
            <a:ext cx="337457" cy="402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13A0A02C-A43E-7E75-D2E7-2AF09DB30147}"/>
              </a:ext>
            </a:extLst>
          </p:cNvPr>
          <p:cNvSpPr txBox="1"/>
          <p:nvPr/>
        </p:nvSpPr>
        <p:spPr>
          <a:xfrm>
            <a:off x="9557656" y="2079171"/>
            <a:ext cx="2209799" cy="52322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Películas en la que aparece Nicolas Cage</a:t>
            </a:r>
          </a:p>
        </p:txBody>
      </p:sp>
      <p:cxnSp>
        <p:nvCxnSpPr>
          <p:cNvPr id="7" name="Conector recto de flecha 6">
            <a:extLst>
              <a:ext uri="{FF2B5EF4-FFF2-40B4-BE49-F238E27FC236}">
                <a16:creationId xmlns:a16="http://schemas.microsoft.com/office/drawing/2014/main" id="{5E62EB44-2C15-2749-48D5-2D5317A77879}"/>
              </a:ext>
            </a:extLst>
          </p:cNvPr>
          <p:cNvCxnSpPr/>
          <p:nvPr/>
        </p:nvCxnSpPr>
        <p:spPr>
          <a:xfrm flipH="1" flipV="1">
            <a:off x="7728857" y="2155371"/>
            <a:ext cx="1665514" cy="174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1"/>
                                        </p:tgtEl>
                                        <p:attrNameLst>
                                          <p:attrName>style.visibility</p:attrName>
                                        </p:attrNameLst>
                                      </p:cBhvr>
                                      <p:to>
                                        <p:strVal val="visible"/>
                                      </p:to>
                                    </p:set>
                                    <p:animEffect transition="in" filter="fade">
                                      <p:cBhvr>
                                        <p:cTn id="7" dur="500"/>
                                        <p:tgtEl>
                                          <p:spTgt spid="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14"/>
          <p:cNvSpPr/>
          <p:nvPr/>
        </p:nvSpPr>
        <p:spPr>
          <a:xfrm>
            <a:off x="-530495" y="1569456"/>
            <a:ext cx="7077532" cy="4034757"/>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 name="Google Shape;331;p14"/>
          <p:cNvSpPr txBox="1"/>
          <p:nvPr/>
        </p:nvSpPr>
        <p:spPr>
          <a:xfrm>
            <a:off x="958284" y="714693"/>
            <a:ext cx="5235802" cy="564775"/>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Covarianza</a:t>
            </a:r>
            <a:endParaRPr/>
          </a:p>
        </p:txBody>
      </p:sp>
      <p:sp>
        <p:nvSpPr>
          <p:cNvPr id="332" name="Google Shape;332;p14"/>
          <p:cNvSpPr txBox="1"/>
          <p:nvPr/>
        </p:nvSpPr>
        <p:spPr>
          <a:xfrm>
            <a:off x="1280001" y="1947599"/>
            <a:ext cx="4911952"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covarianza emplea el producto de las puntuaciones diferencias de X e Y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el caso pendiente positiva, la covarianza será un valor positivo, y en el caso pendiente negativa, la covarianza será un valor negativo. Por tanto, la covarianza nos da una idea de si la relación entre X e Y es positiva o negativa.</a:t>
            </a:r>
            <a:endParaRPr sz="1800">
              <a:solidFill>
                <a:schemeClr val="lt1"/>
              </a:solidFill>
              <a:latin typeface="Arial"/>
              <a:ea typeface="Arial"/>
              <a:cs typeface="Arial"/>
              <a:sym typeface="Arial"/>
            </a:endParaRPr>
          </a:p>
        </p:txBody>
      </p:sp>
      <p:sp>
        <p:nvSpPr>
          <p:cNvPr id="333" name="Google Shape;333;p14"/>
          <p:cNvSpPr/>
          <p:nvPr/>
        </p:nvSpPr>
        <p:spPr>
          <a:xfrm>
            <a:off x="6766560" y="1566540"/>
            <a:ext cx="5094514" cy="404204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34" name="Google Shape;334;p14"/>
          <p:cNvPicPr preferRelativeResize="0"/>
          <p:nvPr/>
        </p:nvPicPr>
        <p:blipFill rotWithShape="1">
          <a:blip r:embed="rId3">
            <a:alphaModFix/>
          </a:blip>
          <a:srcRect/>
          <a:stretch/>
        </p:blipFill>
        <p:spPr>
          <a:xfrm>
            <a:off x="695659" y="2181614"/>
            <a:ext cx="289524" cy="289524"/>
          </a:xfrm>
          <a:prstGeom prst="rect">
            <a:avLst/>
          </a:prstGeom>
          <a:noFill/>
          <a:ln>
            <a:noFill/>
          </a:ln>
        </p:spPr>
      </p:pic>
      <p:pic>
        <p:nvPicPr>
          <p:cNvPr id="335" name="Google Shape;335;p14"/>
          <p:cNvPicPr preferRelativeResize="0"/>
          <p:nvPr/>
        </p:nvPicPr>
        <p:blipFill rotWithShape="1">
          <a:blip r:embed="rId3">
            <a:alphaModFix/>
          </a:blip>
          <a:srcRect/>
          <a:stretch/>
        </p:blipFill>
        <p:spPr>
          <a:xfrm>
            <a:off x="695659" y="2951325"/>
            <a:ext cx="289524" cy="289524"/>
          </a:xfrm>
          <a:prstGeom prst="rect">
            <a:avLst/>
          </a:prstGeom>
          <a:noFill/>
          <a:ln>
            <a:noFill/>
          </a:ln>
        </p:spPr>
      </p:pic>
      <p:pic>
        <p:nvPicPr>
          <p:cNvPr id="336" name="Google Shape;336;p14"/>
          <p:cNvPicPr preferRelativeResize="0"/>
          <p:nvPr/>
        </p:nvPicPr>
        <p:blipFill rotWithShape="1">
          <a:blip r:embed="rId4">
            <a:alphaModFix/>
          </a:blip>
          <a:srcRect/>
          <a:stretch/>
        </p:blipFill>
        <p:spPr>
          <a:xfrm>
            <a:off x="7398396" y="3871641"/>
            <a:ext cx="4062439" cy="1559939"/>
          </a:xfrm>
          <a:prstGeom prst="rect">
            <a:avLst/>
          </a:prstGeom>
          <a:noFill/>
          <a:ln>
            <a:noFill/>
          </a:ln>
        </p:spPr>
      </p:pic>
      <p:sp>
        <p:nvSpPr>
          <p:cNvPr id="337" name="Google Shape;337;p14"/>
          <p:cNvSpPr txBox="1"/>
          <p:nvPr/>
        </p:nvSpPr>
        <p:spPr>
          <a:xfrm>
            <a:off x="7050979" y="1846167"/>
            <a:ext cx="4626644" cy="147728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595959"/>
                </a:solidFill>
                <a:latin typeface="Calibri"/>
                <a:ea typeface="Calibri"/>
                <a:cs typeface="Calibri"/>
                <a:sym typeface="Calibri"/>
              </a:rPr>
              <a:t>Problema: la covarianza no es un índice acotado (v.g., cómo interpretar una covarianza de 6 en términos del grado de asociación), y no tiene en cuenta la variabilidad de las variables. Por eso se emplea el siguiente índice: </a:t>
            </a:r>
            <a:endParaRPr sz="1800">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1"/>
                                        </p:tgtEl>
                                        <p:attrNameLst>
                                          <p:attrName>style.visibility</p:attrName>
                                        </p:attrNameLst>
                                      </p:cBhvr>
                                      <p:to>
                                        <p:strVal val="visible"/>
                                      </p:to>
                                    </p:set>
                                    <p:animEffect transition="in" filter="fade">
                                      <p:cBhvr>
                                        <p:cTn id="7" dur="5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5"/>
          <p:cNvSpPr/>
          <p:nvPr/>
        </p:nvSpPr>
        <p:spPr>
          <a:xfrm>
            <a:off x="626492" y="1937515"/>
            <a:ext cx="10873627" cy="3851571"/>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 name="Google Shape;343;p15"/>
          <p:cNvSpPr txBox="1"/>
          <p:nvPr/>
        </p:nvSpPr>
        <p:spPr>
          <a:xfrm>
            <a:off x="704850" y="249047"/>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Coeficiente de correlación (lineal) de Pearson</a:t>
            </a:r>
            <a:endParaRPr/>
          </a:p>
        </p:txBody>
      </p:sp>
      <p:sp>
        <p:nvSpPr>
          <p:cNvPr id="344" name="Google Shape;344;p15"/>
          <p:cNvSpPr/>
          <p:nvPr/>
        </p:nvSpPr>
        <p:spPr>
          <a:xfrm>
            <a:off x="621274" y="978216"/>
            <a:ext cx="10865876" cy="744855"/>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5" name="Google Shape;345;p15"/>
          <p:cNvSpPr txBox="1"/>
          <p:nvPr/>
        </p:nvSpPr>
        <p:spPr>
          <a:xfrm>
            <a:off x="812587" y="1173132"/>
            <a:ext cx="8780849" cy="36929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coeficiente de correlación de Pearson parte de la covarianza:</a:t>
            </a:r>
            <a:endParaRPr sz="1600"/>
          </a:p>
        </p:txBody>
      </p:sp>
      <p:pic>
        <p:nvPicPr>
          <p:cNvPr id="346" name="Google Shape;346;p15"/>
          <p:cNvPicPr preferRelativeResize="0"/>
          <p:nvPr/>
        </p:nvPicPr>
        <p:blipFill rotWithShape="1">
          <a:blip r:embed="rId3">
            <a:alphaModFix/>
          </a:blip>
          <a:srcRect/>
          <a:stretch/>
        </p:blipFill>
        <p:spPr>
          <a:xfrm>
            <a:off x="3456639" y="2232346"/>
            <a:ext cx="2952749" cy="1238250"/>
          </a:xfrm>
          <a:prstGeom prst="rect">
            <a:avLst/>
          </a:prstGeom>
          <a:noFill/>
          <a:ln>
            <a:noFill/>
          </a:ln>
        </p:spPr>
      </p:pic>
      <p:pic>
        <p:nvPicPr>
          <p:cNvPr id="347" name="Google Shape;347;p15"/>
          <p:cNvPicPr preferRelativeResize="0"/>
          <p:nvPr/>
        </p:nvPicPr>
        <p:blipFill rotWithShape="1">
          <a:blip r:embed="rId4">
            <a:alphaModFix/>
          </a:blip>
          <a:srcRect/>
          <a:stretch/>
        </p:blipFill>
        <p:spPr>
          <a:xfrm>
            <a:off x="6970732" y="2441010"/>
            <a:ext cx="1727201" cy="1162051"/>
          </a:xfrm>
          <a:prstGeom prst="rect">
            <a:avLst/>
          </a:prstGeom>
          <a:noFill/>
          <a:ln>
            <a:noFill/>
          </a:ln>
        </p:spPr>
      </p:pic>
      <p:pic>
        <p:nvPicPr>
          <p:cNvPr id="348" name="Google Shape;348;p15"/>
          <p:cNvPicPr preferRelativeResize="0"/>
          <p:nvPr/>
        </p:nvPicPr>
        <p:blipFill rotWithShape="1">
          <a:blip r:embed="rId5">
            <a:alphaModFix/>
          </a:blip>
          <a:srcRect/>
          <a:stretch/>
        </p:blipFill>
        <p:spPr>
          <a:xfrm>
            <a:off x="4138970" y="4002410"/>
            <a:ext cx="4126737" cy="908498"/>
          </a:xfrm>
          <a:prstGeom prst="rect">
            <a:avLst/>
          </a:prstGeom>
          <a:noFill/>
          <a:ln>
            <a:noFill/>
          </a:ln>
        </p:spPr>
      </p:pic>
      <p:sp>
        <p:nvSpPr>
          <p:cNvPr id="350" name="Google Shape;350;p15"/>
          <p:cNvSpPr txBox="1"/>
          <p:nvPr/>
        </p:nvSpPr>
        <p:spPr>
          <a:xfrm>
            <a:off x="895852" y="5298048"/>
            <a:ext cx="5641979" cy="33855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dirty="0">
                <a:solidFill>
                  <a:srgbClr val="7F7F7F"/>
                </a:solidFill>
                <a:latin typeface="Calibri"/>
                <a:ea typeface="Calibri"/>
                <a:cs typeface="Calibri"/>
                <a:sym typeface="Calibri"/>
              </a:rPr>
              <a:t>A continuación, veremos varias propiedades del índice.</a:t>
            </a:r>
            <a:endParaRPr sz="1600" dirty="0">
              <a:solidFill>
                <a:srgbClr val="7F7F7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3"/>
                                        </p:tgtEl>
                                        <p:attrNameLst>
                                          <p:attrName>style.visibility</p:attrName>
                                        </p:attrNameLst>
                                      </p:cBhvr>
                                      <p:to>
                                        <p:strVal val="visible"/>
                                      </p:to>
                                    </p:set>
                                    <p:animEffect transition="in" filter="fade">
                                      <p:cBhvr>
                                        <p:cTn id="7" dur="500"/>
                                        <p:tgtEl>
                                          <p:spTgt spid="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16"/>
          <p:cNvSpPr txBox="1"/>
          <p:nvPr/>
        </p:nvSpPr>
        <p:spPr>
          <a:xfrm>
            <a:off x="761999" y="494607"/>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Coeficiente de correlación (lineal) de Pearson</a:t>
            </a:r>
            <a:endParaRPr sz="3200">
              <a:solidFill>
                <a:srgbClr val="7F7F7F"/>
              </a:solidFill>
              <a:latin typeface="Arial"/>
              <a:ea typeface="Arial"/>
              <a:cs typeface="Arial"/>
              <a:sym typeface="Arial"/>
            </a:endParaRPr>
          </a:p>
        </p:txBody>
      </p:sp>
      <p:sp>
        <p:nvSpPr>
          <p:cNvPr id="357" name="Google Shape;357;p16"/>
          <p:cNvSpPr/>
          <p:nvPr/>
        </p:nvSpPr>
        <p:spPr>
          <a:xfrm>
            <a:off x="-417800" y="1504625"/>
            <a:ext cx="9705300" cy="454110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8" name="Google Shape;358;p16"/>
          <p:cNvSpPr txBox="1"/>
          <p:nvPr/>
        </p:nvSpPr>
        <p:spPr>
          <a:xfrm>
            <a:off x="819149" y="1796051"/>
            <a:ext cx="8215050" cy="4081077"/>
          </a:xfrm>
          <a:prstGeom prst="rect">
            <a:avLst/>
          </a:prstGeom>
          <a:noFill/>
          <a:ln>
            <a:noFill/>
          </a:ln>
        </p:spPr>
        <p:txBody>
          <a:bodyPr spcFirstLastPara="1" wrap="square" lIns="91425" tIns="45700" rIns="91425" bIns="45700" anchor="t" anchorCtr="0">
            <a:spAutoFit/>
          </a:bodyPr>
          <a:lstStyle/>
          <a:p>
            <a:pPr marL="0" marR="0" lvl="0" indent="0" algn="just" rtl="0">
              <a:lnSpc>
                <a:spcPct val="120000"/>
              </a:lnSpc>
              <a:spcBef>
                <a:spcPts val="0"/>
              </a:spcBef>
              <a:spcAft>
                <a:spcPts val="0"/>
              </a:spcAft>
              <a:buNone/>
            </a:pPr>
            <a:r>
              <a:rPr lang="es-ES" sz="1800" b="1">
                <a:solidFill>
                  <a:schemeClr val="lt1"/>
                </a:solidFill>
                <a:latin typeface="Calibri"/>
                <a:ea typeface="Calibri"/>
                <a:cs typeface="Calibri"/>
                <a:sym typeface="Calibri"/>
              </a:rPr>
              <a:t>Propiedad 1: </a:t>
            </a:r>
            <a:r>
              <a:rPr lang="es-ES" sz="1800">
                <a:solidFill>
                  <a:schemeClr val="lt1"/>
                </a:solidFill>
                <a:latin typeface="Calibri"/>
                <a:ea typeface="Calibri"/>
                <a:cs typeface="Calibri"/>
                <a:sym typeface="Calibri"/>
              </a:rPr>
              <a:t>El índice de correlación de Pearson no puede valer menos de -1 ni más de +1.</a:t>
            </a:r>
            <a:endParaRPr sz="1800"/>
          </a:p>
          <a:p>
            <a:pPr marL="285750" marR="0" lvl="0" indent="-184150" algn="just" rtl="0">
              <a:lnSpc>
                <a:spcPct val="120000"/>
              </a:lnSpc>
              <a:spcBef>
                <a:spcPts val="0"/>
              </a:spcBef>
              <a:spcAft>
                <a:spcPts val="0"/>
              </a:spcAft>
              <a:buClr>
                <a:schemeClr val="dk1"/>
              </a:buClr>
              <a:buSzPts val="1600"/>
              <a:buFont typeface="Arial"/>
              <a:buNone/>
            </a:pPr>
            <a:endParaRPr sz="1800">
              <a:solidFill>
                <a:schemeClr val="lt1"/>
              </a:solidFill>
              <a:latin typeface="Calibri"/>
              <a:ea typeface="Calibri"/>
              <a:cs typeface="Calibri"/>
              <a:sym typeface="Calibri"/>
            </a:endParaRPr>
          </a:p>
          <a:p>
            <a:pPr marL="285750" marR="0" lvl="0" indent="-285750" algn="just" rtl="0">
              <a:lnSpc>
                <a:spcPct val="120000"/>
              </a:lnSpc>
              <a:spcBef>
                <a:spcPts val="0"/>
              </a:spcBef>
              <a:spcAft>
                <a:spcPts val="0"/>
              </a:spcAft>
              <a:buClr>
                <a:schemeClr val="lt1"/>
              </a:buClr>
              <a:buSzPts val="1600"/>
              <a:buFont typeface="Arial"/>
              <a:buChar char="•"/>
            </a:pPr>
            <a:r>
              <a:rPr lang="es-ES" sz="1800">
                <a:solidFill>
                  <a:schemeClr val="lt1"/>
                </a:solidFill>
                <a:latin typeface="Calibri"/>
                <a:ea typeface="Calibri"/>
                <a:cs typeface="Calibri"/>
                <a:sym typeface="Calibri"/>
              </a:rPr>
              <a:t>Un índice de correlación de Pearson de -1 indica una relación lineal negativa perfecta.</a:t>
            </a:r>
            <a:endParaRPr sz="1800"/>
          </a:p>
          <a:p>
            <a:pPr marL="0" marR="0" lvl="0" indent="0" algn="just" rtl="0">
              <a:lnSpc>
                <a:spcPct val="120000"/>
              </a:lnSpc>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lnSpc>
                <a:spcPct val="120000"/>
              </a:lnSpc>
              <a:spcBef>
                <a:spcPts val="0"/>
              </a:spcBef>
              <a:spcAft>
                <a:spcPts val="0"/>
              </a:spcAft>
              <a:buClr>
                <a:schemeClr val="lt1"/>
              </a:buClr>
              <a:buSzPts val="1600"/>
              <a:buFont typeface="Arial"/>
              <a:buChar char="•"/>
            </a:pPr>
            <a:r>
              <a:rPr lang="es-ES" sz="1800">
                <a:solidFill>
                  <a:schemeClr val="lt1"/>
                </a:solidFill>
                <a:latin typeface="Calibri"/>
                <a:ea typeface="Calibri"/>
                <a:cs typeface="Calibri"/>
                <a:sym typeface="Calibri"/>
              </a:rPr>
              <a:t>Un índice de correlación de Pearson de +1 indica una relación lineal positiva perfecta.</a:t>
            </a:r>
            <a:endParaRPr sz="1800"/>
          </a:p>
          <a:p>
            <a:pPr marL="285750" marR="0" lvl="0" indent="-184150" algn="just" rtl="0">
              <a:lnSpc>
                <a:spcPct val="120000"/>
              </a:lnSpc>
              <a:spcBef>
                <a:spcPts val="0"/>
              </a:spcBef>
              <a:spcAft>
                <a:spcPts val="0"/>
              </a:spcAft>
              <a:buClr>
                <a:schemeClr val="dk1"/>
              </a:buClr>
              <a:buSzPts val="1600"/>
              <a:buFont typeface="Arial"/>
              <a:buNone/>
            </a:pPr>
            <a:endParaRPr sz="1800">
              <a:solidFill>
                <a:schemeClr val="lt1"/>
              </a:solidFill>
              <a:latin typeface="Calibri"/>
              <a:ea typeface="Calibri"/>
              <a:cs typeface="Calibri"/>
              <a:sym typeface="Calibri"/>
            </a:endParaRPr>
          </a:p>
          <a:p>
            <a:pPr marL="285750" marR="0" lvl="0" indent="-285750" algn="just" rtl="0">
              <a:lnSpc>
                <a:spcPct val="120000"/>
              </a:lnSpc>
              <a:spcBef>
                <a:spcPts val="0"/>
              </a:spcBef>
              <a:spcAft>
                <a:spcPts val="0"/>
              </a:spcAft>
              <a:buClr>
                <a:schemeClr val="lt1"/>
              </a:buClr>
              <a:buSzPts val="1600"/>
              <a:buFont typeface="Arial"/>
              <a:buChar char="•"/>
            </a:pPr>
            <a:r>
              <a:rPr lang="es-ES" sz="1800">
                <a:solidFill>
                  <a:schemeClr val="lt1"/>
                </a:solidFill>
                <a:latin typeface="Calibri"/>
                <a:ea typeface="Calibri"/>
                <a:cs typeface="Calibri"/>
                <a:sym typeface="Calibri"/>
              </a:rPr>
              <a:t>Un índice de correlación de Pearson de 0 indica ausencia de relación lineal. Observa que un valor cercano a 0 del índice no implica que no haya algún tipo de relación no lineal: el índice de Pearson mide relación lineal.</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6"/>
                                        </p:tgtEl>
                                        <p:attrNameLst>
                                          <p:attrName>style.visibility</p:attrName>
                                        </p:attrNameLst>
                                      </p:cBhvr>
                                      <p:to>
                                        <p:strVal val="visible"/>
                                      </p:to>
                                    </p:set>
                                    <p:animEffect transition="in" filter="fade">
                                      <p:cBhvr>
                                        <p:cTn id="7" dur="500"/>
                                        <p:tgtEl>
                                          <p:spTgt spid="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17"/>
          <p:cNvSpPr txBox="1"/>
          <p:nvPr/>
        </p:nvSpPr>
        <p:spPr>
          <a:xfrm>
            <a:off x="796726" y="736419"/>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Coeficiente de correlación (lineal) de Pearson</a:t>
            </a:r>
            <a:endParaRPr sz="3200">
              <a:solidFill>
                <a:srgbClr val="7F7F7F"/>
              </a:solidFill>
              <a:latin typeface="Arial"/>
              <a:ea typeface="Arial"/>
              <a:cs typeface="Arial"/>
              <a:sym typeface="Arial"/>
            </a:endParaRPr>
          </a:p>
        </p:txBody>
      </p:sp>
      <p:sp>
        <p:nvSpPr>
          <p:cNvPr id="364" name="Google Shape;364;p17"/>
          <p:cNvSpPr/>
          <p:nvPr/>
        </p:nvSpPr>
        <p:spPr>
          <a:xfrm>
            <a:off x="-295525" y="1922900"/>
            <a:ext cx="9376842" cy="3438642"/>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5" name="Google Shape;365;p17"/>
          <p:cNvSpPr txBox="1"/>
          <p:nvPr/>
        </p:nvSpPr>
        <p:spPr>
          <a:xfrm>
            <a:off x="796726" y="2279715"/>
            <a:ext cx="7933616" cy="300078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ES" sz="1800" b="1">
                <a:solidFill>
                  <a:schemeClr val="lt1"/>
                </a:solidFill>
                <a:latin typeface="Calibri"/>
                <a:ea typeface="Calibri"/>
                <a:cs typeface="Calibri"/>
                <a:sym typeface="Calibri"/>
              </a:rPr>
              <a:t>Propiedad 2: </a:t>
            </a:r>
            <a:r>
              <a:rPr lang="es-ES" sz="1800">
                <a:solidFill>
                  <a:schemeClr val="lt1"/>
                </a:solidFill>
                <a:latin typeface="Calibri"/>
                <a:ea typeface="Calibri"/>
                <a:cs typeface="Calibri"/>
                <a:sym typeface="Calibri"/>
              </a:rPr>
              <a:t>El índice de correlación de Pearson (en valor absoluto) no varía cuando se transforman linealmente las variables.</a:t>
            </a:r>
            <a:endParaRPr sz="1800"/>
          </a:p>
          <a:p>
            <a:pPr marL="0" marR="0" lvl="0" indent="0" algn="just" rtl="0">
              <a:lnSpc>
                <a:spcPct val="150000"/>
              </a:lnSpc>
              <a:spcBef>
                <a:spcPts val="0"/>
              </a:spcBef>
              <a:spcAft>
                <a:spcPts val="0"/>
              </a:spcAft>
              <a:buNone/>
            </a:pPr>
            <a:endParaRPr sz="1800">
              <a:solidFill>
                <a:schemeClr val="lt1"/>
              </a:solidFill>
              <a:latin typeface="Calibri"/>
              <a:ea typeface="Calibri"/>
              <a:cs typeface="Calibri"/>
              <a:sym typeface="Calibri"/>
            </a:endParaRPr>
          </a:p>
          <a:p>
            <a:pPr marL="0" marR="0" lvl="0" indent="0" algn="just" rtl="0">
              <a:lnSpc>
                <a:spcPct val="150000"/>
              </a:lnSpc>
              <a:spcBef>
                <a:spcPts val="0"/>
              </a:spcBef>
              <a:spcAft>
                <a:spcPts val="0"/>
              </a:spcAft>
              <a:buNone/>
            </a:pPr>
            <a:r>
              <a:rPr lang="es-ES" sz="1800">
                <a:solidFill>
                  <a:schemeClr val="lt1"/>
                </a:solidFill>
                <a:latin typeface="Calibri"/>
                <a:ea typeface="Calibri"/>
                <a:cs typeface="Calibri"/>
                <a:sym typeface="Calibri"/>
              </a:rPr>
              <a:t>Por ejemplo, la correlación de Pearson entre la temperatura (en grados celsius) y el nivel de depresión es la misma que la correlación entre la temperatura (medida en grados Fahrenheit) y el nivel de depresión.</a:t>
            </a:r>
            <a:endParaRPr sz="1800"/>
          </a:p>
          <a:p>
            <a:pPr marL="0" marR="0" lvl="0" indent="0" algn="l" rtl="0">
              <a:lnSpc>
                <a:spcPct val="150000"/>
              </a:lnSpc>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3"/>
                                        </p:tgtEl>
                                        <p:attrNameLst>
                                          <p:attrName>style.visibility</p:attrName>
                                        </p:attrNameLst>
                                      </p:cBhvr>
                                      <p:to>
                                        <p:strVal val="visible"/>
                                      </p:to>
                                    </p:set>
                                    <p:animEffect transition="in" filter="fade">
                                      <p:cBhvr>
                                        <p:cTn id="7" dur="500"/>
                                        <p:tgtEl>
                                          <p:spTgt spid="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18"/>
          <p:cNvSpPr/>
          <p:nvPr/>
        </p:nvSpPr>
        <p:spPr>
          <a:xfrm>
            <a:off x="-524325" y="1288950"/>
            <a:ext cx="7648200" cy="447870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1" name="Google Shape;371;p18"/>
          <p:cNvSpPr txBox="1"/>
          <p:nvPr/>
        </p:nvSpPr>
        <p:spPr>
          <a:xfrm>
            <a:off x="687244" y="86466"/>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Coeficiente de correlación (lineal) de Pearson</a:t>
            </a:r>
            <a:endParaRPr sz="3200">
              <a:solidFill>
                <a:srgbClr val="7F7F7F"/>
              </a:solidFill>
              <a:latin typeface="Arial"/>
              <a:ea typeface="Arial"/>
              <a:cs typeface="Arial"/>
              <a:sym typeface="Arial"/>
            </a:endParaRPr>
          </a:p>
        </p:txBody>
      </p:sp>
      <p:sp>
        <p:nvSpPr>
          <p:cNvPr id="372" name="Google Shape;372;p18"/>
          <p:cNvSpPr txBox="1"/>
          <p:nvPr/>
        </p:nvSpPr>
        <p:spPr>
          <a:xfrm>
            <a:off x="1317400" y="1533975"/>
            <a:ext cx="5540700" cy="39711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Interpretación:</a:t>
            </a:r>
            <a:endParaRPr sz="1800" b="1">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Tener en cuenta qué es lo que estamos midiendo para poder interpretar cuán grande es la relación entre las variables bajo estudio. En muchos casos, depende del área bajo estudio.</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En todo caso, es muy importante efectuar el diagrama de dispersión. Por ejemplo, en el caso de la izquierda, es claro que no hay relación entre inteligencia y rendimiento. Sin embargo, si calculamos el índice de correlación de Pearson nos dará un valor muy elevado, causado por la puntuación atípica en la esquina superior derecha.</a:t>
            </a:r>
            <a:endParaRPr sz="1800">
              <a:solidFill>
                <a:schemeClr val="lt1"/>
              </a:solidFill>
              <a:latin typeface="Arial"/>
              <a:ea typeface="Arial"/>
              <a:cs typeface="Arial"/>
              <a:sym typeface="Arial"/>
            </a:endParaRPr>
          </a:p>
        </p:txBody>
      </p:sp>
      <p:sp>
        <p:nvSpPr>
          <p:cNvPr id="373" name="Google Shape;373;p18"/>
          <p:cNvSpPr/>
          <p:nvPr/>
        </p:nvSpPr>
        <p:spPr>
          <a:xfrm>
            <a:off x="7449025" y="1288950"/>
            <a:ext cx="4208700" cy="43869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74" name="Google Shape;374;p18"/>
          <p:cNvPicPr preferRelativeResize="0"/>
          <p:nvPr/>
        </p:nvPicPr>
        <p:blipFill rotWithShape="1">
          <a:blip r:embed="rId3">
            <a:alphaModFix/>
          </a:blip>
          <a:srcRect/>
          <a:stretch/>
        </p:blipFill>
        <p:spPr>
          <a:xfrm>
            <a:off x="828906" y="1617465"/>
            <a:ext cx="289524" cy="289524"/>
          </a:xfrm>
          <a:prstGeom prst="rect">
            <a:avLst/>
          </a:prstGeom>
          <a:noFill/>
          <a:ln>
            <a:noFill/>
          </a:ln>
        </p:spPr>
      </p:pic>
      <p:cxnSp>
        <p:nvCxnSpPr>
          <p:cNvPr id="375" name="Google Shape;375;p18"/>
          <p:cNvCxnSpPr/>
          <p:nvPr/>
        </p:nvCxnSpPr>
        <p:spPr>
          <a:xfrm>
            <a:off x="8423506" y="2066362"/>
            <a:ext cx="0" cy="2520950"/>
          </a:xfrm>
          <a:prstGeom prst="straightConnector1">
            <a:avLst/>
          </a:prstGeom>
          <a:noFill/>
          <a:ln w="9525" cap="flat" cmpd="sng">
            <a:solidFill>
              <a:schemeClr val="dk1"/>
            </a:solidFill>
            <a:prstDash val="solid"/>
            <a:round/>
            <a:headEnd type="none" w="med" len="med"/>
            <a:tailEnd type="none" w="med" len="med"/>
          </a:ln>
        </p:spPr>
      </p:cxnSp>
      <p:cxnSp>
        <p:nvCxnSpPr>
          <p:cNvPr id="376" name="Google Shape;376;p18"/>
          <p:cNvCxnSpPr/>
          <p:nvPr/>
        </p:nvCxnSpPr>
        <p:spPr>
          <a:xfrm>
            <a:off x="8423506" y="4587312"/>
            <a:ext cx="2736850" cy="0"/>
          </a:xfrm>
          <a:prstGeom prst="straightConnector1">
            <a:avLst/>
          </a:prstGeom>
          <a:noFill/>
          <a:ln w="9525" cap="flat" cmpd="sng">
            <a:solidFill>
              <a:schemeClr val="dk1"/>
            </a:solidFill>
            <a:prstDash val="solid"/>
            <a:round/>
            <a:headEnd type="none" w="med" len="med"/>
            <a:tailEnd type="none" w="med" len="med"/>
          </a:ln>
        </p:spPr>
      </p:cxnSp>
      <p:sp>
        <p:nvSpPr>
          <p:cNvPr id="377" name="Google Shape;377;p18"/>
          <p:cNvSpPr/>
          <p:nvPr/>
        </p:nvSpPr>
        <p:spPr>
          <a:xfrm>
            <a:off x="8963256" y="3941200"/>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8" name="Google Shape;378;p18"/>
          <p:cNvSpPr/>
          <p:nvPr/>
        </p:nvSpPr>
        <p:spPr>
          <a:xfrm>
            <a:off x="8820381" y="3939612"/>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9" name="Google Shape;379;p18"/>
          <p:cNvSpPr/>
          <p:nvPr/>
        </p:nvSpPr>
        <p:spPr>
          <a:xfrm>
            <a:off x="9252181" y="4084075"/>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0" name="Google Shape;380;p18"/>
          <p:cNvSpPr/>
          <p:nvPr/>
        </p:nvSpPr>
        <p:spPr>
          <a:xfrm>
            <a:off x="9107719" y="4155512"/>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1" name="Google Shape;381;p18"/>
          <p:cNvSpPr/>
          <p:nvPr/>
        </p:nvSpPr>
        <p:spPr>
          <a:xfrm>
            <a:off x="9180744" y="3939612"/>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2" name="Google Shape;382;p18"/>
          <p:cNvSpPr/>
          <p:nvPr/>
        </p:nvSpPr>
        <p:spPr>
          <a:xfrm>
            <a:off x="8964844" y="4084075"/>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3" name="Google Shape;383;p18"/>
          <p:cNvSpPr/>
          <p:nvPr/>
        </p:nvSpPr>
        <p:spPr>
          <a:xfrm>
            <a:off x="8604481" y="3939612"/>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4" name="Google Shape;384;p18"/>
          <p:cNvSpPr/>
          <p:nvPr/>
        </p:nvSpPr>
        <p:spPr>
          <a:xfrm>
            <a:off x="10620606" y="2355287"/>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5" name="Google Shape;385;p18"/>
          <p:cNvSpPr txBox="1"/>
          <p:nvPr/>
        </p:nvSpPr>
        <p:spPr>
          <a:xfrm rot="-5400000">
            <a:off x="6987612" y="3108557"/>
            <a:ext cx="2447925"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rendimiento</a:t>
            </a:r>
            <a:endParaRPr/>
          </a:p>
        </p:txBody>
      </p:sp>
      <p:sp>
        <p:nvSpPr>
          <p:cNvPr id="386" name="Google Shape;386;p18"/>
          <p:cNvSpPr/>
          <p:nvPr/>
        </p:nvSpPr>
        <p:spPr>
          <a:xfrm>
            <a:off x="8748944" y="4084075"/>
            <a:ext cx="73025" cy="71437"/>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18"/>
          <p:cNvSpPr/>
          <p:nvPr/>
        </p:nvSpPr>
        <p:spPr>
          <a:xfrm>
            <a:off x="8748944" y="4155512"/>
            <a:ext cx="73025" cy="71438"/>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8" name="Google Shape;388;p18"/>
          <p:cNvSpPr txBox="1"/>
          <p:nvPr/>
        </p:nvSpPr>
        <p:spPr>
          <a:xfrm>
            <a:off x="8531456" y="4588900"/>
            <a:ext cx="2303463"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inteligencia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1"/>
                                        </p:tgtEl>
                                        <p:attrNameLst>
                                          <p:attrName>style.visibility</p:attrName>
                                        </p:attrNameLst>
                                      </p:cBhvr>
                                      <p:to>
                                        <p:strVal val="visible"/>
                                      </p:to>
                                    </p:set>
                                    <p:animEffect transition="in" filter="fade">
                                      <p:cBhvr>
                                        <p:cTn id="7" dur="500"/>
                                        <p:tgtEl>
                                          <p:spTgt spid="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19"/>
          <p:cNvSpPr txBox="1"/>
          <p:nvPr/>
        </p:nvSpPr>
        <p:spPr>
          <a:xfrm>
            <a:off x="871160" y="530535"/>
            <a:ext cx="10782300" cy="1008000"/>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Otros coeficientes: variables semi-cuantitativas</a:t>
            </a:r>
            <a:endParaRPr sz="3200">
              <a:solidFill>
                <a:srgbClr val="7F7F7F"/>
              </a:solidFill>
              <a:latin typeface="Arial"/>
              <a:ea typeface="Arial"/>
              <a:cs typeface="Arial"/>
              <a:sym typeface="Arial"/>
            </a:endParaRPr>
          </a:p>
        </p:txBody>
      </p:sp>
      <p:sp>
        <p:nvSpPr>
          <p:cNvPr id="394" name="Google Shape;394;p19"/>
          <p:cNvSpPr/>
          <p:nvPr/>
        </p:nvSpPr>
        <p:spPr>
          <a:xfrm>
            <a:off x="-973003" y="1620277"/>
            <a:ext cx="10505621" cy="4264734"/>
          </a:xfrm>
          <a:prstGeom prst="roundRect">
            <a:avLst>
              <a:gd name="adj" fmla="val 4466"/>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5" name="Google Shape;395;p19"/>
          <p:cNvSpPr txBox="1"/>
          <p:nvPr/>
        </p:nvSpPr>
        <p:spPr>
          <a:xfrm>
            <a:off x="871160" y="1914693"/>
            <a:ext cx="8132486" cy="39703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FFFFFF"/>
                </a:solidFill>
                <a:latin typeface="Calibri"/>
                <a:ea typeface="Calibri"/>
                <a:cs typeface="Calibri"/>
                <a:sym typeface="Calibri"/>
              </a:rPr>
              <a:t>Es posible obtener medidas del grado de relación de variables cuando éstas no sean cuantitativas. </a:t>
            </a:r>
            <a:endParaRPr/>
          </a:p>
          <a:p>
            <a:pPr marL="0" marR="0" lvl="0" indent="0" algn="just" rtl="0">
              <a:spcBef>
                <a:spcPts val="0"/>
              </a:spcBef>
              <a:spcAft>
                <a:spcPts val="0"/>
              </a:spcAft>
              <a:buNone/>
            </a:pPr>
            <a:endParaRPr sz="1800" b="1">
              <a:solidFill>
                <a:schemeClr val="dk1"/>
              </a:solidFill>
              <a:latin typeface="Calibri"/>
              <a:ea typeface="Calibri"/>
              <a:cs typeface="Calibri"/>
              <a:sym typeface="Calibri"/>
            </a:endParaRPr>
          </a:p>
          <a:p>
            <a:pPr marL="0" marR="0" lvl="0" indent="0" algn="just" rtl="0">
              <a:spcBef>
                <a:spcPts val="0"/>
              </a:spcBef>
              <a:spcAft>
                <a:spcPts val="0"/>
              </a:spcAft>
              <a:buNone/>
            </a:pPr>
            <a:r>
              <a:rPr lang="es-ES" sz="1800" b="1">
                <a:solidFill>
                  <a:srgbClr val="FFFFFF"/>
                </a:solidFill>
                <a:latin typeface="Calibri"/>
                <a:ea typeface="Calibri"/>
                <a:cs typeface="Calibri"/>
                <a:sym typeface="Calibri"/>
              </a:rPr>
              <a:t>Caso en que las variables X e Y sean ordinales:</a:t>
            </a:r>
            <a:endParaRPr sz="1800" b="1">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s-ES" sz="1800">
                <a:solidFill>
                  <a:srgbClr val="FFFFFF"/>
                </a:solidFill>
                <a:latin typeface="Calibri"/>
                <a:ea typeface="Calibri"/>
                <a:cs typeface="Calibri"/>
                <a:sym typeface="Calibri"/>
              </a:rPr>
              <a:t>Cuando tenemos variables con escala ordinal, podemos establecer el orden entre los valores, pero no sabemos las distancias entre los valores. (Si supiéramos la distancia entre los valores ya estaríamos al menos en una escala de intervalo)</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s-ES" sz="1800">
                <a:solidFill>
                  <a:srgbClr val="FFFFFF"/>
                </a:solidFill>
                <a:latin typeface="Calibri"/>
                <a:ea typeface="Calibri"/>
                <a:cs typeface="Calibri"/>
                <a:sym typeface="Calibri"/>
              </a:rPr>
              <a:t>Podemos calcular: </a:t>
            </a: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285750" marR="0" lvl="0" indent="-285750" algn="just" rtl="0">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Coeficiente de correlación de Spearman </a:t>
            </a:r>
            <a:endParaRPr/>
          </a:p>
          <a:p>
            <a:pPr marL="285750" marR="0" lvl="0" indent="-285750" algn="just" rtl="0">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Coeficiente de correlación de Kendall.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3"/>
                                        </p:tgtEl>
                                        <p:attrNameLst>
                                          <p:attrName>style.visibility</p:attrName>
                                        </p:attrNameLst>
                                      </p:cBhvr>
                                      <p:to>
                                        <p:strVal val="visible"/>
                                      </p:to>
                                    </p:set>
                                    <p:animEffect transition="in" filter="fade">
                                      <p:cBhvr>
                                        <p:cTn id="7" dur="500"/>
                                        <p:tgtEl>
                                          <p:spTgt spid="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20"/>
          <p:cNvSpPr txBox="1"/>
          <p:nvPr/>
        </p:nvSpPr>
        <p:spPr>
          <a:xfrm>
            <a:off x="751585" y="484511"/>
            <a:ext cx="10782300" cy="674285"/>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Coeficiente de correlación de Spearman</a:t>
            </a:r>
            <a:endParaRPr sz="3200">
              <a:solidFill>
                <a:srgbClr val="7F7F7F"/>
              </a:solidFill>
              <a:latin typeface="Arial"/>
              <a:ea typeface="Arial"/>
              <a:cs typeface="Arial"/>
              <a:sym typeface="Arial"/>
            </a:endParaRPr>
          </a:p>
        </p:txBody>
      </p:sp>
      <p:sp>
        <p:nvSpPr>
          <p:cNvPr id="401" name="Google Shape;401;p20"/>
          <p:cNvSpPr/>
          <p:nvPr/>
        </p:nvSpPr>
        <p:spPr>
          <a:xfrm>
            <a:off x="-417900" y="1386150"/>
            <a:ext cx="11678100" cy="1428429"/>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2" name="Google Shape;402;p20"/>
          <p:cNvSpPr txBox="1"/>
          <p:nvPr/>
        </p:nvSpPr>
        <p:spPr>
          <a:xfrm>
            <a:off x="827326" y="1527450"/>
            <a:ext cx="10106700" cy="92328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coeficiente de Spearman es un caso especial del coeficiente de correlación de Pearson aplicada a dos series de los n primeros números naturales (cuando no hay empates; si hay –muchos- empates hay otra fórmula.</a:t>
            </a:r>
            <a:endParaRPr lang="es-ES" sz="1800">
              <a:solidFill>
                <a:schemeClr val="lt1"/>
              </a:solidFill>
              <a:latin typeface="Arial"/>
              <a:ea typeface="Arial"/>
              <a:cs typeface="Arial"/>
            </a:endParaRPr>
          </a:p>
        </p:txBody>
      </p:sp>
      <p:sp>
        <p:nvSpPr>
          <p:cNvPr id="404" name="Google Shape;404;p20"/>
          <p:cNvSpPr/>
          <p:nvPr/>
        </p:nvSpPr>
        <p:spPr>
          <a:xfrm>
            <a:off x="1785121" y="3092168"/>
            <a:ext cx="8182800" cy="24147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05" name="Google Shape;405;p20"/>
          <p:cNvPicPr preferRelativeResize="0"/>
          <p:nvPr/>
        </p:nvPicPr>
        <p:blipFill rotWithShape="1">
          <a:blip r:embed="rId3">
            <a:alphaModFix/>
          </a:blip>
          <a:srcRect/>
          <a:stretch/>
        </p:blipFill>
        <p:spPr>
          <a:xfrm>
            <a:off x="2612430" y="3299128"/>
            <a:ext cx="2780578" cy="1831163"/>
          </a:xfrm>
          <a:prstGeom prst="rect">
            <a:avLst/>
          </a:prstGeom>
          <a:noFill/>
          <a:ln>
            <a:noFill/>
          </a:ln>
        </p:spPr>
      </p:pic>
      <p:pic>
        <p:nvPicPr>
          <p:cNvPr id="406" name="Google Shape;406;p20"/>
          <p:cNvPicPr preferRelativeResize="0"/>
          <p:nvPr/>
        </p:nvPicPr>
        <p:blipFill rotWithShape="1">
          <a:blip r:embed="rId4">
            <a:alphaModFix/>
          </a:blip>
          <a:srcRect/>
          <a:stretch/>
        </p:blipFill>
        <p:spPr>
          <a:xfrm>
            <a:off x="5729255" y="3820330"/>
            <a:ext cx="511712" cy="767567"/>
          </a:xfrm>
          <a:prstGeom prst="rect">
            <a:avLst/>
          </a:prstGeom>
          <a:noFill/>
          <a:ln>
            <a:noFill/>
          </a:ln>
        </p:spPr>
      </p:pic>
      <p:sp>
        <p:nvSpPr>
          <p:cNvPr id="407" name="Google Shape;407;p20"/>
          <p:cNvSpPr txBox="1"/>
          <p:nvPr/>
        </p:nvSpPr>
        <p:spPr>
          <a:xfrm>
            <a:off x="6264491" y="3753044"/>
            <a:ext cx="29223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es la diferencia entre el valor ordinal en X y el valor ordinal en Y del sujeto </a:t>
            </a:r>
            <a:r>
              <a:rPr lang="es-ES" sz="1800" i="1">
                <a:solidFill>
                  <a:schemeClr val="dk1"/>
                </a:solidFill>
                <a:latin typeface="Calibri"/>
                <a:ea typeface="Calibri"/>
                <a:cs typeface="Calibri"/>
                <a:sym typeface="Calibri"/>
              </a:rPr>
              <a:t>i</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0"/>
                                        </p:tgtEl>
                                        <p:attrNameLst>
                                          <p:attrName>style.visibility</p:attrName>
                                        </p:attrNameLst>
                                      </p:cBhvr>
                                      <p:to>
                                        <p:strVal val="visible"/>
                                      </p:to>
                                    </p:set>
                                    <p:animEffect transition="in" filter="fade">
                                      <p:cBhvr>
                                        <p:cTn id="7" dur="500"/>
                                        <p:tgtEl>
                                          <p:spTgt spid="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21"/>
          <p:cNvSpPr txBox="1"/>
          <p:nvPr/>
        </p:nvSpPr>
        <p:spPr>
          <a:xfrm>
            <a:off x="233285" y="911798"/>
            <a:ext cx="7552500" cy="83520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dirty="0">
                <a:solidFill>
                  <a:srgbClr val="7F7F7F"/>
                </a:solidFill>
                <a:latin typeface="Arial"/>
                <a:ea typeface="Arial"/>
                <a:cs typeface="Arial"/>
                <a:sym typeface="Arial"/>
              </a:rPr>
              <a:t>Coeficiente de correlación de Spearman</a:t>
            </a:r>
            <a:endParaRPr sz="3200" dirty="0">
              <a:solidFill>
                <a:srgbClr val="7F7F7F"/>
              </a:solidFill>
              <a:latin typeface="Arial"/>
              <a:ea typeface="Arial"/>
              <a:cs typeface="Arial"/>
              <a:sym typeface="Arial"/>
            </a:endParaRPr>
          </a:p>
        </p:txBody>
      </p:sp>
      <p:sp>
        <p:nvSpPr>
          <p:cNvPr id="414" name="Google Shape;414;p21"/>
          <p:cNvSpPr/>
          <p:nvPr/>
        </p:nvSpPr>
        <p:spPr>
          <a:xfrm>
            <a:off x="7724175" y="2089000"/>
            <a:ext cx="4153500" cy="3412200"/>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5" name="Google Shape;415;p21"/>
          <p:cNvSpPr txBox="1"/>
          <p:nvPr/>
        </p:nvSpPr>
        <p:spPr>
          <a:xfrm>
            <a:off x="7899075" y="2240925"/>
            <a:ext cx="3803700" cy="30477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dirty="0">
                <a:solidFill>
                  <a:schemeClr val="lt1"/>
                </a:solidFill>
                <a:latin typeface="Calibri"/>
                <a:ea typeface="Calibri"/>
                <a:cs typeface="Calibri"/>
                <a:sym typeface="Calibri"/>
              </a:rPr>
              <a:t>Se encuentra acotado, como el coeficiente de Pearson entre -1 y +1.</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dirty="0">
                <a:solidFill>
                  <a:schemeClr val="lt1"/>
                </a:solidFill>
                <a:latin typeface="Calibri"/>
                <a:ea typeface="Calibri"/>
                <a:cs typeface="Calibri"/>
                <a:sym typeface="Calibri"/>
              </a:rPr>
              <a:t>Un coeficiente de Spearman de +1 quiere decir que el que es primero en X  es primero en Y, el que es segundo en X es segundo en I, </a:t>
            </a:r>
            <a:r>
              <a:rPr lang="es-ES" sz="1600" dirty="0" err="1">
                <a:solidFill>
                  <a:schemeClr val="lt1"/>
                </a:solidFill>
                <a:latin typeface="Calibri"/>
                <a:ea typeface="Calibri"/>
                <a:cs typeface="Calibri"/>
                <a:sym typeface="Calibri"/>
              </a:rPr>
              <a:t>etc</a:t>
            </a:r>
            <a:endParaRPr sz="1600">
              <a:solidFill>
                <a:schemeClr val="lt1"/>
              </a:solidFill>
              <a:latin typeface="Calibri"/>
              <a:ea typeface="Calibri"/>
              <a:cs typeface="Calibri"/>
              <a:sym typeface="Calibri"/>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dirty="0">
                <a:solidFill>
                  <a:schemeClr val="lt1"/>
                </a:solidFill>
                <a:latin typeface="Calibri"/>
                <a:ea typeface="Calibri"/>
                <a:cs typeface="Calibri"/>
                <a:sym typeface="Calibri"/>
              </a:rPr>
              <a:t>Un coeficiente de </a:t>
            </a:r>
            <a:r>
              <a:rPr lang="es-ES" sz="1600" dirty="0" err="1">
                <a:solidFill>
                  <a:schemeClr val="lt1"/>
                </a:solidFill>
                <a:latin typeface="Calibri"/>
                <a:ea typeface="Calibri"/>
                <a:cs typeface="Calibri"/>
                <a:sym typeface="Calibri"/>
              </a:rPr>
              <a:t>Sperman</a:t>
            </a:r>
            <a:r>
              <a:rPr lang="es-ES" sz="1600" dirty="0">
                <a:solidFill>
                  <a:schemeClr val="lt1"/>
                </a:solidFill>
                <a:latin typeface="Calibri"/>
                <a:ea typeface="Calibri"/>
                <a:cs typeface="Calibri"/>
                <a:sym typeface="Calibri"/>
              </a:rPr>
              <a:t> de -1 quiere decir que el que es primero en X es último en Y, el segundo en X es el penúltimo en Y, etc.</a:t>
            </a:r>
            <a:endParaRPr dirty="0"/>
          </a:p>
        </p:txBody>
      </p:sp>
      <p:sp>
        <p:nvSpPr>
          <p:cNvPr id="416" name="Google Shape;416;p21"/>
          <p:cNvSpPr/>
          <p:nvPr/>
        </p:nvSpPr>
        <p:spPr>
          <a:xfrm>
            <a:off x="365760" y="2892945"/>
            <a:ext cx="7076777" cy="260813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17" name="Google Shape;417;p21"/>
          <p:cNvPicPr preferRelativeResize="0"/>
          <p:nvPr/>
        </p:nvPicPr>
        <p:blipFill rotWithShape="1">
          <a:blip r:embed="rId3">
            <a:alphaModFix/>
          </a:blip>
          <a:srcRect/>
          <a:stretch/>
        </p:blipFill>
        <p:spPr>
          <a:xfrm>
            <a:off x="719751" y="3171435"/>
            <a:ext cx="2780578" cy="1831163"/>
          </a:xfrm>
          <a:prstGeom prst="rect">
            <a:avLst/>
          </a:prstGeom>
          <a:noFill/>
          <a:ln>
            <a:noFill/>
          </a:ln>
        </p:spPr>
      </p:pic>
      <p:pic>
        <p:nvPicPr>
          <p:cNvPr id="418" name="Google Shape;418;p21"/>
          <p:cNvPicPr preferRelativeResize="0"/>
          <p:nvPr/>
        </p:nvPicPr>
        <p:blipFill rotWithShape="1">
          <a:blip r:embed="rId4">
            <a:alphaModFix/>
          </a:blip>
          <a:srcRect/>
          <a:stretch/>
        </p:blipFill>
        <p:spPr>
          <a:xfrm>
            <a:off x="3836576" y="3692637"/>
            <a:ext cx="511711" cy="767567"/>
          </a:xfrm>
          <a:prstGeom prst="rect">
            <a:avLst/>
          </a:prstGeom>
          <a:noFill/>
          <a:ln>
            <a:noFill/>
          </a:ln>
        </p:spPr>
      </p:pic>
      <p:sp>
        <p:nvSpPr>
          <p:cNvPr id="419" name="Google Shape;419;p21"/>
          <p:cNvSpPr txBox="1"/>
          <p:nvPr/>
        </p:nvSpPr>
        <p:spPr>
          <a:xfrm>
            <a:off x="4371812" y="3625351"/>
            <a:ext cx="292238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dirty="0">
                <a:solidFill>
                  <a:schemeClr val="dk1"/>
                </a:solidFill>
                <a:latin typeface="Calibri"/>
                <a:ea typeface="Calibri"/>
                <a:cs typeface="Calibri"/>
                <a:sym typeface="Calibri"/>
              </a:rPr>
              <a:t>es la diferencia entre el valor ordinal en X y el valor ordinal en Y del sujeto </a:t>
            </a:r>
            <a:r>
              <a:rPr lang="es-ES" sz="1800" i="1" dirty="0">
                <a:solidFill>
                  <a:schemeClr val="dk1"/>
                </a:solidFill>
                <a:latin typeface="Calibri"/>
                <a:ea typeface="Calibri"/>
                <a:cs typeface="Calibri"/>
                <a:sym typeface="Calibri"/>
              </a:rPr>
              <a:t>i</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3"/>
                                        </p:tgtEl>
                                        <p:attrNameLst>
                                          <p:attrName>style.visibility</p:attrName>
                                        </p:attrNameLst>
                                      </p:cBhvr>
                                      <p:to>
                                        <p:strVal val="visible"/>
                                      </p:to>
                                    </p:set>
                                    <p:animEffect transition="in" filter="fade">
                                      <p:cBhvr>
                                        <p:cTn id="7" dur="500"/>
                                        <p:tgtEl>
                                          <p:spTgt spid="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pic>
        <p:nvPicPr>
          <p:cNvPr id="424" name="Google Shape;424;p22" descr="Patrón de fondo"/>
          <p:cNvPicPr preferRelativeResize="0"/>
          <p:nvPr/>
        </p:nvPicPr>
        <p:blipFill rotWithShape="1">
          <a:blip r:embed="rId3">
            <a:alphaModFix/>
          </a:blip>
          <a:srcRect/>
          <a:stretch/>
        </p:blipFill>
        <p:spPr>
          <a:xfrm>
            <a:off x="0" y="0"/>
            <a:ext cx="12192000" cy="6858001"/>
          </a:xfrm>
          <a:prstGeom prst="rect">
            <a:avLst/>
          </a:prstGeom>
          <a:noFill/>
          <a:ln>
            <a:noFill/>
          </a:ln>
        </p:spPr>
      </p:pic>
      <p:sp>
        <p:nvSpPr>
          <p:cNvPr id="425" name="Google Shape;425;p22"/>
          <p:cNvSpPr/>
          <p:nvPr/>
        </p:nvSpPr>
        <p:spPr>
          <a:xfrm>
            <a:off x="-585177" y="3057041"/>
            <a:ext cx="7270376" cy="1045333"/>
          </a:xfrm>
          <a:prstGeom prst="roundRect">
            <a:avLst>
              <a:gd name="adj" fmla="val 9640"/>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1">
              <a:solidFill>
                <a:srgbClr val="008CAD"/>
              </a:solidFill>
              <a:latin typeface="Calibri"/>
              <a:ea typeface="Calibri"/>
              <a:cs typeface="Calibri"/>
              <a:sym typeface="Calibri"/>
            </a:endParaRPr>
          </a:p>
        </p:txBody>
      </p:sp>
      <p:sp>
        <p:nvSpPr>
          <p:cNvPr id="426" name="Google Shape;426;p22"/>
          <p:cNvSpPr txBox="1"/>
          <p:nvPr/>
        </p:nvSpPr>
        <p:spPr>
          <a:xfrm>
            <a:off x="2415242"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600"/>
              <a:buFont typeface="Arial"/>
              <a:buNone/>
            </a:pPr>
            <a:r>
              <a:rPr lang="es-ES" sz="3600">
                <a:solidFill>
                  <a:schemeClr val="lt1"/>
                </a:solidFill>
                <a:latin typeface="Arial"/>
                <a:ea typeface="Arial"/>
                <a:cs typeface="Arial"/>
                <a:sym typeface="Arial"/>
              </a:rPr>
              <a:t>Dudas y consultas</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26"/>
                                        </p:tgtEl>
                                        <p:attrNameLst>
                                          <p:attrName>style.visibility</p:attrName>
                                        </p:attrNameLst>
                                      </p:cBhvr>
                                      <p:to>
                                        <p:strVal val="visible"/>
                                      </p:to>
                                    </p:set>
                                    <p:animEffect transition="in" filter="fade">
                                      <p:cBhvr>
                                        <p:cTn id="7" dur="500"/>
                                        <p:tgtEl>
                                          <p:spTgt spid="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23"/>
          <p:cNvSpPr txBox="1"/>
          <p:nvPr/>
        </p:nvSpPr>
        <p:spPr>
          <a:xfrm>
            <a:off x="704850" y="2786424"/>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600"/>
              <a:buFont typeface="Arial"/>
              <a:buNone/>
            </a:pPr>
            <a:r>
              <a:rPr lang="es-ES" sz="3600">
                <a:solidFill>
                  <a:srgbClr val="7F7F7F"/>
                </a:solidFill>
                <a:latin typeface="Arial"/>
                <a:ea typeface="Arial"/>
                <a:cs typeface="Arial"/>
                <a:sym typeface="Arial"/>
              </a:rPr>
              <a:t>Fin Presentación</a:t>
            </a:r>
            <a:endParaRPr sz="20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1"/>
                                        </p:tgtEl>
                                        <p:attrNameLst>
                                          <p:attrName>style.visibility</p:attrName>
                                        </p:attrNameLst>
                                      </p:cBhvr>
                                      <p:to>
                                        <p:strVal val="visible"/>
                                      </p:to>
                                    </p:set>
                                    <p:animEffect transition="in" filter="fade">
                                      <p:cBhvr>
                                        <p:cTn id="7" dur="500"/>
                                        <p:tgtEl>
                                          <p:spTgt spid="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1411</Words>
  <Application>Microsoft Office PowerPoint</Application>
  <PresentationFormat>Panorámica</PresentationFormat>
  <Paragraphs>126</Paragraphs>
  <Slides>23</Slides>
  <Notes>23</Notes>
  <HiddenSlides>0</HiddenSlides>
  <MMClips>0</MMClips>
  <ScaleCrop>false</ScaleCrop>
  <HeadingPairs>
    <vt:vector size="4" baseType="variant">
      <vt:variant>
        <vt:lpstr>Tema</vt:lpstr>
      </vt:variant>
      <vt:variant>
        <vt:i4>1</vt:i4>
      </vt:variant>
      <vt:variant>
        <vt:lpstr>Títulos de diapositiva</vt:lpstr>
      </vt:variant>
      <vt:variant>
        <vt:i4>23</vt:i4>
      </vt:variant>
    </vt:vector>
  </HeadingPairs>
  <TitlesOfParts>
    <vt:vector size="24" baseType="lpstr">
      <vt:lpstr>Tema de Office</vt:lpstr>
      <vt:lpstr>Análisis Multivariado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Multivariado</dc:title>
  <dc:creator>Kibernum</dc:creator>
  <cp:lastModifiedBy>Diseño ITA</cp:lastModifiedBy>
  <cp:revision>92</cp:revision>
  <dcterms:created xsi:type="dcterms:W3CDTF">2023-01-03T12:28:26Z</dcterms:created>
  <dcterms:modified xsi:type="dcterms:W3CDTF">2025-10-06T17:14:39Z</dcterms:modified>
</cp:coreProperties>
</file>